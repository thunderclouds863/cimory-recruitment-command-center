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omments/modernComment_7FF65A2A_C81A3671.xml" ContentType="application/vnd.ms-powerpoint.comments+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notesSlides/notesSlide66.xml" ContentType="application/vnd.openxmlformats-officedocument.presentationml.notesSlid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6" Type="http://schemas.microsoft.com/office/2020/02/relationships/classificationlabels" Target="docMetadata/LabelInfo.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4"/>
    <p:sldMasterId id="2147483672" r:id="rId5"/>
  </p:sldMasterIdLst>
  <p:notesMasterIdLst>
    <p:notesMasterId r:id="rId179"/>
  </p:notesMasterIdLst>
  <p:sldIdLst>
    <p:sldId id="2146849437" r:id="rId6"/>
    <p:sldId id="2146851187" r:id="rId7"/>
    <p:sldId id="2146851370" r:id="rId8"/>
    <p:sldId id="2146851371" r:id="rId9"/>
    <p:sldId id="2146851137" r:id="rId10"/>
    <p:sldId id="2146851372" r:id="rId11"/>
    <p:sldId id="2146851373" r:id="rId12"/>
    <p:sldId id="2146851293" r:id="rId13"/>
    <p:sldId id="2146851420" r:id="rId14"/>
    <p:sldId id="2146851443" r:id="rId15"/>
    <p:sldId id="2146851421" r:id="rId16"/>
    <p:sldId id="2146851422" r:id="rId17"/>
    <p:sldId id="2146851426" r:id="rId18"/>
    <p:sldId id="2146851292" r:id="rId19"/>
    <p:sldId id="2146851290" r:id="rId20"/>
    <p:sldId id="2146851303" r:id="rId21"/>
    <p:sldId id="2146851511" r:id="rId22"/>
    <p:sldId id="2146851512" r:id="rId23"/>
    <p:sldId id="2146851513" r:id="rId24"/>
    <p:sldId id="2146851514" r:id="rId25"/>
    <p:sldId id="2146851442" r:id="rId26"/>
    <p:sldId id="2146851425" r:id="rId27"/>
    <p:sldId id="2146851424" r:id="rId28"/>
    <p:sldId id="2146851423" r:id="rId29"/>
    <p:sldId id="2146851427" r:id="rId30"/>
    <p:sldId id="2146851428" r:id="rId31"/>
    <p:sldId id="2146851429" r:id="rId32"/>
    <p:sldId id="2146851430" r:id="rId33"/>
    <p:sldId id="2146851431" r:id="rId34"/>
    <p:sldId id="2146851432" r:id="rId35"/>
    <p:sldId id="2146851435" r:id="rId36"/>
    <p:sldId id="2146851436" r:id="rId37"/>
    <p:sldId id="2146851433" r:id="rId38"/>
    <p:sldId id="2146851437" r:id="rId39"/>
    <p:sldId id="2146851438" r:id="rId40"/>
    <p:sldId id="2146851440" r:id="rId41"/>
    <p:sldId id="2146851441" r:id="rId42"/>
    <p:sldId id="2146851439" r:id="rId43"/>
    <p:sldId id="2146851419" r:id="rId44"/>
    <p:sldId id="2146851508" r:id="rId45"/>
    <p:sldId id="2146851515" r:id="rId46"/>
    <p:sldId id="2146851516" r:id="rId47"/>
    <p:sldId id="2146851517" r:id="rId48"/>
    <p:sldId id="2146851518" r:id="rId49"/>
    <p:sldId id="2146851519" r:id="rId50"/>
    <p:sldId id="2146851520" r:id="rId51"/>
    <p:sldId id="2146851521" r:id="rId52"/>
    <p:sldId id="2146851522" r:id="rId53"/>
    <p:sldId id="2146851523" r:id="rId54"/>
    <p:sldId id="2146851524" r:id="rId55"/>
    <p:sldId id="2146851525" r:id="rId56"/>
    <p:sldId id="2146851526" r:id="rId57"/>
    <p:sldId id="2146851527" r:id="rId58"/>
    <p:sldId id="2146851528" r:id="rId59"/>
    <p:sldId id="2146851529" r:id="rId60"/>
    <p:sldId id="2146851530" r:id="rId61"/>
    <p:sldId id="2146851531" r:id="rId62"/>
    <p:sldId id="2146851532" r:id="rId63"/>
    <p:sldId id="2146851444" r:id="rId64"/>
    <p:sldId id="2146851445" r:id="rId65"/>
    <p:sldId id="2146851446" r:id="rId66"/>
    <p:sldId id="2146851447" r:id="rId67"/>
    <p:sldId id="2146851448" r:id="rId68"/>
    <p:sldId id="2146851449" r:id="rId69"/>
    <p:sldId id="2146851450" r:id="rId70"/>
    <p:sldId id="2146851451" r:id="rId71"/>
    <p:sldId id="2146851452" r:id="rId72"/>
    <p:sldId id="2146851453" r:id="rId73"/>
    <p:sldId id="2146851454" r:id="rId74"/>
    <p:sldId id="2146851455" r:id="rId75"/>
    <p:sldId id="2146851456" r:id="rId76"/>
    <p:sldId id="2146851457" r:id="rId77"/>
    <p:sldId id="2146851458" r:id="rId78"/>
    <p:sldId id="2146851459" r:id="rId79"/>
    <p:sldId id="2146851460" r:id="rId80"/>
    <p:sldId id="2146851461" r:id="rId81"/>
    <p:sldId id="2146851462" r:id="rId82"/>
    <p:sldId id="2146851463" r:id="rId83"/>
    <p:sldId id="2146851464" r:id="rId84"/>
    <p:sldId id="2146851465" r:id="rId85"/>
    <p:sldId id="2146851466" r:id="rId86"/>
    <p:sldId id="2146851467" r:id="rId87"/>
    <p:sldId id="2146851468" r:id="rId88"/>
    <p:sldId id="2146851469" r:id="rId89"/>
    <p:sldId id="2146851470" r:id="rId90"/>
    <p:sldId id="2146851471" r:id="rId91"/>
    <p:sldId id="2146851472" r:id="rId92"/>
    <p:sldId id="2146851473" r:id="rId93"/>
    <p:sldId id="2146851474" r:id="rId94"/>
    <p:sldId id="2146851475" r:id="rId95"/>
    <p:sldId id="2146851476" r:id="rId96"/>
    <p:sldId id="2146851477" r:id="rId97"/>
    <p:sldId id="2146851478" r:id="rId98"/>
    <p:sldId id="2146851479" r:id="rId99"/>
    <p:sldId id="2146851480" r:id="rId100"/>
    <p:sldId id="2146851481" r:id="rId101"/>
    <p:sldId id="2146851482" r:id="rId102"/>
    <p:sldId id="2146851483" r:id="rId103"/>
    <p:sldId id="2146851484" r:id="rId104"/>
    <p:sldId id="2146851485" r:id="rId105"/>
    <p:sldId id="2146851486" r:id="rId106"/>
    <p:sldId id="2146851487" r:id="rId107"/>
    <p:sldId id="2146851488" r:id="rId108"/>
    <p:sldId id="2146851489" r:id="rId109"/>
    <p:sldId id="2146851490" r:id="rId110"/>
    <p:sldId id="2146851491" r:id="rId111"/>
    <p:sldId id="2146851492" r:id="rId112"/>
    <p:sldId id="2146851493" r:id="rId113"/>
    <p:sldId id="2146851494" r:id="rId114"/>
    <p:sldId id="2146851495" r:id="rId115"/>
    <p:sldId id="2146851496" r:id="rId116"/>
    <p:sldId id="2146851497" r:id="rId117"/>
    <p:sldId id="2146851498" r:id="rId118"/>
    <p:sldId id="2146851499" r:id="rId119"/>
    <p:sldId id="2146851500" r:id="rId120"/>
    <p:sldId id="2146851501" r:id="rId121"/>
    <p:sldId id="2146851502" r:id="rId122"/>
    <p:sldId id="2146851503" r:id="rId123"/>
    <p:sldId id="2146851504" r:id="rId124"/>
    <p:sldId id="2146851505" r:id="rId125"/>
    <p:sldId id="2146851506" r:id="rId126"/>
    <p:sldId id="2146851507" r:id="rId127"/>
    <p:sldId id="2146849789" r:id="rId128"/>
    <p:sldId id="2146851242" r:id="rId129"/>
    <p:sldId id="2146851533" r:id="rId130"/>
    <p:sldId id="2146851266" r:id="rId131"/>
    <p:sldId id="2146851143" r:id="rId132"/>
    <p:sldId id="2146851269" r:id="rId133"/>
    <p:sldId id="2146851377" r:id="rId134"/>
    <p:sldId id="2146851144" r:id="rId135"/>
    <p:sldId id="2146851145" r:id="rId136"/>
    <p:sldId id="2146851308" r:id="rId137"/>
    <p:sldId id="2146851398" r:id="rId138"/>
    <p:sldId id="2146851399" r:id="rId139"/>
    <p:sldId id="2146851400" r:id="rId140"/>
    <p:sldId id="2146851401" r:id="rId141"/>
    <p:sldId id="2146851402" r:id="rId142"/>
    <p:sldId id="2146851403" r:id="rId143"/>
    <p:sldId id="2146851404" r:id="rId144"/>
    <p:sldId id="2146851405" r:id="rId145"/>
    <p:sldId id="2146851406" r:id="rId146"/>
    <p:sldId id="2146851407" r:id="rId147"/>
    <p:sldId id="2146851408" r:id="rId148"/>
    <p:sldId id="2146851409" r:id="rId149"/>
    <p:sldId id="2146851410" r:id="rId150"/>
    <p:sldId id="2146851411" r:id="rId151"/>
    <p:sldId id="2146851412" r:id="rId152"/>
    <p:sldId id="644" r:id="rId153"/>
    <p:sldId id="2146851150" r:id="rId154"/>
    <p:sldId id="2146851156" r:id="rId155"/>
    <p:sldId id="2146851158" r:id="rId156"/>
    <p:sldId id="2146851159" r:id="rId157"/>
    <p:sldId id="2146851160" r:id="rId158"/>
    <p:sldId id="2146851161" r:id="rId159"/>
    <p:sldId id="2146851162" r:id="rId160"/>
    <p:sldId id="2146851268" r:id="rId161"/>
    <p:sldId id="2146851146" r:id="rId162"/>
    <p:sldId id="2146851147" r:id="rId163"/>
    <p:sldId id="2146851148" r:id="rId164"/>
    <p:sldId id="2146851194" r:id="rId165"/>
    <p:sldId id="2146851260" r:id="rId166"/>
    <p:sldId id="2146851186" r:id="rId167"/>
    <p:sldId id="2146849791" r:id="rId168"/>
    <p:sldId id="2146851157" r:id="rId169"/>
    <p:sldId id="2146849815" r:id="rId170"/>
    <p:sldId id="2146851233" r:id="rId171"/>
    <p:sldId id="2146850056" r:id="rId172"/>
    <p:sldId id="2146850054" r:id="rId173"/>
    <p:sldId id="2146850156" r:id="rId174"/>
    <p:sldId id="2146850350" r:id="rId175"/>
    <p:sldId id="2146849028" r:id="rId176"/>
    <p:sldId id="2146850205" r:id="rId177"/>
    <p:sldId id="2146850335" r:id="rId178"/>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DAC4152B-0B1D-BB04-28FF-3FBD5E73E273}" name="Desi Armanda Sari" initials="DS" userId="S::desi.armanda@cimory.com::09767da1-9849-4ce7-a32e-b30664c451cf" providerId="AD"/>
  <p188:author id="{70758D40-4900-03C4-F813-25A13AB90CEC}" name="Pauline Immanuel Supardi" initials="PS" userId="S::pauline.immanuel@cimory.com::6bddf53c-48c8-4584-85ce-fadb73123699"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3333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2A345155-D2CC-330B-1C85-B3B1411E5CE2}" v="4" dt="2026-08-17T15:05:27.208"/>
    <p1510:client id="{3936AF47-CBF9-F52C-2494-B976D87B333A}" v="5720" dt="2026-08-16T21:47:50.803"/>
    <p1510:client id="{45373B55-4FEF-5D70-7B5F-C57B1061B968}" v="175" dt="2026-08-17T10:53:39.048"/>
    <p1510:client id="{53334F64-6343-9B58-A523-392CCF220036}" v="61" dt="2026-08-17T10:01:09.561"/>
    <p1510:client id="{7D9B7C41-EE97-B2A9-50C3-E3ED8E7FBB94}" v="132" dt="2026-08-16T22:29:37.285"/>
    <p1510:client id="{88444CFF-80AC-F5E6-F795-8A999BC95557}" v="1" dt="2026-08-18T01:39:51.003"/>
    <p1510:client id="{E200A918-50CD-3540-9ED4-D933C53A7389}" v="5" dt="2026-08-17T08:25:04.806"/>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D27102A9-8310-4765-A935-A1911B00CA55}" styleName="Light Style 1 - Accent 4">
    <a:wholeTbl>
      <a:tcTxStyle>
        <a:fontRef idx="minor">
          <a:scrgbClr r="0" g="0" b="0"/>
        </a:fontRef>
        <a:schemeClr val="tx1"/>
      </a:tcTxStyle>
      <a:tcStyle>
        <a:tcBdr>
          <a:left>
            <a:ln>
              <a:noFill/>
            </a:ln>
          </a:left>
          <a:right>
            <a:ln>
              <a:noFill/>
            </a:ln>
          </a:right>
          <a:top>
            <a:ln w="12700" cmpd="sng">
              <a:solidFill>
                <a:schemeClr val="accent4"/>
              </a:solidFill>
            </a:ln>
          </a:top>
          <a:bottom>
            <a:ln w="12700" cmpd="sng">
              <a:solidFill>
                <a:schemeClr val="accent4"/>
              </a:solidFill>
            </a:ln>
          </a:bottom>
          <a:insideH>
            <a:ln>
              <a:noFill/>
            </a:ln>
          </a:insideH>
          <a:insideV>
            <a:ln>
              <a:noFill/>
            </a:ln>
          </a:insideV>
        </a:tcBdr>
        <a:fill>
          <a:noFill/>
        </a:fill>
      </a:tcStyle>
    </a:wholeTbl>
    <a:band1H>
      <a:tcStyle>
        <a:tcBdr/>
        <a:fill>
          <a:solidFill>
            <a:schemeClr val="accent4">
              <a:alpha val="20000"/>
            </a:schemeClr>
          </a:solidFill>
        </a:fill>
      </a:tcStyle>
    </a:band1H>
    <a:band2H>
      <a:tcStyle>
        <a:tcBdr/>
      </a:tcStyle>
    </a:band2H>
    <a:band1V>
      <a:tcStyle>
        <a:tcBdr/>
        <a:fill>
          <a:solidFill>
            <a:schemeClr val="accent4">
              <a:alpha val="20000"/>
            </a:schemeClr>
          </a:solidFill>
        </a:fill>
      </a:tcStyle>
    </a:band1V>
    <a:lastCol>
      <a:tcTxStyle b="on"/>
      <a:tcStyle>
        <a:tcBdr/>
      </a:tcStyle>
    </a:lastCol>
    <a:firstCol>
      <a:tcTxStyle b="on"/>
      <a:tcStyle>
        <a:tcBdr/>
      </a:tcStyle>
    </a:firstCol>
    <a:lastRow>
      <a:tcTxStyle b="on"/>
      <a:tcStyle>
        <a:tcBdr>
          <a:top>
            <a:ln w="12700" cmpd="sng">
              <a:solidFill>
                <a:schemeClr val="accent4"/>
              </a:solidFill>
            </a:ln>
          </a:top>
        </a:tcBdr>
        <a:fill>
          <a:noFill/>
        </a:fill>
      </a:tcStyle>
    </a:lastRow>
    <a:firstRow>
      <a:tcTxStyle b="on"/>
      <a:tcStyle>
        <a:tcBdr>
          <a:bottom>
            <a:ln w="12700" cmpd="sng">
              <a:solidFill>
                <a:schemeClr val="accent4"/>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39" d="100"/>
          <a:sy n="39" d="100"/>
        </p:scale>
        <p:origin x="60" y="704"/>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2.xml"/><Relationship Id="rId21" Type="http://schemas.openxmlformats.org/officeDocument/2006/relationships/slide" Target="slides/slide16.xml"/><Relationship Id="rId42" Type="http://schemas.openxmlformats.org/officeDocument/2006/relationships/slide" Target="slides/slide37.xml"/><Relationship Id="rId63" Type="http://schemas.openxmlformats.org/officeDocument/2006/relationships/slide" Target="slides/slide58.xml"/><Relationship Id="rId84" Type="http://schemas.openxmlformats.org/officeDocument/2006/relationships/slide" Target="slides/slide79.xml"/><Relationship Id="rId138" Type="http://schemas.openxmlformats.org/officeDocument/2006/relationships/slide" Target="slides/slide133.xml"/><Relationship Id="rId159" Type="http://schemas.openxmlformats.org/officeDocument/2006/relationships/slide" Target="slides/slide154.xml"/><Relationship Id="rId170" Type="http://schemas.openxmlformats.org/officeDocument/2006/relationships/slide" Target="slides/slide165.xml"/><Relationship Id="rId107" Type="http://schemas.openxmlformats.org/officeDocument/2006/relationships/slide" Target="slides/slide102.xml"/><Relationship Id="rId11" Type="http://schemas.openxmlformats.org/officeDocument/2006/relationships/slide" Target="slides/slide6.xml"/><Relationship Id="rId32" Type="http://schemas.openxmlformats.org/officeDocument/2006/relationships/slide" Target="slides/slide27.xml"/><Relationship Id="rId53" Type="http://schemas.openxmlformats.org/officeDocument/2006/relationships/slide" Target="slides/slide48.xml"/><Relationship Id="rId74" Type="http://schemas.openxmlformats.org/officeDocument/2006/relationships/slide" Target="slides/slide69.xml"/><Relationship Id="rId128" Type="http://schemas.openxmlformats.org/officeDocument/2006/relationships/slide" Target="slides/slide123.xml"/><Relationship Id="rId149" Type="http://schemas.openxmlformats.org/officeDocument/2006/relationships/slide" Target="slides/slide144.xml"/><Relationship Id="rId5" Type="http://schemas.openxmlformats.org/officeDocument/2006/relationships/slideMaster" Target="slideMasters/slideMaster2.xml"/><Relationship Id="rId95" Type="http://schemas.openxmlformats.org/officeDocument/2006/relationships/slide" Target="slides/slide90.xml"/><Relationship Id="rId160" Type="http://schemas.openxmlformats.org/officeDocument/2006/relationships/slide" Target="slides/slide155.xml"/><Relationship Id="rId181" Type="http://schemas.openxmlformats.org/officeDocument/2006/relationships/viewProps" Target="viewProps.xml"/><Relationship Id="rId22" Type="http://schemas.openxmlformats.org/officeDocument/2006/relationships/slide" Target="slides/slide17.xml"/><Relationship Id="rId43" Type="http://schemas.openxmlformats.org/officeDocument/2006/relationships/slide" Target="slides/slide38.xml"/><Relationship Id="rId64" Type="http://schemas.openxmlformats.org/officeDocument/2006/relationships/slide" Target="slides/slide59.xml"/><Relationship Id="rId118" Type="http://schemas.openxmlformats.org/officeDocument/2006/relationships/slide" Target="slides/slide113.xml"/><Relationship Id="rId139" Type="http://schemas.openxmlformats.org/officeDocument/2006/relationships/slide" Target="slides/slide134.xml"/><Relationship Id="rId85" Type="http://schemas.openxmlformats.org/officeDocument/2006/relationships/slide" Target="slides/slide80.xml"/><Relationship Id="rId150" Type="http://schemas.openxmlformats.org/officeDocument/2006/relationships/slide" Target="slides/slide145.xml"/><Relationship Id="rId171" Type="http://schemas.openxmlformats.org/officeDocument/2006/relationships/slide" Target="slides/slide166.xml"/><Relationship Id="rId12" Type="http://schemas.openxmlformats.org/officeDocument/2006/relationships/slide" Target="slides/slide7.xml"/><Relationship Id="rId33" Type="http://schemas.openxmlformats.org/officeDocument/2006/relationships/slide" Target="slides/slide28.xml"/><Relationship Id="rId108" Type="http://schemas.openxmlformats.org/officeDocument/2006/relationships/slide" Target="slides/slide103.xml"/><Relationship Id="rId129" Type="http://schemas.openxmlformats.org/officeDocument/2006/relationships/slide" Target="slides/slide124.xml"/><Relationship Id="rId54" Type="http://schemas.openxmlformats.org/officeDocument/2006/relationships/slide" Target="slides/slide49.xml"/><Relationship Id="rId75" Type="http://schemas.openxmlformats.org/officeDocument/2006/relationships/slide" Target="slides/slide70.xml"/><Relationship Id="rId96" Type="http://schemas.openxmlformats.org/officeDocument/2006/relationships/slide" Target="slides/slide91.xml"/><Relationship Id="rId140" Type="http://schemas.openxmlformats.org/officeDocument/2006/relationships/slide" Target="slides/slide135.xml"/><Relationship Id="rId161" Type="http://schemas.openxmlformats.org/officeDocument/2006/relationships/slide" Target="slides/slide156.xml"/><Relationship Id="rId182" Type="http://schemas.openxmlformats.org/officeDocument/2006/relationships/theme" Target="theme/theme1.xml"/><Relationship Id="rId6" Type="http://schemas.openxmlformats.org/officeDocument/2006/relationships/slide" Target="slides/slide1.xml"/><Relationship Id="rId23" Type="http://schemas.openxmlformats.org/officeDocument/2006/relationships/slide" Target="slides/slide18.xml"/><Relationship Id="rId119" Type="http://schemas.openxmlformats.org/officeDocument/2006/relationships/slide" Target="slides/slide114.xml"/><Relationship Id="rId44" Type="http://schemas.openxmlformats.org/officeDocument/2006/relationships/slide" Target="slides/slide39.xml"/><Relationship Id="rId65" Type="http://schemas.openxmlformats.org/officeDocument/2006/relationships/slide" Target="slides/slide60.xml"/><Relationship Id="rId86" Type="http://schemas.openxmlformats.org/officeDocument/2006/relationships/slide" Target="slides/slide81.xml"/><Relationship Id="rId130" Type="http://schemas.openxmlformats.org/officeDocument/2006/relationships/slide" Target="slides/slide125.xml"/><Relationship Id="rId151" Type="http://schemas.openxmlformats.org/officeDocument/2006/relationships/slide" Target="slides/slide146.xml"/><Relationship Id="rId172" Type="http://schemas.openxmlformats.org/officeDocument/2006/relationships/slide" Target="slides/slide167.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109" Type="http://schemas.openxmlformats.org/officeDocument/2006/relationships/slide" Target="slides/slide10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slide" Target="slides/slide71.xml"/><Relationship Id="rId97" Type="http://schemas.openxmlformats.org/officeDocument/2006/relationships/slide" Target="slides/slide92.xml"/><Relationship Id="rId104" Type="http://schemas.openxmlformats.org/officeDocument/2006/relationships/slide" Target="slides/slide99.xml"/><Relationship Id="rId120" Type="http://schemas.openxmlformats.org/officeDocument/2006/relationships/slide" Target="slides/slide115.xml"/><Relationship Id="rId125" Type="http://schemas.openxmlformats.org/officeDocument/2006/relationships/slide" Target="slides/slide120.xml"/><Relationship Id="rId141" Type="http://schemas.openxmlformats.org/officeDocument/2006/relationships/slide" Target="slides/slide136.xml"/><Relationship Id="rId146" Type="http://schemas.openxmlformats.org/officeDocument/2006/relationships/slide" Target="slides/slide141.xml"/><Relationship Id="rId167" Type="http://schemas.openxmlformats.org/officeDocument/2006/relationships/slide" Target="slides/slide162.xml"/><Relationship Id="rId7" Type="http://schemas.openxmlformats.org/officeDocument/2006/relationships/slide" Target="slides/slide2.xml"/><Relationship Id="rId71" Type="http://schemas.openxmlformats.org/officeDocument/2006/relationships/slide" Target="slides/slide66.xml"/><Relationship Id="rId92" Type="http://schemas.openxmlformats.org/officeDocument/2006/relationships/slide" Target="slides/slide87.xml"/><Relationship Id="rId162" Type="http://schemas.openxmlformats.org/officeDocument/2006/relationships/slide" Target="slides/slide157.xml"/><Relationship Id="rId183" Type="http://schemas.openxmlformats.org/officeDocument/2006/relationships/tableStyles" Target="tableStyles.xml"/><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 Id="rId87" Type="http://schemas.openxmlformats.org/officeDocument/2006/relationships/slide" Target="slides/slide82.xml"/><Relationship Id="rId110" Type="http://schemas.openxmlformats.org/officeDocument/2006/relationships/slide" Target="slides/slide105.xml"/><Relationship Id="rId115" Type="http://schemas.openxmlformats.org/officeDocument/2006/relationships/slide" Target="slides/slide110.xml"/><Relationship Id="rId131" Type="http://schemas.openxmlformats.org/officeDocument/2006/relationships/slide" Target="slides/slide126.xml"/><Relationship Id="rId136" Type="http://schemas.openxmlformats.org/officeDocument/2006/relationships/slide" Target="slides/slide131.xml"/><Relationship Id="rId157" Type="http://schemas.openxmlformats.org/officeDocument/2006/relationships/slide" Target="slides/slide152.xml"/><Relationship Id="rId178" Type="http://schemas.openxmlformats.org/officeDocument/2006/relationships/slide" Target="slides/slide173.xml"/><Relationship Id="rId61" Type="http://schemas.openxmlformats.org/officeDocument/2006/relationships/slide" Target="slides/slide56.xml"/><Relationship Id="rId82" Type="http://schemas.openxmlformats.org/officeDocument/2006/relationships/slide" Target="slides/slide77.xml"/><Relationship Id="rId152" Type="http://schemas.openxmlformats.org/officeDocument/2006/relationships/slide" Target="slides/slide147.xml"/><Relationship Id="rId173" Type="http://schemas.openxmlformats.org/officeDocument/2006/relationships/slide" Target="slides/slide168.xml"/><Relationship Id="rId19" Type="http://schemas.openxmlformats.org/officeDocument/2006/relationships/slide" Target="slides/slide14.xml"/><Relationship Id="rId14" Type="http://schemas.openxmlformats.org/officeDocument/2006/relationships/slide" Target="slides/slide9.xml"/><Relationship Id="rId30" Type="http://schemas.openxmlformats.org/officeDocument/2006/relationships/slide" Target="slides/slide25.xml"/><Relationship Id="rId35" Type="http://schemas.openxmlformats.org/officeDocument/2006/relationships/slide" Target="slides/slide30.xml"/><Relationship Id="rId56" Type="http://schemas.openxmlformats.org/officeDocument/2006/relationships/slide" Target="slides/slide51.xml"/><Relationship Id="rId77" Type="http://schemas.openxmlformats.org/officeDocument/2006/relationships/slide" Target="slides/slide72.xml"/><Relationship Id="rId100" Type="http://schemas.openxmlformats.org/officeDocument/2006/relationships/slide" Target="slides/slide95.xml"/><Relationship Id="rId105" Type="http://schemas.openxmlformats.org/officeDocument/2006/relationships/slide" Target="slides/slide100.xml"/><Relationship Id="rId126" Type="http://schemas.openxmlformats.org/officeDocument/2006/relationships/slide" Target="slides/slide121.xml"/><Relationship Id="rId147" Type="http://schemas.openxmlformats.org/officeDocument/2006/relationships/slide" Target="slides/slide142.xml"/><Relationship Id="rId168" Type="http://schemas.openxmlformats.org/officeDocument/2006/relationships/slide" Target="slides/slide163.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93" Type="http://schemas.openxmlformats.org/officeDocument/2006/relationships/slide" Target="slides/slide88.xml"/><Relationship Id="rId98" Type="http://schemas.openxmlformats.org/officeDocument/2006/relationships/slide" Target="slides/slide93.xml"/><Relationship Id="rId121" Type="http://schemas.openxmlformats.org/officeDocument/2006/relationships/slide" Target="slides/slide116.xml"/><Relationship Id="rId142" Type="http://schemas.openxmlformats.org/officeDocument/2006/relationships/slide" Target="slides/slide137.xml"/><Relationship Id="rId163" Type="http://schemas.openxmlformats.org/officeDocument/2006/relationships/slide" Target="slides/slide158.xml"/><Relationship Id="rId184" Type="http://schemas.microsoft.com/office/2016/11/relationships/changesInfo" Target="changesInfos/changesInfo1.xml"/><Relationship Id="rId3" Type="http://schemas.openxmlformats.org/officeDocument/2006/relationships/customXml" Target="../customXml/item3.xml"/><Relationship Id="rId25" Type="http://schemas.openxmlformats.org/officeDocument/2006/relationships/slide" Target="slides/slide20.xml"/><Relationship Id="rId46" Type="http://schemas.openxmlformats.org/officeDocument/2006/relationships/slide" Target="slides/slide41.xml"/><Relationship Id="rId67" Type="http://schemas.openxmlformats.org/officeDocument/2006/relationships/slide" Target="slides/slide62.xml"/><Relationship Id="rId116" Type="http://schemas.openxmlformats.org/officeDocument/2006/relationships/slide" Target="slides/slide111.xml"/><Relationship Id="rId137" Type="http://schemas.openxmlformats.org/officeDocument/2006/relationships/slide" Target="slides/slide132.xml"/><Relationship Id="rId158" Type="http://schemas.openxmlformats.org/officeDocument/2006/relationships/slide" Target="slides/slide153.xml"/><Relationship Id="rId20" Type="http://schemas.openxmlformats.org/officeDocument/2006/relationships/slide" Target="slides/slide15.xml"/><Relationship Id="rId41" Type="http://schemas.openxmlformats.org/officeDocument/2006/relationships/slide" Target="slides/slide36.xml"/><Relationship Id="rId62" Type="http://schemas.openxmlformats.org/officeDocument/2006/relationships/slide" Target="slides/slide57.xml"/><Relationship Id="rId83" Type="http://schemas.openxmlformats.org/officeDocument/2006/relationships/slide" Target="slides/slide78.xml"/><Relationship Id="rId88" Type="http://schemas.openxmlformats.org/officeDocument/2006/relationships/slide" Target="slides/slide83.xml"/><Relationship Id="rId111" Type="http://schemas.openxmlformats.org/officeDocument/2006/relationships/slide" Target="slides/slide106.xml"/><Relationship Id="rId132" Type="http://schemas.openxmlformats.org/officeDocument/2006/relationships/slide" Target="slides/slide127.xml"/><Relationship Id="rId153" Type="http://schemas.openxmlformats.org/officeDocument/2006/relationships/slide" Target="slides/slide148.xml"/><Relationship Id="rId174" Type="http://schemas.openxmlformats.org/officeDocument/2006/relationships/slide" Target="slides/slide169.xml"/><Relationship Id="rId179" Type="http://schemas.openxmlformats.org/officeDocument/2006/relationships/notesMaster" Target="notesMasters/notesMaster1.xml"/><Relationship Id="rId15" Type="http://schemas.openxmlformats.org/officeDocument/2006/relationships/slide" Target="slides/slide10.xml"/><Relationship Id="rId36" Type="http://schemas.openxmlformats.org/officeDocument/2006/relationships/slide" Target="slides/slide31.xml"/><Relationship Id="rId57" Type="http://schemas.openxmlformats.org/officeDocument/2006/relationships/slide" Target="slides/slide52.xml"/><Relationship Id="rId106" Type="http://schemas.openxmlformats.org/officeDocument/2006/relationships/slide" Target="slides/slide101.xml"/><Relationship Id="rId127" Type="http://schemas.openxmlformats.org/officeDocument/2006/relationships/slide" Target="slides/slide122.xml"/><Relationship Id="rId10" Type="http://schemas.openxmlformats.org/officeDocument/2006/relationships/slide" Target="slides/slide5.xml"/><Relationship Id="rId31" Type="http://schemas.openxmlformats.org/officeDocument/2006/relationships/slide" Target="slides/slide26.xml"/><Relationship Id="rId52" Type="http://schemas.openxmlformats.org/officeDocument/2006/relationships/slide" Target="slides/slide47.xml"/><Relationship Id="rId73" Type="http://schemas.openxmlformats.org/officeDocument/2006/relationships/slide" Target="slides/slide68.xml"/><Relationship Id="rId78" Type="http://schemas.openxmlformats.org/officeDocument/2006/relationships/slide" Target="slides/slide73.xml"/><Relationship Id="rId94" Type="http://schemas.openxmlformats.org/officeDocument/2006/relationships/slide" Target="slides/slide89.xml"/><Relationship Id="rId99" Type="http://schemas.openxmlformats.org/officeDocument/2006/relationships/slide" Target="slides/slide94.xml"/><Relationship Id="rId101" Type="http://schemas.openxmlformats.org/officeDocument/2006/relationships/slide" Target="slides/slide96.xml"/><Relationship Id="rId122" Type="http://schemas.openxmlformats.org/officeDocument/2006/relationships/slide" Target="slides/slide117.xml"/><Relationship Id="rId143" Type="http://schemas.openxmlformats.org/officeDocument/2006/relationships/slide" Target="slides/slide138.xml"/><Relationship Id="rId148" Type="http://schemas.openxmlformats.org/officeDocument/2006/relationships/slide" Target="slides/slide143.xml"/><Relationship Id="rId164" Type="http://schemas.openxmlformats.org/officeDocument/2006/relationships/slide" Target="slides/slide159.xml"/><Relationship Id="rId169" Type="http://schemas.openxmlformats.org/officeDocument/2006/relationships/slide" Target="slides/slide164.xml"/><Relationship Id="rId185" Type="http://schemas.microsoft.com/office/2015/10/relationships/revisionInfo" Target="revisionInfo.xml"/><Relationship Id="rId4" Type="http://schemas.openxmlformats.org/officeDocument/2006/relationships/slideMaster" Target="slideMasters/slideMaster1.xml"/><Relationship Id="rId9" Type="http://schemas.openxmlformats.org/officeDocument/2006/relationships/slide" Target="slides/slide4.xml"/><Relationship Id="rId180" Type="http://schemas.openxmlformats.org/officeDocument/2006/relationships/presProps" Target="presProps.xml"/><Relationship Id="rId26" Type="http://schemas.openxmlformats.org/officeDocument/2006/relationships/slide" Target="slides/slide21.xml"/><Relationship Id="rId47" Type="http://schemas.openxmlformats.org/officeDocument/2006/relationships/slide" Target="slides/slide42.xml"/><Relationship Id="rId68" Type="http://schemas.openxmlformats.org/officeDocument/2006/relationships/slide" Target="slides/slide63.xml"/><Relationship Id="rId89" Type="http://schemas.openxmlformats.org/officeDocument/2006/relationships/slide" Target="slides/slide84.xml"/><Relationship Id="rId112" Type="http://schemas.openxmlformats.org/officeDocument/2006/relationships/slide" Target="slides/slide107.xml"/><Relationship Id="rId133" Type="http://schemas.openxmlformats.org/officeDocument/2006/relationships/slide" Target="slides/slide128.xml"/><Relationship Id="rId154" Type="http://schemas.openxmlformats.org/officeDocument/2006/relationships/slide" Target="slides/slide149.xml"/><Relationship Id="rId175" Type="http://schemas.openxmlformats.org/officeDocument/2006/relationships/slide" Target="slides/slide170.xml"/><Relationship Id="rId16" Type="http://schemas.openxmlformats.org/officeDocument/2006/relationships/slide" Target="slides/slide11.xml"/><Relationship Id="rId37" Type="http://schemas.openxmlformats.org/officeDocument/2006/relationships/slide" Target="slides/slide32.xml"/><Relationship Id="rId58" Type="http://schemas.openxmlformats.org/officeDocument/2006/relationships/slide" Target="slides/slide53.xml"/><Relationship Id="rId79" Type="http://schemas.openxmlformats.org/officeDocument/2006/relationships/slide" Target="slides/slide74.xml"/><Relationship Id="rId102" Type="http://schemas.openxmlformats.org/officeDocument/2006/relationships/slide" Target="slides/slide97.xml"/><Relationship Id="rId123" Type="http://schemas.openxmlformats.org/officeDocument/2006/relationships/slide" Target="slides/slide118.xml"/><Relationship Id="rId144" Type="http://schemas.openxmlformats.org/officeDocument/2006/relationships/slide" Target="slides/slide139.xml"/><Relationship Id="rId90" Type="http://schemas.openxmlformats.org/officeDocument/2006/relationships/slide" Target="slides/slide85.xml"/><Relationship Id="rId165" Type="http://schemas.openxmlformats.org/officeDocument/2006/relationships/slide" Target="slides/slide160.xml"/><Relationship Id="rId186" Type="http://schemas.microsoft.com/office/2018/10/relationships/authors" Target="authors.xml"/><Relationship Id="rId27" Type="http://schemas.openxmlformats.org/officeDocument/2006/relationships/slide" Target="slides/slide22.xml"/><Relationship Id="rId48" Type="http://schemas.openxmlformats.org/officeDocument/2006/relationships/slide" Target="slides/slide43.xml"/><Relationship Id="rId69" Type="http://schemas.openxmlformats.org/officeDocument/2006/relationships/slide" Target="slides/slide64.xml"/><Relationship Id="rId113" Type="http://schemas.openxmlformats.org/officeDocument/2006/relationships/slide" Target="slides/slide108.xml"/><Relationship Id="rId134" Type="http://schemas.openxmlformats.org/officeDocument/2006/relationships/slide" Target="slides/slide129.xml"/><Relationship Id="rId80" Type="http://schemas.openxmlformats.org/officeDocument/2006/relationships/slide" Target="slides/slide75.xml"/><Relationship Id="rId155" Type="http://schemas.openxmlformats.org/officeDocument/2006/relationships/slide" Target="slides/slide150.xml"/><Relationship Id="rId176" Type="http://schemas.openxmlformats.org/officeDocument/2006/relationships/slide" Target="slides/slide171.xml"/><Relationship Id="rId17" Type="http://schemas.openxmlformats.org/officeDocument/2006/relationships/slide" Target="slides/slide12.xml"/><Relationship Id="rId38" Type="http://schemas.openxmlformats.org/officeDocument/2006/relationships/slide" Target="slides/slide33.xml"/><Relationship Id="rId59" Type="http://schemas.openxmlformats.org/officeDocument/2006/relationships/slide" Target="slides/slide54.xml"/><Relationship Id="rId103" Type="http://schemas.openxmlformats.org/officeDocument/2006/relationships/slide" Target="slides/slide98.xml"/><Relationship Id="rId124" Type="http://schemas.openxmlformats.org/officeDocument/2006/relationships/slide" Target="slides/slide119.xml"/><Relationship Id="rId70" Type="http://schemas.openxmlformats.org/officeDocument/2006/relationships/slide" Target="slides/slide65.xml"/><Relationship Id="rId91" Type="http://schemas.openxmlformats.org/officeDocument/2006/relationships/slide" Target="slides/slide86.xml"/><Relationship Id="rId145" Type="http://schemas.openxmlformats.org/officeDocument/2006/relationships/slide" Target="slides/slide140.xml"/><Relationship Id="rId166" Type="http://schemas.openxmlformats.org/officeDocument/2006/relationships/slide" Target="slides/slide161.xml"/><Relationship Id="rId1" Type="http://schemas.openxmlformats.org/officeDocument/2006/relationships/customXml" Target="../customXml/item1.xml"/><Relationship Id="rId28" Type="http://schemas.openxmlformats.org/officeDocument/2006/relationships/slide" Target="slides/slide23.xml"/><Relationship Id="rId49" Type="http://schemas.openxmlformats.org/officeDocument/2006/relationships/slide" Target="slides/slide44.xml"/><Relationship Id="rId114" Type="http://schemas.openxmlformats.org/officeDocument/2006/relationships/slide" Target="slides/slide109.xml"/><Relationship Id="rId60" Type="http://schemas.openxmlformats.org/officeDocument/2006/relationships/slide" Target="slides/slide55.xml"/><Relationship Id="rId81" Type="http://schemas.openxmlformats.org/officeDocument/2006/relationships/slide" Target="slides/slide76.xml"/><Relationship Id="rId135" Type="http://schemas.openxmlformats.org/officeDocument/2006/relationships/slide" Target="slides/slide130.xml"/><Relationship Id="rId156" Type="http://schemas.openxmlformats.org/officeDocument/2006/relationships/slide" Target="slides/slide151.xml"/><Relationship Id="rId177" Type="http://schemas.openxmlformats.org/officeDocument/2006/relationships/slide" Target="slides/slide172.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Corporate Talent Acquisition Cimory Group" userId="S::recruitment@cimory.com::febf222e-6949-493b-92b8-551375ecf797" providerId="AD" clId="Web-{FA46B1D7-F31C-2C77-BD98-8F2CB0A9F515}"/>
    <pc:docChg chg="modSld">
      <pc:chgData name="Corporate Talent Acquisition Cimory Group" userId="S::recruitment@cimory.com::febf222e-6949-493b-92b8-551375ecf797" providerId="AD" clId="Web-{FA46B1D7-F31C-2C77-BD98-8F2CB0A9F515}" dt="2026-08-10T06:41:57.476" v="85"/>
      <pc:docMkLst>
        <pc:docMk/>
      </pc:docMkLst>
      <pc:sldChg chg="modSp">
        <pc:chgData name="Corporate Talent Acquisition Cimory Group" userId="S::recruitment@cimory.com::febf222e-6949-493b-92b8-551375ecf797" providerId="AD" clId="Web-{FA46B1D7-F31C-2C77-BD98-8F2CB0A9F515}" dt="2026-08-10T03:19:06.248" v="3" actId="1076"/>
        <pc:sldMkLst>
          <pc:docMk/>
          <pc:sldMk cId="3357161073" sldId="2146851370"/>
        </pc:sldMkLst>
        <pc:spChg chg="mod">
          <ac:chgData name="Corporate Talent Acquisition Cimory Group" userId="S::recruitment@cimory.com::febf222e-6949-493b-92b8-551375ecf797" providerId="AD" clId="Web-{FA46B1D7-F31C-2C77-BD98-8F2CB0A9F515}" dt="2026-08-10T03:19:06.248" v="3" actId="1076"/>
          <ac:spMkLst>
            <pc:docMk/>
            <pc:sldMk cId="3357161073" sldId="2146851370"/>
            <ac:spMk id="29" creationId="{BB7A0287-F917-AA21-A027-3B00B56DFA5A}"/>
          </ac:spMkLst>
        </pc:spChg>
      </pc:sldChg>
      <pc:sldChg chg="modSp">
        <pc:chgData name="Corporate Talent Acquisition Cimory Group" userId="S::recruitment@cimory.com::febf222e-6949-493b-92b8-551375ecf797" providerId="AD" clId="Web-{FA46B1D7-F31C-2C77-BD98-8F2CB0A9F515}" dt="2026-08-10T03:19:20.889" v="5" actId="1076"/>
        <pc:sldMkLst>
          <pc:docMk/>
          <pc:sldMk cId="2961837861" sldId="2146851372"/>
        </pc:sldMkLst>
        <pc:spChg chg="mod">
          <ac:chgData name="Corporate Talent Acquisition Cimory Group" userId="S::recruitment@cimory.com::febf222e-6949-493b-92b8-551375ecf797" providerId="AD" clId="Web-{FA46B1D7-F31C-2C77-BD98-8F2CB0A9F515}" dt="2026-08-10T03:19:20.889" v="5" actId="1076"/>
          <ac:spMkLst>
            <pc:docMk/>
            <pc:sldMk cId="2961837861" sldId="2146851372"/>
            <ac:spMk id="28" creationId="{3F2645C0-0C87-9CD7-729F-449109E9F1C1}"/>
          </ac:spMkLst>
        </pc:spChg>
      </pc:sldChg>
    </pc:docChg>
  </pc:docChgLst>
  <pc:docChgLst>
    <pc:chgData name="Pauline Immanuel Supardi" userId="S::pauline.immanuel@cimory.com::6bddf53c-48c8-4584-85ce-fadb73123699" providerId="AD" clId="Web-{7D89EAFE-C8C4-D4DC-95F9-35684B0CF518}"/>
    <pc:docChg chg="mod modSld">
      <pc:chgData name="Pauline Immanuel Supardi" userId="S::pauline.immanuel@cimory.com::6bddf53c-48c8-4584-85ce-fadb73123699" providerId="AD" clId="Web-{7D89EAFE-C8C4-D4DC-95F9-35684B0CF518}" dt="2026-07-25T13:10:53.614" v="24" actId="1076"/>
      <pc:docMkLst>
        <pc:docMk/>
      </pc:docMkLst>
      <pc:sldChg chg="modSp">
        <pc:chgData name="Pauline Immanuel Supardi" userId="S::pauline.immanuel@cimory.com::6bddf53c-48c8-4584-85ce-fadb73123699" providerId="AD" clId="Web-{7D89EAFE-C8C4-D4DC-95F9-35684B0CF518}" dt="2026-07-25T13:03:29.207" v="0" actId="20577"/>
        <pc:sldMkLst>
          <pc:docMk/>
          <pc:sldMk cId="0" sldId="2146849437"/>
        </pc:sldMkLst>
        <pc:spChg chg="mod">
          <ac:chgData name="Pauline Immanuel Supardi" userId="S::pauline.immanuel@cimory.com::6bddf53c-48c8-4584-85ce-fadb73123699" providerId="AD" clId="Web-{7D89EAFE-C8C4-D4DC-95F9-35684B0CF518}" dt="2026-07-25T13:03:29.207" v="0" actId="20577"/>
          <ac:spMkLst>
            <pc:docMk/>
            <pc:sldMk cId="0" sldId="2146849437"/>
            <ac:spMk id="8" creationId="{478F7F03-9C63-34F9-A419-E8EA55676700}"/>
          </ac:spMkLst>
        </pc:spChg>
      </pc:sldChg>
    </pc:docChg>
  </pc:docChgLst>
  <pc:docChgLst>
    <pc:chgData name="Pauline Immanuel Supardi" userId="6bddf53c-48c8-4584-85ce-fadb73123699" providerId="ADAL" clId="{FE083EED-DC9D-4435-B830-DE1EA9D6F9A8}"/>
    <pc:docChg chg="undo custSel addSld delSld modSld">
      <pc:chgData name="Pauline Immanuel Supardi" userId="6bddf53c-48c8-4584-85ce-fadb73123699" providerId="ADAL" clId="{FE083EED-DC9D-4435-B830-DE1EA9D6F9A8}" dt="2026-07-25T15:56:51.906" v="4268" actId="20577"/>
      <pc:docMkLst>
        <pc:docMk/>
      </pc:docMkLst>
      <pc:sldChg chg="addSp modSp mod">
        <pc:chgData name="Pauline Immanuel Supardi" userId="6bddf53c-48c8-4584-85ce-fadb73123699" providerId="ADAL" clId="{FE083EED-DC9D-4435-B830-DE1EA9D6F9A8}" dt="2026-07-25T15:56:51.906" v="4268" actId="20577"/>
        <pc:sldMkLst>
          <pc:docMk/>
          <pc:sldMk cId="536663561" sldId="2146851293"/>
        </pc:sldMkLst>
        <pc:spChg chg="mod">
          <ac:chgData name="Pauline Immanuel Supardi" userId="6bddf53c-48c8-4584-85ce-fadb73123699" providerId="ADAL" clId="{FE083EED-DC9D-4435-B830-DE1EA9D6F9A8}" dt="2026-07-25T15:56:51.906" v="4268" actId="20577"/>
          <ac:spMkLst>
            <pc:docMk/>
            <pc:sldMk cId="536663561" sldId="2146851293"/>
            <ac:spMk id="2" creationId="{E12512C6-BAE0-2CD8-C99E-A6E0F96B092F}"/>
          </ac:spMkLst>
        </pc:spChg>
      </pc:sldChg>
      <pc:sldChg chg="modSp add mod">
        <pc:chgData name="Pauline Immanuel Supardi" userId="6bddf53c-48c8-4584-85ce-fadb73123699" providerId="ADAL" clId="{FE083EED-DC9D-4435-B830-DE1EA9D6F9A8}" dt="2026-07-19T08:38:29.604" v="1768" actId="14100"/>
        <pc:sldMkLst>
          <pc:docMk/>
          <pc:sldMk cId="2117777768" sldId="2146851303"/>
        </pc:sldMkLst>
        <pc:graphicFrameChg chg="modGraphic">
          <ac:chgData name="Pauline Immanuel Supardi" userId="6bddf53c-48c8-4584-85ce-fadb73123699" providerId="ADAL" clId="{FE083EED-DC9D-4435-B830-DE1EA9D6F9A8}" dt="2026-07-19T08:38:29.604" v="1768" actId="14100"/>
          <ac:graphicFrameMkLst>
            <pc:docMk/>
            <pc:sldMk cId="2117777768" sldId="2146851303"/>
            <ac:graphicFrameMk id="5" creationId="{45D240DC-5B13-6CEC-4899-0605BD3E78BB}"/>
          </ac:graphicFrameMkLst>
        </pc:graphicFrameChg>
      </pc:sldChg>
    </pc:docChg>
  </pc:docChgLst>
  <pc:docChgLst>
    <pc:chgData name="Khairina Herind Septarini W" userId="S::khairina.herind@cimory.com::4d43d73c-e798-43a5-943d-306385f9cfe3" providerId="AD" clId="Web-{5AAB978A-A8F9-E1A0-3395-85064A84E947}"/>
    <pc:docChg chg="addSld modSld sldOrd">
      <pc:chgData name="Khairina Herind Septarini W" userId="S::khairina.herind@cimory.com::4d43d73c-e798-43a5-943d-306385f9cfe3" providerId="AD" clId="Web-{5AAB978A-A8F9-E1A0-3395-85064A84E947}" dt="2026-08-14T03:13:14.081" v="9"/>
      <pc:docMkLst>
        <pc:docMk/>
      </pc:docMkLst>
      <pc:sldChg chg="modSp add ord replId">
        <pc:chgData name="Khairina Herind Septarini W" userId="S::khairina.herind@cimory.com::4d43d73c-e798-43a5-943d-306385f9cfe3" providerId="AD" clId="Web-{5AAB978A-A8F9-E1A0-3395-85064A84E947}" dt="2026-08-14T02:20:29.228" v="6" actId="20577"/>
        <pc:sldMkLst>
          <pc:docMk/>
          <pc:sldMk cId="4197591786" sldId="2146851419"/>
        </pc:sldMkLst>
        <pc:spChg chg="mod">
          <ac:chgData name="Khairina Herind Septarini W" userId="S::khairina.herind@cimory.com::4d43d73c-e798-43a5-943d-306385f9cfe3" providerId="AD" clId="Web-{5AAB978A-A8F9-E1A0-3395-85064A84E947}" dt="2026-08-14T02:20:29.228" v="6" actId="20577"/>
          <ac:spMkLst>
            <pc:docMk/>
            <pc:sldMk cId="4197591786" sldId="2146851419"/>
            <ac:spMk id="4" creationId="{F2A9E1A0-790B-028D-6011-6E0F44FEAB79}"/>
          </ac:spMkLst>
        </pc:spChg>
      </pc:sldChg>
    </pc:docChg>
  </pc:docChgLst>
  <pc:docChgLst>
    <pc:chgData name="Corporate Talent Acquisition Cimory Group" userId="S::recruitment@cimory.com::febf222e-6949-493b-92b8-551375ecf797" providerId="AD" clId="Web-{53334F64-6343-9B58-A523-392CCF220036}"/>
    <pc:docChg chg="delSld modSld">
      <pc:chgData name="Corporate Talent Acquisition Cimory Group" userId="S::recruitment@cimory.com::febf222e-6949-493b-92b8-551375ecf797" providerId="AD" clId="Web-{53334F64-6343-9B58-A523-392CCF220036}" dt="2026-08-17T10:01:09.561" v="38" actId="1076"/>
      <pc:docMkLst>
        <pc:docMk/>
      </pc:docMkLst>
      <pc:sldChg chg="del">
        <pc:chgData name="Corporate Talent Acquisition Cimory Group" userId="S::recruitment@cimory.com::febf222e-6949-493b-92b8-551375ecf797" providerId="AD" clId="Web-{53334F64-6343-9B58-A523-392CCF220036}" dt="2026-08-17T10:00:35.233" v="34"/>
        <pc:sldMkLst>
          <pc:docMk/>
          <pc:sldMk cId="2675354894" sldId="2146851291"/>
        </pc:sldMkLst>
      </pc:sldChg>
      <pc:sldChg chg="modSp">
        <pc:chgData name="Corporate Talent Acquisition Cimory Group" userId="S::recruitment@cimory.com::febf222e-6949-493b-92b8-551375ecf797" providerId="AD" clId="Web-{53334F64-6343-9B58-A523-392CCF220036}" dt="2026-08-17T09:53:40.076" v="24" actId="20577"/>
        <pc:sldMkLst>
          <pc:docMk/>
          <pc:sldMk cId="224410125" sldId="2146851420"/>
        </pc:sldMkLst>
        <pc:spChg chg="mod">
          <ac:chgData name="Corporate Talent Acquisition Cimory Group" userId="S::recruitment@cimory.com::febf222e-6949-493b-92b8-551375ecf797" providerId="AD" clId="Web-{53334F64-6343-9B58-A523-392CCF220036}" dt="2026-08-17T09:53:40.076" v="24" actId="20577"/>
          <ac:spMkLst>
            <pc:docMk/>
            <pc:sldMk cId="224410125" sldId="2146851420"/>
            <ac:spMk id="4" creationId="{C1D54D7E-1D34-912E-C4A4-6F44DAA9E6F1}"/>
          </ac:spMkLst>
        </pc:spChg>
        <pc:graphicFrameChg chg="mod">
          <ac:chgData name="Corporate Talent Acquisition Cimory Group" userId="S::recruitment@cimory.com::febf222e-6949-493b-92b8-551375ecf797" providerId="AD" clId="Web-{53334F64-6343-9B58-A523-392CCF220036}" dt="2026-08-17T09:53:15.795" v="22" actId="1076"/>
          <ac:graphicFrameMkLst>
            <pc:docMk/>
            <pc:sldMk cId="224410125" sldId="2146851420"/>
            <ac:graphicFrameMk id="7" creationId="{B368B238-B634-A685-CE99-4E7E77D5A448}"/>
          </ac:graphicFrameMkLst>
        </pc:graphicFrameChg>
      </pc:sldChg>
      <pc:sldChg chg="addSp delSp modSp">
        <pc:chgData name="Corporate Talent Acquisition Cimory Group" userId="S::recruitment@cimory.com::febf222e-6949-493b-92b8-551375ecf797" providerId="AD" clId="Web-{53334F64-6343-9B58-A523-392CCF220036}" dt="2026-08-17T09:52:53.248" v="10" actId="1076"/>
        <pc:sldMkLst>
          <pc:docMk/>
          <pc:sldMk cId="2175789549" sldId="2146851421"/>
        </pc:sldMkLst>
        <pc:spChg chg="del">
          <ac:chgData name="Corporate Talent Acquisition Cimory Group" userId="S::recruitment@cimory.com::febf222e-6949-493b-92b8-551375ecf797" providerId="AD" clId="Web-{53334F64-6343-9B58-A523-392CCF220036}" dt="2026-08-17T09:52:44.061" v="8"/>
          <ac:spMkLst>
            <pc:docMk/>
            <pc:sldMk cId="2175789549" sldId="2146851421"/>
            <ac:spMk id="2" creationId="{7199C48B-74E8-D0E7-0421-5064C403DF16}"/>
          </ac:spMkLst>
        </pc:spChg>
        <pc:spChg chg="add mod">
          <ac:chgData name="Corporate Talent Acquisition Cimory Group" userId="S::recruitment@cimory.com::febf222e-6949-493b-92b8-551375ecf797" providerId="AD" clId="Web-{53334F64-6343-9B58-A523-392CCF220036}" dt="2026-08-17T09:52:53.248" v="10" actId="1076"/>
          <ac:spMkLst>
            <pc:docMk/>
            <pc:sldMk cId="2175789549" sldId="2146851421"/>
            <ac:spMk id="5" creationId="{340486E8-E02C-F593-5258-22C571FF8577}"/>
          </ac:spMkLst>
        </pc:spChg>
      </pc:sldChg>
      <pc:sldChg chg="addSp delSp modSp">
        <pc:chgData name="Corporate Talent Acquisition Cimory Group" userId="S::recruitment@cimory.com::febf222e-6949-493b-92b8-551375ecf797" providerId="AD" clId="Web-{53334F64-6343-9B58-A523-392CCF220036}" dt="2026-08-17T09:52:37.607" v="7" actId="1076"/>
        <pc:sldMkLst>
          <pc:docMk/>
          <pc:sldMk cId="658659115" sldId="2146851422"/>
        </pc:sldMkLst>
        <pc:spChg chg="del">
          <ac:chgData name="Corporate Talent Acquisition Cimory Group" userId="S::recruitment@cimory.com::febf222e-6949-493b-92b8-551375ecf797" providerId="AD" clId="Web-{53334F64-6343-9B58-A523-392CCF220036}" dt="2026-08-17T09:52:33.857" v="5"/>
          <ac:spMkLst>
            <pc:docMk/>
            <pc:sldMk cId="658659115" sldId="2146851422"/>
            <ac:spMk id="2" creationId="{7199C48B-74E8-D0E7-0421-5064C403DF16}"/>
          </ac:spMkLst>
        </pc:spChg>
        <pc:spChg chg="add mod">
          <ac:chgData name="Corporate Talent Acquisition Cimory Group" userId="S::recruitment@cimory.com::febf222e-6949-493b-92b8-551375ecf797" providerId="AD" clId="Web-{53334F64-6343-9B58-A523-392CCF220036}" dt="2026-08-17T09:52:37.607" v="7" actId="1076"/>
          <ac:spMkLst>
            <pc:docMk/>
            <pc:sldMk cId="658659115" sldId="2146851422"/>
            <ac:spMk id="5" creationId="{3DEB6357-5F50-8E32-B873-353A68A47918}"/>
          </ac:spMkLst>
        </pc:spChg>
      </pc:sldChg>
      <pc:sldChg chg="modSp">
        <pc:chgData name="Corporate Talent Acquisition Cimory Group" userId="S::recruitment@cimory.com::febf222e-6949-493b-92b8-551375ecf797" providerId="AD" clId="Web-{53334F64-6343-9B58-A523-392CCF220036}" dt="2026-08-17T09:52:29.248" v="4" actId="20577"/>
        <pc:sldMkLst>
          <pc:docMk/>
          <pc:sldMk cId="3377810513" sldId="2146851426"/>
        </pc:sldMkLst>
        <pc:spChg chg="mod">
          <ac:chgData name="Corporate Talent Acquisition Cimory Group" userId="S::recruitment@cimory.com::febf222e-6949-493b-92b8-551375ecf797" providerId="AD" clId="Web-{53334F64-6343-9B58-A523-392CCF220036}" dt="2026-08-17T09:52:29.248" v="4" actId="20577"/>
          <ac:spMkLst>
            <pc:docMk/>
            <pc:sldMk cId="3377810513" sldId="2146851426"/>
            <ac:spMk id="2" creationId="{90E5ACEA-68E8-3B0E-5B02-84DF32563613}"/>
          </ac:spMkLst>
        </pc:spChg>
      </pc:sldChg>
      <pc:sldChg chg="modSp">
        <pc:chgData name="Corporate Talent Acquisition Cimory Group" userId="S::recruitment@cimory.com::febf222e-6949-493b-92b8-551375ecf797" providerId="AD" clId="Web-{53334F64-6343-9B58-A523-392CCF220036}" dt="2026-08-17T10:00:57.733" v="36"/>
        <pc:sldMkLst>
          <pc:docMk/>
          <pc:sldMk cId="3790097384" sldId="2146851435"/>
        </pc:sldMkLst>
        <pc:graphicFrameChg chg="mod modGraphic">
          <ac:chgData name="Corporate Talent Acquisition Cimory Group" userId="S::recruitment@cimory.com::febf222e-6949-493b-92b8-551375ecf797" providerId="AD" clId="Web-{53334F64-6343-9B58-A523-392CCF220036}" dt="2026-08-17T10:00:57.733" v="36"/>
          <ac:graphicFrameMkLst>
            <pc:docMk/>
            <pc:sldMk cId="3790097384" sldId="2146851435"/>
            <ac:graphicFrameMk id="4" creationId="{90B1B378-7362-CDF2-5698-85F44D67F952}"/>
          </ac:graphicFrameMkLst>
        </pc:graphicFrameChg>
      </pc:sldChg>
      <pc:sldChg chg="modSp">
        <pc:chgData name="Corporate Talent Acquisition Cimory Group" userId="S::recruitment@cimory.com::febf222e-6949-493b-92b8-551375ecf797" providerId="AD" clId="Web-{53334F64-6343-9B58-A523-392CCF220036}" dt="2026-08-17T09:58:58.592" v="32" actId="1076"/>
        <pc:sldMkLst>
          <pc:docMk/>
          <pc:sldMk cId="3533695059" sldId="2146851441"/>
        </pc:sldMkLst>
        <pc:spChg chg="mod">
          <ac:chgData name="Corporate Talent Acquisition Cimory Group" userId="S::recruitment@cimory.com::febf222e-6949-493b-92b8-551375ecf797" providerId="AD" clId="Web-{53334F64-6343-9B58-A523-392CCF220036}" dt="2026-08-17T09:58:58.592" v="32" actId="1076"/>
          <ac:spMkLst>
            <pc:docMk/>
            <pc:sldMk cId="3533695059" sldId="2146851441"/>
            <ac:spMk id="6" creationId="{2D27D93C-6284-2556-6E3B-41B3D7BDAAFB}"/>
          </ac:spMkLst>
        </pc:spChg>
      </pc:sldChg>
      <pc:sldChg chg="modSp">
        <pc:chgData name="Corporate Talent Acquisition Cimory Group" userId="S::recruitment@cimory.com::febf222e-6949-493b-92b8-551375ecf797" providerId="AD" clId="Web-{53334F64-6343-9B58-A523-392CCF220036}" dt="2026-08-17T09:53:05.857" v="16" actId="1076"/>
        <pc:sldMkLst>
          <pc:docMk/>
          <pc:sldMk cId="678594577" sldId="2146851443"/>
        </pc:sldMkLst>
        <pc:spChg chg="mod">
          <ac:chgData name="Corporate Talent Acquisition Cimory Group" userId="S::recruitment@cimory.com::febf222e-6949-493b-92b8-551375ecf797" providerId="AD" clId="Web-{53334F64-6343-9B58-A523-392CCF220036}" dt="2026-08-17T09:53:05.857" v="16" actId="1076"/>
          <ac:spMkLst>
            <pc:docMk/>
            <pc:sldMk cId="678594577" sldId="2146851443"/>
            <ac:spMk id="4" creationId="{1DD3E06D-1898-B326-82D6-9284621ADFFF}"/>
          </ac:spMkLst>
        </pc:spChg>
      </pc:sldChg>
      <pc:sldChg chg="modSp">
        <pc:chgData name="Corporate Talent Acquisition Cimory Group" userId="S::recruitment@cimory.com::febf222e-6949-493b-92b8-551375ecf797" providerId="AD" clId="Web-{53334F64-6343-9B58-A523-392CCF220036}" dt="2026-08-17T09:59:44.936" v="33"/>
        <pc:sldMkLst>
          <pc:docMk/>
          <pc:sldMk cId="3982608430" sldId="2146851448"/>
        </pc:sldMkLst>
        <pc:graphicFrameChg chg="modGraphic">
          <ac:chgData name="Corporate Talent Acquisition Cimory Group" userId="S::recruitment@cimory.com::febf222e-6949-493b-92b8-551375ecf797" providerId="AD" clId="Web-{53334F64-6343-9B58-A523-392CCF220036}" dt="2026-08-17T09:59:44.936" v="33"/>
          <ac:graphicFrameMkLst>
            <pc:docMk/>
            <pc:sldMk cId="3982608430" sldId="2146851448"/>
            <ac:graphicFrameMk id="4" creationId="{00000000-0000-0000-0000-000000000000}"/>
          </ac:graphicFrameMkLst>
        </pc:graphicFrameChg>
      </pc:sldChg>
      <pc:sldChg chg="modSp">
        <pc:chgData name="Corporate Talent Acquisition Cimory Group" userId="S::recruitment@cimory.com::febf222e-6949-493b-92b8-551375ecf797" providerId="AD" clId="Web-{53334F64-6343-9B58-A523-392CCF220036}" dt="2026-08-17T10:01:09.561" v="38" actId="1076"/>
        <pc:sldMkLst>
          <pc:docMk/>
          <pc:sldMk cId="2252310130" sldId="2146851508"/>
        </pc:sldMkLst>
        <pc:spChg chg="mod">
          <ac:chgData name="Corporate Talent Acquisition Cimory Group" userId="S::recruitment@cimory.com::febf222e-6949-493b-92b8-551375ecf797" providerId="AD" clId="Web-{53334F64-6343-9B58-A523-392CCF220036}" dt="2026-08-17T10:01:09.561" v="38" actId="1076"/>
          <ac:spMkLst>
            <pc:docMk/>
            <pc:sldMk cId="2252310130" sldId="2146851508"/>
            <ac:spMk id="30" creationId="{DC80633C-9FDC-CB35-B7A1-3C0D714D0D4B}"/>
          </ac:spMkLst>
        </pc:spChg>
        <pc:picChg chg="mod">
          <ac:chgData name="Corporate Talent Acquisition Cimory Group" userId="S::recruitment@cimory.com::febf222e-6949-493b-92b8-551375ecf797" providerId="AD" clId="Web-{53334F64-6343-9B58-A523-392CCF220036}" dt="2026-08-17T09:58:57.858" v="31" actId="1076"/>
          <ac:picMkLst>
            <pc:docMk/>
            <pc:sldMk cId="2252310130" sldId="2146851508"/>
            <ac:picMk id="5" creationId="{8832E21F-9574-3EC6-6815-FDC4DB8E254E}"/>
          </ac:picMkLst>
        </pc:picChg>
      </pc:sldChg>
    </pc:docChg>
  </pc:docChgLst>
  <pc:docChgLst>
    <pc:chgData name="Avrellia Marta Suryaningtyas" userId="S::avrellia.marta@cimory.com::02673abe-d8f8-48b6-b2a3-304af2f80eaf" providerId="AD" clId="Web-{91E724D1-643B-38CC-8DA6-DB8E10870094}"/>
    <pc:docChg chg="modSld">
      <pc:chgData name="Avrellia Marta Suryaningtyas" userId="S::avrellia.marta@cimory.com::02673abe-d8f8-48b6-b2a3-304af2f80eaf" providerId="AD" clId="Web-{91E724D1-643B-38CC-8DA6-DB8E10870094}" dt="2026-07-24T12:26:28.013" v="616"/>
      <pc:docMkLst>
        <pc:docMk/>
      </pc:docMkLst>
      <pc:sldChg chg="addSp delSp modSp">
        <pc:chgData name="Avrellia Marta Suryaningtyas" userId="S::avrellia.marta@cimory.com::02673abe-d8f8-48b6-b2a3-304af2f80eaf" providerId="AD" clId="Web-{91E724D1-643B-38CC-8DA6-DB8E10870094}" dt="2026-07-24T12:26:21.263" v="615"/>
        <pc:sldMkLst>
          <pc:docMk/>
          <pc:sldMk cId="2367542049" sldId="2146851242"/>
        </pc:sldMkLst>
      </pc:sldChg>
      <pc:sldChg chg="addSp delSp modSp">
        <pc:chgData name="Avrellia Marta Suryaningtyas" userId="S::avrellia.marta@cimory.com::02673abe-d8f8-48b6-b2a3-304af2f80eaf" providerId="AD" clId="Web-{91E724D1-643B-38CC-8DA6-DB8E10870094}" dt="2026-07-24T12:26:28.013" v="616"/>
        <pc:sldMkLst>
          <pc:docMk/>
          <pc:sldMk cId="3070779609" sldId="2146851266"/>
        </pc:sldMkLst>
      </pc:sldChg>
    </pc:docChg>
  </pc:docChgLst>
  <pc:docChgLst>
    <pc:chgData name="Desi Armanda Sari" userId="S::desi.armanda@cimory.com::09767da1-9849-4ce7-a32e-b30664c451cf" providerId="AD" clId="Web-{45373B55-4FEF-5D70-7B5F-C57B1061B968}"/>
    <pc:docChg chg="modSld">
      <pc:chgData name="Desi Armanda Sari" userId="S::desi.armanda@cimory.com::09767da1-9849-4ce7-a32e-b30664c451cf" providerId="AD" clId="Web-{45373B55-4FEF-5D70-7B5F-C57B1061B968}" dt="2026-08-17T10:53:37.564" v="86" actId="20577"/>
      <pc:docMkLst>
        <pc:docMk/>
      </pc:docMkLst>
      <pc:sldChg chg="modSp">
        <pc:chgData name="Desi Armanda Sari" userId="S::desi.armanda@cimory.com::09767da1-9849-4ce7-a32e-b30664c451cf" providerId="AD" clId="Web-{45373B55-4FEF-5D70-7B5F-C57B1061B968}" dt="2026-08-17T10:52:17.782" v="46" actId="20577"/>
        <pc:sldMkLst>
          <pc:docMk/>
          <pc:sldMk cId="3807510711" sldId="2146851290"/>
        </pc:sldMkLst>
        <pc:spChg chg="mod">
          <ac:chgData name="Desi Armanda Sari" userId="S::desi.armanda@cimory.com::09767da1-9849-4ce7-a32e-b30664c451cf" providerId="AD" clId="Web-{45373B55-4FEF-5D70-7B5F-C57B1061B968}" dt="2026-08-17T10:52:17.782" v="46" actId="20577"/>
          <ac:spMkLst>
            <pc:docMk/>
            <pc:sldMk cId="3807510711" sldId="2146851290"/>
            <ac:spMk id="30" creationId="{51042570-E0F5-C9A4-0DEB-A2EE0224F95D}"/>
          </ac:spMkLst>
        </pc:spChg>
        <pc:spChg chg="mod">
          <ac:chgData name="Desi Armanda Sari" userId="S::desi.armanda@cimory.com::09767da1-9849-4ce7-a32e-b30664c451cf" providerId="AD" clId="Web-{45373B55-4FEF-5D70-7B5F-C57B1061B968}" dt="2026-08-17T10:51:53.375" v="25" actId="20577"/>
          <ac:spMkLst>
            <pc:docMk/>
            <pc:sldMk cId="3807510711" sldId="2146851290"/>
            <ac:spMk id="32" creationId="{ADE525F8-28E6-5119-33EF-2AA0C4A0E287}"/>
          </ac:spMkLst>
        </pc:spChg>
      </pc:sldChg>
      <pc:sldChg chg="modSp">
        <pc:chgData name="Desi Armanda Sari" userId="S::desi.armanda@cimory.com::09767da1-9849-4ce7-a32e-b30664c451cf" providerId="AD" clId="Web-{45373B55-4FEF-5D70-7B5F-C57B1061B968}" dt="2026-08-17T10:53:37.564" v="86" actId="20577"/>
        <pc:sldMkLst>
          <pc:docMk/>
          <pc:sldMk cId="2252310130" sldId="2146851508"/>
        </pc:sldMkLst>
        <pc:spChg chg="mod">
          <ac:chgData name="Desi Armanda Sari" userId="S::desi.armanda@cimory.com::09767da1-9849-4ce7-a32e-b30664c451cf" providerId="AD" clId="Web-{45373B55-4FEF-5D70-7B5F-C57B1061B968}" dt="2026-08-17T10:53:37.564" v="86" actId="20577"/>
          <ac:spMkLst>
            <pc:docMk/>
            <pc:sldMk cId="2252310130" sldId="2146851508"/>
            <ac:spMk id="30" creationId="{DC80633C-9FDC-CB35-B7A1-3C0D714D0D4B}"/>
          </ac:spMkLst>
        </pc:spChg>
        <pc:spChg chg="mod">
          <ac:chgData name="Desi Armanda Sari" userId="S::desi.armanda@cimory.com::09767da1-9849-4ce7-a32e-b30664c451cf" providerId="AD" clId="Web-{45373B55-4FEF-5D70-7B5F-C57B1061B968}" dt="2026-08-17T10:52:59.079" v="65" actId="20577"/>
          <ac:spMkLst>
            <pc:docMk/>
            <pc:sldMk cId="2252310130" sldId="2146851508"/>
            <ac:spMk id="32" creationId="{5DED9084-D0C1-9570-97EF-AED5FF51D0C7}"/>
          </ac:spMkLst>
        </pc:spChg>
        <pc:graphicFrameChg chg="mod">
          <ac:chgData name="Desi Armanda Sari" userId="S::desi.armanda@cimory.com::09767da1-9849-4ce7-a32e-b30664c451cf" providerId="AD" clId="Web-{45373B55-4FEF-5D70-7B5F-C57B1061B968}" dt="2026-08-17T10:53:09.657" v="75" actId="1076"/>
          <ac:graphicFrameMkLst>
            <pc:docMk/>
            <pc:sldMk cId="2252310130" sldId="2146851508"/>
            <ac:graphicFrameMk id="25" creationId="{D27550C3-D6BE-4F13-8F94-4B714FFE92B1}"/>
          </ac:graphicFrameMkLst>
        </pc:graphicFrameChg>
      </pc:sldChg>
    </pc:docChg>
  </pc:docChgLst>
  <pc:docChgLst>
    <pc:chgData name="Pauline Immanuel Supardi" userId="S::pauline.immanuel@cimory.com::6bddf53c-48c8-4584-85ce-fadb73123699" providerId="AD" clId="Web-{E3C2D388-0DC4-706F-FD98-D5EC4E18A364}"/>
    <pc:docChg chg="modSld">
      <pc:chgData name="Pauline Immanuel Supardi" userId="S::pauline.immanuel@cimory.com::6bddf53c-48c8-4584-85ce-fadb73123699" providerId="AD" clId="Web-{E3C2D388-0DC4-706F-FD98-D5EC4E18A364}" dt="2026-07-19T08:12:50.926" v="380"/>
      <pc:docMkLst>
        <pc:docMk/>
      </pc:docMkLst>
      <pc:sldChg chg="modSp">
        <pc:chgData name="Pauline Immanuel Supardi" userId="S::pauline.immanuel@cimory.com::6bddf53c-48c8-4584-85ce-fadb73123699" providerId="AD" clId="Web-{E3C2D388-0DC4-706F-FD98-D5EC4E18A364}" dt="2026-07-19T08:12:50.926" v="380"/>
        <pc:sldMkLst>
          <pc:docMk/>
          <pc:sldMk cId="536663561" sldId="2146851293"/>
        </pc:sldMkLst>
      </pc:sldChg>
    </pc:docChg>
  </pc:docChgLst>
  <pc:docChgLst>
    <pc:chgData name="Khairina Herind Septarini W" userId="S::khairina.herind@cimory.com::4d43d73c-e798-43a5-943d-306385f9cfe3" providerId="AD" clId="Web-{518E3694-CE6B-E25A-8E6E-E6D696744DF2}"/>
    <pc:docChg chg="addSld delSld modSld sldOrd">
      <pc:chgData name="Khairina Herind Septarini W" userId="S::khairina.herind@cimory.com::4d43d73c-e798-43a5-943d-306385f9cfe3" providerId="AD" clId="Web-{518E3694-CE6B-E25A-8E6E-E6D696744DF2}" dt="2026-07-24T11:51:27.779" v="1561"/>
      <pc:docMkLst>
        <pc:docMk/>
      </pc:docMkLst>
    </pc:docChg>
  </pc:docChgLst>
  <pc:docChgLst>
    <pc:chgData name="Corporate Talent Acquisition Cimory Group" userId="S::recruitment@cimory.com::febf222e-6949-493b-92b8-551375ecf797" providerId="AD" clId="Web-{9785996C-AEE5-80BB-B969-213B1FCEC47F}"/>
    <pc:docChg chg="delSld modSld">
      <pc:chgData name="Corporate Talent Acquisition Cimory Group" userId="S::recruitment@cimory.com::febf222e-6949-493b-92b8-551375ecf797" providerId="AD" clId="Web-{9785996C-AEE5-80BB-B969-213B1FCEC47F}" dt="2026-08-03T04:56:30.802" v="19"/>
      <pc:docMkLst>
        <pc:docMk/>
      </pc:docMkLst>
      <pc:sldChg chg="addSp delSp">
        <pc:chgData name="Corporate Talent Acquisition Cimory Group" userId="S::recruitment@cimory.com::febf222e-6949-493b-92b8-551375ecf797" providerId="AD" clId="Web-{9785996C-AEE5-80BB-B969-213B1FCEC47F}" dt="2026-08-03T04:53:37.015" v="16"/>
        <pc:sldMkLst>
          <pc:docMk/>
          <pc:sldMk cId="2876780036" sldId="2146851143"/>
        </pc:sldMkLst>
      </pc:sldChg>
      <pc:sldChg chg="addSp delSp modSp">
        <pc:chgData name="Corporate Talent Acquisition Cimory Group" userId="S::recruitment@cimory.com::febf222e-6949-493b-92b8-551375ecf797" providerId="AD" clId="Web-{9785996C-AEE5-80BB-B969-213B1FCEC47F}" dt="2026-08-03T04:53:40.109" v="17"/>
        <pc:sldMkLst>
          <pc:docMk/>
          <pc:sldMk cId="1004498006" sldId="2146851269"/>
        </pc:sldMkLst>
      </pc:sldChg>
    </pc:docChg>
  </pc:docChgLst>
  <pc:docChgLst>
    <pc:chgData name="Khairina Herind Septarini W" userId="S::khairina.herind@cimory.com::4d43d73c-e798-43a5-943d-306385f9cfe3" providerId="AD" clId="Web-{B70B7158-F4FA-F12F-5CB9-9E888D3411CC}"/>
    <pc:docChg chg="addSld delSld modSld sldOrd">
      <pc:chgData name="Khairina Herind Septarini W" userId="S::khairina.herind@cimory.com::4d43d73c-e798-43a5-943d-306385f9cfe3" providerId="AD" clId="Web-{B70B7158-F4FA-F12F-5CB9-9E888D3411CC}" dt="2026-07-25T20:25:28.585" v="1208"/>
      <pc:docMkLst>
        <pc:docMk/>
      </pc:docMkLst>
      <pc:sldChg chg="modSp">
        <pc:chgData name="Khairina Herind Septarini W" userId="S::khairina.herind@cimory.com::4d43d73c-e798-43a5-943d-306385f9cfe3" providerId="AD" clId="Web-{B70B7158-F4FA-F12F-5CB9-9E888D3411CC}" dt="2026-07-25T20:22:26.698" v="1172"/>
        <pc:sldMkLst>
          <pc:docMk/>
          <pc:sldMk cId="2876780036" sldId="2146851143"/>
        </pc:sldMkLst>
        <pc:graphicFrameChg chg="mod modGraphic">
          <ac:chgData name="Khairina Herind Septarini W" userId="S::khairina.herind@cimory.com::4d43d73c-e798-43a5-943d-306385f9cfe3" providerId="AD" clId="Web-{B70B7158-F4FA-F12F-5CB9-9E888D3411CC}" dt="2026-07-25T20:22:26.698" v="1172"/>
          <ac:graphicFrameMkLst>
            <pc:docMk/>
            <pc:sldMk cId="2876780036" sldId="2146851143"/>
            <ac:graphicFrameMk id="9" creationId="{3D35D125-2ED7-1C1B-7432-E5A7BF888B11}"/>
          </ac:graphicFrameMkLst>
        </pc:graphicFrameChg>
      </pc:sldChg>
      <pc:sldChg chg="modSp">
        <pc:chgData name="Khairina Herind Septarini W" userId="S::khairina.herind@cimory.com::4d43d73c-e798-43a5-943d-306385f9cfe3" providerId="AD" clId="Web-{B70B7158-F4FA-F12F-5CB9-9E888D3411CC}" dt="2026-07-25T20:23:11.888" v="1206"/>
        <pc:sldMkLst>
          <pc:docMk/>
          <pc:sldMk cId="1004498006" sldId="2146851269"/>
        </pc:sldMkLst>
        <pc:graphicFrameChg chg="mod modGraphic">
          <ac:chgData name="Khairina Herind Septarini W" userId="S::khairina.herind@cimory.com::4d43d73c-e798-43a5-943d-306385f9cfe3" providerId="AD" clId="Web-{B70B7158-F4FA-F12F-5CB9-9E888D3411CC}" dt="2026-07-25T20:23:11.888" v="1206"/>
          <ac:graphicFrameMkLst>
            <pc:docMk/>
            <pc:sldMk cId="1004498006" sldId="2146851269"/>
            <ac:graphicFrameMk id="9" creationId="{FBBBA860-8475-48DB-D6AC-8E15AA010274}"/>
          </ac:graphicFrameMkLst>
        </pc:graphicFrameChg>
      </pc:sldChg>
    </pc:docChg>
  </pc:docChgLst>
  <pc:docChgLst>
    <pc:chgData name="Avrellia Marta Suryaningtyas" userId="S::avrellia.marta@cimory.com::02673abe-d8f8-48b6-b2a3-304af2f80eaf" providerId="AD" clId="Web-{D9DE7EC7-F75F-D491-4E8F-061E4556005F}"/>
    <pc:docChg chg="addSld modSld">
      <pc:chgData name="Avrellia Marta Suryaningtyas" userId="S::avrellia.marta@cimory.com::02673abe-d8f8-48b6-b2a3-304af2f80eaf" providerId="AD" clId="Web-{D9DE7EC7-F75F-D491-4E8F-061E4556005F}" dt="2026-08-07T04:21:55.903" v="1165"/>
      <pc:docMkLst>
        <pc:docMk/>
      </pc:docMkLst>
      <pc:sldChg chg="modSp">
        <pc:chgData name="Avrellia Marta Suryaningtyas" userId="S::avrellia.marta@cimory.com::02673abe-d8f8-48b6-b2a3-304af2f80eaf" providerId="AD" clId="Web-{D9DE7EC7-F75F-D491-4E8F-061E4556005F}" dt="2026-08-07T03:49:28.182" v="503"/>
        <pc:sldMkLst>
          <pc:docMk/>
          <pc:sldMk cId="1692529528" sldId="2146851144"/>
        </pc:sldMkLst>
        <pc:graphicFrameChg chg="mod modGraphic">
          <ac:chgData name="Avrellia Marta Suryaningtyas" userId="S::avrellia.marta@cimory.com::02673abe-d8f8-48b6-b2a3-304af2f80eaf" providerId="AD" clId="Web-{D9DE7EC7-F75F-D491-4E8F-061E4556005F}" dt="2026-08-07T03:49:28.182" v="503"/>
          <ac:graphicFrameMkLst>
            <pc:docMk/>
            <pc:sldMk cId="1692529528" sldId="2146851144"/>
            <ac:graphicFrameMk id="4" creationId="{45809656-3DBF-68A7-FF1A-9E6996B9FC77}"/>
          </ac:graphicFrameMkLst>
        </pc:graphicFrameChg>
      </pc:sldChg>
      <pc:sldChg chg="modSp">
        <pc:chgData name="Avrellia Marta Suryaningtyas" userId="S::avrellia.marta@cimory.com::02673abe-d8f8-48b6-b2a3-304af2f80eaf" providerId="AD" clId="Web-{D9DE7EC7-F75F-D491-4E8F-061E4556005F}" dt="2026-08-07T04:17:50.519" v="975"/>
        <pc:sldMkLst>
          <pc:docMk/>
          <pc:sldMk cId="173497381" sldId="2146851145"/>
        </pc:sldMkLst>
        <pc:graphicFrameChg chg="mod modGraphic">
          <ac:chgData name="Avrellia Marta Suryaningtyas" userId="S::avrellia.marta@cimory.com::02673abe-d8f8-48b6-b2a3-304af2f80eaf" providerId="AD" clId="Web-{D9DE7EC7-F75F-D491-4E8F-061E4556005F}" dt="2026-08-07T04:17:50.519" v="975"/>
          <ac:graphicFrameMkLst>
            <pc:docMk/>
            <pc:sldMk cId="173497381" sldId="2146851145"/>
            <ac:graphicFrameMk id="7" creationId="{03422E4B-98C8-64E3-0114-1C9940CB7598}"/>
          </ac:graphicFrameMkLst>
        </pc:graphicFrameChg>
      </pc:sldChg>
      <pc:sldChg chg="modSp">
        <pc:chgData name="Avrellia Marta Suryaningtyas" userId="S::avrellia.marta@cimory.com::02673abe-d8f8-48b6-b2a3-304af2f80eaf" providerId="AD" clId="Web-{D9DE7EC7-F75F-D491-4E8F-061E4556005F}" dt="2026-08-07T03:40:14.022" v="187"/>
        <pc:sldMkLst>
          <pc:docMk/>
          <pc:sldMk cId="1004498006" sldId="2146851269"/>
        </pc:sldMkLst>
        <pc:graphicFrameChg chg="mod modGraphic">
          <ac:chgData name="Avrellia Marta Suryaningtyas" userId="S::avrellia.marta@cimory.com::02673abe-d8f8-48b6-b2a3-304af2f80eaf" providerId="AD" clId="Web-{D9DE7EC7-F75F-D491-4E8F-061E4556005F}" dt="2026-08-07T03:40:14.022" v="187"/>
          <ac:graphicFrameMkLst>
            <pc:docMk/>
            <pc:sldMk cId="1004498006" sldId="2146851269"/>
            <ac:graphicFrameMk id="9" creationId="{FBBBA860-8475-48DB-D6AC-8E15AA010274}"/>
          </ac:graphicFrameMkLst>
        </pc:graphicFrameChg>
      </pc:sldChg>
      <pc:sldChg chg="modSp">
        <pc:chgData name="Avrellia Marta Suryaningtyas" userId="S::avrellia.marta@cimory.com::02673abe-d8f8-48b6-b2a3-304af2f80eaf" providerId="AD" clId="Web-{D9DE7EC7-F75F-D491-4E8F-061E4556005F}" dt="2026-08-07T03:55:26.276" v="891"/>
        <pc:sldMkLst>
          <pc:docMk/>
          <pc:sldMk cId="3476432020" sldId="2146851308"/>
        </pc:sldMkLst>
        <pc:graphicFrameChg chg="mod modGraphic">
          <ac:chgData name="Avrellia Marta Suryaningtyas" userId="S::avrellia.marta@cimory.com::02673abe-d8f8-48b6-b2a3-304af2f80eaf" providerId="AD" clId="Web-{D9DE7EC7-F75F-D491-4E8F-061E4556005F}" dt="2026-08-07T03:55:26.276" v="891"/>
          <ac:graphicFrameMkLst>
            <pc:docMk/>
            <pc:sldMk cId="3476432020" sldId="2146851308"/>
            <ac:graphicFrameMk id="9" creationId="{5E26D0AD-0CE5-6D9C-28B1-F702A770DF6F}"/>
          </ac:graphicFrameMkLst>
        </pc:graphicFrameChg>
      </pc:sldChg>
      <pc:sldChg chg="modSp add replId">
        <pc:chgData name="Avrellia Marta Suryaningtyas" userId="S::avrellia.marta@cimory.com::02673abe-d8f8-48b6-b2a3-304af2f80eaf" providerId="AD" clId="Web-{D9DE7EC7-F75F-D491-4E8F-061E4556005F}" dt="2026-08-07T04:21:55.903" v="1165"/>
        <pc:sldMkLst>
          <pc:docMk/>
          <pc:sldMk cId="1639720053" sldId="2146851377"/>
        </pc:sldMkLst>
        <pc:graphicFrameChg chg="mod modGraphic">
          <ac:chgData name="Avrellia Marta Suryaningtyas" userId="S::avrellia.marta@cimory.com::02673abe-d8f8-48b6-b2a3-304af2f80eaf" providerId="AD" clId="Web-{D9DE7EC7-F75F-D491-4E8F-061E4556005F}" dt="2026-08-07T04:21:55.903" v="1165"/>
          <ac:graphicFrameMkLst>
            <pc:docMk/>
            <pc:sldMk cId="1639720053" sldId="2146851377"/>
            <ac:graphicFrameMk id="9" creationId="{563336BB-B490-B28B-D922-CE5DC454114C}"/>
          </ac:graphicFrameMkLst>
        </pc:graphicFrameChg>
      </pc:sldChg>
    </pc:docChg>
  </pc:docChgLst>
  <pc:docChgLst>
    <pc:chgData name="Avrellia Marta Suryaningtyas" userId="S::avrellia.marta@cimory.com::02673abe-d8f8-48b6-b2a3-304af2f80eaf" providerId="AD" clId="Web-{F0539B95-D10A-EEF8-28B7-3571EA469D81}"/>
    <pc:docChg chg="modSld">
      <pc:chgData name="Avrellia Marta Suryaningtyas" userId="S::avrellia.marta@cimory.com::02673abe-d8f8-48b6-b2a3-304af2f80eaf" providerId="AD" clId="Web-{F0539B95-D10A-EEF8-28B7-3571EA469D81}" dt="2026-07-31T06:59:09.294" v="1303" actId="20577"/>
      <pc:docMkLst>
        <pc:docMk/>
      </pc:docMkLst>
      <pc:sldChg chg="modSp">
        <pc:chgData name="Avrellia Marta Suryaningtyas" userId="S::avrellia.marta@cimory.com::02673abe-d8f8-48b6-b2a3-304af2f80eaf" providerId="AD" clId="Web-{F0539B95-D10A-EEF8-28B7-3571EA469D81}" dt="2026-07-31T03:32:55.486" v="783"/>
        <pc:sldMkLst>
          <pc:docMk/>
          <pc:sldMk cId="1692529528" sldId="2146851144"/>
        </pc:sldMkLst>
        <pc:graphicFrameChg chg="mod modGraphic">
          <ac:chgData name="Avrellia Marta Suryaningtyas" userId="S::avrellia.marta@cimory.com::02673abe-d8f8-48b6-b2a3-304af2f80eaf" providerId="AD" clId="Web-{F0539B95-D10A-EEF8-28B7-3571EA469D81}" dt="2026-07-31T03:32:55.486" v="783"/>
          <ac:graphicFrameMkLst>
            <pc:docMk/>
            <pc:sldMk cId="1692529528" sldId="2146851144"/>
            <ac:graphicFrameMk id="4" creationId="{45809656-3DBF-68A7-FF1A-9E6996B9FC77}"/>
          </ac:graphicFrameMkLst>
        </pc:graphicFrameChg>
      </pc:sldChg>
      <pc:sldChg chg="modSp">
        <pc:chgData name="Avrellia Marta Suryaningtyas" userId="S::avrellia.marta@cimory.com::02673abe-d8f8-48b6-b2a3-304af2f80eaf" providerId="AD" clId="Web-{F0539B95-D10A-EEF8-28B7-3571EA469D81}" dt="2026-07-31T04:52:58.347" v="1142"/>
        <pc:sldMkLst>
          <pc:docMk/>
          <pc:sldMk cId="173497381" sldId="2146851145"/>
        </pc:sldMkLst>
        <pc:graphicFrameChg chg="mod modGraphic">
          <ac:chgData name="Avrellia Marta Suryaningtyas" userId="S::avrellia.marta@cimory.com::02673abe-d8f8-48b6-b2a3-304af2f80eaf" providerId="AD" clId="Web-{F0539B95-D10A-EEF8-28B7-3571EA469D81}" dt="2026-07-31T04:52:58.347" v="1142"/>
          <ac:graphicFrameMkLst>
            <pc:docMk/>
            <pc:sldMk cId="173497381" sldId="2146851145"/>
            <ac:graphicFrameMk id="7" creationId="{03422E4B-98C8-64E3-0114-1C9940CB7598}"/>
          </ac:graphicFrameMkLst>
        </pc:graphicFrameChg>
      </pc:sldChg>
      <pc:sldChg chg="addSp delSp modSp">
        <pc:chgData name="Avrellia Marta Suryaningtyas" userId="S::avrellia.marta@cimory.com::02673abe-d8f8-48b6-b2a3-304af2f80eaf" providerId="AD" clId="Web-{F0539B95-D10A-EEF8-28B7-3571EA469D81}" dt="2026-07-31T06:59:04.512" v="1300" actId="20577"/>
        <pc:sldMkLst>
          <pc:docMk/>
          <pc:sldMk cId="2367542049" sldId="2146851242"/>
        </pc:sldMkLst>
      </pc:sldChg>
      <pc:sldChg chg="addSp delSp modSp">
        <pc:chgData name="Avrellia Marta Suryaningtyas" userId="S::avrellia.marta@cimory.com::02673abe-d8f8-48b6-b2a3-304af2f80eaf" providerId="AD" clId="Web-{F0539B95-D10A-EEF8-28B7-3571EA469D81}" dt="2026-07-31T06:59:00.309" v="1298" actId="20577"/>
        <pc:sldMkLst>
          <pc:docMk/>
          <pc:sldMk cId="3070779609" sldId="2146851266"/>
        </pc:sldMkLst>
        <pc:spChg chg="add">
          <ac:chgData name="Avrellia Marta Suryaningtyas" userId="S::avrellia.marta@cimory.com::02673abe-d8f8-48b6-b2a3-304af2f80eaf" providerId="AD" clId="Web-{F0539B95-D10A-EEF8-28B7-3571EA469D81}" dt="2026-07-31T06:48:03.239" v="1206"/>
          <ac:spMkLst>
            <pc:docMk/>
            <pc:sldMk cId="3070779609" sldId="2146851266"/>
            <ac:spMk id="5" creationId="{62818534-5C60-6A57-97A5-AE7DD7C35D04}"/>
          </ac:spMkLst>
        </pc:spChg>
        <pc:spChg chg="add">
          <ac:chgData name="Avrellia Marta Suryaningtyas" userId="S::avrellia.marta@cimory.com::02673abe-d8f8-48b6-b2a3-304af2f80eaf" providerId="AD" clId="Web-{F0539B95-D10A-EEF8-28B7-3571EA469D81}" dt="2026-07-31T06:48:03.301" v="1207"/>
          <ac:spMkLst>
            <pc:docMk/>
            <pc:sldMk cId="3070779609" sldId="2146851266"/>
            <ac:spMk id="8" creationId="{4798168A-D7DD-BE27-271E-03178EF39EE8}"/>
          </ac:spMkLst>
        </pc:spChg>
        <pc:spChg chg="add">
          <ac:chgData name="Avrellia Marta Suryaningtyas" userId="S::avrellia.marta@cimory.com::02673abe-d8f8-48b6-b2a3-304af2f80eaf" providerId="AD" clId="Web-{F0539B95-D10A-EEF8-28B7-3571EA469D81}" dt="2026-07-31T06:48:03.364" v="1208"/>
          <ac:spMkLst>
            <pc:docMk/>
            <pc:sldMk cId="3070779609" sldId="2146851266"/>
            <ac:spMk id="12" creationId="{6AF47900-5B82-70BE-C117-F99A56914B77}"/>
          </ac:spMkLst>
        </pc:spChg>
        <pc:spChg chg="add">
          <ac:chgData name="Avrellia Marta Suryaningtyas" userId="S::avrellia.marta@cimory.com::02673abe-d8f8-48b6-b2a3-304af2f80eaf" providerId="AD" clId="Web-{F0539B95-D10A-EEF8-28B7-3571EA469D81}" dt="2026-07-31T06:48:03.426" v="1209"/>
          <ac:spMkLst>
            <pc:docMk/>
            <pc:sldMk cId="3070779609" sldId="2146851266"/>
            <ac:spMk id="15" creationId="{88DF73F7-B080-331A-DD50-5E6975BA5438}"/>
          </ac:spMkLst>
        </pc:spChg>
        <pc:spChg chg="add">
          <ac:chgData name="Avrellia Marta Suryaningtyas" userId="S::avrellia.marta@cimory.com::02673abe-d8f8-48b6-b2a3-304af2f80eaf" providerId="AD" clId="Web-{F0539B95-D10A-EEF8-28B7-3571EA469D81}" dt="2026-07-31T06:48:03.489" v="1210"/>
          <ac:spMkLst>
            <pc:docMk/>
            <pc:sldMk cId="3070779609" sldId="2146851266"/>
            <ac:spMk id="19" creationId="{7CA069DF-A23E-49A1-F134-8B68F2BE4481}"/>
          </ac:spMkLst>
        </pc:spChg>
        <pc:spChg chg="add">
          <ac:chgData name="Avrellia Marta Suryaningtyas" userId="S::avrellia.marta@cimory.com::02673abe-d8f8-48b6-b2a3-304af2f80eaf" providerId="AD" clId="Web-{F0539B95-D10A-EEF8-28B7-3571EA469D81}" dt="2026-07-31T06:48:03.551" v="1211"/>
          <ac:spMkLst>
            <pc:docMk/>
            <pc:sldMk cId="3070779609" sldId="2146851266"/>
            <ac:spMk id="21" creationId="{1AEE4B28-339E-5DA5-FC07-0CAFEF8EDB76}"/>
          </ac:spMkLst>
        </pc:spChg>
        <pc:spChg chg="add">
          <ac:chgData name="Avrellia Marta Suryaningtyas" userId="S::avrellia.marta@cimory.com::02673abe-d8f8-48b6-b2a3-304af2f80eaf" providerId="AD" clId="Web-{F0539B95-D10A-EEF8-28B7-3571EA469D81}" dt="2026-07-31T06:48:03.629" v="1212"/>
          <ac:spMkLst>
            <pc:docMk/>
            <pc:sldMk cId="3070779609" sldId="2146851266"/>
            <ac:spMk id="25" creationId="{7CDF8C1E-5D79-28BC-4E31-889C8CEDBBE9}"/>
          </ac:spMkLst>
        </pc:spChg>
        <pc:spChg chg="add">
          <ac:chgData name="Avrellia Marta Suryaningtyas" userId="S::avrellia.marta@cimory.com::02673abe-d8f8-48b6-b2a3-304af2f80eaf" providerId="AD" clId="Web-{F0539B95-D10A-EEF8-28B7-3571EA469D81}" dt="2026-07-31T06:48:03.723" v="1213"/>
          <ac:spMkLst>
            <pc:docMk/>
            <pc:sldMk cId="3070779609" sldId="2146851266"/>
            <ac:spMk id="30" creationId="{D1255F4A-CB0D-F50E-426C-5D842355B1D9}"/>
          </ac:spMkLst>
        </pc:spChg>
        <pc:spChg chg="add">
          <ac:chgData name="Avrellia Marta Suryaningtyas" userId="S::avrellia.marta@cimory.com::02673abe-d8f8-48b6-b2a3-304af2f80eaf" providerId="AD" clId="Web-{F0539B95-D10A-EEF8-28B7-3571EA469D81}" dt="2026-07-31T06:48:03.786" v="1214"/>
          <ac:spMkLst>
            <pc:docMk/>
            <pc:sldMk cId="3070779609" sldId="2146851266"/>
            <ac:spMk id="34" creationId="{E5ED7A1F-ED1F-7355-A7C5-9D0A9242A88B}"/>
          </ac:spMkLst>
        </pc:spChg>
        <pc:spChg chg="add">
          <ac:chgData name="Avrellia Marta Suryaningtyas" userId="S::avrellia.marta@cimory.com::02673abe-d8f8-48b6-b2a3-304af2f80eaf" providerId="AD" clId="Web-{F0539B95-D10A-EEF8-28B7-3571EA469D81}" dt="2026-07-31T06:48:03.864" v="1215"/>
          <ac:spMkLst>
            <pc:docMk/>
            <pc:sldMk cId="3070779609" sldId="2146851266"/>
            <ac:spMk id="38" creationId="{1F98DC37-0BBA-82F6-E06B-149C54AB9E40}"/>
          </ac:spMkLst>
        </pc:spChg>
        <pc:spChg chg="add">
          <ac:chgData name="Avrellia Marta Suryaningtyas" userId="S::avrellia.marta@cimory.com::02673abe-d8f8-48b6-b2a3-304af2f80eaf" providerId="AD" clId="Web-{F0539B95-D10A-EEF8-28B7-3571EA469D81}" dt="2026-07-31T06:48:03.926" v="1216"/>
          <ac:spMkLst>
            <pc:docMk/>
            <pc:sldMk cId="3070779609" sldId="2146851266"/>
            <ac:spMk id="41" creationId="{BB05F979-36E6-EA82-5B1E-B1A70B31C120}"/>
          </ac:spMkLst>
        </pc:spChg>
        <pc:spChg chg="add">
          <ac:chgData name="Avrellia Marta Suryaningtyas" userId="S::avrellia.marta@cimory.com::02673abe-d8f8-48b6-b2a3-304af2f80eaf" providerId="AD" clId="Web-{F0539B95-D10A-EEF8-28B7-3571EA469D81}" dt="2026-07-31T06:48:03.989" v="1217"/>
          <ac:spMkLst>
            <pc:docMk/>
            <pc:sldMk cId="3070779609" sldId="2146851266"/>
            <ac:spMk id="43" creationId="{17B337BD-98C1-2D8F-9A33-39D64B50AB65}"/>
          </ac:spMkLst>
        </pc:spChg>
        <pc:spChg chg="add">
          <ac:chgData name="Avrellia Marta Suryaningtyas" userId="S::avrellia.marta@cimory.com::02673abe-d8f8-48b6-b2a3-304af2f80eaf" providerId="AD" clId="Web-{F0539B95-D10A-EEF8-28B7-3571EA469D81}" dt="2026-07-31T06:48:04.083" v="1218"/>
          <ac:spMkLst>
            <pc:docMk/>
            <pc:sldMk cId="3070779609" sldId="2146851266"/>
            <ac:spMk id="45" creationId="{8C5A5E9C-9904-D698-D645-CE420B9F161D}"/>
          </ac:spMkLst>
        </pc:spChg>
        <pc:spChg chg="add mod">
          <ac:chgData name="Avrellia Marta Suryaningtyas" userId="S::avrellia.marta@cimory.com::02673abe-d8f8-48b6-b2a3-304af2f80eaf" providerId="AD" clId="Web-{F0539B95-D10A-EEF8-28B7-3571EA469D81}" dt="2026-07-31T06:59:00.309" v="1298" actId="20577"/>
          <ac:spMkLst>
            <pc:docMk/>
            <pc:sldMk cId="3070779609" sldId="2146851266"/>
            <ac:spMk id="48" creationId="{BF844A6B-64D0-4494-F5FD-E80DFA438EEC}"/>
          </ac:spMkLst>
        </pc:spChg>
        <pc:spChg chg="add">
          <ac:chgData name="Avrellia Marta Suryaningtyas" userId="S::avrellia.marta@cimory.com::02673abe-d8f8-48b6-b2a3-304af2f80eaf" providerId="AD" clId="Web-{F0539B95-D10A-EEF8-28B7-3571EA469D81}" dt="2026-07-31T06:48:04.286" v="1220"/>
          <ac:spMkLst>
            <pc:docMk/>
            <pc:sldMk cId="3070779609" sldId="2146851266"/>
            <ac:spMk id="52" creationId="{2B5DE40C-2309-3FA9-D0AD-8B33A494C97C}"/>
          </ac:spMkLst>
        </pc:spChg>
        <pc:spChg chg="add">
          <ac:chgData name="Avrellia Marta Suryaningtyas" userId="S::avrellia.marta@cimory.com::02673abe-d8f8-48b6-b2a3-304af2f80eaf" providerId="AD" clId="Web-{F0539B95-D10A-EEF8-28B7-3571EA469D81}" dt="2026-07-31T06:48:04.364" v="1221"/>
          <ac:spMkLst>
            <pc:docMk/>
            <pc:sldMk cId="3070779609" sldId="2146851266"/>
            <ac:spMk id="54" creationId="{9DADC5EC-1085-FD03-60F1-2BF415190D23}"/>
          </ac:spMkLst>
        </pc:spChg>
        <pc:spChg chg="add mod">
          <ac:chgData name="Avrellia Marta Suryaningtyas" userId="S::avrellia.marta@cimory.com::02673abe-d8f8-48b6-b2a3-304af2f80eaf" providerId="AD" clId="Web-{F0539B95-D10A-EEF8-28B7-3571EA469D81}" dt="2026-07-31T06:57:46.713" v="1295" actId="20577"/>
          <ac:spMkLst>
            <pc:docMk/>
            <pc:sldMk cId="3070779609" sldId="2146851266"/>
            <ac:spMk id="56" creationId="{C83D8EC1-FEE8-F679-A7B8-BBD399B7BB71}"/>
          </ac:spMkLst>
        </pc:spChg>
        <pc:spChg chg="add">
          <ac:chgData name="Avrellia Marta Suryaningtyas" userId="S::avrellia.marta@cimory.com::02673abe-d8f8-48b6-b2a3-304af2f80eaf" providerId="AD" clId="Web-{F0539B95-D10A-EEF8-28B7-3571EA469D81}" dt="2026-07-31T06:48:04.536" v="1223"/>
          <ac:spMkLst>
            <pc:docMk/>
            <pc:sldMk cId="3070779609" sldId="2146851266"/>
            <ac:spMk id="60" creationId="{3B381483-09FF-6DEF-7475-7EF923D47BD6}"/>
          </ac:spMkLst>
        </pc:spChg>
      </pc:sldChg>
      <pc:sldChg chg="modSp">
        <pc:chgData name="Avrellia Marta Suryaningtyas" userId="S::avrellia.marta@cimory.com::02673abe-d8f8-48b6-b2a3-304af2f80eaf" providerId="AD" clId="Web-{F0539B95-D10A-EEF8-28B7-3571EA469D81}" dt="2026-07-31T03:06:50.766" v="229"/>
        <pc:sldMkLst>
          <pc:docMk/>
          <pc:sldMk cId="1004498006" sldId="2146851269"/>
        </pc:sldMkLst>
        <pc:graphicFrameChg chg="mod modGraphic">
          <ac:chgData name="Avrellia Marta Suryaningtyas" userId="S::avrellia.marta@cimory.com::02673abe-d8f8-48b6-b2a3-304af2f80eaf" providerId="AD" clId="Web-{F0539B95-D10A-EEF8-28B7-3571EA469D81}" dt="2026-07-31T03:06:50.766" v="229"/>
          <ac:graphicFrameMkLst>
            <pc:docMk/>
            <pc:sldMk cId="1004498006" sldId="2146851269"/>
            <ac:graphicFrameMk id="9" creationId="{FBBBA860-8475-48DB-D6AC-8E15AA010274}"/>
          </ac:graphicFrameMkLst>
        </pc:graphicFrameChg>
      </pc:sldChg>
      <pc:sldChg chg="modSp">
        <pc:chgData name="Avrellia Marta Suryaningtyas" userId="S::avrellia.marta@cimory.com::02673abe-d8f8-48b6-b2a3-304af2f80eaf" providerId="AD" clId="Web-{F0539B95-D10A-EEF8-28B7-3571EA469D81}" dt="2026-07-31T03:39:49.159" v="1139"/>
        <pc:sldMkLst>
          <pc:docMk/>
          <pc:sldMk cId="3476432020" sldId="2146851308"/>
        </pc:sldMkLst>
        <pc:graphicFrameChg chg="mod modGraphic">
          <ac:chgData name="Avrellia Marta Suryaningtyas" userId="S::avrellia.marta@cimory.com::02673abe-d8f8-48b6-b2a3-304af2f80eaf" providerId="AD" clId="Web-{F0539B95-D10A-EEF8-28B7-3571EA469D81}" dt="2026-07-31T03:39:49.159" v="1139"/>
          <ac:graphicFrameMkLst>
            <pc:docMk/>
            <pc:sldMk cId="3476432020" sldId="2146851308"/>
            <ac:graphicFrameMk id="9" creationId="{5E26D0AD-0CE5-6D9C-28B1-F702A770DF6F}"/>
          </ac:graphicFrameMkLst>
        </pc:graphicFrameChg>
      </pc:sldChg>
    </pc:docChg>
  </pc:docChgLst>
  <pc:docChgLst>
    <pc:chgData name="Pauline Immanuel Supardi" userId="S::pauline.immanuel@cimory.com::6bddf53c-48c8-4584-85ce-fadb73123699" providerId="AD" clId="Web-{D2D6198B-1E46-2331-A24F-092C71F2B703}"/>
    <pc:docChg chg="modSld">
      <pc:chgData name="Pauline Immanuel Supardi" userId="S::pauline.immanuel@cimory.com::6bddf53c-48c8-4584-85ce-fadb73123699" providerId="AD" clId="Web-{D2D6198B-1E46-2331-A24F-092C71F2B703}" dt="2026-08-01T10:49:38.217" v="3" actId="20577"/>
      <pc:docMkLst>
        <pc:docMk/>
      </pc:docMkLst>
      <pc:sldChg chg="modSp">
        <pc:chgData name="Pauline Immanuel Supardi" userId="S::pauline.immanuel@cimory.com::6bddf53c-48c8-4584-85ce-fadb73123699" providerId="AD" clId="Web-{D2D6198B-1E46-2331-A24F-092C71F2B703}" dt="2026-08-01T10:49:38.217" v="3" actId="20577"/>
        <pc:sldMkLst>
          <pc:docMk/>
          <pc:sldMk cId="0" sldId="2146849437"/>
        </pc:sldMkLst>
        <pc:spChg chg="mod">
          <ac:chgData name="Pauline Immanuel Supardi" userId="S::pauline.immanuel@cimory.com::6bddf53c-48c8-4584-85ce-fadb73123699" providerId="AD" clId="Web-{D2D6198B-1E46-2331-A24F-092C71F2B703}" dt="2026-08-01T10:49:38.217" v="3" actId="20577"/>
          <ac:spMkLst>
            <pc:docMk/>
            <pc:sldMk cId="0" sldId="2146849437"/>
            <ac:spMk id="8" creationId="{478F7F03-9C63-34F9-A419-E8EA55676700}"/>
          </ac:spMkLst>
        </pc:spChg>
      </pc:sldChg>
    </pc:docChg>
  </pc:docChgLst>
  <pc:docChgLst>
    <pc:chgData name="Pauline Immanuel Supardi" userId="S::pauline.immanuel@cimory.com::6bddf53c-48c8-4584-85ce-fadb73123699" providerId="AD" clId="Web-{76F959B8-9E93-5E88-D937-14B152AA75F8}"/>
    <pc:docChg chg="addSld delSld modSld">
      <pc:chgData name="Pauline Immanuel Supardi" userId="S::pauline.immanuel@cimory.com::6bddf53c-48c8-4584-85ce-fadb73123699" providerId="AD" clId="Web-{76F959B8-9E93-5E88-D937-14B152AA75F8}" dt="2026-07-19T09:20:45.420" v="16" actId="20577"/>
      <pc:docMkLst>
        <pc:docMk/>
      </pc:docMkLst>
    </pc:docChg>
  </pc:docChgLst>
  <pc:docChgLst>
    <pc:chgData name="Khairina Herind Septarini W" userId="S::khairina.herind@cimory.com::4d43d73c-e798-43a5-943d-306385f9cfe3" providerId="AD" clId="Web-{0C71C2C9-C6E4-AECC-90AB-EF2F468F5DBC}"/>
    <pc:docChg chg="modSld">
      <pc:chgData name="Khairina Herind Septarini W" userId="S::khairina.herind@cimory.com::4d43d73c-e798-43a5-943d-306385f9cfe3" providerId="AD" clId="Web-{0C71C2C9-C6E4-AECC-90AB-EF2F468F5DBC}" dt="2026-08-07T08:03:53.451" v="6"/>
      <pc:docMkLst>
        <pc:docMk/>
      </pc:docMkLst>
    </pc:docChg>
  </pc:docChgLst>
  <pc:docChgLst>
    <pc:chgData name="Corporate Talent Acquisition Cimory Group" userId="S::recruitment@cimory.com::febf222e-6949-493b-92b8-551375ecf797" providerId="AD" clId="Web-{88444CFF-80AC-F5E6-F795-8A999BC95557}"/>
    <pc:docChg chg="modSld">
      <pc:chgData name="Corporate Talent Acquisition Cimory Group" userId="S::recruitment@cimory.com::febf222e-6949-493b-92b8-551375ecf797" providerId="AD" clId="Web-{88444CFF-80AC-F5E6-F795-8A999BC95557}" dt="2026-08-18T01:39:51.003" v="0" actId="1076"/>
      <pc:docMkLst>
        <pc:docMk/>
      </pc:docMkLst>
      <pc:sldChg chg="modSp">
        <pc:chgData name="Corporate Talent Acquisition Cimory Group" userId="S::recruitment@cimory.com::febf222e-6949-493b-92b8-551375ecf797" providerId="AD" clId="Web-{88444CFF-80AC-F5E6-F795-8A999BC95557}" dt="2026-08-18T01:39:51.003" v="0" actId="1076"/>
        <pc:sldMkLst>
          <pc:docMk/>
          <pc:sldMk cId="536663561" sldId="2146851293"/>
        </pc:sldMkLst>
        <pc:graphicFrameChg chg="mod">
          <ac:chgData name="Corporate Talent Acquisition Cimory Group" userId="S::recruitment@cimory.com::febf222e-6949-493b-92b8-551375ecf797" providerId="AD" clId="Web-{88444CFF-80AC-F5E6-F795-8A999BC95557}" dt="2026-08-18T01:39:51.003" v="0" actId="1076"/>
          <ac:graphicFrameMkLst>
            <pc:docMk/>
            <pc:sldMk cId="536663561" sldId="2146851293"/>
            <ac:graphicFrameMk id="3" creationId="{BBF11C77-0882-2D0C-3E0B-17B24F7A2457}"/>
          </ac:graphicFrameMkLst>
        </pc:graphicFrameChg>
      </pc:sldChg>
    </pc:docChg>
  </pc:docChgLst>
  <pc:docChgLst>
    <pc:chgData name="Khairina Herind Septarini W" userId="S::khairina.herind@cimory.com::4d43d73c-e798-43a5-943d-306385f9cfe3" providerId="AD" clId="Web-{913E6F4C-B33F-315B-074A-A3D2D6E48B05}"/>
    <pc:docChg chg="addSld delSld modSld">
      <pc:chgData name="Khairina Herind Septarini W" userId="S::khairina.herind@cimory.com::4d43d73c-e798-43a5-943d-306385f9cfe3" providerId="AD" clId="Web-{913E6F4C-B33F-315B-074A-A3D2D6E48B05}" dt="2026-08-07T13:56:47.511" v="363"/>
      <pc:docMkLst>
        <pc:docMk/>
      </pc:docMkLst>
      <pc:sldChg chg="add">
        <pc:chgData name="Khairina Herind Septarini W" userId="S::khairina.herind@cimory.com::4d43d73c-e798-43a5-943d-306385f9cfe3" providerId="AD" clId="Web-{913E6F4C-B33F-315B-074A-A3D2D6E48B05}" dt="2026-08-07T13:51:55.736" v="235"/>
        <pc:sldMkLst>
          <pc:docMk/>
          <pc:sldMk cId="2950490343" sldId="2146851398"/>
        </pc:sldMkLst>
      </pc:sldChg>
      <pc:sldChg chg="add">
        <pc:chgData name="Khairina Herind Septarini W" userId="S::khairina.herind@cimory.com::4d43d73c-e798-43a5-943d-306385f9cfe3" providerId="AD" clId="Web-{913E6F4C-B33F-315B-074A-A3D2D6E48B05}" dt="2026-08-07T13:51:56.017" v="236"/>
        <pc:sldMkLst>
          <pc:docMk/>
          <pc:sldMk cId="3843878119" sldId="2146851399"/>
        </pc:sldMkLst>
      </pc:sldChg>
      <pc:sldChg chg="add">
        <pc:chgData name="Khairina Herind Septarini W" userId="S::khairina.herind@cimory.com::4d43d73c-e798-43a5-943d-306385f9cfe3" providerId="AD" clId="Web-{913E6F4C-B33F-315B-074A-A3D2D6E48B05}" dt="2026-08-07T13:51:56.251" v="237"/>
        <pc:sldMkLst>
          <pc:docMk/>
          <pc:sldMk cId="1027558949" sldId="2146851400"/>
        </pc:sldMkLst>
      </pc:sldChg>
      <pc:sldChg chg="add">
        <pc:chgData name="Khairina Herind Septarini W" userId="S::khairina.herind@cimory.com::4d43d73c-e798-43a5-943d-306385f9cfe3" providerId="AD" clId="Web-{913E6F4C-B33F-315B-074A-A3D2D6E48B05}" dt="2026-08-07T13:51:56.267" v="238"/>
        <pc:sldMkLst>
          <pc:docMk/>
          <pc:sldMk cId="3622041588" sldId="2146851401"/>
        </pc:sldMkLst>
      </pc:sldChg>
      <pc:sldChg chg="add">
        <pc:chgData name="Khairina Herind Septarini W" userId="S::khairina.herind@cimory.com::4d43d73c-e798-43a5-943d-306385f9cfe3" providerId="AD" clId="Web-{913E6F4C-B33F-315B-074A-A3D2D6E48B05}" dt="2026-08-07T13:51:56.392" v="239"/>
        <pc:sldMkLst>
          <pc:docMk/>
          <pc:sldMk cId="1209448205" sldId="2146851402"/>
        </pc:sldMkLst>
      </pc:sldChg>
      <pc:sldChg chg="add">
        <pc:chgData name="Khairina Herind Septarini W" userId="S::khairina.herind@cimory.com::4d43d73c-e798-43a5-943d-306385f9cfe3" providerId="AD" clId="Web-{913E6F4C-B33F-315B-074A-A3D2D6E48B05}" dt="2026-08-07T13:51:56.408" v="240"/>
        <pc:sldMkLst>
          <pc:docMk/>
          <pc:sldMk cId="3887741130" sldId="2146851403"/>
        </pc:sldMkLst>
      </pc:sldChg>
      <pc:sldChg chg="add">
        <pc:chgData name="Khairina Herind Septarini W" userId="S::khairina.herind@cimory.com::4d43d73c-e798-43a5-943d-306385f9cfe3" providerId="AD" clId="Web-{913E6F4C-B33F-315B-074A-A3D2D6E48B05}" dt="2026-08-07T13:51:56.486" v="241"/>
        <pc:sldMkLst>
          <pc:docMk/>
          <pc:sldMk cId="560802868" sldId="2146851404"/>
        </pc:sldMkLst>
      </pc:sldChg>
      <pc:sldChg chg="add">
        <pc:chgData name="Khairina Herind Septarini W" userId="S::khairina.herind@cimory.com::4d43d73c-e798-43a5-943d-306385f9cfe3" providerId="AD" clId="Web-{913E6F4C-B33F-315B-074A-A3D2D6E48B05}" dt="2026-08-07T13:51:56.751" v="242"/>
        <pc:sldMkLst>
          <pc:docMk/>
          <pc:sldMk cId="3570483747" sldId="2146851405"/>
        </pc:sldMkLst>
      </pc:sldChg>
      <pc:sldChg chg="add">
        <pc:chgData name="Khairina Herind Septarini W" userId="S::khairina.herind@cimory.com::4d43d73c-e798-43a5-943d-306385f9cfe3" providerId="AD" clId="Web-{913E6F4C-B33F-315B-074A-A3D2D6E48B05}" dt="2026-08-07T13:51:56.814" v="243"/>
        <pc:sldMkLst>
          <pc:docMk/>
          <pc:sldMk cId="1173104723" sldId="2146851406"/>
        </pc:sldMkLst>
      </pc:sldChg>
      <pc:sldChg chg="add">
        <pc:chgData name="Khairina Herind Septarini W" userId="S::khairina.herind@cimory.com::4d43d73c-e798-43a5-943d-306385f9cfe3" providerId="AD" clId="Web-{913E6F4C-B33F-315B-074A-A3D2D6E48B05}" dt="2026-08-07T13:51:56.829" v="244"/>
        <pc:sldMkLst>
          <pc:docMk/>
          <pc:sldMk cId="3713463428" sldId="2146851407"/>
        </pc:sldMkLst>
      </pc:sldChg>
      <pc:sldChg chg="add">
        <pc:chgData name="Khairina Herind Septarini W" userId="S::khairina.herind@cimory.com::4d43d73c-e798-43a5-943d-306385f9cfe3" providerId="AD" clId="Web-{913E6F4C-B33F-315B-074A-A3D2D6E48B05}" dt="2026-08-07T13:51:56.923" v="245"/>
        <pc:sldMkLst>
          <pc:docMk/>
          <pc:sldMk cId="2842665420" sldId="2146851408"/>
        </pc:sldMkLst>
      </pc:sldChg>
      <pc:sldChg chg="add">
        <pc:chgData name="Khairina Herind Septarini W" userId="S::khairina.herind@cimory.com::4d43d73c-e798-43a5-943d-306385f9cfe3" providerId="AD" clId="Web-{913E6F4C-B33F-315B-074A-A3D2D6E48B05}" dt="2026-08-07T13:51:57.111" v="246"/>
        <pc:sldMkLst>
          <pc:docMk/>
          <pc:sldMk cId="1455939415" sldId="2146851409"/>
        </pc:sldMkLst>
      </pc:sldChg>
      <pc:sldChg chg="add">
        <pc:chgData name="Khairina Herind Septarini W" userId="S::khairina.herind@cimory.com::4d43d73c-e798-43a5-943d-306385f9cfe3" providerId="AD" clId="Web-{913E6F4C-B33F-315B-074A-A3D2D6E48B05}" dt="2026-08-07T13:51:57.189" v="247"/>
        <pc:sldMkLst>
          <pc:docMk/>
          <pc:sldMk cId="2195283515" sldId="2146851410"/>
        </pc:sldMkLst>
      </pc:sldChg>
      <pc:sldChg chg="add">
        <pc:chgData name="Khairina Herind Septarini W" userId="S::khairina.herind@cimory.com::4d43d73c-e798-43a5-943d-306385f9cfe3" providerId="AD" clId="Web-{913E6F4C-B33F-315B-074A-A3D2D6E48B05}" dt="2026-08-07T13:51:57.204" v="248"/>
        <pc:sldMkLst>
          <pc:docMk/>
          <pc:sldMk cId="3072164672" sldId="2146851411"/>
        </pc:sldMkLst>
      </pc:sldChg>
      <pc:sldChg chg="add">
        <pc:chgData name="Khairina Herind Septarini W" userId="S::khairina.herind@cimory.com::4d43d73c-e798-43a5-943d-306385f9cfe3" providerId="AD" clId="Web-{913E6F4C-B33F-315B-074A-A3D2D6E48B05}" dt="2026-08-07T13:51:57.423" v="249"/>
        <pc:sldMkLst>
          <pc:docMk/>
          <pc:sldMk cId="2047054175" sldId="2146851412"/>
        </pc:sldMkLst>
      </pc:sldChg>
    </pc:docChg>
  </pc:docChgLst>
  <pc:docChgLst>
    <pc:chgData name="Yeremia Steven Putra Ongkowijoyo" userId="S::yeremia.steven@cimory.com::7d4e536d-a0e1-46ef-90cd-0c0cfefe4423" providerId="AD" clId="Web-{2A345155-D2CC-330B-1C85-B3B1411E5CE2}"/>
    <pc:docChg chg="modSld">
      <pc:chgData name="Yeremia Steven Putra Ongkowijoyo" userId="S::yeremia.steven@cimory.com::7d4e536d-a0e1-46ef-90cd-0c0cfefe4423" providerId="AD" clId="Web-{2A345155-D2CC-330B-1C85-B3B1411E5CE2}" dt="2026-08-17T15:05:27.208" v="3" actId="1076"/>
      <pc:docMkLst>
        <pc:docMk/>
      </pc:docMkLst>
      <pc:sldChg chg="modSp">
        <pc:chgData name="Yeremia Steven Putra Ongkowijoyo" userId="S::yeremia.steven@cimory.com::7d4e536d-a0e1-46ef-90cd-0c0cfefe4423" providerId="AD" clId="Web-{2A345155-D2CC-330B-1C85-B3B1411E5CE2}" dt="2026-08-17T15:05:27.208" v="3" actId="1076"/>
        <pc:sldMkLst>
          <pc:docMk/>
          <pc:sldMk cId="2961837861" sldId="2146851372"/>
        </pc:sldMkLst>
        <pc:spChg chg="mod">
          <ac:chgData name="Yeremia Steven Putra Ongkowijoyo" userId="S::yeremia.steven@cimory.com::7d4e536d-a0e1-46ef-90cd-0c0cfefe4423" providerId="AD" clId="Web-{2A345155-D2CC-330B-1C85-B3B1411E5CE2}" dt="2026-08-17T15:05:27.208" v="3" actId="1076"/>
          <ac:spMkLst>
            <pc:docMk/>
            <pc:sldMk cId="2961837861" sldId="2146851372"/>
            <ac:spMk id="25" creationId="{FCEB5FB3-C327-3568-3AC9-DCFAB22252E0}"/>
          </ac:spMkLst>
        </pc:spChg>
        <pc:spChg chg="mod">
          <ac:chgData name="Yeremia Steven Putra Ongkowijoyo" userId="S::yeremia.steven@cimory.com::7d4e536d-a0e1-46ef-90cd-0c0cfefe4423" providerId="AD" clId="Web-{2A345155-D2CC-330B-1C85-B3B1411E5CE2}" dt="2026-08-17T15:05:22.614" v="1" actId="1076"/>
          <ac:spMkLst>
            <pc:docMk/>
            <pc:sldMk cId="2961837861" sldId="2146851372"/>
            <ac:spMk id="28" creationId="{3F2645C0-0C87-9CD7-729F-449109E9F1C1}"/>
          </ac:spMkLst>
        </pc:spChg>
      </pc:sldChg>
    </pc:docChg>
  </pc:docChgLst>
  <pc:docChgLst>
    <pc:chgData name="Pauline Immanuel Supardi" userId="S::pauline.immanuel@cimory.com::6bddf53c-48c8-4584-85ce-fadb73123699" providerId="AD" clId="Web-{5B8AD561-CA91-D7D7-C0B7-94582C1AD179}"/>
    <pc:docChg chg="modSld">
      <pc:chgData name="Pauline Immanuel Supardi" userId="S::pauline.immanuel@cimory.com::6bddf53c-48c8-4584-85ce-fadb73123699" providerId="AD" clId="Web-{5B8AD561-CA91-D7D7-C0B7-94582C1AD179}" dt="2026-07-25T15:41:10.123" v="377"/>
      <pc:docMkLst>
        <pc:docMk/>
      </pc:docMkLst>
      <pc:sldChg chg="addSp delSp modSp">
        <pc:chgData name="Pauline Immanuel Supardi" userId="S::pauline.immanuel@cimory.com::6bddf53c-48c8-4584-85ce-fadb73123699" providerId="AD" clId="Web-{5B8AD561-CA91-D7D7-C0B7-94582C1AD179}" dt="2026-07-25T15:41:10.123" v="377"/>
        <pc:sldMkLst>
          <pc:docMk/>
          <pc:sldMk cId="536663561" sldId="2146851293"/>
        </pc:sldMkLst>
        <pc:spChg chg="mod">
          <ac:chgData name="Pauline Immanuel Supardi" userId="S::pauline.immanuel@cimory.com::6bddf53c-48c8-4584-85ce-fadb73123699" providerId="AD" clId="Web-{5B8AD561-CA91-D7D7-C0B7-94582C1AD179}" dt="2026-07-25T15:12:31.821" v="58" actId="20577"/>
          <ac:spMkLst>
            <pc:docMk/>
            <pc:sldMk cId="536663561" sldId="2146851293"/>
            <ac:spMk id="2" creationId="{E12512C6-BAE0-2CD8-C99E-A6E0F96B092F}"/>
          </ac:spMkLst>
        </pc:spChg>
      </pc:sldChg>
    </pc:docChg>
  </pc:docChgLst>
  <pc:docChgLst>
    <pc:chgData name="Khairina Herind Septarini W" userId="S::khairina.herind@cimory.com::4d43d73c-e798-43a5-943d-306385f9cfe3" providerId="AD" clId="Web-{7B85850C-1230-EDA7-2B3B-72C7F39BBB1F}"/>
    <pc:docChg chg="modSld">
      <pc:chgData name="Khairina Herind Septarini W" userId="S::khairina.herind@cimory.com::4d43d73c-e798-43a5-943d-306385f9cfe3" providerId="AD" clId="Web-{7B85850C-1230-EDA7-2B3B-72C7F39BBB1F}" dt="2026-08-07T12:00:29.870" v="323"/>
      <pc:docMkLst>
        <pc:docMk/>
      </pc:docMkLst>
    </pc:docChg>
  </pc:docChgLst>
  <pc:docChgLst>
    <pc:chgData name="Brittney Verine Dyhan Handoyo" userId="S::brittney.verine@cimory.com::1140ef17-cd65-4059-bf5d-61d8c1408411" providerId="AD" clId="Web-{6C3AE4B0-0ED0-F679-25A2-D6CF427E1180}"/>
    <pc:docChg chg="addSld delSld">
      <pc:chgData name="Brittney Verine Dyhan Handoyo" userId="S::brittney.verine@cimory.com::1140ef17-cd65-4059-bf5d-61d8c1408411" providerId="AD" clId="Web-{6C3AE4B0-0ED0-F679-25A2-D6CF427E1180}" dt="2026-07-31T11:49:14.634" v="23"/>
      <pc:docMkLst>
        <pc:docMk/>
      </pc:docMkLst>
    </pc:docChg>
  </pc:docChgLst>
  <pc:docChgLst>
    <pc:chgData name="Khairina Herind Septarini W" userId="S::khairina.herind@cimory.com::4d43d73c-e798-43a5-943d-306385f9cfe3" providerId="AD" clId="Web-{D72540FC-287D-30BA-7CAC-09AA1B5E2AC3}"/>
    <pc:docChg chg="modSld">
      <pc:chgData name="Khairina Herind Septarini W" userId="S::khairina.herind@cimory.com::4d43d73c-e798-43a5-943d-306385f9cfe3" providerId="AD" clId="Web-{D72540FC-287D-30BA-7CAC-09AA1B5E2AC3}" dt="2026-07-25T04:54:06.082" v="104"/>
      <pc:docMkLst>
        <pc:docMk/>
      </pc:docMkLst>
    </pc:docChg>
  </pc:docChgLst>
  <pc:docChgLst>
    <pc:chgData name="Khairina Herind Septarini W" userId="S::khairina.herind@cimory.com::4d43d73c-e798-43a5-943d-306385f9cfe3" providerId="AD" clId="Web-{3936AF47-CBF9-F52C-2494-B976D87B333A}"/>
    <pc:docChg chg="addSld delSld modSld sldOrd">
      <pc:chgData name="Khairina Herind Septarini W" userId="S::khairina.herind@cimory.com::4d43d73c-e798-43a5-943d-306385f9cfe3" providerId="AD" clId="Web-{3936AF47-CBF9-F52C-2494-B976D87B333A}" dt="2026-08-16T21:47:50.803" v="5239"/>
      <pc:docMkLst>
        <pc:docMk/>
      </pc:docMkLst>
      <pc:sldChg chg="ord">
        <pc:chgData name="Khairina Herind Septarini W" userId="S::khairina.herind@cimory.com::4d43d73c-e798-43a5-943d-306385f9cfe3" providerId="AD" clId="Web-{3936AF47-CBF9-F52C-2494-B976D87B333A}" dt="2026-08-16T20:08:51.961" v="2020"/>
        <pc:sldMkLst>
          <pc:docMk/>
          <pc:sldMk cId="3807510711" sldId="2146851290"/>
        </pc:sldMkLst>
      </pc:sldChg>
      <pc:sldChg chg="ord">
        <pc:chgData name="Khairina Herind Septarini W" userId="S::khairina.herind@cimory.com::4d43d73c-e798-43a5-943d-306385f9cfe3" providerId="AD" clId="Web-{3936AF47-CBF9-F52C-2494-B976D87B333A}" dt="2026-08-16T20:08:51.961" v="2021"/>
        <pc:sldMkLst>
          <pc:docMk/>
          <pc:sldMk cId="3841361758" sldId="2146851292"/>
        </pc:sldMkLst>
      </pc:sldChg>
      <pc:sldChg chg="ord">
        <pc:chgData name="Khairina Herind Septarini W" userId="S::khairina.herind@cimory.com::4d43d73c-e798-43a5-943d-306385f9cfe3" providerId="AD" clId="Web-{3936AF47-CBF9-F52C-2494-B976D87B333A}" dt="2026-08-16T21:05:44.939" v="5098"/>
        <pc:sldMkLst>
          <pc:docMk/>
          <pc:sldMk cId="2117777768" sldId="2146851303"/>
        </pc:sldMkLst>
      </pc:sldChg>
      <pc:sldChg chg="addSp delSp modSp mod setBg">
        <pc:chgData name="Khairina Herind Septarini W" userId="S::khairina.herind@cimory.com::4d43d73c-e798-43a5-943d-306385f9cfe3" providerId="AD" clId="Web-{3936AF47-CBF9-F52C-2494-B976D87B333A}" dt="2026-08-16T20:52:37.185" v="5031"/>
        <pc:sldMkLst>
          <pc:docMk/>
          <pc:sldMk cId="224410125" sldId="2146851420"/>
        </pc:sldMkLst>
        <pc:spChg chg="add mod">
          <ac:chgData name="Khairina Herind Septarini W" userId="S::khairina.herind@cimory.com::4d43d73c-e798-43a5-943d-306385f9cfe3" providerId="AD" clId="Web-{3936AF47-CBF9-F52C-2494-B976D87B333A}" dt="2026-08-16T19:21:52.371" v="24" actId="1076"/>
          <ac:spMkLst>
            <pc:docMk/>
            <pc:sldMk cId="224410125" sldId="2146851420"/>
            <ac:spMk id="4" creationId="{C1D54D7E-1D34-912E-C4A4-6F44DAA9E6F1}"/>
          </ac:spMkLst>
        </pc:spChg>
        <pc:graphicFrameChg chg="add mod modGraphic">
          <ac:chgData name="Khairina Herind Septarini W" userId="S::khairina.herind@cimory.com::4d43d73c-e798-43a5-943d-306385f9cfe3" providerId="AD" clId="Web-{3936AF47-CBF9-F52C-2494-B976D87B333A}" dt="2026-08-16T20:52:37.185" v="5031"/>
          <ac:graphicFrameMkLst>
            <pc:docMk/>
            <pc:sldMk cId="224410125" sldId="2146851420"/>
            <ac:graphicFrameMk id="7" creationId="{B368B238-B634-A685-CE99-4E7E77D5A448}"/>
          </ac:graphicFrameMkLst>
        </pc:graphicFrameChg>
      </pc:sldChg>
      <pc:sldChg chg="addSp modSp">
        <pc:chgData name="Khairina Herind Septarini W" userId="S::khairina.herind@cimory.com::4d43d73c-e798-43a5-943d-306385f9cfe3" providerId="AD" clId="Web-{3936AF47-CBF9-F52C-2494-B976D87B333A}" dt="2026-08-16T20:55:48.897" v="5066"/>
        <pc:sldMkLst>
          <pc:docMk/>
          <pc:sldMk cId="2175789549" sldId="2146851421"/>
        </pc:sldMkLst>
        <pc:graphicFrameChg chg="add mod modGraphic">
          <ac:chgData name="Khairina Herind Septarini W" userId="S::khairina.herind@cimory.com::4d43d73c-e798-43a5-943d-306385f9cfe3" providerId="AD" clId="Web-{3936AF47-CBF9-F52C-2494-B976D87B333A}" dt="2026-08-16T20:55:48.897" v="5066"/>
          <ac:graphicFrameMkLst>
            <pc:docMk/>
            <pc:sldMk cId="2175789549" sldId="2146851421"/>
            <ac:graphicFrameMk id="4" creationId="{195B2B31-E292-4FD9-A534-1FE1E5DD1B17}"/>
          </ac:graphicFrameMkLst>
        </pc:graphicFrameChg>
      </pc:sldChg>
      <pc:sldChg chg="addSp modSp">
        <pc:chgData name="Khairina Herind Septarini W" userId="S::khairina.herind@cimory.com::4d43d73c-e798-43a5-943d-306385f9cfe3" providerId="AD" clId="Web-{3936AF47-CBF9-F52C-2494-B976D87B333A}" dt="2026-08-16T20:55:23.146" v="5061"/>
        <pc:sldMkLst>
          <pc:docMk/>
          <pc:sldMk cId="658659115" sldId="2146851422"/>
        </pc:sldMkLst>
        <pc:graphicFrameChg chg="add mod modGraphic">
          <ac:chgData name="Khairina Herind Septarini W" userId="S::khairina.herind@cimory.com::4d43d73c-e798-43a5-943d-306385f9cfe3" providerId="AD" clId="Web-{3936AF47-CBF9-F52C-2494-B976D87B333A}" dt="2026-08-16T20:55:23.146" v="5061"/>
          <ac:graphicFrameMkLst>
            <pc:docMk/>
            <pc:sldMk cId="658659115" sldId="2146851422"/>
            <ac:graphicFrameMk id="4" creationId="{5C7DB5BF-B4D8-9DBF-1B56-D608F0BCD084}"/>
          </ac:graphicFrameMkLst>
        </pc:graphicFrameChg>
      </pc:sldChg>
      <pc:sldChg chg="addSp delSp modSp add replId">
        <pc:chgData name="Khairina Herind Septarini W" userId="S::khairina.herind@cimory.com::4d43d73c-e798-43a5-943d-306385f9cfe3" providerId="AD" clId="Web-{3936AF47-CBF9-F52C-2494-B976D87B333A}" dt="2026-08-16T21:18:56.849" v="5131" actId="1076"/>
        <pc:sldMkLst>
          <pc:docMk/>
          <pc:sldMk cId="2067211410" sldId="2146851423"/>
        </pc:sldMkLst>
        <pc:spChg chg="add">
          <ac:chgData name="Khairina Herind Septarini W" userId="S::khairina.herind@cimory.com::4d43d73c-e798-43a5-943d-306385f9cfe3" providerId="AD" clId="Web-{3936AF47-CBF9-F52C-2494-B976D87B333A}" dt="2026-08-16T21:17:59.784" v="5108"/>
          <ac:spMkLst>
            <pc:docMk/>
            <pc:sldMk cId="2067211410" sldId="2146851423"/>
            <ac:spMk id="6" creationId="{C33A528A-7FD5-8B57-FE55-369064D13140}"/>
          </ac:spMkLst>
        </pc:spChg>
        <pc:spChg chg="add mod">
          <ac:chgData name="Khairina Herind Septarini W" userId="S::khairina.herind@cimory.com::4d43d73c-e798-43a5-943d-306385f9cfe3" providerId="AD" clId="Web-{3936AF47-CBF9-F52C-2494-B976D87B333A}" dt="2026-08-16T21:18:56.849" v="5131" actId="1076"/>
          <ac:spMkLst>
            <pc:docMk/>
            <pc:sldMk cId="2067211410" sldId="2146851423"/>
            <ac:spMk id="8" creationId="{F9982B93-9A74-AC1E-29AE-04EFC7FCFCEB}"/>
          </ac:spMkLst>
        </pc:spChg>
        <pc:graphicFrameChg chg="add mod modGraphic">
          <ac:chgData name="Khairina Herind Septarini W" userId="S::khairina.herind@cimory.com::4d43d73c-e798-43a5-943d-306385f9cfe3" providerId="AD" clId="Web-{3936AF47-CBF9-F52C-2494-B976D87B333A}" dt="2026-08-16T20:00:38.845" v="1935"/>
          <ac:graphicFrameMkLst>
            <pc:docMk/>
            <pc:sldMk cId="2067211410" sldId="2146851423"/>
            <ac:graphicFrameMk id="4" creationId="{498A3340-FB61-0034-67F3-0A91BEA11133}"/>
          </ac:graphicFrameMkLst>
        </pc:graphicFrameChg>
      </pc:sldChg>
      <pc:sldChg chg="addSp delSp modSp add replId">
        <pc:chgData name="Khairina Herind Septarini W" userId="S::khairina.herind@cimory.com::4d43d73c-e798-43a5-943d-306385f9cfe3" providerId="AD" clId="Web-{3936AF47-CBF9-F52C-2494-B976D87B333A}" dt="2026-08-16T21:18:49.254" v="5128" actId="1076"/>
        <pc:sldMkLst>
          <pc:docMk/>
          <pc:sldMk cId="3124691356" sldId="2146851424"/>
        </pc:sldMkLst>
        <pc:spChg chg="add">
          <ac:chgData name="Khairina Herind Septarini W" userId="S::khairina.herind@cimory.com::4d43d73c-e798-43a5-943d-306385f9cfe3" providerId="AD" clId="Web-{3936AF47-CBF9-F52C-2494-B976D87B333A}" dt="2026-08-16T21:17:57.096" v="5107"/>
          <ac:spMkLst>
            <pc:docMk/>
            <pc:sldMk cId="3124691356" sldId="2146851424"/>
            <ac:spMk id="6" creationId="{D637B474-2957-6F3F-119C-47A9AC2E97C7}"/>
          </ac:spMkLst>
        </pc:spChg>
        <pc:spChg chg="add mod">
          <ac:chgData name="Khairina Herind Septarini W" userId="S::khairina.herind@cimory.com::4d43d73c-e798-43a5-943d-306385f9cfe3" providerId="AD" clId="Web-{3936AF47-CBF9-F52C-2494-B976D87B333A}" dt="2026-08-16T21:18:49.254" v="5128" actId="1076"/>
          <ac:spMkLst>
            <pc:docMk/>
            <pc:sldMk cId="3124691356" sldId="2146851424"/>
            <ac:spMk id="8" creationId="{C8485093-9494-B83D-0AD9-7A02F8DB139C}"/>
          </ac:spMkLst>
        </pc:spChg>
        <pc:graphicFrameChg chg="add mod modGraphic">
          <ac:chgData name="Khairina Herind Septarini W" userId="S::khairina.herind@cimory.com::4d43d73c-e798-43a5-943d-306385f9cfe3" providerId="AD" clId="Web-{3936AF47-CBF9-F52C-2494-B976D87B333A}" dt="2026-08-16T19:57:49.010" v="1751"/>
          <ac:graphicFrameMkLst>
            <pc:docMk/>
            <pc:sldMk cId="3124691356" sldId="2146851424"/>
            <ac:graphicFrameMk id="4" creationId="{A36AB612-C460-EC14-0506-8F2486D740A8}"/>
          </ac:graphicFrameMkLst>
        </pc:graphicFrameChg>
      </pc:sldChg>
      <pc:sldChg chg="addSp delSp modSp add replId">
        <pc:chgData name="Khairina Herind Septarini W" userId="S::khairina.herind@cimory.com::4d43d73c-e798-43a5-943d-306385f9cfe3" providerId="AD" clId="Web-{3936AF47-CBF9-F52C-2494-B976D87B333A}" dt="2026-08-16T21:18:41.832" v="5125" actId="1076"/>
        <pc:sldMkLst>
          <pc:docMk/>
          <pc:sldMk cId="1755367041" sldId="2146851425"/>
        </pc:sldMkLst>
        <pc:spChg chg="add">
          <ac:chgData name="Khairina Herind Septarini W" userId="S::khairina.herind@cimory.com::4d43d73c-e798-43a5-943d-306385f9cfe3" providerId="AD" clId="Web-{3936AF47-CBF9-F52C-2494-B976D87B333A}" dt="2026-08-16T21:17:55.299" v="5106"/>
          <ac:spMkLst>
            <pc:docMk/>
            <pc:sldMk cId="1755367041" sldId="2146851425"/>
            <ac:spMk id="6" creationId="{E9115E3B-87B4-62B6-85BC-4505973B640C}"/>
          </ac:spMkLst>
        </pc:spChg>
        <pc:spChg chg="add mod">
          <ac:chgData name="Khairina Herind Septarini W" userId="S::khairina.herind@cimory.com::4d43d73c-e798-43a5-943d-306385f9cfe3" providerId="AD" clId="Web-{3936AF47-CBF9-F52C-2494-B976D87B333A}" dt="2026-08-16T21:18:41.832" v="5125" actId="1076"/>
          <ac:spMkLst>
            <pc:docMk/>
            <pc:sldMk cId="1755367041" sldId="2146851425"/>
            <ac:spMk id="8" creationId="{EDF3E11A-5774-D9B2-0E59-6829FC74E7C6}"/>
          </ac:spMkLst>
        </pc:spChg>
        <pc:graphicFrameChg chg="add mod modGraphic">
          <ac:chgData name="Khairina Herind Septarini W" userId="S::khairina.herind@cimory.com::4d43d73c-e798-43a5-943d-306385f9cfe3" providerId="AD" clId="Web-{3936AF47-CBF9-F52C-2494-B976D87B333A}" dt="2026-08-16T19:55:17.033" v="1419"/>
          <ac:graphicFrameMkLst>
            <pc:docMk/>
            <pc:sldMk cId="1755367041" sldId="2146851425"/>
            <ac:graphicFrameMk id="4" creationId="{5FD770F2-CA4F-C0D7-2AF9-E5B17B9099CB}"/>
          </ac:graphicFrameMkLst>
        </pc:graphicFrameChg>
      </pc:sldChg>
      <pc:sldChg chg="addSp modSp add replId">
        <pc:chgData name="Khairina Herind Septarini W" userId="S::khairina.herind@cimory.com::4d43d73c-e798-43a5-943d-306385f9cfe3" providerId="AD" clId="Web-{3936AF47-CBF9-F52C-2494-B976D87B333A}" dt="2026-08-16T20:55:26.833" v="5063"/>
        <pc:sldMkLst>
          <pc:docMk/>
          <pc:sldMk cId="3377810513" sldId="2146851426"/>
        </pc:sldMkLst>
        <pc:graphicFrameChg chg="add mod modGraphic">
          <ac:chgData name="Khairina Herind Septarini W" userId="S::khairina.herind@cimory.com::4d43d73c-e798-43a5-943d-306385f9cfe3" providerId="AD" clId="Web-{3936AF47-CBF9-F52C-2494-B976D87B333A}" dt="2026-08-16T20:55:26.833" v="5063"/>
          <ac:graphicFrameMkLst>
            <pc:docMk/>
            <pc:sldMk cId="3377810513" sldId="2146851426"/>
            <ac:graphicFrameMk id="4" creationId="{FD85AFF9-B9F6-3BB1-E95A-395404C850AB}"/>
          </ac:graphicFrameMkLst>
        </pc:graphicFrameChg>
      </pc:sldChg>
      <pc:sldChg chg="addSp delSp modSp add replId">
        <pc:chgData name="Khairina Herind Septarini W" userId="S::khairina.herind@cimory.com::4d43d73c-e798-43a5-943d-306385f9cfe3" providerId="AD" clId="Web-{3936AF47-CBF9-F52C-2494-B976D87B333A}" dt="2026-08-16T21:19:05.771" v="5134" actId="1076"/>
        <pc:sldMkLst>
          <pc:docMk/>
          <pc:sldMk cId="2006123079" sldId="2146851427"/>
        </pc:sldMkLst>
        <pc:spChg chg="add">
          <ac:chgData name="Khairina Herind Septarini W" userId="S::khairina.herind@cimory.com::4d43d73c-e798-43a5-943d-306385f9cfe3" providerId="AD" clId="Web-{3936AF47-CBF9-F52C-2494-B976D87B333A}" dt="2026-08-16T21:18:02.393" v="5109"/>
          <ac:spMkLst>
            <pc:docMk/>
            <pc:sldMk cId="2006123079" sldId="2146851427"/>
            <ac:spMk id="7" creationId="{DCBEB213-FB15-7C14-454A-3FC2675D844B}"/>
          </ac:spMkLst>
        </pc:spChg>
        <pc:spChg chg="add">
          <ac:chgData name="Khairina Herind Septarini W" userId="S::khairina.herind@cimory.com::4d43d73c-e798-43a5-943d-306385f9cfe3" providerId="AD" clId="Web-{3936AF47-CBF9-F52C-2494-B976D87B333A}" dt="2026-08-16T21:19:00.864" v="5133"/>
          <ac:spMkLst>
            <pc:docMk/>
            <pc:sldMk cId="2006123079" sldId="2146851427"/>
            <ac:spMk id="9" creationId="{433C6EFF-8459-392D-051D-3981D5EDE9A3}"/>
          </ac:spMkLst>
        </pc:spChg>
        <pc:graphicFrameChg chg="add mod modGraphic">
          <ac:chgData name="Khairina Herind Septarini W" userId="S::khairina.herind@cimory.com::4d43d73c-e798-43a5-943d-306385f9cfe3" providerId="AD" clId="Web-{3936AF47-CBF9-F52C-2494-B976D87B333A}" dt="2026-08-16T21:19:05.771" v="5134" actId="1076"/>
          <ac:graphicFrameMkLst>
            <pc:docMk/>
            <pc:sldMk cId="2006123079" sldId="2146851427"/>
            <ac:graphicFrameMk id="5" creationId="{5B8B3E8E-0B6B-4700-953E-18C370ED253E}"/>
          </ac:graphicFrameMkLst>
        </pc:graphicFrameChg>
      </pc:sldChg>
      <pc:sldChg chg="addSp delSp modSp add replId">
        <pc:chgData name="Khairina Herind Septarini W" userId="S::khairina.herind@cimory.com::4d43d73c-e798-43a5-943d-306385f9cfe3" providerId="AD" clId="Web-{3936AF47-CBF9-F52C-2494-B976D87B333A}" dt="2026-08-16T21:19:13.365" v="5137" actId="1076"/>
        <pc:sldMkLst>
          <pc:docMk/>
          <pc:sldMk cId="3906206291" sldId="2146851428"/>
        </pc:sldMkLst>
        <pc:spChg chg="add">
          <ac:chgData name="Khairina Herind Septarini W" userId="S::khairina.herind@cimory.com::4d43d73c-e798-43a5-943d-306385f9cfe3" providerId="AD" clId="Web-{3936AF47-CBF9-F52C-2494-B976D87B333A}" dt="2026-08-16T21:18:04.331" v="5110"/>
          <ac:spMkLst>
            <pc:docMk/>
            <pc:sldMk cId="3906206291" sldId="2146851428"/>
            <ac:spMk id="6" creationId="{C6441FC6-8E8D-8293-A03A-45113F2AC05E}"/>
          </ac:spMkLst>
        </pc:spChg>
        <pc:spChg chg="add mod">
          <ac:chgData name="Khairina Herind Septarini W" userId="S::khairina.herind@cimory.com::4d43d73c-e798-43a5-943d-306385f9cfe3" providerId="AD" clId="Web-{3936AF47-CBF9-F52C-2494-B976D87B333A}" dt="2026-08-16T21:19:13.365" v="5137" actId="1076"/>
          <ac:spMkLst>
            <pc:docMk/>
            <pc:sldMk cId="3906206291" sldId="2146851428"/>
            <ac:spMk id="8" creationId="{92BE5255-386D-6C39-675B-3FAF9A022193}"/>
          </ac:spMkLst>
        </pc:spChg>
        <pc:graphicFrameChg chg="add mod modGraphic">
          <ac:chgData name="Khairina Herind Septarini W" userId="S::khairina.herind@cimory.com::4d43d73c-e798-43a5-943d-306385f9cfe3" providerId="AD" clId="Web-{3936AF47-CBF9-F52C-2494-B976D87B333A}" dt="2026-08-16T20:33:08.171" v="2571"/>
          <ac:graphicFrameMkLst>
            <pc:docMk/>
            <pc:sldMk cId="3906206291" sldId="2146851428"/>
            <ac:graphicFrameMk id="4" creationId="{45977195-C0F0-80E0-C458-7F5419F92FF6}"/>
          </ac:graphicFrameMkLst>
        </pc:graphicFrameChg>
      </pc:sldChg>
      <pc:sldChg chg="addSp delSp modSp add replId">
        <pc:chgData name="Khairina Herind Septarini W" userId="S::khairina.herind@cimory.com::4d43d73c-e798-43a5-943d-306385f9cfe3" providerId="AD" clId="Web-{3936AF47-CBF9-F52C-2494-B976D87B333A}" dt="2026-08-16T21:19:22.397" v="5140" actId="1076"/>
        <pc:sldMkLst>
          <pc:docMk/>
          <pc:sldMk cId="172262710" sldId="2146851429"/>
        </pc:sldMkLst>
        <pc:spChg chg="add">
          <ac:chgData name="Khairina Herind Septarini W" userId="S::khairina.herind@cimory.com::4d43d73c-e798-43a5-943d-306385f9cfe3" providerId="AD" clId="Web-{3936AF47-CBF9-F52C-2494-B976D87B333A}" dt="2026-08-16T21:18:06.081" v="5111"/>
          <ac:spMkLst>
            <pc:docMk/>
            <pc:sldMk cId="172262710" sldId="2146851429"/>
            <ac:spMk id="7" creationId="{9A4B55C8-C3A1-D191-1909-68E229657F99}"/>
          </ac:spMkLst>
        </pc:spChg>
        <pc:spChg chg="add mod">
          <ac:chgData name="Khairina Herind Septarini W" userId="S::khairina.herind@cimory.com::4d43d73c-e798-43a5-943d-306385f9cfe3" providerId="AD" clId="Web-{3936AF47-CBF9-F52C-2494-B976D87B333A}" dt="2026-08-16T21:19:22.397" v="5140" actId="1076"/>
          <ac:spMkLst>
            <pc:docMk/>
            <pc:sldMk cId="172262710" sldId="2146851429"/>
            <ac:spMk id="9" creationId="{A439FE3F-1C4F-1989-B2B3-E8403D49E1F3}"/>
          </ac:spMkLst>
        </pc:spChg>
        <pc:graphicFrameChg chg="add mod modGraphic">
          <ac:chgData name="Khairina Herind Septarini W" userId="S::khairina.herind@cimory.com::4d43d73c-e798-43a5-943d-306385f9cfe3" providerId="AD" clId="Web-{3936AF47-CBF9-F52C-2494-B976D87B333A}" dt="2026-08-16T20:35:27.459" v="2833"/>
          <ac:graphicFrameMkLst>
            <pc:docMk/>
            <pc:sldMk cId="172262710" sldId="2146851429"/>
            <ac:graphicFrameMk id="5" creationId="{0F7CB88B-114B-E71A-7C92-4C95FDF1A4F3}"/>
          </ac:graphicFrameMkLst>
        </pc:graphicFrameChg>
      </pc:sldChg>
      <pc:sldChg chg="addSp delSp modSp add replId">
        <pc:chgData name="Khairina Herind Septarini W" userId="S::khairina.herind@cimory.com::4d43d73c-e798-43a5-943d-306385f9cfe3" providerId="AD" clId="Web-{3936AF47-CBF9-F52C-2494-B976D87B333A}" dt="2026-08-16T21:19:27.100" v="5142"/>
        <pc:sldMkLst>
          <pc:docMk/>
          <pc:sldMk cId="2608294727" sldId="2146851430"/>
        </pc:sldMkLst>
        <pc:spChg chg="add">
          <ac:chgData name="Khairina Herind Septarini W" userId="S::khairina.herind@cimory.com::4d43d73c-e798-43a5-943d-306385f9cfe3" providerId="AD" clId="Web-{3936AF47-CBF9-F52C-2494-B976D87B333A}" dt="2026-08-16T21:18:07.768" v="5112"/>
          <ac:spMkLst>
            <pc:docMk/>
            <pc:sldMk cId="2608294727" sldId="2146851430"/>
            <ac:spMk id="6" creationId="{C6688661-C39C-C69E-1A24-671BE3EF6572}"/>
          </ac:spMkLst>
        </pc:spChg>
        <pc:spChg chg="add">
          <ac:chgData name="Khairina Herind Septarini W" userId="S::khairina.herind@cimory.com::4d43d73c-e798-43a5-943d-306385f9cfe3" providerId="AD" clId="Web-{3936AF47-CBF9-F52C-2494-B976D87B333A}" dt="2026-08-16T21:19:27.100" v="5142"/>
          <ac:spMkLst>
            <pc:docMk/>
            <pc:sldMk cId="2608294727" sldId="2146851430"/>
            <ac:spMk id="8" creationId="{64B9056E-336A-C2F8-3A90-CBF10B3498B9}"/>
          </ac:spMkLst>
        </pc:spChg>
        <pc:graphicFrameChg chg="add mod modGraphic">
          <ac:chgData name="Khairina Herind Septarini W" userId="S::khairina.herind@cimory.com::4d43d73c-e798-43a5-943d-306385f9cfe3" providerId="AD" clId="Web-{3936AF47-CBF9-F52C-2494-B976D87B333A}" dt="2026-08-16T20:37:53.153" v="3037"/>
          <ac:graphicFrameMkLst>
            <pc:docMk/>
            <pc:sldMk cId="2608294727" sldId="2146851430"/>
            <ac:graphicFrameMk id="4" creationId="{AC3FB931-0E34-9942-4B3F-AA0A4C51416B}"/>
          </ac:graphicFrameMkLst>
        </pc:graphicFrameChg>
      </pc:sldChg>
      <pc:sldChg chg="addSp delSp modSp add replId">
        <pc:chgData name="Khairina Herind Septarini W" userId="S::khairina.herind@cimory.com::4d43d73c-e798-43a5-943d-306385f9cfe3" providerId="AD" clId="Web-{3936AF47-CBF9-F52C-2494-B976D87B333A}" dt="2026-08-16T21:19:34.850" v="5145" actId="1076"/>
        <pc:sldMkLst>
          <pc:docMk/>
          <pc:sldMk cId="3952925451" sldId="2146851431"/>
        </pc:sldMkLst>
        <pc:spChg chg="add">
          <ac:chgData name="Khairina Herind Septarini W" userId="S::khairina.herind@cimory.com::4d43d73c-e798-43a5-943d-306385f9cfe3" providerId="AD" clId="Web-{3936AF47-CBF9-F52C-2494-B976D87B333A}" dt="2026-08-16T21:18:08.987" v="5113"/>
          <ac:spMkLst>
            <pc:docMk/>
            <pc:sldMk cId="3952925451" sldId="2146851431"/>
            <ac:spMk id="6" creationId="{898FDFB5-4CB8-314A-0A15-0B5DE70BF77C}"/>
          </ac:spMkLst>
        </pc:spChg>
        <pc:spChg chg="add mod">
          <ac:chgData name="Khairina Herind Septarini W" userId="S::khairina.herind@cimory.com::4d43d73c-e798-43a5-943d-306385f9cfe3" providerId="AD" clId="Web-{3936AF47-CBF9-F52C-2494-B976D87B333A}" dt="2026-08-16T21:19:34.850" v="5145" actId="1076"/>
          <ac:spMkLst>
            <pc:docMk/>
            <pc:sldMk cId="3952925451" sldId="2146851431"/>
            <ac:spMk id="8" creationId="{C96D6C63-1492-73F8-7930-6188F72B6AC3}"/>
          </ac:spMkLst>
        </pc:spChg>
        <pc:graphicFrameChg chg="add mod modGraphic">
          <ac:chgData name="Khairina Herind Septarini W" userId="S::khairina.herind@cimory.com::4d43d73c-e798-43a5-943d-306385f9cfe3" providerId="AD" clId="Web-{3936AF47-CBF9-F52C-2494-B976D87B333A}" dt="2026-08-16T20:38:36.014" v="3248" actId="1076"/>
          <ac:graphicFrameMkLst>
            <pc:docMk/>
            <pc:sldMk cId="3952925451" sldId="2146851431"/>
            <ac:graphicFrameMk id="4" creationId="{B6CFD750-74A9-4A12-CD22-4101E12321A0}"/>
          </ac:graphicFrameMkLst>
        </pc:graphicFrameChg>
      </pc:sldChg>
      <pc:sldChg chg="addSp delSp modSp add replId">
        <pc:chgData name="Khairina Herind Septarini W" userId="S::khairina.herind@cimory.com::4d43d73c-e798-43a5-943d-306385f9cfe3" providerId="AD" clId="Web-{3936AF47-CBF9-F52C-2494-B976D87B333A}" dt="2026-08-16T21:19:40.710" v="5147"/>
        <pc:sldMkLst>
          <pc:docMk/>
          <pc:sldMk cId="1445476440" sldId="2146851432"/>
        </pc:sldMkLst>
        <pc:spChg chg="add">
          <ac:chgData name="Khairina Herind Septarini W" userId="S::khairina.herind@cimory.com::4d43d73c-e798-43a5-943d-306385f9cfe3" providerId="AD" clId="Web-{3936AF47-CBF9-F52C-2494-B976D87B333A}" dt="2026-08-16T21:18:10.128" v="5114"/>
          <ac:spMkLst>
            <pc:docMk/>
            <pc:sldMk cId="1445476440" sldId="2146851432"/>
            <ac:spMk id="8" creationId="{58293C3C-F4C3-4586-E5FC-9130198427E6}"/>
          </ac:spMkLst>
        </pc:spChg>
        <pc:spChg chg="add">
          <ac:chgData name="Khairina Herind Septarini W" userId="S::khairina.herind@cimory.com::4d43d73c-e798-43a5-943d-306385f9cfe3" providerId="AD" clId="Web-{3936AF47-CBF9-F52C-2494-B976D87B333A}" dt="2026-08-16T21:19:38.194" v="5146"/>
          <ac:spMkLst>
            <pc:docMk/>
            <pc:sldMk cId="1445476440" sldId="2146851432"/>
            <ac:spMk id="10" creationId="{79E0ADE0-101C-443B-BA4F-0AD9812070E8}"/>
          </ac:spMkLst>
        </pc:spChg>
        <pc:graphicFrameChg chg="add mod modGraphic">
          <ac:chgData name="Khairina Herind Septarini W" userId="S::khairina.herind@cimory.com::4d43d73c-e798-43a5-943d-306385f9cfe3" providerId="AD" clId="Web-{3936AF47-CBF9-F52C-2494-B976D87B333A}" dt="2026-08-16T20:39:23.188" v="3450"/>
          <ac:graphicFrameMkLst>
            <pc:docMk/>
            <pc:sldMk cId="1445476440" sldId="2146851432"/>
            <ac:graphicFrameMk id="6" creationId="{615F7B25-F1B5-2EC3-D88D-788EFE35DA18}"/>
          </ac:graphicFrameMkLst>
        </pc:graphicFrameChg>
      </pc:sldChg>
      <pc:sldChg chg="addSp delSp modSp add replId">
        <pc:chgData name="Khairina Herind Septarini W" userId="S::khairina.herind@cimory.com::4d43d73c-e798-43a5-943d-306385f9cfe3" providerId="AD" clId="Web-{3936AF47-CBF9-F52C-2494-B976D87B333A}" dt="2026-08-16T21:20:02.320" v="5156" actId="1076"/>
        <pc:sldMkLst>
          <pc:docMk/>
          <pc:sldMk cId="3086259993" sldId="2146851433"/>
        </pc:sldMkLst>
        <pc:spChg chg="add">
          <ac:chgData name="Khairina Herind Septarini W" userId="S::khairina.herind@cimory.com::4d43d73c-e798-43a5-943d-306385f9cfe3" providerId="AD" clId="Web-{3936AF47-CBF9-F52C-2494-B976D87B333A}" dt="2026-08-16T21:18:16.581" v="5117"/>
          <ac:spMkLst>
            <pc:docMk/>
            <pc:sldMk cId="3086259993" sldId="2146851433"/>
            <ac:spMk id="6" creationId="{F1DC7001-4579-FB4C-5633-7266340B083E}"/>
          </ac:spMkLst>
        </pc:spChg>
        <pc:spChg chg="add mod">
          <ac:chgData name="Khairina Herind Septarini W" userId="S::khairina.herind@cimory.com::4d43d73c-e798-43a5-943d-306385f9cfe3" providerId="AD" clId="Web-{3936AF47-CBF9-F52C-2494-B976D87B333A}" dt="2026-08-16T21:20:02.320" v="5156" actId="1076"/>
          <ac:spMkLst>
            <pc:docMk/>
            <pc:sldMk cId="3086259993" sldId="2146851433"/>
            <ac:spMk id="8" creationId="{B96E26E0-3E29-2470-F349-D7A89F1C39C3}"/>
          </ac:spMkLst>
        </pc:spChg>
        <pc:graphicFrameChg chg="add mod modGraphic">
          <ac:chgData name="Khairina Herind Septarini W" userId="S::khairina.herind@cimory.com::4d43d73c-e798-43a5-943d-306385f9cfe3" providerId="AD" clId="Web-{3936AF47-CBF9-F52C-2494-B976D87B333A}" dt="2026-08-16T20:43:57.907" v="4130"/>
          <ac:graphicFrameMkLst>
            <pc:docMk/>
            <pc:sldMk cId="3086259993" sldId="2146851433"/>
            <ac:graphicFrameMk id="4" creationId="{399BD665-4310-CCDD-FBBD-119865CF767B}"/>
          </ac:graphicFrameMkLst>
        </pc:graphicFrameChg>
      </pc:sldChg>
      <pc:sldChg chg="addSp delSp modSp add replId">
        <pc:chgData name="Khairina Herind Septarini W" userId="S::khairina.herind@cimory.com::4d43d73c-e798-43a5-943d-306385f9cfe3" providerId="AD" clId="Web-{3936AF47-CBF9-F52C-2494-B976D87B333A}" dt="2026-08-16T21:19:49.742" v="5150" actId="1076"/>
        <pc:sldMkLst>
          <pc:docMk/>
          <pc:sldMk cId="3790097384" sldId="2146851435"/>
        </pc:sldMkLst>
        <pc:spChg chg="add">
          <ac:chgData name="Khairina Herind Septarini W" userId="S::khairina.herind@cimory.com::4d43d73c-e798-43a5-943d-306385f9cfe3" providerId="AD" clId="Web-{3936AF47-CBF9-F52C-2494-B976D87B333A}" dt="2026-08-16T21:18:12.800" v="5115"/>
          <ac:spMkLst>
            <pc:docMk/>
            <pc:sldMk cId="3790097384" sldId="2146851435"/>
            <ac:spMk id="6" creationId="{DC45AB5C-CB3D-C829-F6C5-52138014B7B0}"/>
          </ac:spMkLst>
        </pc:spChg>
        <pc:spChg chg="add mod">
          <ac:chgData name="Khairina Herind Septarini W" userId="S::khairina.herind@cimory.com::4d43d73c-e798-43a5-943d-306385f9cfe3" providerId="AD" clId="Web-{3936AF47-CBF9-F52C-2494-B976D87B333A}" dt="2026-08-16T21:19:49.742" v="5150" actId="1076"/>
          <ac:spMkLst>
            <pc:docMk/>
            <pc:sldMk cId="3790097384" sldId="2146851435"/>
            <ac:spMk id="8" creationId="{310BB32E-4512-EB54-ED7E-700545E3C9D6}"/>
          </ac:spMkLst>
        </pc:spChg>
        <pc:graphicFrameChg chg="add mod modGraphic">
          <ac:chgData name="Khairina Herind Septarini W" userId="S::khairina.herind@cimory.com::4d43d73c-e798-43a5-943d-306385f9cfe3" providerId="AD" clId="Web-{3936AF47-CBF9-F52C-2494-B976D87B333A}" dt="2026-08-16T20:40:28.052" v="3641"/>
          <ac:graphicFrameMkLst>
            <pc:docMk/>
            <pc:sldMk cId="3790097384" sldId="2146851435"/>
            <ac:graphicFrameMk id="4" creationId="{90B1B378-7362-CDF2-5698-85F44D67F952}"/>
          </ac:graphicFrameMkLst>
        </pc:graphicFrameChg>
      </pc:sldChg>
      <pc:sldChg chg="addSp delSp modSp add replId">
        <pc:chgData name="Khairina Herind Septarini W" userId="S::khairina.herind@cimory.com::4d43d73c-e798-43a5-943d-306385f9cfe3" providerId="AD" clId="Web-{3936AF47-CBF9-F52C-2494-B976D87B333A}" dt="2026-08-16T21:19:55.695" v="5153" actId="1076"/>
        <pc:sldMkLst>
          <pc:docMk/>
          <pc:sldMk cId="3579810275" sldId="2146851436"/>
        </pc:sldMkLst>
        <pc:spChg chg="add">
          <ac:chgData name="Khairina Herind Septarini W" userId="S::khairina.herind@cimory.com::4d43d73c-e798-43a5-943d-306385f9cfe3" providerId="AD" clId="Web-{3936AF47-CBF9-F52C-2494-B976D87B333A}" dt="2026-08-16T21:18:14.534" v="5116"/>
          <ac:spMkLst>
            <pc:docMk/>
            <pc:sldMk cId="3579810275" sldId="2146851436"/>
            <ac:spMk id="6" creationId="{79FDE9A9-3661-6D0E-4A2D-D3BCEDB8447F}"/>
          </ac:spMkLst>
        </pc:spChg>
        <pc:spChg chg="add mod">
          <ac:chgData name="Khairina Herind Septarini W" userId="S::khairina.herind@cimory.com::4d43d73c-e798-43a5-943d-306385f9cfe3" providerId="AD" clId="Web-{3936AF47-CBF9-F52C-2494-B976D87B333A}" dt="2026-08-16T21:19:55.695" v="5153" actId="1076"/>
          <ac:spMkLst>
            <pc:docMk/>
            <pc:sldMk cId="3579810275" sldId="2146851436"/>
            <ac:spMk id="8" creationId="{23B3768B-0CCE-D7BA-A805-734683A7E0E5}"/>
          </ac:spMkLst>
        </pc:spChg>
        <pc:graphicFrameChg chg="add mod modGraphic">
          <ac:chgData name="Khairina Herind Septarini W" userId="S::khairina.herind@cimory.com::4d43d73c-e798-43a5-943d-306385f9cfe3" providerId="AD" clId="Web-{3936AF47-CBF9-F52C-2494-B976D87B333A}" dt="2026-08-16T20:41:19.554" v="3863" actId="1076"/>
          <ac:graphicFrameMkLst>
            <pc:docMk/>
            <pc:sldMk cId="3579810275" sldId="2146851436"/>
            <ac:graphicFrameMk id="4" creationId="{C69E56F1-11D8-6DEF-567A-6DF137062C7F}"/>
          </ac:graphicFrameMkLst>
        </pc:graphicFrameChg>
      </pc:sldChg>
      <pc:sldChg chg="addSp delSp modSp add replId">
        <pc:chgData name="Khairina Herind Septarini W" userId="S::khairina.herind@cimory.com::4d43d73c-e798-43a5-943d-306385f9cfe3" providerId="AD" clId="Web-{3936AF47-CBF9-F52C-2494-B976D87B333A}" dt="2026-08-16T21:20:09.805" v="5159" actId="1076"/>
        <pc:sldMkLst>
          <pc:docMk/>
          <pc:sldMk cId="2238462332" sldId="2146851437"/>
        </pc:sldMkLst>
        <pc:spChg chg="add">
          <ac:chgData name="Khairina Herind Septarini W" userId="S::khairina.herind@cimory.com::4d43d73c-e798-43a5-943d-306385f9cfe3" providerId="AD" clId="Web-{3936AF47-CBF9-F52C-2494-B976D87B333A}" dt="2026-08-16T21:18:18.534" v="5118"/>
          <ac:spMkLst>
            <pc:docMk/>
            <pc:sldMk cId="2238462332" sldId="2146851437"/>
            <ac:spMk id="6" creationId="{3F2D41A7-AE1A-C3ED-1788-69D900656B79}"/>
          </ac:spMkLst>
        </pc:spChg>
        <pc:spChg chg="add mod">
          <ac:chgData name="Khairina Herind Septarini W" userId="S::khairina.herind@cimory.com::4d43d73c-e798-43a5-943d-306385f9cfe3" providerId="AD" clId="Web-{3936AF47-CBF9-F52C-2494-B976D87B333A}" dt="2026-08-16T21:20:09.805" v="5159" actId="1076"/>
          <ac:spMkLst>
            <pc:docMk/>
            <pc:sldMk cId="2238462332" sldId="2146851437"/>
            <ac:spMk id="8" creationId="{FC5EC570-3F36-6845-1312-A3C9CAD43D13}"/>
          </ac:spMkLst>
        </pc:spChg>
        <pc:graphicFrameChg chg="add mod modGraphic">
          <ac:chgData name="Khairina Herind Septarini W" userId="S::khairina.herind@cimory.com::4d43d73c-e798-43a5-943d-306385f9cfe3" providerId="AD" clId="Web-{3936AF47-CBF9-F52C-2494-B976D87B333A}" dt="2026-08-16T20:45:29.833" v="4298"/>
          <ac:graphicFrameMkLst>
            <pc:docMk/>
            <pc:sldMk cId="2238462332" sldId="2146851437"/>
            <ac:graphicFrameMk id="4" creationId="{B59970F8-AB11-119A-85A2-890D19C1D1FE}"/>
          </ac:graphicFrameMkLst>
        </pc:graphicFrameChg>
      </pc:sldChg>
      <pc:sldChg chg="addSp delSp modSp add replId">
        <pc:chgData name="Khairina Herind Septarini W" userId="S::khairina.herind@cimory.com::4d43d73c-e798-43a5-943d-306385f9cfe3" providerId="AD" clId="Web-{3936AF47-CBF9-F52C-2494-B976D87B333A}" dt="2026-08-16T21:20:14.399" v="5161"/>
        <pc:sldMkLst>
          <pc:docMk/>
          <pc:sldMk cId="2441125881" sldId="2146851438"/>
        </pc:sldMkLst>
        <pc:spChg chg="add">
          <ac:chgData name="Khairina Herind Septarini W" userId="S::khairina.herind@cimory.com::4d43d73c-e798-43a5-943d-306385f9cfe3" providerId="AD" clId="Web-{3936AF47-CBF9-F52C-2494-B976D87B333A}" dt="2026-08-16T21:18:20.784" v="5119"/>
          <ac:spMkLst>
            <pc:docMk/>
            <pc:sldMk cId="2441125881" sldId="2146851438"/>
            <ac:spMk id="6" creationId="{B08A1C1A-A625-CFC3-4CDF-76D1DE752568}"/>
          </ac:spMkLst>
        </pc:spChg>
        <pc:spChg chg="add">
          <ac:chgData name="Khairina Herind Septarini W" userId="S::khairina.herind@cimory.com::4d43d73c-e798-43a5-943d-306385f9cfe3" providerId="AD" clId="Web-{3936AF47-CBF9-F52C-2494-B976D87B333A}" dt="2026-08-16T21:20:14.399" v="5161"/>
          <ac:spMkLst>
            <pc:docMk/>
            <pc:sldMk cId="2441125881" sldId="2146851438"/>
            <ac:spMk id="8" creationId="{8D7E4112-61A7-1C24-DF36-2FE736E4AEB0}"/>
          </ac:spMkLst>
        </pc:spChg>
        <pc:graphicFrameChg chg="add mod modGraphic">
          <ac:chgData name="Khairina Herind Septarini W" userId="S::khairina.herind@cimory.com::4d43d73c-e798-43a5-943d-306385f9cfe3" providerId="AD" clId="Web-{3936AF47-CBF9-F52C-2494-B976D87B333A}" dt="2026-08-16T20:46:23.445" v="4509"/>
          <ac:graphicFrameMkLst>
            <pc:docMk/>
            <pc:sldMk cId="2441125881" sldId="2146851438"/>
            <ac:graphicFrameMk id="4" creationId="{D2E7710D-3961-7BE1-A191-737B5A8EC661}"/>
          </ac:graphicFrameMkLst>
        </pc:graphicFrameChg>
      </pc:sldChg>
      <pc:sldChg chg="addSp delSp modSp add replId">
        <pc:chgData name="Khairina Herind Septarini W" userId="S::khairina.herind@cimory.com::4d43d73c-e798-43a5-943d-306385f9cfe3" providerId="AD" clId="Web-{3936AF47-CBF9-F52C-2494-B976D87B333A}" dt="2026-08-16T21:20:34.697" v="5168"/>
        <pc:sldMkLst>
          <pc:docMk/>
          <pc:sldMk cId="733060428" sldId="2146851439"/>
        </pc:sldMkLst>
        <pc:spChg chg="add">
          <ac:chgData name="Khairina Herind Septarini W" userId="S::khairina.herind@cimory.com::4d43d73c-e798-43a5-943d-306385f9cfe3" providerId="AD" clId="Web-{3936AF47-CBF9-F52C-2494-B976D87B333A}" dt="2026-08-16T21:18:27.441" v="5122"/>
          <ac:spMkLst>
            <pc:docMk/>
            <pc:sldMk cId="733060428" sldId="2146851439"/>
            <ac:spMk id="7" creationId="{2BCCC74D-5F85-28D2-4E2F-449940601604}"/>
          </ac:spMkLst>
        </pc:spChg>
        <pc:spChg chg="add">
          <ac:chgData name="Khairina Herind Septarini W" userId="S::khairina.herind@cimory.com::4d43d73c-e798-43a5-943d-306385f9cfe3" providerId="AD" clId="Web-{3936AF47-CBF9-F52C-2494-B976D87B333A}" dt="2026-08-16T21:20:34.697" v="5168"/>
          <ac:spMkLst>
            <pc:docMk/>
            <pc:sldMk cId="733060428" sldId="2146851439"/>
            <ac:spMk id="9" creationId="{FC7E9940-0017-992D-1DD4-52CC0489B3B3}"/>
          </ac:spMkLst>
        </pc:spChg>
        <pc:graphicFrameChg chg="add mod modGraphic">
          <ac:chgData name="Khairina Herind Septarini W" userId="S::khairina.herind@cimory.com::4d43d73c-e798-43a5-943d-306385f9cfe3" providerId="AD" clId="Web-{3936AF47-CBF9-F52C-2494-B976D87B333A}" dt="2026-08-16T20:49:43.834" v="5010" actId="1076"/>
          <ac:graphicFrameMkLst>
            <pc:docMk/>
            <pc:sldMk cId="733060428" sldId="2146851439"/>
            <ac:graphicFrameMk id="4" creationId="{3364CDA6-E98E-382E-FA32-564BF272D055}"/>
          </ac:graphicFrameMkLst>
        </pc:graphicFrameChg>
      </pc:sldChg>
      <pc:sldChg chg="addSp delSp modSp add replId">
        <pc:chgData name="Khairina Herind Septarini W" userId="S::khairina.herind@cimory.com::4d43d73c-e798-43a5-943d-306385f9cfe3" providerId="AD" clId="Web-{3936AF47-CBF9-F52C-2494-B976D87B333A}" dt="2026-08-16T21:20:21.493" v="5163"/>
        <pc:sldMkLst>
          <pc:docMk/>
          <pc:sldMk cId="3036782469" sldId="2146851440"/>
        </pc:sldMkLst>
        <pc:spChg chg="add">
          <ac:chgData name="Khairina Herind Septarini W" userId="S::khairina.herind@cimory.com::4d43d73c-e798-43a5-943d-306385f9cfe3" providerId="AD" clId="Web-{3936AF47-CBF9-F52C-2494-B976D87B333A}" dt="2026-08-16T21:18:22.566" v="5120"/>
          <ac:spMkLst>
            <pc:docMk/>
            <pc:sldMk cId="3036782469" sldId="2146851440"/>
            <ac:spMk id="6" creationId="{3D871442-BAE7-5DA4-5CB9-AC90C24B6E66}"/>
          </ac:spMkLst>
        </pc:spChg>
        <pc:spChg chg="add">
          <ac:chgData name="Khairina Herind Septarini W" userId="S::khairina.herind@cimory.com::4d43d73c-e798-43a5-943d-306385f9cfe3" providerId="AD" clId="Web-{3936AF47-CBF9-F52C-2494-B976D87B333A}" dt="2026-08-16T21:20:21.493" v="5163"/>
          <ac:spMkLst>
            <pc:docMk/>
            <pc:sldMk cId="3036782469" sldId="2146851440"/>
            <ac:spMk id="8" creationId="{E0D81CBF-BEF9-853C-904C-29DA5714BBC1}"/>
          </ac:spMkLst>
        </pc:spChg>
        <pc:graphicFrameChg chg="add mod modGraphic">
          <ac:chgData name="Khairina Herind Septarini W" userId="S::khairina.herind@cimory.com::4d43d73c-e798-43a5-943d-306385f9cfe3" providerId="AD" clId="Web-{3936AF47-CBF9-F52C-2494-B976D87B333A}" dt="2026-08-16T20:47:00.306" v="4668" actId="1076"/>
          <ac:graphicFrameMkLst>
            <pc:docMk/>
            <pc:sldMk cId="3036782469" sldId="2146851440"/>
            <ac:graphicFrameMk id="4" creationId="{5581CC0B-33A5-8A92-11C9-E8AC44644853}"/>
          </ac:graphicFrameMkLst>
        </pc:graphicFrameChg>
      </pc:sldChg>
      <pc:sldChg chg="addSp delSp modSp add replId">
        <pc:chgData name="Khairina Herind Septarini W" userId="S::khairina.herind@cimory.com::4d43d73c-e798-43a5-943d-306385f9cfe3" providerId="AD" clId="Web-{3936AF47-CBF9-F52C-2494-B976D87B333A}" dt="2026-08-16T21:20:31.493" v="5166" actId="1076"/>
        <pc:sldMkLst>
          <pc:docMk/>
          <pc:sldMk cId="3533695059" sldId="2146851441"/>
        </pc:sldMkLst>
        <pc:spChg chg="add">
          <ac:chgData name="Khairina Herind Septarini W" userId="S::khairina.herind@cimory.com::4d43d73c-e798-43a5-943d-306385f9cfe3" providerId="AD" clId="Web-{3936AF47-CBF9-F52C-2494-B976D87B333A}" dt="2026-08-16T21:18:23.488" v="5121"/>
          <ac:spMkLst>
            <pc:docMk/>
            <pc:sldMk cId="3533695059" sldId="2146851441"/>
            <ac:spMk id="6" creationId="{2D27D93C-6284-2556-6E3B-41B3D7BDAAFB}"/>
          </ac:spMkLst>
        </pc:spChg>
        <pc:spChg chg="add mod">
          <ac:chgData name="Khairina Herind Septarini W" userId="S::khairina.herind@cimory.com::4d43d73c-e798-43a5-943d-306385f9cfe3" providerId="AD" clId="Web-{3936AF47-CBF9-F52C-2494-B976D87B333A}" dt="2026-08-16T21:20:31.493" v="5166" actId="1076"/>
          <ac:spMkLst>
            <pc:docMk/>
            <pc:sldMk cId="3533695059" sldId="2146851441"/>
            <ac:spMk id="8" creationId="{511D022F-478A-169F-1CF5-49CC253BD3C1}"/>
          </ac:spMkLst>
        </pc:spChg>
        <pc:graphicFrameChg chg="add mod modGraphic">
          <ac:chgData name="Khairina Herind Septarini W" userId="S::khairina.herind@cimory.com::4d43d73c-e798-43a5-943d-306385f9cfe3" providerId="AD" clId="Web-{3936AF47-CBF9-F52C-2494-B976D87B333A}" dt="2026-08-16T20:48:49.249" v="4888" actId="1076"/>
          <ac:graphicFrameMkLst>
            <pc:docMk/>
            <pc:sldMk cId="3533695059" sldId="2146851441"/>
            <ac:graphicFrameMk id="4" creationId="{2A6E9168-2404-B75B-6EB6-BA2E78B5D337}"/>
          </ac:graphicFrameMkLst>
        </pc:graphicFrameChg>
      </pc:sldChg>
      <pc:sldChg chg="addSp delSp modSp add replId">
        <pc:chgData name="Khairina Herind Septarini W" userId="S::khairina.herind@cimory.com::4d43d73c-e798-43a5-943d-306385f9cfe3" providerId="AD" clId="Web-{3936AF47-CBF9-F52C-2494-B976D87B333A}" dt="2026-08-16T21:17:52.471" v="5105" actId="20577"/>
        <pc:sldMkLst>
          <pc:docMk/>
          <pc:sldMk cId="1680815139" sldId="2146851442"/>
        </pc:sldMkLst>
        <pc:spChg chg="add">
          <ac:chgData name="Khairina Herind Septarini W" userId="S::khairina.herind@cimory.com::4d43d73c-e798-43a5-943d-306385f9cfe3" providerId="AD" clId="Web-{3936AF47-CBF9-F52C-2494-B976D87B333A}" dt="2026-08-16T21:06:04.721" v="5101"/>
          <ac:spMkLst>
            <pc:docMk/>
            <pc:sldMk cId="1680815139" sldId="2146851442"/>
            <ac:spMk id="5" creationId="{FBC0EB57-9474-FBC4-B09F-6BFB907AEA30}"/>
          </ac:spMkLst>
        </pc:spChg>
        <pc:spChg chg="add mod">
          <ac:chgData name="Khairina Herind Septarini W" userId="S::khairina.herind@cimory.com::4d43d73c-e798-43a5-943d-306385f9cfe3" providerId="AD" clId="Web-{3936AF47-CBF9-F52C-2494-B976D87B333A}" dt="2026-08-16T21:17:52.471" v="5105" actId="20577"/>
          <ac:spMkLst>
            <pc:docMk/>
            <pc:sldMk cId="1680815139" sldId="2146851442"/>
            <ac:spMk id="7" creationId="{94DD7CEC-C1EC-2577-A6E1-21F1CA3599B3}"/>
          </ac:spMkLst>
        </pc:spChg>
        <pc:graphicFrameChg chg="mod modGraphic">
          <ac:chgData name="Khairina Herind Septarini W" userId="S::khairina.herind@cimory.com::4d43d73c-e798-43a5-943d-306385f9cfe3" providerId="AD" clId="Web-{3936AF47-CBF9-F52C-2494-B976D87B333A}" dt="2026-08-16T20:09:55.667" v="2102"/>
          <ac:graphicFrameMkLst>
            <pc:docMk/>
            <pc:sldMk cId="1680815139" sldId="2146851442"/>
            <ac:graphicFrameMk id="4" creationId="{6A6156D4-843A-7236-A684-B0581535A1C6}"/>
          </ac:graphicFrameMkLst>
        </pc:graphicFrameChg>
      </pc:sldChg>
      <pc:sldChg chg="modSp add replId">
        <pc:chgData name="Khairina Herind Septarini W" userId="S::khairina.herind@cimory.com::4d43d73c-e798-43a5-943d-306385f9cfe3" providerId="AD" clId="Web-{3936AF47-CBF9-F52C-2494-B976D87B333A}" dt="2026-08-16T20:55:43.443" v="5065"/>
        <pc:sldMkLst>
          <pc:docMk/>
          <pc:sldMk cId="678594577" sldId="2146851443"/>
        </pc:sldMkLst>
        <pc:graphicFrameChg chg="mod modGraphic">
          <ac:chgData name="Khairina Herind Septarini W" userId="S::khairina.herind@cimory.com::4d43d73c-e798-43a5-943d-306385f9cfe3" providerId="AD" clId="Web-{3936AF47-CBF9-F52C-2494-B976D87B333A}" dt="2026-08-16T20:55:43.443" v="5065"/>
          <ac:graphicFrameMkLst>
            <pc:docMk/>
            <pc:sldMk cId="678594577" sldId="2146851443"/>
            <ac:graphicFrameMk id="7" creationId="{F3653458-B05B-47AB-27EF-8C9793BB2454}"/>
          </ac:graphicFrameMkLst>
        </pc:graphicFrameChg>
      </pc:sldChg>
    </pc:docChg>
  </pc:docChgLst>
  <pc:docChgLst>
    <pc:chgData name="Desi Armanda Sari" userId="S::desi.armanda@cimory.com::09767da1-9849-4ce7-a32e-b30664c451cf" providerId="AD" clId="Web-{C7CA78FE-7A9A-B988-62C7-681A678FE9EB}"/>
    <pc:docChg chg="modSld">
      <pc:chgData name="Desi Armanda Sari" userId="S::desi.armanda@cimory.com::09767da1-9849-4ce7-a32e-b30664c451cf" providerId="AD" clId="Web-{C7CA78FE-7A9A-B988-62C7-681A678FE9EB}" dt="2026-08-03T01:25:33.287" v="56"/>
      <pc:docMkLst>
        <pc:docMk/>
      </pc:docMkLst>
      <pc:sldChg chg="addSp delSp modSp">
        <pc:chgData name="Desi Armanda Sari" userId="S::desi.armanda@cimory.com::09767da1-9849-4ce7-a32e-b30664c451cf" providerId="AD" clId="Web-{C7CA78FE-7A9A-B988-62C7-681A678FE9EB}" dt="2026-08-03T01:25:33.287" v="56"/>
        <pc:sldMkLst>
          <pc:docMk/>
          <pc:sldMk cId="536663561" sldId="2146851293"/>
        </pc:sldMkLst>
        <pc:spChg chg="mod">
          <ac:chgData name="Desi Armanda Sari" userId="S::desi.armanda@cimory.com::09767da1-9849-4ce7-a32e-b30664c451cf" providerId="AD" clId="Web-{C7CA78FE-7A9A-B988-62C7-681A678FE9EB}" dt="2026-08-03T01:12:20.741" v="1" actId="20577"/>
          <ac:spMkLst>
            <pc:docMk/>
            <pc:sldMk cId="536663561" sldId="2146851293"/>
            <ac:spMk id="2" creationId="{E12512C6-BAE0-2CD8-C99E-A6E0F96B092F}"/>
          </ac:spMkLst>
        </pc:spChg>
      </pc:sldChg>
    </pc:docChg>
  </pc:docChgLst>
  <pc:docChgLst>
    <pc:chgData name="Pauline Immanuel Supardi" userId="S::pauline.immanuel@cimory.com::6bddf53c-48c8-4584-85ce-fadb73123699" providerId="AD" clId="Web-{0F20AC3A-48C6-3771-0963-E094EA698EBF}"/>
    <pc:docChg chg="modSld">
      <pc:chgData name="Pauline Immanuel Supardi" userId="S::pauline.immanuel@cimory.com::6bddf53c-48c8-4584-85ce-fadb73123699" providerId="AD" clId="Web-{0F20AC3A-48C6-3771-0963-E094EA698EBF}" dt="2026-07-25T14:13:14.082" v="3"/>
      <pc:docMkLst>
        <pc:docMk/>
      </pc:docMkLst>
    </pc:docChg>
  </pc:docChgLst>
  <pc:docChgLst>
    <pc:chgData name="Desi Armanda Sari" userId="09767da1-9849-4ce7-a32e-b30664c451cf" providerId="ADAL" clId="{753EB39C-633D-451A-9AA4-B239DC3E9426}"/>
    <pc:docChg chg="undo redo custSel addSld delSld modSld">
      <pc:chgData name="Desi Armanda Sari" userId="09767da1-9849-4ce7-a32e-b30664c451cf" providerId="ADAL" clId="{753EB39C-633D-451A-9AA4-B239DC3E9426}" dt="2026-08-17T18:46:22.965" v="25976" actId="20577"/>
      <pc:docMkLst>
        <pc:docMk/>
      </pc:docMkLst>
      <pc:sldChg chg="modSp mod">
        <pc:chgData name="Desi Armanda Sari" userId="09767da1-9849-4ce7-a32e-b30664c451cf" providerId="ADAL" clId="{753EB39C-633D-451A-9AA4-B239DC3E9426}" dt="2026-08-09T12:33:13.406" v="18155" actId="1036"/>
        <pc:sldMkLst>
          <pc:docMk/>
          <pc:sldMk cId="0" sldId="2146849437"/>
        </pc:sldMkLst>
        <pc:spChg chg="mod">
          <ac:chgData name="Desi Armanda Sari" userId="09767da1-9849-4ce7-a32e-b30664c451cf" providerId="ADAL" clId="{753EB39C-633D-451A-9AA4-B239DC3E9426}" dt="2026-08-09T12:33:13.406" v="18155" actId="1036"/>
          <ac:spMkLst>
            <pc:docMk/>
            <pc:sldMk cId="0" sldId="2146849437"/>
            <ac:spMk id="4" creationId="{00000000-0000-0000-0000-000000000000}"/>
          </ac:spMkLst>
        </pc:spChg>
      </pc:sldChg>
      <pc:sldChg chg="addSp delSp modSp add del mod">
        <pc:chgData name="Desi Armanda Sari" userId="09767da1-9849-4ce7-a32e-b30664c451cf" providerId="ADAL" clId="{753EB39C-633D-451A-9AA4-B239DC3E9426}" dt="2026-08-17T18:45:54.540" v="25954" actId="20577"/>
        <pc:sldMkLst>
          <pc:docMk/>
          <pc:sldMk cId="2367542049" sldId="2146851242"/>
        </pc:sldMkLst>
        <pc:spChg chg="mod">
          <ac:chgData name="Desi Armanda Sari" userId="09767da1-9849-4ce7-a32e-b30664c451cf" providerId="ADAL" clId="{753EB39C-633D-451A-9AA4-B239DC3E9426}" dt="2026-08-17T18:45:54.540" v="25954" actId="20577"/>
          <ac:spMkLst>
            <pc:docMk/>
            <pc:sldMk cId="2367542049" sldId="2146851242"/>
            <ac:spMk id="48" creationId="{3CBDBEA0-CDC2-D202-399B-0DD47323B25A}"/>
          </ac:spMkLst>
        </pc:spChg>
        <pc:spChg chg="mod">
          <ac:chgData name="Desi Armanda Sari" userId="09767da1-9849-4ce7-a32e-b30664c451cf" providerId="ADAL" clId="{753EB39C-633D-451A-9AA4-B239DC3E9426}" dt="2026-08-17T18:45:51.590" v="25952" actId="20577"/>
          <ac:spMkLst>
            <pc:docMk/>
            <pc:sldMk cId="2367542049" sldId="2146851242"/>
            <ac:spMk id="57" creationId="{987A8479-406E-B900-9996-F772D3F46F5F}"/>
          </ac:spMkLst>
        </pc:spChg>
        <pc:graphicFrameChg chg="add mod">
          <ac:chgData name="Desi Armanda Sari" userId="09767da1-9849-4ce7-a32e-b30664c451cf" providerId="ADAL" clId="{753EB39C-633D-451A-9AA4-B239DC3E9426}" dt="2026-08-17T10:12:14.303" v="22189" actId="1076"/>
          <ac:graphicFrameMkLst>
            <pc:docMk/>
            <pc:sldMk cId="2367542049" sldId="2146851242"/>
            <ac:graphicFrameMk id="3" creationId="{D27550C3-D6BE-4F13-8F94-4B714FFE92B1}"/>
          </ac:graphicFrameMkLst>
        </pc:graphicFrameChg>
        <pc:graphicFrameChg chg="del">
          <ac:chgData name="Desi Armanda Sari" userId="09767da1-9849-4ce7-a32e-b30664c451cf" providerId="ADAL" clId="{753EB39C-633D-451A-9AA4-B239DC3E9426}" dt="2026-08-17T10:11:36.451" v="22186" actId="478"/>
          <ac:graphicFrameMkLst>
            <pc:docMk/>
            <pc:sldMk cId="2367542049" sldId="2146851242"/>
            <ac:graphicFrameMk id="5" creationId="{F7CA9ADD-245B-B872-273F-A14F0A713602}"/>
          </ac:graphicFrameMkLst>
        </pc:graphicFrameChg>
      </pc:sldChg>
      <pc:sldChg chg="delSp modSp add del mod">
        <pc:chgData name="Desi Armanda Sari" userId="09767da1-9849-4ce7-a32e-b30664c451cf" providerId="ADAL" clId="{753EB39C-633D-451A-9AA4-B239DC3E9426}" dt="2026-08-17T18:46:22.965" v="25976" actId="20577"/>
        <pc:sldMkLst>
          <pc:docMk/>
          <pc:sldMk cId="3070779609" sldId="2146851266"/>
        </pc:sldMkLst>
        <pc:spChg chg="mod">
          <ac:chgData name="Desi Armanda Sari" userId="09767da1-9849-4ce7-a32e-b30664c451cf" providerId="ADAL" clId="{753EB39C-633D-451A-9AA4-B239DC3E9426}" dt="2026-08-17T18:46:16.200" v="25968" actId="20577"/>
          <ac:spMkLst>
            <pc:docMk/>
            <pc:sldMk cId="3070779609" sldId="2146851266"/>
            <ac:spMk id="48" creationId="{BF844A6B-64D0-4494-F5FD-E80DFA438EEC}"/>
          </ac:spMkLst>
        </pc:spChg>
        <pc:spChg chg="mod">
          <ac:chgData name="Desi Armanda Sari" userId="09767da1-9849-4ce7-a32e-b30664c451cf" providerId="ADAL" clId="{753EB39C-633D-451A-9AA4-B239DC3E9426}" dt="2026-08-17T18:46:22.965" v="25976" actId="20577"/>
          <ac:spMkLst>
            <pc:docMk/>
            <pc:sldMk cId="3070779609" sldId="2146851266"/>
            <ac:spMk id="56" creationId="{C83D8EC1-FEE8-F679-A7B8-BBD399B7BB71}"/>
          </ac:spMkLst>
        </pc:spChg>
      </pc:sldChg>
      <pc:sldChg chg="addSp delSp modSp add del mod">
        <pc:chgData name="Desi Armanda Sari" userId="09767da1-9849-4ce7-a32e-b30664c451cf" providerId="ADAL" clId="{753EB39C-633D-451A-9AA4-B239DC3E9426}" dt="2026-08-17T18:43:40.881" v="25933" actId="167"/>
        <pc:sldMkLst>
          <pc:docMk/>
          <pc:sldMk cId="3807510711" sldId="2146851290"/>
        </pc:sldMkLst>
        <pc:spChg chg="mod">
          <ac:chgData name="Desi Armanda Sari" userId="09767da1-9849-4ce7-a32e-b30664c451cf" providerId="ADAL" clId="{753EB39C-633D-451A-9AA4-B239DC3E9426}" dt="2026-08-17T18:42:55.247" v="25892" actId="139"/>
          <ac:spMkLst>
            <pc:docMk/>
            <pc:sldMk cId="3807510711" sldId="2146851290"/>
            <ac:spMk id="8" creationId="{FADEE565-60B7-287B-04B0-A7AFDBDE90B2}"/>
          </ac:spMkLst>
        </pc:spChg>
        <pc:spChg chg="mod">
          <ac:chgData name="Desi Armanda Sari" userId="09767da1-9849-4ce7-a32e-b30664c451cf" providerId="ADAL" clId="{753EB39C-633D-451A-9AA4-B239DC3E9426}" dt="2026-08-17T18:42:55.356" v="25895" actId="139"/>
          <ac:spMkLst>
            <pc:docMk/>
            <pc:sldMk cId="3807510711" sldId="2146851290"/>
            <ac:spMk id="11" creationId="{747BB4F0-E31F-DC52-2380-65F5AB8D5005}"/>
          </ac:spMkLst>
        </pc:spChg>
        <pc:spChg chg="mod">
          <ac:chgData name="Desi Armanda Sari" userId="09767da1-9849-4ce7-a32e-b30664c451cf" providerId="ADAL" clId="{753EB39C-633D-451A-9AA4-B239DC3E9426}" dt="2026-08-17T18:42:55.463" v="25898" actId="139"/>
          <ac:spMkLst>
            <pc:docMk/>
            <pc:sldMk cId="3807510711" sldId="2146851290"/>
            <ac:spMk id="14" creationId="{64E3B3E4-2513-D6A3-3B69-6384BEFC6517}"/>
          </ac:spMkLst>
        </pc:spChg>
        <pc:spChg chg="mod">
          <ac:chgData name="Desi Armanda Sari" userId="09767da1-9849-4ce7-a32e-b30664c451cf" providerId="ADAL" clId="{753EB39C-633D-451A-9AA4-B239DC3E9426}" dt="2026-08-17T18:42:55.572" v="25901" actId="139"/>
          <ac:spMkLst>
            <pc:docMk/>
            <pc:sldMk cId="3807510711" sldId="2146851290"/>
            <ac:spMk id="17" creationId="{C350D839-1CE2-2442-FAEC-5DEFE638F0DB}"/>
          </ac:spMkLst>
        </pc:spChg>
        <pc:spChg chg="mod">
          <ac:chgData name="Desi Armanda Sari" userId="09767da1-9849-4ce7-a32e-b30664c451cf" providerId="ADAL" clId="{753EB39C-633D-451A-9AA4-B239DC3E9426}" dt="2026-08-17T18:42:55.683" v="25904" actId="139"/>
          <ac:spMkLst>
            <pc:docMk/>
            <pc:sldMk cId="3807510711" sldId="2146851290"/>
            <ac:spMk id="20" creationId="{7D2122B2-BD8D-9254-A3D7-8E03CD4CF18F}"/>
          </ac:spMkLst>
        </pc:spChg>
        <pc:spChg chg="mod">
          <ac:chgData name="Desi Armanda Sari" userId="09767da1-9849-4ce7-a32e-b30664c451cf" providerId="ADAL" clId="{753EB39C-633D-451A-9AA4-B239DC3E9426}" dt="2026-07-24T17:41:20.368" v="2128" actId="20577"/>
          <ac:spMkLst>
            <pc:docMk/>
            <pc:sldMk cId="3807510711" sldId="2146851290"/>
            <ac:spMk id="23" creationId="{65234EAB-6CAA-31A5-78FC-D2F9D994C703}"/>
          </ac:spMkLst>
        </pc:spChg>
        <pc:spChg chg="mod">
          <ac:chgData name="Desi Armanda Sari" userId="09767da1-9849-4ce7-a32e-b30664c451cf" providerId="ADAL" clId="{753EB39C-633D-451A-9AA4-B239DC3E9426}" dt="2026-08-08T07:52:15.591" v="15460" actId="20577"/>
          <ac:spMkLst>
            <pc:docMk/>
            <pc:sldMk cId="3807510711" sldId="2146851290"/>
            <ac:spMk id="30" creationId="{51042570-E0F5-C9A4-0DEB-A2EE0224F95D}"/>
          </ac:spMkLst>
        </pc:spChg>
        <pc:spChg chg="mod">
          <ac:chgData name="Desi Armanda Sari" userId="09767da1-9849-4ce7-a32e-b30664c451cf" providerId="ADAL" clId="{753EB39C-633D-451A-9AA4-B239DC3E9426}" dt="2026-08-08T07:51:58.829" v="15457" actId="20577"/>
          <ac:spMkLst>
            <pc:docMk/>
            <pc:sldMk cId="3807510711" sldId="2146851290"/>
            <ac:spMk id="32" creationId="{ADE525F8-28E6-5119-33EF-2AA0C4A0E287}"/>
          </ac:spMkLst>
        </pc:spChg>
        <pc:spChg chg="add mod">
          <ac:chgData name="Desi Armanda Sari" userId="09767da1-9849-4ce7-a32e-b30664c451cf" providerId="ADAL" clId="{753EB39C-633D-451A-9AA4-B239DC3E9426}" dt="2026-08-12T08:21:03.227" v="19177" actId="139"/>
          <ac:spMkLst>
            <pc:docMk/>
            <pc:sldMk cId="3807510711" sldId="2146851290"/>
            <ac:spMk id="33" creationId="{24E5C78E-A6D8-5568-EDDD-81B28BB44550}"/>
          </ac:spMkLst>
        </pc:spChg>
        <pc:spChg chg="mod">
          <ac:chgData name="Desi Armanda Sari" userId="09767da1-9849-4ce7-a32e-b30664c451cf" providerId="ADAL" clId="{753EB39C-633D-451A-9AA4-B239DC3E9426}" dt="2026-08-03T08:03:59.733" v="7915" actId="20577"/>
          <ac:spMkLst>
            <pc:docMk/>
            <pc:sldMk cId="3807510711" sldId="2146851290"/>
            <ac:spMk id="35" creationId="{59554AB7-E3B5-4B3E-8F76-8F53623F0748}"/>
          </ac:spMkLst>
        </pc:spChg>
        <pc:spChg chg="add mod">
          <ac:chgData name="Desi Armanda Sari" userId="09767da1-9849-4ce7-a32e-b30664c451cf" providerId="ADAL" clId="{753EB39C-633D-451A-9AA4-B239DC3E9426}" dt="2026-08-12T08:21:03.333" v="19180" actId="139"/>
          <ac:spMkLst>
            <pc:docMk/>
            <pc:sldMk cId="3807510711" sldId="2146851290"/>
            <ac:spMk id="36" creationId="{D9AE01D8-5E03-FF8C-7F70-2F75E2DCAB36}"/>
          </ac:spMkLst>
        </pc:spChg>
        <pc:spChg chg="add mod">
          <ac:chgData name="Desi Armanda Sari" userId="09767da1-9849-4ce7-a32e-b30664c451cf" providerId="ADAL" clId="{753EB39C-633D-451A-9AA4-B239DC3E9426}" dt="2026-08-12T08:21:03.455" v="19183" actId="139"/>
          <ac:spMkLst>
            <pc:docMk/>
            <pc:sldMk cId="3807510711" sldId="2146851290"/>
            <ac:spMk id="38" creationId="{8D7B7A0C-AA4E-0952-BF61-64D1D481DA4C}"/>
          </ac:spMkLst>
        </pc:spChg>
        <pc:spChg chg="add del mod">
          <ac:chgData name="Desi Armanda Sari" userId="09767da1-9849-4ce7-a32e-b30664c451cf" providerId="ADAL" clId="{753EB39C-633D-451A-9AA4-B239DC3E9426}" dt="2026-08-12T08:21:03.564" v="19186" actId="139"/>
          <ac:spMkLst>
            <pc:docMk/>
            <pc:sldMk cId="3807510711" sldId="2146851290"/>
            <ac:spMk id="40" creationId="{261F2A27-CF9B-F03D-F941-B5C9502A5D85}"/>
          </ac:spMkLst>
        </pc:spChg>
        <pc:picChg chg="add del mod ord">
          <ac:chgData name="Desi Armanda Sari" userId="09767da1-9849-4ce7-a32e-b30664c451cf" providerId="ADAL" clId="{753EB39C-633D-451A-9AA4-B239DC3E9426}" dt="2026-08-17T18:42:55.889" v="25908"/>
          <ac:picMkLst>
            <pc:docMk/>
            <pc:sldMk cId="3807510711" sldId="2146851290"/>
            <ac:picMk id="5" creationId="{11D14727-8A46-4DD3-E741-F29F4B103B5E}"/>
          </ac:picMkLst>
        </pc:picChg>
        <pc:picChg chg="add del mod ord">
          <ac:chgData name="Desi Armanda Sari" userId="09767da1-9849-4ce7-a32e-b30664c451cf" providerId="ADAL" clId="{753EB39C-633D-451A-9AA4-B239DC3E9426}" dt="2026-08-17T09:18:10.904" v="21944"/>
          <ac:picMkLst>
            <pc:docMk/>
            <pc:sldMk cId="3807510711" sldId="2146851290"/>
            <ac:picMk id="5" creationId="{A9405555-AF44-EC9B-62DA-6FD4789B981E}"/>
          </ac:picMkLst>
        </pc:picChg>
        <pc:picChg chg="add del mod ord">
          <ac:chgData name="Desi Armanda Sari" userId="09767da1-9849-4ce7-a32e-b30664c451cf" providerId="ADAL" clId="{753EB39C-633D-451A-9AA4-B239DC3E9426}" dt="2026-08-17T18:27:40.241" v="24080"/>
          <ac:picMkLst>
            <pc:docMk/>
            <pc:sldMk cId="3807510711" sldId="2146851290"/>
            <ac:picMk id="5" creationId="{BC5D163F-8A7A-8B6B-2DC4-2068863D8202}"/>
          </ac:picMkLst>
        </pc:picChg>
        <pc:picChg chg="add mod ord">
          <ac:chgData name="Desi Armanda Sari" userId="09767da1-9849-4ce7-a32e-b30664c451cf" providerId="ADAL" clId="{753EB39C-633D-451A-9AA4-B239DC3E9426}" dt="2026-08-17T18:43:40.881" v="25933" actId="167"/>
          <ac:picMkLst>
            <pc:docMk/>
            <pc:sldMk cId="3807510711" sldId="2146851290"/>
            <ac:picMk id="25" creationId="{B7C204BF-AC9F-AF29-0DA0-2799BA02F2D6}"/>
          </ac:picMkLst>
        </pc:picChg>
        <pc:picChg chg="add del mod">
          <ac:chgData name="Desi Armanda Sari" userId="09767da1-9849-4ce7-a32e-b30664c451cf" providerId="ADAL" clId="{753EB39C-633D-451A-9AA4-B239DC3E9426}" dt="2026-08-17T07:18:57.460" v="21014"/>
          <ac:picMkLst>
            <pc:docMk/>
            <pc:sldMk cId="3807510711" sldId="2146851290"/>
            <ac:picMk id="25" creationId="{C8EFE11B-072A-FAC2-9DAE-6944162A2E50}"/>
          </ac:picMkLst>
        </pc:picChg>
        <pc:picChg chg="add del mod ord">
          <ac:chgData name="Desi Armanda Sari" userId="09767da1-9849-4ce7-a32e-b30664c451cf" providerId="ADAL" clId="{753EB39C-633D-451A-9AA4-B239DC3E9426}" dt="2026-08-17T18:37:22.549" v="24994"/>
          <ac:picMkLst>
            <pc:docMk/>
            <pc:sldMk cId="3807510711" sldId="2146851290"/>
            <ac:picMk id="25" creationId="{D91C9D90-1E15-2D27-6451-3A2E0854E8C6}"/>
          </ac:picMkLst>
        </pc:picChg>
        <pc:picChg chg="add del mod ord">
          <ac:chgData name="Desi Armanda Sari" userId="09767da1-9849-4ce7-a32e-b30664c451cf" providerId="ADAL" clId="{753EB39C-633D-451A-9AA4-B239DC3E9426}" dt="2026-08-17T18:10:45" v="23164"/>
          <ac:picMkLst>
            <pc:docMk/>
            <pc:sldMk cId="3807510711" sldId="2146851290"/>
            <ac:picMk id="27" creationId="{C2344DD6-0E1B-07E5-8A73-B040DF057969}"/>
          </ac:picMkLst>
        </pc:picChg>
      </pc:sldChg>
      <pc:sldChg chg="addSp delSp modSp add del mod">
        <pc:chgData name="Desi Armanda Sari" userId="09767da1-9849-4ce7-a32e-b30664c451cf" providerId="ADAL" clId="{753EB39C-633D-451A-9AA4-B239DC3E9426}" dt="2026-08-17T07:21:35.333" v="21042" actId="962"/>
        <pc:sldMkLst>
          <pc:docMk/>
          <pc:sldMk cId="2675354894" sldId="2146851291"/>
        </pc:sldMkLst>
        <pc:spChg chg="mod">
          <ac:chgData name="Desi Armanda Sari" userId="09767da1-9849-4ce7-a32e-b30664c451cf" providerId="ADAL" clId="{753EB39C-633D-451A-9AA4-B239DC3E9426}" dt="2026-08-17T07:20:23.264" v="21037" actId="962"/>
          <ac:spMkLst>
            <pc:docMk/>
            <pc:sldMk cId="2675354894" sldId="2146851291"/>
            <ac:spMk id="9" creationId="{D510F79E-FCAB-BC16-A232-46EBD481E861}"/>
          </ac:spMkLst>
        </pc:spChg>
        <pc:spChg chg="mod">
          <ac:chgData name="Desi Armanda Sari" userId="09767da1-9849-4ce7-a32e-b30664c451cf" providerId="ADAL" clId="{753EB39C-633D-451A-9AA4-B239DC3E9426}" dt="2026-08-17T07:20:40.203" v="21038" actId="962"/>
          <ac:spMkLst>
            <pc:docMk/>
            <pc:sldMk cId="2675354894" sldId="2146851291"/>
            <ac:spMk id="21" creationId="{4D22909E-29BE-3BD8-4818-53431FCF289A}"/>
          </ac:spMkLst>
        </pc:spChg>
        <pc:spChg chg="mod">
          <ac:chgData name="Desi Armanda Sari" userId="09767da1-9849-4ce7-a32e-b30664c451cf" providerId="ADAL" clId="{753EB39C-633D-451A-9AA4-B239DC3E9426}" dt="2026-08-17T07:20:48.938" v="21039" actId="962"/>
          <ac:spMkLst>
            <pc:docMk/>
            <pc:sldMk cId="2675354894" sldId="2146851291"/>
            <ac:spMk id="28" creationId="{869641E5-F8D2-1FFF-C86B-43C253D0BF6E}"/>
          </ac:spMkLst>
        </pc:spChg>
        <pc:spChg chg="mod">
          <ac:chgData name="Desi Armanda Sari" userId="09767da1-9849-4ce7-a32e-b30664c451cf" providerId="ADAL" clId="{753EB39C-633D-451A-9AA4-B239DC3E9426}" dt="2026-08-17T07:21:02.788" v="21040" actId="962"/>
          <ac:spMkLst>
            <pc:docMk/>
            <pc:sldMk cId="2675354894" sldId="2146851291"/>
            <ac:spMk id="34" creationId="{16B77593-5D4D-681A-C704-00AC69C1168D}"/>
          </ac:spMkLst>
        </pc:spChg>
        <pc:spChg chg="mod">
          <ac:chgData name="Desi Armanda Sari" userId="09767da1-9849-4ce7-a32e-b30664c451cf" providerId="ADAL" clId="{753EB39C-633D-451A-9AA4-B239DC3E9426}" dt="2026-08-17T07:21:25.828" v="21041" actId="962"/>
          <ac:spMkLst>
            <pc:docMk/>
            <pc:sldMk cId="2675354894" sldId="2146851291"/>
            <ac:spMk id="40" creationId="{13E5D696-A4A4-2D73-909A-F269823FF8DE}"/>
          </ac:spMkLst>
        </pc:spChg>
        <pc:spChg chg="mod">
          <ac:chgData name="Desi Armanda Sari" userId="09767da1-9849-4ce7-a32e-b30664c451cf" providerId="ADAL" clId="{753EB39C-633D-451A-9AA4-B239DC3E9426}" dt="2026-08-17T07:21:35.333" v="21042" actId="962"/>
          <ac:spMkLst>
            <pc:docMk/>
            <pc:sldMk cId="2675354894" sldId="2146851291"/>
            <ac:spMk id="52" creationId="{D68A4F49-5326-B59C-0332-D5A369A24FFD}"/>
          </ac:spMkLst>
        </pc:spChg>
      </pc:sldChg>
      <pc:sldChg chg="addSp delSp modSp mod">
        <pc:chgData name="Desi Armanda Sari" userId="09767da1-9849-4ce7-a32e-b30664c451cf" providerId="ADAL" clId="{753EB39C-633D-451A-9AA4-B239DC3E9426}" dt="2026-08-09T10:28:00.472" v="17151" actId="20577"/>
        <pc:sldMkLst>
          <pc:docMk/>
          <pc:sldMk cId="536663561" sldId="2146851293"/>
        </pc:sldMkLst>
        <pc:spChg chg="mod">
          <ac:chgData name="Desi Armanda Sari" userId="09767da1-9849-4ce7-a32e-b30664c451cf" providerId="ADAL" clId="{753EB39C-633D-451A-9AA4-B239DC3E9426}" dt="2026-08-09T10:28:00.472" v="17151" actId="20577"/>
          <ac:spMkLst>
            <pc:docMk/>
            <pc:sldMk cId="536663561" sldId="2146851293"/>
            <ac:spMk id="2" creationId="{E12512C6-BAE0-2CD8-C99E-A6E0F96B092F}"/>
          </ac:spMkLst>
        </pc:spChg>
        <pc:graphicFrameChg chg="add del mod modGraphic">
          <ac:chgData name="Desi Armanda Sari" userId="09767da1-9849-4ce7-a32e-b30664c451cf" providerId="ADAL" clId="{753EB39C-633D-451A-9AA4-B239DC3E9426}" dt="2026-08-03T03:49:39.170" v="5145" actId="14100"/>
          <ac:graphicFrameMkLst>
            <pc:docMk/>
            <pc:sldMk cId="536663561" sldId="2146851293"/>
            <ac:graphicFrameMk id="3" creationId="{BBF11C77-0882-2D0C-3E0B-17B24F7A2457}"/>
          </ac:graphicFrameMkLst>
        </pc:graphicFrameChg>
      </pc:sldChg>
      <pc:sldChg chg="modSp mod">
        <pc:chgData name="Desi Armanda Sari" userId="09767da1-9849-4ce7-a32e-b30664c451cf" providerId="ADAL" clId="{753EB39C-633D-451A-9AA4-B239DC3E9426}" dt="2026-08-17T09:33:00.068" v="21989"/>
        <pc:sldMkLst>
          <pc:docMk/>
          <pc:sldMk cId="2117777768" sldId="2146851303"/>
        </pc:sldMkLst>
        <pc:spChg chg="mod">
          <ac:chgData name="Desi Armanda Sari" userId="09767da1-9849-4ce7-a32e-b30664c451cf" providerId="ADAL" clId="{753EB39C-633D-451A-9AA4-B239DC3E9426}" dt="2026-08-17T08:53:15.988" v="21050" actId="20577"/>
          <ac:spMkLst>
            <pc:docMk/>
            <pc:sldMk cId="2117777768" sldId="2146851303"/>
            <ac:spMk id="6" creationId="{9CD8F5F4-3311-3269-104B-A098FF3F1E8F}"/>
          </ac:spMkLst>
        </pc:spChg>
        <pc:graphicFrameChg chg="mod modGraphic">
          <ac:chgData name="Desi Armanda Sari" userId="09767da1-9849-4ce7-a32e-b30664c451cf" providerId="ADAL" clId="{753EB39C-633D-451A-9AA4-B239DC3E9426}" dt="2026-08-17T09:33:00.068" v="21989"/>
          <ac:graphicFrameMkLst>
            <pc:docMk/>
            <pc:sldMk cId="2117777768" sldId="2146851303"/>
            <ac:graphicFrameMk id="5" creationId="{45D240DC-5B13-6CEC-4899-0605BD3E78BB}"/>
          </ac:graphicFrameMkLst>
        </pc:graphicFrameChg>
      </pc:sldChg>
      <pc:sldChg chg="addSp delSp modSp add mod">
        <pc:chgData name="Desi Armanda Sari" userId="09767da1-9849-4ce7-a32e-b30664c451cf" providerId="ADAL" clId="{753EB39C-633D-451A-9AA4-B239DC3E9426}" dt="2026-08-17T18:43:25.080" v="25931" actId="167"/>
        <pc:sldMkLst>
          <pc:docMk/>
          <pc:sldMk cId="3357161073" sldId="2146851370"/>
        </pc:sldMkLst>
        <pc:spChg chg="add del mod">
          <ac:chgData name="Desi Armanda Sari" userId="09767da1-9849-4ce7-a32e-b30664c451cf" providerId="ADAL" clId="{753EB39C-633D-451A-9AA4-B239DC3E9426}" dt="2026-08-17T18:42:47.372" v="25022" actId="139"/>
          <ac:spMkLst>
            <pc:docMk/>
            <pc:sldMk cId="3357161073" sldId="2146851370"/>
            <ac:spMk id="5" creationId="{325B0002-3B44-191B-3EBA-8794B3197956}"/>
          </ac:spMkLst>
        </pc:spChg>
        <pc:spChg chg="add del">
          <ac:chgData name="Desi Armanda Sari" userId="09767da1-9849-4ce7-a32e-b30664c451cf" providerId="ADAL" clId="{753EB39C-633D-451A-9AA4-B239DC3E9426}" dt="2026-08-03T00:07:44.013" v="3455" actId="478"/>
          <ac:spMkLst>
            <pc:docMk/>
            <pc:sldMk cId="3357161073" sldId="2146851370"/>
            <ac:spMk id="6" creationId="{788D5692-EBDC-0771-D2C9-70278788BEDB}"/>
          </ac:spMkLst>
        </pc:spChg>
        <pc:spChg chg="mod">
          <ac:chgData name="Desi Armanda Sari" userId="09767da1-9849-4ce7-a32e-b30664c451cf" providerId="ADAL" clId="{753EB39C-633D-451A-9AA4-B239DC3E9426}" dt="2026-08-17T18:42:47.484" v="25025" actId="139"/>
          <ac:spMkLst>
            <pc:docMk/>
            <pc:sldMk cId="3357161073" sldId="2146851370"/>
            <ac:spMk id="8" creationId="{2AF738B4-FBCA-CD94-8AF0-17EE96E72FB9}"/>
          </ac:spMkLst>
        </pc:spChg>
        <pc:spChg chg="add del">
          <ac:chgData name="Desi Armanda Sari" userId="09767da1-9849-4ce7-a32e-b30664c451cf" providerId="ADAL" clId="{753EB39C-633D-451A-9AA4-B239DC3E9426}" dt="2026-08-03T00:07:44.013" v="3455" actId="478"/>
          <ac:spMkLst>
            <pc:docMk/>
            <pc:sldMk cId="3357161073" sldId="2146851370"/>
            <ac:spMk id="10" creationId="{B07EA445-F6B4-0FE6-2B19-5195E1E5C101}"/>
          </ac:spMkLst>
        </pc:spChg>
        <pc:spChg chg="mod">
          <ac:chgData name="Desi Armanda Sari" userId="09767da1-9849-4ce7-a32e-b30664c451cf" providerId="ADAL" clId="{753EB39C-633D-451A-9AA4-B239DC3E9426}" dt="2026-08-17T18:42:47.594" v="25028" actId="139"/>
          <ac:spMkLst>
            <pc:docMk/>
            <pc:sldMk cId="3357161073" sldId="2146851370"/>
            <ac:spMk id="11" creationId="{1566EBAA-E366-2878-5A01-BA6CA5151115}"/>
          </ac:spMkLst>
        </pc:spChg>
        <pc:spChg chg="add del">
          <ac:chgData name="Desi Armanda Sari" userId="09767da1-9849-4ce7-a32e-b30664c451cf" providerId="ADAL" clId="{753EB39C-633D-451A-9AA4-B239DC3E9426}" dt="2026-08-03T00:07:44.013" v="3455" actId="478"/>
          <ac:spMkLst>
            <pc:docMk/>
            <pc:sldMk cId="3357161073" sldId="2146851370"/>
            <ac:spMk id="12" creationId="{FC266365-6120-9AC8-A1DB-124C5FDA752E}"/>
          </ac:spMkLst>
        </pc:spChg>
        <pc:spChg chg="add del mod">
          <ac:chgData name="Desi Armanda Sari" userId="09767da1-9849-4ce7-a32e-b30664c451cf" providerId="ADAL" clId="{753EB39C-633D-451A-9AA4-B239DC3E9426}" dt="2026-08-17T18:42:47.689" v="25031" actId="139"/>
          <ac:spMkLst>
            <pc:docMk/>
            <pc:sldMk cId="3357161073" sldId="2146851370"/>
            <ac:spMk id="14" creationId="{381BBD78-49A7-DE87-0D3F-6B9FD078B44C}"/>
          </ac:spMkLst>
        </pc:spChg>
        <pc:spChg chg="add del">
          <ac:chgData name="Desi Armanda Sari" userId="09767da1-9849-4ce7-a32e-b30664c451cf" providerId="ADAL" clId="{753EB39C-633D-451A-9AA4-B239DC3E9426}" dt="2026-08-03T00:07:44.013" v="3455" actId="478"/>
          <ac:spMkLst>
            <pc:docMk/>
            <pc:sldMk cId="3357161073" sldId="2146851370"/>
            <ac:spMk id="15" creationId="{6142B434-481C-A8F0-EB47-2F1FAE2B5305}"/>
          </ac:spMkLst>
        </pc:spChg>
        <pc:spChg chg="add del">
          <ac:chgData name="Desi Armanda Sari" userId="09767da1-9849-4ce7-a32e-b30664c451cf" providerId="ADAL" clId="{753EB39C-633D-451A-9AA4-B239DC3E9426}" dt="2026-08-03T00:07:44.013" v="3455" actId="478"/>
          <ac:spMkLst>
            <pc:docMk/>
            <pc:sldMk cId="3357161073" sldId="2146851370"/>
            <ac:spMk id="16" creationId="{1C141661-BC3A-486C-3FDE-01870364840D}"/>
          </ac:spMkLst>
        </pc:spChg>
        <pc:spChg chg="add del mod">
          <ac:chgData name="Desi Armanda Sari" userId="09767da1-9849-4ce7-a32e-b30664c451cf" providerId="ADAL" clId="{753EB39C-633D-451A-9AA4-B239DC3E9426}" dt="2026-08-17T18:42:47.835" v="25034" actId="139"/>
          <ac:spMkLst>
            <pc:docMk/>
            <pc:sldMk cId="3357161073" sldId="2146851370"/>
            <ac:spMk id="17" creationId="{96010182-CB3E-16BF-53CA-1DB8E0B9BA20}"/>
          </ac:spMkLst>
        </pc:spChg>
        <pc:spChg chg="add del">
          <ac:chgData name="Desi Armanda Sari" userId="09767da1-9849-4ce7-a32e-b30664c451cf" providerId="ADAL" clId="{753EB39C-633D-451A-9AA4-B239DC3E9426}" dt="2026-08-03T00:07:44.013" v="3455" actId="478"/>
          <ac:spMkLst>
            <pc:docMk/>
            <pc:sldMk cId="3357161073" sldId="2146851370"/>
            <ac:spMk id="18" creationId="{0E212ABF-48B4-9B33-B2F1-4E8B30736BF9}"/>
          </ac:spMkLst>
        </pc:spChg>
        <pc:spChg chg="mod">
          <ac:chgData name="Desi Armanda Sari" userId="09767da1-9849-4ce7-a32e-b30664c451cf" providerId="ADAL" clId="{753EB39C-633D-451A-9AA4-B239DC3E9426}" dt="2026-08-17T18:42:47.957" v="25037" actId="139"/>
          <ac:spMkLst>
            <pc:docMk/>
            <pc:sldMk cId="3357161073" sldId="2146851370"/>
            <ac:spMk id="20" creationId="{600E3EF9-2DD7-99EF-3479-7F4D1FD1516C}"/>
          </ac:spMkLst>
        </pc:spChg>
        <pc:spChg chg="add del">
          <ac:chgData name="Desi Armanda Sari" userId="09767da1-9849-4ce7-a32e-b30664c451cf" providerId="ADAL" clId="{753EB39C-633D-451A-9AA4-B239DC3E9426}" dt="2026-08-03T00:07:44.013" v="3455" actId="478"/>
          <ac:spMkLst>
            <pc:docMk/>
            <pc:sldMk cId="3357161073" sldId="2146851370"/>
            <ac:spMk id="22" creationId="{F3AEF2EE-23AD-C83D-3A14-550F398FE6B8}"/>
          </ac:spMkLst>
        </pc:spChg>
        <pc:spChg chg="add mod">
          <ac:chgData name="Desi Armanda Sari" userId="09767da1-9849-4ce7-a32e-b30664c451cf" providerId="ADAL" clId="{753EB39C-633D-451A-9AA4-B239DC3E9426}" dt="2026-08-17T18:42:48.100" v="25040" actId="139"/>
          <ac:spMkLst>
            <pc:docMk/>
            <pc:sldMk cId="3357161073" sldId="2146851370"/>
            <ac:spMk id="23" creationId="{8E9EDCA3-FBFD-379D-0C74-10C1D0D1E0CE}"/>
          </ac:spMkLst>
        </pc:spChg>
        <pc:spChg chg="mod">
          <ac:chgData name="Desi Armanda Sari" userId="09767da1-9849-4ce7-a32e-b30664c451cf" providerId="ADAL" clId="{753EB39C-633D-451A-9AA4-B239DC3E9426}" dt="2026-08-03T04:57:56.471" v="5415" actId="20577"/>
          <ac:spMkLst>
            <pc:docMk/>
            <pc:sldMk cId="3357161073" sldId="2146851370"/>
            <ac:spMk id="25" creationId="{EC7FAE10-73DB-DFD7-6AF4-64A78905D7AE}"/>
          </ac:spMkLst>
        </pc:spChg>
        <pc:spChg chg="add mod">
          <ac:chgData name="Desi Armanda Sari" userId="09767da1-9849-4ce7-a32e-b30664c451cf" providerId="ADAL" clId="{753EB39C-633D-451A-9AA4-B239DC3E9426}" dt="2026-08-17T18:42:48.227" v="25043" actId="139"/>
          <ac:spMkLst>
            <pc:docMk/>
            <pc:sldMk cId="3357161073" sldId="2146851370"/>
            <ac:spMk id="26" creationId="{75839134-F10B-D94D-D98C-232B99E4AD08}"/>
          </ac:spMkLst>
        </pc:spChg>
        <pc:spChg chg="mod">
          <ac:chgData name="Desi Armanda Sari" userId="09767da1-9849-4ce7-a32e-b30664c451cf" providerId="ADAL" clId="{753EB39C-633D-451A-9AA4-B239DC3E9426}" dt="2026-08-03T04:44:41.770" v="5385" actId="20577"/>
          <ac:spMkLst>
            <pc:docMk/>
            <pc:sldMk cId="3357161073" sldId="2146851370"/>
            <ac:spMk id="28" creationId="{7817A516-49B9-0C02-7DDD-CD05C02E6E14}"/>
          </ac:spMkLst>
        </pc:spChg>
        <pc:spChg chg="add mod">
          <ac:chgData name="Desi Armanda Sari" userId="09767da1-9849-4ce7-a32e-b30664c451cf" providerId="ADAL" clId="{753EB39C-633D-451A-9AA4-B239DC3E9426}" dt="2026-08-17T18:42:48.338" v="25046" actId="139"/>
          <ac:spMkLst>
            <pc:docMk/>
            <pc:sldMk cId="3357161073" sldId="2146851370"/>
            <ac:spMk id="29" creationId="{BB7A0287-F917-AA21-A027-3B00B56DFA5A}"/>
          </ac:spMkLst>
        </pc:spChg>
        <pc:spChg chg="add mod">
          <ac:chgData name="Desi Armanda Sari" userId="09767da1-9849-4ce7-a32e-b30664c451cf" providerId="ADAL" clId="{753EB39C-633D-451A-9AA4-B239DC3E9426}" dt="2026-08-17T18:42:48.468" v="25049" actId="139"/>
          <ac:spMkLst>
            <pc:docMk/>
            <pc:sldMk cId="3357161073" sldId="2146851370"/>
            <ac:spMk id="31" creationId="{A6F4A4B9-8AD7-E41E-9489-4BE340968A2F}"/>
          </ac:spMkLst>
        </pc:spChg>
        <pc:spChg chg="mod">
          <ac:chgData name="Desi Armanda Sari" userId="09767da1-9849-4ce7-a32e-b30664c451cf" providerId="ADAL" clId="{753EB39C-633D-451A-9AA4-B239DC3E9426}" dt="2026-08-03T04:40:29.695" v="5354" actId="20577"/>
          <ac:spMkLst>
            <pc:docMk/>
            <pc:sldMk cId="3357161073" sldId="2146851370"/>
            <ac:spMk id="33" creationId="{01439170-18D1-616D-4FEF-4CF219E6529B}"/>
          </ac:spMkLst>
        </pc:spChg>
        <pc:picChg chg="add del mod ord">
          <ac:chgData name="Desi Armanda Sari" userId="09767da1-9849-4ce7-a32e-b30664c451cf" providerId="ADAL" clId="{753EB39C-633D-451A-9AA4-B239DC3E9426}" dt="2026-08-17T18:27:32.162" v="23225"/>
          <ac:picMkLst>
            <pc:docMk/>
            <pc:sldMk cId="3357161073" sldId="2146851370"/>
            <ac:picMk id="21" creationId="{2FC1B57C-6BED-51CA-DE36-79A6237D45C2}"/>
          </ac:picMkLst>
        </pc:picChg>
        <pc:picChg chg="add del mod ord">
          <ac:chgData name="Desi Armanda Sari" userId="09767da1-9849-4ce7-a32e-b30664c451cf" providerId="ADAL" clId="{753EB39C-633D-451A-9AA4-B239DC3E9426}" dt="2026-08-17T18:42:48.700" v="25053"/>
          <ac:picMkLst>
            <pc:docMk/>
            <pc:sldMk cId="3357161073" sldId="2146851370"/>
            <ac:picMk id="21" creationId="{3B1DD091-6A05-E6ED-8D5B-CC136C81B929}"/>
          </ac:picMkLst>
        </pc:picChg>
        <pc:picChg chg="add del mod ord">
          <ac:chgData name="Desi Armanda Sari" userId="09767da1-9849-4ce7-a32e-b30664c451cf" providerId="ADAL" clId="{753EB39C-633D-451A-9AA4-B239DC3E9426}" dt="2026-08-17T07:07:49.648" v="19302"/>
          <ac:picMkLst>
            <pc:docMk/>
            <pc:sldMk cId="3357161073" sldId="2146851370"/>
            <ac:picMk id="21" creationId="{EA9F9DC7-F1B0-B752-C329-CD205A6896D3}"/>
          </ac:picMkLst>
        </pc:picChg>
        <pc:picChg chg="add del mod ord">
          <ac:chgData name="Desi Armanda Sari" userId="09767da1-9849-4ce7-a32e-b30664c451cf" providerId="ADAL" clId="{753EB39C-633D-451A-9AA4-B239DC3E9426}" dt="2026-08-17T18:37:13.550" v="24139"/>
          <ac:picMkLst>
            <pc:docMk/>
            <pc:sldMk cId="3357161073" sldId="2146851370"/>
            <ac:picMk id="24" creationId="{15DEBEE7-E6A3-F715-15CB-F7A6B11F5A8E}"/>
          </ac:picMkLst>
        </pc:picChg>
        <pc:picChg chg="add del mod ord">
          <ac:chgData name="Desi Armanda Sari" userId="09767da1-9849-4ce7-a32e-b30664c451cf" providerId="ADAL" clId="{753EB39C-633D-451A-9AA4-B239DC3E9426}" dt="2026-08-17T07:18:26.746" v="20159"/>
          <ac:picMkLst>
            <pc:docMk/>
            <pc:sldMk cId="3357161073" sldId="2146851370"/>
            <ac:picMk id="24" creationId="{45B3D70D-66E9-0D8F-A9FC-1698FEA940D5}"/>
          </ac:picMkLst>
        </pc:picChg>
        <pc:picChg chg="add mod ord">
          <ac:chgData name="Desi Armanda Sari" userId="09767da1-9849-4ce7-a32e-b30664c451cf" providerId="ADAL" clId="{753EB39C-633D-451A-9AA4-B239DC3E9426}" dt="2026-08-17T18:43:25.080" v="25931" actId="167"/>
          <ac:picMkLst>
            <pc:docMk/>
            <pc:sldMk cId="3357161073" sldId="2146851370"/>
            <ac:picMk id="24" creationId="{61D69274-5EA7-65E3-B163-2280AD49302E}"/>
          </ac:picMkLst>
        </pc:picChg>
        <pc:picChg chg="add del mod ord">
          <ac:chgData name="Desi Armanda Sari" userId="09767da1-9849-4ce7-a32e-b30664c451cf" providerId="ADAL" clId="{753EB39C-633D-451A-9AA4-B239DC3E9426}" dt="2026-08-17T09:17:54.569" v="21089"/>
          <ac:picMkLst>
            <pc:docMk/>
            <pc:sldMk cId="3357161073" sldId="2146851370"/>
            <ac:picMk id="30" creationId="{55900888-CC5F-3576-0E7C-A75D0937743C}"/>
          </ac:picMkLst>
        </pc:picChg>
        <pc:picChg chg="add del mod ord">
          <ac:chgData name="Desi Armanda Sari" userId="09767da1-9849-4ce7-a32e-b30664c451cf" providerId="ADAL" clId="{753EB39C-633D-451A-9AA4-B239DC3E9426}" dt="2026-08-17T18:10:35.509" v="22309"/>
          <ac:picMkLst>
            <pc:docMk/>
            <pc:sldMk cId="3357161073" sldId="2146851370"/>
            <ac:picMk id="34" creationId="{62539A8E-E1DC-4BF5-024A-8B33667D2593}"/>
          </ac:picMkLst>
        </pc:picChg>
        <pc:cxnChg chg="mod">
          <ac:chgData name="Desi Armanda Sari" userId="09767da1-9849-4ce7-a32e-b30664c451cf" providerId="ADAL" clId="{753EB39C-633D-451A-9AA4-B239DC3E9426}" dt="2026-08-17T10:32:24.188" v="22263" actId="1076"/>
          <ac:cxnSpMkLst>
            <pc:docMk/>
            <pc:sldMk cId="3357161073" sldId="2146851370"/>
            <ac:cxnSpMk id="35" creationId="{C3D1CB0E-2185-2B52-BB05-E80D121CE4E4}"/>
          </ac:cxnSpMkLst>
        </pc:cxnChg>
      </pc:sldChg>
      <pc:sldChg chg="modSp add mod">
        <pc:chgData name="Desi Armanda Sari" userId="09767da1-9849-4ce7-a32e-b30664c451cf" providerId="ADAL" clId="{753EB39C-633D-451A-9AA4-B239DC3E9426}" dt="2026-08-17T18:42:53.311" v="25821" actId="139"/>
        <pc:sldMkLst>
          <pc:docMk/>
          <pc:sldMk cId="2684839993" sldId="2146851371"/>
        </pc:sldMkLst>
        <pc:spChg chg="mod">
          <ac:chgData name="Desi Armanda Sari" userId="09767da1-9849-4ce7-a32e-b30664c451cf" providerId="ADAL" clId="{753EB39C-633D-451A-9AA4-B239DC3E9426}" dt="2026-08-17T18:42:52.915" v="25806" actId="139"/>
          <ac:spMkLst>
            <pc:docMk/>
            <pc:sldMk cId="2684839993" sldId="2146851371"/>
            <ac:spMk id="21" creationId="{BB284524-D277-261C-5C64-816666D0CD81}"/>
          </ac:spMkLst>
        </pc:spChg>
        <pc:spChg chg="mod">
          <ac:chgData name="Desi Armanda Sari" userId="09767da1-9849-4ce7-a32e-b30664c451cf" providerId="ADAL" clId="{753EB39C-633D-451A-9AA4-B239DC3E9426}" dt="2026-08-17T18:42:53.010" v="25809" actId="139"/>
          <ac:spMkLst>
            <pc:docMk/>
            <pc:sldMk cId="2684839993" sldId="2146851371"/>
            <ac:spMk id="26" creationId="{F3E45200-DFC0-77C7-343E-24F555D5DD09}"/>
          </ac:spMkLst>
        </pc:spChg>
        <pc:spChg chg="mod">
          <ac:chgData name="Desi Armanda Sari" userId="09767da1-9849-4ce7-a32e-b30664c451cf" providerId="ADAL" clId="{753EB39C-633D-451A-9AA4-B239DC3E9426}" dt="2026-08-17T18:42:53.073" v="25812" actId="139"/>
          <ac:spMkLst>
            <pc:docMk/>
            <pc:sldMk cId="2684839993" sldId="2146851371"/>
            <ac:spMk id="29" creationId="{F4BF7C0E-0E59-4C1C-FBE7-2B8DCF367502}"/>
          </ac:spMkLst>
        </pc:spChg>
        <pc:spChg chg="mod">
          <ac:chgData name="Desi Armanda Sari" userId="09767da1-9849-4ce7-a32e-b30664c451cf" providerId="ADAL" clId="{753EB39C-633D-451A-9AA4-B239DC3E9426}" dt="2026-08-17T18:42:53.153" v="25815" actId="139"/>
          <ac:spMkLst>
            <pc:docMk/>
            <pc:sldMk cId="2684839993" sldId="2146851371"/>
            <ac:spMk id="32" creationId="{B4E7ADA3-C116-8C59-DFFC-6AD26B636B67}"/>
          </ac:spMkLst>
        </pc:spChg>
        <pc:spChg chg="mod">
          <ac:chgData name="Desi Armanda Sari" userId="09767da1-9849-4ce7-a32e-b30664c451cf" providerId="ADAL" clId="{753EB39C-633D-451A-9AA4-B239DC3E9426}" dt="2026-08-17T18:42:53.240" v="25818" actId="139"/>
          <ac:spMkLst>
            <pc:docMk/>
            <pc:sldMk cId="2684839993" sldId="2146851371"/>
            <ac:spMk id="35" creationId="{B42AF663-F2AE-66DE-531B-F31E9DA3243D}"/>
          </ac:spMkLst>
        </pc:spChg>
        <pc:spChg chg="mod">
          <ac:chgData name="Desi Armanda Sari" userId="09767da1-9849-4ce7-a32e-b30664c451cf" providerId="ADAL" clId="{753EB39C-633D-451A-9AA4-B239DC3E9426}" dt="2026-08-17T18:42:53.311" v="25821" actId="139"/>
          <ac:spMkLst>
            <pc:docMk/>
            <pc:sldMk cId="2684839993" sldId="2146851371"/>
            <ac:spMk id="38" creationId="{29CCAAEB-ADA2-A84B-3DD4-A2859F05F22C}"/>
          </ac:spMkLst>
        </pc:spChg>
        <pc:graphicFrameChg chg="mod modGraphic">
          <ac:chgData name="Desi Armanda Sari" userId="09767da1-9849-4ce7-a32e-b30664c451cf" providerId="ADAL" clId="{753EB39C-633D-451A-9AA4-B239DC3E9426}" dt="2026-08-17T18:42:52.788" v="25803" actId="299"/>
          <ac:graphicFrameMkLst>
            <pc:docMk/>
            <pc:sldMk cId="2684839993" sldId="2146851371"/>
            <ac:graphicFrameMk id="11" creationId="{D53F39CD-0164-FA6F-A724-A46B1FF8BEA5}"/>
          </ac:graphicFrameMkLst>
        </pc:graphicFrameChg>
      </pc:sldChg>
      <pc:sldChg chg="addSp delSp modSp add mod">
        <pc:chgData name="Desi Armanda Sari" userId="09767da1-9849-4ce7-a32e-b30664c451cf" providerId="ADAL" clId="{753EB39C-633D-451A-9AA4-B239DC3E9426}" dt="2026-08-17T18:43:32.165" v="25932" actId="167"/>
        <pc:sldMkLst>
          <pc:docMk/>
          <pc:sldMk cId="2961837861" sldId="2146851372"/>
        </pc:sldMkLst>
        <pc:spChg chg="add mod">
          <ac:chgData name="Desi Armanda Sari" userId="09767da1-9849-4ce7-a32e-b30664c451cf" providerId="ADAL" clId="{753EB39C-633D-451A-9AA4-B239DC3E9426}" dt="2026-08-17T18:42:53.407" v="25824" actId="139"/>
          <ac:spMkLst>
            <pc:docMk/>
            <pc:sldMk cId="2961837861" sldId="2146851372"/>
            <ac:spMk id="11" creationId="{4FF5ED86-85CE-011C-47DE-6ED745C83218}"/>
          </ac:spMkLst>
        </pc:spChg>
        <pc:spChg chg="add mod">
          <ac:chgData name="Desi Armanda Sari" userId="09767da1-9849-4ce7-a32e-b30664c451cf" providerId="ADAL" clId="{753EB39C-633D-451A-9AA4-B239DC3E9426}" dt="2026-08-17T18:42:53.487" v="25827" actId="139"/>
          <ac:spMkLst>
            <pc:docMk/>
            <pc:sldMk cId="2961837861" sldId="2146851372"/>
            <ac:spMk id="13" creationId="{3CF10964-16A2-B9C9-E49B-D496004131F2}"/>
          </ac:spMkLst>
        </pc:spChg>
        <pc:spChg chg="add mod">
          <ac:chgData name="Desi Armanda Sari" userId="09767da1-9849-4ce7-a32e-b30664c451cf" providerId="ADAL" clId="{753EB39C-633D-451A-9AA4-B239DC3E9426}" dt="2026-08-17T18:42:53.565" v="25830" actId="139"/>
          <ac:spMkLst>
            <pc:docMk/>
            <pc:sldMk cId="2961837861" sldId="2146851372"/>
            <ac:spMk id="15" creationId="{067020A8-4D88-D6D2-2FF9-270AAED5DDAF}"/>
          </ac:spMkLst>
        </pc:spChg>
        <pc:spChg chg="add mod">
          <ac:chgData name="Desi Armanda Sari" userId="09767da1-9849-4ce7-a32e-b30664c451cf" providerId="ADAL" clId="{753EB39C-633D-451A-9AA4-B239DC3E9426}" dt="2026-08-17T18:42:53.647" v="25833" actId="139"/>
          <ac:spMkLst>
            <pc:docMk/>
            <pc:sldMk cId="2961837861" sldId="2146851372"/>
            <ac:spMk id="17" creationId="{CBB16565-66FA-0B01-DF19-9F938FCC027D}"/>
          </ac:spMkLst>
        </pc:spChg>
        <pc:spChg chg="mod">
          <ac:chgData name="Desi Armanda Sari" userId="09767da1-9849-4ce7-a32e-b30664c451cf" providerId="ADAL" clId="{753EB39C-633D-451A-9AA4-B239DC3E9426}" dt="2026-08-03T05:04:42.213" v="7908" actId="20577"/>
          <ac:spMkLst>
            <pc:docMk/>
            <pc:sldMk cId="2961837861" sldId="2146851372"/>
            <ac:spMk id="25" creationId="{FCEB5FB3-C327-3568-3AC9-DCFAB22252E0}"/>
          </ac:spMkLst>
        </pc:spChg>
        <pc:spChg chg="mod">
          <ac:chgData name="Desi Armanda Sari" userId="09767da1-9849-4ce7-a32e-b30664c451cf" providerId="ADAL" clId="{753EB39C-633D-451A-9AA4-B239DC3E9426}" dt="2026-08-03T08:45:25.614" v="11275" actId="20577"/>
          <ac:spMkLst>
            <pc:docMk/>
            <pc:sldMk cId="2961837861" sldId="2146851372"/>
            <ac:spMk id="28" creationId="{3F2645C0-0C87-9CD7-729F-449109E9F1C1}"/>
          </ac:spMkLst>
        </pc:spChg>
        <pc:spChg chg="add mod">
          <ac:chgData name="Desi Armanda Sari" userId="09767da1-9849-4ce7-a32e-b30664c451cf" providerId="ADAL" clId="{753EB39C-633D-451A-9AA4-B239DC3E9426}" dt="2026-08-17T18:42:53.708" v="25836" actId="139"/>
          <ac:spMkLst>
            <pc:docMk/>
            <pc:sldMk cId="2961837861" sldId="2146851372"/>
            <ac:spMk id="29" creationId="{602D5604-CFBB-758C-1A7C-0BD3499C7AC4}"/>
          </ac:spMkLst>
        </pc:spChg>
        <pc:spChg chg="add">
          <ac:chgData name="Desi Armanda Sari" userId="09767da1-9849-4ce7-a32e-b30664c451cf" providerId="ADAL" clId="{753EB39C-633D-451A-9AA4-B239DC3E9426}" dt="2026-08-03T00:08:14.259" v="3458" actId="22"/>
          <ac:spMkLst>
            <pc:docMk/>
            <pc:sldMk cId="2961837861" sldId="2146851372"/>
            <ac:spMk id="31" creationId="{89576975-1309-4217-9602-232A3A2C4780}"/>
          </ac:spMkLst>
        </pc:spChg>
        <pc:spChg chg="add mod">
          <ac:chgData name="Desi Armanda Sari" userId="09767da1-9849-4ce7-a32e-b30664c451cf" providerId="ADAL" clId="{753EB39C-633D-451A-9AA4-B239DC3E9426}" dt="2026-08-17T18:42:53.786" v="25839" actId="139"/>
          <ac:spMkLst>
            <pc:docMk/>
            <pc:sldMk cId="2961837861" sldId="2146851372"/>
            <ac:spMk id="35" creationId="{08A3F6F1-F1F7-7F6E-E0D1-5964C84EFB98}"/>
          </ac:spMkLst>
        </pc:spChg>
        <pc:spChg chg="add">
          <ac:chgData name="Desi Armanda Sari" userId="09767da1-9849-4ce7-a32e-b30664c451cf" providerId="ADAL" clId="{753EB39C-633D-451A-9AA4-B239DC3E9426}" dt="2026-08-03T00:08:14.259" v="3458" actId="22"/>
          <ac:spMkLst>
            <pc:docMk/>
            <pc:sldMk cId="2961837861" sldId="2146851372"/>
            <ac:spMk id="38" creationId="{8A509555-918F-B685-03AF-E65DBFAE08D0}"/>
          </ac:spMkLst>
        </pc:spChg>
        <pc:spChg chg="add mod">
          <ac:chgData name="Desi Armanda Sari" userId="09767da1-9849-4ce7-a32e-b30664c451cf" providerId="ADAL" clId="{753EB39C-633D-451A-9AA4-B239DC3E9426}" dt="2026-08-17T18:42:53.866" v="25842" actId="139"/>
          <ac:spMkLst>
            <pc:docMk/>
            <pc:sldMk cId="2961837861" sldId="2146851372"/>
            <ac:spMk id="43" creationId="{27AA188F-B7C0-837D-817A-A5D75AE8B5F2}"/>
          </ac:spMkLst>
        </pc:spChg>
        <pc:spChg chg="add">
          <ac:chgData name="Desi Armanda Sari" userId="09767da1-9849-4ce7-a32e-b30664c451cf" providerId="ADAL" clId="{753EB39C-633D-451A-9AA4-B239DC3E9426}" dt="2026-08-03T00:08:14.259" v="3458" actId="22"/>
          <ac:spMkLst>
            <pc:docMk/>
            <pc:sldMk cId="2961837861" sldId="2146851372"/>
            <ac:spMk id="45" creationId="{1A286CB3-D9D0-2688-A18A-EB752488A266}"/>
          </ac:spMkLst>
        </pc:spChg>
        <pc:spChg chg="add">
          <ac:chgData name="Desi Armanda Sari" userId="09767da1-9849-4ce7-a32e-b30664c451cf" providerId="ADAL" clId="{753EB39C-633D-451A-9AA4-B239DC3E9426}" dt="2026-08-03T00:08:14.259" v="3458" actId="22"/>
          <ac:spMkLst>
            <pc:docMk/>
            <pc:sldMk cId="2961837861" sldId="2146851372"/>
            <ac:spMk id="47" creationId="{8B87BCB7-7AF9-EE93-1F93-FE1D5BC17A0E}"/>
          </ac:spMkLst>
        </pc:spChg>
        <pc:spChg chg="mod">
          <ac:chgData name="Desi Armanda Sari" userId="09767da1-9849-4ce7-a32e-b30664c451cf" providerId="ADAL" clId="{753EB39C-633D-451A-9AA4-B239DC3E9426}" dt="2026-08-17T18:42:53.940" v="25845" actId="139"/>
          <ac:spMkLst>
            <pc:docMk/>
            <pc:sldMk cId="2961837861" sldId="2146851372"/>
            <ac:spMk id="49" creationId="{4E1CEE4A-0ED9-DBE5-1DCC-6F8282603B02}"/>
          </ac:spMkLst>
        </pc:spChg>
        <pc:spChg chg="add">
          <ac:chgData name="Desi Armanda Sari" userId="09767da1-9849-4ce7-a32e-b30664c451cf" providerId="ADAL" clId="{753EB39C-633D-451A-9AA4-B239DC3E9426}" dt="2026-08-03T00:08:14.259" v="3458" actId="22"/>
          <ac:spMkLst>
            <pc:docMk/>
            <pc:sldMk cId="2961837861" sldId="2146851372"/>
            <ac:spMk id="51" creationId="{F5E1B89A-EAF5-530C-2D6F-4DFCD77CFC53}"/>
          </ac:spMkLst>
        </pc:spChg>
        <pc:spChg chg="add mod">
          <ac:chgData name="Desi Armanda Sari" userId="09767da1-9849-4ce7-a32e-b30664c451cf" providerId="ADAL" clId="{753EB39C-633D-451A-9AA4-B239DC3E9426}" dt="2026-08-03T01:08:16.926" v="4979" actId="139"/>
          <ac:spMkLst>
            <pc:docMk/>
            <pc:sldMk cId="2961837861" sldId="2146851372"/>
            <ac:spMk id="55" creationId="{A3491E4B-452E-3FF1-8A0C-9A7302ABAF91}"/>
          </ac:spMkLst>
        </pc:spChg>
        <pc:spChg chg="mod">
          <ac:chgData name="Desi Armanda Sari" userId="09767da1-9849-4ce7-a32e-b30664c451cf" providerId="ADAL" clId="{753EB39C-633D-451A-9AA4-B239DC3E9426}" dt="2026-08-17T18:42:54.088" v="25848" actId="139"/>
          <ac:spMkLst>
            <pc:docMk/>
            <pc:sldMk cId="2961837861" sldId="2146851372"/>
            <ac:spMk id="61" creationId="{F6FEE35F-0A87-69E6-584A-DEC00B71ABFB}"/>
          </ac:spMkLst>
        </pc:spChg>
        <pc:spChg chg="add">
          <ac:chgData name="Desi Armanda Sari" userId="09767da1-9849-4ce7-a32e-b30664c451cf" providerId="ADAL" clId="{753EB39C-633D-451A-9AA4-B239DC3E9426}" dt="2026-08-03T00:08:14.259" v="3458" actId="22"/>
          <ac:spMkLst>
            <pc:docMk/>
            <pc:sldMk cId="2961837861" sldId="2146851372"/>
            <ac:spMk id="63" creationId="{984BDD3D-3D1C-E471-9658-1B8C900A0FBF}"/>
          </ac:spMkLst>
        </pc:spChg>
        <pc:picChg chg="add del mod ord">
          <ac:chgData name="Desi Armanda Sari" userId="09767da1-9849-4ce7-a32e-b30664c451cf" providerId="ADAL" clId="{753EB39C-633D-451A-9AA4-B239DC3E9426}" dt="2026-08-17T18:27:38.621" v="24024"/>
          <ac:picMkLst>
            <pc:docMk/>
            <pc:sldMk cId="2961837861" sldId="2146851372"/>
            <ac:picMk id="4" creationId="{3B60FF43-2775-C5DA-44A1-28B0383C8993}"/>
          </ac:picMkLst>
        </pc:picChg>
        <pc:picChg chg="add del mod ord">
          <ac:chgData name="Desi Armanda Sari" userId="09767da1-9849-4ce7-a32e-b30664c451cf" providerId="ADAL" clId="{753EB39C-633D-451A-9AA4-B239DC3E9426}" dt="2026-08-17T07:18:52.524" v="20958"/>
          <ac:picMkLst>
            <pc:docMk/>
            <pc:sldMk cId="2961837861" sldId="2146851372"/>
            <ac:picMk id="4" creationId="{6545D816-F1D7-784A-5F47-B638001A6AA5}"/>
          </ac:picMkLst>
        </pc:picChg>
        <pc:picChg chg="add del mod ord">
          <ac:chgData name="Desi Armanda Sari" userId="09767da1-9849-4ce7-a32e-b30664c451cf" providerId="ADAL" clId="{753EB39C-633D-451A-9AA4-B239DC3E9426}" dt="2026-08-17T18:42:54.468" v="25852"/>
          <ac:picMkLst>
            <pc:docMk/>
            <pc:sldMk cId="2961837861" sldId="2146851372"/>
            <ac:picMk id="4" creationId="{D47EB0A3-3FD1-B39E-F347-AA111167C995}"/>
          </ac:picMkLst>
        </pc:picChg>
        <pc:picChg chg="add del mod">
          <ac:chgData name="Desi Armanda Sari" userId="09767da1-9849-4ce7-a32e-b30664c451cf" providerId="ADAL" clId="{753EB39C-633D-451A-9AA4-B239DC3E9426}" dt="2026-08-17T07:08:40.307" v="20102"/>
          <ac:picMkLst>
            <pc:docMk/>
            <pc:sldMk cId="2961837861" sldId="2146851372"/>
            <ac:picMk id="5" creationId="{7F6A2E50-B4E8-583C-44CA-D06CA0C7DCB6}"/>
          </ac:picMkLst>
        </pc:picChg>
        <pc:picChg chg="add del mod ord">
          <ac:chgData name="Desi Armanda Sari" userId="09767da1-9849-4ce7-a32e-b30664c451cf" providerId="ADAL" clId="{753EB39C-633D-451A-9AA4-B239DC3E9426}" dt="2026-08-17T18:37:20.874" v="24938"/>
          <ac:picMkLst>
            <pc:docMk/>
            <pc:sldMk cId="2961837861" sldId="2146851372"/>
            <ac:picMk id="5" creationId="{E37B4325-B4C1-5984-EBDA-4D74DB6EE2D1}"/>
          </ac:picMkLst>
        </pc:picChg>
        <pc:picChg chg="add mod ord">
          <ac:chgData name="Desi Armanda Sari" userId="09767da1-9849-4ce7-a32e-b30664c451cf" providerId="ADAL" clId="{753EB39C-633D-451A-9AA4-B239DC3E9426}" dt="2026-08-17T18:43:32.165" v="25932" actId="167"/>
          <ac:picMkLst>
            <pc:docMk/>
            <pc:sldMk cId="2961837861" sldId="2146851372"/>
            <ac:picMk id="5" creationId="{FD10F96D-103D-2AF8-AB3C-7E8EB3E58FB0}"/>
          </ac:picMkLst>
        </pc:picChg>
        <pc:picChg chg="add del mod ord">
          <ac:chgData name="Desi Armanda Sari" userId="09767da1-9849-4ce7-a32e-b30664c451cf" providerId="ADAL" clId="{753EB39C-633D-451A-9AA4-B239DC3E9426}" dt="2026-08-17T09:18:08.968" v="21888"/>
          <ac:picMkLst>
            <pc:docMk/>
            <pc:sldMk cId="2961837861" sldId="2146851372"/>
            <ac:picMk id="7" creationId="{7073FCCB-992B-4961-B928-E6C84786D5FE}"/>
          </ac:picMkLst>
        </pc:picChg>
        <pc:picChg chg="add del mod ord">
          <ac:chgData name="Desi Armanda Sari" userId="09767da1-9849-4ce7-a32e-b30664c451cf" providerId="ADAL" clId="{753EB39C-633D-451A-9AA4-B239DC3E9426}" dt="2026-08-17T18:10:42.532" v="23108"/>
          <ac:picMkLst>
            <pc:docMk/>
            <pc:sldMk cId="2961837861" sldId="2146851372"/>
            <ac:picMk id="9" creationId="{29B17423-DB91-DED8-68AD-28A98BF728C3}"/>
          </ac:picMkLst>
        </pc:picChg>
        <pc:cxnChg chg="mod">
          <ac:chgData name="Desi Armanda Sari" userId="09767da1-9849-4ce7-a32e-b30664c451cf" providerId="ADAL" clId="{753EB39C-633D-451A-9AA4-B239DC3E9426}" dt="2026-08-17T10:32:39.855" v="22264" actId="1076"/>
          <ac:cxnSpMkLst>
            <pc:docMk/>
            <pc:sldMk cId="2961837861" sldId="2146851372"/>
            <ac:cxnSpMk id="27" creationId="{D4F79856-E540-5BDC-FB3E-735DCFC61033}"/>
          </ac:cxnSpMkLst>
        </pc:cxnChg>
      </pc:sldChg>
      <pc:sldChg chg="modSp add mod">
        <pc:chgData name="Desi Armanda Sari" userId="09767da1-9849-4ce7-a32e-b30664c451cf" providerId="ADAL" clId="{753EB39C-633D-451A-9AA4-B239DC3E9426}" dt="2026-08-17T18:42:55.129" v="25889" actId="139"/>
        <pc:sldMkLst>
          <pc:docMk/>
          <pc:sldMk cId="2551248554" sldId="2146851373"/>
        </pc:sldMkLst>
        <pc:spChg chg="mod">
          <ac:chgData name="Desi Armanda Sari" userId="09767da1-9849-4ce7-a32e-b30664c451cf" providerId="ADAL" clId="{753EB39C-633D-451A-9AA4-B239DC3E9426}" dt="2026-08-17T18:42:54.642" v="25877" actId="139"/>
          <ac:spMkLst>
            <pc:docMk/>
            <pc:sldMk cId="2551248554" sldId="2146851373"/>
            <ac:spMk id="6" creationId="{A9B4E357-A79D-CD6D-97A1-6293E37406A1}"/>
          </ac:spMkLst>
        </pc:spChg>
        <pc:spChg chg="mod">
          <ac:chgData name="Desi Armanda Sari" userId="09767da1-9849-4ce7-a32e-b30664c451cf" providerId="ADAL" clId="{753EB39C-633D-451A-9AA4-B239DC3E9426}" dt="2026-08-17T18:42:54.763" v="25880" actId="139"/>
          <ac:spMkLst>
            <pc:docMk/>
            <pc:sldMk cId="2551248554" sldId="2146851373"/>
            <ac:spMk id="9" creationId="{6C495225-B82D-17A0-E833-AEA43F81DF0B}"/>
          </ac:spMkLst>
        </pc:spChg>
        <pc:spChg chg="mod">
          <ac:chgData name="Desi Armanda Sari" userId="09767da1-9849-4ce7-a32e-b30664c451cf" providerId="ADAL" clId="{753EB39C-633D-451A-9AA4-B239DC3E9426}" dt="2026-08-17T18:42:54.882" v="25883" actId="139"/>
          <ac:spMkLst>
            <pc:docMk/>
            <pc:sldMk cId="2551248554" sldId="2146851373"/>
            <ac:spMk id="12" creationId="{CF9FEFA8-F659-0BF2-5D2B-937C27B530B4}"/>
          </ac:spMkLst>
        </pc:spChg>
        <pc:spChg chg="mod">
          <ac:chgData name="Desi Armanda Sari" userId="09767da1-9849-4ce7-a32e-b30664c451cf" providerId="ADAL" clId="{753EB39C-633D-451A-9AA4-B239DC3E9426}" dt="2026-08-17T18:42:54.971" v="25886" actId="139"/>
          <ac:spMkLst>
            <pc:docMk/>
            <pc:sldMk cId="2551248554" sldId="2146851373"/>
            <ac:spMk id="15" creationId="{7605419C-9390-6E0F-3C72-2FD20990E85A}"/>
          </ac:spMkLst>
        </pc:spChg>
        <pc:spChg chg="mod">
          <ac:chgData name="Desi Armanda Sari" userId="09767da1-9849-4ce7-a32e-b30664c451cf" providerId="ADAL" clId="{753EB39C-633D-451A-9AA4-B239DC3E9426}" dt="2026-08-03T00:07:29.651" v="3453" actId="962"/>
          <ac:spMkLst>
            <pc:docMk/>
            <pc:sldMk cId="2551248554" sldId="2146851373"/>
            <ac:spMk id="18" creationId="{3BB6F19A-76DB-5B64-6749-20D8E66BB01A}"/>
          </ac:spMkLst>
        </pc:spChg>
        <pc:spChg chg="mod">
          <ac:chgData name="Desi Armanda Sari" userId="09767da1-9849-4ce7-a32e-b30664c451cf" providerId="ADAL" clId="{753EB39C-633D-451A-9AA4-B239DC3E9426}" dt="2026-08-17T18:42:55.129" v="25889" actId="139"/>
          <ac:spMkLst>
            <pc:docMk/>
            <pc:sldMk cId="2551248554" sldId="2146851373"/>
            <ac:spMk id="21" creationId="{2184F3CE-A0A6-DE3B-E771-22CAF9C01406}"/>
          </ac:spMkLst>
        </pc:spChg>
        <pc:spChg chg="mod">
          <ac:chgData name="Desi Armanda Sari" userId="09767da1-9849-4ce7-a32e-b30664c451cf" providerId="ADAL" clId="{753EB39C-633D-451A-9AA4-B239DC3E9426}" dt="2026-08-17T09:18:56.696" v="21972" actId="20577"/>
          <ac:spMkLst>
            <pc:docMk/>
            <pc:sldMk cId="2551248554" sldId="2146851373"/>
            <ac:spMk id="24" creationId="{FC159C80-F6C3-C686-037C-5F7BC1BD6D02}"/>
          </ac:spMkLst>
        </pc:spChg>
        <pc:graphicFrameChg chg="mod modGraphic">
          <ac:chgData name="Desi Armanda Sari" userId="09767da1-9849-4ce7-a32e-b30664c451cf" providerId="ADAL" clId="{753EB39C-633D-451A-9AA4-B239DC3E9426}" dt="2026-08-17T18:08:56.312" v="22275" actId="2164"/>
          <ac:graphicFrameMkLst>
            <pc:docMk/>
            <pc:sldMk cId="2551248554" sldId="2146851373"/>
            <ac:graphicFrameMk id="3" creationId="{5B39274B-6FB9-11F2-34D3-EDB84151AB79}"/>
          </ac:graphicFrameMkLst>
        </pc:graphicFrameChg>
      </pc:sldChg>
      <pc:sldChg chg="addSp delSp modSp add mod">
        <pc:chgData name="Desi Armanda Sari" userId="09767da1-9849-4ce7-a32e-b30664c451cf" providerId="ADAL" clId="{753EB39C-633D-451A-9AA4-B239DC3E9426}" dt="2026-08-17T18:44:45.474" v="25945" actId="20577"/>
        <pc:sldMkLst>
          <pc:docMk/>
          <pc:sldMk cId="2252310130" sldId="2146851508"/>
        </pc:sldMkLst>
        <pc:spChg chg="mod">
          <ac:chgData name="Desi Armanda Sari" userId="09767da1-9849-4ce7-a32e-b30664c451cf" providerId="ADAL" clId="{753EB39C-633D-451A-9AA4-B239DC3E9426}" dt="2026-08-17T08:53:53.177" v="21053" actId="20577"/>
          <ac:spMkLst>
            <pc:docMk/>
            <pc:sldMk cId="2252310130" sldId="2146851508"/>
            <ac:spMk id="2" creationId="{9175C789-F4BB-981B-9819-A6A37F5E271C}"/>
          </ac:spMkLst>
        </pc:spChg>
        <pc:spChg chg="mod">
          <ac:chgData name="Desi Armanda Sari" userId="09767da1-9849-4ce7-a32e-b30664c451cf" providerId="ADAL" clId="{753EB39C-633D-451A-9AA4-B239DC3E9426}" dt="2026-08-17T09:46:26.875" v="22099" actId="20577"/>
          <ac:spMkLst>
            <pc:docMk/>
            <pc:sldMk cId="2252310130" sldId="2146851508"/>
            <ac:spMk id="8" creationId="{58362A3B-43FF-8882-D6AD-AC4C38A1D717}"/>
          </ac:spMkLst>
        </pc:spChg>
        <pc:spChg chg="mod">
          <ac:chgData name="Desi Armanda Sari" userId="09767da1-9849-4ce7-a32e-b30664c451cf" providerId="ADAL" clId="{753EB39C-633D-451A-9AA4-B239DC3E9426}" dt="2026-08-17T18:44:20.978" v="25935" actId="20577"/>
          <ac:spMkLst>
            <pc:docMk/>
            <pc:sldMk cId="2252310130" sldId="2146851508"/>
            <ac:spMk id="11" creationId="{ABB99B6F-16B7-CD6E-4382-C97D1F4616F7}"/>
          </ac:spMkLst>
        </pc:spChg>
        <pc:spChg chg="mod">
          <ac:chgData name="Desi Armanda Sari" userId="09767da1-9849-4ce7-a32e-b30664c451cf" providerId="ADAL" clId="{753EB39C-633D-451A-9AA4-B239DC3E9426}" dt="2026-08-17T09:37:19.774" v="22009" actId="20577"/>
          <ac:spMkLst>
            <pc:docMk/>
            <pc:sldMk cId="2252310130" sldId="2146851508"/>
            <ac:spMk id="14" creationId="{9442FD3E-C060-CBBF-D79E-6D7A6B3A6DD9}"/>
          </ac:spMkLst>
        </pc:spChg>
        <pc:spChg chg="mod">
          <ac:chgData name="Desi Armanda Sari" userId="09767da1-9849-4ce7-a32e-b30664c451cf" providerId="ADAL" clId="{753EB39C-633D-451A-9AA4-B239DC3E9426}" dt="2026-08-17T18:44:29.183" v="25937" actId="20577"/>
          <ac:spMkLst>
            <pc:docMk/>
            <pc:sldMk cId="2252310130" sldId="2146851508"/>
            <ac:spMk id="17" creationId="{901F8074-BBEA-50F5-FE8F-10E778393340}"/>
          </ac:spMkLst>
        </pc:spChg>
        <pc:spChg chg="mod">
          <ac:chgData name="Desi Armanda Sari" userId="09767da1-9849-4ce7-a32e-b30664c451cf" providerId="ADAL" clId="{753EB39C-633D-451A-9AA4-B239DC3E9426}" dt="2026-08-17T09:46:57.411" v="22114" actId="1076"/>
          <ac:spMkLst>
            <pc:docMk/>
            <pc:sldMk cId="2252310130" sldId="2146851508"/>
            <ac:spMk id="19" creationId="{1891A6C6-CA34-00EE-15C1-ADD7E3571EC3}"/>
          </ac:spMkLst>
        </pc:spChg>
        <pc:spChg chg="mod">
          <ac:chgData name="Desi Armanda Sari" userId="09767da1-9849-4ce7-a32e-b30664c451cf" providerId="ADAL" clId="{753EB39C-633D-451A-9AA4-B239DC3E9426}" dt="2026-08-17T10:21:31.740" v="22199" actId="20577"/>
          <ac:spMkLst>
            <pc:docMk/>
            <pc:sldMk cId="2252310130" sldId="2146851508"/>
            <ac:spMk id="20" creationId="{C304F942-DC2D-67A2-19CF-9002553F03C9}"/>
          </ac:spMkLst>
        </pc:spChg>
        <pc:spChg chg="del mod">
          <ac:chgData name="Desi Armanda Sari" userId="09767da1-9849-4ce7-a32e-b30664c451cf" providerId="ADAL" clId="{753EB39C-633D-451A-9AA4-B239DC3E9426}" dt="2026-08-17T09:37:58.903" v="22033" actId="478"/>
          <ac:spMkLst>
            <pc:docMk/>
            <pc:sldMk cId="2252310130" sldId="2146851508"/>
            <ac:spMk id="23" creationId="{30A053E0-1E9C-1492-2FCC-6A35E40F6F57}"/>
          </ac:spMkLst>
        </pc:spChg>
        <pc:spChg chg="add mod">
          <ac:chgData name="Desi Armanda Sari" userId="09767da1-9849-4ce7-a32e-b30664c451cf" providerId="ADAL" clId="{753EB39C-633D-451A-9AA4-B239DC3E9426}" dt="2026-08-17T18:44:45.474" v="25945" actId="20577"/>
          <ac:spMkLst>
            <pc:docMk/>
            <pc:sldMk cId="2252310130" sldId="2146851508"/>
            <ac:spMk id="27" creationId="{7868A0B2-519C-79E8-B755-710CA789CBFA}"/>
          </ac:spMkLst>
        </pc:spChg>
        <pc:spChg chg="mod">
          <ac:chgData name="Desi Armanda Sari" userId="09767da1-9849-4ce7-a32e-b30664c451cf" providerId="ADAL" clId="{753EB39C-633D-451A-9AA4-B239DC3E9426}" dt="2026-08-17T10:23:24.476" v="22261" actId="20577"/>
          <ac:spMkLst>
            <pc:docMk/>
            <pc:sldMk cId="2252310130" sldId="2146851508"/>
            <ac:spMk id="30" creationId="{DC80633C-9FDC-CB35-B7A1-3C0D714D0D4B}"/>
          </ac:spMkLst>
        </pc:spChg>
        <pc:spChg chg="mod">
          <ac:chgData name="Desi Armanda Sari" userId="09767da1-9849-4ce7-a32e-b30664c451cf" providerId="ADAL" clId="{753EB39C-633D-451A-9AA4-B239DC3E9426}" dt="2026-08-17T10:22:23.861" v="22232" actId="20577"/>
          <ac:spMkLst>
            <pc:docMk/>
            <pc:sldMk cId="2252310130" sldId="2146851508"/>
            <ac:spMk id="32" creationId="{5DED9084-D0C1-9570-97EF-AED5FF51D0C7}"/>
          </ac:spMkLst>
        </pc:spChg>
        <pc:spChg chg="mod">
          <ac:chgData name="Desi Armanda Sari" userId="09767da1-9849-4ce7-a32e-b30664c451cf" providerId="ADAL" clId="{753EB39C-633D-451A-9AA4-B239DC3E9426}" dt="2026-08-17T10:22:50.980" v="22245" actId="14100"/>
          <ac:spMkLst>
            <pc:docMk/>
            <pc:sldMk cId="2252310130" sldId="2146851508"/>
            <ac:spMk id="33" creationId="{9222023D-9580-4B8B-8D2D-3D4268DDD505}"/>
          </ac:spMkLst>
        </pc:spChg>
        <pc:spChg chg="mod">
          <ac:chgData name="Desi Armanda Sari" userId="09767da1-9849-4ce7-a32e-b30664c451cf" providerId="ADAL" clId="{753EB39C-633D-451A-9AA4-B239DC3E9426}" dt="2026-08-17T10:23:15.427" v="22256" actId="14100"/>
          <ac:spMkLst>
            <pc:docMk/>
            <pc:sldMk cId="2252310130" sldId="2146851508"/>
            <ac:spMk id="36" creationId="{C2C0B506-C8EA-DE01-F78C-DF6B8F88D8F3}"/>
          </ac:spMkLst>
        </pc:spChg>
        <pc:spChg chg="mod">
          <ac:chgData name="Desi Armanda Sari" userId="09767da1-9849-4ce7-a32e-b30664c451cf" providerId="ADAL" clId="{753EB39C-633D-451A-9AA4-B239DC3E9426}" dt="2026-08-17T10:21:55.406" v="22216" actId="20577"/>
          <ac:spMkLst>
            <pc:docMk/>
            <pc:sldMk cId="2252310130" sldId="2146851508"/>
            <ac:spMk id="38" creationId="{2593FA45-51AE-6512-6D0E-4E3F96037AD2}"/>
          </ac:spMkLst>
        </pc:spChg>
        <pc:spChg chg="mod">
          <ac:chgData name="Desi Armanda Sari" userId="09767da1-9849-4ce7-a32e-b30664c451cf" providerId="ADAL" clId="{753EB39C-633D-451A-9AA4-B239DC3E9426}" dt="2026-08-17T10:22:30.283" v="22233" actId="14100"/>
          <ac:spMkLst>
            <pc:docMk/>
            <pc:sldMk cId="2252310130" sldId="2146851508"/>
            <ac:spMk id="40" creationId="{6BE26136-1F3A-114D-98BB-99A771AEEF9E}"/>
          </ac:spMkLst>
        </pc:spChg>
        <pc:graphicFrameChg chg="add del mod">
          <ac:chgData name="Desi Armanda Sari" userId="09767da1-9849-4ce7-a32e-b30664c451cf" providerId="ADAL" clId="{753EB39C-633D-451A-9AA4-B239DC3E9426}" dt="2026-08-17T09:38:41.407" v="22038" actId="478"/>
          <ac:graphicFrameMkLst>
            <pc:docMk/>
            <pc:sldMk cId="2252310130" sldId="2146851508"/>
            <ac:graphicFrameMk id="3" creationId="{D27550C3-D6BE-4F13-8F94-4B714FFE92B1}"/>
          </ac:graphicFrameMkLst>
        </pc:graphicFrameChg>
        <pc:graphicFrameChg chg="add mod">
          <ac:chgData name="Desi Armanda Sari" userId="09767da1-9849-4ce7-a32e-b30664c451cf" providerId="ADAL" clId="{753EB39C-633D-451A-9AA4-B239DC3E9426}" dt="2026-08-17T09:39:18.072" v="22050" actId="1076"/>
          <ac:graphicFrameMkLst>
            <pc:docMk/>
            <pc:sldMk cId="2252310130" sldId="2146851508"/>
            <ac:graphicFrameMk id="25" creationId="{D27550C3-D6BE-4F13-8F94-4B714FFE92B1}"/>
          </ac:graphicFrameMkLst>
        </pc:graphicFrameChg>
        <pc:picChg chg="del">
          <ac:chgData name="Desi Armanda Sari" userId="09767da1-9849-4ce7-a32e-b30664c451cf" providerId="ADAL" clId="{753EB39C-633D-451A-9AA4-B239DC3E9426}" dt="2026-08-17T09:37:58.903" v="22033" actId="478"/>
          <ac:picMkLst>
            <pc:docMk/>
            <pc:sldMk cId="2252310130" sldId="2146851508"/>
            <ac:picMk id="5" creationId="{8832E21F-9574-3EC6-6815-FDC4DB8E254E}"/>
          </ac:picMkLst>
        </pc:picChg>
      </pc:sldChg>
      <pc:sldChg chg="modSp add del mod">
        <pc:chgData name="Desi Armanda Sari" userId="09767da1-9849-4ce7-a32e-b30664c451cf" providerId="ADAL" clId="{753EB39C-633D-451A-9AA4-B239DC3E9426}" dt="2026-08-17T09:36:28.564" v="21999" actId="47"/>
        <pc:sldMkLst>
          <pc:docMk/>
          <pc:sldMk cId="2374863957" sldId="2146851509"/>
        </pc:sldMkLst>
        <pc:spChg chg="mod">
          <ac:chgData name="Desi Armanda Sari" userId="09767da1-9849-4ce7-a32e-b30664c451cf" providerId="ADAL" clId="{753EB39C-633D-451A-9AA4-B239DC3E9426}" dt="2026-08-17T08:53:58.461" v="21055" actId="20577"/>
          <ac:spMkLst>
            <pc:docMk/>
            <pc:sldMk cId="2374863957" sldId="2146851509"/>
            <ac:spMk id="6" creationId="{97F620B1-F7C3-32FE-7829-349851DD8929}"/>
          </ac:spMkLst>
        </pc:spChg>
      </pc:sldChg>
      <pc:sldChg chg="add del">
        <pc:chgData name="Desi Armanda Sari" userId="09767da1-9849-4ce7-a32e-b30664c451cf" providerId="ADAL" clId="{753EB39C-633D-451A-9AA4-B239DC3E9426}" dt="2026-08-17T09:30:03.764" v="21985" actId="47"/>
        <pc:sldMkLst>
          <pc:docMk/>
          <pc:sldMk cId="1868300292" sldId="2146851510"/>
        </pc:sldMkLst>
      </pc:sldChg>
      <pc:sldChg chg="modSp add del">
        <pc:chgData name="Desi Armanda Sari" userId="09767da1-9849-4ce7-a32e-b30664c451cf" providerId="ADAL" clId="{753EB39C-633D-451A-9AA4-B239DC3E9426}" dt="2026-08-17T09:33:39.673" v="21990"/>
        <pc:sldMkLst>
          <pc:docMk/>
          <pc:sldMk cId="508410115" sldId="2146851511"/>
        </pc:sldMkLst>
        <pc:graphicFrameChg chg="mod">
          <ac:chgData name="Desi Armanda Sari" userId="09767da1-9849-4ce7-a32e-b30664c451cf" providerId="ADAL" clId="{753EB39C-633D-451A-9AA4-B239DC3E9426}" dt="2026-08-17T09:33:39.673" v="21990"/>
          <ac:graphicFrameMkLst>
            <pc:docMk/>
            <pc:sldMk cId="508410115" sldId="2146851511"/>
            <ac:graphicFrameMk id="5" creationId="{FCB740E6-693E-A928-438B-2C162B190452}"/>
          </ac:graphicFrameMkLst>
        </pc:graphicFrameChg>
      </pc:sldChg>
      <pc:sldChg chg="modSp add">
        <pc:chgData name="Desi Armanda Sari" userId="09767da1-9849-4ce7-a32e-b30664c451cf" providerId="ADAL" clId="{753EB39C-633D-451A-9AA4-B239DC3E9426}" dt="2026-08-17T09:34:26.957" v="21992"/>
        <pc:sldMkLst>
          <pc:docMk/>
          <pc:sldMk cId="3397316350" sldId="2146851512"/>
        </pc:sldMkLst>
        <pc:graphicFrameChg chg="mod">
          <ac:chgData name="Desi Armanda Sari" userId="09767da1-9849-4ce7-a32e-b30664c451cf" providerId="ADAL" clId="{753EB39C-633D-451A-9AA4-B239DC3E9426}" dt="2026-08-17T09:34:26.957" v="21992"/>
          <ac:graphicFrameMkLst>
            <pc:docMk/>
            <pc:sldMk cId="3397316350" sldId="2146851512"/>
            <ac:graphicFrameMk id="5" creationId="{35A11D6D-7251-FFE3-3E9D-C9CC90D4826C}"/>
          </ac:graphicFrameMkLst>
        </pc:graphicFrameChg>
      </pc:sldChg>
      <pc:sldChg chg="modSp add">
        <pc:chgData name="Desi Armanda Sari" userId="09767da1-9849-4ce7-a32e-b30664c451cf" providerId="ADAL" clId="{753EB39C-633D-451A-9AA4-B239DC3E9426}" dt="2026-08-17T09:35:02.080" v="21994"/>
        <pc:sldMkLst>
          <pc:docMk/>
          <pc:sldMk cId="1897622684" sldId="2146851513"/>
        </pc:sldMkLst>
        <pc:graphicFrameChg chg="mod">
          <ac:chgData name="Desi Armanda Sari" userId="09767da1-9849-4ce7-a32e-b30664c451cf" providerId="ADAL" clId="{753EB39C-633D-451A-9AA4-B239DC3E9426}" dt="2026-08-17T09:35:02.080" v="21994"/>
          <ac:graphicFrameMkLst>
            <pc:docMk/>
            <pc:sldMk cId="1897622684" sldId="2146851513"/>
            <ac:graphicFrameMk id="5" creationId="{4B2963F8-4CE2-CBC5-DDB8-D6C95609AA1D}"/>
          </ac:graphicFrameMkLst>
        </pc:graphicFrameChg>
      </pc:sldChg>
      <pc:sldChg chg="modSp add mod">
        <pc:chgData name="Desi Armanda Sari" userId="09767da1-9849-4ce7-a32e-b30664c451cf" providerId="ADAL" clId="{753EB39C-633D-451A-9AA4-B239DC3E9426}" dt="2026-08-17T09:35:49.110" v="21997"/>
        <pc:sldMkLst>
          <pc:docMk/>
          <pc:sldMk cId="2089036573" sldId="2146851514"/>
        </pc:sldMkLst>
        <pc:graphicFrameChg chg="mod modGraphic">
          <ac:chgData name="Desi Armanda Sari" userId="09767da1-9849-4ce7-a32e-b30664c451cf" providerId="ADAL" clId="{753EB39C-633D-451A-9AA4-B239DC3E9426}" dt="2026-08-17T09:35:49.110" v="21997"/>
          <ac:graphicFrameMkLst>
            <pc:docMk/>
            <pc:sldMk cId="2089036573" sldId="2146851514"/>
            <ac:graphicFrameMk id="5" creationId="{B684D90D-1045-E501-B07E-EE038361801F}"/>
          </ac:graphicFrameMkLst>
        </pc:graphicFrameChg>
      </pc:sldChg>
      <pc:sldChg chg="modSp add mod">
        <pc:chgData name="Desi Armanda Sari" userId="09767da1-9849-4ce7-a32e-b30664c451cf" providerId="ADAL" clId="{753EB39C-633D-451A-9AA4-B239DC3E9426}" dt="2026-08-17T09:54:03.444" v="22128"/>
        <pc:sldMkLst>
          <pc:docMk/>
          <pc:sldMk cId="2544938985" sldId="2146851515"/>
        </pc:sldMkLst>
        <pc:spChg chg="mod">
          <ac:chgData name="Desi Armanda Sari" userId="09767da1-9849-4ce7-a32e-b30664c451cf" providerId="ADAL" clId="{753EB39C-633D-451A-9AA4-B239DC3E9426}" dt="2026-08-17T09:53:59.190" v="22127" actId="20577"/>
          <ac:spMkLst>
            <pc:docMk/>
            <pc:sldMk cId="2544938985" sldId="2146851515"/>
            <ac:spMk id="6" creationId="{E606713A-E1E6-05DF-D27D-3BE97D47F7A3}"/>
          </ac:spMkLst>
        </pc:spChg>
        <pc:graphicFrameChg chg="mod">
          <ac:chgData name="Desi Armanda Sari" userId="09767da1-9849-4ce7-a32e-b30664c451cf" providerId="ADAL" clId="{753EB39C-633D-451A-9AA4-B239DC3E9426}" dt="2026-08-17T09:54:03.444" v="22128"/>
          <ac:graphicFrameMkLst>
            <pc:docMk/>
            <pc:sldMk cId="2544938985" sldId="2146851515"/>
            <ac:graphicFrameMk id="5" creationId="{9C61C81F-29CD-49E5-5B87-47501F3B1AAE}"/>
          </ac:graphicFrameMkLst>
        </pc:graphicFrameChg>
      </pc:sldChg>
      <pc:sldChg chg="modSp add">
        <pc:chgData name="Desi Armanda Sari" userId="09767da1-9849-4ce7-a32e-b30664c451cf" providerId="ADAL" clId="{753EB39C-633D-451A-9AA4-B239DC3E9426}" dt="2026-08-17T09:54:46.841" v="22131"/>
        <pc:sldMkLst>
          <pc:docMk/>
          <pc:sldMk cId="136496320" sldId="2146851516"/>
        </pc:sldMkLst>
        <pc:graphicFrameChg chg="mod">
          <ac:chgData name="Desi Armanda Sari" userId="09767da1-9849-4ce7-a32e-b30664c451cf" providerId="ADAL" clId="{753EB39C-633D-451A-9AA4-B239DC3E9426}" dt="2026-08-17T09:54:46.841" v="22131"/>
          <ac:graphicFrameMkLst>
            <pc:docMk/>
            <pc:sldMk cId="136496320" sldId="2146851516"/>
            <ac:graphicFrameMk id="5" creationId="{4905E0A4-4614-B420-4C49-CAA614EED076}"/>
          </ac:graphicFrameMkLst>
        </pc:graphicFrameChg>
      </pc:sldChg>
      <pc:sldChg chg="modSp add">
        <pc:chgData name="Desi Armanda Sari" userId="09767da1-9849-4ce7-a32e-b30664c451cf" providerId="ADAL" clId="{753EB39C-633D-451A-9AA4-B239DC3E9426}" dt="2026-08-17T09:55:26.535" v="22134"/>
        <pc:sldMkLst>
          <pc:docMk/>
          <pc:sldMk cId="1477539718" sldId="2146851517"/>
        </pc:sldMkLst>
        <pc:graphicFrameChg chg="mod">
          <ac:chgData name="Desi Armanda Sari" userId="09767da1-9849-4ce7-a32e-b30664c451cf" providerId="ADAL" clId="{753EB39C-633D-451A-9AA4-B239DC3E9426}" dt="2026-08-17T09:55:26.535" v="22134"/>
          <ac:graphicFrameMkLst>
            <pc:docMk/>
            <pc:sldMk cId="1477539718" sldId="2146851517"/>
            <ac:graphicFrameMk id="5" creationId="{D490409A-520C-C448-01D5-29B5BC6B1B7F}"/>
          </ac:graphicFrameMkLst>
        </pc:graphicFrameChg>
      </pc:sldChg>
      <pc:sldChg chg="modSp add">
        <pc:chgData name="Desi Armanda Sari" userId="09767da1-9849-4ce7-a32e-b30664c451cf" providerId="ADAL" clId="{753EB39C-633D-451A-9AA4-B239DC3E9426}" dt="2026-08-17T09:56:00.731" v="22137"/>
        <pc:sldMkLst>
          <pc:docMk/>
          <pc:sldMk cId="1481291428" sldId="2146851518"/>
        </pc:sldMkLst>
        <pc:graphicFrameChg chg="mod">
          <ac:chgData name="Desi Armanda Sari" userId="09767da1-9849-4ce7-a32e-b30664c451cf" providerId="ADAL" clId="{753EB39C-633D-451A-9AA4-B239DC3E9426}" dt="2026-08-17T09:56:00.731" v="22137"/>
          <ac:graphicFrameMkLst>
            <pc:docMk/>
            <pc:sldMk cId="1481291428" sldId="2146851518"/>
            <ac:graphicFrameMk id="5" creationId="{7B5A3B23-C2CA-AB65-C6EC-C19D5FD2CDD2}"/>
          </ac:graphicFrameMkLst>
        </pc:graphicFrameChg>
      </pc:sldChg>
      <pc:sldChg chg="modSp add">
        <pc:chgData name="Desi Armanda Sari" userId="09767da1-9849-4ce7-a32e-b30664c451cf" providerId="ADAL" clId="{753EB39C-633D-451A-9AA4-B239DC3E9426}" dt="2026-08-17T09:56:42.118" v="22140"/>
        <pc:sldMkLst>
          <pc:docMk/>
          <pc:sldMk cId="803373850" sldId="2146851519"/>
        </pc:sldMkLst>
        <pc:graphicFrameChg chg="mod">
          <ac:chgData name="Desi Armanda Sari" userId="09767da1-9849-4ce7-a32e-b30664c451cf" providerId="ADAL" clId="{753EB39C-633D-451A-9AA4-B239DC3E9426}" dt="2026-08-17T09:56:42.118" v="22140"/>
          <ac:graphicFrameMkLst>
            <pc:docMk/>
            <pc:sldMk cId="803373850" sldId="2146851519"/>
            <ac:graphicFrameMk id="5" creationId="{2B3C3CF2-991D-4338-21DA-7773763BC12F}"/>
          </ac:graphicFrameMkLst>
        </pc:graphicFrameChg>
      </pc:sldChg>
      <pc:sldChg chg="modSp add">
        <pc:chgData name="Desi Armanda Sari" userId="09767da1-9849-4ce7-a32e-b30664c451cf" providerId="ADAL" clId="{753EB39C-633D-451A-9AA4-B239DC3E9426}" dt="2026-08-17T09:57:19.374" v="22143"/>
        <pc:sldMkLst>
          <pc:docMk/>
          <pc:sldMk cId="687448187" sldId="2146851520"/>
        </pc:sldMkLst>
        <pc:graphicFrameChg chg="mod">
          <ac:chgData name="Desi Armanda Sari" userId="09767da1-9849-4ce7-a32e-b30664c451cf" providerId="ADAL" clId="{753EB39C-633D-451A-9AA4-B239DC3E9426}" dt="2026-08-17T09:57:19.374" v="22143"/>
          <ac:graphicFrameMkLst>
            <pc:docMk/>
            <pc:sldMk cId="687448187" sldId="2146851520"/>
            <ac:graphicFrameMk id="5" creationId="{1DD7F9AF-FBB5-3325-E46F-39A9F8368B12}"/>
          </ac:graphicFrameMkLst>
        </pc:graphicFrameChg>
      </pc:sldChg>
      <pc:sldChg chg="modSp add">
        <pc:chgData name="Desi Armanda Sari" userId="09767da1-9849-4ce7-a32e-b30664c451cf" providerId="ADAL" clId="{753EB39C-633D-451A-9AA4-B239DC3E9426}" dt="2026-08-17T09:58:02.461" v="22146"/>
        <pc:sldMkLst>
          <pc:docMk/>
          <pc:sldMk cId="705609384" sldId="2146851521"/>
        </pc:sldMkLst>
        <pc:graphicFrameChg chg="mod">
          <ac:chgData name="Desi Armanda Sari" userId="09767da1-9849-4ce7-a32e-b30664c451cf" providerId="ADAL" clId="{753EB39C-633D-451A-9AA4-B239DC3E9426}" dt="2026-08-17T09:58:02.461" v="22146"/>
          <ac:graphicFrameMkLst>
            <pc:docMk/>
            <pc:sldMk cId="705609384" sldId="2146851521"/>
            <ac:graphicFrameMk id="5" creationId="{B8517EFB-BC89-89B9-31B7-37E039F7B6C9}"/>
          </ac:graphicFrameMkLst>
        </pc:graphicFrameChg>
      </pc:sldChg>
      <pc:sldChg chg="modSp add">
        <pc:chgData name="Desi Armanda Sari" userId="09767da1-9849-4ce7-a32e-b30664c451cf" providerId="ADAL" clId="{753EB39C-633D-451A-9AA4-B239DC3E9426}" dt="2026-08-17T09:58:38.057" v="22149"/>
        <pc:sldMkLst>
          <pc:docMk/>
          <pc:sldMk cId="2153423743" sldId="2146851522"/>
        </pc:sldMkLst>
        <pc:graphicFrameChg chg="mod">
          <ac:chgData name="Desi Armanda Sari" userId="09767da1-9849-4ce7-a32e-b30664c451cf" providerId="ADAL" clId="{753EB39C-633D-451A-9AA4-B239DC3E9426}" dt="2026-08-17T09:58:38.057" v="22149"/>
          <ac:graphicFrameMkLst>
            <pc:docMk/>
            <pc:sldMk cId="2153423743" sldId="2146851522"/>
            <ac:graphicFrameMk id="5" creationId="{955BA5B6-7495-B363-8BA0-3C6B2EEBA1D0}"/>
          </ac:graphicFrameMkLst>
        </pc:graphicFrameChg>
      </pc:sldChg>
      <pc:sldChg chg="modSp add">
        <pc:chgData name="Desi Armanda Sari" userId="09767da1-9849-4ce7-a32e-b30664c451cf" providerId="ADAL" clId="{753EB39C-633D-451A-9AA4-B239DC3E9426}" dt="2026-08-17T10:01:42.378" v="22152"/>
        <pc:sldMkLst>
          <pc:docMk/>
          <pc:sldMk cId="1299856875" sldId="2146851523"/>
        </pc:sldMkLst>
        <pc:graphicFrameChg chg="mod">
          <ac:chgData name="Desi Armanda Sari" userId="09767da1-9849-4ce7-a32e-b30664c451cf" providerId="ADAL" clId="{753EB39C-633D-451A-9AA4-B239DC3E9426}" dt="2026-08-17T10:01:42.378" v="22152"/>
          <ac:graphicFrameMkLst>
            <pc:docMk/>
            <pc:sldMk cId="1299856875" sldId="2146851523"/>
            <ac:graphicFrameMk id="5" creationId="{7F771C9E-FC87-F2F7-FC76-8E81A3D95376}"/>
          </ac:graphicFrameMkLst>
        </pc:graphicFrameChg>
      </pc:sldChg>
      <pc:sldChg chg="modSp add">
        <pc:chgData name="Desi Armanda Sari" userId="09767da1-9849-4ce7-a32e-b30664c451cf" providerId="ADAL" clId="{753EB39C-633D-451A-9AA4-B239DC3E9426}" dt="2026-08-17T10:02:27.512" v="22155"/>
        <pc:sldMkLst>
          <pc:docMk/>
          <pc:sldMk cId="1641451355" sldId="2146851524"/>
        </pc:sldMkLst>
        <pc:graphicFrameChg chg="mod">
          <ac:chgData name="Desi Armanda Sari" userId="09767da1-9849-4ce7-a32e-b30664c451cf" providerId="ADAL" clId="{753EB39C-633D-451A-9AA4-B239DC3E9426}" dt="2026-08-17T10:02:27.512" v="22155"/>
          <ac:graphicFrameMkLst>
            <pc:docMk/>
            <pc:sldMk cId="1641451355" sldId="2146851524"/>
            <ac:graphicFrameMk id="5" creationId="{F0FA5956-3AE9-07D8-DD7C-783BE6EE98AB}"/>
          </ac:graphicFrameMkLst>
        </pc:graphicFrameChg>
      </pc:sldChg>
      <pc:sldChg chg="modSp add">
        <pc:chgData name="Desi Armanda Sari" userId="09767da1-9849-4ce7-a32e-b30664c451cf" providerId="ADAL" clId="{753EB39C-633D-451A-9AA4-B239DC3E9426}" dt="2026-08-17T10:03:27.727" v="22158"/>
        <pc:sldMkLst>
          <pc:docMk/>
          <pc:sldMk cId="2023255735" sldId="2146851525"/>
        </pc:sldMkLst>
        <pc:graphicFrameChg chg="mod">
          <ac:chgData name="Desi Armanda Sari" userId="09767da1-9849-4ce7-a32e-b30664c451cf" providerId="ADAL" clId="{753EB39C-633D-451A-9AA4-B239DC3E9426}" dt="2026-08-17T10:03:27.727" v="22158"/>
          <ac:graphicFrameMkLst>
            <pc:docMk/>
            <pc:sldMk cId="2023255735" sldId="2146851525"/>
            <ac:graphicFrameMk id="5" creationId="{E0F6FE93-4ADA-AE59-D9E2-936247C4C07B}"/>
          </ac:graphicFrameMkLst>
        </pc:graphicFrameChg>
      </pc:sldChg>
      <pc:sldChg chg="modSp add">
        <pc:chgData name="Desi Armanda Sari" userId="09767da1-9849-4ce7-a32e-b30664c451cf" providerId="ADAL" clId="{753EB39C-633D-451A-9AA4-B239DC3E9426}" dt="2026-08-17T10:05:22.131" v="22161"/>
        <pc:sldMkLst>
          <pc:docMk/>
          <pc:sldMk cId="515112471" sldId="2146851526"/>
        </pc:sldMkLst>
        <pc:graphicFrameChg chg="mod">
          <ac:chgData name="Desi Armanda Sari" userId="09767da1-9849-4ce7-a32e-b30664c451cf" providerId="ADAL" clId="{753EB39C-633D-451A-9AA4-B239DC3E9426}" dt="2026-08-17T10:05:22.131" v="22161"/>
          <ac:graphicFrameMkLst>
            <pc:docMk/>
            <pc:sldMk cId="515112471" sldId="2146851526"/>
            <ac:graphicFrameMk id="5" creationId="{3F02C7F4-4EBC-0A7F-4C5E-D7CC1CF6A8C8}"/>
          </ac:graphicFrameMkLst>
        </pc:graphicFrameChg>
      </pc:sldChg>
      <pc:sldChg chg="modSp add">
        <pc:chgData name="Desi Armanda Sari" userId="09767da1-9849-4ce7-a32e-b30664c451cf" providerId="ADAL" clId="{753EB39C-633D-451A-9AA4-B239DC3E9426}" dt="2026-08-17T10:06:24.970" v="22164"/>
        <pc:sldMkLst>
          <pc:docMk/>
          <pc:sldMk cId="4236588903" sldId="2146851527"/>
        </pc:sldMkLst>
        <pc:graphicFrameChg chg="mod">
          <ac:chgData name="Desi Armanda Sari" userId="09767da1-9849-4ce7-a32e-b30664c451cf" providerId="ADAL" clId="{753EB39C-633D-451A-9AA4-B239DC3E9426}" dt="2026-08-17T10:06:24.970" v="22164"/>
          <ac:graphicFrameMkLst>
            <pc:docMk/>
            <pc:sldMk cId="4236588903" sldId="2146851527"/>
            <ac:graphicFrameMk id="5" creationId="{B79F800E-57C5-64A2-9AE6-28DDD74E94F1}"/>
          </ac:graphicFrameMkLst>
        </pc:graphicFrameChg>
      </pc:sldChg>
      <pc:sldChg chg="modSp add">
        <pc:chgData name="Desi Armanda Sari" userId="09767da1-9849-4ce7-a32e-b30664c451cf" providerId="ADAL" clId="{753EB39C-633D-451A-9AA4-B239DC3E9426}" dt="2026-08-17T10:07:01.027" v="22167"/>
        <pc:sldMkLst>
          <pc:docMk/>
          <pc:sldMk cId="708751000" sldId="2146851528"/>
        </pc:sldMkLst>
        <pc:graphicFrameChg chg="mod">
          <ac:chgData name="Desi Armanda Sari" userId="09767da1-9849-4ce7-a32e-b30664c451cf" providerId="ADAL" clId="{753EB39C-633D-451A-9AA4-B239DC3E9426}" dt="2026-08-17T10:07:01.027" v="22167"/>
          <ac:graphicFrameMkLst>
            <pc:docMk/>
            <pc:sldMk cId="708751000" sldId="2146851528"/>
            <ac:graphicFrameMk id="5" creationId="{EB931FE6-EC78-3E30-4A97-DE7441539F3F}"/>
          </ac:graphicFrameMkLst>
        </pc:graphicFrameChg>
      </pc:sldChg>
      <pc:sldChg chg="modSp add">
        <pc:chgData name="Desi Armanda Sari" userId="09767da1-9849-4ce7-a32e-b30664c451cf" providerId="ADAL" clId="{753EB39C-633D-451A-9AA4-B239DC3E9426}" dt="2026-08-17T10:07:33.070" v="22170"/>
        <pc:sldMkLst>
          <pc:docMk/>
          <pc:sldMk cId="2591459701" sldId="2146851529"/>
        </pc:sldMkLst>
        <pc:graphicFrameChg chg="mod">
          <ac:chgData name="Desi Armanda Sari" userId="09767da1-9849-4ce7-a32e-b30664c451cf" providerId="ADAL" clId="{753EB39C-633D-451A-9AA4-B239DC3E9426}" dt="2026-08-17T10:07:33.070" v="22170"/>
          <ac:graphicFrameMkLst>
            <pc:docMk/>
            <pc:sldMk cId="2591459701" sldId="2146851529"/>
            <ac:graphicFrameMk id="5" creationId="{83074452-90E5-3D47-9AAF-C518864EB409}"/>
          </ac:graphicFrameMkLst>
        </pc:graphicFrameChg>
      </pc:sldChg>
      <pc:sldChg chg="modSp add">
        <pc:chgData name="Desi Armanda Sari" userId="09767da1-9849-4ce7-a32e-b30664c451cf" providerId="ADAL" clId="{753EB39C-633D-451A-9AA4-B239DC3E9426}" dt="2026-08-17T10:08:25.710" v="22173"/>
        <pc:sldMkLst>
          <pc:docMk/>
          <pc:sldMk cId="4022409517" sldId="2146851530"/>
        </pc:sldMkLst>
        <pc:graphicFrameChg chg="mod">
          <ac:chgData name="Desi Armanda Sari" userId="09767da1-9849-4ce7-a32e-b30664c451cf" providerId="ADAL" clId="{753EB39C-633D-451A-9AA4-B239DC3E9426}" dt="2026-08-17T10:08:25.710" v="22173"/>
          <ac:graphicFrameMkLst>
            <pc:docMk/>
            <pc:sldMk cId="4022409517" sldId="2146851530"/>
            <ac:graphicFrameMk id="5" creationId="{F2C5A80F-9284-DE0E-8501-11249B483E41}"/>
          </ac:graphicFrameMkLst>
        </pc:graphicFrameChg>
      </pc:sldChg>
      <pc:sldChg chg="modSp add">
        <pc:chgData name="Desi Armanda Sari" userId="09767da1-9849-4ce7-a32e-b30664c451cf" providerId="ADAL" clId="{753EB39C-633D-451A-9AA4-B239DC3E9426}" dt="2026-08-17T10:09:27.121" v="22176"/>
        <pc:sldMkLst>
          <pc:docMk/>
          <pc:sldMk cId="1889945271" sldId="2146851531"/>
        </pc:sldMkLst>
        <pc:graphicFrameChg chg="mod">
          <ac:chgData name="Desi Armanda Sari" userId="09767da1-9849-4ce7-a32e-b30664c451cf" providerId="ADAL" clId="{753EB39C-633D-451A-9AA4-B239DC3E9426}" dt="2026-08-17T10:09:27.121" v="22176"/>
          <ac:graphicFrameMkLst>
            <pc:docMk/>
            <pc:sldMk cId="1889945271" sldId="2146851531"/>
            <ac:graphicFrameMk id="5" creationId="{9452D156-3B47-9AD2-8B19-377D1C79AA29}"/>
          </ac:graphicFrameMkLst>
        </pc:graphicFrameChg>
      </pc:sldChg>
      <pc:sldChg chg="modSp add mod">
        <pc:chgData name="Desi Armanda Sari" userId="09767da1-9849-4ce7-a32e-b30664c451cf" providerId="ADAL" clId="{753EB39C-633D-451A-9AA4-B239DC3E9426}" dt="2026-08-17T10:11:03.445" v="22183"/>
        <pc:sldMkLst>
          <pc:docMk/>
          <pc:sldMk cId="729457894" sldId="2146851532"/>
        </pc:sldMkLst>
        <pc:graphicFrameChg chg="mod modGraphic">
          <ac:chgData name="Desi Armanda Sari" userId="09767da1-9849-4ce7-a32e-b30664c451cf" providerId="ADAL" clId="{753EB39C-633D-451A-9AA4-B239DC3E9426}" dt="2026-08-17T10:11:03.445" v="22183"/>
          <ac:graphicFrameMkLst>
            <pc:docMk/>
            <pc:sldMk cId="729457894" sldId="2146851532"/>
            <ac:graphicFrameMk id="5" creationId="{B2F2DC8B-0C8A-7FED-CCFF-0C72FA54C5EE}"/>
          </ac:graphicFrameMkLst>
        </pc:graphicFrameChg>
      </pc:sldChg>
      <pc:sldChg chg="modSp add mod">
        <pc:chgData name="Desi Armanda Sari" userId="09767da1-9849-4ce7-a32e-b30664c451cf" providerId="ADAL" clId="{753EB39C-633D-451A-9AA4-B239DC3E9426}" dt="2026-08-17T18:46:06.528" v="25965" actId="20577"/>
        <pc:sldMkLst>
          <pc:docMk/>
          <pc:sldMk cId="421004976" sldId="2146851533"/>
        </pc:sldMkLst>
        <pc:spChg chg="mod">
          <ac:chgData name="Desi Armanda Sari" userId="09767da1-9849-4ce7-a32e-b30664c451cf" providerId="ADAL" clId="{753EB39C-633D-451A-9AA4-B239DC3E9426}" dt="2026-08-17T18:46:00.611" v="25957" actId="20577"/>
          <ac:spMkLst>
            <pc:docMk/>
            <pc:sldMk cId="421004976" sldId="2146851533"/>
            <ac:spMk id="48" creationId="{69B7D328-0EE5-C503-81C5-55BD4A2599D9}"/>
          </ac:spMkLst>
        </pc:spChg>
        <pc:spChg chg="mod">
          <ac:chgData name="Desi Armanda Sari" userId="09767da1-9849-4ce7-a32e-b30664c451cf" providerId="ADAL" clId="{753EB39C-633D-451A-9AA4-B239DC3E9426}" dt="2026-08-17T18:46:06.528" v="25965" actId="20577"/>
          <ac:spMkLst>
            <pc:docMk/>
            <pc:sldMk cId="421004976" sldId="2146851533"/>
            <ac:spMk id="57" creationId="{A835E54B-EF7B-AF03-53C1-F3621E202B59}"/>
          </ac:spMkLst>
        </pc:spChg>
      </pc:sldChg>
    </pc:docChg>
  </pc:docChgLst>
  <pc:docChgLst>
    <pc:chgData name="Corporate Talent Acquisition Cimory Group" userId="S::recruitment@cimory.com::febf222e-6949-493b-92b8-551375ecf797" providerId="AD" clId="Web-{48135D8F-1D6B-A50D-C499-3B87D3973400}"/>
    <pc:docChg chg="addSld delSld modSld">
      <pc:chgData name="Corporate Talent Acquisition Cimory Group" userId="S::recruitment@cimory.com::febf222e-6949-493b-92b8-551375ecf797" providerId="AD" clId="Web-{48135D8F-1D6B-A50D-C499-3B87D3973400}" dt="2026-08-02T15:13:44.715" v="110"/>
      <pc:docMkLst>
        <pc:docMk/>
      </pc:docMkLst>
      <pc:sldChg chg="modSp">
        <pc:chgData name="Corporate Talent Acquisition Cimory Group" userId="S::recruitment@cimory.com::febf222e-6949-493b-92b8-551375ecf797" providerId="AD" clId="Web-{48135D8F-1D6B-A50D-C499-3B87D3973400}" dt="2026-08-02T15:13:01.760" v="26"/>
        <pc:sldMkLst>
          <pc:docMk/>
          <pc:sldMk cId="2876780036" sldId="2146851143"/>
        </pc:sldMkLst>
        <pc:graphicFrameChg chg="mod modGraphic">
          <ac:chgData name="Corporate Talent Acquisition Cimory Group" userId="S::recruitment@cimory.com::febf222e-6949-493b-92b8-551375ecf797" providerId="AD" clId="Web-{48135D8F-1D6B-A50D-C499-3B87D3973400}" dt="2026-08-02T15:13:01.760" v="26"/>
          <ac:graphicFrameMkLst>
            <pc:docMk/>
            <pc:sldMk cId="2876780036" sldId="2146851143"/>
            <ac:graphicFrameMk id="9" creationId="{3D35D125-2ED7-1C1B-7432-E5A7BF888B11}"/>
          </ac:graphicFrameMkLst>
        </pc:graphicFrameChg>
      </pc:sldChg>
      <pc:sldChg chg="modSp">
        <pc:chgData name="Corporate Talent Acquisition Cimory Group" userId="S::recruitment@cimory.com::febf222e-6949-493b-92b8-551375ecf797" providerId="AD" clId="Web-{48135D8F-1D6B-A50D-C499-3B87D3973400}" dt="2026-08-02T15:13:44.715" v="110"/>
        <pc:sldMkLst>
          <pc:docMk/>
          <pc:sldMk cId="1004498006" sldId="2146851269"/>
        </pc:sldMkLst>
        <pc:graphicFrameChg chg="mod modGraphic">
          <ac:chgData name="Corporate Talent Acquisition Cimory Group" userId="S::recruitment@cimory.com::febf222e-6949-493b-92b8-551375ecf797" providerId="AD" clId="Web-{48135D8F-1D6B-A50D-C499-3B87D3973400}" dt="2026-08-02T15:13:44.715" v="110"/>
          <ac:graphicFrameMkLst>
            <pc:docMk/>
            <pc:sldMk cId="1004498006" sldId="2146851269"/>
            <ac:graphicFrameMk id="9" creationId="{FBBBA860-8475-48DB-D6AC-8E15AA010274}"/>
          </ac:graphicFrameMkLst>
        </pc:graphicFrameChg>
      </pc:sldChg>
    </pc:docChg>
  </pc:docChgLst>
  <pc:docChgLst>
    <pc:chgData name="Khairina Herind Septarini W" userId="S::khairina.herind@cimory.com::4d43d73c-e798-43a5-943d-306385f9cfe3" providerId="AD" clId="Web-{F9389475-6D54-1DBD-4589-B73A21D615F2}"/>
    <pc:docChg chg="addSld delSld modSld sldOrd">
      <pc:chgData name="Khairina Herind Septarini W" userId="S::khairina.herind@cimory.com::4d43d73c-e798-43a5-943d-306385f9cfe3" providerId="AD" clId="Web-{F9389475-6D54-1DBD-4589-B73A21D615F2}" dt="2026-07-31T11:46:39.316" v="292"/>
      <pc:docMkLst>
        <pc:docMk/>
      </pc:docMkLst>
    </pc:docChg>
  </pc:docChgLst>
  <pc:docChgLst>
    <pc:chgData name="Khairina Herind Septarini W" userId="S::khairina.herind@cimory.com::4d43d73c-e798-43a5-943d-306385f9cfe3" providerId="AD" clId="Web-{E200A918-50CD-3540-9ED4-D933C53A7389}"/>
    <pc:docChg chg="modSld">
      <pc:chgData name="Khairina Herind Septarini W" userId="S::khairina.herind@cimory.com::4d43d73c-e798-43a5-943d-306385f9cfe3" providerId="AD" clId="Web-{E200A918-50CD-3540-9ED4-D933C53A7389}" dt="2026-08-17T08:25:04.806" v="4" actId="1076"/>
      <pc:docMkLst>
        <pc:docMk/>
      </pc:docMkLst>
      <pc:sldChg chg="modSp">
        <pc:chgData name="Khairina Herind Septarini W" userId="S::khairina.herind@cimory.com::4d43d73c-e798-43a5-943d-306385f9cfe3" providerId="AD" clId="Web-{E200A918-50CD-3540-9ED4-D933C53A7389}" dt="2026-08-17T08:25:04.806" v="4" actId="1076"/>
        <pc:sldMkLst>
          <pc:docMk/>
          <pc:sldMk cId="2961837861" sldId="2146851372"/>
        </pc:sldMkLst>
        <pc:picChg chg="mod">
          <ac:chgData name="Khairina Herind Septarini W" userId="S::khairina.herind@cimory.com::4d43d73c-e798-43a5-943d-306385f9cfe3" providerId="AD" clId="Web-{E200A918-50CD-3540-9ED4-D933C53A7389}" dt="2026-08-17T08:25:04.806" v="4" actId="1076"/>
          <ac:picMkLst>
            <pc:docMk/>
            <pc:sldMk cId="2961837861" sldId="2146851372"/>
            <ac:picMk id="7" creationId="{7073FCCB-992B-4961-B928-E6C84786D5FE}"/>
          </ac:picMkLst>
        </pc:picChg>
      </pc:sldChg>
    </pc:docChg>
  </pc:docChgLst>
  <pc:docChgLst>
    <pc:chgData name="Avrellia Marta Suryaningtyas" userId="S::avrellia.marta@cimory.com::02673abe-d8f8-48b6-b2a3-304af2f80eaf" providerId="AD" clId="Web-{CDBFAE6E-6B6B-C4BF-AD29-5DD2B5BFA944}"/>
    <pc:docChg chg="modSld">
      <pc:chgData name="Avrellia Marta Suryaningtyas" userId="S::avrellia.marta@cimory.com::02673abe-d8f8-48b6-b2a3-304af2f80eaf" providerId="AD" clId="Web-{CDBFAE6E-6B6B-C4BF-AD29-5DD2B5BFA944}" dt="2026-08-10T12:22:09.765" v="103"/>
      <pc:docMkLst>
        <pc:docMk/>
      </pc:docMkLst>
      <pc:sldChg chg="addSp delSp">
        <pc:chgData name="Avrellia Marta Suryaningtyas" userId="S::avrellia.marta@cimory.com::02673abe-d8f8-48b6-b2a3-304af2f80eaf" providerId="AD" clId="Web-{CDBFAE6E-6B6B-C4BF-AD29-5DD2B5BFA944}" dt="2026-08-10T12:20:40.369" v="69"/>
        <pc:sldMkLst>
          <pc:docMk/>
          <pc:sldMk cId="2367542049" sldId="2146851242"/>
        </pc:sldMkLst>
      </pc:sldChg>
      <pc:sldChg chg="modSp">
        <pc:chgData name="Avrellia Marta Suryaningtyas" userId="S::avrellia.marta@cimory.com::02673abe-d8f8-48b6-b2a3-304af2f80eaf" providerId="AD" clId="Web-{CDBFAE6E-6B6B-C4BF-AD29-5DD2B5BFA944}" dt="2026-08-10T12:20:28.290" v="33" actId="20577"/>
        <pc:sldMkLst>
          <pc:docMk/>
          <pc:sldMk cId="3070779609" sldId="2146851266"/>
        </pc:sldMkLst>
        <pc:spChg chg="mod">
          <ac:chgData name="Avrellia Marta Suryaningtyas" userId="S::avrellia.marta@cimory.com::02673abe-d8f8-48b6-b2a3-304af2f80eaf" providerId="AD" clId="Web-{CDBFAE6E-6B6B-C4BF-AD29-5DD2B5BFA944}" dt="2026-08-10T12:18:37.518" v="24" actId="20577"/>
          <ac:spMkLst>
            <pc:docMk/>
            <pc:sldMk cId="3070779609" sldId="2146851266"/>
            <ac:spMk id="8" creationId="{4798168A-D7DD-BE27-271E-03178EF39EE8}"/>
          </ac:spMkLst>
        </pc:spChg>
        <pc:spChg chg="mod">
          <ac:chgData name="Avrellia Marta Suryaningtyas" userId="S::avrellia.marta@cimory.com::02673abe-d8f8-48b6-b2a3-304af2f80eaf" providerId="AD" clId="Web-{CDBFAE6E-6B6B-C4BF-AD29-5DD2B5BFA944}" dt="2026-08-10T12:18:41.721" v="26" actId="20577"/>
          <ac:spMkLst>
            <pc:docMk/>
            <pc:sldMk cId="3070779609" sldId="2146851266"/>
            <ac:spMk id="30" creationId="{D1255F4A-CB0D-F50E-426C-5D842355B1D9}"/>
          </ac:spMkLst>
        </pc:spChg>
        <pc:spChg chg="mod">
          <ac:chgData name="Avrellia Marta Suryaningtyas" userId="S::avrellia.marta@cimory.com::02673abe-d8f8-48b6-b2a3-304af2f80eaf" providerId="AD" clId="Web-{CDBFAE6E-6B6B-C4BF-AD29-5DD2B5BFA944}" dt="2026-08-10T12:18:43.893" v="27" actId="20577"/>
          <ac:spMkLst>
            <pc:docMk/>
            <pc:sldMk cId="3070779609" sldId="2146851266"/>
            <ac:spMk id="41" creationId="{BB05F979-36E6-EA82-5B1E-B1A70B31C120}"/>
          </ac:spMkLst>
        </pc:spChg>
        <pc:spChg chg="mod">
          <ac:chgData name="Avrellia Marta Suryaningtyas" userId="S::avrellia.marta@cimory.com::02673abe-d8f8-48b6-b2a3-304af2f80eaf" providerId="AD" clId="Web-{CDBFAE6E-6B6B-C4BF-AD29-5DD2B5BFA944}" dt="2026-08-10T12:19:16.708" v="30" actId="20577"/>
          <ac:spMkLst>
            <pc:docMk/>
            <pc:sldMk cId="3070779609" sldId="2146851266"/>
            <ac:spMk id="48" creationId="{BF844A6B-64D0-4494-F5FD-E80DFA438EEC}"/>
          </ac:spMkLst>
        </pc:spChg>
        <pc:spChg chg="mod">
          <ac:chgData name="Avrellia Marta Suryaningtyas" userId="S::avrellia.marta@cimory.com::02673abe-d8f8-48b6-b2a3-304af2f80eaf" providerId="AD" clId="Web-{CDBFAE6E-6B6B-C4BF-AD29-5DD2B5BFA944}" dt="2026-08-10T12:20:28.290" v="33" actId="20577"/>
          <ac:spMkLst>
            <pc:docMk/>
            <pc:sldMk cId="3070779609" sldId="2146851266"/>
            <ac:spMk id="56" creationId="{C83D8EC1-FEE8-F679-A7B8-BBD399B7BB71}"/>
          </ac:spMkLst>
        </pc:spChg>
      </pc:sldChg>
      <pc:sldChg chg="modSp">
        <pc:chgData name="Avrellia Marta Suryaningtyas" userId="S::avrellia.marta@cimory.com::02673abe-d8f8-48b6-b2a3-304af2f80eaf" providerId="AD" clId="Web-{CDBFAE6E-6B6B-C4BF-AD29-5DD2B5BFA944}" dt="2026-08-10T12:22:09.765" v="103"/>
        <pc:sldMkLst>
          <pc:docMk/>
          <pc:sldMk cId="3476432020" sldId="2146851308"/>
        </pc:sldMkLst>
        <pc:graphicFrameChg chg="mod modGraphic">
          <ac:chgData name="Avrellia Marta Suryaningtyas" userId="S::avrellia.marta@cimory.com::02673abe-d8f8-48b6-b2a3-304af2f80eaf" providerId="AD" clId="Web-{CDBFAE6E-6B6B-C4BF-AD29-5DD2B5BFA944}" dt="2026-08-10T12:22:09.765" v="103"/>
          <ac:graphicFrameMkLst>
            <pc:docMk/>
            <pc:sldMk cId="3476432020" sldId="2146851308"/>
            <ac:graphicFrameMk id="9" creationId="{5E26D0AD-0CE5-6D9C-28B1-F702A770DF6F}"/>
          </ac:graphicFrameMkLst>
        </pc:graphicFrameChg>
      </pc:sldChg>
    </pc:docChg>
  </pc:docChgLst>
  <pc:docChgLst>
    <pc:chgData name="Pauline Immanuel Supardi" userId="S::pauline.immanuel@cimory.com::6bddf53c-48c8-4584-85ce-fadb73123699" providerId="AD" clId="Web-{5675CB65-0421-3933-6840-57D637DE6014}"/>
    <pc:docChg chg="addSld delSld">
      <pc:chgData name="Pauline Immanuel Supardi" userId="S::pauline.immanuel@cimory.com::6bddf53c-48c8-4584-85ce-fadb73123699" providerId="AD" clId="Web-{5675CB65-0421-3933-6840-57D637DE6014}" dt="2026-07-26T03:04:58.146" v="20"/>
      <pc:docMkLst>
        <pc:docMk/>
      </pc:docMkLst>
    </pc:docChg>
  </pc:docChgLst>
  <pc:docChgLst>
    <pc:chgData name="Avrellia Marta Suryaningtyas" userId="S::avrellia.marta@cimory.com::02673abe-d8f8-48b6-b2a3-304af2f80eaf" providerId="AD" clId="Web-{14715F04-B8A9-F0F7-D177-933095D334C1}"/>
    <pc:docChg chg="modSld">
      <pc:chgData name="Avrellia Marta Suryaningtyas" userId="S::avrellia.marta@cimory.com::02673abe-d8f8-48b6-b2a3-304af2f80eaf" providerId="AD" clId="Web-{14715F04-B8A9-F0F7-D177-933095D334C1}" dt="2026-08-14T03:59:00.448" v="3523"/>
      <pc:docMkLst>
        <pc:docMk/>
      </pc:docMkLst>
      <pc:sldChg chg="modSp">
        <pc:chgData name="Avrellia Marta Suryaningtyas" userId="S::avrellia.marta@cimory.com::02673abe-d8f8-48b6-b2a3-304af2f80eaf" providerId="AD" clId="Web-{14715F04-B8A9-F0F7-D177-933095D334C1}" dt="2026-08-14T03:25:35.809" v="2066"/>
        <pc:sldMkLst>
          <pc:docMk/>
          <pc:sldMk cId="2876780036" sldId="2146851143"/>
        </pc:sldMkLst>
        <pc:graphicFrameChg chg="mod modGraphic">
          <ac:chgData name="Avrellia Marta Suryaningtyas" userId="S::avrellia.marta@cimory.com::02673abe-d8f8-48b6-b2a3-304af2f80eaf" providerId="AD" clId="Web-{14715F04-B8A9-F0F7-D177-933095D334C1}" dt="2026-08-14T03:25:35.809" v="2066"/>
          <ac:graphicFrameMkLst>
            <pc:docMk/>
            <pc:sldMk cId="2876780036" sldId="2146851143"/>
            <ac:graphicFrameMk id="9" creationId="{3D35D125-2ED7-1C1B-7432-E5A7BF888B11}"/>
          </ac:graphicFrameMkLst>
        </pc:graphicFrameChg>
      </pc:sldChg>
      <pc:sldChg chg="modSp">
        <pc:chgData name="Avrellia Marta Suryaningtyas" userId="S::avrellia.marta@cimory.com::02673abe-d8f8-48b6-b2a3-304af2f80eaf" providerId="AD" clId="Web-{14715F04-B8A9-F0F7-D177-933095D334C1}" dt="2026-08-14T03:49:39.364" v="3068"/>
        <pc:sldMkLst>
          <pc:docMk/>
          <pc:sldMk cId="1692529528" sldId="2146851144"/>
        </pc:sldMkLst>
        <pc:graphicFrameChg chg="mod modGraphic">
          <ac:chgData name="Avrellia Marta Suryaningtyas" userId="S::avrellia.marta@cimory.com::02673abe-d8f8-48b6-b2a3-304af2f80eaf" providerId="AD" clId="Web-{14715F04-B8A9-F0F7-D177-933095D334C1}" dt="2026-08-14T03:49:39.364" v="3068"/>
          <ac:graphicFrameMkLst>
            <pc:docMk/>
            <pc:sldMk cId="1692529528" sldId="2146851144"/>
            <ac:graphicFrameMk id="4" creationId="{45809656-3DBF-68A7-FF1A-9E6996B9FC77}"/>
          </ac:graphicFrameMkLst>
        </pc:graphicFrameChg>
      </pc:sldChg>
      <pc:sldChg chg="modSp">
        <pc:chgData name="Avrellia Marta Suryaningtyas" userId="S::avrellia.marta@cimory.com::02673abe-d8f8-48b6-b2a3-304af2f80eaf" providerId="AD" clId="Web-{14715F04-B8A9-F0F7-D177-933095D334C1}" dt="2026-08-14T03:58:17.868" v="3369"/>
        <pc:sldMkLst>
          <pc:docMk/>
          <pc:sldMk cId="173497381" sldId="2146851145"/>
        </pc:sldMkLst>
        <pc:graphicFrameChg chg="mod modGraphic">
          <ac:chgData name="Avrellia Marta Suryaningtyas" userId="S::avrellia.marta@cimory.com::02673abe-d8f8-48b6-b2a3-304af2f80eaf" providerId="AD" clId="Web-{14715F04-B8A9-F0F7-D177-933095D334C1}" dt="2026-08-14T03:58:17.868" v="3369"/>
          <ac:graphicFrameMkLst>
            <pc:docMk/>
            <pc:sldMk cId="173497381" sldId="2146851145"/>
            <ac:graphicFrameMk id="7" creationId="{03422E4B-98C8-64E3-0114-1C9940CB7598}"/>
          </ac:graphicFrameMkLst>
        </pc:graphicFrameChg>
      </pc:sldChg>
      <pc:sldChg chg="addSp delSp modSp">
        <pc:chgData name="Avrellia Marta Suryaningtyas" userId="S::avrellia.marta@cimory.com::02673abe-d8f8-48b6-b2a3-304af2f80eaf" providerId="AD" clId="Web-{14715F04-B8A9-F0F7-D177-933095D334C1}" dt="2026-08-14T02:37:41.998" v="1222"/>
        <pc:sldMkLst>
          <pc:docMk/>
          <pc:sldMk cId="2367542049" sldId="2146851242"/>
        </pc:sldMkLst>
        <pc:spChg chg="add">
          <ac:chgData name="Avrellia Marta Suryaningtyas" userId="S::avrellia.marta@cimory.com::02673abe-d8f8-48b6-b2a3-304af2f80eaf" providerId="AD" clId="Web-{14715F04-B8A9-F0F7-D177-933095D334C1}" dt="2026-08-14T02:37:40.779" v="1205"/>
          <ac:spMkLst>
            <pc:docMk/>
            <pc:sldMk cId="2367542049" sldId="2146851242"/>
            <ac:spMk id="9" creationId="{C5891F01-DBC8-9F0F-18F1-1CAB958B328D}"/>
          </ac:spMkLst>
        </pc:spChg>
        <pc:spChg chg="add">
          <ac:chgData name="Avrellia Marta Suryaningtyas" userId="S::avrellia.marta@cimory.com::02673abe-d8f8-48b6-b2a3-304af2f80eaf" providerId="AD" clId="Web-{14715F04-B8A9-F0F7-D177-933095D334C1}" dt="2026-08-14T02:37:40.858" v="1206"/>
          <ac:spMkLst>
            <pc:docMk/>
            <pc:sldMk cId="2367542049" sldId="2146851242"/>
            <ac:spMk id="12" creationId="{5AB53F95-8304-AE53-0A0A-B4169479454E}"/>
          </ac:spMkLst>
        </pc:spChg>
        <pc:spChg chg="add">
          <ac:chgData name="Avrellia Marta Suryaningtyas" userId="S::avrellia.marta@cimory.com::02673abe-d8f8-48b6-b2a3-304af2f80eaf" providerId="AD" clId="Web-{14715F04-B8A9-F0F7-D177-933095D334C1}" dt="2026-08-14T02:37:40.920" v="1207"/>
          <ac:spMkLst>
            <pc:docMk/>
            <pc:sldMk cId="2367542049" sldId="2146851242"/>
            <ac:spMk id="15" creationId="{1694B383-9173-DB9D-FB9D-89733195E6E6}"/>
          </ac:spMkLst>
        </pc:spChg>
        <pc:spChg chg="add">
          <ac:chgData name="Avrellia Marta Suryaningtyas" userId="S::avrellia.marta@cimory.com::02673abe-d8f8-48b6-b2a3-304af2f80eaf" providerId="AD" clId="Web-{14715F04-B8A9-F0F7-D177-933095D334C1}" dt="2026-08-14T02:37:40.998" v="1208"/>
          <ac:spMkLst>
            <pc:docMk/>
            <pc:sldMk cId="2367542049" sldId="2146851242"/>
            <ac:spMk id="18" creationId="{ED3E8342-7373-5D17-1D1D-9BE96F95736B}"/>
          </ac:spMkLst>
        </pc:spChg>
        <pc:spChg chg="add">
          <ac:chgData name="Avrellia Marta Suryaningtyas" userId="S::avrellia.marta@cimory.com::02673abe-d8f8-48b6-b2a3-304af2f80eaf" providerId="AD" clId="Web-{14715F04-B8A9-F0F7-D177-933095D334C1}" dt="2026-08-14T02:37:41.076" v="1209"/>
          <ac:spMkLst>
            <pc:docMk/>
            <pc:sldMk cId="2367542049" sldId="2146851242"/>
            <ac:spMk id="21" creationId="{B1FAD9A0-D4DF-E41D-125D-68C88356657B}"/>
          </ac:spMkLst>
        </pc:spChg>
        <pc:spChg chg="add">
          <ac:chgData name="Avrellia Marta Suryaningtyas" userId="S::avrellia.marta@cimory.com::02673abe-d8f8-48b6-b2a3-304af2f80eaf" providerId="AD" clId="Web-{14715F04-B8A9-F0F7-D177-933095D334C1}" dt="2026-08-14T02:37:41.154" v="1210"/>
          <ac:spMkLst>
            <pc:docMk/>
            <pc:sldMk cId="2367542049" sldId="2146851242"/>
            <ac:spMk id="24" creationId="{3F838F41-4E0D-BAAF-0F5A-3023865A618F}"/>
          </ac:spMkLst>
        </pc:spChg>
        <pc:spChg chg="add">
          <ac:chgData name="Avrellia Marta Suryaningtyas" userId="S::avrellia.marta@cimory.com::02673abe-d8f8-48b6-b2a3-304af2f80eaf" providerId="AD" clId="Web-{14715F04-B8A9-F0F7-D177-933095D334C1}" dt="2026-08-14T02:37:41.217" v="1211"/>
          <ac:spMkLst>
            <pc:docMk/>
            <pc:sldMk cId="2367542049" sldId="2146851242"/>
            <ac:spMk id="27" creationId="{81101121-8C7E-C1A4-6170-A566C229F19D}"/>
          </ac:spMkLst>
        </pc:spChg>
        <pc:spChg chg="add">
          <ac:chgData name="Avrellia Marta Suryaningtyas" userId="S::avrellia.marta@cimory.com::02673abe-d8f8-48b6-b2a3-304af2f80eaf" providerId="AD" clId="Web-{14715F04-B8A9-F0F7-D177-933095D334C1}" dt="2026-08-14T02:37:41.295" v="1212"/>
          <ac:spMkLst>
            <pc:docMk/>
            <pc:sldMk cId="2367542049" sldId="2146851242"/>
            <ac:spMk id="30" creationId="{A7AEFD97-96DF-0709-B4CD-25B81C077532}"/>
          </ac:spMkLst>
        </pc:spChg>
        <pc:spChg chg="add">
          <ac:chgData name="Avrellia Marta Suryaningtyas" userId="S::avrellia.marta@cimory.com::02673abe-d8f8-48b6-b2a3-304af2f80eaf" providerId="AD" clId="Web-{14715F04-B8A9-F0F7-D177-933095D334C1}" dt="2026-08-14T02:37:41.373" v="1213"/>
          <ac:spMkLst>
            <pc:docMk/>
            <pc:sldMk cId="2367542049" sldId="2146851242"/>
            <ac:spMk id="33" creationId="{F5E31385-6CD1-7C9D-571C-02D66EF87144}"/>
          </ac:spMkLst>
        </pc:spChg>
        <pc:spChg chg="add">
          <ac:chgData name="Avrellia Marta Suryaningtyas" userId="S::avrellia.marta@cimory.com::02673abe-d8f8-48b6-b2a3-304af2f80eaf" providerId="AD" clId="Web-{14715F04-B8A9-F0F7-D177-933095D334C1}" dt="2026-08-14T02:37:41.451" v="1214"/>
          <ac:spMkLst>
            <pc:docMk/>
            <pc:sldMk cId="2367542049" sldId="2146851242"/>
            <ac:spMk id="36" creationId="{0C9D9120-D316-1E9B-EFD6-C4DE30DDB201}"/>
          </ac:spMkLst>
        </pc:spChg>
        <pc:spChg chg="add">
          <ac:chgData name="Avrellia Marta Suryaningtyas" userId="S::avrellia.marta@cimory.com::02673abe-d8f8-48b6-b2a3-304af2f80eaf" providerId="AD" clId="Web-{14715F04-B8A9-F0F7-D177-933095D334C1}" dt="2026-08-14T02:37:41.529" v="1215"/>
          <ac:spMkLst>
            <pc:docMk/>
            <pc:sldMk cId="2367542049" sldId="2146851242"/>
            <ac:spMk id="39" creationId="{CBC32893-C2FF-794C-62BD-703EFCCAAB00}"/>
          </ac:spMkLst>
        </pc:spChg>
        <pc:spChg chg="add">
          <ac:chgData name="Avrellia Marta Suryaningtyas" userId="S::avrellia.marta@cimory.com::02673abe-d8f8-48b6-b2a3-304af2f80eaf" providerId="AD" clId="Web-{14715F04-B8A9-F0F7-D177-933095D334C1}" dt="2026-08-14T02:37:41.592" v="1216"/>
          <ac:spMkLst>
            <pc:docMk/>
            <pc:sldMk cId="2367542049" sldId="2146851242"/>
            <ac:spMk id="42" creationId="{60DBCE8E-D44D-BB52-7E8B-DB7C4A547725}"/>
          </ac:spMkLst>
        </pc:spChg>
        <pc:spChg chg="add">
          <ac:chgData name="Avrellia Marta Suryaningtyas" userId="S::avrellia.marta@cimory.com::02673abe-d8f8-48b6-b2a3-304af2f80eaf" providerId="AD" clId="Web-{14715F04-B8A9-F0F7-D177-933095D334C1}" dt="2026-08-14T02:37:41.654" v="1217"/>
          <ac:spMkLst>
            <pc:docMk/>
            <pc:sldMk cId="2367542049" sldId="2146851242"/>
            <ac:spMk id="45" creationId="{B0508811-36EF-A31F-2751-80EEE277C58B}"/>
          </ac:spMkLst>
        </pc:spChg>
        <pc:spChg chg="add">
          <ac:chgData name="Avrellia Marta Suryaningtyas" userId="S::avrellia.marta@cimory.com::02673abe-d8f8-48b6-b2a3-304af2f80eaf" providerId="AD" clId="Web-{14715F04-B8A9-F0F7-D177-933095D334C1}" dt="2026-08-14T02:37:41.717" v="1218"/>
          <ac:spMkLst>
            <pc:docMk/>
            <pc:sldMk cId="2367542049" sldId="2146851242"/>
            <ac:spMk id="48" creationId="{3CBDBEA0-CDC2-D202-399B-0DD47323B25A}"/>
          </ac:spMkLst>
        </pc:spChg>
        <pc:spChg chg="add">
          <ac:chgData name="Avrellia Marta Suryaningtyas" userId="S::avrellia.marta@cimory.com::02673abe-d8f8-48b6-b2a3-304af2f80eaf" providerId="AD" clId="Web-{14715F04-B8A9-F0F7-D177-933095D334C1}" dt="2026-08-14T02:37:41.795" v="1219"/>
          <ac:spMkLst>
            <pc:docMk/>
            <pc:sldMk cId="2367542049" sldId="2146851242"/>
            <ac:spMk id="51" creationId="{17232812-E004-02AB-3E78-C77FB574016B}"/>
          </ac:spMkLst>
        </pc:spChg>
        <pc:spChg chg="add">
          <ac:chgData name="Avrellia Marta Suryaningtyas" userId="S::avrellia.marta@cimory.com::02673abe-d8f8-48b6-b2a3-304af2f80eaf" providerId="AD" clId="Web-{14715F04-B8A9-F0F7-D177-933095D334C1}" dt="2026-08-14T02:37:41.858" v="1220"/>
          <ac:spMkLst>
            <pc:docMk/>
            <pc:sldMk cId="2367542049" sldId="2146851242"/>
            <ac:spMk id="54" creationId="{14180DFB-9EB8-3753-C067-43966E0400C7}"/>
          </ac:spMkLst>
        </pc:spChg>
        <pc:spChg chg="add">
          <ac:chgData name="Avrellia Marta Suryaningtyas" userId="S::avrellia.marta@cimory.com::02673abe-d8f8-48b6-b2a3-304af2f80eaf" providerId="AD" clId="Web-{14715F04-B8A9-F0F7-D177-933095D334C1}" dt="2026-08-14T02:37:41.920" v="1221"/>
          <ac:spMkLst>
            <pc:docMk/>
            <pc:sldMk cId="2367542049" sldId="2146851242"/>
            <ac:spMk id="57" creationId="{987A8479-406E-B900-9996-F772D3F46F5F}"/>
          </ac:spMkLst>
        </pc:spChg>
        <pc:spChg chg="add">
          <ac:chgData name="Avrellia Marta Suryaningtyas" userId="S::avrellia.marta@cimory.com::02673abe-d8f8-48b6-b2a3-304af2f80eaf" providerId="AD" clId="Web-{14715F04-B8A9-F0F7-D177-933095D334C1}" dt="2026-08-14T02:37:41.998" v="1222"/>
          <ac:spMkLst>
            <pc:docMk/>
            <pc:sldMk cId="2367542049" sldId="2146851242"/>
            <ac:spMk id="59" creationId="{F0C03121-13F6-D9C5-C0B5-DF97A02A59DC}"/>
          </ac:spMkLst>
        </pc:spChg>
      </pc:sldChg>
      <pc:sldChg chg="addSp delSp modSp">
        <pc:chgData name="Avrellia Marta Suryaningtyas" userId="S::avrellia.marta@cimory.com::02673abe-d8f8-48b6-b2a3-304af2f80eaf" providerId="AD" clId="Web-{14715F04-B8A9-F0F7-D177-933095D334C1}" dt="2026-08-14T02:37:32.388" v="1186" actId="20577"/>
        <pc:sldMkLst>
          <pc:docMk/>
          <pc:sldMk cId="3070779609" sldId="2146851266"/>
        </pc:sldMkLst>
        <pc:spChg chg="mod">
          <ac:chgData name="Avrellia Marta Suryaningtyas" userId="S::avrellia.marta@cimory.com::02673abe-d8f8-48b6-b2a3-304af2f80eaf" providerId="AD" clId="Web-{14715F04-B8A9-F0F7-D177-933095D334C1}" dt="2026-08-14T02:35:29.384" v="1173" actId="20577"/>
          <ac:spMkLst>
            <pc:docMk/>
            <pc:sldMk cId="3070779609" sldId="2146851266"/>
            <ac:spMk id="8" creationId="{4798168A-D7DD-BE27-271E-03178EF39EE8}"/>
          </ac:spMkLst>
        </pc:spChg>
        <pc:spChg chg="mod">
          <ac:chgData name="Avrellia Marta Suryaningtyas" userId="S::avrellia.marta@cimory.com::02673abe-d8f8-48b6-b2a3-304af2f80eaf" providerId="AD" clId="Web-{14715F04-B8A9-F0F7-D177-933095D334C1}" dt="2026-08-14T02:35:32.697" v="1177" actId="20577"/>
          <ac:spMkLst>
            <pc:docMk/>
            <pc:sldMk cId="3070779609" sldId="2146851266"/>
            <ac:spMk id="19" creationId="{7CA069DF-A23E-49A1-F134-8B68F2BE4481}"/>
          </ac:spMkLst>
        </pc:spChg>
        <pc:spChg chg="mod">
          <ac:chgData name="Avrellia Marta Suryaningtyas" userId="S::avrellia.marta@cimory.com::02673abe-d8f8-48b6-b2a3-304af2f80eaf" providerId="AD" clId="Web-{14715F04-B8A9-F0F7-D177-933095D334C1}" dt="2026-08-14T02:35:40.244" v="1178" actId="20577"/>
          <ac:spMkLst>
            <pc:docMk/>
            <pc:sldMk cId="3070779609" sldId="2146851266"/>
            <ac:spMk id="30" creationId="{D1255F4A-CB0D-F50E-426C-5D842355B1D9}"/>
          </ac:spMkLst>
        </pc:spChg>
        <pc:spChg chg="mod">
          <ac:chgData name="Avrellia Marta Suryaningtyas" userId="S::avrellia.marta@cimory.com::02673abe-d8f8-48b6-b2a3-304af2f80eaf" providerId="AD" clId="Web-{14715F04-B8A9-F0F7-D177-933095D334C1}" dt="2026-08-14T02:36:51.903" v="1180" actId="20577"/>
          <ac:spMkLst>
            <pc:docMk/>
            <pc:sldMk cId="3070779609" sldId="2146851266"/>
            <ac:spMk id="48" creationId="{BF844A6B-64D0-4494-F5FD-E80DFA438EEC}"/>
          </ac:spMkLst>
        </pc:spChg>
        <pc:spChg chg="mod">
          <ac:chgData name="Avrellia Marta Suryaningtyas" userId="S::avrellia.marta@cimory.com::02673abe-d8f8-48b6-b2a3-304af2f80eaf" providerId="AD" clId="Web-{14715F04-B8A9-F0F7-D177-933095D334C1}" dt="2026-08-14T02:37:32.388" v="1186" actId="20577"/>
          <ac:spMkLst>
            <pc:docMk/>
            <pc:sldMk cId="3070779609" sldId="2146851266"/>
            <ac:spMk id="56" creationId="{C83D8EC1-FEE8-F679-A7B8-BBD399B7BB71}"/>
          </ac:spMkLst>
        </pc:spChg>
        <pc:graphicFrameChg chg="add mod modGraphic">
          <ac:chgData name="Avrellia Marta Suryaningtyas" userId="S::avrellia.marta@cimory.com::02673abe-d8f8-48b6-b2a3-304af2f80eaf" providerId="AD" clId="Web-{14715F04-B8A9-F0F7-D177-933095D334C1}" dt="2026-08-14T02:35:17.243" v="1167" actId="1076"/>
          <ac:graphicFrameMkLst>
            <pc:docMk/>
            <pc:sldMk cId="3070779609" sldId="2146851266"/>
            <ac:graphicFrameMk id="4" creationId="{5DB546E0-7270-BCCC-2895-6AF63F1FBC38}"/>
          </ac:graphicFrameMkLst>
        </pc:graphicFrameChg>
      </pc:sldChg>
      <pc:sldChg chg="modSp">
        <pc:chgData name="Avrellia Marta Suryaningtyas" userId="S::avrellia.marta@cimory.com::02673abe-d8f8-48b6-b2a3-304af2f80eaf" providerId="AD" clId="Web-{14715F04-B8A9-F0F7-D177-933095D334C1}" dt="2026-08-14T03:36:29.194" v="2494"/>
        <pc:sldMkLst>
          <pc:docMk/>
          <pc:sldMk cId="1004498006" sldId="2146851269"/>
        </pc:sldMkLst>
        <pc:graphicFrameChg chg="mod modGraphic">
          <ac:chgData name="Avrellia Marta Suryaningtyas" userId="S::avrellia.marta@cimory.com::02673abe-d8f8-48b6-b2a3-304af2f80eaf" providerId="AD" clId="Web-{14715F04-B8A9-F0F7-D177-933095D334C1}" dt="2026-08-14T03:36:29.194" v="2494"/>
          <ac:graphicFrameMkLst>
            <pc:docMk/>
            <pc:sldMk cId="1004498006" sldId="2146851269"/>
            <ac:graphicFrameMk id="9" creationId="{FBBBA860-8475-48DB-D6AC-8E15AA010274}"/>
          </ac:graphicFrameMkLst>
        </pc:graphicFrameChg>
      </pc:sldChg>
      <pc:sldChg chg="modSp">
        <pc:chgData name="Avrellia Marta Suryaningtyas" userId="S::avrellia.marta@cimory.com::02673abe-d8f8-48b6-b2a3-304af2f80eaf" providerId="AD" clId="Web-{14715F04-B8A9-F0F7-D177-933095D334C1}" dt="2026-08-14T03:59:00.448" v="3523"/>
        <pc:sldMkLst>
          <pc:docMk/>
          <pc:sldMk cId="3476432020" sldId="2146851308"/>
        </pc:sldMkLst>
        <pc:graphicFrameChg chg="mod modGraphic">
          <ac:chgData name="Avrellia Marta Suryaningtyas" userId="S::avrellia.marta@cimory.com::02673abe-d8f8-48b6-b2a3-304af2f80eaf" providerId="AD" clId="Web-{14715F04-B8A9-F0F7-D177-933095D334C1}" dt="2026-08-14T03:59:00.448" v="3523"/>
          <ac:graphicFrameMkLst>
            <pc:docMk/>
            <pc:sldMk cId="3476432020" sldId="2146851308"/>
            <ac:graphicFrameMk id="9" creationId="{5E26D0AD-0CE5-6D9C-28B1-F702A770DF6F}"/>
          </ac:graphicFrameMkLst>
        </pc:graphicFrameChg>
      </pc:sldChg>
      <pc:sldChg chg="modSp">
        <pc:chgData name="Avrellia Marta Suryaningtyas" userId="S::avrellia.marta@cimory.com::02673abe-d8f8-48b6-b2a3-304af2f80eaf" providerId="AD" clId="Web-{14715F04-B8A9-F0F7-D177-933095D334C1}" dt="2026-08-14T03:37:37.680" v="2658"/>
        <pc:sldMkLst>
          <pc:docMk/>
          <pc:sldMk cId="1639720053" sldId="2146851377"/>
        </pc:sldMkLst>
        <pc:graphicFrameChg chg="mod modGraphic">
          <ac:chgData name="Avrellia Marta Suryaningtyas" userId="S::avrellia.marta@cimory.com::02673abe-d8f8-48b6-b2a3-304af2f80eaf" providerId="AD" clId="Web-{14715F04-B8A9-F0F7-D177-933095D334C1}" dt="2026-08-14T03:37:37.680" v="2658"/>
          <ac:graphicFrameMkLst>
            <pc:docMk/>
            <pc:sldMk cId="1639720053" sldId="2146851377"/>
            <ac:graphicFrameMk id="9" creationId="{563336BB-B490-B28B-D922-CE5DC454114C}"/>
          </ac:graphicFrameMkLst>
        </pc:graphicFrameChg>
      </pc:sldChg>
    </pc:docChg>
  </pc:docChgLst>
  <pc:docChgLst>
    <pc:chgData name="Pauline Immanuel Supardi" userId="S::pauline.immanuel@cimory.com::6bddf53c-48c8-4584-85ce-fadb73123699" providerId="AD" clId="Web-{75ACD528-2BC7-833F-1416-D61DBF9A4087}"/>
    <pc:docChg chg="modSld">
      <pc:chgData name="Pauline Immanuel Supardi" userId="S::pauline.immanuel@cimory.com::6bddf53c-48c8-4584-85ce-fadb73123699" providerId="AD" clId="Web-{75ACD528-2BC7-833F-1416-D61DBF9A4087}" dt="2026-07-19T08:28:48.279" v="278"/>
      <pc:docMkLst>
        <pc:docMk/>
      </pc:docMkLst>
    </pc:docChg>
  </pc:docChgLst>
  <pc:docChgLst>
    <pc:chgData name="Avrellia Marta Suryaningtyas" userId="S::avrellia.marta@cimory.com::02673abe-d8f8-48b6-b2a3-304af2f80eaf" providerId="AD" clId="Web-{FE178875-C48D-AACC-6126-FF2C9D238D58}"/>
    <pc:docChg chg="addSld modSld">
      <pc:chgData name="Avrellia Marta Suryaningtyas" userId="S::avrellia.marta@cimory.com::02673abe-d8f8-48b6-b2a3-304af2f80eaf" providerId="AD" clId="Web-{FE178875-C48D-AACC-6126-FF2C9D238D58}" dt="2026-07-24T08:54:14.523" v="576"/>
      <pc:docMkLst>
        <pc:docMk/>
      </pc:docMkLst>
      <pc:sldChg chg="modSp">
        <pc:chgData name="Avrellia Marta Suryaningtyas" userId="S::avrellia.marta@cimory.com::02673abe-d8f8-48b6-b2a3-304af2f80eaf" providerId="AD" clId="Web-{FE178875-C48D-AACC-6126-FF2C9D238D58}" dt="2026-07-24T08:45:44.488" v="267"/>
        <pc:sldMkLst>
          <pc:docMk/>
          <pc:sldMk cId="1692529528" sldId="2146851144"/>
        </pc:sldMkLst>
        <pc:graphicFrameChg chg="mod modGraphic">
          <ac:chgData name="Avrellia Marta Suryaningtyas" userId="S::avrellia.marta@cimory.com::02673abe-d8f8-48b6-b2a3-304af2f80eaf" providerId="AD" clId="Web-{FE178875-C48D-AACC-6126-FF2C9D238D58}" dt="2026-07-24T08:45:44.488" v="267"/>
          <ac:graphicFrameMkLst>
            <pc:docMk/>
            <pc:sldMk cId="1692529528" sldId="2146851144"/>
            <ac:graphicFrameMk id="4" creationId="{45809656-3DBF-68A7-FF1A-9E6996B9FC77}"/>
          </ac:graphicFrameMkLst>
        </pc:graphicFrameChg>
      </pc:sldChg>
      <pc:sldChg chg="delSp modSp">
        <pc:chgData name="Avrellia Marta Suryaningtyas" userId="S::avrellia.marta@cimory.com::02673abe-d8f8-48b6-b2a3-304af2f80eaf" providerId="AD" clId="Web-{FE178875-C48D-AACC-6126-FF2C9D238D58}" dt="2026-07-24T08:54:14.523" v="576"/>
        <pc:sldMkLst>
          <pc:docMk/>
          <pc:sldMk cId="173497381" sldId="2146851145"/>
        </pc:sldMkLst>
        <pc:graphicFrameChg chg="mod modGraphic">
          <ac:chgData name="Avrellia Marta Suryaningtyas" userId="S::avrellia.marta@cimory.com::02673abe-d8f8-48b6-b2a3-304af2f80eaf" providerId="AD" clId="Web-{FE178875-C48D-AACC-6126-FF2C9D238D58}" dt="2026-07-24T08:54:14.523" v="576"/>
          <ac:graphicFrameMkLst>
            <pc:docMk/>
            <pc:sldMk cId="173497381" sldId="2146851145"/>
            <ac:graphicFrameMk id="7" creationId="{03422E4B-98C8-64E3-0114-1C9940CB7598}"/>
          </ac:graphicFrameMkLst>
        </pc:graphicFrameChg>
      </pc:sldChg>
      <pc:sldChg chg="modSp">
        <pc:chgData name="Avrellia Marta Suryaningtyas" userId="S::avrellia.marta@cimory.com::02673abe-d8f8-48b6-b2a3-304af2f80eaf" providerId="AD" clId="Web-{FE178875-C48D-AACC-6126-FF2C9D238D58}" dt="2026-07-24T08:47:38.805" v="405"/>
        <pc:sldMkLst>
          <pc:docMk/>
          <pc:sldMk cId="1004498006" sldId="2146851269"/>
        </pc:sldMkLst>
        <pc:graphicFrameChg chg="mod modGraphic">
          <ac:chgData name="Avrellia Marta Suryaningtyas" userId="S::avrellia.marta@cimory.com::02673abe-d8f8-48b6-b2a3-304af2f80eaf" providerId="AD" clId="Web-{FE178875-C48D-AACC-6126-FF2C9D238D58}" dt="2026-07-24T08:47:38.805" v="405"/>
          <ac:graphicFrameMkLst>
            <pc:docMk/>
            <pc:sldMk cId="1004498006" sldId="2146851269"/>
            <ac:graphicFrameMk id="9" creationId="{FBBBA860-8475-48DB-D6AC-8E15AA010274}"/>
          </ac:graphicFrameMkLst>
        </pc:graphicFrameChg>
      </pc:sldChg>
      <pc:sldChg chg="delSp modSp add replId">
        <pc:chgData name="Avrellia Marta Suryaningtyas" userId="S::avrellia.marta@cimory.com::02673abe-d8f8-48b6-b2a3-304af2f80eaf" providerId="AD" clId="Web-{FE178875-C48D-AACC-6126-FF2C9D238D58}" dt="2026-07-24T08:48:00.634" v="408" actId="1076"/>
        <pc:sldMkLst>
          <pc:docMk/>
          <pc:sldMk cId="3476432020" sldId="2146851308"/>
        </pc:sldMkLst>
        <pc:graphicFrameChg chg="mod">
          <ac:chgData name="Avrellia Marta Suryaningtyas" userId="S::avrellia.marta@cimory.com::02673abe-d8f8-48b6-b2a3-304af2f80eaf" providerId="AD" clId="Web-{FE178875-C48D-AACC-6126-FF2C9D238D58}" dt="2026-07-24T08:48:00.634" v="408" actId="1076"/>
          <ac:graphicFrameMkLst>
            <pc:docMk/>
            <pc:sldMk cId="3476432020" sldId="2146851308"/>
            <ac:graphicFrameMk id="9" creationId="{5E26D0AD-0CE5-6D9C-28B1-F702A770DF6F}"/>
          </ac:graphicFrameMkLst>
        </pc:graphicFrameChg>
      </pc:sldChg>
    </pc:docChg>
  </pc:docChgLst>
  <pc:docChgLst>
    <pc:chgData name="Corporate Talent Acquisition Cimory Group" userId="S::recruitment@cimory.com::febf222e-6949-493b-92b8-551375ecf797" providerId="AD" clId="Web-{E8E7E9A7-68D5-88CA-8D6B-AFBDE6B08F56}"/>
    <pc:docChg chg="addSld modSld">
      <pc:chgData name="Corporate Talent Acquisition Cimory Group" userId="S::recruitment@cimory.com::febf222e-6949-493b-92b8-551375ecf797" providerId="AD" clId="Web-{E8E7E9A7-68D5-88CA-8D6B-AFBDE6B08F56}" dt="2026-08-16T15:51:15.805" v="3"/>
      <pc:docMkLst>
        <pc:docMk/>
      </pc:docMkLst>
      <pc:sldChg chg="delSp add replId">
        <pc:chgData name="Corporate Talent Acquisition Cimory Group" userId="S::recruitment@cimory.com::febf222e-6949-493b-92b8-551375ecf797" providerId="AD" clId="Web-{E8E7E9A7-68D5-88CA-8D6B-AFBDE6B08F56}" dt="2026-08-16T15:51:11.461" v="1"/>
        <pc:sldMkLst>
          <pc:docMk/>
          <pc:sldMk cId="224410125" sldId="2146851420"/>
        </pc:sldMkLst>
      </pc:sldChg>
      <pc:sldChg chg="add">
        <pc:chgData name="Corporate Talent Acquisition Cimory Group" userId="S::recruitment@cimory.com::febf222e-6949-493b-92b8-551375ecf797" providerId="AD" clId="Web-{E8E7E9A7-68D5-88CA-8D6B-AFBDE6B08F56}" dt="2026-08-16T15:51:15.227" v="2"/>
        <pc:sldMkLst>
          <pc:docMk/>
          <pc:sldMk cId="2175789549" sldId="2146851421"/>
        </pc:sldMkLst>
      </pc:sldChg>
      <pc:sldChg chg="add">
        <pc:chgData name="Corporate Talent Acquisition Cimory Group" userId="S::recruitment@cimory.com::febf222e-6949-493b-92b8-551375ecf797" providerId="AD" clId="Web-{E8E7E9A7-68D5-88CA-8D6B-AFBDE6B08F56}" dt="2026-08-16T15:51:15.805" v="3"/>
        <pc:sldMkLst>
          <pc:docMk/>
          <pc:sldMk cId="658659115" sldId="2146851422"/>
        </pc:sldMkLst>
      </pc:sldChg>
    </pc:docChg>
  </pc:docChgLst>
  <pc:docChgLst>
    <pc:chgData name="Corporate Talent Acquisition Cimory Group" userId="S::recruitment@cimory.com::febf222e-6949-493b-92b8-551375ecf797" providerId="AD" clId="Web-{34945482-EE77-DEC8-823E-80DDA84B4F6F}"/>
    <pc:docChg chg="delSld modSld">
      <pc:chgData name="Corporate Talent Acquisition Cimory Group" userId="S::recruitment@cimory.com::febf222e-6949-493b-92b8-551375ecf797" providerId="AD" clId="Web-{34945482-EE77-DEC8-823E-80DDA84B4F6F}" dt="2026-08-16T18:42:35.865" v="38"/>
      <pc:docMkLst>
        <pc:docMk/>
      </pc:docMkLst>
    </pc:docChg>
  </pc:docChgLst>
  <pc:docChgLst>
    <pc:chgData name="Khairina Herind Septarini W" userId="S::khairina.herind@cimory.com::4d43d73c-e798-43a5-943d-306385f9cfe3" providerId="AD" clId="Web-{7D9B7C41-EE97-B2A9-50C3-E3ED8E7FBB94}"/>
    <pc:docChg chg="addSld delSld modSld">
      <pc:chgData name="Khairina Herind Septarini W" userId="S::khairina.herind@cimory.com::4d43d73c-e798-43a5-943d-306385f9cfe3" providerId="AD" clId="Web-{7D9B7C41-EE97-B2A9-50C3-E3ED8E7FBB94}" dt="2026-08-16T22:29:37.285" v="131"/>
      <pc:docMkLst>
        <pc:docMk/>
      </pc:docMkLst>
      <pc:sldChg chg="add">
        <pc:chgData name="Khairina Herind Septarini W" userId="S::khairina.herind@cimory.com::4d43d73c-e798-43a5-943d-306385f9cfe3" providerId="AD" clId="Web-{7D9B7C41-EE97-B2A9-50C3-E3ED8E7FBB94}" dt="2026-08-16T22:26:31.434" v="67"/>
        <pc:sldMkLst>
          <pc:docMk/>
          <pc:sldMk cId="1583500992" sldId="2146851444"/>
        </pc:sldMkLst>
      </pc:sldChg>
      <pc:sldChg chg="add">
        <pc:chgData name="Khairina Herind Septarini W" userId="S::khairina.herind@cimory.com::4d43d73c-e798-43a5-943d-306385f9cfe3" providerId="AD" clId="Web-{7D9B7C41-EE97-B2A9-50C3-E3ED8E7FBB94}" dt="2026-08-16T22:26:31.512" v="68"/>
        <pc:sldMkLst>
          <pc:docMk/>
          <pc:sldMk cId="2740408931" sldId="2146851445"/>
        </pc:sldMkLst>
      </pc:sldChg>
      <pc:sldChg chg="add">
        <pc:chgData name="Khairina Herind Septarini W" userId="S::khairina.herind@cimory.com::4d43d73c-e798-43a5-943d-306385f9cfe3" providerId="AD" clId="Web-{7D9B7C41-EE97-B2A9-50C3-E3ED8E7FBB94}" dt="2026-08-16T22:26:31.590" v="69"/>
        <pc:sldMkLst>
          <pc:docMk/>
          <pc:sldMk cId="311874058" sldId="2146851446"/>
        </pc:sldMkLst>
      </pc:sldChg>
      <pc:sldChg chg="add">
        <pc:chgData name="Khairina Herind Septarini W" userId="S::khairina.herind@cimory.com::4d43d73c-e798-43a5-943d-306385f9cfe3" providerId="AD" clId="Web-{7D9B7C41-EE97-B2A9-50C3-E3ED8E7FBB94}" dt="2026-08-16T22:26:31.652" v="70"/>
        <pc:sldMkLst>
          <pc:docMk/>
          <pc:sldMk cId="3401707698" sldId="2146851447"/>
        </pc:sldMkLst>
      </pc:sldChg>
      <pc:sldChg chg="add">
        <pc:chgData name="Khairina Herind Septarini W" userId="S::khairina.herind@cimory.com::4d43d73c-e798-43a5-943d-306385f9cfe3" providerId="AD" clId="Web-{7D9B7C41-EE97-B2A9-50C3-E3ED8E7FBB94}" dt="2026-08-16T22:26:31.715" v="71"/>
        <pc:sldMkLst>
          <pc:docMk/>
          <pc:sldMk cId="3982608430" sldId="2146851448"/>
        </pc:sldMkLst>
      </pc:sldChg>
      <pc:sldChg chg="modSp add">
        <pc:chgData name="Khairina Herind Septarini W" userId="S::khairina.herind@cimory.com::4d43d73c-e798-43a5-943d-306385f9cfe3" providerId="AD" clId="Web-{7D9B7C41-EE97-B2A9-50C3-E3ED8E7FBB94}" dt="2026-08-16T22:29:37.285" v="131"/>
        <pc:sldMkLst>
          <pc:docMk/>
          <pc:sldMk cId="4040131351" sldId="2146851449"/>
        </pc:sldMkLst>
        <pc:graphicFrameChg chg="modGraphic">
          <ac:chgData name="Khairina Herind Septarini W" userId="S::khairina.herind@cimory.com::4d43d73c-e798-43a5-943d-306385f9cfe3" providerId="AD" clId="Web-{7D9B7C41-EE97-B2A9-50C3-E3ED8E7FBB94}" dt="2026-08-16T22:29:37.285" v="131"/>
          <ac:graphicFrameMkLst>
            <pc:docMk/>
            <pc:sldMk cId="4040131351" sldId="2146851449"/>
            <ac:graphicFrameMk id="4" creationId="{00000000-0000-0000-0000-000000000000}"/>
          </ac:graphicFrameMkLst>
        </pc:graphicFrameChg>
      </pc:sldChg>
      <pc:sldChg chg="add">
        <pc:chgData name="Khairina Herind Septarini W" userId="S::khairina.herind@cimory.com::4d43d73c-e798-43a5-943d-306385f9cfe3" providerId="AD" clId="Web-{7D9B7C41-EE97-B2A9-50C3-E3ED8E7FBB94}" dt="2026-08-16T22:26:31.871" v="73"/>
        <pc:sldMkLst>
          <pc:docMk/>
          <pc:sldMk cId="3606424472" sldId="2146851450"/>
        </pc:sldMkLst>
      </pc:sldChg>
      <pc:sldChg chg="add">
        <pc:chgData name="Khairina Herind Septarini W" userId="S::khairina.herind@cimory.com::4d43d73c-e798-43a5-943d-306385f9cfe3" providerId="AD" clId="Web-{7D9B7C41-EE97-B2A9-50C3-E3ED8E7FBB94}" dt="2026-08-16T22:26:31.949" v="74"/>
        <pc:sldMkLst>
          <pc:docMk/>
          <pc:sldMk cId="3812250257" sldId="2146851451"/>
        </pc:sldMkLst>
      </pc:sldChg>
      <pc:sldChg chg="add">
        <pc:chgData name="Khairina Herind Septarini W" userId="S::khairina.herind@cimory.com::4d43d73c-e798-43a5-943d-306385f9cfe3" providerId="AD" clId="Web-{7D9B7C41-EE97-B2A9-50C3-E3ED8E7FBB94}" dt="2026-08-16T22:26:32.043" v="75"/>
        <pc:sldMkLst>
          <pc:docMk/>
          <pc:sldMk cId="2008475526" sldId="2146851452"/>
        </pc:sldMkLst>
      </pc:sldChg>
      <pc:sldChg chg="add">
        <pc:chgData name="Khairina Herind Septarini W" userId="S::khairina.herind@cimory.com::4d43d73c-e798-43a5-943d-306385f9cfe3" providerId="AD" clId="Web-{7D9B7C41-EE97-B2A9-50C3-E3ED8E7FBB94}" dt="2026-08-16T22:26:32.121" v="76"/>
        <pc:sldMkLst>
          <pc:docMk/>
          <pc:sldMk cId="2767667466" sldId="2146851453"/>
        </pc:sldMkLst>
      </pc:sldChg>
      <pc:sldChg chg="add">
        <pc:chgData name="Khairina Herind Septarini W" userId="S::khairina.herind@cimory.com::4d43d73c-e798-43a5-943d-306385f9cfe3" providerId="AD" clId="Web-{7D9B7C41-EE97-B2A9-50C3-E3ED8E7FBB94}" dt="2026-08-16T22:26:32.199" v="77"/>
        <pc:sldMkLst>
          <pc:docMk/>
          <pc:sldMk cId="2377923012" sldId="2146851454"/>
        </pc:sldMkLst>
      </pc:sldChg>
      <pc:sldChg chg="add">
        <pc:chgData name="Khairina Herind Septarini W" userId="S::khairina.herind@cimory.com::4d43d73c-e798-43a5-943d-306385f9cfe3" providerId="AD" clId="Web-{7D9B7C41-EE97-B2A9-50C3-E3ED8E7FBB94}" dt="2026-08-16T22:26:32.277" v="78"/>
        <pc:sldMkLst>
          <pc:docMk/>
          <pc:sldMk cId="2093907382" sldId="2146851455"/>
        </pc:sldMkLst>
      </pc:sldChg>
      <pc:sldChg chg="add">
        <pc:chgData name="Khairina Herind Septarini W" userId="S::khairina.herind@cimory.com::4d43d73c-e798-43a5-943d-306385f9cfe3" providerId="AD" clId="Web-{7D9B7C41-EE97-B2A9-50C3-E3ED8E7FBB94}" dt="2026-08-16T22:26:32.356" v="79"/>
        <pc:sldMkLst>
          <pc:docMk/>
          <pc:sldMk cId="2234115805" sldId="2146851456"/>
        </pc:sldMkLst>
      </pc:sldChg>
      <pc:sldChg chg="add">
        <pc:chgData name="Khairina Herind Septarini W" userId="S::khairina.herind@cimory.com::4d43d73c-e798-43a5-943d-306385f9cfe3" providerId="AD" clId="Web-{7D9B7C41-EE97-B2A9-50C3-E3ED8E7FBB94}" dt="2026-08-16T22:26:32.418" v="80"/>
        <pc:sldMkLst>
          <pc:docMk/>
          <pc:sldMk cId="781919251" sldId="2146851457"/>
        </pc:sldMkLst>
      </pc:sldChg>
      <pc:sldChg chg="add">
        <pc:chgData name="Khairina Herind Septarini W" userId="S::khairina.herind@cimory.com::4d43d73c-e798-43a5-943d-306385f9cfe3" providerId="AD" clId="Web-{7D9B7C41-EE97-B2A9-50C3-E3ED8E7FBB94}" dt="2026-08-16T22:26:32.512" v="81"/>
        <pc:sldMkLst>
          <pc:docMk/>
          <pc:sldMk cId="3748161632" sldId="2146851458"/>
        </pc:sldMkLst>
      </pc:sldChg>
      <pc:sldChg chg="add">
        <pc:chgData name="Khairina Herind Septarini W" userId="S::khairina.herind@cimory.com::4d43d73c-e798-43a5-943d-306385f9cfe3" providerId="AD" clId="Web-{7D9B7C41-EE97-B2A9-50C3-E3ED8E7FBB94}" dt="2026-08-16T22:26:32.590" v="82"/>
        <pc:sldMkLst>
          <pc:docMk/>
          <pc:sldMk cId="1219292683" sldId="2146851459"/>
        </pc:sldMkLst>
      </pc:sldChg>
      <pc:sldChg chg="add">
        <pc:chgData name="Khairina Herind Septarini W" userId="S::khairina.herind@cimory.com::4d43d73c-e798-43a5-943d-306385f9cfe3" providerId="AD" clId="Web-{7D9B7C41-EE97-B2A9-50C3-E3ED8E7FBB94}" dt="2026-08-16T22:26:32.668" v="83"/>
        <pc:sldMkLst>
          <pc:docMk/>
          <pc:sldMk cId="2883242881" sldId="2146851460"/>
        </pc:sldMkLst>
      </pc:sldChg>
      <pc:sldChg chg="add">
        <pc:chgData name="Khairina Herind Septarini W" userId="S::khairina.herind@cimory.com::4d43d73c-e798-43a5-943d-306385f9cfe3" providerId="AD" clId="Web-{7D9B7C41-EE97-B2A9-50C3-E3ED8E7FBB94}" dt="2026-08-16T22:26:32.746" v="84"/>
        <pc:sldMkLst>
          <pc:docMk/>
          <pc:sldMk cId="1210168906" sldId="2146851461"/>
        </pc:sldMkLst>
      </pc:sldChg>
      <pc:sldChg chg="add">
        <pc:chgData name="Khairina Herind Septarini W" userId="S::khairina.herind@cimory.com::4d43d73c-e798-43a5-943d-306385f9cfe3" providerId="AD" clId="Web-{7D9B7C41-EE97-B2A9-50C3-E3ED8E7FBB94}" dt="2026-08-16T22:26:32.824" v="85"/>
        <pc:sldMkLst>
          <pc:docMk/>
          <pc:sldMk cId="2574369458" sldId="2146851462"/>
        </pc:sldMkLst>
      </pc:sldChg>
      <pc:sldChg chg="add">
        <pc:chgData name="Khairina Herind Septarini W" userId="S::khairina.herind@cimory.com::4d43d73c-e798-43a5-943d-306385f9cfe3" providerId="AD" clId="Web-{7D9B7C41-EE97-B2A9-50C3-E3ED8E7FBB94}" dt="2026-08-16T22:26:32.902" v="86"/>
        <pc:sldMkLst>
          <pc:docMk/>
          <pc:sldMk cId="2143988633" sldId="2146851463"/>
        </pc:sldMkLst>
      </pc:sldChg>
      <pc:sldChg chg="add">
        <pc:chgData name="Khairina Herind Septarini W" userId="S::khairina.herind@cimory.com::4d43d73c-e798-43a5-943d-306385f9cfe3" providerId="AD" clId="Web-{7D9B7C41-EE97-B2A9-50C3-E3ED8E7FBB94}" dt="2026-08-16T22:26:32.965" v="87"/>
        <pc:sldMkLst>
          <pc:docMk/>
          <pc:sldMk cId="4142937592" sldId="2146851464"/>
        </pc:sldMkLst>
      </pc:sldChg>
      <pc:sldChg chg="add">
        <pc:chgData name="Khairina Herind Septarini W" userId="S::khairina.herind@cimory.com::4d43d73c-e798-43a5-943d-306385f9cfe3" providerId="AD" clId="Web-{7D9B7C41-EE97-B2A9-50C3-E3ED8E7FBB94}" dt="2026-08-16T22:26:33.043" v="88"/>
        <pc:sldMkLst>
          <pc:docMk/>
          <pc:sldMk cId="3481438537" sldId="2146851465"/>
        </pc:sldMkLst>
      </pc:sldChg>
      <pc:sldChg chg="add">
        <pc:chgData name="Khairina Herind Septarini W" userId="S::khairina.herind@cimory.com::4d43d73c-e798-43a5-943d-306385f9cfe3" providerId="AD" clId="Web-{7D9B7C41-EE97-B2A9-50C3-E3ED8E7FBB94}" dt="2026-08-16T22:26:33.137" v="89"/>
        <pc:sldMkLst>
          <pc:docMk/>
          <pc:sldMk cId="1307348089" sldId="2146851466"/>
        </pc:sldMkLst>
      </pc:sldChg>
      <pc:sldChg chg="add">
        <pc:chgData name="Khairina Herind Septarini W" userId="S::khairina.herind@cimory.com::4d43d73c-e798-43a5-943d-306385f9cfe3" providerId="AD" clId="Web-{7D9B7C41-EE97-B2A9-50C3-E3ED8E7FBB94}" dt="2026-08-16T22:26:33.215" v="90"/>
        <pc:sldMkLst>
          <pc:docMk/>
          <pc:sldMk cId="1689496933" sldId="2146851467"/>
        </pc:sldMkLst>
      </pc:sldChg>
      <pc:sldChg chg="add">
        <pc:chgData name="Khairina Herind Septarini W" userId="S::khairina.herind@cimory.com::4d43d73c-e798-43a5-943d-306385f9cfe3" providerId="AD" clId="Web-{7D9B7C41-EE97-B2A9-50C3-E3ED8E7FBB94}" dt="2026-08-16T22:26:33.277" v="91"/>
        <pc:sldMkLst>
          <pc:docMk/>
          <pc:sldMk cId="698468756" sldId="2146851468"/>
        </pc:sldMkLst>
      </pc:sldChg>
      <pc:sldChg chg="add">
        <pc:chgData name="Khairina Herind Septarini W" userId="S::khairina.herind@cimory.com::4d43d73c-e798-43a5-943d-306385f9cfe3" providerId="AD" clId="Web-{7D9B7C41-EE97-B2A9-50C3-E3ED8E7FBB94}" dt="2026-08-16T22:26:33.340" v="92"/>
        <pc:sldMkLst>
          <pc:docMk/>
          <pc:sldMk cId="1546928109" sldId="2146851469"/>
        </pc:sldMkLst>
      </pc:sldChg>
      <pc:sldChg chg="add">
        <pc:chgData name="Khairina Herind Septarini W" userId="S::khairina.herind@cimory.com::4d43d73c-e798-43a5-943d-306385f9cfe3" providerId="AD" clId="Web-{7D9B7C41-EE97-B2A9-50C3-E3ED8E7FBB94}" dt="2026-08-16T22:26:33.403" v="93"/>
        <pc:sldMkLst>
          <pc:docMk/>
          <pc:sldMk cId="3869481901" sldId="2146851470"/>
        </pc:sldMkLst>
      </pc:sldChg>
      <pc:sldChg chg="add">
        <pc:chgData name="Khairina Herind Septarini W" userId="S::khairina.herind@cimory.com::4d43d73c-e798-43a5-943d-306385f9cfe3" providerId="AD" clId="Web-{7D9B7C41-EE97-B2A9-50C3-E3ED8E7FBB94}" dt="2026-08-16T22:26:33.481" v="94"/>
        <pc:sldMkLst>
          <pc:docMk/>
          <pc:sldMk cId="1855328961" sldId="2146851471"/>
        </pc:sldMkLst>
      </pc:sldChg>
      <pc:sldChg chg="add">
        <pc:chgData name="Khairina Herind Septarini W" userId="S::khairina.herind@cimory.com::4d43d73c-e798-43a5-943d-306385f9cfe3" providerId="AD" clId="Web-{7D9B7C41-EE97-B2A9-50C3-E3ED8E7FBB94}" dt="2026-08-16T22:26:33.559" v="95"/>
        <pc:sldMkLst>
          <pc:docMk/>
          <pc:sldMk cId="2567348925" sldId="2146851472"/>
        </pc:sldMkLst>
      </pc:sldChg>
      <pc:sldChg chg="add">
        <pc:chgData name="Khairina Herind Septarini W" userId="S::khairina.herind@cimory.com::4d43d73c-e798-43a5-943d-306385f9cfe3" providerId="AD" clId="Web-{7D9B7C41-EE97-B2A9-50C3-E3ED8E7FBB94}" dt="2026-08-16T22:26:33.637" v="96"/>
        <pc:sldMkLst>
          <pc:docMk/>
          <pc:sldMk cId="3360587042" sldId="2146851473"/>
        </pc:sldMkLst>
      </pc:sldChg>
      <pc:sldChg chg="add">
        <pc:chgData name="Khairina Herind Septarini W" userId="S::khairina.herind@cimory.com::4d43d73c-e798-43a5-943d-306385f9cfe3" providerId="AD" clId="Web-{7D9B7C41-EE97-B2A9-50C3-E3ED8E7FBB94}" dt="2026-08-16T22:26:33.715" v="97"/>
        <pc:sldMkLst>
          <pc:docMk/>
          <pc:sldMk cId="4091058170" sldId="2146851474"/>
        </pc:sldMkLst>
      </pc:sldChg>
      <pc:sldChg chg="add">
        <pc:chgData name="Khairina Herind Septarini W" userId="S::khairina.herind@cimory.com::4d43d73c-e798-43a5-943d-306385f9cfe3" providerId="AD" clId="Web-{7D9B7C41-EE97-B2A9-50C3-E3ED8E7FBB94}" dt="2026-08-16T22:26:33.793" v="98"/>
        <pc:sldMkLst>
          <pc:docMk/>
          <pc:sldMk cId="1215448993" sldId="2146851475"/>
        </pc:sldMkLst>
      </pc:sldChg>
      <pc:sldChg chg="add">
        <pc:chgData name="Khairina Herind Septarini W" userId="S::khairina.herind@cimory.com::4d43d73c-e798-43a5-943d-306385f9cfe3" providerId="AD" clId="Web-{7D9B7C41-EE97-B2A9-50C3-E3ED8E7FBB94}" dt="2026-08-16T22:26:33.871" v="99"/>
        <pc:sldMkLst>
          <pc:docMk/>
          <pc:sldMk cId="2103652964" sldId="2146851476"/>
        </pc:sldMkLst>
      </pc:sldChg>
      <pc:sldChg chg="add">
        <pc:chgData name="Khairina Herind Septarini W" userId="S::khairina.herind@cimory.com::4d43d73c-e798-43a5-943d-306385f9cfe3" providerId="AD" clId="Web-{7D9B7C41-EE97-B2A9-50C3-E3ED8E7FBB94}" dt="2026-08-16T22:26:33.965" v="100"/>
        <pc:sldMkLst>
          <pc:docMk/>
          <pc:sldMk cId="1479562614" sldId="2146851477"/>
        </pc:sldMkLst>
      </pc:sldChg>
      <pc:sldChg chg="add">
        <pc:chgData name="Khairina Herind Septarini W" userId="S::khairina.herind@cimory.com::4d43d73c-e798-43a5-943d-306385f9cfe3" providerId="AD" clId="Web-{7D9B7C41-EE97-B2A9-50C3-E3ED8E7FBB94}" dt="2026-08-16T22:26:34.059" v="101"/>
        <pc:sldMkLst>
          <pc:docMk/>
          <pc:sldMk cId="3480608264" sldId="2146851478"/>
        </pc:sldMkLst>
      </pc:sldChg>
      <pc:sldChg chg="add">
        <pc:chgData name="Khairina Herind Septarini W" userId="S::khairina.herind@cimory.com::4d43d73c-e798-43a5-943d-306385f9cfe3" providerId="AD" clId="Web-{7D9B7C41-EE97-B2A9-50C3-E3ED8E7FBB94}" dt="2026-08-16T22:26:34.121" v="102"/>
        <pc:sldMkLst>
          <pc:docMk/>
          <pc:sldMk cId="1737992599" sldId="2146851479"/>
        </pc:sldMkLst>
      </pc:sldChg>
      <pc:sldChg chg="add">
        <pc:chgData name="Khairina Herind Septarini W" userId="S::khairina.herind@cimory.com::4d43d73c-e798-43a5-943d-306385f9cfe3" providerId="AD" clId="Web-{7D9B7C41-EE97-B2A9-50C3-E3ED8E7FBB94}" dt="2026-08-16T22:26:34.199" v="103"/>
        <pc:sldMkLst>
          <pc:docMk/>
          <pc:sldMk cId="2876987706" sldId="2146851480"/>
        </pc:sldMkLst>
      </pc:sldChg>
      <pc:sldChg chg="add">
        <pc:chgData name="Khairina Herind Septarini W" userId="S::khairina.herind@cimory.com::4d43d73c-e798-43a5-943d-306385f9cfe3" providerId="AD" clId="Web-{7D9B7C41-EE97-B2A9-50C3-E3ED8E7FBB94}" dt="2026-08-16T22:26:34.262" v="104"/>
        <pc:sldMkLst>
          <pc:docMk/>
          <pc:sldMk cId="2800407433" sldId="2146851481"/>
        </pc:sldMkLst>
      </pc:sldChg>
      <pc:sldChg chg="add">
        <pc:chgData name="Khairina Herind Septarini W" userId="S::khairina.herind@cimory.com::4d43d73c-e798-43a5-943d-306385f9cfe3" providerId="AD" clId="Web-{7D9B7C41-EE97-B2A9-50C3-E3ED8E7FBB94}" dt="2026-08-16T22:26:34.356" v="105"/>
        <pc:sldMkLst>
          <pc:docMk/>
          <pc:sldMk cId="2593025152" sldId="2146851482"/>
        </pc:sldMkLst>
      </pc:sldChg>
      <pc:sldChg chg="add">
        <pc:chgData name="Khairina Herind Septarini W" userId="S::khairina.herind@cimory.com::4d43d73c-e798-43a5-943d-306385f9cfe3" providerId="AD" clId="Web-{7D9B7C41-EE97-B2A9-50C3-E3ED8E7FBB94}" dt="2026-08-16T22:26:34.418" v="106"/>
        <pc:sldMkLst>
          <pc:docMk/>
          <pc:sldMk cId="3048201919" sldId="2146851483"/>
        </pc:sldMkLst>
      </pc:sldChg>
      <pc:sldChg chg="add">
        <pc:chgData name="Khairina Herind Septarini W" userId="S::khairina.herind@cimory.com::4d43d73c-e798-43a5-943d-306385f9cfe3" providerId="AD" clId="Web-{7D9B7C41-EE97-B2A9-50C3-E3ED8E7FBB94}" dt="2026-08-16T22:26:34.512" v="107"/>
        <pc:sldMkLst>
          <pc:docMk/>
          <pc:sldMk cId="2372127577" sldId="2146851484"/>
        </pc:sldMkLst>
      </pc:sldChg>
      <pc:sldChg chg="add">
        <pc:chgData name="Khairina Herind Septarini W" userId="S::khairina.herind@cimory.com::4d43d73c-e798-43a5-943d-306385f9cfe3" providerId="AD" clId="Web-{7D9B7C41-EE97-B2A9-50C3-E3ED8E7FBB94}" dt="2026-08-16T22:26:34.606" v="108"/>
        <pc:sldMkLst>
          <pc:docMk/>
          <pc:sldMk cId="1000048728" sldId="2146851485"/>
        </pc:sldMkLst>
      </pc:sldChg>
      <pc:sldChg chg="add">
        <pc:chgData name="Khairina Herind Septarini W" userId="S::khairina.herind@cimory.com::4d43d73c-e798-43a5-943d-306385f9cfe3" providerId="AD" clId="Web-{7D9B7C41-EE97-B2A9-50C3-E3ED8E7FBB94}" dt="2026-08-16T22:26:34.699" v="109"/>
        <pc:sldMkLst>
          <pc:docMk/>
          <pc:sldMk cId="1378980195" sldId="2146851486"/>
        </pc:sldMkLst>
      </pc:sldChg>
      <pc:sldChg chg="add">
        <pc:chgData name="Khairina Herind Septarini W" userId="S::khairina.herind@cimory.com::4d43d73c-e798-43a5-943d-306385f9cfe3" providerId="AD" clId="Web-{7D9B7C41-EE97-B2A9-50C3-E3ED8E7FBB94}" dt="2026-08-16T22:26:34.762" v="110"/>
        <pc:sldMkLst>
          <pc:docMk/>
          <pc:sldMk cId="4096843139" sldId="2146851487"/>
        </pc:sldMkLst>
      </pc:sldChg>
      <pc:sldChg chg="add">
        <pc:chgData name="Khairina Herind Septarini W" userId="S::khairina.herind@cimory.com::4d43d73c-e798-43a5-943d-306385f9cfe3" providerId="AD" clId="Web-{7D9B7C41-EE97-B2A9-50C3-E3ED8E7FBB94}" dt="2026-08-16T22:26:34.840" v="111"/>
        <pc:sldMkLst>
          <pc:docMk/>
          <pc:sldMk cId="924163627" sldId="2146851488"/>
        </pc:sldMkLst>
      </pc:sldChg>
      <pc:sldChg chg="add">
        <pc:chgData name="Khairina Herind Septarini W" userId="S::khairina.herind@cimory.com::4d43d73c-e798-43a5-943d-306385f9cfe3" providerId="AD" clId="Web-{7D9B7C41-EE97-B2A9-50C3-E3ED8E7FBB94}" dt="2026-08-16T22:26:34.918" v="112"/>
        <pc:sldMkLst>
          <pc:docMk/>
          <pc:sldMk cId="3624309711" sldId="2146851489"/>
        </pc:sldMkLst>
      </pc:sldChg>
      <pc:sldChg chg="add">
        <pc:chgData name="Khairina Herind Septarini W" userId="S::khairina.herind@cimory.com::4d43d73c-e798-43a5-943d-306385f9cfe3" providerId="AD" clId="Web-{7D9B7C41-EE97-B2A9-50C3-E3ED8E7FBB94}" dt="2026-08-16T22:26:35.012" v="113"/>
        <pc:sldMkLst>
          <pc:docMk/>
          <pc:sldMk cId="72455792" sldId="2146851490"/>
        </pc:sldMkLst>
      </pc:sldChg>
      <pc:sldChg chg="add">
        <pc:chgData name="Khairina Herind Septarini W" userId="S::khairina.herind@cimory.com::4d43d73c-e798-43a5-943d-306385f9cfe3" providerId="AD" clId="Web-{7D9B7C41-EE97-B2A9-50C3-E3ED8E7FBB94}" dt="2026-08-16T22:26:35.090" v="114"/>
        <pc:sldMkLst>
          <pc:docMk/>
          <pc:sldMk cId="3655104242" sldId="2146851491"/>
        </pc:sldMkLst>
      </pc:sldChg>
      <pc:sldChg chg="add">
        <pc:chgData name="Khairina Herind Septarini W" userId="S::khairina.herind@cimory.com::4d43d73c-e798-43a5-943d-306385f9cfe3" providerId="AD" clId="Web-{7D9B7C41-EE97-B2A9-50C3-E3ED8E7FBB94}" dt="2026-08-16T22:26:35.168" v="115"/>
        <pc:sldMkLst>
          <pc:docMk/>
          <pc:sldMk cId="915643890" sldId="2146851492"/>
        </pc:sldMkLst>
      </pc:sldChg>
      <pc:sldChg chg="add">
        <pc:chgData name="Khairina Herind Septarini W" userId="S::khairina.herind@cimory.com::4d43d73c-e798-43a5-943d-306385f9cfe3" providerId="AD" clId="Web-{7D9B7C41-EE97-B2A9-50C3-E3ED8E7FBB94}" dt="2026-08-16T22:26:35.262" v="116"/>
        <pc:sldMkLst>
          <pc:docMk/>
          <pc:sldMk cId="4071645701" sldId="2146851493"/>
        </pc:sldMkLst>
      </pc:sldChg>
      <pc:sldChg chg="add">
        <pc:chgData name="Khairina Herind Septarini W" userId="S::khairina.herind@cimory.com::4d43d73c-e798-43a5-943d-306385f9cfe3" providerId="AD" clId="Web-{7D9B7C41-EE97-B2A9-50C3-E3ED8E7FBB94}" dt="2026-08-16T22:26:35.340" v="117"/>
        <pc:sldMkLst>
          <pc:docMk/>
          <pc:sldMk cId="2163913497" sldId="2146851494"/>
        </pc:sldMkLst>
      </pc:sldChg>
      <pc:sldChg chg="add">
        <pc:chgData name="Khairina Herind Septarini W" userId="S::khairina.herind@cimory.com::4d43d73c-e798-43a5-943d-306385f9cfe3" providerId="AD" clId="Web-{7D9B7C41-EE97-B2A9-50C3-E3ED8E7FBB94}" dt="2026-08-16T22:26:35.418" v="118"/>
        <pc:sldMkLst>
          <pc:docMk/>
          <pc:sldMk cId="580870610" sldId="2146851495"/>
        </pc:sldMkLst>
      </pc:sldChg>
      <pc:sldChg chg="add">
        <pc:chgData name="Khairina Herind Septarini W" userId="S::khairina.herind@cimory.com::4d43d73c-e798-43a5-943d-306385f9cfe3" providerId="AD" clId="Web-{7D9B7C41-EE97-B2A9-50C3-E3ED8E7FBB94}" dt="2026-08-16T22:26:35.496" v="119"/>
        <pc:sldMkLst>
          <pc:docMk/>
          <pc:sldMk cId="4121502120" sldId="2146851496"/>
        </pc:sldMkLst>
      </pc:sldChg>
      <pc:sldChg chg="add">
        <pc:chgData name="Khairina Herind Septarini W" userId="S::khairina.herind@cimory.com::4d43d73c-e798-43a5-943d-306385f9cfe3" providerId="AD" clId="Web-{7D9B7C41-EE97-B2A9-50C3-E3ED8E7FBB94}" dt="2026-08-16T22:26:35.574" v="120"/>
        <pc:sldMkLst>
          <pc:docMk/>
          <pc:sldMk cId="1685271233" sldId="2146851497"/>
        </pc:sldMkLst>
      </pc:sldChg>
      <pc:sldChg chg="add">
        <pc:chgData name="Khairina Herind Septarini W" userId="S::khairina.herind@cimory.com::4d43d73c-e798-43a5-943d-306385f9cfe3" providerId="AD" clId="Web-{7D9B7C41-EE97-B2A9-50C3-E3ED8E7FBB94}" dt="2026-08-16T22:26:35.653" v="121"/>
        <pc:sldMkLst>
          <pc:docMk/>
          <pc:sldMk cId="170159364" sldId="2146851498"/>
        </pc:sldMkLst>
      </pc:sldChg>
      <pc:sldChg chg="add">
        <pc:chgData name="Khairina Herind Septarini W" userId="S::khairina.herind@cimory.com::4d43d73c-e798-43a5-943d-306385f9cfe3" providerId="AD" clId="Web-{7D9B7C41-EE97-B2A9-50C3-E3ED8E7FBB94}" dt="2026-08-16T22:26:35.746" v="122"/>
        <pc:sldMkLst>
          <pc:docMk/>
          <pc:sldMk cId="2839158612" sldId="2146851499"/>
        </pc:sldMkLst>
      </pc:sldChg>
      <pc:sldChg chg="add">
        <pc:chgData name="Khairina Herind Septarini W" userId="S::khairina.herind@cimory.com::4d43d73c-e798-43a5-943d-306385f9cfe3" providerId="AD" clId="Web-{7D9B7C41-EE97-B2A9-50C3-E3ED8E7FBB94}" dt="2026-08-16T22:26:35.824" v="123"/>
        <pc:sldMkLst>
          <pc:docMk/>
          <pc:sldMk cId="878722415" sldId="2146851500"/>
        </pc:sldMkLst>
      </pc:sldChg>
      <pc:sldChg chg="add">
        <pc:chgData name="Khairina Herind Septarini W" userId="S::khairina.herind@cimory.com::4d43d73c-e798-43a5-943d-306385f9cfe3" providerId="AD" clId="Web-{7D9B7C41-EE97-B2A9-50C3-E3ED8E7FBB94}" dt="2026-08-16T22:26:35.965" v="124"/>
        <pc:sldMkLst>
          <pc:docMk/>
          <pc:sldMk cId="2525534741" sldId="2146851501"/>
        </pc:sldMkLst>
      </pc:sldChg>
      <pc:sldChg chg="add">
        <pc:chgData name="Khairina Herind Septarini W" userId="S::khairina.herind@cimory.com::4d43d73c-e798-43a5-943d-306385f9cfe3" providerId="AD" clId="Web-{7D9B7C41-EE97-B2A9-50C3-E3ED8E7FBB94}" dt="2026-08-16T22:26:36.059" v="125"/>
        <pc:sldMkLst>
          <pc:docMk/>
          <pc:sldMk cId="4060029528" sldId="2146851502"/>
        </pc:sldMkLst>
      </pc:sldChg>
      <pc:sldChg chg="add">
        <pc:chgData name="Khairina Herind Septarini W" userId="S::khairina.herind@cimory.com::4d43d73c-e798-43a5-943d-306385f9cfe3" providerId="AD" clId="Web-{7D9B7C41-EE97-B2A9-50C3-E3ED8E7FBB94}" dt="2026-08-16T22:26:36.137" v="126"/>
        <pc:sldMkLst>
          <pc:docMk/>
          <pc:sldMk cId="2393283904" sldId="2146851503"/>
        </pc:sldMkLst>
      </pc:sldChg>
      <pc:sldChg chg="add">
        <pc:chgData name="Khairina Herind Septarini W" userId="S::khairina.herind@cimory.com::4d43d73c-e798-43a5-943d-306385f9cfe3" providerId="AD" clId="Web-{7D9B7C41-EE97-B2A9-50C3-E3ED8E7FBB94}" dt="2026-08-16T22:26:36.231" v="127"/>
        <pc:sldMkLst>
          <pc:docMk/>
          <pc:sldMk cId="2076503752" sldId="2146851504"/>
        </pc:sldMkLst>
      </pc:sldChg>
      <pc:sldChg chg="add">
        <pc:chgData name="Khairina Herind Septarini W" userId="S::khairina.herind@cimory.com::4d43d73c-e798-43a5-943d-306385f9cfe3" providerId="AD" clId="Web-{7D9B7C41-EE97-B2A9-50C3-E3ED8E7FBB94}" dt="2026-08-16T22:26:36.324" v="128"/>
        <pc:sldMkLst>
          <pc:docMk/>
          <pc:sldMk cId="4270420693" sldId="2146851505"/>
        </pc:sldMkLst>
      </pc:sldChg>
      <pc:sldChg chg="add">
        <pc:chgData name="Khairina Herind Septarini W" userId="S::khairina.herind@cimory.com::4d43d73c-e798-43a5-943d-306385f9cfe3" providerId="AD" clId="Web-{7D9B7C41-EE97-B2A9-50C3-E3ED8E7FBB94}" dt="2026-08-16T22:26:36.403" v="129"/>
        <pc:sldMkLst>
          <pc:docMk/>
          <pc:sldMk cId="730397328" sldId="2146851506"/>
        </pc:sldMkLst>
      </pc:sldChg>
      <pc:sldChg chg="add">
        <pc:chgData name="Khairina Herind Septarini W" userId="S::khairina.herind@cimory.com::4d43d73c-e798-43a5-943d-306385f9cfe3" providerId="AD" clId="Web-{7D9B7C41-EE97-B2A9-50C3-E3ED8E7FBB94}" dt="2026-08-16T22:26:36.481" v="130"/>
        <pc:sldMkLst>
          <pc:docMk/>
          <pc:sldMk cId="3400362835" sldId="2146851507"/>
        </pc:sldMkLst>
      </pc:sldChg>
    </pc:docChg>
  </pc:docChgLst>
  <pc:docChgLst>
    <pc:chgData name="Avrellia Marta Suryaningtyas" userId="S::avrellia.marta@cimory.com::02673abe-d8f8-48b6-b2a3-304af2f80eaf" providerId="AD" clId="Web-{EAFB88CE-4A27-804B-E59E-7A52AB3215CE}"/>
    <pc:docChg chg="modSld">
      <pc:chgData name="Avrellia Marta Suryaningtyas" userId="S::avrellia.marta@cimory.com::02673abe-d8f8-48b6-b2a3-304af2f80eaf" providerId="AD" clId="Web-{EAFB88CE-4A27-804B-E59E-7A52AB3215CE}" dt="2026-08-07T13:19:29.378" v="779"/>
      <pc:docMkLst>
        <pc:docMk/>
      </pc:docMkLst>
      <pc:sldChg chg="addSp delSp modSp">
        <pc:chgData name="Avrellia Marta Suryaningtyas" userId="S::avrellia.marta@cimory.com::02673abe-d8f8-48b6-b2a3-304af2f80eaf" providerId="AD" clId="Web-{EAFB88CE-4A27-804B-E59E-7A52AB3215CE}" dt="2026-08-07T13:18:55.627" v="742"/>
        <pc:sldMkLst>
          <pc:docMk/>
          <pc:sldMk cId="2367542049" sldId="2146851242"/>
        </pc:sldMkLst>
      </pc:sldChg>
      <pc:sldChg chg="addSp delSp modSp">
        <pc:chgData name="Avrellia Marta Suryaningtyas" userId="S::avrellia.marta@cimory.com::02673abe-d8f8-48b6-b2a3-304af2f80eaf" providerId="AD" clId="Web-{EAFB88CE-4A27-804B-E59E-7A52AB3215CE}" dt="2026-08-07T13:18:43.580" v="706" actId="20577"/>
        <pc:sldMkLst>
          <pc:docMk/>
          <pc:sldMk cId="3070779609" sldId="2146851266"/>
        </pc:sldMkLst>
        <pc:spChg chg="mod">
          <ac:chgData name="Avrellia Marta Suryaningtyas" userId="S::avrellia.marta@cimory.com::02673abe-d8f8-48b6-b2a3-304af2f80eaf" providerId="AD" clId="Web-{EAFB88CE-4A27-804B-E59E-7A52AB3215CE}" dt="2026-08-07T13:15:35.540" v="639" actId="20577"/>
          <ac:spMkLst>
            <pc:docMk/>
            <pc:sldMk cId="3070779609" sldId="2146851266"/>
            <ac:spMk id="8" creationId="{4798168A-D7DD-BE27-271E-03178EF39EE8}"/>
          </ac:spMkLst>
        </pc:spChg>
        <pc:spChg chg="mod">
          <ac:chgData name="Avrellia Marta Suryaningtyas" userId="S::avrellia.marta@cimory.com::02673abe-d8f8-48b6-b2a3-304af2f80eaf" providerId="AD" clId="Web-{EAFB88CE-4A27-804B-E59E-7A52AB3215CE}" dt="2026-08-07T13:15:37.993" v="642" actId="20577"/>
          <ac:spMkLst>
            <pc:docMk/>
            <pc:sldMk cId="3070779609" sldId="2146851266"/>
            <ac:spMk id="19" creationId="{7CA069DF-A23E-49A1-F134-8B68F2BE4481}"/>
          </ac:spMkLst>
        </pc:spChg>
        <pc:spChg chg="mod">
          <ac:chgData name="Avrellia Marta Suryaningtyas" userId="S::avrellia.marta@cimory.com::02673abe-d8f8-48b6-b2a3-304af2f80eaf" providerId="AD" clId="Web-{EAFB88CE-4A27-804B-E59E-7A52AB3215CE}" dt="2026-08-07T13:15:40.353" v="643" actId="20577"/>
          <ac:spMkLst>
            <pc:docMk/>
            <pc:sldMk cId="3070779609" sldId="2146851266"/>
            <ac:spMk id="30" creationId="{D1255F4A-CB0D-F50E-426C-5D842355B1D9}"/>
          </ac:spMkLst>
        </pc:spChg>
        <pc:spChg chg="mod">
          <ac:chgData name="Avrellia Marta Suryaningtyas" userId="S::avrellia.marta@cimory.com::02673abe-d8f8-48b6-b2a3-304af2f80eaf" providerId="AD" clId="Web-{EAFB88CE-4A27-804B-E59E-7A52AB3215CE}" dt="2026-08-07T13:15:42.525" v="644" actId="20577"/>
          <ac:spMkLst>
            <pc:docMk/>
            <pc:sldMk cId="3070779609" sldId="2146851266"/>
            <ac:spMk id="41" creationId="{BB05F979-36E6-EA82-5B1E-B1A70B31C120}"/>
          </ac:spMkLst>
        </pc:spChg>
        <pc:spChg chg="mod">
          <ac:chgData name="Avrellia Marta Suryaningtyas" userId="S::avrellia.marta@cimory.com::02673abe-d8f8-48b6-b2a3-304af2f80eaf" providerId="AD" clId="Web-{EAFB88CE-4A27-804B-E59E-7A52AB3215CE}" dt="2026-08-07T13:16:20.980" v="649" actId="20577"/>
          <ac:spMkLst>
            <pc:docMk/>
            <pc:sldMk cId="3070779609" sldId="2146851266"/>
            <ac:spMk id="48" creationId="{BF844A6B-64D0-4494-F5FD-E80DFA438EEC}"/>
          </ac:spMkLst>
        </pc:spChg>
        <pc:spChg chg="mod">
          <ac:chgData name="Avrellia Marta Suryaningtyas" userId="S::avrellia.marta@cimory.com::02673abe-d8f8-48b6-b2a3-304af2f80eaf" providerId="AD" clId="Web-{EAFB88CE-4A27-804B-E59E-7A52AB3215CE}" dt="2026-08-07T13:18:43.580" v="706" actId="20577"/>
          <ac:spMkLst>
            <pc:docMk/>
            <pc:sldMk cId="3070779609" sldId="2146851266"/>
            <ac:spMk id="56" creationId="{C83D8EC1-FEE8-F679-A7B8-BBD399B7BB71}"/>
          </ac:spMkLst>
        </pc:spChg>
      </pc:sldChg>
    </pc:docChg>
  </pc:docChgLst>
  <pc:docChgLst>
    <pc:chgData name="Pauline Immanuel Supardi" userId="S::pauline.immanuel@cimory.com::6bddf53c-48c8-4584-85ce-fadb73123699" providerId="AD" clId="Web-{F13C0F97-08A1-71E7-29C3-1CA8C1350CA0}"/>
    <pc:docChg chg="modSld">
      <pc:chgData name="Pauline Immanuel Supardi" userId="S::pauline.immanuel@cimory.com::6bddf53c-48c8-4584-85ce-fadb73123699" providerId="AD" clId="Web-{F13C0F97-08A1-71E7-29C3-1CA8C1350CA0}" dt="2026-07-26T02:59:38.459" v="221"/>
      <pc:docMkLst>
        <pc:docMk/>
      </pc:docMkLst>
      <pc:sldChg chg="modSp">
        <pc:chgData name="Pauline Immanuel Supardi" userId="S::pauline.immanuel@cimory.com::6bddf53c-48c8-4584-85ce-fadb73123699" providerId="AD" clId="Web-{F13C0F97-08A1-71E7-29C3-1CA8C1350CA0}" dt="2026-07-26T02:56:05.622" v="5" actId="1076"/>
        <pc:sldMkLst>
          <pc:docMk/>
          <pc:sldMk cId="3807510711" sldId="2146851290"/>
        </pc:sldMkLst>
        <pc:cxnChg chg="mod ord">
          <ac:chgData name="Pauline Immanuel Supardi" userId="S::pauline.immanuel@cimory.com::6bddf53c-48c8-4584-85ce-fadb73123699" providerId="AD" clId="Web-{F13C0F97-08A1-71E7-29C3-1CA8C1350CA0}" dt="2026-07-26T02:56:05.622" v="5" actId="1076"/>
          <ac:cxnSpMkLst>
            <pc:docMk/>
            <pc:sldMk cId="3807510711" sldId="2146851290"/>
            <ac:cxnSpMk id="6" creationId="{A55AD9D8-0391-2B81-CC7E-0F33CC06615E}"/>
          </ac:cxnSpMkLst>
        </pc:cxnChg>
      </pc:sldChg>
    </pc:docChg>
  </pc:docChgLst>
  <pc:docChgLst>
    <pc:chgData name="Pauline Immanuel Supardi" userId="S::pauline.immanuel@cimory.com::6bddf53c-48c8-4584-85ce-fadb73123699" providerId="AD" clId="Web-{D462A5C0-1204-2409-B595-E5ECCEEEE69F}"/>
    <pc:docChg chg="delSld modSld">
      <pc:chgData name="Pauline Immanuel Supardi" userId="S::pauline.immanuel@cimory.com::6bddf53c-48c8-4584-85ce-fadb73123699" providerId="AD" clId="Web-{D462A5C0-1204-2409-B595-E5ECCEEEE69F}" dt="2026-07-19T08:27:10.295" v="43"/>
      <pc:docMkLst>
        <pc:docMk/>
      </pc:docMkLst>
      <pc:sldChg chg="addSp delSp modSp">
        <pc:chgData name="Pauline Immanuel Supardi" userId="S::pauline.immanuel@cimory.com::6bddf53c-48c8-4584-85ce-fadb73123699" providerId="AD" clId="Web-{D462A5C0-1204-2409-B595-E5ECCEEEE69F}" dt="2026-07-19T08:24:24.497" v="19"/>
        <pc:sldMkLst>
          <pc:docMk/>
          <pc:sldMk cId="536663561" sldId="2146851293"/>
        </pc:sldMkLst>
      </pc:sldChg>
    </pc:docChg>
  </pc:docChgLst>
</pc:chgInfo>
</file>

<file path=ppt/charts/_rels/chart1.xml.rels><?xml version="1.0" encoding="UTF-8" standalone="yes"?>
<Relationships xmlns="http://schemas.openxmlformats.org/package/2006/relationships"><Relationship Id="rId3" Type="http://schemas.openxmlformats.org/officeDocument/2006/relationships/oleObject" Target="https://cimoryindonesia-my.sharepoint.com/personal/desi_armanda_cimory_com/Documents/Recruitment%20Database%20FPTK/02_Master%20Compile/MASTER_COMPILE_FPTK.xlsm" TargetMode="External"/><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oleObject" Target="https://cimoryindonesia-my.sharepoint.com/personal/desi_armanda_cimory_com/Documents/Recruitment%20Database%20FPTK/02_Master%20Compile/MASTER_COMPILE_FPTK.xlsm" TargetMode="External"/><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oleObject" Target="https://cimoryindonesia-my.sharepoint.com/personal/brittney_verine_cimory_com/Documents/0_Project/TA%20Sales/Tulang%20Punggung%20Sales%20Cimory%20Group.xlsx" TargetMode="External"/><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oleObject" Target="https://cimoryindonesia-my.sharepoint.com/personal/brittney_verine_cimory_com/Documents/0_Project/TA%20Sales/Tulang%20Punggung%20Sales%20Cimory%20Group.xlsx" TargetMode="External"/><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oleObject" Target="https://cimoryindonesia-my.sharepoint.com/personal/brittney_verine_cimory_com/Documents/0_Project/TA%20Sales/Tulang%20Punggung%20Sales%20Cimory%20Group.xlsx" TargetMode="External"/><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oleObject" Target="https://cimoryindonesia-my.sharepoint.com/personal/brittney_verine_cimory_com/Documents/0_Project/TA%20Sales/Tulang%20Punggung%20Sales%20Cimory%20Group.xlsx" TargetMode="External"/><Relationship Id="rId2" Type="http://schemas.microsoft.com/office/2011/relationships/chartColorStyle" Target="colors6.xml"/><Relationship Id="rId1" Type="http://schemas.microsoft.com/office/2011/relationships/chartStyle" Target="style6.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t>Pemenuhan SDM 2026</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lineChart>
        <c:grouping val="stacked"/>
        <c:varyColors val="0"/>
        <c:ser>
          <c:idx val="1"/>
          <c:order val="1"/>
          <c:tx>
            <c:strRef>
              <c:f>'Grafik MPP'!$A$51</c:f>
              <c:strCache>
                <c:ptCount val="1"/>
                <c:pt idx="0">
                  <c:v>Pemenuhan (terima offer)</c:v>
                </c:pt>
              </c:strCache>
            </c:strRef>
          </c:tx>
          <c:spPr>
            <a:ln w="28575" cap="rnd">
              <a:solidFill>
                <a:srgbClr val="BE5014"/>
              </a:solidFill>
              <a:prstDash val="solid"/>
              <a:round/>
            </a:ln>
            <a:effectLst/>
          </c:spPr>
          <c:marker>
            <c:symbol val="circle"/>
            <c:size val="5"/>
            <c:spPr>
              <a:solidFill>
                <a:srgbClr val="BE5014"/>
              </a:solidFill>
              <a:ln w="9525">
                <a:solidFill>
                  <a:srgbClr val="BE5014"/>
                </a:solidFill>
                <a:prstDash val="solid"/>
              </a:ln>
              <a:effectLst/>
            </c:spPr>
          </c:marker>
          <c:dLbls>
            <c:spPr>
              <a:noFill/>
              <a:ln w="25400">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'Grafik MPP'!$B$2:$AH$2</c:f>
              <c:strCache>
                <c:ptCount val="33"/>
                <c:pt idx="0">
                  <c:v>W1</c:v>
                </c:pt>
                <c:pt idx="1">
                  <c:v>W2</c:v>
                </c:pt>
                <c:pt idx="2">
                  <c:v>W3</c:v>
                </c:pt>
                <c:pt idx="3">
                  <c:v>W4</c:v>
                </c:pt>
                <c:pt idx="4">
                  <c:v>W5</c:v>
                </c:pt>
                <c:pt idx="5">
                  <c:v>W6</c:v>
                </c:pt>
                <c:pt idx="6">
                  <c:v>W7</c:v>
                </c:pt>
                <c:pt idx="7">
                  <c:v>W8</c:v>
                </c:pt>
                <c:pt idx="8">
                  <c:v>W9</c:v>
                </c:pt>
                <c:pt idx="9">
                  <c:v>W10</c:v>
                </c:pt>
                <c:pt idx="10">
                  <c:v>W11</c:v>
                </c:pt>
                <c:pt idx="11">
                  <c:v>W12</c:v>
                </c:pt>
                <c:pt idx="12">
                  <c:v>W13</c:v>
                </c:pt>
                <c:pt idx="13">
                  <c:v>W14</c:v>
                </c:pt>
                <c:pt idx="14">
                  <c:v>W15</c:v>
                </c:pt>
                <c:pt idx="15">
                  <c:v>W16</c:v>
                </c:pt>
                <c:pt idx="16">
                  <c:v>W17</c:v>
                </c:pt>
                <c:pt idx="17">
                  <c:v>W18</c:v>
                </c:pt>
                <c:pt idx="18">
                  <c:v>W19</c:v>
                </c:pt>
                <c:pt idx="19">
                  <c:v>W20</c:v>
                </c:pt>
                <c:pt idx="20">
                  <c:v>W21</c:v>
                </c:pt>
                <c:pt idx="21">
                  <c:v>W22</c:v>
                </c:pt>
                <c:pt idx="22">
                  <c:v>W23</c:v>
                </c:pt>
                <c:pt idx="23">
                  <c:v>W24</c:v>
                </c:pt>
                <c:pt idx="24">
                  <c:v>W25</c:v>
                </c:pt>
                <c:pt idx="25">
                  <c:v>W26</c:v>
                </c:pt>
                <c:pt idx="26">
                  <c:v>W27</c:v>
                </c:pt>
                <c:pt idx="27">
                  <c:v>W28</c:v>
                </c:pt>
                <c:pt idx="28">
                  <c:v>W29</c:v>
                </c:pt>
                <c:pt idx="29">
                  <c:v>W30</c:v>
                </c:pt>
                <c:pt idx="30">
                  <c:v>W31</c:v>
                </c:pt>
                <c:pt idx="31">
                  <c:v>W32</c:v>
                </c:pt>
                <c:pt idx="32">
                  <c:v>W33</c:v>
                </c:pt>
              </c:strCache>
            </c:strRef>
          </c:cat>
          <c:val>
            <c:numRef>
              <c:f>'Grafik MPP'!$B$51:$AH$51</c:f>
              <c:numCache>
                <c:formatCode>General</c:formatCode>
                <c:ptCount val="33"/>
                <c:pt idx="0">
                  <c:v>2</c:v>
                </c:pt>
                <c:pt idx="1">
                  <c:v>10</c:v>
                </c:pt>
                <c:pt idx="2">
                  <c:v>13</c:v>
                </c:pt>
                <c:pt idx="3">
                  <c:v>37</c:v>
                </c:pt>
                <c:pt idx="4">
                  <c:v>83</c:v>
                </c:pt>
                <c:pt idx="5">
                  <c:v>110</c:v>
                </c:pt>
                <c:pt idx="6">
                  <c:v>141</c:v>
                </c:pt>
                <c:pt idx="7">
                  <c:v>165</c:v>
                </c:pt>
                <c:pt idx="8">
                  <c:v>189</c:v>
                </c:pt>
                <c:pt idx="9">
                  <c:v>233</c:v>
                </c:pt>
                <c:pt idx="10">
                  <c:v>266</c:v>
                </c:pt>
                <c:pt idx="11">
                  <c:v>300</c:v>
                </c:pt>
                <c:pt idx="12">
                  <c:v>332</c:v>
                </c:pt>
                <c:pt idx="13">
                  <c:v>366</c:v>
                </c:pt>
                <c:pt idx="14">
                  <c:v>411</c:v>
                </c:pt>
                <c:pt idx="15">
                  <c:v>452</c:v>
                </c:pt>
                <c:pt idx="16">
                  <c:v>477</c:v>
                </c:pt>
                <c:pt idx="17">
                  <c:v>503</c:v>
                </c:pt>
                <c:pt idx="18">
                  <c:v>532</c:v>
                </c:pt>
                <c:pt idx="19">
                  <c:v>561</c:v>
                </c:pt>
                <c:pt idx="20">
                  <c:v>592</c:v>
                </c:pt>
                <c:pt idx="21">
                  <c:v>612</c:v>
                </c:pt>
                <c:pt idx="22">
                  <c:v>626</c:v>
                </c:pt>
                <c:pt idx="23">
                  <c:v>642</c:v>
                </c:pt>
                <c:pt idx="24">
                  <c:v>663</c:v>
                </c:pt>
                <c:pt idx="25">
                  <c:v>679</c:v>
                </c:pt>
                <c:pt idx="26">
                  <c:v>703</c:v>
                </c:pt>
                <c:pt idx="27">
                  <c:v>710</c:v>
                </c:pt>
                <c:pt idx="28">
                  <c:v>736</c:v>
                </c:pt>
                <c:pt idx="29">
                  <c:v>755</c:v>
                </c:pt>
                <c:pt idx="30">
                  <c:v>781</c:v>
                </c:pt>
                <c:pt idx="31">
                  <c:v>796</c:v>
                </c:pt>
                <c:pt idx="32">
                  <c:v>807</c:v>
                </c:pt>
              </c:numCache>
            </c:numRef>
          </c:val>
          <c:smooth val="0"/>
          <c:extLst>
            <c:ext xmlns:c16="http://schemas.microsoft.com/office/drawing/2014/chart" uri="{C3380CC4-5D6E-409C-BE32-E72D297353CC}">
              <c16:uniqueId val="{00000000-A733-440E-A167-C8BDEFCE915E}"/>
            </c:ext>
          </c:extLst>
        </c:ser>
        <c:dLbls>
          <c:showLegendKey val="0"/>
          <c:showVal val="0"/>
          <c:showCatName val="0"/>
          <c:showSerName val="0"/>
          <c:showPercent val="0"/>
          <c:showBubbleSize val="0"/>
        </c:dLbls>
        <c:marker val="1"/>
        <c:smooth val="0"/>
        <c:axId val="795823623"/>
        <c:axId val="795862535"/>
      </c:lineChart>
      <c:lineChart>
        <c:grouping val="stacked"/>
        <c:varyColors val="0"/>
        <c:ser>
          <c:idx val="2"/>
          <c:order val="0"/>
          <c:tx>
            <c:strRef>
              <c:f>'Grafik MPP'!$A$50</c:f>
              <c:strCache>
                <c:ptCount val="1"/>
                <c:pt idx="0">
                  <c:v>Jumlah FPTK Diproses</c:v>
                </c:pt>
              </c:strCache>
            </c:strRef>
          </c:tx>
          <c:spPr>
            <a:ln w="28575" cap="rnd">
              <a:solidFill>
                <a:srgbClr val="104861"/>
              </a:solidFill>
              <a:prstDash val="solid"/>
              <a:round/>
            </a:ln>
            <a:effectLst/>
          </c:spPr>
          <c:marker>
            <c:symbol val="circle"/>
            <c:size val="5"/>
            <c:spPr>
              <a:solidFill>
                <a:srgbClr val="104861"/>
              </a:solidFill>
              <a:ln w="9525">
                <a:solidFill>
                  <a:srgbClr val="104861"/>
                </a:solidFill>
                <a:prstDash val="solid"/>
              </a:ln>
              <a:effectLst/>
            </c:spPr>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'Grafik MPP'!$B$2:$AH$2</c:f>
              <c:strCache>
                <c:ptCount val="33"/>
                <c:pt idx="0">
                  <c:v>W1</c:v>
                </c:pt>
                <c:pt idx="1">
                  <c:v>W2</c:v>
                </c:pt>
                <c:pt idx="2">
                  <c:v>W3</c:v>
                </c:pt>
                <c:pt idx="3">
                  <c:v>W4</c:v>
                </c:pt>
                <c:pt idx="4">
                  <c:v>W5</c:v>
                </c:pt>
                <c:pt idx="5">
                  <c:v>W6</c:v>
                </c:pt>
                <c:pt idx="6">
                  <c:v>W7</c:v>
                </c:pt>
                <c:pt idx="7">
                  <c:v>W8</c:v>
                </c:pt>
                <c:pt idx="8">
                  <c:v>W9</c:v>
                </c:pt>
                <c:pt idx="9">
                  <c:v>W10</c:v>
                </c:pt>
                <c:pt idx="10">
                  <c:v>W11</c:v>
                </c:pt>
                <c:pt idx="11">
                  <c:v>W12</c:v>
                </c:pt>
                <c:pt idx="12">
                  <c:v>W13</c:v>
                </c:pt>
                <c:pt idx="13">
                  <c:v>W14</c:v>
                </c:pt>
                <c:pt idx="14">
                  <c:v>W15</c:v>
                </c:pt>
                <c:pt idx="15">
                  <c:v>W16</c:v>
                </c:pt>
                <c:pt idx="16">
                  <c:v>W17</c:v>
                </c:pt>
                <c:pt idx="17">
                  <c:v>W18</c:v>
                </c:pt>
                <c:pt idx="18">
                  <c:v>W19</c:v>
                </c:pt>
                <c:pt idx="19">
                  <c:v>W20</c:v>
                </c:pt>
                <c:pt idx="20">
                  <c:v>W21</c:v>
                </c:pt>
                <c:pt idx="21">
                  <c:v>W22</c:v>
                </c:pt>
                <c:pt idx="22">
                  <c:v>W23</c:v>
                </c:pt>
                <c:pt idx="23">
                  <c:v>W24</c:v>
                </c:pt>
                <c:pt idx="24">
                  <c:v>W25</c:v>
                </c:pt>
                <c:pt idx="25">
                  <c:v>W26</c:v>
                </c:pt>
                <c:pt idx="26">
                  <c:v>W27</c:v>
                </c:pt>
                <c:pt idx="27">
                  <c:v>W28</c:v>
                </c:pt>
                <c:pt idx="28">
                  <c:v>W29</c:v>
                </c:pt>
                <c:pt idx="29">
                  <c:v>W30</c:v>
                </c:pt>
                <c:pt idx="30">
                  <c:v>W31</c:v>
                </c:pt>
                <c:pt idx="31">
                  <c:v>W32</c:v>
                </c:pt>
                <c:pt idx="32">
                  <c:v>W33</c:v>
                </c:pt>
              </c:strCache>
            </c:strRef>
          </c:cat>
          <c:val>
            <c:numRef>
              <c:f>'Grafik MPP'!$B$50:$AH$50</c:f>
              <c:numCache>
                <c:formatCode>0</c:formatCode>
                <c:ptCount val="33"/>
                <c:pt idx="0">
                  <c:v>206</c:v>
                </c:pt>
                <c:pt idx="1">
                  <c:v>282</c:v>
                </c:pt>
                <c:pt idx="2">
                  <c:v>354</c:v>
                </c:pt>
                <c:pt idx="3">
                  <c:v>436</c:v>
                </c:pt>
                <c:pt idx="4">
                  <c:v>493</c:v>
                </c:pt>
                <c:pt idx="5">
                  <c:v>515</c:v>
                </c:pt>
                <c:pt idx="6">
                  <c:v>545</c:v>
                </c:pt>
                <c:pt idx="7">
                  <c:v>546</c:v>
                </c:pt>
                <c:pt idx="8">
                  <c:v>566</c:v>
                </c:pt>
                <c:pt idx="9">
                  <c:v>600</c:v>
                </c:pt>
                <c:pt idx="10">
                  <c:v>674</c:v>
                </c:pt>
                <c:pt idx="11">
                  <c:v>718</c:v>
                </c:pt>
                <c:pt idx="12">
                  <c:v>745</c:v>
                </c:pt>
                <c:pt idx="13">
                  <c:v>771</c:v>
                </c:pt>
                <c:pt idx="14">
                  <c:v>796</c:v>
                </c:pt>
                <c:pt idx="15">
                  <c:v>803</c:v>
                </c:pt>
                <c:pt idx="16">
                  <c:v>824</c:v>
                </c:pt>
                <c:pt idx="17">
                  <c:v>841</c:v>
                </c:pt>
                <c:pt idx="18">
                  <c:v>868</c:v>
                </c:pt>
                <c:pt idx="19">
                  <c:v>899</c:v>
                </c:pt>
                <c:pt idx="20">
                  <c:v>922</c:v>
                </c:pt>
                <c:pt idx="21">
                  <c:v>962</c:v>
                </c:pt>
                <c:pt idx="22">
                  <c:v>977</c:v>
                </c:pt>
                <c:pt idx="23">
                  <c:v>932</c:v>
                </c:pt>
                <c:pt idx="24">
                  <c:v>941</c:v>
                </c:pt>
                <c:pt idx="25">
                  <c:v>968</c:v>
                </c:pt>
                <c:pt idx="26">
                  <c:v>1004</c:v>
                </c:pt>
                <c:pt idx="27">
                  <c:v>1017</c:v>
                </c:pt>
                <c:pt idx="28">
                  <c:v>1043</c:v>
                </c:pt>
                <c:pt idx="29">
                  <c:v>1075</c:v>
                </c:pt>
                <c:pt idx="30">
                  <c:v>1116</c:v>
                </c:pt>
                <c:pt idx="31">
                  <c:v>1133</c:v>
                </c:pt>
                <c:pt idx="32">
                  <c:v>1158</c:v>
                </c:pt>
              </c:numCache>
            </c:numRef>
          </c:val>
          <c:smooth val="0"/>
          <c:extLst>
            <c:ext xmlns:c16="http://schemas.microsoft.com/office/drawing/2014/chart" uri="{C3380CC4-5D6E-409C-BE32-E72D297353CC}">
              <c16:uniqueId val="{00000001-A733-440E-A167-C8BDEFCE915E}"/>
            </c:ext>
          </c:extLst>
        </c:ser>
        <c:dLbls>
          <c:showLegendKey val="0"/>
          <c:showVal val="0"/>
          <c:showCatName val="0"/>
          <c:showSerName val="0"/>
          <c:showPercent val="0"/>
          <c:showBubbleSize val="0"/>
        </c:dLbls>
        <c:marker val="1"/>
        <c:smooth val="0"/>
        <c:axId val="1708931616"/>
        <c:axId val="219505680"/>
      </c:lineChart>
      <c:catAx>
        <c:axId val="795823623"/>
        <c:scaling>
          <c:orientation val="minMax"/>
        </c:scaling>
        <c:delete val="0"/>
        <c:axPos val="b"/>
        <c:numFmt formatCode="General" sourceLinked="1"/>
        <c:majorTickMark val="none"/>
        <c:minorTickMark val="none"/>
        <c:tickLblPos val="nextTo"/>
        <c:spPr>
          <a:noFill/>
          <a:ln w="9525" cap="flat" cmpd="sng" algn="ctr">
            <a:solidFill>
              <a:srgbClr val="000000"/>
            </a:solidFill>
            <a:prstDash val="solid"/>
            <a:round/>
          </a:ln>
          <a:effectLst/>
        </c:spPr>
        <c:txPr>
          <a:bodyPr rot="-60000000" spcFirstLastPara="1" vertOverflow="ellipsis" vert="horz" wrap="square" anchor="ctr" anchorCtr="1"/>
          <a:lstStyle/>
          <a:p>
            <a:pPr>
              <a:defRPr sz="900" b="0" i="0" u="none" strike="noStrike" kern="1200" baseline="0">
                <a:solidFill>
                  <a:srgbClr val="000000"/>
                </a:solidFill>
                <a:latin typeface="+mn-lt"/>
                <a:ea typeface="+mn-ea"/>
                <a:cs typeface="+mn-cs"/>
              </a:defRPr>
            </a:pPr>
            <a:endParaRPr lang="en-US"/>
          </a:p>
        </c:txPr>
        <c:crossAx val="795862535"/>
        <c:crosses val="autoZero"/>
        <c:auto val="1"/>
        <c:lblAlgn val="ctr"/>
        <c:lblOffset val="100"/>
        <c:noMultiLvlLbl val="0"/>
      </c:catAx>
      <c:valAx>
        <c:axId val="795862535"/>
        <c:scaling>
          <c:orientation val="minMax"/>
        </c:scaling>
        <c:delete val="1"/>
        <c:axPos val="l"/>
        <c:numFmt formatCode="General" sourceLinked="1"/>
        <c:majorTickMark val="none"/>
        <c:minorTickMark val="none"/>
        <c:tickLblPos val="nextTo"/>
        <c:crossAx val="795823623"/>
        <c:crosses val="autoZero"/>
        <c:crossBetween val="between"/>
      </c:valAx>
      <c:valAx>
        <c:axId val="219505680"/>
        <c:scaling>
          <c:orientation val="minMax"/>
        </c:scaling>
        <c:delete val="1"/>
        <c:axPos val="r"/>
        <c:numFmt formatCode="0" sourceLinked="1"/>
        <c:majorTickMark val="out"/>
        <c:minorTickMark val="none"/>
        <c:tickLblPos val="nextTo"/>
        <c:crossAx val="1708931616"/>
        <c:crosses val="max"/>
        <c:crossBetween val="between"/>
      </c:valAx>
      <c:catAx>
        <c:axId val="1708931616"/>
        <c:scaling>
          <c:orientation val="minMax"/>
        </c:scaling>
        <c:delete val="1"/>
        <c:axPos val="b"/>
        <c:numFmt formatCode="General" sourceLinked="1"/>
        <c:majorTickMark val="out"/>
        <c:minorTickMark val="none"/>
        <c:tickLblPos val="nextTo"/>
        <c:crossAx val="219505680"/>
        <c:crosses val="autoZero"/>
        <c:auto val="1"/>
        <c:lblAlgn val="ctr"/>
        <c:lblOffset val="100"/>
        <c:noMultiLvlLbl val="0"/>
      </c:catAx>
      <c:spPr>
        <a:noFill/>
        <a:ln>
          <a:noFill/>
        </a:ln>
        <a:effectLst/>
      </c:spPr>
    </c:plotArea>
    <c:legend>
      <c:legendPos val="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legend>
    <c:plotVisOnly val="1"/>
    <c:dispBlanksAs val="zero"/>
    <c:showDLblsOverMax val="0"/>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t>Pemenuhan SDM 2026</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lineChart>
        <c:grouping val="stacked"/>
        <c:varyColors val="0"/>
        <c:ser>
          <c:idx val="1"/>
          <c:order val="1"/>
          <c:tx>
            <c:strRef>
              <c:f>'Grafik MPP'!$A$51</c:f>
              <c:strCache>
                <c:ptCount val="1"/>
                <c:pt idx="0">
                  <c:v>Pemenuhan (terima offer)</c:v>
                </c:pt>
              </c:strCache>
            </c:strRef>
          </c:tx>
          <c:spPr>
            <a:ln w="28575" cap="rnd">
              <a:solidFill>
                <a:srgbClr val="BE5014"/>
              </a:solidFill>
              <a:prstDash val="solid"/>
              <a:round/>
            </a:ln>
            <a:effectLst/>
          </c:spPr>
          <c:marker>
            <c:symbol val="circle"/>
            <c:size val="5"/>
            <c:spPr>
              <a:solidFill>
                <a:srgbClr val="BE5014"/>
              </a:solidFill>
              <a:ln w="9525">
                <a:solidFill>
                  <a:srgbClr val="BE5014"/>
                </a:solidFill>
                <a:prstDash val="solid"/>
              </a:ln>
              <a:effectLst/>
            </c:spPr>
          </c:marker>
          <c:dLbls>
            <c:spPr>
              <a:noFill/>
              <a:ln w="25400">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'Grafik MPP'!$B$2:$AH$2</c:f>
              <c:strCache>
                <c:ptCount val="33"/>
                <c:pt idx="0">
                  <c:v>W1</c:v>
                </c:pt>
                <c:pt idx="1">
                  <c:v>W2</c:v>
                </c:pt>
                <c:pt idx="2">
                  <c:v>W3</c:v>
                </c:pt>
                <c:pt idx="3">
                  <c:v>W4</c:v>
                </c:pt>
                <c:pt idx="4">
                  <c:v>W5</c:v>
                </c:pt>
                <c:pt idx="5">
                  <c:v>W6</c:v>
                </c:pt>
                <c:pt idx="6">
                  <c:v>W7</c:v>
                </c:pt>
                <c:pt idx="7">
                  <c:v>W8</c:v>
                </c:pt>
                <c:pt idx="8">
                  <c:v>W9</c:v>
                </c:pt>
                <c:pt idx="9">
                  <c:v>W10</c:v>
                </c:pt>
                <c:pt idx="10">
                  <c:v>W11</c:v>
                </c:pt>
                <c:pt idx="11">
                  <c:v>W12</c:v>
                </c:pt>
                <c:pt idx="12">
                  <c:v>W13</c:v>
                </c:pt>
                <c:pt idx="13">
                  <c:v>W14</c:v>
                </c:pt>
                <c:pt idx="14">
                  <c:v>W15</c:v>
                </c:pt>
                <c:pt idx="15">
                  <c:v>W16</c:v>
                </c:pt>
                <c:pt idx="16">
                  <c:v>W17</c:v>
                </c:pt>
                <c:pt idx="17">
                  <c:v>W18</c:v>
                </c:pt>
                <c:pt idx="18">
                  <c:v>W19</c:v>
                </c:pt>
                <c:pt idx="19">
                  <c:v>W20</c:v>
                </c:pt>
                <c:pt idx="20">
                  <c:v>W21</c:v>
                </c:pt>
                <c:pt idx="21">
                  <c:v>W22</c:v>
                </c:pt>
                <c:pt idx="22">
                  <c:v>W23</c:v>
                </c:pt>
                <c:pt idx="23">
                  <c:v>W24</c:v>
                </c:pt>
                <c:pt idx="24">
                  <c:v>W25</c:v>
                </c:pt>
                <c:pt idx="25">
                  <c:v>W26</c:v>
                </c:pt>
                <c:pt idx="26">
                  <c:v>W27</c:v>
                </c:pt>
                <c:pt idx="27">
                  <c:v>W28</c:v>
                </c:pt>
                <c:pt idx="28">
                  <c:v>W29</c:v>
                </c:pt>
                <c:pt idx="29">
                  <c:v>W30</c:v>
                </c:pt>
                <c:pt idx="30">
                  <c:v>W31</c:v>
                </c:pt>
                <c:pt idx="31">
                  <c:v>W32</c:v>
                </c:pt>
                <c:pt idx="32">
                  <c:v>W33</c:v>
                </c:pt>
              </c:strCache>
            </c:strRef>
          </c:cat>
          <c:val>
            <c:numRef>
              <c:f>'Grafik MPP'!$B$51:$AH$51</c:f>
              <c:numCache>
                <c:formatCode>General</c:formatCode>
                <c:ptCount val="33"/>
                <c:pt idx="0">
                  <c:v>2</c:v>
                </c:pt>
                <c:pt idx="1">
                  <c:v>10</c:v>
                </c:pt>
                <c:pt idx="2">
                  <c:v>13</c:v>
                </c:pt>
                <c:pt idx="3">
                  <c:v>37</c:v>
                </c:pt>
                <c:pt idx="4">
                  <c:v>83</c:v>
                </c:pt>
                <c:pt idx="5">
                  <c:v>110</c:v>
                </c:pt>
                <c:pt idx="6">
                  <c:v>141</c:v>
                </c:pt>
                <c:pt idx="7">
                  <c:v>165</c:v>
                </c:pt>
                <c:pt idx="8">
                  <c:v>189</c:v>
                </c:pt>
                <c:pt idx="9">
                  <c:v>233</c:v>
                </c:pt>
                <c:pt idx="10">
                  <c:v>266</c:v>
                </c:pt>
                <c:pt idx="11">
                  <c:v>300</c:v>
                </c:pt>
                <c:pt idx="12">
                  <c:v>332</c:v>
                </c:pt>
                <c:pt idx="13">
                  <c:v>366</c:v>
                </c:pt>
                <c:pt idx="14">
                  <c:v>411</c:v>
                </c:pt>
                <c:pt idx="15">
                  <c:v>452</c:v>
                </c:pt>
                <c:pt idx="16">
                  <c:v>477</c:v>
                </c:pt>
                <c:pt idx="17">
                  <c:v>503</c:v>
                </c:pt>
                <c:pt idx="18">
                  <c:v>532</c:v>
                </c:pt>
                <c:pt idx="19">
                  <c:v>561</c:v>
                </c:pt>
                <c:pt idx="20">
                  <c:v>592</c:v>
                </c:pt>
                <c:pt idx="21">
                  <c:v>612</c:v>
                </c:pt>
                <c:pt idx="22">
                  <c:v>626</c:v>
                </c:pt>
                <c:pt idx="23">
                  <c:v>642</c:v>
                </c:pt>
                <c:pt idx="24">
                  <c:v>663</c:v>
                </c:pt>
                <c:pt idx="25">
                  <c:v>679</c:v>
                </c:pt>
                <c:pt idx="26">
                  <c:v>703</c:v>
                </c:pt>
                <c:pt idx="27">
                  <c:v>710</c:v>
                </c:pt>
                <c:pt idx="28">
                  <c:v>736</c:v>
                </c:pt>
                <c:pt idx="29">
                  <c:v>755</c:v>
                </c:pt>
                <c:pt idx="30">
                  <c:v>781</c:v>
                </c:pt>
                <c:pt idx="31">
                  <c:v>796</c:v>
                </c:pt>
                <c:pt idx="32">
                  <c:v>807</c:v>
                </c:pt>
              </c:numCache>
            </c:numRef>
          </c:val>
          <c:smooth val="0"/>
          <c:extLst>
            <c:ext xmlns:c16="http://schemas.microsoft.com/office/drawing/2014/chart" uri="{C3380CC4-5D6E-409C-BE32-E72D297353CC}">
              <c16:uniqueId val="{00000000-768D-401F-AD13-994D3E5E8A21}"/>
            </c:ext>
          </c:extLst>
        </c:ser>
        <c:dLbls>
          <c:showLegendKey val="0"/>
          <c:showVal val="0"/>
          <c:showCatName val="0"/>
          <c:showSerName val="0"/>
          <c:showPercent val="0"/>
          <c:showBubbleSize val="0"/>
        </c:dLbls>
        <c:marker val="1"/>
        <c:smooth val="0"/>
        <c:axId val="795823623"/>
        <c:axId val="795862535"/>
      </c:lineChart>
      <c:lineChart>
        <c:grouping val="stacked"/>
        <c:varyColors val="0"/>
        <c:ser>
          <c:idx val="2"/>
          <c:order val="0"/>
          <c:tx>
            <c:strRef>
              <c:f>'Grafik MPP'!$A$50</c:f>
              <c:strCache>
                <c:ptCount val="1"/>
                <c:pt idx="0">
                  <c:v>Jumlah FPTK Diproses</c:v>
                </c:pt>
              </c:strCache>
            </c:strRef>
          </c:tx>
          <c:spPr>
            <a:ln w="28575" cap="rnd">
              <a:solidFill>
                <a:srgbClr val="104861"/>
              </a:solidFill>
              <a:prstDash val="solid"/>
              <a:round/>
            </a:ln>
            <a:effectLst/>
          </c:spPr>
          <c:marker>
            <c:symbol val="circle"/>
            <c:size val="5"/>
            <c:spPr>
              <a:solidFill>
                <a:srgbClr val="104861"/>
              </a:solidFill>
              <a:ln w="9525">
                <a:solidFill>
                  <a:srgbClr val="104861"/>
                </a:solidFill>
                <a:prstDash val="solid"/>
              </a:ln>
              <a:effectLst/>
            </c:spPr>
          </c:marker>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'Grafik MPP'!$B$2:$AH$2</c:f>
              <c:strCache>
                <c:ptCount val="33"/>
                <c:pt idx="0">
                  <c:v>W1</c:v>
                </c:pt>
                <c:pt idx="1">
                  <c:v>W2</c:v>
                </c:pt>
                <c:pt idx="2">
                  <c:v>W3</c:v>
                </c:pt>
                <c:pt idx="3">
                  <c:v>W4</c:v>
                </c:pt>
                <c:pt idx="4">
                  <c:v>W5</c:v>
                </c:pt>
                <c:pt idx="5">
                  <c:v>W6</c:v>
                </c:pt>
                <c:pt idx="6">
                  <c:v>W7</c:v>
                </c:pt>
                <c:pt idx="7">
                  <c:v>W8</c:v>
                </c:pt>
                <c:pt idx="8">
                  <c:v>W9</c:v>
                </c:pt>
                <c:pt idx="9">
                  <c:v>W10</c:v>
                </c:pt>
                <c:pt idx="10">
                  <c:v>W11</c:v>
                </c:pt>
                <c:pt idx="11">
                  <c:v>W12</c:v>
                </c:pt>
                <c:pt idx="12">
                  <c:v>W13</c:v>
                </c:pt>
                <c:pt idx="13">
                  <c:v>W14</c:v>
                </c:pt>
                <c:pt idx="14">
                  <c:v>W15</c:v>
                </c:pt>
                <c:pt idx="15">
                  <c:v>W16</c:v>
                </c:pt>
                <c:pt idx="16">
                  <c:v>W17</c:v>
                </c:pt>
                <c:pt idx="17">
                  <c:v>W18</c:v>
                </c:pt>
                <c:pt idx="18">
                  <c:v>W19</c:v>
                </c:pt>
                <c:pt idx="19">
                  <c:v>W20</c:v>
                </c:pt>
                <c:pt idx="20">
                  <c:v>W21</c:v>
                </c:pt>
                <c:pt idx="21">
                  <c:v>W22</c:v>
                </c:pt>
                <c:pt idx="22">
                  <c:v>W23</c:v>
                </c:pt>
                <c:pt idx="23">
                  <c:v>W24</c:v>
                </c:pt>
                <c:pt idx="24">
                  <c:v>W25</c:v>
                </c:pt>
                <c:pt idx="25">
                  <c:v>W26</c:v>
                </c:pt>
                <c:pt idx="26">
                  <c:v>W27</c:v>
                </c:pt>
                <c:pt idx="27">
                  <c:v>W28</c:v>
                </c:pt>
                <c:pt idx="28">
                  <c:v>W29</c:v>
                </c:pt>
                <c:pt idx="29">
                  <c:v>W30</c:v>
                </c:pt>
                <c:pt idx="30">
                  <c:v>W31</c:v>
                </c:pt>
                <c:pt idx="31">
                  <c:v>W32</c:v>
                </c:pt>
                <c:pt idx="32">
                  <c:v>W33</c:v>
                </c:pt>
              </c:strCache>
            </c:strRef>
          </c:cat>
          <c:val>
            <c:numRef>
              <c:f>'Grafik MPP'!$B$50:$AH$50</c:f>
              <c:numCache>
                <c:formatCode>0</c:formatCode>
                <c:ptCount val="33"/>
                <c:pt idx="0">
                  <c:v>206</c:v>
                </c:pt>
                <c:pt idx="1">
                  <c:v>282</c:v>
                </c:pt>
                <c:pt idx="2">
                  <c:v>354</c:v>
                </c:pt>
                <c:pt idx="3">
                  <c:v>436</c:v>
                </c:pt>
                <c:pt idx="4">
                  <c:v>493</c:v>
                </c:pt>
                <c:pt idx="5">
                  <c:v>515</c:v>
                </c:pt>
                <c:pt idx="6">
                  <c:v>545</c:v>
                </c:pt>
                <c:pt idx="7">
                  <c:v>546</c:v>
                </c:pt>
                <c:pt idx="8">
                  <c:v>566</c:v>
                </c:pt>
                <c:pt idx="9">
                  <c:v>600</c:v>
                </c:pt>
                <c:pt idx="10">
                  <c:v>674</c:v>
                </c:pt>
                <c:pt idx="11">
                  <c:v>718</c:v>
                </c:pt>
                <c:pt idx="12">
                  <c:v>745</c:v>
                </c:pt>
                <c:pt idx="13">
                  <c:v>771</c:v>
                </c:pt>
                <c:pt idx="14">
                  <c:v>796</c:v>
                </c:pt>
                <c:pt idx="15">
                  <c:v>803</c:v>
                </c:pt>
                <c:pt idx="16">
                  <c:v>824</c:v>
                </c:pt>
                <c:pt idx="17">
                  <c:v>841</c:v>
                </c:pt>
                <c:pt idx="18">
                  <c:v>868</c:v>
                </c:pt>
                <c:pt idx="19">
                  <c:v>899</c:v>
                </c:pt>
                <c:pt idx="20">
                  <c:v>922</c:v>
                </c:pt>
                <c:pt idx="21">
                  <c:v>962</c:v>
                </c:pt>
                <c:pt idx="22">
                  <c:v>977</c:v>
                </c:pt>
                <c:pt idx="23">
                  <c:v>932</c:v>
                </c:pt>
                <c:pt idx="24">
                  <c:v>941</c:v>
                </c:pt>
                <c:pt idx="25">
                  <c:v>968</c:v>
                </c:pt>
                <c:pt idx="26">
                  <c:v>1004</c:v>
                </c:pt>
                <c:pt idx="27">
                  <c:v>1017</c:v>
                </c:pt>
                <c:pt idx="28">
                  <c:v>1043</c:v>
                </c:pt>
                <c:pt idx="29">
                  <c:v>1075</c:v>
                </c:pt>
                <c:pt idx="30">
                  <c:v>1116</c:v>
                </c:pt>
                <c:pt idx="31">
                  <c:v>1133</c:v>
                </c:pt>
                <c:pt idx="32">
                  <c:v>1158</c:v>
                </c:pt>
              </c:numCache>
            </c:numRef>
          </c:val>
          <c:smooth val="0"/>
          <c:extLst>
            <c:ext xmlns:c16="http://schemas.microsoft.com/office/drawing/2014/chart" uri="{C3380CC4-5D6E-409C-BE32-E72D297353CC}">
              <c16:uniqueId val="{00000001-768D-401F-AD13-994D3E5E8A21}"/>
            </c:ext>
          </c:extLst>
        </c:ser>
        <c:dLbls>
          <c:showLegendKey val="0"/>
          <c:showVal val="0"/>
          <c:showCatName val="0"/>
          <c:showSerName val="0"/>
          <c:showPercent val="0"/>
          <c:showBubbleSize val="0"/>
        </c:dLbls>
        <c:marker val="1"/>
        <c:smooth val="0"/>
        <c:axId val="1708931616"/>
        <c:axId val="219505680"/>
      </c:lineChart>
      <c:catAx>
        <c:axId val="795823623"/>
        <c:scaling>
          <c:orientation val="minMax"/>
        </c:scaling>
        <c:delete val="0"/>
        <c:axPos val="b"/>
        <c:numFmt formatCode="General" sourceLinked="1"/>
        <c:majorTickMark val="none"/>
        <c:minorTickMark val="none"/>
        <c:tickLblPos val="nextTo"/>
        <c:spPr>
          <a:noFill/>
          <a:ln w="9525" cap="flat" cmpd="sng" algn="ctr">
            <a:solidFill>
              <a:srgbClr val="000000"/>
            </a:solidFill>
            <a:prstDash val="solid"/>
            <a:round/>
          </a:ln>
          <a:effectLst/>
        </c:spPr>
        <c:txPr>
          <a:bodyPr rot="-60000000" spcFirstLastPara="1" vertOverflow="ellipsis" vert="horz" wrap="square" anchor="ctr" anchorCtr="1"/>
          <a:lstStyle/>
          <a:p>
            <a:pPr>
              <a:defRPr sz="900" b="0" i="0" u="none" strike="noStrike" kern="1200" baseline="0">
                <a:solidFill>
                  <a:srgbClr val="000000"/>
                </a:solidFill>
                <a:latin typeface="+mn-lt"/>
                <a:ea typeface="+mn-ea"/>
                <a:cs typeface="+mn-cs"/>
              </a:defRPr>
            </a:pPr>
            <a:endParaRPr lang="en-US"/>
          </a:p>
        </c:txPr>
        <c:crossAx val="795862535"/>
        <c:crosses val="autoZero"/>
        <c:auto val="1"/>
        <c:lblAlgn val="ctr"/>
        <c:lblOffset val="100"/>
        <c:noMultiLvlLbl val="0"/>
      </c:catAx>
      <c:valAx>
        <c:axId val="795862535"/>
        <c:scaling>
          <c:orientation val="minMax"/>
        </c:scaling>
        <c:delete val="1"/>
        <c:axPos val="l"/>
        <c:numFmt formatCode="General" sourceLinked="1"/>
        <c:majorTickMark val="none"/>
        <c:minorTickMark val="none"/>
        <c:tickLblPos val="nextTo"/>
        <c:crossAx val="795823623"/>
        <c:crosses val="autoZero"/>
        <c:crossBetween val="between"/>
      </c:valAx>
      <c:valAx>
        <c:axId val="219505680"/>
        <c:scaling>
          <c:orientation val="minMax"/>
        </c:scaling>
        <c:delete val="1"/>
        <c:axPos val="r"/>
        <c:numFmt formatCode="0" sourceLinked="1"/>
        <c:majorTickMark val="out"/>
        <c:minorTickMark val="none"/>
        <c:tickLblPos val="nextTo"/>
        <c:crossAx val="1708931616"/>
        <c:crosses val="max"/>
        <c:crossBetween val="between"/>
      </c:valAx>
      <c:catAx>
        <c:axId val="1708931616"/>
        <c:scaling>
          <c:orientation val="minMax"/>
        </c:scaling>
        <c:delete val="1"/>
        <c:axPos val="b"/>
        <c:numFmt formatCode="General" sourceLinked="1"/>
        <c:majorTickMark val="out"/>
        <c:minorTickMark val="none"/>
        <c:tickLblPos val="nextTo"/>
        <c:crossAx val="219505680"/>
        <c:crosses val="autoZero"/>
        <c:auto val="1"/>
        <c:lblAlgn val="ctr"/>
        <c:lblOffset val="100"/>
        <c:noMultiLvlLbl val="0"/>
      </c:catAx>
      <c:spPr>
        <a:noFill/>
        <a:ln>
          <a:noFill/>
        </a:ln>
        <a:effectLst/>
      </c:spPr>
    </c:plotArea>
    <c:legend>
      <c:legendPos val="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legend>
    <c:plotVisOnly val="1"/>
    <c:dispBlanksAs val="zero"/>
    <c:showDLblsOverMax val="0"/>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00" b="0" i="0" u="none" strike="noStrike" kern="1200" spc="0" baseline="0">
                <a:solidFill>
                  <a:schemeClr val="tx1">
                    <a:lumMod val="65000"/>
                    <a:lumOff val="35000"/>
                  </a:schemeClr>
                </a:solidFill>
                <a:latin typeface="+mn-lt"/>
                <a:ea typeface="+mn-ea"/>
                <a:cs typeface="+mn-cs"/>
              </a:defRPr>
            </a:pPr>
            <a:r>
              <a:rPr lang="en-US"/>
              <a:t>Pemenuhan Project STO Chilled</a:t>
            </a:r>
          </a:p>
        </c:rich>
      </c:tx>
      <c:overlay val="0"/>
      <c:spPr>
        <a:noFill/>
        <a:ln>
          <a:noFill/>
        </a:ln>
        <a:effectLst/>
      </c:spPr>
      <c:txPr>
        <a:bodyPr rot="0" spcFirstLastPara="1" vertOverflow="ellipsis" vert="horz" wrap="square" anchor="ctr" anchorCtr="1"/>
        <a:lstStyle/>
        <a:p>
          <a:pPr>
            <a:defRPr sz="18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lineChart>
        <c:grouping val="standard"/>
        <c:varyColors val="0"/>
        <c:ser>
          <c:idx val="0"/>
          <c:order val="0"/>
          <c:tx>
            <c:strRef>
              <c:f>{"Jumlah FPTK diproses"}</c:f>
              <c:strCache>
                <c:ptCount val="1"/>
                <c:pt idx="0">
                  <c:v>Jumlah FPTK diproses</c:v>
                </c:pt>
              </c:strCache>
            </c:strRef>
          </c:tx>
          <c:spPr>
            <a:ln w="28575" cap="rnd">
              <a:solidFill>
                <a:srgbClr val="002060"/>
              </a:solidFill>
              <a:prstDash val="solid"/>
              <a:round/>
            </a:ln>
            <a:effectLst/>
          </c:spPr>
          <c:marker>
            <c:symbol val="circle"/>
            <c:size val="8"/>
            <c:spPr>
              <a:solidFill>
                <a:srgbClr val="002060"/>
              </a:solidFill>
              <a:ln w="9525">
                <a:solidFill>
                  <a:srgbClr val="002060"/>
                </a:solidFill>
                <a:prstDash val="solid"/>
              </a:ln>
              <a:effectLst/>
            </c:spPr>
          </c:marker>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'STO Chilled Progress'!$AF$58:$AN$58</c:f>
              <c:strCache>
                <c:ptCount val="9"/>
                <c:pt idx="0">
                  <c:v>W24</c:v>
                </c:pt>
                <c:pt idx="1">
                  <c:v>W25</c:v>
                </c:pt>
                <c:pt idx="2">
                  <c:v>W26</c:v>
                </c:pt>
                <c:pt idx="3">
                  <c:v>W27</c:v>
                </c:pt>
                <c:pt idx="4">
                  <c:v>W28</c:v>
                </c:pt>
                <c:pt idx="5">
                  <c:v>W29</c:v>
                </c:pt>
                <c:pt idx="6">
                  <c:v>W30</c:v>
                </c:pt>
                <c:pt idx="7">
                  <c:v>W31</c:v>
                </c:pt>
                <c:pt idx="8">
                  <c:v>W32</c:v>
                </c:pt>
              </c:strCache>
            </c:strRef>
          </c:cat>
          <c:val>
            <c:numRef>
              <c:f>'STO Chilled Progress'!$AF$60:$AN$60</c:f>
              <c:numCache>
                <c:formatCode>General</c:formatCode>
                <c:ptCount val="9"/>
                <c:pt idx="0">
                  <c:v>56</c:v>
                </c:pt>
                <c:pt idx="1">
                  <c:v>99</c:v>
                </c:pt>
                <c:pt idx="2">
                  <c:v>106</c:v>
                </c:pt>
                <c:pt idx="3">
                  <c:v>115</c:v>
                </c:pt>
                <c:pt idx="4">
                  <c:v>153</c:v>
                </c:pt>
                <c:pt idx="5">
                  <c:v>168</c:v>
                </c:pt>
                <c:pt idx="6">
                  <c:v>176</c:v>
                </c:pt>
                <c:pt idx="7">
                  <c:v>233</c:v>
                </c:pt>
                <c:pt idx="8">
                  <c:v>237</c:v>
                </c:pt>
              </c:numCache>
            </c:numRef>
          </c:val>
          <c:smooth val="0"/>
          <c:extLst>
            <c:ext xmlns:c16="http://schemas.microsoft.com/office/drawing/2014/chart" uri="{C3380CC4-5D6E-409C-BE32-E72D297353CC}">
              <c16:uniqueId val="{00000000-02B6-4259-B99C-2C3B56294961}"/>
            </c:ext>
          </c:extLst>
        </c:ser>
        <c:ser>
          <c:idx val="1"/>
          <c:order val="1"/>
          <c:tx>
            <c:strRef>
              <c:f>{"Pemenuhan (terima offer)"}</c:f>
              <c:strCache>
                <c:ptCount val="1"/>
                <c:pt idx="0">
                  <c:v>Pemenuhan (terima offer)</c:v>
                </c:pt>
              </c:strCache>
            </c:strRef>
          </c:tx>
          <c:spPr>
            <a:ln w="28575" cap="rnd">
              <a:solidFill>
                <a:srgbClr val="FF0000"/>
              </a:solidFill>
              <a:prstDash val="solid"/>
              <a:round/>
            </a:ln>
            <a:effectLst/>
          </c:spPr>
          <c:marker>
            <c:symbol val="circle"/>
            <c:size val="5"/>
            <c:spPr>
              <a:solidFill>
                <a:srgbClr val="FF0000"/>
              </a:solidFill>
              <a:ln w="9525">
                <a:solidFill>
                  <a:srgbClr val="FF0000"/>
                </a:solidFill>
                <a:prstDash val="solid"/>
              </a:ln>
              <a:effectLst/>
            </c:spPr>
          </c:marker>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'STO Chilled Progress'!$AF$58:$AN$58</c:f>
              <c:strCache>
                <c:ptCount val="9"/>
                <c:pt idx="0">
                  <c:v>W24</c:v>
                </c:pt>
                <c:pt idx="1">
                  <c:v>W25</c:v>
                </c:pt>
                <c:pt idx="2">
                  <c:v>W26</c:v>
                </c:pt>
                <c:pt idx="3">
                  <c:v>W27</c:v>
                </c:pt>
                <c:pt idx="4">
                  <c:v>W28</c:v>
                </c:pt>
                <c:pt idx="5">
                  <c:v>W29</c:v>
                </c:pt>
                <c:pt idx="6">
                  <c:v>W30</c:v>
                </c:pt>
                <c:pt idx="7">
                  <c:v>W31</c:v>
                </c:pt>
                <c:pt idx="8">
                  <c:v>W32</c:v>
                </c:pt>
              </c:strCache>
            </c:strRef>
          </c:cat>
          <c:val>
            <c:numRef>
              <c:f>'STO Chilled Progress'!$AF$61:$AN$61</c:f>
              <c:numCache>
                <c:formatCode>General</c:formatCode>
                <c:ptCount val="9"/>
                <c:pt idx="0">
                  <c:v>39</c:v>
                </c:pt>
                <c:pt idx="1">
                  <c:v>55</c:v>
                </c:pt>
                <c:pt idx="2">
                  <c:v>72</c:v>
                </c:pt>
                <c:pt idx="3">
                  <c:v>95</c:v>
                </c:pt>
                <c:pt idx="4">
                  <c:v>116</c:v>
                </c:pt>
                <c:pt idx="5">
                  <c:v>140</c:v>
                </c:pt>
                <c:pt idx="6">
                  <c:v>155</c:v>
                </c:pt>
                <c:pt idx="7">
                  <c:v>171</c:v>
                </c:pt>
                <c:pt idx="8">
                  <c:v>187</c:v>
                </c:pt>
              </c:numCache>
            </c:numRef>
          </c:val>
          <c:smooth val="0"/>
          <c:extLst>
            <c:ext xmlns:c16="http://schemas.microsoft.com/office/drawing/2014/chart" uri="{C3380CC4-5D6E-409C-BE32-E72D297353CC}">
              <c16:uniqueId val="{00000001-02B6-4259-B99C-2C3B56294961}"/>
            </c:ext>
          </c:extLst>
        </c:ser>
        <c:dLbls>
          <c:showLegendKey val="0"/>
          <c:showVal val="0"/>
          <c:showCatName val="0"/>
          <c:showSerName val="0"/>
          <c:showPercent val="0"/>
          <c:showBubbleSize val="0"/>
        </c:dLbls>
        <c:marker val="1"/>
        <c:smooth val="0"/>
        <c:axId val="1056494087"/>
        <c:axId val="1056498183"/>
      </c:lineChart>
      <c:catAx>
        <c:axId val="1056494087"/>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en-US"/>
          </a:p>
        </c:txPr>
        <c:crossAx val="1056498183"/>
        <c:crosses val="autoZero"/>
        <c:auto val="1"/>
        <c:lblAlgn val="ctr"/>
        <c:lblOffset val="100"/>
        <c:noMultiLvlLbl val="0"/>
      </c:catAx>
      <c:valAx>
        <c:axId val="1056498183"/>
        <c:scaling>
          <c:orientation val="minMax"/>
        </c:scaling>
        <c:delete val="1"/>
        <c:axPos val="l"/>
        <c:numFmt formatCode="General" sourceLinked="1"/>
        <c:majorTickMark val="none"/>
        <c:minorTickMark val="none"/>
        <c:tickLblPos val="nextTo"/>
        <c:crossAx val="1056494087"/>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00" b="0" i="0" u="none" strike="noStrike" kern="1200" spc="0" baseline="0">
                <a:solidFill>
                  <a:schemeClr val="tx1">
                    <a:lumMod val="65000"/>
                    <a:lumOff val="35000"/>
                  </a:schemeClr>
                </a:solidFill>
                <a:latin typeface="+mn-lt"/>
                <a:ea typeface="+mn-ea"/>
                <a:cs typeface="+mn-cs"/>
              </a:defRPr>
            </a:pPr>
            <a:r>
              <a:rPr lang="en-US"/>
              <a:t>Pemenuhan Project STO Chilled</a:t>
            </a:r>
          </a:p>
        </c:rich>
      </c:tx>
      <c:overlay val="0"/>
      <c:spPr>
        <a:noFill/>
        <a:ln>
          <a:noFill/>
        </a:ln>
        <a:effectLst/>
      </c:spPr>
      <c:txPr>
        <a:bodyPr rot="0" spcFirstLastPara="1" vertOverflow="ellipsis" vert="horz" wrap="square" anchor="ctr" anchorCtr="1"/>
        <a:lstStyle/>
        <a:p>
          <a:pPr>
            <a:defRPr sz="18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lineChart>
        <c:grouping val="standard"/>
        <c:varyColors val="0"/>
        <c:ser>
          <c:idx val="0"/>
          <c:order val="0"/>
          <c:tx>
            <c:strRef>
              <c:f>{"Jumlah FPTK Diproses"}</c:f>
              <c:strCache>
                <c:ptCount val="1"/>
                <c:pt idx="0">
                  <c:v>Jumlah FPTK Diproses</c:v>
                </c:pt>
              </c:strCache>
            </c:strRef>
          </c:tx>
          <c:spPr>
            <a:ln w="28575" cap="rnd">
              <a:solidFill>
                <a:srgbClr val="002060"/>
              </a:solidFill>
              <a:prstDash val="solid"/>
              <a:round/>
            </a:ln>
            <a:effectLst/>
          </c:spPr>
          <c:marker>
            <c:symbol val="circle"/>
            <c:size val="5"/>
            <c:spPr>
              <a:solidFill>
                <a:schemeClr val="accent1"/>
              </a:solidFill>
              <a:ln w="9525">
                <a:solidFill>
                  <a:schemeClr val="accent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'STO Chilled Progress'!$AE$31:$AM$31</c:f>
              <c:strCache>
                <c:ptCount val="9"/>
                <c:pt idx="0">
                  <c:v>W24</c:v>
                </c:pt>
                <c:pt idx="1">
                  <c:v>W25</c:v>
                </c:pt>
                <c:pt idx="2">
                  <c:v>W26</c:v>
                </c:pt>
                <c:pt idx="3">
                  <c:v>W27</c:v>
                </c:pt>
                <c:pt idx="4">
                  <c:v>W28</c:v>
                </c:pt>
                <c:pt idx="5">
                  <c:v>W29</c:v>
                </c:pt>
                <c:pt idx="6">
                  <c:v>W30</c:v>
                </c:pt>
                <c:pt idx="7">
                  <c:v>W31</c:v>
                </c:pt>
                <c:pt idx="8">
                  <c:v>W32</c:v>
                </c:pt>
              </c:strCache>
            </c:strRef>
          </c:cat>
          <c:val>
            <c:numRef>
              <c:f>'STO Chilled Progress'!$AE$33:$AM$33</c:f>
              <c:numCache>
                <c:formatCode>General</c:formatCode>
                <c:ptCount val="9"/>
                <c:pt idx="0">
                  <c:v>4</c:v>
                </c:pt>
                <c:pt idx="1">
                  <c:v>4</c:v>
                </c:pt>
                <c:pt idx="2">
                  <c:v>6</c:v>
                </c:pt>
                <c:pt idx="3">
                  <c:v>8</c:v>
                </c:pt>
                <c:pt idx="4">
                  <c:v>8</c:v>
                </c:pt>
                <c:pt idx="5">
                  <c:v>17</c:v>
                </c:pt>
                <c:pt idx="6">
                  <c:v>17</c:v>
                </c:pt>
                <c:pt idx="7">
                  <c:v>20</c:v>
                </c:pt>
                <c:pt idx="8">
                  <c:v>20</c:v>
                </c:pt>
              </c:numCache>
            </c:numRef>
          </c:val>
          <c:smooth val="0"/>
          <c:extLst>
            <c:ext xmlns:c16="http://schemas.microsoft.com/office/drawing/2014/chart" uri="{C3380CC4-5D6E-409C-BE32-E72D297353CC}">
              <c16:uniqueId val="{00000000-D00D-42E4-89CC-D94546A99ECF}"/>
            </c:ext>
          </c:extLst>
        </c:ser>
        <c:ser>
          <c:idx val="1"/>
          <c:order val="1"/>
          <c:tx>
            <c:strRef>
              <c:f>{"Pemenuhan (terima offer)"}</c:f>
              <c:strCache>
                <c:ptCount val="1"/>
                <c:pt idx="0">
                  <c:v>Pemenuhan (terima offer)</c:v>
                </c:pt>
              </c:strCache>
            </c:strRef>
          </c:tx>
          <c:spPr>
            <a:ln w="28575" cap="rnd">
              <a:solidFill>
                <a:srgbClr val="FF0000"/>
              </a:solidFill>
              <a:prstDash val="solid"/>
              <a:round/>
            </a:ln>
            <a:effectLst/>
          </c:spPr>
          <c:marker>
            <c:symbol val="circle"/>
            <c:size val="5"/>
            <c:spPr>
              <a:solidFill>
                <a:schemeClr val="accent2"/>
              </a:solidFill>
              <a:ln w="9525">
                <a:solidFill>
                  <a:schemeClr val="accent2"/>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'STO Chilled Progress'!$AE$31:$AM$31</c:f>
              <c:strCache>
                <c:ptCount val="9"/>
                <c:pt idx="0">
                  <c:v>W24</c:v>
                </c:pt>
                <c:pt idx="1">
                  <c:v>W25</c:v>
                </c:pt>
                <c:pt idx="2">
                  <c:v>W26</c:v>
                </c:pt>
                <c:pt idx="3">
                  <c:v>W27</c:v>
                </c:pt>
                <c:pt idx="4">
                  <c:v>W28</c:v>
                </c:pt>
                <c:pt idx="5">
                  <c:v>W29</c:v>
                </c:pt>
                <c:pt idx="6">
                  <c:v>W30</c:v>
                </c:pt>
                <c:pt idx="7">
                  <c:v>W31</c:v>
                </c:pt>
                <c:pt idx="8">
                  <c:v>W32</c:v>
                </c:pt>
              </c:strCache>
            </c:strRef>
          </c:cat>
          <c:val>
            <c:numRef>
              <c:f>'STO Chilled Progress'!$AE$34:$AM$34</c:f>
              <c:numCache>
                <c:formatCode>General</c:formatCode>
                <c:ptCount val="9"/>
                <c:pt idx="0">
                  <c:v>4</c:v>
                </c:pt>
                <c:pt idx="1">
                  <c:v>4</c:v>
                </c:pt>
                <c:pt idx="2">
                  <c:v>6</c:v>
                </c:pt>
                <c:pt idx="3">
                  <c:v>8</c:v>
                </c:pt>
                <c:pt idx="4">
                  <c:v>8</c:v>
                </c:pt>
                <c:pt idx="5">
                  <c:v>8</c:v>
                </c:pt>
                <c:pt idx="6">
                  <c:v>10</c:v>
                </c:pt>
                <c:pt idx="7">
                  <c:v>14</c:v>
                </c:pt>
                <c:pt idx="8">
                  <c:v>14</c:v>
                </c:pt>
              </c:numCache>
            </c:numRef>
          </c:val>
          <c:smooth val="0"/>
          <c:extLst>
            <c:ext xmlns:c16="http://schemas.microsoft.com/office/drawing/2014/chart" uri="{C3380CC4-5D6E-409C-BE32-E72D297353CC}">
              <c16:uniqueId val="{00000001-D00D-42E4-89CC-D94546A99ECF}"/>
            </c:ext>
          </c:extLst>
        </c:ser>
        <c:dLbls>
          <c:showLegendKey val="0"/>
          <c:showVal val="0"/>
          <c:showCatName val="0"/>
          <c:showSerName val="0"/>
          <c:showPercent val="0"/>
          <c:showBubbleSize val="0"/>
        </c:dLbls>
        <c:marker val="1"/>
        <c:smooth val="0"/>
        <c:axId val="1056494087"/>
        <c:axId val="1056498183"/>
      </c:lineChart>
      <c:catAx>
        <c:axId val="1056494087"/>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en-US"/>
          </a:p>
        </c:txPr>
        <c:crossAx val="1056498183"/>
        <c:crosses val="autoZero"/>
        <c:auto val="1"/>
        <c:lblAlgn val="ctr"/>
        <c:lblOffset val="100"/>
        <c:noMultiLvlLbl val="0"/>
      </c:catAx>
      <c:valAx>
        <c:axId val="1056498183"/>
        <c:scaling>
          <c:orientation val="minMax"/>
        </c:scaling>
        <c:delete val="1"/>
        <c:axPos val="l"/>
        <c:numFmt formatCode="General" sourceLinked="1"/>
        <c:majorTickMark val="none"/>
        <c:minorTickMark val="none"/>
        <c:tickLblPos val="nextTo"/>
        <c:crossAx val="1056494087"/>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00" b="0" i="0" u="none" strike="noStrike" kern="1200" spc="0" baseline="0">
                <a:solidFill>
                  <a:schemeClr val="tx1">
                    <a:lumMod val="65000"/>
                    <a:lumOff val="35000"/>
                  </a:schemeClr>
                </a:solidFill>
                <a:latin typeface="+mn-lt"/>
                <a:ea typeface="+mn-ea"/>
                <a:cs typeface="+mn-cs"/>
              </a:defRPr>
            </a:pPr>
            <a:r>
              <a:rPr lang="en-US"/>
              <a:t>Pemenuhan Project STO Chilled</a:t>
            </a:r>
          </a:p>
        </c:rich>
      </c:tx>
      <c:overlay val="0"/>
      <c:spPr>
        <a:noFill/>
        <a:ln>
          <a:noFill/>
        </a:ln>
        <a:effectLst/>
      </c:spPr>
      <c:txPr>
        <a:bodyPr rot="0" spcFirstLastPara="1" vertOverflow="ellipsis" vert="horz" wrap="square" anchor="ctr" anchorCtr="1"/>
        <a:lstStyle/>
        <a:p>
          <a:pPr>
            <a:defRPr sz="18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lineChart>
        <c:grouping val="standard"/>
        <c:varyColors val="0"/>
        <c:ser>
          <c:idx val="0"/>
          <c:order val="0"/>
          <c:tx>
            <c:strRef>
              <c:f>{"Jumlah FPTK Diproses"}</c:f>
              <c:strCache>
                <c:ptCount val="1"/>
                <c:pt idx="0">
                  <c:v>Jumlah FPTK Diproses</c:v>
                </c:pt>
              </c:strCache>
            </c:strRef>
          </c:tx>
          <c:spPr>
            <a:ln w="28575" cap="rnd">
              <a:solidFill>
                <a:srgbClr val="002060"/>
              </a:solidFill>
              <a:prstDash val="solid"/>
              <a:round/>
            </a:ln>
            <a:effectLst/>
          </c:spPr>
          <c:marker>
            <c:symbol val="circle"/>
            <c:size val="5"/>
            <c:spPr>
              <a:solidFill>
                <a:schemeClr val="accent1"/>
              </a:solidFill>
              <a:ln w="9525">
                <a:solidFill>
                  <a:schemeClr val="accent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'STO Chilled Progress'!$AE$31:$AM$31</c:f>
              <c:strCache>
                <c:ptCount val="9"/>
                <c:pt idx="0">
                  <c:v>W24</c:v>
                </c:pt>
                <c:pt idx="1">
                  <c:v>W25</c:v>
                </c:pt>
                <c:pt idx="2">
                  <c:v>W26</c:v>
                </c:pt>
                <c:pt idx="3">
                  <c:v>W27</c:v>
                </c:pt>
                <c:pt idx="4">
                  <c:v>W28</c:v>
                </c:pt>
                <c:pt idx="5">
                  <c:v>W29</c:v>
                </c:pt>
                <c:pt idx="6">
                  <c:v>W30</c:v>
                </c:pt>
                <c:pt idx="7">
                  <c:v>W31</c:v>
                </c:pt>
                <c:pt idx="8">
                  <c:v>W32</c:v>
                </c:pt>
              </c:strCache>
            </c:strRef>
          </c:cat>
          <c:val>
            <c:numRef>
              <c:f>'STO Chilled Progress'!$AE$33:$AM$33</c:f>
              <c:numCache>
                <c:formatCode>General</c:formatCode>
                <c:ptCount val="9"/>
                <c:pt idx="0">
                  <c:v>4</c:v>
                </c:pt>
                <c:pt idx="1">
                  <c:v>4</c:v>
                </c:pt>
                <c:pt idx="2">
                  <c:v>6</c:v>
                </c:pt>
                <c:pt idx="3">
                  <c:v>8</c:v>
                </c:pt>
                <c:pt idx="4">
                  <c:v>8</c:v>
                </c:pt>
                <c:pt idx="5">
                  <c:v>17</c:v>
                </c:pt>
                <c:pt idx="6">
                  <c:v>17</c:v>
                </c:pt>
                <c:pt idx="7">
                  <c:v>20</c:v>
                </c:pt>
                <c:pt idx="8">
                  <c:v>20</c:v>
                </c:pt>
              </c:numCache>
            </c:numRef>
          </c:val>
          <c:smooth val="0"/>
          <c:extLst>
            <c:ext xmlns:c16="http://schemas.microsoft.com/office/drawing/2014/chart" uri="{C3380CC4-5D6E-409C-BE32-E72D297353CC}">
              <c16:uniqueId val="{00000000-EE3E-4D66-BD2E-DB34951C84E0}"/>
            </c:ext>
          </c:extLst>
        </c:ser>
        <c:ser>
          <c:idx val="1"/>
          <c:order val="1"/>
          <c:tx>
            <c:strRef>
              <c:f>{"Pemenuhan (terima offer)"}</c:f>
              <c:strCache>
                <c:ptCount val="1"/>
                <c:pt idx="0">
                  <c:v>Pemenuhan (terima offer)</c:v>
                </c:pt>
              </c:strCache>
            </c:strRef>
          </c:tx>
          <c:spPr>
            <a:ln w="28575" cap="rnd">
              <a:solidFill>
                <a:srgbClr val="FF0000"/>
              </a:solidFill>
              <a:prstDash val="solid"/>
              <a:round/>
            </a:ln>
            <a:effectLst/>
          </c:spPr>
          <c:marker>
            <c:symbol val="circle"/>
            <c:size val="5"/>
            <c:spPr>
              <a:solidFill>
                <a:schemeClr val="accent2"/>
              </a:solidFill>
              <a:ln w="9525">
                <a:solidFill>
                  <a:schemeClr val="accent2"/>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'STO Chilled Progress'!$AE$31:$AM$31</c:f>
              <c:strCache>
                <c:ptCount val="9"/>
                <c:pt idx="0">
                  <c:v>W24</c:v>
                </c:pt>
                <c:pt idx="1">
                  <c:v>W25</c:v>
                </c:pt>
                <c:pt idx="2">
                  <c:v>W26</c:v>
                </c:pt>
                <c:pt idx="3">
                  <c:v>W27</c:v>
                </c:pt>
                <c:pt idx="4">
                  <c:v>W28</c:v>
                </c:pt>
                <c:pt idx="5">
                  <c:v>W29</c:v>
                </c:pt>
                <c:pt idx="6">
                  <c:v>W30</c:v>
                </c:pt>
                <c:pt idx="7">
                  <c:v>W31</c:v>
                </c:pt>
                <c:pt idx="8">
                  <c:v>W32</c:v>
                </c:pt>
              </c:strCache>
            </c:strRef>
          </c:cat>
          <c:val>
            <c:numRef>
              <c:f>'STO Chilled Progress'!$AE$34:$AM$34</c:f>
              <c:numCache>
                <c:formatCode>General</c:formatCode>
                <c:ptCount val="9"/>
                <c:pt idx="0">
                  <c:v>4</c:v>
                </c:pt>
                <c:pt idx="1">
                  <c:v>4</c:v>
                </c:pt>
                <c:pt idx="2">
                  <c:v>6</c:v>
                </c:pt>
                <c:pt idx="3">
                  <c:v>8</c:v>
                </c:pt>
                <c:pt idx="4">
                  <c:v>8</c:v>
                </c:pt>
                <c:pt idx="5">
                  <c:v>8</c:v>
                </c:pt>
                <c:pt idx="6">
                  <c:v>10</c:v>
                </c:pt>
                <c:pt idx="7">
                  <c:v>14</c:v>
                </c:pt>
                <c:pt idx="8">
                  <c:v>14</c:v>
                </c:pt>
              </c:numCache>
            </c:numRef>
          </c:val>
          <c:smooth val="0"/>
          <c:extLst>
            <c:ext xmlns:c16="http://schemas.microsoft.com/office/drawing/2014/chart" uri="{C3380CC4-5D6E-409C-BE32-E72D297353CC}">
              <c16:uniqueId val="{00000001-EE3E-4D66-BD2E-DB34951C84E0}"/>
            </c:ext>
          </c:extLst>
        </c:ser>
        <c:dLbls>
          <c:showLegendKey val="0"/>
          <c:showVal val="0"/>
          <c:showCatName val="0"/>
          <c:showSerName val="0"/>
          <c:showPercent val="0"/>
          <c:showBubbleSize val="0"/>
        </c:dLbls>
        <c:marker val="1"/>
        <c:smooth val="0"/>
        <c:axId val="1056494087"/>
        <c:axId val="1056498183"/>
      </c:lineChart>
      <c:catAx>
        <c:axId val="1056494087"/>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en-US"/>
          </a:p>
        </c:txPr>
        <c:crossAx val="1056498183"/>
        <c:crosses val="autoZero"/>
        <c:auto val="1"/>
        <c:lblAlgn val="ctr"/>
        <c:lblOffset val="100"/>
        <c:noMultiLvlLbl val="0"/>
      </c:catAx>
      <c:valAx>
        <c:axId val="1056498183"/>
        <c:scaling>
          <c:orientation val="minMax"/>
        </c:scaling>
        <c:delete val="1"/>
        <c:axPos val="l"/>
        <c:numFmt formatCode="General" sourceLinked="1"/>
        <c:majorTickMark val="none"/>
        <c:minorTickMark val="none"/>
        <c:tickLblPos val="nextTo"/>
        <c:crossAx val="1056494087"/>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'STO Chilled Progress'!$AY$5</c:f>
              <c:strCache>
                <c:ptCount val="1"/>
                <c:pt idx="0">
                  <c:v>Jumlah FPTK Diproses</c:v>
                </c:pt>
              </c:strCache>
            </c:strRef>
          </c:tx>
          <c:spPr>
            <a:ln w="28575" cap="rnd">
              <a:solidFill>
                <a:srgbClr val="002060"/>
              </a:solidFill>
              <a:prstDash val="solid"/>
              <a:round/>
            </a:ln>
            <a:effectLst/>
          </c:spPr>
          <c:marker>
            <c:symbol val="circle"/>
            <c:size val="5"/>
            <c:spPr>
              <a:solidFill>
                <a:schemeClr val="accent1"/>
              </a:solidFill>
              <a:ln w="9525">
                <a:solidFill>
                  <a:schemeClr val="accent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'STO Chilled Progress'!$BA$3:$BJ$3</c:f>
              <c:strCache>
                <c:ptCount val="10"/>
                <c:pt idx="0">
                  <c:v>W23</c:v>
                </c:pt>
                <c:pt idx="1">
                  <c:v>W24</c:v>
                </c:pt>
                <c:pt idx="2">
                  <c:v>W25</c:v>
                </c:pt>
                <c:pt idx="3">
                  <c:v>W26</c:v>
                </c:pt>
                <c:pt idx="4">
                  <c:v>W27</c:v>
                </c:pt>
                <c:pt idx="5">
                  <c:v>W28</c:v>
                </c:pt>
                <c:pt idx="6">
                  <c:v>W29</c:v>
                </c:pt>
                <c:pt idx="7">
                  <c:v>W30</c:v>
                </c:pt>
                <c:pt idx="8">
                  <c:v>W31</c:v>
                </c:pt>
                <c:pt idx="9">
                  <c:v>W32</c:v>
                </c:pt>
              </c:strCache>
            </c:strRef>
          </c:cat>
          <c:val>
            <c:numRef>
              <c:f>'STO Chilled Progress'!$BA$5:$BJ$5</c:f>
              <c:numCache>
                <c:formatCode>General</c:formatCode>
                <c:ptCount val="10"/>
                <c:pt idx="0">
                  <c:v>25</c:v>
                </c:pt>
                <c:pt idx="1">
                  <c:v>25</c:v>
                </c:pt>
                <c:pt idx="2">
                  <c:v>25</c:v>
                </c:pt>
                <c:pt idx="3">
                  <c:v>25</c:v>
                </c:pt>
                <c:pt idx="4">
                  <c:v>25</c:v>
                </c:pt>
                <c:pt idx="5">
                  <c:v>25</c:v>
                </c:pt>
                <c:pt idx="6">
                  <c:v>25</c:v>
                </c:pt>
                <c:pt idx="7">
                  <c:v>23</c:v>
                </c:pt>
                <c:pt idx="8">
                  <c:v>23</c:v>
                </c:pt>
                <c:pt idx="9">
                  <c:v>23</c:v>
                </c:pt>
              </c:numCache>
            </c:numRef>
          </c:val>
          <c:smooth val="0"/>
          <c:extLst>
            <c:ext xmlns:c16="http://schemas.microsoft.com/office/drawing/2014/chart" uri="{C3380CC4-5D6E-409C-BE32-E72D297353CC}">
              <c16:uniqueId val="{00000000-C4F8-4B57-BA6E-B217F8903927}"/>
            </c:ext>
          </c:extLst>
        </c:ser>
        <c:ser>
          <c:idx val="1"/>
          <c:order val="1"/>
          <c:tx>
            <c:strRef>
              <c:f>'STO Chilled Progress'!$AY$6</c:f>
              <c:strCache>
                <c:ptCount val="1"/>
                <c:pt idx="0">
                  <c:v>Pemenuhan (terima offer)</c:v>
                </c:pt>
              </c:strCache>
            </c:strRef>
          </c:tx>
          <c:spPr>
            <a:ln w="28575" cap="rnd">
              <a:solidFill>
                <a:srgbClr val="FF0000"/>
              </a:solidFill>
              <a:prstDash val="solid"/>
              <a:round/>
            </a:ln>
            <a:effectLst/>
          </c:spPr>
          <c:marker>
            <c:symbol val="circle"/>
            <c:size val="5"/>
            <c:spPr>
              <a:solidFill>
                <a:schemeClr val="accent2"/>
              </a:solidFill>
              <a:ln w="9525">
                <a:solidFill>
                  <a:schemeClr val="accent2"/>
                </a:solidFill>
              </a:ln>
              <a:effectLst/>
            </c:spPr>
          </c:marker>
          <c:dLbls>
            <c:dLbl>
              <c:idx val="0"/>
              <c:layout>
                <c:manualLayout>
                  <c:x val="-8.0108463258297333E-3"/>
                  <c:y val="-5.776569369927371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4F8-4B57-BA6E-B217F8903927}"/>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'STO Chilled Progress'!$BA$3:$BJ$3</c:f>
              <c:strCache>
                <c:ptCount val="10"/>
                <c:pt idx="0">
                  <c:v>W23</c:v>
                </c:pt>
                <c:pt idx="1">
                  <c:v>W24</c:v>
                </c:pt>
                <c:pt idx="2">
                  <c:v>W25</c:v>
                </c:pt>
                <c:pt idx="3">
                  <c:v>W26</c:v>
                </c:pt>
                <c:pt idx="4">
                  <c:v>W27</c:v>
                </c:pt>
                <c:pt idx="5">
                  <c:v>W28</c:v>
                </c:pt>
                <c:pt idx="6">
                  <c:v>W29</c:v>
                </c:pt>
                <c:pt idx="7">
                  <c:v>W30</c:v>
                </c:pt>
                <c:pt idx="8">
                  <c:v>W31</c:v>
                </c:pt>
                <c:pt idx="9">
                  <c:v>W32</c:v>
                </c:pt>
              </c:strCache>
            </c:strRef>
          </c:cat>
          <c:val>
            <c:numRef>
              <c:f>'STO Chilled Progress'!$BA$6:$BJ$6</c:f>
              <c:numCache>
                <c:formatCode>General</c:formatCode>
                <c:ptCount val="10"/>
                <c:pt idx="0">
                  <c:v>0</c:v>
                </c:pt>
                <c:pt idx="1">
                  <c:v>5</c:v>
                </c:pt>
                <c:pt idx="2">
                  <c:v>7</c:v>
                </c:pt>
                <c:pt idx="3">
                  <c:v>7</c:v>
                </c:pt>
                <c:pt idx="4">
                  <c:v>8</c:v>
                </c:pt>
                <c:pt idx="5">
                  <c:v>11</c:v>
                </c:pt>
                <c:pt idx="6">
                  <c:v>12</c:v>
                </c:pt>
                <c:pt idx="7">
                  <c:v>16</c:v>
                </c:pt>
                <c:pt idx="8">
                  <c:v>17</c:v>
                </c:pt>
                <c:pt idx="9">
                  <c:v>21</c:v>
                </c:pt>
              </c:numCache>
            </c:numRef>
          </c:val>
          <c:smooth val="0"/>
          <c:extLst>
            <c:ext xmlns:c16="http://schemas.microsoft.com/office/drawing/2014/chart" uri="{C3380CC4-5D6E-409C-BE32-E72D297353CC}">
              <c16:uniqueId val="{00000002-C4F8-4B57-BA6E-B217F8903927}"/>
            </c:ext>
          </c:extLst>
        </c:ser>
        <c:dLbls>
          <c:showLegendKey val="0"/>
          <c:showVal val="0"/>
          <c:showCatName val="0"/>
          <c:showSerName val="0"/>
          <c:showPercent val="0"/>
          <c:showBubbleSize val="0"/>
        </c:dLbls>
        <c:marker val="1"/>
        <c:smooth val="0"/>
        <c:axId val="1056494087"/>
        <c:axId val="1056498183"/>
      </c:lineChart>
      <c:catAx>
        <c:axId val="1056494087"/>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en-US"/>
          </a:p>
        </c:txPr>
        <c:crossAx val="1056498183"/>
        <c:crosses val="autoZero"/>
        <c:auto val="1"/>
        <c:lblAlgn val="ctr"/>
        <c:lblOffset val="100"/>
        <c:noMultiLvlLbl val="0"/>
      </c:catAx>
      <c:valAx>
        <c:axId val="1056498183"/>
        <c:scaling>
          <c:orientation val="minMax"/>
        </c:scaling>
        <c:delete val="1"/>
        <c:axPos val="l"/>
        <c:numFmt formatCode="General" sourceLinked="1"/>
        <c:majorTickMark val="none"/>
        <c:minorTickMark val="none"/>
        <c:tickLblPos val="nextTo"/>
        <c:crossAx val="1056494087"/>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omments/modernComment_7FF65A2A_C81A3671.xml><?xml version="1.0" encoding="utf-8"?>
<p188:cmLst xmlns:a="http://schemas.openxmlformats.org/drawingml/2006/main" xmlns:r="http://schemas.openxmlformats.org/officeDocument/2006/relationships" xmlns:p188="http://schemas.microsoft.com/office/powerpoint/2018/8/main">
  <p188:cm id="{5E8EB3CD-0C99-4D14-82F4-CF07F05F12EA}" authorId="{DAC4152B-0B1D-BB04-28FF-3FBD5E73E273}" status="resolved" created="2026-07-24T15:07:33.798">
    <pc:sldMkLst xmlns:pc="http://schemas.microsoft.com/office/powerpoint/2013/main/command">
      <pc:docMk/>
      <pc:sldMk cId="395849398" sldId="2146851287"/>
    </pc:sldMkLst>
    <p188:replyLst>
      <p188:reply id="{9EF2A6F7-1D84-4A31-895F-9BF9A66D5DFB}" authorId="{70758D40-4900-03C4-F813-25A13AB90CEC}" created="2026-07-25T13:06:02.744">
        <p188:txBody>
          <a:bodyPr/>
          <a:lstStyle/>
          <a:p>
            <a:r>
              <a:rPr lang="en-US"/>
              <a:t>Iyes, mandatory untuk pembagian quarter 1 &amp; 2, Desss</a:t>
            </a:r>
          </a:p>
        </p188:txBody>
      </p188:reply>
    </p188:replyLst>
    <p188:txBody>
      <a:bodyPr/>
      <a:lstStyle/>
      <a:p>
        <a:r>
          <a:rPr lang="en-US"/>
          <a:t>Ini garis persentase, apakah mandatory untuk ada?</a:t>
        </a:r>
      </a:p>
    </p188:txBody>
  </p188:cm>
</p188:cmLst>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942796B3-65A0-484C-8CB1-5FD4975BB287}" type="datetimeFigureOut">
              <a:rPr lang="en-US" smtClean="0"/>
              <a:t>8/17/2026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089A5431-CC83-4FEF-904E-8B682F6849B0}" type="slidenum">
              <a:rPr lang="en-US" smtClean="0"/>
              <a:t>‹#›</a:t>
            </a:fld>
            <a:endParaRPr lang="en-US"/>
          </a:p>
        </p:txBody>
      </p:sp>
    </p:spTree>
    <p:extLst>
      <p:ext uri="{BB962C8B-B14F-4D97-AF65-F5344CB8AC3E}">
        <p14:creationId xmlns:p14="http://schemas.microsoft.com/office/powerpoint/2010/main" val="233521511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33ED44-75D0-14F6-491B-18C5F4347DA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0700CDB-E78B-77F4-AAD8-B2576B5E685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8CCD1CC-BEAD-827D-57CE-2DD2C654ACE5}"/>
              </a:ext>
            </a:extLst>
          </p:cNvPr>
          <p:cNvSpPr>
            <a:spLocks noGrp="1"/>
          </p:cNvSpPr>
          <p:nvPr>
            <p:ph type="body" idx="1"/>
          </p:nvPr>
        </p:nvSpPr>
        <p:spPr/>
        <p:txBody>
          <a:bodyPr/>
          <a:lstStyle/>
          <a:p>
            <a:r>
              <a:rPr lang="en-US"/>
              <a:t>W22: 61.5%</a:t>
            </a:r>
            <a:br>
              <a:rPr lang="en-US"/>
            </a:br>
            <a:r>
              <a:rPr lang="en-US"/>
              <a:t>W23 : 60.1%</a:t>
            </a:r>
            <a:br>
              <a:rPr lang="en-US"/>
            </a:br>
            <a:r>
              <a:rPr lang="en-US"/>
              <a:t>W24: 64,6%</a:t>
            </a:r>
            <a:br>
              <a:rPr lang="en-US"/>
            </a:br>
            <a:r>
              <a:rPr lang="en-US"/>
              <a:t>W25: 65.7%</a:t>
            </a:r>
          </a:p>
        </p:txBody>
      </p:sp>
      <p:sp>
        <p:nvSpPr>
          <p:cNvPr id="4" name="Slide Number Placeholder 3">
            <a:extLst>
              <a:ext uri="{FF2B5EF4-FFF2-40B4-BE49-F238E27FC236}">
                <a16:creationId xmlns:a16="http://schemas.microsoft.com/office/drawing/2014/main" id="{AEC69381-95E9-40B1-B0C0-182221677353}"/>
              </a:ext>
            </a:extLst>
          </p:cNvPr>
          <p:cNvSpPr>
            <a:spLocks noGrp="1"/>
          </p:cNvSpPr>
          <p:nvPr>
            <p:ph type="sldNum" sz="quarter" idx="10"/>
          </p:nvPr>
        </p:nvSpPr>
        <p:spPr/>
        <p:txBody>
          <a:bodyPr/>
          <a:lstStyle/>
          <a:p>
            <a:fld id="{F7021451-1387-4CA6-816F-3879F97B5CBC}" type="slidenum">
              <a:rPr lang="en-US"/>
              <a:t>3</a:t>
            </a:fld>
            <a:endParaRPr lang="en-US"/>
          </a:p>
        </p:txBody>
      </p:sp>
    </p:spTree>
    <p:extLst>
      <p:ext uri="{BB962C8B-B14F-4D97-AF65-F5344CB8AC3E}">
        <p14:creationId xmlns:p14="http://schemas.microsoft.com/office/powerpoint/2010/main" val="283685129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F7021451-1387-4CA6-816F-3879F97B5CBC}" type="slidenum">
              <a:rPr lang="en-US"/>
              <a:t>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C8A845-082C-9E79-D4BB-33B422691B1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3C3785A-F832-1EDD-2DFE-10D838A099C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34F72D5-F9AD-B699-AAFC-0B61E3A71C29}"/>
              </a:ext>
            </a:extLst>
          </p:cNvPr>
          <p:cNvSpPr>
            <a:spLocks noGrp="1"/>
          </p:cNvSpPr>
          <p:nvPr>
            <p:ph type="body" idx="1"/>
          </p:nvPr>
        </p:nvSpPr>
        <p:spPr/>
        <p:txBody>
          <a:bodyPr/>
          <a:lstStyle/>
          <a:p>
            <a:r>
              <a:rPr lang="en-US"/>
              <a:t>W22: 61.5%</a:t>
            </a:r>
            <a:br>
              <a:rPr lang="en-US"/>
            </a:br>
            <a:r>
              <a:rPr lang="en-US"/>
              <a:t>W23 : 60.1%</a:t>
            </a:r>
            <a:br>
              <a:rPr lang="en-US"/>
            </a:br>
            <a:r>
              <a:rPr lang="en-US"/>
              <a:t>W24: 64,6%</a:t>
            </a:r>
            <a:br>
              <a:rPr lang="en-US"/>
            </a:br>
            <a:r>
              <a:rPr lang="en-US"/>
              <a:t>W25: 65.7%</a:t>
            </a:r>
          </a:p>
        </p:txBody>
      </p:sp>
      <p:sp>
        <p:nvSpPr>
          <p:cNvPr id="4" name="Slide Number Placeholder 3">
            <a:extLst>
              <a:ext uri="{FF2B5EF4-FFF2-40B4-BE49-F238E27FC236}">
                <a16:creationId xmlns:a16="http://schemas.microsoft.com/office/drawing/2014/main" id="{598931E3-C5AB-BCD7-0034-FD83075A4006}"/>
              </a:ext>
            </a:extLst>
          </p:cNvPr>
          <p:cNvSpPr>
            <a:spLocks noGrp="1"/>
          </p:cNvSpPr>
          <p:nvPr>
            <p:ph type="sldNum" sz="quarter" idx="10"/>
          </p:nvPr>
        </p:nvSpPr>
        <p:spPr/>
        <p:txBody>
          <a:bodyPr/>
          <a:lstStyle/>
          <a:p>
            <a:fld id="{F7021451-1387-4CA6-816F-3879F97B5CBC}" type="slidenum">
              <a:rPr lang="en-US"/>
              <a:t>6</a:t>
            </a:fld>
            <a:endParaRPr lang="en-US"/>
          </a:p>
        </p:txBody>
      </p:sp>
    </p:spTree>
    <p:extLst>
      <p:ext uri="{BB962C8B-B14F-4D97-AF65-F5344CB8AC3E}">
        <p14:creationId xmlns:p14="http://schemas.microsoft.com/office/powerpoint/2010/main" val="424277444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6076B9-4BBB-D19E-776F-60E7940065E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1E1972C-6E6A-575A-6EAD-2CE8AA2FA63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EE271FC-A97A-41A2-B61E-D8420A52D8A4}"/>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DAE47F5D-540A-2CA9-5ADA-68423383ED04}"/>
              </a:ext>
            </a:extLst>
          </p:cNvPr>
          <p:cNvSpPr>
            <a:spLocks noGrp="1"/>
          </p:cNvSpPr>
          <p:nvPr>
            <p:ph type="sldNum" sz="quarter" idx="10"/>
          </p:nvPr>
        </p:nvSpPr>
        <p:spPr/>
        <p:txBody>
          <a:bodyPr/>
          <a:lstStyle/>
          <a:p>
            <a:fld id="{F7021451-1387-4CA6-816F-3879F97B5CBC}" type="slidenum">
              <a:rPr lang="en-US"/>
              <a:t>7</a:t>
            </a:fld>
            <a:endParaRPr lang="en-US"/>
          </a:p>
        </p:txBody>
      </p:sp>
    </p:spTree>
    <p:extLst>
      <p:ext uri="{BB962C8B-B14F-4D97-AF65-F5344CB8AC3E}">
        <p14:creationId xmlns:p14="http://schemas.microsoft.com/office/powerpoint/2010/main" val="427705166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D75336-7D50-62C1-74EB-636E22B0046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90C5D2F-1D21-DB07-35A7-F7DDCB75312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ADEAF34-05BF-ADCB-6C6D-00B1A8F2F145}"/>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C6E2528A-48F0-3D7D-1EED-19DA05C367D1}"/>
              </a:ext>
            </a:extLst>
          </p:cNvPr>
          <p:cNvSpPr>
            <a:spLocks noGrp="1"/>
          </p:cNvSpPr>
          <p:nvPr>
            <p:ph type="sldNum" sz="quarter" idx="10"/>
          </p:nvPr>
        </p:nvSpPr>
        <p:spPr/>
        <p:txBody>
          <a:bodyPr/>
          <a:lstStyle/>
          <a:p>
            <a:fld id="{F7021451-1387-4CA6-816F-3879F97B5CBC}" type="slidenum">
              <a:rPr lang="en-US"/>
              <a:t>8</a:t>
            </a:fld>
            <a:endParaRPr lang="en-US"/>
          </a:p>
        </p:txBody>
      </p:sp>
    </p:spTree>
    <p:extLst>
      <p:ext uri="{BB962C8B-B14F-4D97-AF65-F5344CB8AC3E}">
        <p14:creationId xmlns:p14="http://schemas.microsoft.com/office/powerpoint/2010/main" val="393487771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583839-F1F3-D937-163E-1D341ECE79E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CC8156D-E1BF-3D62-E360-F0B8B953705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BDC867D-782F-AC8D-66A0-9494049BE733}"/>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D9426CA6-D34D-5D19-8425-EB4C32BFE257}"/>
              </a:ext>
            </a:extLst>
          </p:cNvPr>
          <p:cNvSpPr>
            <a:spLocks noGrp="1"/>
          </p:cNvSpPr>
          <p:nvPr>
            <p:ph type="sldNum" sz="quarter" idx="10"/>
          </p:nvPr>
        </p:nvSpPr>
        <p:spPr/>
        <p:txBody>
          <a:bodyPr/>
          <a:lstStyle/>
          <a:p>
            <a:fld id="{F7021451-1387-4CA6-816F-3879F97B5CBC}" type="slidenum">
              <a:rPr lang="en-US"/>
              <a:t>9</a:t>
            </a:fld>
            <a:endParaRPr lang="en-US"/>
          </a:p>
        </p:txBody>
      </p:sp>
    </p:spTree>
    <p:extLst>
      <p:ext uri="{BB962C8B-B14F-4D97-AF65-F5344CB8AC3E}">
        <p14:creationId xmlns:p14="http://schemas.microsoft.com/office/powerpoint/2010/main" val="164266347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31F64E-0F72-26A4-B3A5-455B250961D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5D89603-B3AE-7E8B-CF98-54CCAEC239D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21E22FC-60C3-64A7-A51E-1527A7ACCCBE}"/>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746B8E2D-B421-7A64-42CD-04ECBB3808CC}"/>
              </a:ext>
            </a:extLst>
          </p:cNvPr>
          <p:cNvSpPr>
            <a:spLocks noGrp="1"/>
          </p:cNvSpPr>
          <p:nvPr>
            <p:ph type="sldNum" sz="quarter" idx="10"/>
          </p:nvPr>
        </p:nvSpPr>
        <p:spPr/>
        <p:txBody>
          <a:bodyPr/>
          <a:lstStyle/>
          <a:p>
            <a:fld id="{F7021451-1387-4CA6-816F-3879F97B5CBC}" type="slidenum">
              <a:rPr lang="en-US"/>
              <a:t>10</a:t>
            </a:fld>
            <a:endParaRPr lang="en-US"/>
          </a:p>
        </p:txBody>
      </p:sp>
    </p:spTree>
    <p:extLst>
      <p:ext uri="{BB962C8B-B14F-4D97-AF65-F5344CB8AC3E}">
        <p14:creationId xmlns:p14="http://schemas.microsoft.com/office/powerpoint/2010/main" val="81677946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583839-F1F3-D937-163E-1D341ECE79E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CC8156D-E1BF-3D62-E360-F0B8B953705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BDC867D-782F-AC8D-66A0-9494049BE733}"/>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D9426CA6-D34D-5D19-8425-EB4C32BFE257}"/>
              </a:ext>
            </a:extLst>
          </p:cNvPr>
          <p:cNvSpPr>
            <a:spLocks noGrp="1"/>
          </p:cNvSpPr>
          <p:nvPr>
            <p:ph type="sldNum" sz="quarter" idx="10"/>
          </p:nvPr>
        </p:nvSpPr>
        <p:spPr/>
        <p:txBody>
          <a:bodyPr/>
          <a:lstStyle/>
          <a:p>
            <a:fld id="{F7021451-1387-4CA6-816F-3879F97B5CBC}" type="slidenum">
              <a:rPr lang="en-US"/>
              <a:t>11</a:t>
            </a:fld>
            <a:endParaRPr lang="en-US"/>
          </a:p>
        </p:txBody>
      </p:sp>
    </p:spTree>
    <p:extLst>
      <p:ext uri="{BB962C8B-B14F-4D97-AF65-F5344CB8AC3E}">
        <p14:creationId xmlns:p14="http://schemas.microsoft.com/office/powerpoint/2010/main" val="164266347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583839-F1F3-D937-163E-1D341ECE79E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CC8156D-E1BF-3D62-E360-F0B8B953705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BDC867D-782F-AC8D-66A0-9494049BE733}"/>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D9426CA6-D34D-5D19-8425-EB4C32BFE257}"/>
              </a:ext>
            </a:extLst>
          </p:cNvPr>
          <p:cNvSpPr>
            <a:spLocks noGrp="1"/>
          </p:cNvSpPr>
          <p:nvPr>
            <p:ph type="sldNum" sz="quarter" idx="10"/>
          </p:nvPr>
        </p:nvSpPr>
        <p:spPr/>
        <p:txBody>
          <a:bodyPr/>
          <a:lstStyle/>
          <a:p>
            <a:fld id="{F7021451-1387-4CA6-816F-3879F97B5CBC}" type="slidenum">
              <a:rPr lang="en-US"/>
              <a:t>12</a:t>
            </a:fld>
            <a:endParaRPr lang="en-US"/>
          </a:p>
        </p:txBody>
      </p:sp>
    </p:spTree>
    <p:extLst>
      <p:ext uri="{BB962C8B-B14F-4D97-AF65-F5344CB8AC3E}">
        <p14:creationId xmlns:p14="http://schemas.microsoft.com/office/powerpoint/2010/main" val="164266347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31B621-6636-4991-82FA-8D36A6BB63E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EB3E587-8506-51C2-1E7A-DDC7C782A63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9AB96D3-E234-991B-1467-79B534FF0F37}"/>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D5596107-0BE3-121B-AE3D-3EE63E57BDEF}"/>
              </a:ext>
            </a:extLst>
          </p:cNvPr>
          <p:cNvSpPr>
            <a:spLocks noGrp="1"/>
          </p:cNvSpPr>
          <p:nvPr>
            <p:ph type="sldNum" sz="quarter" idx="10"/>
          </p:nvPr>
        </p:nvSpPr>
        <p:spPr/>
        <p:txBody>
          <a:bodyPr/>
          <a:lstStyle/>
          <a:p>
            <a:fld id="{F7021451-1387-4CA6-816F-3879F97B5CBC}" type="slidenum">
              <a:rPr lang="en-US"/>
              <a:t>13</a:t>
            </a:fld>
            <a:endParaRPr lang="en-US"/>
          </a:p>
        </p:txBody>
      </p:sp>
    </p:spTree>
    <p:extLst>
      <p:ext uri="{BB962C8B-B14F-4D97-AF65-F5344CB8AC3E}">
        <p14:creationId xmlns:p14="http://schemas.microsoft.com/office/powerpoint/2010/main" val="371531629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0BF4FE-5D7D-8702-C1E9-B60B29EB060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E69B593-3609-FA73-4462-1E5209623AD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8A07324-FAAC-A190-83CF-8934CBE6A83F}"/>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6482A064-A7D0-15AA-70B0-060B67F431C4}"/>
              </a:ext>
            </a:extLst>
          </p:cNvPr>
          <p:cNvSpPr>
            <a:spLocks noGrp="1"/>
          </p:cNvSpPr>
          <p:nvPr>
            <p:ph type="sldNum" sz="quarter" idx="10"/>
          </p:nvPr>
        </p:nvSpPr>
        <p:spPr/>
        <p:txBody>
          <a:bodyPr/>
          <a:lstStyle/>
          <a:p>
            <a:fld id="{F7021451-1387-4CA6-816F-3879F97B5CBC}" type="slidenum">
              <a:rPr lang="en-US"/>
              <a:t>15</a:t>
            </a:fld>
            <a:endParaRPr lang="en-US"/>
          </a:p>
        </p:txBody>
      </p:sp>
    </p:spTree>
    <p:extLst>
      <p:ext uri="{BB962C8B-B14F-4D97-AF65-F5344CB8AC3E}">
        <p14:creationId xmlns:p14="http://schemas.microsoft.com/office/powerpoint/2010/main" val="165985521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0BC05D-0A40-0F99-7999-50E1EADC522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D7F2386-971D-8CD4-4E5D-B3A41ABF679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5E09F73-3258-2F6F-1BFC-BF426CA088C5}"/>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43D73F8F-E97E-B4EA-D442-EAE661E0D70A}"/>
              </a:ext>
            </a:extLst>
          </p:cNvPr>
          <p:cNvSpPr>
            <a:spLocks noGrp="1"/>
          </p:cNvSpPr>
          <p:nvPr>
            <p:ph type="sldNum" sz="quarter" idx="10"/>
          </p:nvPr>
        </p:nvSpPr>
        <p:spPr/>
        <p:txBody>
          <a:bodyPr/>
          <a:lstStyle/>
          <a:p>
            <a:fld id="{F7021451-1387-4CA6-816F-3879F97B5CBC}" type="slidenum">
              <a:rPr lang="en-US"/>
              <a:t>16</a:t>
            </a:fld>
            <a:endParaRPr lang="en-US"/>
          </a:p>
        </p:txBody>
      </p:sp>
    </p:spTree>
    <p:extLst>
      <p:ext uri="{BB962C8B-B14F-4D97-AF65-F5344CB8AC3E}">
        <p14:creationId xmlns:p14="http://schemas.microsoft.com/office/powerpoint/2010/main" val="2724037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8622DA-DF77-50EC-BADF-8A533A7A08B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C9B0A8A-CCD2-7959-B289-8532B14BC62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950DE3F-1139-7372-0CBB-1EAF712E38C9}"/>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286A7116-C42D-4585-A614-8306FD149AF8}"/>
              </a:ext>
            </a:extLst>
          </p:cNvPr>
          <p:cNvSpPr>
            <a:spLocks noGrp="1"/>
          </p:cNvSpPr>
          <p:nvPr>
            <p:ph type="sldNum" sz="quarter" idx="10"/>
          </p:nvPr>
        </p:nvSpPr>
        <p:spPr/>
        <p:txBody>
          <a:bodyPr/>
          <a:lstStyle/>
          <a:p>
            <a:fld id="{F7021451-1387-4CA6-816F-3879F97B5CBC}" type="slidenum">
              <a:rPr lang="en-US"/>
              <a:t>17</a:t>
            </a:fld>
            <a:endParaRPr lang="en-US"/>
          </a:p>
        </p:txBody>
      </p:sp>
    </p:spTree>
    <p:extLst>
      <p:ext uri="{BB962C8B-B14F-4D97-AF65-F5344CB8AC3E}">
        <p14:creationId xmlns:p14="http://schemas.microsoft.com/office/powerpoint/2010/main" val="381793458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D63C9E-952C-B6B7-96FC-BF534840A1C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E91553C-C5C6-8B19-5690-D2CB39BBD36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BB1FECE-3DA1-2B9F-BA90-C9D2F84FA9E9}"/>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CABEDE90-74E2-CE6E-CDE7-58E0B4B64A8F}"/>
              </a:ext>
            </a:extLst>
          </p:cNvPr>
          <p:cNvSpPr>
            <a:spLocks noGrp="1"/>
          </p:cNvSpPr>
          <p:nvPr>
            <p:ph type="sldNum" sz="quarter" idx="10"/>
          </p:nvPr>
        </p:nvSpPr>
        <p:spPr/>
        <p:txBody>
          <a:bodyPr/>
          <a:lstStyle/>
          <a:p>
            <a:fld id="{F7021451-1387-4CA6-816F-3879F97B5CBC}" type="slidenum">
              <a:rPr lang="en-US"/>
              <a:t>18</a:t>
            </a:fld>
            <a:endParaRPr lang="en-US"/>
          </a:p>
        </p:txBody>
      </p:sp>
    </p:spTree>
    <p:extLst>
      <p:ext uri="{BB962C8B-B14F-4D97-AF65-F5344CB8AC3E}">
        <p14:creationId xmlns:p14="http://schemas.microsoft.com/office/powerpoint/2010/main" val="117669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9FE7752-DCF5-981C-EC16-E7195F5D214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2A3BA9D-5B51-1A92-CF8A-5BBA404E319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CFB694C-59DC-6DEC-6333-661353A4F41B}"/>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C9DB9BB4-D348-C24B-D09B-A270C6451E31}"/>
              </a:ext>
            </a:extLst>
          </p:cNvPr>
          <p:cNvSpPr>
            <a:spLocks noGrp="1"/>
          </p:cNvSpPr>
          <p:nvPr>
            <p:ph type="sldNum" sz="quarter" idx="10"/>
          </p:nvPr>
        </p:nvSpPr>
        <p:spPr/>
        <p:txBody>
          <a:bodyPr/>
          <a:lstStyle/>
          <a:p>
            <a:fld id="{F7021451-1387-4CA6-816F-3879F97B5CBC}" type="slidenum">
              <a:rPr lang="en-US"/>
              <a:t>19</a:t>
            </a:fld>
            <a:endParaRPr lang="en-US"/>
          </a:p>
        </p:txBody>
      </p:sp>
    </p:spTree>
    <p:extLst>
      <p:ext uri="{BB962C8B-B14F-4D97-AF65-F5344CB8AC3E}">
        <p14:creationId xmlns:p14="http://schemas.microsoft.com/office/powerpoint/2010/main" val="55451792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30981E-D637-9664-FDC4-4EA1B432283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35D8FA4-A7CA-9094-4F7D-F03774201CC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1DA01E9-B5CE-8908-484F-469B7C6B6381}"/>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CFBDD6FC-20A2-860F-C448-53679FC19960}"/>
              </a:ext>
            </a:extLst>
          </p:cNvPr>
          <p:cNvSpPr>
            <a:spLocks noGrp="1"/>
          </p:cNvSpPr>
          <p:nvPr>
            <p:ph type="sldNum" sz="quarter" idx="10"/>
          </p:nvPr>
        </p:nvSpPr>
        <p:spPr/>
        <p:txBody>
          <a:bodyPr/>
          <a:lstStyle/>
          <a:p>
            <a:fld id="{F7021451-1387-4CA6-816F-3879F97B5CBC}" type="slidenum">
              <a:rPr lang="en-US"/>
              <a:t>20</a:t>
            </a:fld>
            <a:endParaRPr lang="en-US"/>
          </a:p>
        </p:txBody>
      </p:sp>
    </p:spTree>
    <p:extLst>
      <p:ext uri="{BB962C8B-B14F-4D97-AF65-F5344CB8AC3E}">
        <p14:creationId xmlns:p14="http://schemas.microsoft.com/office/powerpoint/2010/main" val="235344396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78424B-1F56-6223-B47E-B9AD56CDA8F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5B52502-2497-E76A-940B-F042A5084DD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0E5A24D-012C-E4EE-20B8-4038B9D08491}"/>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61CB81E9-CFE3-568E-5543-0AE9EC3F5C41}"/>
              </a:ext>
            </a:extLst>
          </p:cNvPr>
          <p:cNvSpPr>
            <a:spLocks noGrp="1"/>
          </p:cNvSpPr>
          <p:nvPr>
            <p:ph type="sldNum" sz="quarter" idx="10"/>
          </p:nvPr>
        </p:nvSpPr>
        <p:spPr/>
        <p:txBody>
          <a:bodyPr/>
          <a:lstStyle/>
          <a:p>
            <a:fld id="{F7021451-1387-4CA6-816F-3879F97B5CBC}" type="slidenum">
              <a:rPr lang="en-US"/>
              <a:t>21</a:t>
            </a:fld>
            <a:endParaRPr lang="en-US"/>
          </a:p>
        </p:txBody>
      </p:sp>
    </p:spTree>
    <p:extLst>
      <p:ext uri="{BB962C8B-B14F-4D97-AF65-F5344CB8AC3E}">
        <p14:creationId xmlns:p14="http://schemas.microsoft.com/office/powerpoint/2010/main" val="323000463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6522A2-7D44-EA3D-0191-B9C56021937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ACB97D7-F3BB-EB01-B1CE-F8A9CC591C0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E1DAE67-FD31-D4A4-33B7-FA342E5E607E}"/>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E6BB9BD3-2ACB-C20B-0046-BF70C1710C6F}"/>
              </a:ext>
            </a:extLst>
          </p:cNvPr>
          <p:cNvSpPr>
            <a:spLocks noGrp="1"/>
          </p:cNvSpPr>
          <p:nvPr>
            <p:ph type="sldNum" sz="quarter" idx="10"/>
          </p:nvPr>
        </p:nvSpPr>
        <p:spPr/>
        <p:txBody>
          <a:bodyPr/>
          <a:lstStyle/>
          <a:p>
            <a:fld id="{F7021451-1387-4CA6-816F-3879F97B5CBC}" type="slidenum">
              <a:rPr lang="en-US"/>
              <a:t>22</a:t>
            </a:fld>
            <a:endParaRPr lang="en-US"/>
          </a:p>
        </p:txBody>
      </p:sp>
    </p:spTree>
    <p:extLst>
      <p:ext uri="{BB962C8B-B14F-4D97-AF65-F5344CB8AC3E}">
        <p14:creationId xmlns:p14="http://schemas.microsoft.com/office/powerpoint/2010/main" val="193869962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3EF2414-36CB-EBC1-453D-8DCA7C6DE3E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907F45A-81F9-454A-2772-B1A01994F2D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027234F-834B-951D-9C01-CD2185FA4013}"/>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0D572169-B573-41F7-6FCA-3C70175BE261}"/>
              </a:ext>
            </a:extLst>
          </p:cNvPr>
          <p:cNvSpPr>
            <a:spLocks noGrp="1"/>
          </p:cNvSpPr>
          <p:nvPr>
            <p:ph type="sldNum" sz="quarter" idx="10"/>
          </p:nvPr>
        </p:nvSpPr>
        <p:spPr/>
        <p:txBody>
          <a:bodyPr/>
          <a:lstStyle/>
          <a:p>
            <a:fld id="{F7021451-1387-4CA6-816F-3879F97B5CBC}" type="slidenum">
              <a:rPr lang="en-US"/>
              <a:t>23</a:t>
            </a:fld>
            <a:endParaRPr lang="en-US"/>
          </a:p>
        </p:txBody>
      </p:sp>
    </p:spTree>
    <p:extLst>
      <p:ext uri="{BB962C8B-B14F-4D97-AF65-F5344CB8AC3E}">
        <p14:creationId xmlns:p14="http://schemas.microsoft.com/office/powerpoint/2010/main" val="329685053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800476-E5AB-FFC7-273A-B9CEC6E03C8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B433B40-9116-27E9-0E73-77A98B6AA4A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3A2FD50-5491-5482-317D-03AEFF79DF84}"/>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DC3D651F-90A8-03D5-4F94-85C2081F5F57}"/>
              </a:ext>
            </a:extLst>
          </p:cNvPr>
          <p:cNvSpPr>
            <a:spLocks noGrp="1"/>
          </p:cNvSpPr>
          <p:nvPr>
            <p:ph type="sldNum" sz="quarter" idx="10"/>
          </p:nvPr>
        </p:nvSpPr>
        <p:spPr/>
        <p:txBody>
          <a:bodyPr/>
          <a:lstStyle/>
          <a:p>
            <a:fld id="{F7021451-1387-4CA6-816F-3879F97B5CBC}" type="slidenum">
              <a:rPr lang="en-US"/>
              <a:t>24</a:t>
            </a:fld>
            <a:endParaRPr lang="en-US"/>
          </a:p>
        </p:txBody>
      </p:sp>
    </p:spTree>
    <p:extLst>
      <p:ext uri="{BB962C8B-B14F-4D97-AF65-F5344CB8AC3E}">
        <p14:creationId xmlns:p14="http://schemas.microsoft.com/office/powerpoint/2010/main" val="147221496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993CA0-CC57-7E7F-336A-CE8E75076ED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D611A8D-D808-0486-1A75-52F85A547B8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162FC46-D473-A4A6-8B1E-8E521D1413FE}"/>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CC4D157C-F5A7-2AFD-0E3D-303523795226}"/>
              </a:ext>
            </a:extLst>
          </p:cNvPr>
          <p:cNvSpPr>
            <a:spLocks noGrp="1"/>
          </p:cNvSpPr>
          <p:nvPr>
            <p:ph type="sldNum" sz="quarter" idx="10"/>
          </p:nvPr>
        </p:nvSpPr>
        <p:spPr/>
        <p:txBody>
          <a:bodyPr/>
          <a:lstStyle/>
          <a:p>
            <a:fld id="{F7021451-1387-4CA6-816F-3879F97B5CBC}" type="slidenum">
              <a:rPr lang="en-US"/>
              <a:t>25</a:t>
            </a:fld>
            <a:endParaRPr lang="en-US"/>
          </a:p>
        </p:txBody>
      </p:sp>
    </p:spTree>
    <p:extLst>
      <p:ext uri="{BB962C8B-B14F-4D97-AF65-F5344CB8AC3E}">
        <p14:creationId xmlns:p14="http://schemas.microsoft.com/office/powerpoint/2010/main" val="326129284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EE59B0-915E-FAC7-A836-F07B9E401E9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94E2A01-B4E5-3DE5-7714-A469662E01C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18E5811-2914-266E-1A57-3E8E2D11830E}"/>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3DE4C823-77B5-42F5-EA2C-29B63599963D}"/>
              </a:ext>
            </a:extLst>
          </p:cNvPr>
          <p:cNvSpPr>
            <a:spLocks noGrp="1"/>
          </p:cNvSpPr>
          <p:nvPr>
            <p:ph type="sldNum" sz="quarter" idx="10"/>
          </p:nvPr>
        </p:nvSpPr>
        <p:spPr/>
        <p:txBody>
          <a:bodyPr/>
          <a:lstStyle/>
          <a:p>
            <a:fld id="{F7021451-1387-4CA6-816F-3879F97B5CBC}" type="slidenum">
              <a:rPr lang="en-US"/>
              <a:t>26</a:t>
            </a:fld>
            <a:endParaRPr lang="en-US"/>
          </a:p>
        </p:txBody>
      </p:sp>
    </p:spTree>
    <p:extLst>
      <p:ext uri="{BB962C8B-B14F-4D97-AF65-F5344CB8AC3E}">
        <p14:creationId xmlns:p14="http://schemas.microsoft.com/office/powerpoint/2010/main" val="5854532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419E9A-58FD-E4B1-5DB6-DAD67D15006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3ABB4D1-5DFA-338A-5CC4-50D6241B1DE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52A77CE-9A58-87E6-6E17-042921289FF1}"/>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1925F273-F1EE-F0CA-4782-EA4055069781}"/>
              </a:ext>
            </a:extLst>
          </p:cNvPr>
          <p:cNvSpPr>
            <a:spLocks noGrp="1"/>
          </p:cNvSpPr>
          <p:nvPr>
            <p:ph type="sldNum" sz="quarter" idx="10"/>
          </p:nvPr>
        </p:nvSpPr>
        <p:spPr/>
        <p:txBody>
          <a:bodyPr/>
          <a:lstStyle/>
          <a:p>
            <a:fld id="{F7021451-1387-4CA6-816F-3879F97B5CBC}" type="slidenum">
              <a:rPr lang="en-US"/>
              <a:t>27</a:t>
            </a:fld>
            <a:endParaRPr lang="en-US"/>
          </a:p>
        </p:txBody>
      </p:sp>
    </p:spTree>
    <p:extLst>
      <p:ext uri="{BB962C8B-B14F-4D97-AF65-F5344CB8AC3E}">
        <p14:creationId xmlns:p14="http://schemas.microsoft.com/office/powerpoint/2010/main" val="220081856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52760C-D23D-A816-8389-93D8800434D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0E739FA-A705-B6AD-F82B-4BB6125618B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F769DDC-6E50-5992-6942-A6A85A150EA3}"/>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FB59E310-FBFB-55C1-2CD3-BF1C2F6A5370}"/>
              </a:ext>
            </a:extLst>
          </p:cNvPr>
          <p:cNvSpPr>
            <a:spLocks noGrp="1"/>
          </p:cNvSpPr>
          <p:nvPr>
            <p:ph type="sldNum" sz="quarter" idx="10"/>
          </p:nvPr>
        </p:nvSpPr>
        <p:spPr/>
        <p:txBody>
          <a:bodyPr/>
          <a:lstStyle/>
          <a:p>
            <a:fld id="{F7021451-1387-4CA6-816F-3879F97B5CBC}" type="slidenum">
              <a:rPr lang="en-US"/>
              <a:t>28</a:t>
            </a:fld>
            <a:endParaRPr lang="en-US"/>
          </a:p>
        </p:txBody>
      </p:sp>
    </p:spTree>
    <p:extLst>
      <p:ext uri="{BB962C8B-B14F-4D97-AF65-F5344CB8AC3E}">
        <p14:creationId xmlns:p14="http://schemas.microsoft.com/office/powerpoint/2010/main" val="384422098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BF68D4-0500-D89E-43AC-7EDA2C2AB7D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958675C-F405-A978-2415-9052F58180C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C1FDF3F-4006-A4B1-F18E-E763317ADD0F}"/>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376B8DD8-D61F-D248-626C-4A73D971D3CD}"/>
              </a:ext>
            </a:extLst>
          </p:cNvPr>
          <p:cNvSpPr>
            <a:spLocks noGrp="1"/>
          </p:cNvSpPr>
          <p:nvPr>
            <p:ph type="sldNum" sz="quarter" idx="10"/>
          </p:nvPr>
        </p:nvSpPr>
        <p:spPr/>
        <p:txBody>
          <a:bodyPr/>
          <a:lstStyle/>
          <a:p>
            <a:fld id="{F7021451-1387-4CA6-816F-3879F97B5CBC}" type="slidenum">
              <a:rPr lang="en-US"/>
              <a:t>29</a:t>
            </a:fld>
            <a:endParaRPr lang="en-US"/>
          </a:p>
        </p:txBody>
      </p:sp>
    </p:spTree>
    <p:extLst>
      <p:ext uri="{BB962C8B-B14F-4D97-AF65-F5344CB8AC3E}">
        <p14:creationId xmlns:p14="http://schemas.microsoft.com/office/powerpoint/2010/main" val="421132138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1B20B0-FA38-4F99-4155-6A668C70684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1A808B2-A4B6-C271-F6BB-E68A85CF810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BE6B5C1-9CB2-10C1-FBFA-F533E315B287}"/>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60B644A8-EB03-AEF0-AA2F-A8652AE45E8A}"/>
              </a:ext>
            </a:extLst>
          </p:cNvPr>
          <p:cNvSpPr>
            <a:spLocks noGrp="1"/>
          </p:cNvSpPr>
          <p:nvPr>
            <p:ph type="sldNum" sz="quarter" idx="10"/>
          </p:nvPr>
        </p:nvSpPr>
        <p:spPr/>
        <p:txBody>
          <a:bodyPr/>
          <a:lstStyle/>
          <a:p>
            <a:fld id="{F7021451-1387-4CA6-816F-3879F97B5CBC}" type="slidenum">
              <a:rPr lang="en-US"/>
              <a:t>30</a:t>
            </a:fld>
            <a:endParaRPr lang="en-US"/>
          </a:p>
        </p:txBody>
      </p:sp>
    </p:spTree>
    <p:extLst>
      <p:ext uri="{BB962C8B-B14F-4D97-AF65-F5344CB8AC3E}">
        <p14:creationId xmlns:p14="http://schemas.microsoft.com/office/powerpoint/2010/main" val="417556050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D726E7-9C72-94E5-C9F3-88476DCC92B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D3EDDB3-4837-1B8F-EF5E-E9254E87C8D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F66FE25-5251-92B0-2590-D84220E31431}"/>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C09888EF-72B7-9E13-62B6-B92096FDE8E6}"/>
              </a:ext>
            </a:extLst>
          </p:cNvPr>
          <p:cNvSpPr>
            <a:spLocks noGrp="1"/>
          </p:cNvSpPr>
          <p:nvPr>
            <p:ph type="sldNum" sz="quarter" idx="10"/>
          </p:nvPr>
        </p:nvSpPr>
        <p:spPr/>
        <p:txBody>
          <a:bodyPr/>
          <a:lstStyle/>
          <a:p>
            <a:fld id="{F7021451-1387-4CA6-816F-3879F97B5CBC}" type="slidenum">
              <a:rPr lang="en-US"/>
              <a:t>31</a:t>
            </a:fld>
            <a:endParaRPr lang="en-US"/>
          </a:p>
        </p:txBody>
      </p:sp>
    </p:spTree>
    <p:extLst>
      <p:ext uri="{BB962C8B-B14F-4D97-AF65-F5344CB8AC3E}">
        <p14:creationId xmlns:p14="http://schemas.microsoft.com/office/powerpoint/2010/main" val="327103126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DAD0DE-4376-904E-1B6B-A47099AC890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09F2A16-A758-3C4F-B2FF-3259520AEBF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A62DC06-1912-D49D-9D23-6B6252329DE6}"/>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E8146E8F-91D6-DF4D-CE1B-7CAD14236B5A}"/>
              </a:ext>
            </a:extLst>
          </p:cNvPr>
          <p:cNvSpPr>
            <a:spLocks noGrp="1"/>
          </p:cNvSpPr>
          <p:nvPr>
            <p:ph type="sldNum" sz="quarter" idx="10"/>
          </p:nvPr>
        </p:nvSpPr>
        <p:spPr/>
        <p:txBody>
          <a:bodyPr/>
          <a:lstStyle/>
          <a:p>
            <a:fld id="{F7021451-1387-4CA6-816F-3879F97B5CBC}" type="slidenum">
              <a:rPr lang="en-US"/>
              <a:t>32</a:t>
            </a:fld>
            <a:endParaRPr lang="en-US"/>
          </a:p>
        </p:txBody>
      </p:sp>
    </p:spTree>
    <p:extLst>
      <p:ext uri="{BB962C8B-B14F-4D97-AF65-F5344CB8AC3E}">
        <p14:creationId xmlns:p14="http://schemas.microsoft.com/office/powerpoint/2010/main" val="67926391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86336A-AED7-94AF-BA59-4EB0A63AF72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E410A2C-94D7-32D5-881A-70FD1093B05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C483476-BB76-A245-E4C7-560228CA5F07}"/>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8E555802-F83B-E184-FAC7-9BFF7C6D4778}"/>
              </a:ext>
            </a:extLst>
          </p:cNvPr>
          <p:cNvSpPr>
            <a:spLocks noGrp="1"/>
          </p:cNvSpPr>
          <p:nvPr>
            <p:ph type="sldNum" sz="quarter" idx="10"/>
          </p:nvPr>
        </p:nvSpPr>
        <p:spPr/>
        <p:txBody>
          <a:bodyPr/>
          <a:lstStyle/>
          <a:p>
            <a:fld id="{F7021451-1387-4CA6-816F-3879F97B5CBC}" type="slidenum">
              <a:rPr lang="en-US"/>
              <a:t>33</a:t>
            </a:fld>
            <a:endParaRPr lang="en-US"/>
          </a:p>
        </p:txBody>
      </p:sp>
    </p:spTree>
    <p:extLst>
      <p:ext uri="{BB962C8B-B14F-4D97-AF65-F5344CB8AC3E}">
        <p14:creationId xmlns:p14="http://schemas.microsoft.com/office/powerpoint/2010/main" val="103193308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8CFAFB-F009-FBED-9347-9BE34F25078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3B9D6F3-ADEC-E999-7837-5E4DF048713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6729599-6ED2-D826-5558-BC9C3BEF4730}"/>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E99AA263-7960-C61D-68BF-024D0FB9301E}"/>
              </a:ext>
            </a:extLst>
          </p:cNvPr>
          <p:cNvSpPr>
            <a:spLocks noGrp="1"/>
          </p:cNvSpPr>
          <p:nvPr>
            <p:ph type="sldNum" sz="quarter" idx="10"/>
          </p:nvPr>
        </p:nvSpPr>
        <p:spPr/>
        <p:txBody>
          <a:bodyPr/>
          <a:lstStyle/>
          <a:p>
            <a:fld id="{F7021451-1387-4CA6-816F-3879F97B5CBC}" type="slidenum">
              <a:rPr lang="en-US"/>
              <a:t>34</a:t>
            </a:fld>
            <a:endParaRPr lang="en-US"/>
          </a:p>
        </p:txBody>
      </p:sp>
    </p:spTree>
    <p:extLst>
      <p:ext uri="{BB962C8B-B14F-4D97-AF65-F5344CB8AC3E}">
        <p14:creationId xmlns:p14="http://schemas.microsoft.com/office/powerpoint/2010/main" val="3879960196"/>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DA6ABF-E867-FF79-1850-109A96D1381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7613FB4-8B67-E463-6B00-F7C38B4A6F0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4132F85-A01F-7D0D-9C3F-74920AFBA164}"/>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5236A5B3-5BF2-756D-3DCE-AA3749EE876D}"/>
              </a:ext>
            </a:extLst>
          </p:cNvPr>
          <p:cNvSpPr>
            <a:spLocks noGrp="1"/>
          </p:cNvSpPr>
          <p:nvPr>
            <p:ph type="sldNum" sz="quarter" idx="10"/>
          </p:nvPr>
        </p:nvSpPr>
        <p:spPr/>
        <p:txBody>
          <a:bodyPr/>
          <a:lstStyle/>
          <a:p>
            <a:fld id="{F7021451-1387-4CA6-816F-3879F97B5CBC}" type="slidenum">
              <a:rPr lang="en-US"/>
              <a:t>35</a:t>
            </a:fld>
            <a:endParaRPr lang="en-US"/>
          </a:p>
        </p:txBody>
      </p:sp>
    </p:spTree>
    <p:extLst>
      <p:ext uri="{BB962C8B-B14F-4D97-AF65-F5344CB8AC3E}">
        <p14:creationId xmlns:p14="http://schemas.microsoft.com/office/powerpoint/2010/main" val="377779009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DCFE76-DD61-6592-0516-D44843EF2CC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184F86D-3621-D062-6761-1ED4B0132C5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996897A-E4D7-2993-E9BB-9DBD8D2E1139}"/>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43A127DE-A791-0A86-78BB-B8986959D6F4}"/>
              </a:ext>
            </a:extLst>
          </p:cNvPr>
          <p:cNvSpPr>
            <a:spLocks noGrp="1"/>
          </p:cNvSpPr>
          <p:nvPr>
            <p:ph type="sldNum" sz="quarter" idx="10"/>
          </p:nvPr>
        </p:nvSpPr>
        <p:spPr/>
        <p:txBody>
          <a:bodyPr/>
          <a:lstStyle/>
          <a:p>
            <a:fld id="{F7021451-1387-4CA6-816F-3879F97B5CBC}" type="slidenum">
              <a:rPr lang="en-US"/>
              <a:t>36</a:t>
            </a:fld>
            <a:endParaRPr lang="en-US"/>
          </a:p>
        </p:txBody>
      </p:sp>
    </p:spTree>
    <p:extLst>
      <p:ext uri="{BB962C8B-B14F-4D97-AF65-F5344CB8AC3E}">
        <p14:creationId xmlns:p14="http://schemas.microsoft.com/office/powerpoint/2010/main" val="231115410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ADF0D2-377C-5EB2-4121-10F7E2AD134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131594D-B46B-9ADC-422C-A2795A048E2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DFEF76D-3478-E7AC-0D1A-7FB487EEC369}"/>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80C6F53B-0121-F818-A27B-661F4D68631A}"/>
              </a:ext>
            </a:extLst>
          </p:cNvPr>
          <p:cNvSpPr>
            <a:spLocks noGrp="1"/>
          </p:cNvSpPr>
          <p:nvPr>
            <p:ph type="sldNum" sz="quarter" idx="10"/>
          </p:nvPr>
        </p:nvSpPr>
        <p:spPr/>
        <p:txBody>
          <a:bodyPr/>
          <a:lstStyle/>
          <a:p>
            <a:fld id="{F7021451-1387-4CA6-816F-3879F97B5CBC}" type="slidenum">
              <a:rPr lang="en-US"/>
              <a:t>37</a:t>
            </a:fld>
            <a:endParaRPr lang="en-US"/>
          </a:p>
        </p:txBody>
      </p:sp>
    </p:spTree>
    <p:extLst>
      <p:ext uri="{BB962C8B-B14F-4D97-AF65-F5344CB8AC3E}">
        <p14:creationId xmlns:p14="http://schemas.microsoft.com/office/powerpoint/2010/main" val="12705265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C81EC7A-2275-6691-0707-E9F781777F5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52BC861-41AE-4E34-A3B2-BAA24F2B693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A951023-E4F2-4A0A-178E-BCCAC91435C5}"/>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7C416AB8-C6AA-E427-07A2-9F4DD41E7F1E}"/>
              </a:ext>
            </a:extLst>
          </p:cNvPr>
          <p:cNvSpPr>
            <a:spLocks noGrp="1"/>
          </p:cNvSpPr>
          <p:nvPr>
            <p:ph type="sldNum" sz="quarter" idx="10"/>
          </p:nvPr>
        </p:nvSpPr>
        <p:spPr/>
        <p:txBody>
          <a:bodyPr/>
          <a:lstStyle/>
          <a:p>
            <a:fld id="{F7021451-1387-4CA6-816F-3879F97B5CBC}" type="slidenum">
              <a:rPr lang="en-US"/>
              <a:t>38</a:t>
            </a:fld>
            <a:endParaRPr lang="en-US"/>
          </a:p>
        </p:txBody>
      </p:sp>
    </p:spTree>
    <p:extLst>
      <p:ext uri="{BB962C8B-B14F-4D97-AF65-F5344CB8AC3E}">
        <p14:creationId xmlns:p14="http://schemas.microsoft.com/office/powerpoint/2010/main" val="4236368010"/>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8B3651-A169-CA80-9183-50AC0C64377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52F0169-2BEA-DBC3-2332-91D9AD60540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EAD82DF-AC24-33DE-3428-F6968786811C}"/>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1A574FA8-9D80-01A3-C79A-8DAA4F823F11}"/>
              </a:ext>
            </a:extLst>
          </p:cNvPr>
          <p:cNvSpPr>
            <a:spLocks noGrp="1"/>
          </p:cNvSpPr>
          <p:nvPr>
            <p:ph type="sldNum" sz="quarter" idx="10"/>
          </p:nvPr>
        </p:nvSpPr>
        <p:spPr/>
        <p:txBody>
          <a:bodyPr/>
          <a:lstStyle/>
          <a:p>
            <a:fld id="{F7021451-1387-4CA6-816F-3879F97B5CBC}" type="slidenum">
              <a:rPr lang="en-US"/>
              <a:t>40</a:t>
            </a:fld>
            <a:endParaRPr lang="en-US"/>
          </a:p>
        </p:txBody>
      </p:sp>
    </p:spTree>
    <p:extLst>
      <p:ext uri="{BB962C8B-B14F-4D97-AF65-F5344CB8AC3E}">
        <p14:creationId xmlns:p14="http://schemas.microsoft.com/office/powerpoint/2010/main" val="34749983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2CBBFC-9712-C74B-FD63-5A532D6CD80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F553249-C449-0275-19E0-BA764113FF3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D7FF1D4-B540-0901-873E-301FE69CC439}"/>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569AEB1C-E620-5A27-7295-2D420A1D9AAD}"/>
              </a:ext>
            </a:extLst>
          </p:cNvPr>
          <p:cNvSpPr>
            <a:spLocks noGrp="1"/>
          </p:cNvSpPr>
          <p:nvPr>
            <p:ph type="sldNum" sz="quarter" idx="10"/>
          </p:nvPr>
        </p:nvSpPr>
        <p:spPr/>
        <p:txBody>
          <a:bodyPr/>
          <a:lstStyle/>
          <a:p>
            <a:fld id="{F7021451-1387-4CA6-816F-3879F97B5CBC}" type="slidenum">
              <a:rPr lang="en-US"/>
              <a:t>41</a:t>
            </a:fld>
            <a:endParaRPr lang="en-US"/>
          </a:p>
        </p:txBody>
      </p:sp>
    </p:spTree>
    <p:extLst>
      <p:ext uri="{BB962C8B-B14F-4D97-AF65-F5344CB8AC3E}">
        <p14:creationId xmlns:p14="http://schemas.microsoft.com/office/powerpoint/2010/main" val="31415148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20B007-7D8C-F87E-CBA4-C36DECB7937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E2C01C7-2313-A6A4-15D7-295D85BBB61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AE2683D-9523-8AB2-6878-F6A0132C1988}"/>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458B086E-E513-4ABC-A829-1BDFB088C44F}"/>
              </a:ext>
            </a:extLst>
          </p:cNvPr>
          <p:cNvSpPr>
            <a:spLocks noGrp="1"/>
          </p:cNvSpPr>
          <p:nvPr>
            <p:ph type="sldNum" sz="quarter" idx="10"/>
          </p:nvPr>
        </p:nvSpPr>
        <p:spPr/>
        <p:txBody>
          <a:bodyPr/>
          <a:lstStyle/>
          <a:p>
            <a:fld id="{F7021451-1387-4CA6-816F-3879F97B5CBC}" type="slidenum">
              <a:rPr lang="en-US"/>
              <a:t>42</a:t>
            </a:fld>
            <a:endParaRPr lang="en-US"/>
          </a:p>
        </p:txBody>
      </p:sp>
    </p:spTree>
    <p:extLst>
      <p:ext uri="{BB962C8B-B14F-4D97-AF65-F5344CB8AC3E}">
        <p14:creationId xmlns:p14="http://schemas.microsoft.com/office/powerpoint/2010/main" val="209632802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300702-7A42-1F57-2DB0-2C5C1912EFF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19A88D9-0017-62A2-B303-634A9DFB157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2BFCEB2-E5CC-7D76-21E4-C8CEC2200CC1}"/>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4C42C914-C460-9C43-8AAE-17F053870D8D}"/>
              </a:ext>
            </a:extLst>
          </p:cNvPr>
          <p:cNvSpPr>
            <a:spLocks noGrp="1"/>
          </p:cNvSpPr>
          <p:nvPr>
            <p:ph type="sldNum" sz="quarter" idx="10"/>
          </p:nvPr>
        </p:nvSpPr>
        <p:spPr/>
        <p:txBody>
          <a:bodyPr/>
          <a:lstStyle/>
          <a:p>
            <a:fld id="{F7021451-1387-4CA6-816F-3879F97B5CBC}" type="slidenum">
              <a:rPr lang="en-US"/>
              <a:t>43</a:t>
            </a:fld>
            <a:endParaRPr lang="en-US"/>
          </a:p>
        </p:txBody>
      </p:sp>
    </p:spTree>
    <p:extLst>
      <p:ext uri="{BB962C8B-B14F-4D97-AF65-F5344CB8AC3E}">
        <p14:creationId xmlns:p14="http://schemas.microsoft.com/office/powerpoint/2010/main" val="402539169"/>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89BE7D-6B50-0B12-F96F-90A4B9B4376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316A350-8019-F5DD-0670-CFED386BB30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69C42A7-A12A-1E39-56AE-F1C4D4E635C7}"/>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9D6DA806-4C85-D637-AA8B-DA0C245F64B9}"/>
              </a:ext>
            </a:extLst>
          </p:cNvPr>
          <p:cNvSpPr>
            <a:spLocks noGrp="1"/>
          </p:cNvSpPr>
          <p:nvPr>
            <p:ph type="sldNum" sz="quarter" idx="10"/>
          </p:nvPr>
        </p:nvSpPr>
        <p:spPr/>
        <p:txBody>
          <a:bodyPr/>
          <a:lstStyle/>
          <a:p>
            <a:fld id="{F7021451-1387-4CA6-816F-3879F97B5CBC}" type="slidenum">
              <a:rPr lang="en-US"/>
              <a:t>44</a:t>
            </a:fld>
            <a:endParaRPr lang="en-US"/>
          </a:p>
        </p:txBody>
      </p:sp>
    </p:spTree>
    <p:extLst>
      <p:ext uri="{BB962C8B-B14F-4D97-AF65-F5344CB8AC3E}">
        <p14:creationId xmlns:p14="http://schemas.microsoft.com/office/powerpoint/2010/main" val="1666337983"/>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A8C2A1-7E5E-C04D-9961-0277FEF1530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D556419-ECAA-9370-2943-67B2E12F881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E6228A4-1D9D-63A6-FE7C-8A25E02F0B59}"/>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39056FFD-2150-D81E-6CE6-3A803645FE60}"/>
              </a:ext>
            </a:extLst>
          </p:cNvPr>
          <p:cNvSpPr>
            <a:spLocks noGrp="1"/>
          </p:cNvSpPr>
          <p:nvPr>
            <p:ph type="sldNum" sz="quarter" idx="10"/>
          </p:nvPr>
        </p:nvSpPr>
        <p:spPr/>
        <p:txBody>
          <a:bodyPr/>
          <a:lstStyle/>
          <a:p>
            <a:fld id="{F7021451-1387-4CA6-816F-3879F97B5CBC}" type="slidenum">
              <a:rPr lang="en-US"/>
              <a:t>45</a:t>
            </a:fld>
            <a:endParaRPr lang="en-US"/>
          </a:p>
        </p:txBody>
      </p:sp>
    </p:spTree>
    <p:extLst>
      <p:ext uri="{BB962C8B-B14F-4D97-AF65-F5344CB8AC3E}">
        <p14:creationId xmlns:p14="http://schemas.microsoft.com/office/powerpoint/2010/main" val="2237236892"/>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ED75CF-46AE-2282-69DD-353EE9CD1F7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6364210-F1EC-7CA8-87E5-2BB5E4741DB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AAED94A-8D44-5289-61F9-8A69269743C2}"/>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A9749AAF-4144-CD2C-74F4-D6CC253114FC}"/>
              </a:ext>
            </a:extLst>
          </p:cNvPr>
          <p:cNvSpPr>
            <a:spLocks noGrp="1"/>
          </p:cNvSpPr>
          <p:nvPr>
            <p:ph type="sldNum" sz="quarter" idx="10"/>
          </p:nvPr>
        </p:nvSpPr>
        <p:spPr/>
        <p:txBody>
          <a:bodyPr/>
          <a:lstStyle/>
          <a:p>
            <a:fld id="{F7021451-1387-4CA6-816F-3879F97B5CBC}" type="slidenum">
              <a:rPr lang="en-US"/>
              <a:t>46</a:t>
            </a:fld>
            <a:endParaRPr lang="en-US"/>
          </a:p>
        </p:txBody>
      </p:sp>
    </p:spTree>
    <p:extLst>
      <p:ext uri="{BB962C8B-B14F-4D97-AF65-F5344CB8AC3E}">
        <p14:creationId xmlns:p14="http://schemas.microsoft.com/office/powerpoint/2010/main" val="73328851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0A5C06-392F-7CCC-DD5C-D198333FCB0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35DF60B-6397-2D59-BE37-EBE86CF9140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7B996C6-A121-DAF9-C7DC-8CDDC94BFA5C}"/>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EB766473-C817-3C15-D30D-DEF18CF9E2DE}"/>
              </a:ext>
            </a:extLst>
          </p:cNvPr>
          <p:cNvSpPr>
            <a:spLocks noGrp="1"/>
          </p:cNvSpPr>
          <p:nvPr>
            <p:ph type="sldNum" sz="quarter" idx="10"/>
          </p:nvPr>
        </p:nvSpPr>
        <p:spPr/>
        <p:txBody>
          <a:bodyPr/>
          <a:lstStyle/>
          <a:p>
            <a:fld id="{F7021451-1387-4CA6-816F-3879F97B5CBC}" type="slidenum">
              <a:rPr lang="en-US"/>
              <a:t>47</a:t>
            </a:fld>
            <a:endParaRPr lang="en-US"/>
          </a:p>
        </p:txBody>
      </p:sp>
    </p:spTree>
    <p:extLst>
      <p:ext uri="{BB962C8B-B14F-4D97-AF65-F5344CB8AC3E}">
        <p14:creationId xmlns:p14="http://schemas.microsoft.com/office/powerpoint/2010/main" val="3782800159"/>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651AB4-D336-A891-59EE-639EF71222A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CB31C8D-8CA1-8EE0-AD94-C3C7B8B68EA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F987120-4C5C-0B9C-81B7-9AD633DDC496}"/>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C2580DAD-A11D-6072-990D-2A330B469A34}"/>
              </a:ext>
            </a:extLst>
          </p:cNvPr>
          <p:cNvSpPr>
            <a:spLocks noGrp="1"/>
          </p:cNvSpPr>
          <p:nvPr>
            <p:ph type="sldNum" sz="quarter" idx="10"/>
          </p:nvPr>
        </p:nvSpPr>
        <p:spPr/>
        <p:txBody>
          <a:bodyPr/>
          <a:lstStyle/>
          <a:p>
            <a:fld id="{F7021451-1387-4CA6-816F-3879F97B5CBC}" type="slidenum">
              <a:rPr lang="en-US"/>
              <a:t>48</a:t>
            </a:fld>
            <a:endParaRPr lang="en-US"/>
          </a:p>
        </p:txBody>
      </p:sp>
    </p:spTree>
    <p:extLst>
      <p:ext uri="{BB962C8B-B14F-4D97-AF65-F5344CB8AC3E}">
        <p14:creationId xmlns:p14="http://schemas.microsoft.com/office/powerpoint/2010/main" val="2594987940"/>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AC8010E-F5BB-EDA9-A604-97334B67A60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FA0C8FC-95EB-EB74-A086-A86FBFA92EC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727DAAA-160D-F94B-1139-43F23BDD4C0C}"/>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B3AFE7F2-78DB-ECB7-420D-6EB7DB59CE4F}"/>
              </a:ext>
            </a:extLst>
          </p:cNvPr>
          <p:cNvSpPr>
            <a:spLocks noGrp="1"/>
          </p:cNvSpPr>
          <p:nvPr>
            <p:ph type="sldNum" sz="quarter" idx="10"/>
          </p:nvPr>
        </p:nvSpPr>
        <p:spPr/>
        <p:txBody>
          <a:bodyPr/>
          <a:lstStyle/>
          <a:p>
            <a:fld id="{F7021451-1387-4CA6-816F-3879F97B5CBC}" type="slidenum">
              <a:rPr lang="en-US"/>
              <a:t>49</a:t>
            </a:fld>
            <a:endParaRPr lang="en-US"/>
          </a:p>
        </p:txBody>
      </p:sp>
    </p:spTree>
    <p:extLst>
      <p:ext uri="{BB962C8B-B14F-4D97-AF65-F5344CB8AC3E}">
        <p14:creationId xmlns:p14="http://schemas.microsoft.com/office/powerpoint/2010/main" val="331931954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633AB5-4C05-9749-CD2F-7CA03EB1137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256E337-B0E9-8A02-5AAF-CA1667649BE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61C5EA9-72C0-C259-8D62-85AE0E436F1B}"/>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660D1D63-F443-B01E-E646-803CB44C2D70}"/>
              </a:ext>
            </a:extLst>
          </p:cNvPr>
          <p:cNvSpPr>
            <a:spLocks noGrp="1"/>
          </p:cNvSpPr>
          <p:nvPr>
            <p:ph type="sldNum" sz="quarter" idx="10"/>
          </p:nvPr>
        </p:nvSpPr>
        <p:spPr/>
        <p:txBody>
          <a:bodyPr/>
          <a:lstStyle/>
          <a:p>
            <a:fld id="{F7021451-1387-4CA6-816F-3879F97B5CBC}" type="slidenum">
              <a:rPr lang="en-US"/>
              <a:t>50</a:t>
            </a:fld>
            <a:endParaRPr lang="en-US"/>
          </a:p>
        </p:txBody>
      </p:sp>
    </p:spTree>
    <p:extLst>
      <p:ext uri="{BB962C8B-B14F-4D97-AF65-F5344CB8AC3E}">
        <p14:creationId xmlns:p14="http://schemas.microsoft.com/office/powerpoint/2010/main" val="31773132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79B1B0-942C-68B4-5ED6-A840C6122BE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C2E2716-B98E-3938-8C52-270F7561ECB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BA53128-B8A6-ADD6-9EF3-EBF4B43C16C4}"/>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13B1990C-53E6-4140-8862-E4F2FE6F059C}"/>
              </a:ext>
            </a:extLst>
          </p:cNvPr>
          <p:cNvSpPr>
            <a:spLocks noGrp="1"/>
          </p:cNvSpPr>
          <p:nvPr>
            <p:ph type="sldNum" sz="quarter" idx="10"/>
          </p:nvPr>
        </p:nvSpPr>
        <p:spPr/>
        <p:txBody>
          <a:bodyPr/>
          <a:lstStyle/>
          <a:p>
            <a:fld id="{F7021451-1387-4CA6-816F-3879F97B5CBC}" type="slidenum">
              <a:rPr lang="en-US"/>
              <a:t>51</a:t>
            </a:fld>
            <a:endParaRPr lang="en-US"/>
          </a:p>
        </p:txBody>
      </p:sp>
    </p:spTree>
    <p:extLst>
      <p:ext uri="{BB962C8B-B14F-4D97-AF65-F5344CB8AC3E}">
        <p14:creationId xmlns:p14="http://schemas.microsoft.com/office/powerpoint/2010/main" val="1896475423"/>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06F8A3-3FDE-DBD3-1946-16FEC5D0639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F488987-BDDE-9350-4BBE-93F85197B2F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83C3EA4-AFAA-4DC4-8BFF-E88ED6589352}"/>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A50FE413-F355-91C3-66AA-6037D36F535A}"/>
              </a:ext>
            </a:extLst>
          </p:cNvPr>
          <p:cNvSpPr>
            <a:spLocks noGrp="1"/>
          </p:cNvSpPr>
          <p:nvPr>
            <p:ph type="sldNum" sz="quarter" idx="10"/>
          </p:nvPr>
        </p:nvSpPr>
        <p:spPr/>
        <p:txBody>
          <a:bodyPr/>
          <a:lstStyle/>
          <a:p>
            <a:fld id="{F7021451-1387-4CA6-816F-3879F97B5CBC}" type="slidenum">
              <a:rPr lang="en-US"/>
              <a:t>52</a:t>
            </a:fld>
            <a:endParaRPr lang="en-US"/>
          </a:p>
        </p:txBody>
      </p:sp>
    </p:spTree>
    <p:extLst>
      <p:ext uri="{BB962C8B-B14F-4D97-AF65-F5344CB8AC3E}">
        <p14:creationId xmlns:p14="http://schemas.microsoft.com/office/powerpoint/2010/main" val="4130980171"/>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5C1C91-7C3A-8DD8-D813-4806724171B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5291817-D9A9-59FF-803D-E88BDD086FC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F6BEE24-D3DD-0BF3-7907-F3246AC0DB69}"/>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291BFB39-31D2-0658-5931-D543A0AC1C82}"/>
              </a:ext>
            </a:extLst>
          </p:cNvPr>
          <p:cNvSpPr>
            <a:spLocks noGrp="1"/>
          </p:cNvSpPr>
          <p:nvPr>
            <p:ph type="sldNum" sz="quarter" idx="10"/>
          </p:nvPr>
        </p:nvSpPr>
        <p:spPr/>
        <p:txBody>
          <a:bodyPr/>
          <a:lstStyle/>
          <a:p>
            <a:fld id="{F7021451-1387-4CA6-816F-3879F97B5CBC}" type="slidenum">
              <a:rPr lang="en-US"/>
              <a:t>53</a:t>
            </a:fld>
            <a:endParaRPr lang="en-US"/>
          </a:p>
        </p:txBody>
      </p:sp>
    </p:spTree>
    <p:extLst>
      <p:ext uri="{BB962C8B-B14F-4D97-AF65-F5344CB8AC3E}">
        <p14:creationId xmlns:p14="http://schemas.microsoft.com/office/powerpoint/2010/main" val="671850282"/>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532030-E14A-4D5A-B7C6-10BDD24A1C9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69FAD55-6EA4-5DC7-4B07-745E18DEA10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7B7AF1B-1EB8-C2E7-AA40-9DE021638CDF}"/>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4B3D7E4B-C93A-2798-A930-6E9FFDAB86E1}"/>
              </a:ext>
            </a:extLst>
          </p:cNvPr>
          <p:cNvSpPr>
            <a:spLocks noGrp="1"/>
          </p:cNvSpPr>
          <p:nvPr>
            <p:ph type="sldNum" sz="quarter" idx="10"/>
          </p:nvPr>
        </p:nvSpPr>
        <p:spPr/>
        <p:txBody>
          <a:bodyPr/>
          <a:lstStyle/>
          <a:p>
            <a:fld id="{F7021451-1387-4CA6-816F-3879F97B5CBC}" type="slidenum">
              <a:rPr lang="en-US"/>
              <a:t>54</a:t>
            </a:fld>
            <a:endParaRPr lang="en-US"/>
          </a:p>
        </p:txBody>
      </p:sp>
    </p:spTree>
    <p:extLst>
      <p:ext uri="{BB962C8B-B14F-4D97-AF65-F5344CB8AC3E}">
        <p14:creationId xmlns:p14="http://schemas.microsoft.com/office/powerpoint/2010/main" val="3430204570"/>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047F6C-AE0E-A3B5-DFDA-D1547B28DF7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0CB23BD-B043-F8A4-9B0C-80D42EFFD8F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19E4490-B4F5-5921-2888-5D97327E65F1}"/>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3D3DD7F1-B815-13FD-146D-C20D9584E68B}"/>
              </a:ext>
            </a:extLst>
          </p:cNvPr>
          <p:cNvSpPr>
            <a:spLocks noGrp="1"/>
          </p:cNvSpPr>
          <p:nvPr>
            <p:ph type="sldNum" sz="quarter" idx="10"/>
          </p:nvPr>
        </p:nvSpPr>
        <p:spPr/>
        <p:txBody>
          <a:bodyPr/>
          <a:lstStyle/>
          <a:p>
            <a:fld id="{F7021451-1387-4CA6-816F-3879F97B5CBC}" type="slidenum">
              <a:rPr lang="en-US"/>
              <a:t>55</a:t>
            </a:fld>
            <a:endParaRPr lang="en-US"/>
          </a:p>
        </p:txBody>
      </p:sp>
    </p:spTree>
    <p:extLst>
      <p:ext uri="{BB962C8B-B14F-4D97-AF65-F5344CB8AC3E}">
        <p14:creationId xmlns:p14="http://schemas.microsoft.com/office/powerpoint/2010/main" val="1549639464"/>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DF8CBE-4496-B220-8415-28E9CC5688C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FA3FC83-D866-6118-73BD-5DD0D46BAE5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4F15A60-B570-994A-16C0-244C0ED8F865}"/>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457F1EDE-456F-29CE-CBE0-8BF5250ED850}"/>
              </a:ext>
            </a:extLst>
          </p:cNvPr>
          <p:cNvSpPr>
            <a:spLocks noGrp="1"/>
          </p:cNvSpPr>
          <p:nvPr>
            <p:ph type="sldNum" sz="quarter" idx="10"/>
          </p:nvPr>
        </p:nvSpPr>
        <p:spPr/>
        <p:txBody>
          <a:bodyPr/>
          <a:lstStyle/>
          <a:p>
            <a:fld id="{F7021451-1387-4CA6-816F-3879F97B5CBC}" type="slidenum">
              <a:rPr lang="en-US"/>
              <a:t>56</a:t>
            </a:fld>
            <a:endParaRPr lang="en-US"/>
          </a:p>
        </p:txBody>
      </p:sp>
    </p:spTree>
    <p:extLst>
      <p:ext uri="{BB962C8B-B14F-4D97-AF65-F5344CB8AC3E}">
        <p14:creationId xmlns:p14="http://schemas.microsoft.com/office/powerpoint/2010/main" val="3335685304"/>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292DB6-37CE-CB2A-1613-BAC1A6D365E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DF12EA6-568A-06DE-A3CA-8398AF308AC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A0165A8-1A16-75C4-6C00-DC115E44FAD7}"/>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F6A78193-259C-AC16-0141-5458A87C092A}"/>
              </a:ext>
            </a:extLst>
          </p:cNvPr>
          <p:cNvSpPr>
            <a:spLocks noGrp="1"/>
          </p:cNvSpPr>
          <p:nvPr>
            <p:ph type="sldNum" sz="quarter" idx="10"/>
          </p:nvPr>
        </p:nvSpPr>
        <p:spPr/>
        <p:txBody>
          <a:bodyPr/>
          <a:lstStyle/>
          <a:p>
            <a:fld id="{F7021451-1387-4CA6-816F-3879F97B5CBC}" type="slidenum">
              <a:rPr lang="en-US"/>
              <a:t>57</a:t>
            </a:fld>
            <a:endParaRPr lang="en-US"/>
          </a:p>
        </p:txBody>
      </p:sp>
    </p:spTree>
    <p:extLst>
      <p:ext uri="{BB962C8B-B14F-4D97-AF65-F5344CB8AC3E}">
        <p14:creationId xmlns:p14="http://schemas.microsoft.com/office/powerpoint/2010/main" val="3756175970"/>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2DDF78-B42E-FFC9-0EE0-5521847421B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2711156-9536-82DE-BEB6-2282F42E190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FE86AEA-104E-D441-45DD-8C99EFFCC614}"/>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17C218AC-7FD6-54DD-F9BB-C81D18162BCC}"/>
              </a:ext>
            </a:extLst>
          </p:cNvPr>
          <p:cNvSpPr>
            <a:spLocks noGrp="1"/>
          </p:cNvSpPr>
          <p:nvPr>
            <p:ph type="sldNum" sz="quarter" idx="10"/>
          </p:nvPr>
        </p:nvSpPr>
        <p:spPr/>
        <p:txBody>
          <a:bodyPr/>
          <a:lstStyle/>
          <a:p>
            <a:fld id="{F7021451-1387-4CA6-816F-3879F97B5CBC}" type="slidenum">
              <a:rPr lang="en-US"/>
              <a:t>58</a:t>
            </a:fld>
            <a:endParaRPr lang="en-US"/>
          </a:p>
        </p:txBody>
      </p:sp>
    </p:spTree>
    <p:extLst>
      <p:ext uri="{BB962C8B-B14F-4D97-AF65-F5344CB8AC3E}">
        <p14:creationId xmlns:p14="http://schemas.microsoft.com/office/powerpoint/2010/main" val="929170050"/>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19273D-6D64-C94B-B00E-1304F4242C1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721F5B9-1003-56BA-4276-5DA28C01391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5684CBF-6A77-F243-A528-7E983541FB9E}"/>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9393E27C-078D-CD43-BD8F-BDEFB04DFE67}"/>
              </a:ext>
            </a:extLst>
          </p:cNvPr>
          <p:cNvSpPr>
            <a:spLocks noGrp="1"/>
          </p:cNvSpPr>
          <p:nvPr>
            <p:ph type="sldNum" sz="quarter" idx="10"/>
          </p:nvPr>
        </p:nvSpPr>
        <p:spPr/>
        <p:txBody>
          <a:bodyPr/>
          <a:lstStyle/>
          <a:p>
            <a:fld id="{F7021451-1387-4CA6-816F-3879F97B5CBC}" type="slidenum">
              <a:rPr lang="en-US"/>
              <a:t>124</a:t>
            </a:fld>
            <a:endParaRPr lang="en-US"/>
          </a:p>
        </p:txBody>
      </p:sp>
    </p:spTree>
    <p:extLst>
      <p:ext uri="{BB962C8B-B14F-4D97-AF65-F5344CB8AC3E}">
        <p14:creationId xmlns:p14="http://schemas.microsoft.com/office/powerpoint/2010/main" val="1241919568"/>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C78467-3404-4C9B-6B06-7E86D3DBC05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8006FF4-1A3B-BE4D-7806-19002E3F529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8A5D401-A951-2F1E-9DF1-6E123C99C4DD}"/>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482E8548-C17D-E395-BDD3-A9D993319593}"/>
              </a:ext>
            </a:extLst>
          </p:cNvPr>
          <p:cNvSpPr>
            <a:spLocks noGrp="1"/>
          </p:cNvSpPr>
          <p:nvPr>
            <p:ph type="sldNum" sz="quarter" idx="10"/>
          </p:nvPr>
        </p:nvSpPr>
        <p:spPr/>
        <p:txBody>
          <a:bodyPr/>
          <a:lstStyle/>
          <a:p>
            <a:fld id="{F7021451-1387-4CA6-816F-3879F97B5CBC}" type="slidenum">
              <a:rPr lang="en-US"/>
              <a:t>125</a:t>
            </a:fld>
            <a:endParaRPr lang="en-US"/>
          </a:p>
        </p:txBody>
      </p:sp>
    </p:spTree>
    <p:extLst>
      <p:ext uri="{BB962C8B-B14F-4D97-AF65-F5344CB8AC3E}">
        <p14:creationId xmlns:p14="http://schemas.microsoft.com/office/powerpoint/2010/main" val="1651832787"/>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7C4AA4-8D87-D482-FBCE-F4A584CCC84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52B6206-12F2-7F3A-1F54-CEB83384C4D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93503BF-ED04-8E38-0CE5-2F183B853F2A}"/>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226CBD9C-192E-D825-D933-EC209927FC2A}"/>
              </a:ext>
            </a:extLst>
          </p:cNvPr>
          <p:cNvSpPr>
            <a:spLocks noGrp="1"/>
          </p:cNvSpPr>
          <p:nvPr>
            <p:ph type="sldNum" sz="quarter" idx="10"/>
          </p:nvPr>
        </p:nvSpPr>
        <p:spPr/>
        <p:txBody>
          <a:bodyPr/>
          <a:lstStyle/>
          <a:p>
            <a:fld id="{F7021451-1387-4CA6-816F-3879F97B5CBC}" type="slidenum">
              <a:rPr lang="en-US"/>
              <a:t>126</a:t>
            </a:fld>
            <a:endParaRPr lang="en-US"/>
          </a:p>
        </p:txBody>
      </p:sp>
    </p:spTree>
    <p:extLst>
      <p:ext uri="{BB962C8B-B14F-4D97-AF65-F5344CB8AC3E}">
        <p14:creationId xmlns:p14="http://schemas.microsoft.com/office/powerpoint/2010/main" val="580976899"/>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7021451-1387-4CA6-816F-3879F97B5CBC}" type="slidenum">
              <a:rPr kumimoji="0" lang="en-US" sz="1200" b="0" i="0" u="none" strike="noStrike" kern="1200" cap="none" spc="0" normalizeH="0" baseline="0" noProof="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127</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02408699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CABBB6-1CC0-86A6-A900-B3F9B87A3C1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5743973-0962-1A82-2A88-8CD8CE6A825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035FA96-9F69-42D4-C262-65BE62CB7401}"/>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D56541B1-C883-3036-5B8C-B8A6F135B4BA}"/>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7021451-1387-4CA6-816F-3879F97B5CBC}" type="slidenum">
              <a:rPr kumimoji="0" lang="en-US" sz="1200" b="0" i="0" u="none" strike="noStrike" kern="1200" cap="none" spc="0" normalizeH="0" baseline="0" noProof="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655468396"/>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DDB38E-14E5-9E46-C509-1298252B27F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0562EB7-5B3E-1446-6F3B-BD50C482C37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EEB7947-5240-979E-A8F0-6C1916F4B5D5}"/>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40F88BE8-9FC8-31EF-5A49-5F6D6E9E4E74}"/>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7021451-1387-4CA6-816F-3879F97B5CBC}" type="slidenum">
              <a:rPr kumimoji="0" lang="en-US" sz="1200" b="0" i="0" u="none" strike="noStrike" kern="1200" cap="none" spc="0" normalizeH="0" baseline="0" noProof="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129</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90127453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38EBD1-8170-858B-B862-77893703C34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C22AEED-E8C2-3F9F-8C75-9FCA04D2E60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8B56A5C-785E-E160-C582-AB88019A2DE5}"/>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FF955898-4C97-1256-C467-24222893F8FC}"/>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7021451-1387-4CA6-816F-3879F97B5CBC}" type="slidenum">
              <a:rPr kumimoji="0" lang="en-US" sz="1200" b="0" i="0" u="none" strike="noStrike" kern="1200" cap="none" spc="0" normalizeH="0" baseline="0" noProof="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130</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669418482"/>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8B3595-9A0B-2F44-5564-EB8C848C30D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A9D3FCC-DF97-F9A2-D396-A6BE3B152AC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EDC7009-302D-BBAB-50A2-E7B37209D7A6}"/>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2DB0676E-D20C-964D-876C-903BAC58DF36}"/>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7021451-1387-4CA6-816F-3879F97B5CBC}" type="slidenum">
              <a:rPr kumimoji="0" lang="en-US" sz="1200" b="0" i="0" u="none" strike="noStrike" kern="1200" cap="none" spc="0" normalizeH="0" baseline="0" noProof="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888363344"/>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2EA41E-111C-9C99-BEC0-34D27DA5CFE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1C80FCC-4284-12F3-F0E4-33AFA4A19D6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9AF023F-D81B-5AA7-B12A-94976DCEFAD5}"/>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70D67BF6-5C75-0502-F694-B555DD1A0F75}"/>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7021451-1387-4CA6-816F-3879F97B5CBC}" type="slidenum">
              <a:rPr kumimoji="0" lang="en-US" sz="1200" b="0" i="0" u="none" strike="noStrike" kern="1200" cap="none" spc="0" normalizeH="0" baseline="0" noProof="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132</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92721895"/>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DCA6BC-4149-D9D7-5A67-B19F7B0A1C4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EA2CF0A-F6F5-9FD3-DCF1-22C8421F06E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B6512DF-78BF-8388-05FF-62ADA6EA01C5}"/>
              </a:ext>
            </a:extLst>
          </p:cNvPr>
          <p:cNvSpPr>
            <a:spLocks noGrp="1"/>
          </p:cNvSpPr>
          <p:nvPr>
            <p:ph type="body" idx="1"/>
          </p:nvPr>
        </p:nvSpPr>
        <p:spPr/>
        <p:txBody>
          <a:bodyPr/>
          <a:lstStyle/>
          <a:p>
            <a:r>
              <a:rPr lang="en-US"/>
              <a:t>Mei </a:t>
            </a:r>
            <a:r>
              <a:rPr lang="en-US" err="1"/>
              <a:t>menjadi</a:t>
            </a:r>
            <a:r>
              <a:rPr lang="en-US"/>
              <a:t> </a:t>
            </a:r>
            <a:r>
              <a:rPr lang="en-US" err="1"/>
              <a:t>sinyal</a:t>
            </a:r>
            <a:r>
              <a:rPr lang="en-US"/>
              <a:t> paling </a:t>
            </a:r>
            <a:r>
              <a:rPr lang="en-US" err="1"/>
              <a:t>kritis</a:t>
            </a:r>
            <a:r>
              <a:rPr lang="en-US"/>
              <a:t> </a:t>
            </a:r>
            <a:r>
              <a:rPr lang="en-US" err="1"/>
              <a:t>karena</a:t>
            </a:r>
            <a:r>
              <a:rPr lang="en-US"/>
              <a:t> 100% FPTK yang </a:t>
            </a:r>
            <a:r>
              <a:rPr lang="en-US" err="1"/>
              <a:t>muncul</a:t>
            </a:r>
            <a:r>
              <a:rPr lang="en-US"/>
              <a:t> </a:t>
            </a:r>
            <a:r>
              <a:rPr lang="en-US" err="1"/>
              <a:t>merupakan</a:t>
            </a:r>
            <a:r>
              <a:rPr lang="en-US"/>
              <a:t> replacement.</a:t>
            </a:r>
          </a:p>
        </p:txBody>
      </p:sp>
      <p:sp>
        <p:nvSpPr>
          <p:cNvPr id="4" name="Slide Number Placeholder 3">
            <a:extLst>
              <a:ext uri="{FF2B5EF4-FFF2-40B4-BE49-F238E27FC236}">
                <a16:creationId xmlns:a16="http://schemas.microsoft.com/office/drawing/2014/main" id="{D060A3CC-A52D-25C3-7D36-C34CF09CE2E5}"/>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7021451-1387-4CA6-816F-3879F97B5CBC}" type="slidenum">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21563188"/>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2F0565-E85D-AE4B-0C8C-A304877F698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27AE088-F061-2425-F64F-CD5A5B20544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D9FEEA8-FA10-5873-579C-328D5E710670}"/>
              </a:ext>
            </a:extLst>
          </p:cNvPr>
          <p:cNvSpPr>
            <a:spLocks noGrp="1"/>
          </p:cNvSpPr>
          <p:nvPr>
            <p:ph type="body" idx="1"/>
          </p:nvPr>
        </p:nvSpPr>
        <p:spPr/>
        <p:txBody>
          <a:bodyPr/>
          <a:lstStyle/>
          <a:p>
            <a:r>
              <a:rPr lang="en-US"/>
              <a:t>.</a:t>
            </a:r>
          </a:p>
        </p:txBody>
      </p:sp>
      <p:sp>
        <p:nvSpPr>
          <p:cNvPr id="4" name="Slide Number Placeholder 3">
            <a:extLst>
              <a:ext uri="{FF2B5EF4-FFF2-40B4-BE49-F238E27FC236}">
                <a16:creationId xmlns:a16="http://schemas.microsoft.com/office/drawing/2014/main" id="{D5540832-34B5-C1C1-20DA-08C737C7F3E9}"/>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7021451-1387-4CA6-816F-3879F97B5CBC}" type="slidenum">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61677014"/>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285750" indent="-285750">
              <a:buFont typeface="Wingdings"/>
              <a:buChar char="Ø"/>
            </a:pPr>
            <a:r>
              <a:rPr lang="en-US">
                <a:ea typeface="Calibri"/>
                <a:cs typeface="Calibri"/>
              </a:rPr>
              <a:t>ASM -&gt; </a:t>
            </a:r>
            <a:r>
              <a:rPr lang="en-US" err="1">
                <a:ea typeface="Calibri"/>
                <a:cs typeface="Calibri"/>
              </a:rPr>
              <a:t>Tangkot</a:t>
            </a:r>
            <a:r>
              <a:rPr lang="en-US">
                <a:ea typeface="Calibri"/>
                <a:cs typeface="Calibri"/>
              </a:rPr>
              <a:t> -&gt; ADITYA </a:t>
            </a:r>
            <a:r>
              <a:rPr lang="en-US" err="1">
                <a:ea typeface="Calibri"/>
                <a:cs typeface="Calibri"/>
              </a:rPr>
              <a:t>khusus</a:t>
            </a:r>
            <a:r>
              <a:rPr lang="en-US">
                <a:ea typeface="Calibri"/>
                <a:cs typeface="Calibri"/>
              </a:rPr>
              <a:t> Frozen </a:t>
            </a:r>
          </a:p>
          <a:p>
            <a:pPr marL="285750" indent="-285750">
              <a:buFont typeface="Wingdings"/>
              <a:buChar char="Ø"/>
            </a:pPr>
            <a:r>
              <a:rPr lang="en-US">
                <a:ea typeface="Calibri"/>
                <a:cs typeface="Calibri"/>
              </a:rPr>
              <a:t>Chilled di handle </a:t>
            </a:r>
            <a:r>
              <a:rPr lang="en-US" err="1">
                <a:ea typeface="Calibri"/>
                <a:cs typeface="Calibri"/>
              </a:rPr>
              <a:t>langsung</a:t>
            </a:r>
            <a:r>
              <a:rPr lang="en-US">
                <a:ea typeface="Calibri"/>
                <a:cs typeface="Calibri"/>
              </a:rPr>
              <a:t> oleh RSM – Pak Richardo </a:t>
            </a:r>
          </a:p>
        </p:txBody>
      </p:sp>
      <p:sp>
        <p:nvSpPr>
          <p:cNvPr id="4" name="Slide Number Placeholder 3"/>
          <p:cNvSpPr>
            <a:spLocks noGrp="1"/>
          </p:cNvSpPr>
          <p:nvPr>
            <p:ph type="sldNum" sz="quarter" idx="5"/>
          </p:nvPr>
        </p:nvSpPr>
        <p:spPr/>
        <p:txBody>
          <a:bodyPr/>
          <a:lstStyle/>
          <a:p>
            <a:fld id="{BE6315FD-4A28-4835-B0A3-1AF472D92421}" type="slidenum">
              <a:rPr lang="en-ID" smtClean="0"/>
              <a:t>137</a:t>
            </a:fld>
            <a:endParaRPr lang="en-ID"/>
          </a:p>
        </p:txBody>
      </p:sp>
    </p:spTree>
    <p:extLst>
      <p:ext uri="{BB962C8B-B14F-4D97-AF65-F5344CB8AC3E}">
        <p14:creationId xmlns:p14="http://schemas.microsoft.com/office/powerpoint/2010/main" val="193386289"/>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285750" indent="-285750">
              <a:buFont typeface="Wingdings"/>
              <a:buChar char="Ø"/>
            </a:pPr>
            <a:r>
              <a:rPr lang="en-US">
                <a:ea typeface="Calibri"/>
                <a:cs typeface="Calibri"/>
              </a:rPr>
              <a:t>ASM -&gt; </a:t>
            </a:r>
            <a:r>
              <a:rPr lang="en-US" err="1">
                <a:ea typeface="Calibri"/>
                <a:cs typeface="Calibri"/>
              </a:rPr>
              <a:t>Tangkot</a:t>
            </a:r>
            <a:r>
              <a:rPr lang="en-US">
                <a:ea typeface="Calibri"/>
                <a:cs typeface="Calibri"/>
              </a:rPr>
              <a:t> -&gt; ADITYA </a:t>
            </a:r>
            <a:r>
              <a:rPr lang="en-US" err="1">
                <a:ea typeface="Calibri"/>
                <a:cs typeface="Calibri"/>
              </a:rPr>
              <a:t>khusus</a:t>
            </a:r>
            <a:r>
              <a:rPr lang="en-US">
                <a:ea typeface="Calibri"/>
                <a:cs typeface="Calibri"/>
              </a:rPr>
              <a:t> Frozen </a:t>
            </a:r>
          </a:p>
          <a:p>
            <a:pPr marL="285750" indent="-285750">
              <a:buFont typeface="Wingdings"/>
              <a:buChar char="Ø"/>
            </a:pPr>
            <a:r>
              <a:rPr lang="en-US">
                <a:ea typeface="Calibri"/>
                <a:cs typeface="Calibri"/>
              </a:rPr>
              <a:t>Chilled di handle </a:t>
            </a:r>
            <a:r>
              <a:rPr lang="en-US" err="1">
                <a:ea typeface="Calibri"/>
                <a:cs typeface="Calibri"/>
              </a:rPr>
              <a:t>langsung</a:t>
            </a:r>
            <a:r>
              <a:rPr lang="en-US">
                <a:ea typeface="Calibri"/>
                <a:cs typeface="Calibri"/>
              </a:rPr>
              <a:t> oleh RSM – Pak Richardo </a:t>
            </a:r>
          </a:p>
        </p:txBody>
      </p:sp>
      <p:sp>
        <p:nvSpPr>
          <p:cNvPr id="4" name="Slide Number Placeholder 3"/>
          <p:cNvSpPr>
            <a:spLocks noGrp="1"/>
          </p:cNvSpPr>
          <p:nvPr>
            <p:ph type="sldNum" sz="quarter" idx="5"/>
          </p:nvPr>
        </p:nvSpPr>
        <p:spPr/>
        <p:txBody>
          <a:bodyPr/>
          <a:lstStyle/>
          <a:p>
            <a:fld id="{BE6315FD-4A28-4835-B0A3-1AF472D92421}" type="slidenum">
              <a:rPr lang="en-ID" smtClean="0"/>
              <a:t>141</a:t>
            </a:fld>
            <a:endParaRPr lang="en-ID"/>
          </a:p>
        </p:txBody>
      </p:sp>
    </p:spTree>
    <p:extLst>
      <p:ext uri="{BB962C8B-B14F-4D97-AF65-F5344CB8AC3E}">
        <p14:creationId xmlns:p14="http://schemas.microsoft.com/office/powerpoint/2010/main" val="193386289"/>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2228DA-B03F-B6BF-1226-81AA09936C2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D8B10E1-AC2A-90CE-4FA8-0409600E189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2DBA4C9-FA63-F91D-A7A9-C929AAB605DF}"/>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CCBD5E08-C4DF-B479-ACC3-E5E766B28B76}"/>
              </a:ext>
            </a:extLst>
          </p:cNvPr>
          <p:cNvSpPr>
            <a:spLocks noGrp="1"/>
          </p:cNvSpPr>
          <p:nvPr>
            <p:ph type="sldNum" sz="quarter" idx="10"/>
          </p:nvPr>
        </p:nvSpPr>
        <p:spPr/>
        <p:txBody>
          <a:bodyPr/>
          <a:lstStyle/>
          <a:p>
            <a:fld id="{F7021451-1387-4CA6-816F-3879F97B5CBC}" type="slidenum">
              <a:rPr lang="en-US"/>
              <a:t>160</a:t>
            </a:fld>
            <a:endParaRPr lang="en-US"/>
          </a:p>
        </p:txBody>
      </p:sp>
    </p:spTree>
    <p:extLst>
      <p:ext uri="{BB962C8B-B14F-4D97-AF65-F5344CB8AC3E}">
        <p14:creationId xmlns:p14="http://schemas.microsoft.com/office/powerpoint/2010/main" val="2179912404"/>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CDAA62-FE80-53C8-7491-CFB0ADC0652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A330DAA-5002-5592-926B-0F75A28CB07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C9E1567-B5B0-90FF-4544-DE3C3EF71531}"/>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4B735CAA-92A2-6634-B6FC-5B1DEF7A18F2}"/>
              </a:ext>
            </a:extLst>
          </p:cNvPr>
          <p:cNvSpPr>
            <a:spLocks noGrp="1"/>
          </p:cNvSpPr>
          <p:nvPr>
            <p:ph type="sldNum" sz="quarter" idx="10"/>
          </p:nvPr>
        </p:nvSpPr>
        <p:spPr/>
        <p:txBody>
          <a:bodyPr/>
          <a:lstStyle/>
          <a:p>
            <a:fld id="{F7021451-1387-4CA6-816F-3879F97B5CBC}" type="slidenum">
              <a:rPr lang="en-US"/>
              <a:t>161</a:t>
            </a:fld>
            <a:endParaRPr lang="en-US"/>
          </a:p>
        </p:txBody>
      </p:sp>
    </p:spTree>
    <p:extLst>
      <p:ext uri="{BB962C8B-B14F-4D97-AF65-F5344CB8AC3E}">
        <p14:creationId xmlns:p14="http://schemas.microsoft.com/office/powerpoint/2010/main" val="2112745388"/>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198866C-5E9A-2757-6966-E1CA10BC7BD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28E47CE-236D-3C6E-AB04-63F9518B4B9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4F28968-A95A-4D9B-669B-6C0870775586}"/>
              </a:ext>
            </a:extLst>
          </p:cNvPr>
          <p:cNvSpPr>
            <a:spLocks noGrp="1"/>
          </p:cNvSpPr>
          <p:nvPr>
            <p:ph type="body" idx="1"/>
          </p:nvPr>
        </p:nvSpPr>
        <p:spPr/>
        <p:txBody>
          <a:bodyPr/>
          <a:lstStyle/>
          <a:p>
            <a:pPr marL="285750" indent="-285750">
              <a:buFont typeface="Arial" panose="020B0604020202020204" pitchFamily="34" charset="0"/>
              <a:buChar char="•"/>
            </a:pPr>
            <a:r>
              <a:rPr lang="en-US" sz="1200" b="1"/>
              <a:t>Marta &amp;</a:t>
            </a:r>
            <a:r>
              <a:rPr lang="en-US" sz="1200"/>
              <a:t> </a:t>
            </a:r>
            <a:r>
              <a:rPr lang="en-US" sz="1200" b="1"/>
              <a:t>Brittney</a:t>
            </a:r>
            <a:r>
              <a:rPr lang="en-US" sz="1200"/>
              <a:t> </a:t>
            </a:r>
            <a:r>
              <a:rPr lang="en-US" sz="1200" err="1"/>
              <a:t>menunjukkan</a:t>
            </a:r>
            <a:r>
              <a:rPr lang="en-US" sz="1200"/>
              <a:t> </a:t>
            </a:r>
            <a:r>
              <a:rPr lang="en-US" sz="1200" b="1" err="1"/>
              <a:t>jumlah</a:t>
            </a:r>
            <a:r>
              <a:rPr lang="en-US" sz="1200" b="1"/>
              <a:t> close </a:t>
            </a:r>
            <a:r>
              <a:rPr lang="en-US" sz="1200" b="1" err="1"/>
              <a:t>tertinggi</a:t>
            </a:r>
            <a:r>
              <a:rPr lang="en-US" sz="1200" b="1"/>
              <a:t> by numbers </a:t>
            </a:r>
            <a:r>
              <a:rPr lang="en-US" sz="1200"/>
              <a:t>despite </a:t>
            </a:r>
            <a:r>
              <a:rPr lang="en-US" sz="1200" err="1"/>
              <a:t>mereka</a:t>
            </a:r>
            <a:r>
              <a:rPr lang="en-US" sz="1200"/>
              <a:t> punya %FPTK yang </a:t>
            </a:r>
            <a:r>
              <a:rPr lang="en-US" sz="1200" err="1"/>
              <a:t>terbesar</a:t>
            </a:r>
            <a:r>
              <a:rPr lang="en-US" sz="1200"/>
              <a:t> </a:t>
            </a:r>
            <a:r>
              <a:rPr lang="en-US" sz="1200" b="1"/>
              <a:t>(20% dan 17%) </a:t>
            </a:r>
            <a:r>
              <a:rPr lang="en-US" sz="1200"/>
              <a:t>–</a:t>
            </a:r>
          </a:p>
          <a:p>
            <a:pPr marL="742950" lvl="1" indent="-285750">
              <a:buFont typeface="Arial" panose="020B0604020202020204" pitchFamily="34" charset="0"/>
              <a:buChar char="•"/>
            </a:pPr>
            <a:r>
              <a:rPr lang="en-US" sz="1200"/>
              <a:t>Hal </a:t>
            </a:r>
            <a:r>
              <a:rPr lang="en-US" sz="1200" err="1"/>
              <a:t>ini</a:t>
            </a:r>
            <a:r>
              <a:rPr lang="en-US" sz="1200"/>
              <a:t> </a:t>
            </a:r>
            <a:r>
              <a:rPr lang="en-US" sz="1200" err="1"/>
              <a:t>menunjukkan</a:t>
            </a:r>
            <a:r>
              <a:rPr lang="en-US" sz="1200"/>
              <a:t> </a:t>
            </a:r>
            <a:r>
              <a:rPr lang="en-US" sz="1200" b="1"/>
              <a:t>speed</a:t>
            </a:r>
            <a:r>
              <a:rPr lang="en-US" sz="1200"/>
              <a:t> recruit </a:t>
            </a:r>
            <a:r>
              <a:rPr lang="en-US" sz="1200" err="1"/>
              <a:t>mereka</a:t>
            </a:r>
            <a:r>
              <a:rPr lang="en-US" sz="1200"/>
              <a:t> </a:t>
            </a:r>
            <a:r>
              <a:rPr lang="en-US" sz="1200" err="1"/>
              <a:t>berdua</a:t>
            </a:r>
            <a:r>
              <a:rPr lang="en-US" sz="1200"/>
              <a:t> </a:t>
            </a:r>
            <a:r>
              <a:rPr lang="en-US" sz="1200" b="1"/>
              <a:t>sangat </a:t>
            </a:r>
            <a:r>
              <a:rPr lang="en-US" sz="1200" b="1" err="1"/>
              <a:t>efektif</a:t>
            </a:r>
            <a:endParaRPr lang="en-US" sz="1200" b="1"/>
          </a:p>
          <a:p>
            <a:pPr marL="285750" indent="-285750">
              <a:buFont typeface="Arial" panose="020B0604020202020204" pitchFamily="34" charset="0"/>
              <a:buChar char="•"/>
            </a:pPr>
            <a:r>
              <a:rPr lang="en-US" sz="1200" b="1"/>
              <a:t>Gracia</a:t>
            </a:r>
            <a:r>
              <a:rPr lang="en-US" sz="1200"/>
              <a:t> </a:t>
            </a:r>
            <a:r>
              <a:rPr lang="en-US" sz="1200" b="1"/>
              <a:t>&amp;</a:t>
            </a:r>
            <a:r>
              <a:rPr lang="en-US" sz="1200"/>
              <a:t> </a:t>
            </a:r>
            <a:r>
              <a:rPr lang="en-US" sz="1200" b="1"/>
              <a:t>Ratih</a:t>
            </a:r>
            <a:r>
              <a:rPr lang="en-US" sz="1200"/>
              <a:t> </a:t>
            </a:r>
            <a:r>
              <a:rPr lang="en-US" sz="1200" err="1"/>
              <a:t>menunjukkan</a:t>
            </a:r>
            <a:r>
              <a:rPr lang="en-US" sz="1200"/>
              <a:t> %</a:t>
            </a:r>
            <a:r>
              <a:rPr lang="en-US" sz="1200" err="1"/>
              <a:t>pemenuhan</a:t>
            </a:r>
            <a:r>
              <a:rPr lang="en-US" sz="1200"/>
              <a:t> </a:t>
            </a:r>
            <a:r>
              <a:rPr lang="en-US" sz="1200" err="1"/>
              <a:t>tertinggi</a:t>
            </a:r>
            <a:r>
              <a:rPr lang="en-US" sz="1200"/>
              <a:t>, </a:t>
            </a:r>
            <a:r>
              <a:rPr lang="en-US" sz="1200" err="1"/>
              <a:t>mereka</a:t>
            </a:r>
            <a:r>
              <a:rPr lang="en-US" sz="1200"/>
              <a:t> </a:t>
            </a:r>
            <a:r>
              <a:rPr lang="en-US" sz="1200" err="1"/>
              <a:t>berdua</a:t>
            </a:r>
            <a:r>
              <a:rPr lang="en-US" sz="1200"/>
              <a:t> </a:t>
            </a:r>
            <a:r>
              <a:rPr lang="en-US" sz="1200" err="1"/>
              <a:t>adalah</a:t>
            </a:r>
            <a:r>
              <a:rPr lang="en-US" sz="1200"/>
              <a:t> </a:t>
            </a:r>
            <a:r>
              <a:rPr lang="en-US" sz="1200" b="1"/>
              <a:t>top closer by %</a:t>
            </a:r>
          </a:p>
          <a:p>
            <a:pPr marL="742950" lvl="1" indent="-285750">
              <a:buFont typeface="Arial" panose="020B0604020202020204" pitchFamily="34" charset="0"/>
              <a:buChar char="•"/>
            </a:pPr>
            <a:r>
              <a:rPr lang="en-US" sz="1200"/>
              <a:t>Hal </a:t>
            </a:r>
            <a:r>
              <a:rPr lang="en-US" sz="1200" err="1"/>
              <a:t>ini</a:t>
            </a:r>
            <a:r>
              <a:rPr lang="en-US" sz="1200"/>
              <a:t> </a:t>
            </a:r>
            <a:r>
              <a:rPr lang="en-US" sz="1200" err="1"/>
              <a:t>menunjukkan</a:t>
            </a:r>
            <a:r>
              <a:rPr lang="en-US" sz="1200"/>
              <a:t> : </a:t>
            </a:r>
            <a:r>
              <a:rPr lang="en-US" sz="1200" err="1"/>
              <a:t>mereka</a:t>
            </a:r>
            <a:r>
              <a:rPr lang="en-US" sz="1200"/>
              <a:t> </a:t>
            </a:r>
            <a:r>
              <a:rPr lang="en-US" sz="1200" err="1"/>
              <a:t>akan</a:t>
            </a:r>
            <a:r>
              <a:rPr lang="en-US" sz="1200"/>
              <a:t> </a:t>
            </a:r>
            <a:r>
              <a:rPr lang="en-US" sz="1200" err="1"/>
              <a:t>selalu</a:t>
            </a:r>
            <a:r>
              <a:rPr lang="en-US" sz="1200"/>
              <a:t> </a:t>
            </a:r>
            <a:r>
              <a:rPr lang="en-US" sz="1200" b="1"/>
              <a:t>close min 7 FPTK </a:t>
            </a:r>
            <a:r>
              <a:rPr lang="en-US" sz="1200" b="1" err="1"/>
              <a:t>dari</a:t>
            </a:r>
            <a:r>
              <a:rPr lang="en-US" sz="1200" b="1"/>
              <a:t> 10 </a:t>
            </a:r>
            <a:r>
              <a:rPr lang="en-US" sz="1200"/>
              <a:t>yang </a:t>
            </a:r>
            <a:r>
              <a:rPr lang="en-US" sz="1200" err="1"/>
              <a:t>dikirimkan</a:t>
            </a:r>
            <a:endParaRPr lang="en-US" sz="1200" b="1"/>
          </a:p>
          <a:p>
            <a:pPr marL="285750" indent="-285750">
              <a:buFont typeface="Arial" panose="020B0604020202020204" pitchFamily="34" charset="0"/>
              <a:buChar char="•"/>
            </a:pPr>
            <a:r>
              <a:rPr lang="en-US" sz="1200" b="1"/>
              <a:t>Karin &amp; Ken</a:t>
            </a:r>
            <a:r>
              <a:rPr lang="en-US" sz="1200"/>
              <a:t>: % close relative </a:t>
            </a:r>
            <a:r>
              <a:rPr lang="en-US" sz="1200" err="1"/>
              <a:t>rendah</a:t>
            </a:r>
            <a:r>
              <a:rPr lang="en-US" sz="1200"/>
              <a:t> </a:t>
            </a:r>
            <a:r>
              <a:rPr lang="en-US" sz="1200" err="1"/>
              <a:t>meskipun</a:t>
            </a:r>
            <a:r>
              <a:rPr lang="en-US" sz="1200"/>
              <a:t> %FPTK Shared </a:t>
            </a:r>
            <a:r>
              <a:rPr lang="en-US" sz="1200" err="1"/>
              <a:t>rendah</a:t>
            </a:r>
            <a:endParaRPr lang="en-US" sz="1200"/>
          </a:p>
          <a:p>
            <a:pPr marL="742950" lvl="1" indent="-285750">
              <a:buFont typeface="Arial" panose="020B0604020202020204" pitchFamily="34" charset="0"/>
              <a:buChar char="•"/>
            </a:pPr>
            <a:r>
              <a:rPr lang="en-US" sz="1200"/>
              <a:t>Karin: </a:t>
            </a:r>
            <a:r>
              <a:rPr lang="en-US" sz="1200" err="1"/>
              <a:t>sebelumnya</a:t>
            </a:r>
            <a:r>
              <a:rPr lang="en-US" sz="1200"/>
              <a:t> Project Leader </a:t>
            </a:r>
            <a:r>
              <a:rPr lang="en-US" sz="1200" err="1"/>
              <a:t>Pemenuhan</a:t>
            </a:r>
            <a:r>
              <a:rPr lang="en-US" sz="1200"/>
              <a:t> SDM </a:t>
            </a:r>
            <a:r>
              <a:rPr lang="en-US" sz="1200" err="1"/>
              <a:t>Citereup</a:t>
            </a:r>
            <a:r>
              <a:rPr lang="en-US" sz="1200"/>
              <a:t> dan </a:t>
            </a:r>
            <a:r>
              <a:rPr lang="en-US" sz="1200" err="1"/>
              <a:t>baru</a:t>
            </a:r>
            <a:r>
              <a:rPr lang="en-US" sz="1200"/>
              <a:t> move Kembali </a:t>
            </a:r>
            <a:r>
              <a:rPr lang="en-US" sz="1200" err="1"/>
              <a:t>ke</a:t>
            </a:r>
            <a:r>
              <a:rPr lang="en-US" sz="1200"/>
              <a:t> Corp per 25 Maret 2026</a:t>
            </a:r>
          </a:p>
          <a:p>
            <a:pPr marL="742950" lvl="1" indent="-285750">
              <a:buFont typeface="Arial" panose="020B0604020202020204" pitchFamily="34" charset="0"/>
              <a:buChar char="•"/>
            </a:pPr>
            <a:r>
              <a:rPr lang="en-US" sz="1200"/>
              <a:t>Ken: </a:t>
            </a:r>
            <a:r>
              <a:rPr lang="en-US" sz="1200" err="1"/>
              <a:t>sebelumnya</a:t>
            </a:r>
            <a:r>
              <a:rPr lang="en-US" sz="1200"/>
              <a:t> </a:t>
            </a:r>
            <a:r>
              <a:rPr lang="en-US" sz="1200" err="1"/>
              <a:t>adalah</a:t>
            </a:r>
            <a:r>
              <a:rPr lang="en-US" sz="1200"/>
              <a:t> Recruiter MP </a:t>
            </a:r>
            <a:r>
              <a:rPr lang="en-US" sz="1200" err="1"/>
              <a:t>semarang</a:t>
            </a:r>
            <a:r>
              <a:rPr lang="en-US" sz="1200"/>
              <a:t> yang </a:t>
            </a:r>
            <a:r>
              <a:rPr lang="en-US" sz="1200" err="1"/>
              <a:t>baru</a:t>
            </a:r>
            <a:r>
              <a:rPr lang="en-US" sz="1200"/>
              <a:t> </a:t>
            </a:r>
            <a:r>
              <a:rPr lang="en-US" sz="1200" err="1"/>
              <a:t>mutasi</a:t>
            </a:r>
            <a:r>
              <a:rPr lang="en-US" sz="1200"/>
              <a:t> </a:t>
            </a:r>
            <a:r>
              <a:rPr lang="en-US" sz="1200" err="1"/>
              <a:t>ke</a:t>
            </a:r>
            <a:r>
              <a:rPr lang="en-US" sz="1200"/>
              <a:t> Corp per 1 Mei 2026</a:t>
            </a:r>
          </a:p>
          <a:p>
            <a:endParaRPr lang="en-US"/>
          </a:p>
        </p:txBody>
      </p:sp>
      <p:sp>
        <p:nvSpPr>
          <p:cNvPr id="4" name="Slide Number Placeholder 3">
            <a:extLst>
              <a:ext uri="{FF2B5EF4-FFF2-40B4-BE49-F238E27FC236}">
                <a16:creationId xmlns:a16="http://schemas.microsoft.com/office/drawing/2014/main" id="{E13D5D64-6657-EFBA-C9E0-24D4144719E5}"/>
              </a:ext>
            </a:extLst>
          </p:cNvPr>
          <p:cNvSpPr>
            <a:spLocks noGrp="1"/>
          </p:cNvSpPr>
          <p:nvPr>
            <p:ph type="sldNum" sz="quarter" idx="5"/>
          </p:nvPr>
        </p:nvSpPr>
        <p:spPr/>
        <p:txBody>
          <a:bodyPr/>
          <a:lstStyle/>
          <a:p>
            <a:fld id="{B9CAABDB-C533-46B8-A514-B0772CB59D04}" type="slidenum">
              <a:rPr lang="en-US" smtClean="0"/>
              <a:t>162</a:t>
            </a:fld>
            <a:endParaRPr lang="en-US"/>
          </a:p>
        </p:txBody>
      </p:sp>
    </p:spTree>
    <p:extLst>
      <p:ext uri="{BB962C8B-B14F-4D97-AF65-F5344CB8AC3E}">
        <p14:creationId xmlns:p14="http://schemas.microsoft.com/office/powerpoint/2010/main" val="310507445"/>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F7021451-1387-4CA6-816F-3879F97B5CBC}" type="slidenum">
              <a:rPr lang="en-US"/>
              <a:t>165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D7C242-F10B-2D38-514F-180222516B9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400BAF7-AFD3-053C-6968-DDCECCB76B4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34C0076-2BC2-A9D5-B658-12C8E125671B}"/>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FE1E6E20-8C35-1D3B-1A00-AE2C8BC20F82}"/>
              </a:ext>
            </a:extLst>
          </p:cNvPr>
          <p:cNvSpPr>
            <a:spLocks noGrp="1"/>
          </p:cNvSpPr>
          <p:nvPr>
            <p:ph type="sldNum" sz="quarter" idx="5"/>
          </p:nvPr>
        </p:nvSpPr>
        <p:spPr/>
        <p:txBody>
          <a:bodyPr/>
          <a:lstStyle/>
          <a:p>
            <a:fld id="{56B698B9-A9BD-4D96-B646-D391A8142704}" type="slidenum">
              <a:rPr lang="en-US" smtClean="0"/>
              <a:t>169</a:t>
            </a:fld>
            <a:endParaRPr lang="en-US"/>
          </a:p>
        </p:txBody>
      </p:sp>
    </p:spTree>
    <p:extLst>
      <p:ext uri="{BB962C8B-B14F-4D97-AF65-F5344CB8AC3E}">
        <p14:creationId xmlns:p14="http://schemas.microsoft.com/office/powerpoint/2010/main" val="3762409409"/>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227001-72F1-800E-F0A4-34ACFEDB3BE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AF1EF-D6AF-B6D4-21AC-92800E04C2C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75FAAEE-233B-E606-5283-3F99FD0D1A93}"/>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D2309FAB-1090-59EB-B056-6EE0E92F311D}"/>
              </a:ext>
            </a:extLst>
          </p:cNvPr>
          <p:cNvSpPr>
            <a:spLocks noGrp="1"/>
          </p:cNvSpPr>
          <p:nvPr>
            <p:ph type="sldNum" sz="quarter" idx="5"/>
          </p:nvPr>
        </p:nvSpPr>
        <p:spPr/>
        <p:txBody>
          <a:bodyPr/>
          <a:lstStyle/>
          <a:p>
            <a:fld id="{8FE0664D-296D-4FC5-96EF-BAC62ABDF90F}" type="slidenum">
              <a:rPr lang="en-US" smtClean="0"/>
              <a:t>170</a:t>
            </a:fld>
            <a:endParaRPr lang="en-US"/>
          </a:p>
        </p:txBody>
      </p:sp>
    </p:spTree>
    <p:extLst>
      <p:ext uri="{BB962C8B-B14F-4D97-AF65-F5344CB8AC3E}">
        <p14:creationId xmlns:p14="http://schemas.microsoft.com/office/powerpoint/2010/main" val="3216914928"/>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56B698B9-A9BD-4D96-B646-D391A8142704}" type="slidenum">
              <a:rPr lang="en-US" smtClean="0"/>
              <a:t>171</a:t>
            </a:fld>
            <a:endParaRPr lang="en-US"/>
          </a:p>
        </p:txBody>
      </p:sp>
    </p:spTree>
    <p:extLst>
      <p:ext uri="{BB962C8B-B14F-4D97-AF65-F5344CB8AC3E}">
        <p14:creationId xmlns:p14="http://schemas.microsoft.com/office/powerpoint/2010/main" val="120737528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7703F9D-B47C-5CA2-D8EE-20FDC964EC6D}"/>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32766F35-18B3-1431-4105-1357F6A62843}"/>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A7EAA2AB-CB8B-C4F2-22BC-5C48C7EC70D7}"/>
              </a:ext>
            </a:extLst>
          </p:cNvPr>
          <p:cNvSpPr>
            <a:spLocks noGrp="1"/>
          </p:cNvSpPr>
          <p:nvPr>
            <p:ph type="dt" sz="half" idx="10"/>
          </p:nvPr>
        </p:nvSpPr>
        <p:spPr/>
        <p:txBody>
          <a:bodyPr/>
          <a:lstStyle/>
          <a:p>
            <a:fld id="{988FA9F3-304D-4CFD-BB7A-1F12D6E0693F}" type="datetimeFigureOut">
              <a:rPr lang="en-US" smtClean="0"/>
              <a:t>8/17/2026</a:t>
            </a:fld>
            <a:endParaRPr lang="en-US"/>
          </a:p>
        </p:txBody>
      </p:sp>
      <p:sp>
        <p:nvSpPr>
          <p:cNvPr id="5" name="Footer Placeholder 4">
            <a:extLst>
              <a:ext uri="{FF2B5EF4-FFF2-40B4-BE49-F238E27FC236}">
                <a16:creationId xmlns:a16="http://schemas.microsoft.com/office/drawing/2014/main" id="{6ADFEBCD-0773-B504-31C1-A98DCDCC7752}"/>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464652A7-7918-7E70-4480-257E55CC2266}"/>
              </a:ext>
            </a:extLst>
          </p:cNvPr>
          <p:cNvSpPr>
            <a:spLocks noGrp="1"/>
          </p:cNvSpPr>
          <p:nvPr>
            <p:ph type="sldNum" sz="quarter" idx="12"/>
          </p:nvPr>
        </p:nvSpPr>
        <p:spPr/>
        <p:txBody>
          <a:bodyPr/>
          <a:lstStyle/>
          <a:p>
            <a:fld id="{E8FC7173-7C84-4120-8592-C86F9C8F53D4}" type="slidenum">
              <a:rPr lang="en-US" smtClean="0"/>
              <a:t>‹#›</a:t>
            </a:fld>
            <a:endParaRPr lang="en-US"/>
          </a:p>
        </p:txBody>
      </p:sp>
    </p:spTree>
    <p:extLst>
      <p:ext uri="{BB962C8B-B14F-4D97-AF65-F5344CB8AC3E}">
        <p14:creationId xmlns:p14="http://schemas.microsoft.com/office/powerpoint/2010/main" val="351800763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ECF1CFA-80B8-DBAC-8D4A-780EE4A0E4B3}"/>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DF0A467F-F01B-E5D4-1CE4-6F1848441745}"/>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95F1A96-45D4-D12A-7D9B-C2449CEDC123}"/>
              </a:ext>
            </a:extLst>
          </p:cNvPr>
          <p:cNvSpPr>
            <a:spLocks noGrp="1"/>
          </p:cNvSpPr>
          <p:nvPr>
            <p:ph type="dt" sz="half" idx="10"/>
          </p:nvPr>
        </p:nvSpPr>
        <p:spPr/>
        <p:txBody>
          <a:bodyPr/>
          <a:lstStyle/>
          <a:p>
            <a:fld id="{988FA9F3-304D-4CFD-BB7A-1F12D6E0693F}" type="datetimeFigureOut">
              <a:rPr lang="en-US" smtClean="0"/>
              <a:t>8/17/2026</a:t>
            </a:fld>
            <a:endParaRPr lang="en-US"/>
          </a:p>
        </p:txBody>
      </p:sp>
      <p:sp>
        <p:nvSpPr>
          <p:cNvPr id="5" name="Footer Placeholder 4">
            <a:extLst>
              <a:ext uri="{FF2B5EF4-FFF2-40B4-BE49-F238E27FC236}">
                <a16:creationId xmlns:a16="http://schemas.microsoft.com/office/drawing/2014/main" id="{465FDB33-B62D-90FD-F2E7-2D20078D3498}"/>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3A19CE6A-5C4E-B810-46B8-E07649028880}"/>
              </a:ext>
            </a:extLst>
          </p:cNvPr>
          <p:cNvSpPr>
            <a:spLocks noGrp="1"/>
          </p:cNvSpPr>
          <p:nvPr>
            <p:ph type="sldNum" sz="quarter" idx="12"/>
          </p:nvPr>
        </p:nvSpPr>
        <p:spPr/>
        <p:txBody>
          <a:bodyPr/>
          <a:lstStyle/>
          <a:p>
            <a:fld id="{E8FC7173-7C84-4120-8592-C86F9C8F53D4}" type="slidenum">
              <a:rPr lang="en-US" smtClean="0"/>
              <a:t>‹#›</a:t>
            </a:fld>
            <a:endParaRPr lang="en-US"/>
          </a:p>
        </p:txBody>
      </p:sp>
    </p:spTree>
    <p:extLst>
      <p:ext uri="{BB962C8B-B14F-4D97-AF65-F5344CB8AC3E}">
        <p14:creationId xmlns:p14="http://schemas.microsoft.com/office/powerpoint/2010/main" val="252471870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BEA0393-4D4E-A47E-03A1-B641131C63A5}"/>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917DA321-15FE-45FA-81DB-B54486430E2E}"/>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04CAC7CE-31FC-CBB2-7724-8C36F012935B}"/>
              </a:ext>
            </a:extLst>
          </p:cNvPr>
          <p:cNvSpPr>
            <a:spLocks noGrp="1"/>
          </p:cNvSpPr>
          <p:nvPr>
            <p:ph type="dt" sz="half" idx="10"/>
          </p:nvPr>
        </p:nvSpPr>
        <p:spPr/>
        <p:txBody>
          <a:bodyPr/>
          <a:lstStyle/>
          <a:p>
            <a:fld id="{988FA9F3-304D-4CFD-BB7A-1F12D6E0693F}" type="datetimeFigureOut">
              <a:rPr lang="en-US" smtClean="0"/>
              <a:t>8/17/2026</a:t>
            </a:fld>
            <a:endParaRPr lang="en-US"/>
          </a:p>
        </p:txBody>
      </p:sp>
      <p:sp>
        <p:nvSpPr>
          <p:cNvPr id="5" name="Footer Placeholder 4">
            <a:extLst>
              <a:ext uri="{FF2B5EF4-FFF2-40B4-BE49-F238E27FC236}">
                <a16:creationId xmlns:a16="http://schemas.microsoft.com/office/drawing/2014/main" id="{9AF7CCD2-5C09-C595-9CD3-65230C6CEE84}"/>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925C0278-0745-1847-462F-9F0F68BAB579}"/>
              </a:ext>
            </a:extLst>
          </p:cNvPr>
          <p:cNvSpPr>
            <a:spLocks noGrp="1"/>
          </p:cNvSpPr>
          <p:nvPr>
            <p:ph type="sldNum" sz="quarter" idx="12"/>
          </p:nvPr>
        </p:nvSpPr>
        <p:spPr/>
        <p:txBody>
          <a:bodyPr/>
          <a:lstStyle/>
          <a:p>
            <a:fld id="{E8FC7173-7C84-4120-8592-C86F9C8F53D4}" type="slidenum">
              <a:rPr lang="en-US" smtClean="0"/>
              <a:t>‹#›</a:t>
            </a:fld>
            <a:endParaRPr lang="en-US"/>
          </a:p>
        </p:txBody>
      </p:sp>
    </p:spTree>
    <p:extLst>
      <p:ext uri="{BB962C8B-B14F-4D97-AF65-F5344CB8AC3E}">
        <p14:creationId xmlns:p14="http://schemas.microsoft.com/office/powerpoint/2010/main" val="31361769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6DAE937-409F-60A1-EA2E-A8C9C032B36D}"/>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83A763DF-B87D-E13E-5D51-B7FAF51F3FD0}"/>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054AB5D4-6680-36D4-1F68-CC043F27BABE}"/>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1F2FD98B-7F32-BE65-93AB-4533BE2C0211}"/>
              </a:ext>
            </a:extLst>
          </p:cNvPr>
          <p:cNvSpPr>
            <a:spLocks noGrp="1"/>
          </p:cNvSpPr>
          <p:nvPr>
            <p:ph type="dt" sz="half" idx="10"/>
          </p:nvPr>
        </p:nvSpPr>
        <p:spPr/>
        <p:txBody>
          <a:bodyPr/>
          <a:lstStyle/>
          <a:p>
            <a:fld id="{988FA9F3-304D-4CFD-BB7A-1F12D6E0693F}" type="datetimeFigureOut">
              <a:rPr lang="en-US" smtClean="0"/>
              <a:t>8/17/2026</a:t>
            </a:fld>
            <a:endParaRPr lang="en-US"/>
          </a:p>
        </p:txBody>
      </p:sp>
      <p:sp>
        <p:nvSpPr>
          <p:cNvPr id="6" name="Footer Placeholder 5">
            <a:extLst>
              <a:ext uri="{FF2B5EF4-FFF2-40B4-BE49-F238E27FC236}">
                <a16:creationId xmlns:a16="http://schemas.microsoft.com/office/drawing/2014/main" id="{45BC674C-6270-E630-2582-98A9942B3318}"/>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FC8441A2-7152-985A-5640-6FCFBF1AE3EE}"/>
              </a:ext>
            </a:extLst>
          </p:cNvPr>
          <p:cNvSpPr>
            <a:spLocks noGrp="1"/>
          </p:cNvSpPr>
          <p:nvPr>
            <p:ph type="sldNum" sz="quarter" idx="12"/>
          </p:nvPr>
        </p:nvSpPr>
        <p:spPr/>
        <p:txBody>
          <a:bodyPr/>
          <a:lstStyle/>
          <a:p>
            <a:fld id="{E8FC7173-7C84-4120-8592-C86F9C8F53D4}" type="slidenum">
              <a:rPr lang="en-US" smtClean="0"/>
              <a:t>‹#›</a:t>
            </a:fld>
            <a:endParaRPr lang="en-US"/>
          </a:p>
        </p:txBody>
      </p:sp>
    </p:spTree>
    <p:extLst>
      <p:ext uri="{BB962C8B-B14F-4D97-AF65-F5344CB8AC3E}">
        <p14:creationId xmlns:p14="http://schemas.microsoft.com/office/powerpoint/2010/main" val="272440287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86304D-49CD-6BC9-3B6A-13A881C96091}"/>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B844255E-4EB6-60A3-A7DE-346957DC3B6C}"/>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F4F57F8D-BCD4-5230-7D6E-230A0FF2202E}"/>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E64213EF-DB11-D197-169A-2B4362EDB815}"/>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B373271-94B6-4B74-2EDA-9AB50834C50D}"/>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952F6A10-D23F-4FB7-B331-8CEB65903129}"/>
              </a:ext>
            </a:extLst>
          </p:cNvPr>
          <p:cNvSpPr>
            <a:spLocks noGrp="1"/>
          </p:cNvSpPr>
          <p:nvPr>
            <p:ph type="dt" sz="half" idx="10"/>
          </p:nvPr>
        </p:nvSpPr>
        <p:spPr/>
        <p:txBody>
          <a:bodyPr/>
          <a:lstStyle/>
          <a:p>
            <a:fld id="{988FA9F3-304D-4CFD-BB7A-1F12D6E0693F}" type="datetimeFigureOut">
              <a:rPr lang="en-US" smtClean="0"/>
              <a:t>8/17/2026</a:t>
            </a:fld>
            <a:endParaRPr lang="en-US"/>
          </a:p>
        </p:txBody>
      </p:sp>
      <p:sp>
        <p:nvSpPr>
          <p:cNvPr id="8" name="Footer Placeholder 7">
            <a:extLst>
              <a:ext uri="{FF2B5EF4-FFF2-40B4-BE49-F238E27FC236}">
                <a16:creationId xmlns:a16="http://schemas.microsoft.com/office/drawing/2014/main" id="{BA47633D-DBB7-2D18-16FB-4D28826355C9}"/>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48BDB9E2-4F2F-0E1D-A34F-7DCE529CCA8A}"/>
              </a:ext>
            </a:extLst>
          </p:cNvPr>
          <p:cNvSpPr>
            <a:spLocks noGrp="1"/>
          </p:cNvSpPr>
          <p:nvPr>
            <p:ph type="sldNum" sz="quarter" idx="12"/>
          </p:nvPr>
        </p:nvSpPr>
        <p:spPr/>
        <p:txBody>
          <a:bodyPr/>
          <a:lstStyle/>
          <a:p>
            <a:fld id="{E8FC7173-7C84-4120-8592-C86F9C8F53D4}" type="slidenum">
              <a:rPr lang="en-US" smtClean="0"/>
              <a:t>‹#›</a:t>
            </a:fld>
            <a:endParaRPr lang="en-US"/>
          </a:p>
        </p:txBody>
      </p:sp>
    </p:spTree>
    <p:extLst>
      <p:ext uri="{BB962C8B-B14F-4D97-AF65-F5344CB8AC3E}">
        <p14:creationId xmlns:p14="http://schemas.microsoft.com/office/powerpoint/2010/main" val="421956630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1F6F5AD-FAE2-D035-0AC4-BF0C0AA87942}"/>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4169D5C8-F7AC-CEF2-5E4C-91943A78843C}"/>
              </a:ext>
            </a:extLst>
          </p:cNvPr>
          <p:cNvSpPr>
            <a:spLocks noGrp="1"/>
          </p:cNvSpPr>
          <p:nvPr>
            <p:ph type="dt" sz="half" idx="10"/>
          </p:nvPr>
        </p:nvSpPr>
        <p:spPr/>
        <p:txBody>
          <a:bodyPr/>
          <a:lstStyle/>
          <a:p>
            <a:fld id="{988FA9F3-304D-4CFD-BB7A-1F12D6E0693F}" type="datetimeFigureOut">
              <a:rPr lang="en-US" smtClean="0"/>
              <a:t>8/17/2026</a:t>
            </a:fld>
            <a:endParaRPr lang="en-US"/>
          </a:p>
        </p:txBody>
      </p:sp>
      <p:sp>
        <p:nvSpPr>
          <p:cNvPr id="4" name="Footer Placeholder 3">
            <a:extLst>
              <a:ext uri="{FF2B5EF4-FFF2-40B4-BE49-F238E27FC236}">
                <a16:creationId xmlns:a16="http://schemas.microsoft.com/office/drawing/2014/main" id="{33015F03-4F0B-0394-4368-735FD5B90AD7}"/>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DA3F70A8-BD8A-1E00-D925-B417B73FA2E5}"/>
              </a:ext>
            </a:extLst>
          </p:cNvPr>
          <p:cNvSpPr>
            <a:spLocks noGrp="1"/>
          </p:cNvSpPr>
          <p:nvPr>
            <p:ph type="sldNum" sz="quarter" idx="12"/>
          </p:nvPr>
        </p:nvSpPr>
        <p:spPr/>
        <p:txBody>
          <a:bodyPr/>
          <a:lstStyle/>
          <a:p>
            <a:fld id="{E8FC7173-7C84-4120-8592-C86F9C8F53D4}" type="slidenum">
              <a:rPr lang="en-US" smtClean="0"/>
              <a:t>‹#›</a:t>
            </a:fld>
            <a:endParaRPr lang="en-US"/>
          </a:p>
        </p:txBody>
      </p:sp>
    </p:spTree>
    <p:extLst>
      <p:ext uri="{BB962C8B-B14F-4D97-AF65-F5344CB8AC3E}">
        <p14:creationId xmlns:p14="http://schemas.microsoft.com/office/powerpoint/2010/main" val="275135963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6F775C57-9506-0656-7A7E-56FEF3EBAFFD}"/>
              </a:ext>
            </a:extLst>
          </p:cNvPr>
          <p:cNvSpPr>
            <a:spLocks noGrp="1"/>
          </p:cNvSpPr>
          <p:nvPr>
            <p:ph type="dt" sz="half" idx="10"/>
          </p:nvPr>
        </p:nvSpPr>
        <p:spPr/>
        <p:txBody>
          <a:bodyPr/>
          <a:lstStyle/>
          <a:p>
            <a:fld id="{988FA9F3-304D-4CFD-BB7A-1F12D6E0693F}" type="datetimeFigureOut">
              <a:rPr lang="en-US" smtClean="0"/>
              <a:t>8/17/2026</a:t>
            </a:fld>
            <a:endParaRPr lang="en-US"/>
          </a:p>
        </p:txBody>
      </p:sp>
      <p:sp>
        <p:nvSpPr>
          <p:cNvPr id="3" name="Footer Placeholder 2">
            <a:extLst>
              <a:ext uri="{FF2B5EF4-FFF2-40B4-BE49-F238E27FC236}">
                <a16:creationId xmlns:a16="http://schemas.microsoft.com/office/drawing/2014/main" id="{EF2F1FCD-4D82-CD27-4604-44B67372F57E}"/>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D334D002-E164-BC61-9437-F5B7FA9D5445}"/>
              </a:ext>
            </a:extLst>
          </p:cNvPr>
          <p:cNvSpPr>
            <a:spLocks noGrp="1"/>
          </p:cNvSpPr>
          <p:nvPr>
            <p:ph type="sldNum" sz="quarter" idx="12"/>
          </p:nvPr>
        </p:nvSpPr>
        <p:spPr/>
        <p:txBody>
          <a:bodyPr/>
          <a:lstStyle/>
          <a:p>
            <a:fld id="{E8FC7173-7C84-4120-8592-C86F9C8F53D4}" type="slidenum">
              <a:rPr lang="en-US" smtClean="0"/>
              <a:t>‹#›</a:t>
            </a:fld>
            <a:endParaRPr lang="en-US"/>
          </a:p>
        </p:txBody>
      </p:sp>
    </p:spTree>
    <p:extLst>
      <p:ext uri="{BB962C8B-B14F-4D97-AF65-F5344CB8AC3E}">
        <p14:creationId xmlns:p14="http://schemas.microsoft.com/office/powerpoint/2010/main" val="331448838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B65FAD-DD55-6AB5-8A7D-DA5E1D74CDA8}"/>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857C980E-54BE-B2DF-D4A3-0FED74C5B75A}"/>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86E07491-8916-9EAB-3360-7881C8CF8A7E}"/>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D30DF8BB-7BB5-BD13-DAE3-9B4A3E73A79D}"/>
              </a:ext>
            </a:extLst>
          </p:cNvPr>
          <p:cNvSpPr>
            <a:spLocks noGrp="1"/>
          </p:cNvSpPr>
          <p:nvPr>
            <p:ph type="dt" sz="half" idx="10"/>
          </p:nvPr>
        </p:nvSpPr>
        <p:spPr/>
        <p:txBody>
          <a:bodyPr/>
          <a:lstStyle/>
          <a:p>
            <a:fld id="{988FA9F3-304D-4CFD-BB7A-1F12D6E0693F}" type="datetimeFigureOut">
              <a:rPr lang="en-US" smtClean="0"/>
              <a:t>8/17/2026</a:t>
            </a:fld>
            <a:endParaRPr lang="en-US"/>
          </a:p>
        </p:txBody>
      </p:sp>
      <p:sp>
        <p:nvSpPr>
          <p:cNvPr id="6" name="Footer Placeholder 5">
            <a:extLst>
              <a:ext uri="{FF2B5EF4-FFF2-40B4-BE49-F238E27FC236}">
                <a16:creationId xmlns:a16="http://schemas.microsoft.com/office/drawing/2014/main" id="{425701E9-0274-42B9-7450-17DBAE409BF3}"/>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532670AF-2D1A-BCBC-5707-B50531E6D2F7}"/>
              </a:ext>
            </a:extLst>
          </p:cNvPr>
          <p:cNvSpPr>
            <a:spLocks noGrp="1"/>
          </p:cNvSpPr>
          <p:nvPr>
            <p:ph type="sldNum" sz="quarter" idx="12"/>
          </p:nvPr>
        </p:nvSpPr>
        <p:spPr/>
        <p:txBody>
          <a:bodyPr/>
          <a:lstStyle/>
          <a:p>
            <a:fld id="{E8FC7173-7C84-4120-8592-C86F9C8F53D4}" type="slidenum">
              <a:rPr lang="en-US" smtClean="0"/>
              <a:t>‹#›</a:t>
            </a:fld>
            <a:endParaRPr lang="en-US"/>
          </a:p>
        </p:txBody>
      </p:sp>
    </p:spTree>
    <p:extLst>
      <p:ext uri="{BB962C8B-B14F-4D97-AF65-F5344CB8AC3E}">
        <p14:creationId xmlns:p14="http://schemas.microsoft.com/office/powerpoint/2010/main" val="69566905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F25BB65-A110-0AE1-EEF5-0BAF8E2E7A49}"/>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A9F23694-555E-958D-0012-F4574B882126}"/>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0FCF7710-4386-79C8-28F8-009BDC1AEF94}"/>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FCA38ED6-0656-A8E8-BD3B-E6F4219A701A}"/>
              </a:ext>
            </a:extLst>
          </p:cNvPr>
          <p:cNvSpPr>
            <a:spLocks noGrp="1"/>
          </p:cNvSpPr>
          <p:nvPr>
            <p:ph type="dt" sz="half" idx="10"/>
          </p:nvPr>
        </p:nvSpPr>
        <p:spPr/>
        <p:txBody>
          <a:bodyPr/>
          <a:lstStyle/>
          <a:p>
            <a:fld id="{988FA9F3-304D-4CFD-BB7A-1F12D6E0693F}" type="datetimeFigureOut">
              <a:rPr lang="en-US" smtClean="0"/>
              <a:t>8/17/2026</a:t>
            </a:fld>
            <a:endParaRPr lang="en-US"/>
          </a:p>
        </p:txBody>
      </p:sp>
      <p:sp>
        <p:nvSpPr>
          <p:cNvPr id="6" name="Footer Placeholder 5">
            <a:extLst>
              <a:ext uri="{FF2B5EF4-FFF2-40B4-BE49-F238E27FC236}">
                <a16:creationId xmlns:a16="http://schemas.microsoft.com/office/drawing/2014/main" id="{5B32866E-B957-7ABA-C181-A1AED6E28B3B}"/>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4ED57A62-9ED9-8743-B54B-7E4B53A6238A}"/>
              </a:ext>
            </a:extLst>
          </p:cNvPr>
          <p:cNvSpPr>
            <a:spLocks noGrp="1"/>
          </p:cNvSpPr>
          <p:nvPr>
            <p:ph type="sldNum" sz="quarter" idx="12"/>
          </p:nvPr>
        </p:nvSpPr>
        <p:spPr/>
        <p:txBody>
          <a:bodyPr/>
          <a:lstStyle/>
          <a:p>
            <a:fld id="{E8FC7173-7C84-4120-8592-C86F9C8F53D4}" type="slidenum">
              <a:rPr lang="en-US" smtClean="0"/>
              <a:t>‹#›</a:t>
            </a:fld>
            <a:endParaRPr lang="en-US"/>
          </a:p>
        </p:txBody>
      </p:sp>
    </p:spTree>
    <p:extLst>
      <p:ext uri="{BB962C8B-B14F-4D97-AF65-F5344CB8AC3E}">
        <p14:creationId xmlns:p14="http://schemas.microsoft.com/office/powerpoint/2010/main" val="293201922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DCEC2A5-D2C2-1E70-648D-D1FE9F1C7F36}"/>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D11B108E-B2E3-E813-AF6A-02F937E62543}"/>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6AD0DDA8-4897-03B8-073F-DD331A3A171D}"/>
              </a:ext>
            </a:extLst>
          </p:cNvPr>
          <p:cNvSpPr>
            <a:spLocks noGrp="1"/>
          </p:cNvSpPr>
          <p:nvPr>
            <p:ph type="dt" sz="half" idx="10"/>
          </p:nvPr>
        </p:nvSpPr>
        <p:spPr/>
        <p:txBody>
          <a:bodyPr/>
          <a:lstStyle/>
          <a:p>
            <a:fld id="{988FA9F3-304D-4CFD-BB7A-1F12D6E0693F}" type="datetimeFigureOut">
              <a:rPr lang="en-US" smtClean="0"/>
              <a:t>8/17/2026</a:t>
            </a:fld>
            <a:endParaRPr lang="en-US"/>
          </a:p>
        </p:txBody>
      </p:sp>
      <p:sp>
        <p:nvSpPr>
          <p:cNvPr id="5" name="Footer Placeholder 4">
            <a:extLst>
              <a:ext uri="{FF2B5EF4-FFF2-40B4-BE49-F238E27FC236}">
                <a16:creationId xmlns:a16="http://schemas.microsoft.com/office/drawing/2014/main" id="{62CB6612-6054-B50F-394D-BFCC5229D56A}"/>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08BCCB82-2C9C-A47E-DB11-48CAA0E46D36}"/>
              </a:ext>
            </a:extLst>
          </p:cNvPr>
          <p:cNvSpPr>
            <a:spLocks noGrp="1"/>
          </p:cNvSpPr>
          <p:nvPr>
            <p:ph type="sldNum" sz="quarter" idx="12"/>
          </p:nvPr>
        </p:nvSpPr>
        <p:spPr/>
        <p:txBody>
          <a:bodyPr/>
          <a:lstStyle/>
          <a:p>
            <a:fld id="{E8FC7173-7C84-4120-8592-C86F9C8F53D4}" type="slidenum">
              <a:rPr lang="en-US" smtClean="0"/>
              <a:t>‹#›</a:t>
            </a:fld>
            <a:endParaRPr lang="en-US"/>
          </a:p>
        </p:txBody>
      </p:sp>
    </p:spTree>
    <p:extLst>
      <p:ext uri="{BB962C8B-B14F-4D97-AF65-F5344CB8AC3E}">
        <p14:creationId xmlns:p14="http://schemas.microsoft.com/office/powerpoint/2010/main" val="271964256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248A2404-467D-D117-9D2E-9B19298E49CB}"/>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6D611D5D-5A41-59BE-BBC8-CBC4AB27A93F}"/>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3BF529BD-7086-090D-C88B-93DF6D332D47}"/>
              </a:ext>
            </a:extLst>
          </p:cNvPr>
          <p:cNvSpPr>
            <a:spLocks noGrp="1"/>
          </p:cNvSpPr>
          <p:nvPr>
            <p:ph type="dt" sz="half" idx="10"/>
          </p:nvPr>
        </p:nvSpPr>
        <p:spPr/>
        <p:txBody>
          <a:bodyPr/>
          <a:lstStyle/>
          <a:p>
            <a:fld id="{988FA9F3-304D-4CFD-BB7A-1F12D6E0693F}" type="datetimeFigureOut">
              <a:rPr lang="en-US" smtClean="0"/>
              <a:t>8/17/2026</a:t>
            </a:fld>
            <a:endParaRPr lang="en-US"/>
          </a:p>
        </p:txBody>
      </p:sp>
      <p:sp>
        <p:nvSpPr>
          <p:cNvPr id="5" name="Footer Placeholder 4">
            <a:extLst>
              <a:ext uri="{FF2B5EF4-FFF2-40B4-BE49-F238E27FC236}">
                <a16:creationId xmlns:a16="http://schemas.microsoft.com/office/drawing/2014/main" id="{636084D4-7A21-0D8F-A175-813C4512F1FD}"/>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1B4FC142-B3CE-A659-D951-CFC80DDBA8E8}"/>
              </a:ext>
            </a:extLst>
          </p:cNvPr>
          <p:cNvSpPr>
            <a:spLocks noGrp="1"/>
          </p:cNvSpPr>
          <p:nvPr>
            <p:ph type="sldNum" sz="quarter" idx="12"/>
          </p:nvPr>
        </p:nvSpPr>
        <p:spPr/>
        <p:txBody>
          <a:bodyPr/>
          <a:lstStyle/>
          <a:p>
            <a:fld id="{E8FC7173-7C84-4120-8592-C86F9C8F53D4}" type="slidenum">
              <a:rPr lang="en-US" smtClean="0"/>
              <a:t>‹#›</a:t>
            </a:fld>
            <a:endParaRPr lang="en-US"/>
          </a:p>
        </p:txBody>
      </p:sp>
    </p:spTree>
    <p:extLst>
      <p:ext uri="{BB962C8B-B14F-4D97-AF65-F5344CB8AC3E}">
        <p14:creationId xmlns:p14="http://schemas.microsoft.com/office/powerpoint/2010/main" val="37936836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cSld name="DEFAULT">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4877653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457200" y="1420283"/>
            <a:ext cx="5181600" cy="980017"/>
          </a:xfrm>
        </p:spPr>
        <p:txBody>
          <a:bodyPr/>
          <a:lstStyle/>
          <a:p>
            <a:r>
              <a:rPr lang="en-US"/>
              <a:t>Click to edit Master title style</a:t>
            </a:r>
          </a:p>
        </p:txBody>
      </p:sp>
      <p:sp>
        <p:nvSpPr>
          <p:cNvPr id="3" name="Subtitle 2"/>
          <p:cNvSpPr>
            <a:spLocks noGrp="1"/>
          </p:cNvSpPr>
          <p:nvPr>
            <p:ph type="subTitle" idx="1"/>
          </p:nvPr>
        </p:nvSpPr>
        <p:spPr>
          <a:xfrm>
            <a:off x="914400" y="2590800"/>
            <a:ext cx="4267200" cy="1168400"/>
          </a:xfrm>
        </p:spPr>
        <p:txBody>
          <a:bodyPr/>
          <a:lstStyle>
            <a:lvl1pPr marL="0" indent="0" algn="ctr">
              <a:buNone/>
              <a:defRPr>
                <a:solidFill>
                  <a:schemeClr val="tx1">
                    <a:tint val="75000"/>
                  </a:schemeClr>
                </a:solidFill>
              </a:defRPr>
            </a:lvl1pPr>
            <a:lvl2pPr marL="304815" indent="0" algn="ctr">
              <a:buNone/>
              <a:defRPr>
                <a:solidFill>
                  <a:schemeClr val="tx1">
                    <a:tint val="75000"/>
                  </a:schemeClr>
                </a:solidFill>
              </a:defRPr>
            </a:lvl2pPr>
            <a:lvl3pPr marL="609630" indent="0" algn="ctr">
              <a:buNone/>
              <a:defRPr>
                <a:solidFill>
                  <a:schemeClr val="tx1">
                    <a:tint val="75000"/>
                  </a:schemeClr>
                </a:solidFill>
              </a:defRPr>
            </a:lvl3pPr>
            <a:lvl4pPr marL="914446" indent="0" algn="ctr">
              <a:buNone/>
              <a:defRPr>
                <a:solidFill>
                  <a:schemeClr val="tx1">
                    <a:tint val="75000"/>
                  </a:schemeClr>
                </a:solidFill>
              </a:defRPr>
            </a:lvl4pPr>
            <a:lvl5pPr marL="1219261" indent="0" algn="ctr">
              <a:buNone/>
              <a:defRPr>
                <a:solidFill>
                  <a:schemeClr val="tx1">
                    <a:tint val="75000"/>
                  </a:schemeClr>
                </a:solidFill>
              </a:defRPr>
            </a:lvl5pPr>
            <a:lvl6pPr marL="1524076" indent="0" algn="ctr">
              <a:buNone/>
              <a:defRPr>
                <a:solidFill>
                  <a:schemeClr val="tx1">
                    <a:tint val="75000"/>
                  </a:schemeClr>
                </a:solidFill>
              </a:defRPr>
            </a:lvl6pPr>
            <a:lvl7pPr marL="1828891" indent="0" algn="ctr">
              <a:buNone/>
              <a:defRPr>
                <a:solidFill>
                  <a:schemeClr val="tx1">
                    <a:tint val="75000"/>
                  </a:schemeClr>
                </a:solidFill>
              </a:defRPr>
            </a:lvl7pPr>
            <a:lvl8pPr marL="2133707" indent="0" algn="ctr">
              <a:buNone/>
              <a:defRPr>
                <a:solidFill>
                  <a:schemeClr val="tx1">
                    <a:tint val="75000"/>
                  </a:schemeClr>
                </a:solidFill>
              </a:defRPr>
            </a:lvl8pPr>
            <a:lvl9pPr marL="2438522"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1D8BD707-D9CF-40AE-B4C6-C98DA3205C09}" type="datetimeFigureOut">
              <a:rPr lang="en-US" smtClean="0"/>
              <a:pPr/>
              <a:t>8/17/2026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79628819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1D8BD707-D9CF-40AE-B4C6-C98DA3205C09}" type="datetimeFigureOut">
              <a:rPr lang="en-US" smtClean="0"/>
              <a:pPr/>
              <a:t>8/17/2026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54195856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81542" y="2937934"/>
            <a:ext cx="5181600" cy="908050"/>
          </a:xfrm>
        </p:spPr>
        <p:txBody>
          <a:bodyPr anchor="t"/>
          <a:lstStyle>
            <a:lvl1pPr algn="l">
              <a:defRPr sz="2667" b="1" cap="all"/>
            </a:lvl1pPr>
          </a:lstStyle>
          <a:p>
            <a:r>
              <a:rPr lang="en-US"/>
              <a:t>Click to edit Master title style</a:t>
            </a:r>
          </a:p>
        </p:txBody>
      </p:sp>
      <p:sp>
        <p:nvSpPr>
          <p:cNvPr id="3" name="Text Placeholder 2"/>
          <p:cNvSpPr>
            <a:spLocks noGrp="1"/>
          </p:cNvSpPr>
          <p:nvPr>
            <p:ph type="body" idx="1"/>
          </p:nvPr>
        </p:nvSpPr>
        <p:spPr>
          <a:xfrm>
            <a:off x="481542" y="1937809"/>
            <a:ext cx="5181600" cy="1000125"/>
          </a:xfrm>
        </p:spPr>
        <p:txBody>
          <a:bodyPr anchor="b"/>
          <a:lstStyle>
            <a:lvl1pPr marL="0" indent="0">
              <a:buNone/>
              <a:defRPr sz="1333">
                <a:solidFill>
                  <a:schemeClr val="tx1">
                    <a:tint val="75000"/>
                  </a:schemeClr>
                </a:solidFill>
              </a:defRPr>
            </a:lvl1pPr>
            <a:lvl2pPr marL="304815" indent="0">
              <a:buNone/>
              <a:defRPr sz="1200">
                <a:solidFill>
                  <a:schemeClr val="tx1">
                    <a:tint val="75000"/>
                  </a:schemeClr>
                </a:solidFill>
              </a:defRPr>
            </a:lvl2pPr>
            <a:lvl3pPr marL="609630" indent="0">
              <a:buNone/>
              <a:defRPr sz="1067">
                <a:solidFill>
                  <a:schemeClr val="tx1">
                    <a:tint val="75000"/>
                  </a:schemeClr>
                </a:solidFill>
              </a:defRPr>
            </a:lvl3pPr>
            <a:lvl4pPr marL="914446" indent="0">
              <a:buNone/>
              <a:defRPr sz="933">
                <a:solidFill>
                  <a:schemeClr val="tx1">
                    <a:tint val="75000"/>
                  </a:schemeClr>
                </a:solidFill>
              </a:defRPr>
            </a:lvl4pPr>
            <a:lvl5pPr marL="1219261" indent="0">
              <a:buNone/>
              <a:defRPr sz="933">
                <a:solidFill>
                  <a:schemeClr val="tx1">
                    <a:tint val="75000"/>
                  </a:schemeClr>
                </a:solidFill>
              </a:defRPr>
            </a:lvl5pPr>
            <a:lvl6pPr marL="1524076" indent="0">
              <a:buNone/>
              <a:defRPr sz="933">
                <a:solidFill>
                  <a:schemeClr val="tx1">
                    <a:tint val="75000"/>
                  </a:schemeClr>
                </a:solidFill>
              </a:defRPr>
            </a:lvl6pPr>
            <a:lvl7pPr marL="1828891" indent="0">
              <a:buNone/>
              <a:defRPr sz="933">
                <a:solidFill>
                  <a:schemeClr val="tx1">
                    <a:tint val="75000"/>
                  </a:schemeClr>
                </a:solidFill>
              </a:defRPr>
            </a:lvl7pPr>
            <a:lvl8pPr marL="2133707" indent="0">
              <a:buNone/>
              <a:defRPr sz="933">
                <a:solidFill>
                  <a:schemeClr val="tx1">
                    <a:tint val="75000"/>
                  </a:schemeClr>
                </a:solidFill>
              </a:defRPr>
            </a:lvl8pPr>
            <a:lvl9pPr marL="2438522" indent="0">
              <a:buNone/>
              <a:defRPr sz="933">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1D8BD707-D9CF-40AE-B4C6-C98DA3205C09}" type="datetimeFigureOut">
              <a:rPr lang="en-US" smtClean="0"/>
              <a:pPr/>
              <a:t>8/17/2026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3445087882"/>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304800" y="1066800"/>
            <a:ext cx="2692400" cy="3017309"/>
          </a:xfrm>
        </p:spPr>
        <p:txBody>
          <a:bodyPr/>
          <a:lstStyle>
            <a:lvl1pPr>
              <a:defRPr sz="1867"/>
            </a:lvl1pPr>
            <a:lvl2pPr>
              <a:defRPr sz="1600"/>
            </a:lvl2pPr>
            <a:lvl3pPr>
              <a:defRPr sz="1333"/>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3098800" y="1066800"/>
            <a:ext cx="2692400" cy="3017309"/>
          </a:xfrm>
        </p:spPr>
        <p:txBody>
          <a:bodyPr/>
          <a:lstStyle>
            <a:lvl1pPr>
              <a:defRPr sz="1867"/>
            </a:lvl1pPr>
            <a:lvl2pPr>
              <a:defRPr sz="1600"/>
            </a:lvl2pPr>
            <a:lvl3pPr>
              <a:defRPr sz="1333"/>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1D8BD707-D9CF-40AE-B4C6-C98DA3205C09}" type="datetimeFigureOut">
              <a:rPr lang="en-US" smtClean="0"/>
              <a:pPr/>
              <a:t>8/17/2026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955064488"/>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304800" y="1023409"/>
            <a:ext cx="2693459" cy="426508"/>
          </a:xfrm>
        </p:spPr>
        <p:txBody>
          <a:bodyPr anchor="b"/>
          <a:lstStyle>
            <a:lvl1pPr marL="0" indent="0">
              <a:buNone/>
              <a:defRPr sz="1600" b="1"/>
            </a:lvl1pPr>
            <a:lvl2pPr marL="304815" indent="0">
              <a:buNone/>
              <a:defRPr sz="1333" b="1"/>
            </a:lvl2pPr>
            <a:lvl3pPr marL="609630" indent="0">
              <a:buNone/>
              <a:defRPr sz="1200" b="1"/>
            </a:lvl3pPr>
            <a:lvl4pPr marL="914446" indent="0">
              <a:buNone/>
              <a:defRPr sz="1067" b="1"/>
            </a:lvl4pPr>
            <a:lvl5pPr marL="1219261" indent="0">
              <a:buNone/>
              <a:defRPr sz="1067" b="1"/>
            </a:lvl5pPr>
            <a:lvl6pPr marL="1524076" indent="0">
              <a:buNone/>
              <a:defRPr sz="1067" b="1"/>
            </a:lvl6pPr>
            <a:lvl7pPr marL="1828891" indent="0">
              <a:buNone/>
              <a:defRPr sz="1067" b="1"/>
            </a:lvl7pPr>
            <a:lvl8pPr marL="2133707" indent="0">
              <a:buNone/>
              <a:defRPr sz="1067" b="1"/>
            </a:lvl8pPr>
            <a:lvl9pPr marL="2438522" indent="0">
              <a:buNone/>
              <a:defRPr sz="1067" b="1"/>
            </a:lvl9pPr>
          </a:lstStyle>
          <a:p>
            <a:pPr lvl="0"/>
            <a:r>
              <a:rPr lang="en-US"/>
              <a:t>Click to edit Master text styles</a:t>
            </a:r>
          </a:p>
        </p:txBody>
      </p:sp>
      <p:sp>
        <p:nvSpPr>
          <p:cNvPr id="4" name="Content Placeholder 3"/>
          <p:cNvSpPr>
            <a:spLocks noGrp="1"/>
          </p:cNvSpPr>
          <p:nvPr>
            <p:ph sz="half" idx="2"/>
          </p:nvPr>
        </p:nvSpPr>
        <p:spPr>
          <a:xfrm>
            <a:off x="304800" y="1449917"/>
            <a:ext cx="2693459" cy="2634192"/>
          </a:xfrm>
        </p:spPr>
        <p:txBody>
          <a:bodyPr/>
          <a:lstStyle>
            <a:lvl1pPr>
              <a:defRPr sz="1600"/>
            </a:lvl1pPr>
            <a:lvl2pPr>
              <a:defRPr sz="1333"/>
            </a:lvl2pPr>
            <a:lvl3pPr>
              <a:defRPr sz="1200"/>
            </a:lvl3pPr>
            <a:lvl4pPr>
              <a:defRPr sz="1067"/>
            </a:lvl4pPr>
            <a:lvl5pPr>
              <a:defRPr sz="1067"/>
            </a:lvl5pPr>
            <a:lvl6pPr>
              <a:defRPr sz="1067"/>
            </a:lvl6pPr>
            <a:lvl7pPr>
              <a:defRPr sz="1067"/>
            </a:lvl7pPr>
            <a:lvl8pPr>
              <a:defRPr sz="1067"/>
            </a:lvl8pPr>
            <a:lvl9pPr>
              <a:defRPr sz="1067"/>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3096684" y="1023409"/>
            <a:ext cx="2694517" cy="426508"/>
          </a:xfrm>
        </p:spPr>
        <p:txBody>
          <a:bodyPr anchor="b"/>
          <a:lstStyle>
            <a:lvl1pPr marL="0" indent="0">
              <a:buNone/>
              <a:defRPr sz="1600" b="1"/>
            </a:lvl1pPr>
            <a:lvl2pPr marL="304815" indent="0">
              <a:buNone/>
              <a:defRPr sz="1333" b="1"/>
            </a:lvl2pPr>
            <a:lvl3pPr marL="609630" indent="0">
              <a:buNone/>
              <a:defRPr sz="1200" b="1"/>
            </a:lvl3pPr>
            <a:lvl4pPr marL="914446" indent="0">
              <a:buNone/>
              <a:defRPr sz="1067" b="1"/>
            </a:lvl4pPr>
            <a:lvl5pPr marL="1219261" indent="0">
              <a:buNone/>
              <a:defRPr sz="1067" b="1"/>
            </a:lvl5pPr>
            <a:lvl6pPr marL="1524076" indent="0">
              <a:buNone/>
              <a:defRPr sz="1067" b="1"/>
            </a:lvl6pPr>
            <a:lvl7pPr marL="1828891" indent="0">
              <a:buNone/>
              <a:defRPr sz="1067" b="1"/>
            </a:lvl7pPr>
            <a:lvl8pPr marL="2133707" indent="0">
              <a:buNone/>
              <a:defRPr sz="1067" b="1"/>
            </a:lvl8pPr>
            <a:lvl9pPr marL="2438522" indent="0">
              <a:buNone/>
              <a:defRPr sz="1067" b="1"/>
            </a:lvl9pPr>
          </a:lstStyle>
          <a:p>
            <a:pPr lvl="0"/>
            <a:r>
              <a:rPr lang="en-US"/>
              <a:t>Click to edit Master text styles</a:t>
            </a:r>
          </a:p>
        </p:txBody>
      </p:sp>
      <p:sp>
        <p:nvSpPr>
          <p:cNvPr id="6" name="Content Placeholder 5"/>
          <p:cNvSpPr>
            <a:spLocks noGrp="1"/>
          </p:cNvSpPr>
          <p:nvPr>
            <p:ph sz="quarter" idx="4"/>
          </p:nvPr>
        </p:nvSpPr>
        <p:spPr>
          <a:xfrm>
            <a:off x="3096684" y="1449917"/>
            <a:ext cx="2694517" cy="2634192"/>
          </a:xfrm>
        </p:spPr>
        <p:txBody>
          <a:bodyPr/>
          <a:lstStyle>
            <a:lvl1pPr>
              <a:defRPr sz="1600"/>
            </a:lvl1pPr>
            <a:lvl2pPr>
              <a:defRPr sz="1333"/>
            </a:lvl2pPr>
            <a:lvl3pPr>
              <a:defRPr sz="1200"/>
            </a:lvl3pPr>
            <a:lvl4pPr>
              <a:defRPr sz="1067"/>
            </a:lvl4pPr>
            <a:lvl5pPr>
              <a:defRPr sz="1067"/>
            </a:lvl5pPr>
            <a:lvl6pPr>
              <a:defRPr sz="1067"/>
            </a:lvl6pPr>
            <a:lvl7pPr>
              <a:defRPr sz="1067"/>
            </a:lvl7pPr>
            <a:lvl8pPr>
              <a:defRPr sz="1067"/>
            </a:lvl8pPr>
            <a:lvl9pPr>
              <a:defRPr sz="1067"/>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1D8BD707-D9CF-40AE-B4C6-C98DA3205C09}" type="datetimeFigureOut">
              <a:rPr lang="en-US" smtClean="0"/>
              <a:pPr/>
              <a:t>8/17/2026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3522818908"/>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1D8BD707-D9CF-40AE-B4C6-C98DA3205C09}" type="datetimeFigureOut">
              <a:rPr lang="en-US" smtClean="0"/>
              <a:pPr/>
              <a:t>8/17/2026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304553927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1D8BD707-D9CF-40AE-B4C6-C98DA3205C09}" type="datetimeFigureOut">
              <a:rPr lang="en-US" smtClean="0"/>
              <a:pPr/>
              <a:t>8/17/2026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384392386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304800" y="182033"/>
            <a:ext cx="2005542" cy="774700"/>
          </a:xfrm>
        </p:spPr>
        <p:txBody>
          <a:bodyPr anchor="b"/>
          <a:lstStyle>
            <a:lvl1pPr algn="l">
              <a:defRPr sz="1333" b="1"/>
            </a:lvl1pPr>
          </a:lstStyle>
          <a:p>
            <a:r>
              <a:rPr lang="en-US"/>
              <a:t>Click to edit Master title style</a:t>
            </a:r>
          </a:p>
        </p:txBody>
      </p:sp>
      <p:sp>
        <p:nvSpPr>
          <p:cNvPr id="3" name="Content Placeholder 2"/>
          <p:cNvSpPr>
            <a:spLocks noGrp="1"/>
          </p:cNvSpPr>
          <p:nvPr>
            <p:ph idx="1"/>
          </p:nvPr>
        </p:nvSpPr>
        <p:spPr>
          <a:xfrm>
            <a:off x="2383367" y="182034"/>
            <a:ext cx="3407833" cy="3902075"/>
          </a:xfrm>
        </p:spPr>
        <p:txBody>
          <a:bodyPr/>
          <a:lstStyle>
            <a:lvl1pPr>
              <a:defRPr sz="2133"/>
            </a:lvl1pPr>
            <a:lvl2pPr>
              <a:defRPr sz="1867"/>
            </a:lvl2pPr>
            <a:lvl3pPr>
              <a:defRPr sz="1600"/>
            </a:lvl3pPr>
            <a:lvl4pPr>
              <a:defRPr sz="1333"/>
            </a:lvl4pPr>
            <a:lvl5pPr>
              <a:defRPr sz="1333"/>
            </a:lvl5pPr>
            <a:lvl6pPr>
              <a:defRPr sz="1333"/>
            </a:lvl6pPr>
            <a:lvl7pPr>
              <a:defRPr sz="1333"/>
            </a:lvl7pPr>
            <a:lvl8pPr>
              <a:defRPr sz="1333"/>
            </a:lvl8pPr>
            <a:lvl9pPr>
              <a:defRPr sz="133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304800" y="956734"/>
            <a:ext cx="2005542" cy="3127375"/>
          </a:xfrm>
        </p:spPr>
        <p:txBody>
          <a:bodyPr/>
          <a:lstStyle>
            <a:lvl1pPr marL="0" indent="0">
              <a:buNone/>
              <a:defRPr sz="933"/>
            </a:lvl1pPr>
            <a:lvl2pPr marL="304815" indent="0">
              <a:buNone/>
              <a:defRPr sz="800"/>
            </a:lvl2pPr>
            <a:lvl3pPr marL="609630" indent="0">
              <a:buNone/>
              <a:defRPr sz="667"/>
            </a:lvl3pPr>
            <a:lvl4pPr marL="914446" indent="0">
              <a:buNone/>
              <a:defRPr sz="600"/>
            </a:lvl4pPr>
            <a:lvl5pPr marL="1219261" indent="0">
              <a:buNone/>
              <a:defRPr sz="600"/>
            </a:lvl5pPr>
            <a:lvl6pPr marL="1524076" indent="0">
              <a:buNone/>
              <a:defRPr sz="600"/>
            </a:lvl6pPr>
            <a:lvl7pPr marL="1828891" indent="0">
              <a:buNone/>
              <a:defRPr sz="600"/>
            </a:lvl7pPr>
            <a:lvl8pPr marL="2133707" indent="0">
              <a:buNone/>
              <a:defRPr sz="600"/>
            </a:lvl8pPr>
            <a:lvl9pPr marL="2438522" indent="0">
              <a:buNone/>
              <a:defRPr sz="600"/>
            </a:lvl9pPr>
          </a:lstStyle>
          <a:p>
            <a:pPr lvl="0"/>
            <a:r>
              <a:rPr lang="en-US"/>
              <a:t>Click to edit Master text styles</a:t>
            </a:r>
          </a:p>
        </p:txBody>
      </p:sp>
      <p:sp>
        <p:nvSpPr>
          <p:cNvPr id="5" name="Date Placeholder 4"/>
          <p:cNvSpPr>
            <a:spLocks noGrp="1"/>
          </p:cNvSpPr>
          <p:nvPr>
            <p:ph type="dt" sz="half" idx="10"/>
          </p:nvPr>
        </p:nvSpPr>
        <p:spPr/>
        <p:txBody>
          <a:bodyPr/>
          <a:lstStyle/>
          <a:p>
            <a:fld id="{1D8BD707-D9CF-40AE-B4C6-C98DA3205C09}" type="datetimeFigureOut">
              <a:rPr lang="en-US" smtClean="0"/>
              <a:pPr/>
              <a:t>8/17/2026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2923831003"/>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194859" y="3200400"/>
            <a:ext cx="3657600" cy="377825"/>
          </a:xfrm>
        </p:spPr>
        <p:txBody>
          <a:bodyPr anchor="b"/>
          <a:lstStyle>
            <a:lvl1pPr algn="l">
              <a:defRPr sz="1333" b="1"/>
            </a:lvl1pPr>
          </a:lstStyle>
          <a:p>
            <a:r>
              <a:rPr lang="en-US"/>
              <a:t>Click to edit Master title style</a:t>
            </a:r>
          </a:p>
        </p:txBody>
      </p:sp>
      <p:sp>
        <p:nvSpPr>
          <p:cNvPr id="3" name="Picture Placeholder 2"/>
          <p:cNvSpPr>
            <a:spLocks noGrp="1"/>
          </p:cNvSpPr>
          <p:nvPr>
            <p:ph type="pic" idx="1"/>
          </p:nvPr>
        </p:nvSpPr>
        <p:spPr>
          <a:xfrm>
            <a:off x="1194859" y="408517"/>
            <a:ext cx="3657600" cy="2743200"/>
          </a:xfrm>
        </p:spPr>
        <p:txBody>
          <a:bodyPr/>
          <a:lstStyle>
            <a:lvl1pPr marL="0" indent="0">
              <a:buNone/>
              <a:defRPr sz="2133"/>
            </a:lvl1pPr>
            <a:lvl2pPr marL="304815" indent="0">
              <a:buNone/>
              <a:defRPr sz="1867"/>
            </a:lvl2pPr>
            <a:lvl3pPr marL="609630" indent="0">
              <a:buNone/>
              <a:defRPr sz="1600"/>
            </a:lvl3pPr>
            <a:lvl4pPr marL="914446" indent="0">
              <a:buNone/>
              <a:defRPr sz="1333"/>
            </a:lvl4pPr>
            <a:lvl5pPr marL="1219261" indent="0">
              <a:buNone/>
              <a:defRPr sz="1333"/>
            </a:lvl5pPr>
            <a:lvl6pPr marL="1524076" indent="0">
              <a:buNone/>
              <a:defRPr sz="1333"/>
            </a:lvl6pPr>
            <a:lvl7pPr marL="1828891" indent="0">
              <a:buNone/>
              <a:defRPr sz="1333"/>
            </a:lvl7pPr>
            <a:lvl8pPr marL="2133707" indent="0">
              <a:buNone/>
              <a:defRPr sz="1333"/>
            </a:lvl8pPr>
            <a:lvl9pPr marL="2438522" indent="0">
              <a:buNone/>
              <a:defRPr sz="1333"/>
            </a:lvl9pPr>
          </a:lstStyle>
          <a:p>
            <a:endParaRPr lang="en-US"/>
          </a:p>
        </p:txBody>
      </p:sp>
      <p:sp>
        <p:nvSpPr>
          <p:cNvPr id="4" name="Text Placeholder 3"/>
          <p:cNvSpPr>
            <a:spLocks noGrp="1"/>
          </p:cNvSpPr>
          <p:nvPr>
            <p:ph type="body" sz="half" idx="2"/>
          </p:nvPr>
        </p:nvSpPr>
        <p:spPr>
          <a:xfrm>
            <a:off x="1194859" y="3578225"/>
            <a:ext cx="3657600" cy="536575"/>
          </a:xfrm>
        </p:spPr>
        <p:txBody>
          <a:bodyPr/>
          <a:lstStyle>
            <a:lvl1pPr marL="0" indent="0">
              <a:buNone/>
              <a:defRPr sz="933"/>
            </a:lvl1pPr>
            <a:lvl2pPr marL="304815" indent="0">
              <a:buNone/>
              <a:defRPr sz="800"/>
            </a:lvl2pPr>
            <a:lvl3pPr marL="609630" indent="0">
              <a:buNone/>
              <a:defRPr sz="667"/>
            </a:lvl3pPr>
            <a:lvl4pPr marL="914446" indent="0">
              <a:buNone/>
              <a:defRPr sz="600"/>
            </a:lvl4pPr>
            <a:lvl5pPr marL="1219261" indent="0">
              <a:buNone/>
              <a:defRPr sz="600"/>
            </a:lvl5pPr>
            <a:lvl6pPr marL="1524076" indent="0">
              <a:buNone/>
              <a:defRPr sz="600"/>
            </a:lvl6pPr>
            <a:lvl7pPr marL="1828891" indent="0">
              <a:buNone/>
              <a:defRPr sz="600"/>
            </a:lvl7pPr>
            <a:lvl8pPr marL="2133707" indent="0">
              <a:buNone/>
              <a:defRPr sz="600"/>
            </a:lvl8pPr>
            <a:lvl9pPr marL="2438522" indent="0">
              <a:buNone/>
              <a:defRPr sz="600"/>
            </a:lvl9pPr>
          </a:lstStyle>
          <a:p>
            <a:pPr lvl="0"/>
            <a:r>
              <a:rPr lang="en-US"/>
              <a:t>Click to edit Master text styles</a:t>
            </a:r>
          </a:p>
        </p:txBody>
      </p:sp>
      <p:sp>
        <p:nvSpPr>
          <p:cNvPr id="5" name="Date Placeholder 4"/>
          <p:cNvSpPr>
            <a:spLocks noGrp="1"/>
          </p:cNvSpPr>
          <p:nvPr>
            <p:ph type="dt" sz="half" idx="10"/>
          </p:nvPr>
        </p:nvSpPr>
        <p:spPr/>
        <p:txBody>
          <a:bodyPr/>
          <a:lstStyle/>
          <a:p>
            <a:fld id="{1D8BD707-D9CF-40AE-B4C6-C98DA3205C09}" type="datetimeFigureOut">
              <a:rPr lang="en-US" smtClean="0"/>
              <a:pPr/>
              <a:t>8/17/2026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3411807292"/>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1D8BD707-D9CF-40AE-B4C6-C98DA3205C09}" type="datetimeFigureOut">
              <a:rPr lang="en-US" smtClean="0"/>
              <a:pPr/>
              <a:t>8/17/2026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1138249951"/>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4419600" y="183092"/>
            <a:ext cx="1371600" cy="3901017"/>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304800" y="183092"/>
            <a:ext cx="4013200" cy="3901017"/>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1D8BD707-D9CF-40AE-B4C6-C98DA3205C09}" type="datetimeFigureOut">
              <a:rPr lang="en-US" smtClean="0"/>
              <a:pPr/>
              <a:t>8/17/2026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34389311"/>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cSld name="DEFAULT">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29664615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cSld name="CIMORY">
    <p:bg>
      <p:bgPr>
        <a:solidFill>
          <a:srgbClr val="FFFFFF"/>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5640938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1.png"/></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0.xml"/><Relationship Id="rId13" Type="http://schemas.openxmlformats.org/officeDocument/2006/relationships/slideLayout" Target="../slideLayouts/slideLayout25.xml"/><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slideLayout" Target="../slideLayouts/slideLayout24.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 Id="rId14"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6EF757D-28DD-F2F9-10A6-8BF07A0D2E71}"/>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CA68DAD1-9713-BD64-DB34-837FDCB82668}"/>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1BBFFE4A-1E33-6747-03A0-CA8C7BF6079F}"/>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988FA9F3-304D-4CFD-BB7A-1F12D6E0693F}" type="datetimeFigureOut">
              <a:rPr lang="en-US" smtClean="0"/>
              <a:t>8/17/2026</a:t>
            </a:fld>
            <a:endParaRPr lang="en-US"/>
          </a:p>
        </p:txBody>
      </p:sp>
      <p:sp>
        <p:nvSpPr>
          <p:cNvPr id="5" name="Footer Placeholder 4">
            <a:extLst>
              <a:ext uri="{FF2B5EF4-FFF2-40B4-BE49-F238E27FC236}">
                <a16:creationId xmlns:a16="http://schemas.microsoft.com/office/drawing/2014/main" id="{F44A452B-4946-AEFB-D868-86D03D781EF5}"/>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US"/>
          </a:p>
        </p:txBody>
      </p:sp>
      <p:sp>
        <p:nvSpPr>
          <p:cNvPr id="6" name="Slide Number Placeholder 5">
            <a:extLst>
              <a:ext uri="{FF2B5EF4-FFF2-40B4-BE49-F238E27FC236}">
                <a16:creationId xmlns:a16="http://schemas.microsoft.com/office/drawing/2014/main" id="{561685F6-4ACF-F059-60D2-B376459F5C49}"/>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E8FC7173-7C84-4120-8592-C86F9C8F53D4}" type="slidenum">
              <a:rPr lang="en-US" smtClean="0"/>
              <a:t>‹#›</a:t>
            </a:fld>
            <a:endParaRPr lang="en-US"/>
          </a:p>
        </p:txBody>
      </p:sp>
      <p:pic>
        <p:nvPicPr>
          <p:cNvPr id="7" name="Picture 6" descr="A logo with a mountain in the background&#10;&#10;Description automatically generated">
            <a:extLst>
              <a:ext uri="{FF2B5EF4-FFF2-40B4-BE49-F238E27FC236}">
                <a16:creationId xmlns:a16="http://schemas.microsoft.com/office/drawing/2014/main" id="{6A389D3F-0B54-D604-DF74-31AA47CB61AC}"/>
              </a:ext>
            </a:extLst>
          </p:cNvPr>
          <p:cNvPicPr>
            <a:picLocks noChangeAspect="1"/>
          </p:cNvPicPr>
          <p:nvPr userDrawn="1"/>
        </p:nvPicPr>
        <p:blipFill>
          <a:blip r:embed="rId14">
            <a:extLst>
              <a:ext uri="{28A0092B-C50C-407E-A947-70E740481C1C}">
                <a14:useLocalDpi xmlns:a14="http://schemas.microsoft.com/office/drawing/2010/main" val="0"/>
              </a:ext>
            </a:extLst>
          </a:blip>
          <a:stretch>
            <a:fillRect/>
          </a:stretch>
        </p:blipFill>
        <p:spPr>
          <a:xfrm>
            <a:off x="11106129" y="95250"/>
            <a:ext cx="888794" cy="888794"/>
          </a:xfrm>
          <a:prstGeom prst="rect">
            <a:avLst/>
          </a:prstGeom>
        </p:spPr>
      </p:pic>
    </p:spTree>
    <p:extLst>
      <p:ext uri="{BB962C8B-B14F-4D97-AF65-F5344CB8AC3E}">
        <p14:creationId xmlns:p14="http://schemas.microsoft.com/office/powerpoint/2010/main" val="2039480657"/>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87"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304800" y="183092"/>
            <a:ext cx="5486400" cy="762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304800" y="1066800"/>
            <a:ext cx="5486400" cy="301730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304800" y="4237567"/>
            <a:ext cx="1422400" cy="243417"/>
          </a:xfrm>
          <a:prstGeom prst="rect">
            <a:avLst/>
          </a:prstGeom>
        </p:spPr>
        <p:txBody>
          <a:bodyPr vert="horz" lIns="91440" tIns="45720" rIns="91440" bIns="45720" rtlCol="0" anchor="ctr"/>
          <a:lstStyle>
            <a:lvl1pPr algn="l">
              <a:defRPr sz="800">
                <a:solidFill>
                  <a:schemeClr val="tx1">
                    <a:tint val="75000"/>
                  </a:schemeClr>
                </a:solidFill>
              </a:defRPr>
            </a:lvl1pPr>
          </a:lstStyle>
          <a:p>
            <a:fld id="{1D8BD707-D9CF-40AE-B4C6-C98DA3205C09}" type="datetimeFigureOut">
              <a:rPr lang="en-US" smtClean="0"/>
              <a:pPr/>
              <a:t>8/17/2026</a:t>
            </a:fld>
            <a:endParaRPr lang="en-US"/>
          </a:p>
        </p:txBody>
      </p:sp>
      <p:sp>
        <p:nvSpPr>
          <p:cNvPr id="5" name="Footer Placeholder 4"/>
          <p:cNvSpPr>
            <a:spLocks noGrp="1"/>
          </p:cNvSpPr>
          <p:nvPr>
            <p:ph type="ftr" sz="quarter" idx="3"/>
          </p:nvPr>
        </p:nvSpPr>
        <p:spPr>
          <a:xfrm>
            <a:off x="2082800" y="4237567"/>
            <a:ext cx="1930400" cy="243417"/>
          </a:xfrm>
          <a:prstGeom prst="rect">
            <a:avLst/>
          </a:prstGeom>
        </p:spPr>
        <p:txBody>
          <a:bodyPr vert="horz" lIns="91440" tIns="45720" rIns="91440" bIns="45720" rtlCol="0" anchor="ctr"/>
          <a:lstStyle>
            <a:lvl1pPr algn="ctr">
              <a:defRPr sz="8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4368800" y="4237567"/>
            <a:ext cx="1422400" cy="243417"/>
          </a:xfrm>
          <a:prstGeom prst="rect">
            <a:avLst/>
          </a:prstGeom>
        </p:spPr>
        <p:txBody>
          <a:bodyPr vert="horz" lIns="91440" tIns="45720" rIns="91440" bIns="45720" rtlCol="0" anchor="ctr"/>
          <a:lstStyle>
            <a:lvl1pPr algn="r">
              <a:defRPr sz="800">
                <a:solidFill>
                  <a:schemeClr val="tx1">
                    <a:tint val="75000"/>
                  </a:schemeClr>
                </a:solidFill>
              </a:defRPr>
            </a:lvl1pPr>
          </a:lstStyle>
          <a:p>
            <a:fld id="{B6F15528-21DE-4FAA-801E-634DDDAF4B2B}" type="slidenum">
              <a:rPr lang="en-US" smtClean="0"/>
              <a:pPr/>
              <a:t>‹#›</a:t>
            </a:fld>
            <a:endParaRPr lang="en-US"/>
          </a:p>
        </p:txBody>
      </p:sp>
    </p:spTree>
    <p:extLst>
      <p:ext uri="{BB962C8B-B14F-4D97-AF65-F5344CB8AC3E}">
        <p14:creationId xmlns:p14="http://schemas.microsoft.com/office/powerpoint/2010/main" val="514881807"/>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 id="2147483688" r:id="rId12"/>
    <p:sldLayoutId id="2147483689" r:id="rId13"/>
  </p:sldLayoutIdLst>
  <p:txStyles>
    <p:titleStyle>
      <a:lvl1pPr algn="ctr" defTabSz="609630" rtl="0" eaLnBrk="1" latinLnBrk="0" hangingPunct="1">
        <a:spcBef>
          <a:spcPct val="0"/>
        </a:spcBef>
        <a:buNone/>
        <a:defRPr sz="2933" kern="1200">
          <a:solidFill>
            <a:schemeClr val="tx1"/>
          </a:solidFill>
          <a:latin typeface="+mj-lt"/>
          <a:ea typeface="+mj-ea"/>
          <a:cs typeface="+mj-cs"/>
        </a:defRPr>
      </a:lvl1pPr>
    </p:titleStyle>
    <p:bodyStyle>
      <a:lvl1pPr marL="228611" indent="-228611" algn="l" defTabSz="609630" rtl="0" eaLnBrk="1" latinLnBrk="0" hangingPunct="1">
        <a:spcBef>
          <a:spcPct val="20000"/>
        </a:spcBef>
        <a:buFont typeface="Arial" pitchFamily="34" charset="0"/>
        <a:buChar char="•"/>
        <a:defRPr sz="2133" kern="1200">
          <a:solidFill>
            <a:schemeClr val="tx1"/>
          </a:solidFill>
          <a:latin typeface="+mn-lt"/>
          <a:ea typeface="+mn-ea"/>
          <a:cs typeface="+mn-cs"/>
        </a:defRPr>
      </a:lvl1pPr>
      <a:lvl2pPr marL="495325" indent="-190510" algn="l" defTabSz="609630" rtl="0" eaLnBrk="1" latinLnBrk="0" hangingPunct="1">
        <a:spcBef>
          <a:spcPct val="20000"/>
        </a:spcBef>
        <a:buFont typeface="Arial" pitchFamily="34" charset="0"/>
        <a:buChar char="–"/>
        <a:defRPr sz="1867" kern="1200">
          <a:solidFill>
            <a:schemeClr val="tx1"/>
          </a:solidFill>
          <a:latin typeface="+mn-lt"/>
          <a:ea typeface="+mn-ea"/>
          <a:cs typeface="+mn-cs"/>
        </a:defRPr>
      </a:lvl2pPr>
      <a:lvl3pPr marL="762038" indent="-152408" algn="l" defTabSz="609630" rtl="0" eaLnBrk="1" latinLnBrk="0" hangingPunct="1">
        <a:spcBef>
          <a:spcPct val="20000"/>
        </a:spcBef>
        <a:buFont typeface="Arial" pitchFamily="34" charset="0"/>
        <a:buChar char="•"/>
        <a:defRPr sz="1600" kern="1200">
          <a:solidFill>
            <a:schemeClr val="tx1"/>
          </a:solidFill>
          <a:latin typeface="+mn-lt"/>
          <a:ea typeface="+mn-ea"/>
          <a:cs typeface="+mn-cs"/>
        </a:defRPr>
      </a:lvl3pPr>
      <a:lvl4pPr marL="1066853"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4pPr>
      <a:lvl5pPr marL="1371669"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5pPr>
      <a:lvl6pPr marL="1676484"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6pPr>
      <a:lvl7pPr marL="1981299"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7pPr>
      <a:lvl8pPr marL="2286114"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8pPr>
      <a:lvl9pPr marL="2590930"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9pPr>
    </p:bodyStyle>
    <p:otherStyle>
      <a:defPPr>
        <a:defRPr lang="en-US"/>
      </a:defPPr>
      <a:lvl1pPr marL="0" algn="l" defTabSz="609630" rtl="0" eaLnBrk="1" latinLnBrk="0" hangingPunct="1">
        <a:defRPr sz="1200" kern="1200">
          <a:solidFill>
            <a:schemeClr val="tx1"/>
          </a:solidFill>
          <a:latin typeface="+mn-lt"/>
          <a:ea typeface="+mn-ea"/>
          <a:cs typeface="+mn-cs"/>
        </a:defRPr>
      </a:lvl1pPr>
      <a:lvl2pPr marL="304815" algn="l" defTabSz="609630" rtl="0" eaLnBrk="1" latinLnBrk="0" hangingPunct="1">
        <a:defRPr sz="1200" kern="1200">
          <a:solidFill>
            <a:schemeClr val="tx1"/>
          </a:solidFill>
          <a:latin typeface="+mn-lt"/>
          <a:ea typeface="+mn-ea"/>
          <a:cs typeface="+mn-cs"/>
        </a:defRPr>
      </a:lvl2pPr>
      <a:lvl3pPr marL="609630" algn="l" defTabSz="609630" rtl="0" eaLnBrk="1" latinLnBrk="0" hangingPunct="1">
        <a:defRPr sz="1200" kern="1200">
          <a:solidFill>
            <a:schemeClr val="tx1"/>
          </a:solidFill>
          <a:latin typeface="+mn-lt"/>
          <a:ea typeface="+mn-ea"/>
          <a:cs typeface="+mn-cs"/>
        </a:defRPr>
      </a:lvl3pPr>
      <a:lvl4pPr marL="914446" algn="l" defTabSz="609630" rtl="0" eaLnBrk="1" latinLnBrk="0" hangingPunct="1">
        <a:defRPr sz="1200" kern="1200">
          <a:solidFill>
            <a:schemeClr val="tx1"/>
          </a:solidFill>
          <a:latin typeface="+mn-lt"/>
          <a:ea typeface="+mn-ea"/>
          <a:cs typeface="+mn-cs"/>
        </a:defRPr>
      </a:lvl4pPr>
      <a:lvl5pPr marL="1219261" algn="l" defTabSz="609630" rtl="0" eaLnBrk="1" latinLnBrk="0" hangingPunct="1">
        <a:defRPr sz="1200" kern="1200">
          <a:solidFill>
            <a:schemeClr val="tx1"/>
          </a:solidFill>
          <a:latin typeface="+mn-lt"/>
          <a:ea typeface="+mn-ea"/>
          <a:cs typeface="+mn-cs"/>
        </a:defRPr>
      </a:lvl5pPr>
      <a:lvl6pPr marL="1524076" algn="l" defTabSz="609630" rtl="0" eaLnBrk="1" latinLnBrk="0" hangingPunct="1">
        <a:defRPr sz="1200" kern="1200">
          <a:solidFill>
            <a:schemeClr val="tx1"/>
          </a:solidFill>
          <a:latin typeface="+mn-lt"/>
          <a:ea typeface="+mn-ea"/>
          <a:cs typeface="+mn-cs"/>
        </a:defRPr>
      </a:lvl6pPr>
      <a:lvl7pPr marL="1828891" algn="l" defTabSz="609630" rtl="0" eaLnBrk="1" latinLnBrk="0" hangingPunct="1">
        <a:defRPr sz="1200" kern="1200">
          <a:solidFill>
            <a:schemeClr val="tx1"/>
          </a:solidFill>
          <a:latin typeface="+mn-lt"/>
          <a:ea typeface="+mn-ea"/>
          <a:cs typeface="+mn-cs"/>
        </a:defRPr>
      </a:lvl7pPr>
      <a:lvl8pPr marL="2133707" algn="l" defTabSz="609630" rtl="0" eaLnBrk="1" latinLnBrk="0" hangingPunct="1">
        <a:defRPr sz="1200" kern="1200">
          <a:solidFill>
            <a:schemeClr val="tx1"/>
          </a:solidFill>
          <a:latin typeface="+mn-lt"/>
          <a:ea typeface="+mn-ea"/>
          <a:cs typeface="+mn-cs"/>
        </a:defRPr>
      </a:lvl8pPr>
      <a:lvl9pPr marL="2438522" algn="l" defTabSz="609630" rtl="0" eaLnBrk="1" latinLnBrk="0" hangingPunct="1">
        <a:defRPr sz="12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3.xml.rels><?xml version="1.0" encoding="UTF-8" standalone="yes"?>
<Relationships xmlns="http://schemas.openxmlformats.org/package/2006/relationships"><Relationship Id="rId3" Type="http://schemas.microsoft.com/office/2018/10/relationships/comments" Target="../comments/modernComment_7FF65A2A_C81A3671.xml"/><Relationship Id="rId2" Type="http://schemas.openxmlformats.org/officeDocument/2006/relationships/notesSlide" Target="../notesSlides/notesSlide1.xml"/><Relationship Id="rId1" Type="http://schemas.openxmlformats.org/officeDocument/2006/relationships/slideLayout" Target="../slideLayouts/slideLayout24.xml"/><Relationship Id="rId4" Type="http://schemas.openxmlformats.org/officeDocument/2006/relationships/image" Target="../media/image4.emf"/></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6.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notesSlide" Target="../notesSlides/notesSlide3.xml"/><Relationship Id="rId1" Type="http://schemas.openxmlformats.org/officeDocument/2006/relationships/slideLayout" Target="../slideLayouts/slideLayout24.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4.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4.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4.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4.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4.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5.xml.rels><?xml version="1.0" encoding="UTF-8" standalone="yes"?>
<Relationships xmlns="http://schemas.openxmlformats.org/package/2006/relationships"><Relationship Id="rId3" Type="http://schemas.openxmlformats.org/officeDocument/2006/relationships/image" Target="../media/image6.emf"/><Relationship Id="rId2" Type="http://schemas.openxmlformats.org/officeDocument/2006/relationships/notesSlide" Target="../notesSlides/notesSlide11.xml"/><Relationship Id="rId1" Type="http://schemas.openxmlformats.org/officeDocument/2006/relationships/slideLayout" Target="../slideLayouts/slideLayout24.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4.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4.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4.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4.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4.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4.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4.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4.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4.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4.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4.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4.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4.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4.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4.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4.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4.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4.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4.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4.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4.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4.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4.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40.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35.xml"/><Relationship Id="rId1" Type="http://schemas.openxmlformats.org/officeDocument/2006/relationships/slideLayout" Target="../slideLayouts/slideLayout24.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4.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4.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4.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4.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4.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4.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4.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4.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4.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4.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4.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4.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4.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4.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4.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4.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4.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4.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24.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54.xml"/><Relationship Id="rId1" Type="http://schemas.openxmlformats.org/officeDocument/2006/relationships/slideLayout" Target="../slideLayouts/slideLayout24.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4.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4.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4.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4.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4.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4.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4.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4.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34.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63.xml"/><Relationship Id="rId1" Type="http://schemas.openxmlformats.org/officeDocument/2006/relationships/slideLayout" Target="../slideLayouts/slideLayout25.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5.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37.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65.xml"/><Relationship Id="rId1" Type="http://schemas.openxmlformats.org/officeDocument/2006/relationships/slideLayout" Target="../slideLayouts/slideLayout19.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39.xml.rels><?xml version="1.0" encoding="UTF-8" standalone="yes"?>
<Relationships xmlns="http://schemas.openxmlformats.org/package/2006/relationships"><Relationship Id="rId2" Type="http://schemas.openxmlformats.org/officeDocument/2006/relationships/chart" Target="../charts/chart5.xml"/><Relationship Id="rId1" Type="http://schemas.openxmlformats.org/officeDocument/2006/relationships/slideLayout" Target="../slideLayouts/slideLayout14.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19.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43.xml.rels><?xml version="1.0" encoding="UTF-8" standalone="yes"?>
<Relationships xmlns="http://schemas.openxmlformats.org/package/2006/relationships"><Relationship Id="rId2" Type="http://schemas.openxmlformats.org/officeDocument/2006/relationships/chart" Target="../charts/chart6.xml"/><Relationship Id="rId1" Type="http://schemas.openxmlformats.org/officeDocument/2006/relationships/slideLayout" Target="../slideLayouts/slideLayout14.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48.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image" Target="../media/image7.png"/><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12.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12.xml"/></Relationships>
</file>

<file path=ppt/slides/_rels/slide162.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12.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2"/>
          <p:cNvSpPr txBox="1"/>
          <p:nvPr/>
        </p:nvSpPr>
        <p:spPr>
          <a:xfrm>
            <a:off x="6651074" y="6514773"/>
            <a:ext cx="5285232" cy="133370"/>
          </a:xfrm>
          <a:prstGeom prst="rect">
            <a:avLst/>
          </a:prstGeom>
        </p:spPr>
        <p:txBody>
          <a:bodyPr lIns="0" tIns="0" rIns="0" bIns="0" rtlCol="0" anchor="t">
            <a:spAutoFit/>
          </a:bodyPr>
          <a:lstStyle/>
          <a:p>
            <a:pPr marL="0" marR="0" lvl="0" indent="0" algn="r" defTabSz="609630" rtl="0" eaLnBrk="1" fontAlgn="auto" latinLnBrk="0" hangingPunct="1">
              <a:lnSpc>
                <a:spcPts val="1080"/>
              </a:lnSpc>
              <a:spcBef>
                <a:spcPts val="0"/>
              </a:spcBef>
              <a:spcAft>
                <a:spcPts val="0"/>
              </a:spcAft>
              <a:buClrTx/>
              <a:buSzTx/>
              <a:buFontTx/>
              <a:buNone/>
              <a:tabLst/>
              <a:defRPr/>
            </a:pPr>
            <a:r>
              <a:rPr kumimoji="0" lang="en-US" sz="900" b="0" i="0" u="none" strike="noStrike" kern="1200" cap="none" spc="0" normalizeH="0" baseline="0" noProof="0">
                <a:ln>
                  <a:noFill/>
                </a:ln>
                <a:solidFill>
                  <a:srgbClr val="10253F"/>
                </a:solidFill>
                <a:effectLst/>
                <a:uLnTx/>
                <a:uFillTx/>
                <a:latin typeface="Raleway"/>
                <a:ea typeface="Raleway"/>
                <a:cs typeface="Raleway"/>
                <a:sym typeface="Raleway"/>
              </a:rPr>
              <a:t>HR Development | PT </a:t>
            </a:r>
            <a:r>
              <a:rPr kumimoji="0" lang="en-US" sz="900" b="0" i="0" u="none" strike="noStrike" kern="1200" cap="none" spc="0" normalizeH="0" baseline="0" noProof="0" err="1">
                <a:ln>
                  <a:noFill/>
                </a:ln>
                <a:solidFill>
                  <a:srgbClr val="10253F"/>
                </a:solidFill>
                <a:effectLst/>
                <a:uLnTx/>
                <a:uFillTx/>
                <a:latin typeface="Raleway"/>
                <a:ea typeface="Raleway"/>
                <a:cs typeface="Raleway"/>
                <a:sym typeface="Raleway"/>
              </a:rPr>
              <a:t>Cisarua</a:t>
            </a:r>
            <a:r>
              <a:rPr kumimoji="0" lang="en-US" sz="900" b="0" i="0" u="none" strike="noStrike" kern="1200" cap="none" spc="0" normalizeH="0" baseline="0" noProof="0">
                <a:ln>
                  <a:noFill/>
                </a:ln>
                <a:solidFill>
                  <a:srgbClr val="10253F"/>
                </a:solidFill>
                <a:effectLst/>
                <a:uLnTx/>
                <a:uFillTx/>
                <a:latin typeface="Raleway"/>
                <a:ea typeface="Raleway"/>
                <a:cs typeface="Raleway"/>
                <a:sym typeface="Raleway"/>
              </a:rPr>
              <a:t> Mountain Dairy </a:t>
            </a:r>
            <a:r>
              <a:rPr kumimoji="0" lang="en-US" sz="900" b="0" i="0" u="none" strike="noStrike" kern="1200" cap="none" spc="0" normalizeH="0" baseline="0" noProof="0" err="1">
                <a:ln>
                  <a:noFill/>
                </a:ln>
                <a:solidFill>
                  <a:srgbClr val="10253F"/>
                </a:solidFill>
                <a:effectLst/>
                <a:uLnTx/>
                <a:uFillTx/>
                <a:latin typeface="Raleway"/>
                <a:ea typeface="Raleway"/>
                <a:cs typeface="Raleway"/>
                <a:sym typeface="Raleway"/>
              </a:rPr>
              <a:t>Tbk</a:t>
            </a:r>
            <a:endParaRPr kumimoji="0" lang="en-US" sz="900" b="0" i="0" u="none" strike="noStrike" kern="1200" cap="none" spc="0" normalizeH="0" baseline="0" noProof="0">
              <a:ln>
                <a:noFill/>
              </a:ln>
              <a:solidFill>
                <a:srgbClr val="10253F"/>
              </a:solidFill>
              <a:effectLst/>
              <a:uLnTx/>
              <a:uFillTx/>
              <a:latin typeface="Raleway"/>
              <a:ea typeface="Raleway"/>
              <a:cs typeface="Raleway"/>
              <a:sym typeface="Raleway"/>
            </a:endParaRPr>
          </a:p>
        </p:txBody>
      </p:sp>
      <p:sp>
        <p:nvSpPr>
          <p:cNvPr id="3" name="Freeform 3" descr="A logo with a mountain in the background  Description automatically generated"/>
          <p:cNvSpPr/>
          <p:nvPr/>
        </p:nvSpPr>
        <p:spPr>
          <a:xfrm>
            <a:off x="10871951" y="-41390"/>
            <a:ext cx="1179908" cy="1179908"/>
          </a:xfrm>
          <a:custGeom>
            <a:avLst/>
            <a:gdLst/>
            <a:ahLst/>
            <a:cxnLst/>
            <a:rect l="l" t="t" r="r" b="b"/>
            <a:pathLst>
              <a:path w="1769862" h="1769862">
                <a:moveTo>
                  <a:pt x="0" y="0"/>
                </a:moveTo>
                <a:lnTo>
                  <a:pt x="1769861" y="0"/>
                </a:lnTo>
                <a:lnTo>
                  <a:pt x="1769861" y="1769862"/>
                </a:lnTo>
                <a:lnTo>
                  <a:pt x="0" y="1769862"/>
                </a:lnTo>
                <a:lnTo>
                  <a:pt x="0" y="0"/>
                </a:lnTo>
                <a:close/>
              </a:path>
            </a:pathLst>
          </a:custGeom>
          <a:blipFill>
            <a:blip r:embed="rId2"/>
            <a:stretch>
              <a:fillRect/>
            </a:stretch>
          </a:blipFill>
        </p:spPr>
        <p:txBody>
          <a:bodyP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ID" sz="1200" b="0" i="0" u="none" strike="noStrike" kern="1200" cap="none" spc="0" normalizeH="0" baseline="0" noProof="0">
              <a:ln>
                <a:noFill/>
              </a:ln>
              <a:solidFill>
                <a:prstClr val="black"/>
              </a:solidFill>
              <a:effectLst/>
              <a:uLnTx/>
              <a:uFillTx/>
              <a:latin typeface="Calibri"/>
              <a:ea typeface="+mn-ea"/>
              <a:cs typeface="+mn-cs"/>
            </a:endParaRPr>
          </a:p>
        </p:txBody>
      </p:sp>
      <p:sp>
        <p:nvSpPr>
          <p:cNvPr id="4" name="Freeform 4"/>
          <p:cNvSpPr/>
          <p:nvPr/>
        </p:nvSpPr>
        <p:spPr>
          <a:xfrm>
            <a:off x="0" y="-32246"/>
            <a:ext cx="12192000" cy="6850380"/>
          </a:xfrm>
          <a:custGeom>
            <a:avLst/>
            <a:gdLst/>
            <a:ahLst/>
            <a:cxnLst/>
            <a:rect l="l" t="t" r="r" b="b"/>
            <a:pathLst>
              <a:path w="18288000" h="10275570">
                <a:moveTo>
                  <a:pt x="0" y="0"/>
                </a:moveTo>
                <a:lnTo>
                  <a:pt x="18288000" y="0"/>
                </a:lnTo>
                <a:lnTo>
                  <a:pt x="18288000" y="10275570"/>
                </a:lnTo>
                <a:lnTo>
                  <a:pt x="0" y="10275570"/>
                </a:lnTo>
                <a:lnTo>
                  <a:pt x="0" y="0"/>
                </a:lnTo>
                <a:close/>
              </a:path>
            </a:pathLst>
          </a:custGeom>
          <a:blipFill>
            <a:blip r:embed="rId3"/>
            <a:stretch>
              <a:fillRect/>
            </a:stretch>
          </a:blipFill>
        </p:spPr>
        <p:txBody>
          <a:bodyP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ID" sz="1200" b="0" i="0" u="none" strike="noStrike" kern="1200" cap="none" spc="0" normalizeH="0" baseline="0" noProof="0">
              <a:ln>
                <a:noFill/>
              </a:ln>
              <a:solidFill>
                <a:prstClr val="black"/>
              </a:solidFill>
              <a:effectLst/>
              <a:uLnTx/>
              <a:uFillTx/>
              <a:latin typeface="Calibri"/>
              <a:ea typeface="+mn-ea"/>
              <a:cs typeface="+mn-cs"/>
            </a:endParaRPr>
          </a:p>
        </p:txBody>
      </p:sp>
      <p:sp>
        <p:nvSpPr>
          <p:cNvPr id="6" name="TextBox 6"/>
          <p:cNvSpPr txBox="1"/>
          <p:nvPr/>
        </p:nvSpPr>
        <p:spPr>
          <a:xfrm>
            <a:off x="1747714" y="1712745"/>
            <a:ext cx="8696572" cy="1181862"/>
          </a:xfrm>
          <a:prstGeom prst="rect">
            <a:avLst/>
          </a:prstGeom>
        </p:spPr>
        <p:txBody>
          <a:bodyPr wrap="square" lIns="0" tIns="0" rIns="0" bIns="0" rtlCol="0" anchor="t">
            <a:spAutoFit/>
          </a:bodyPr>
          <a:lstStyle/>
          <a:p>
            <a:pPr algn="ctr" defTabSz="609630">
              <a:lnSpc>
                <a:spcPct val="80000"/>
              </a:lnSpc>
              <a:defRPr/>
            </a:pPr>
            <a:r>
              <a:rPr lang="en-US" sz="4800" b="1">
                <a:solidFill>
                  <a:srgbClr val="002060"/>
                </a:solidFill>
                <a:latin typeface="Raleway Bold"/>
                <a:ea typeface="Raleway Bold"/>
                <a:cs typeface="Raleway Bold"/>
                <a:sym typeface="Raleway Bold"/>
              </a:rPr>
              <a:t>TALENT ACQUISITION UPDATE</a:t>
            </a:r>
            <a:endParaRPr kumimoji="0" lang="en-US" sz="4800" b="1" i="0" u="none" strike="noStrike" kern="1200" cap="none" spc="0" normalizeH="0" baseline="0" noProof="0">
              <a:ln>
                <a:noFill/>
              </a:ln>
              <a:solidFill>
                <a:srgbClr val="002060"/>
              </a:solidFill>
              <a:effectLst/>
              <a:uLnTx/>
              <a:uFillTx/>
              <a:latin typeface="Raleway Bold"/>
              <a:ea typeface="Raleway Bold"/>
              <a:cs typeface="Raleway Bold"/>
              <a:sym typeface="Raleway Bold"/>
            </a:endParaRPr>
          </a:p>
        </p:txBody>
      </p:sp>
      <p:sp>
        <p:nvSpPr>
          <p:cNvPr id="8" name="TextBox 7">
            <a:extLst>
              <a:ext uri="{FF2B5EF4-FFF2-40B4-BE49-F238E27FC236}">
                <a16:creationId xmlns:a16="http://schemas.microsoft.com/office/drawing/2014/main" id="{478F7F03-9C63-34F9-A419-E8EA55676700}"/>
              </a:ext>
            </a:extLst>
          </p:cNvPr>
          <p:cNvSpPr txBox="1"/>
          <p:nvPr/>
        </p:nvSpPr>
        <p:spPr>
          <a:xfrm>
            <a:off x="3048802" y="3095533"/>
            <a:ext cx="6097604" cy="338554"/>
          </a:xfrm>
          <a:prstGeom prst="rect">
            <a:avLst/>
          </a:prstGeom>
          <a:noFill/>
        </p:spPr>
        <p:txBody>
          <a:bodyPr wrap="square" lIns="91440" tIns="45720" rIns="91440" bIns="45720" anchor="t">
            <a:spAutoFit/>
          </a:bodyPr>
          <a:lstStyle/>
          <a:p>
            <a:pPr marL="0" marR="0" lvl="0" indent="0" algn="ctr" defTabSz="609630" rtl="0" eaLnBrk="1" fontAlgn="auto" latinLnBrk="0" hangingPunct="1">
              <a:lnSpc>
                <a:spcPct val="80000"/>
              </a:lnSpc>
              <a:spcBef>
                <a:spcPts val="0"/>
              </a:spcBef>
              <a:spcAft>
                <a:spcPts val="0"/>
              </a:spcAft>
              <a:buClrTx/>
              <a:buSzTx/>
              <a:buFontTx/>
              <a:buNone/>
              <a:tabLst/>
              <a:defRPr/>
            </a:pPr>
            <a:r>
              <a:rPr lang="en-US" sz="2000" b="1">
                <a:solidFill>
                  <a:srgbClr val="002060"/>
                </a:solidFill>
                <a:latin typeface="Raleway Bold"/>
                <a:ea typeface="Raleway Bold"/>
                <a:cs typeface="Raleway Bold"/>
                <a:sym typeface="Raleway Bold"/>
              </a:rPr>
              <a:t>04.08.26</a:t>
            </a:r>
            <a:endParaRPr kumimoji="0" lang="en-US" sz="2000" b="1" i="0" u="none" strike="noStrike" kern="1200" cap="none" spc="0" normalizeH="0" baseline="0" noProof="0">
              <a:ln>
                <a:noFill/>
              </a:ln>
              <a:solidFill>
                <a:srgbClr val="002060"/>
              </a:solidFill>
              <a:effectLst/>
              <a:uLnTx/>
              <a:uFillTx/>
              <a:latin typeface="Raleway Bold"/>
              <a:ea typeface="Raleway Bold"/>
              <a:cs typeface="Raleway Bold"/>
              <a:sym typeface="Raleway Bold"/>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890A53-B4DD-D230-4C27-ABC7EE500EB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54067AC-944A-201A-0CBB-56AAFE149B5E}"/>
              </a:ext>
            </a:extLst>
          </p:cNvPr>
          <p:cNvSpPr>
            <a:spLocks noGrp="1"/>
          </p:cNvSpPr>
          <p:nvPr>
            <p:ph type="title"/>
          </p:nvPr>
        </p:nvSpPr>
        <p:spPr>
          <a:xfrm>
            <a:off x="758372" y="1392237"/>
            <a:ext cx="10515600" cy="1325563"/>
          </a:xfrm>
        </p:spPr>
        <p:txBody>
          <a:bodyPr>
            <a:normAutofit/>
          </a:bodyPr>
          <a:lstStyle/>
          <a:p>
            <a:pPr algn="ctr"/>
            <a:r>
              <a:rPr lang="en-US" sz="2800" b="1">
                <a:solidFill>
                  <a:srgbClr val="002060"/>
                </a:solidFill>
                <a:latin typeface="Raleway"/>
              </a:rPr>
              <a:t>#2.</a:t>
            </a:r>
            <a:br>
              <a:rPr lang="en-US" sz="2800" b="1">
                <a:solidFill>
                  <a:srgbClr val="002060"/>
                </a:solidFill>
                <a:latin typeface="Raleway"/>
              </a:rPr>
            </a:br>
            <a:r>
              <a:rPr lang="en-US" sz="2800" b="1">
                <a:solidFill>
                  <a:srgbClr val="002060"/>
                </a:solidFill>
                <a:latin typeface="Raleway"/>
              </a:rPr>
              <a:t>Recruitment &amp; Branding</a:t>
            </a:r>
            <a:endParaRPr lang="en-US" sz="2800">
              <a:solidFill>
                <a:srgbClr val="002060"/>
              </a:solidFill>
              <a:latin typeface="Raleway"/>
            </a:endParaRPr>
          </a:p>
        </p:txBody>
      </p:sp>
      <p:sp>
        <p:nvSpPr>
          <p:cNvPr id="5" name="TextBox 4">
            <a:extLst>
              <a:ext uri="{FF2B5EF4-FFF2-40B4-BE49-F238E27FC236}">
                <a16:creationId xmlns:a16="http://schemas.microsoft.com/office/drawing/2014/main" id="{76804360-E5AA-B5D5-D21C-590327C847C5}"/>
              </a:ext>
            </a:extLst>
          </p:cNvPr>
          <p:cNvSpPr txBox="1"/>
          <p:nvPr/>
        </p:nvSpPr>
        <p:spPr>
          <a:xfrm>
            <a:off x="3940620" y="2597031"/>
            <a:ext cx="5442729" cy="1569660"/>
          </a:xfrm>
          <a:prstGeom prst="rect">
            <a:avLst/>
          </a:prstGeom>
          <a:noFill/>
        </p:spPr>
        <p:txBody>
          <a:bodyPr wrap="square" lIns="91440" tIns="45720" rIns="91440" bIns="45720" anchor="t">
            <a:spAutoFit/>
          </a:bodyPr>
          <a:lstStyle/>
          <a:p>
            <a:pPr marL="285750" indent="-285750" fontAlgn="base">
              <a:buFont typeface="Arial" panose="020B0604020202020204" pitchFamily="34" charset="0"/>
              <a:buChar char="•"/>
            </a:pPr>
            <a:r>
              <a:rPr lang="en-US" sz="1600" b="1">
                <a:latin typeface="Raleway"/>
              </a:rPr>
              <a:t>Executive Summary FPTK 2026</a:t>
            </a:r>
            <a:r>
              <a:rPr lang="en-US" sz="1600">
                <a:latin typeface="Raleway"/>
              </a:rPr>
              <a:t>​</a:t>
            </a:r>
          </a:p>
          <a:p>
            <a:pPr marL="285750" indent="-285750" fontAlgn="base">
              <a:buFont typeface="Arial" panose="020B0604020202020204" pitchFamily="34" charset="0"/>
              <a:buChar char="•"/>
            </a:pPr>
            <a:r>
              <a:rPr lang="en-US" sz="1600" b="1" err="1">
                <a:latin typeface="Raleway"/>
              </a:rPr>
              <a:t>Pemenuhan</a:t>
            </a:r>
            <a:r>
              <a:rPr lang="en-US" sz="1600" b="1">
                <a:latin typeface="Raleway"/>
              </a:rPr>
              <a:t> SDM</a:t>
            </a:r>
            <a:r>
              <a:rPr lang="en-US" sz="1600">
                <a:latin typeface="Raleway"/>
              </a:rPr>
              <a:t>​</a:t>
            </a:r>
          </a:p>
          <a:p>
            <a:pPr marL="742950" lvl="1" indent="-285750" fontAlgn="base">
              <a:buFont typeface="Arial" panose="020B0604020202020204" pitchFamily="34" charset="0"/>
              <a:buChar char="•"/>
            </a:pPr>
            <a:r>
              <a:rPr lang="en-US" sz="1600">
                <a:latin typeface="Raleway"/>
              </a:rPr>
              <a:t>Manager​</a:t>
            </a:r>
          </a:p>
          <a:p>
            <a:pPr marL="742950" lvl="1" indent="-285750" fontAlgn="base">
              <a:buFont typeface="Arial" panose="020B0604020202020204" pitchFamily="34" charset="0"/>
              <a:buChar char="•"/>
            </a:pPr>
            <a:r>
              <a:rPr lang="en-US" sz="1600">
                <a:latin typeface="Raleway"/>
              </a:rPr>
              <a:t>Level 3​</a:t>
            </a:r>
          </a:p>
          <a:p>
            <a:pPr marL="742950" lvl="1" indent="-285750" fontAlgn="base">
              <a:buFont typeface="Arial" panose="020B0604020202020204" pitchFamily="34" charset="0"/>
              <a:buChar char="•"/>
            </a:pPr>
            <a:r>
              <a:rPr lang="en-US" sz="1600">
                <a:latin typeface="Raleway"/>
              </a:rPr>
              <a:t>CLAP &amp; FGDP​</a:t>
            </a:r>
          </a:p>
          <a:p>
            <a:pPr marL="742950" lvl="1" indent="-285750" fontAlgn="base">
              <a:buFont typeface="Arial" panose="020B0604020202020204" pitchFamily="34" charset="0"/>
              <a:buChar char="•"/>
            </a:pPr>
            <a:r>
              <a:rPr lang="en-US" sz="1600">
                <a:latin typeface="Raleway"/>
              </a:rPr>
              <a:t>Project STO Chilled</a:t>
            </a:r>
          </a:p>
        </p:txBody>
      </p:sp>
    </p:spTree>
    <p:extLst>
      <p:ext uri="{BB962C8B-B14F-4D97-AF65-F5344CB8AC3E}">
        <p14:creationId xmlns:p14="http://schemas.microsoft.com/office/powerpoint/2010/main" val="304907473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E05EB3-ECB6-6E3A-543C-0221407045A0}"/>
            </a:ext>
          </a:extLst>
        </p:cNvPr>
        <p:cNvGrpSpPr/>
        <p:nvPr/>
      </p:nvGrpSpPr>
      <p:grpSpPr>
        <a:xfrm>
          <a:off x="0" y="0"/>
          <a:ext cx="0" cy="0"/>
          <a:chOff x="0" y="0"/>
          <a:chExt cx="0" cy="0"/>
        </a:xfrm>
      </p:grpSpPr>
      <p:pic>
        <p:nvPicPr>
          <p:cNvPr id="24" name="Grafikallfptk">
            <a:extLst>
              <a:ext uri="{FF2B5EF4-FFF2-40B4-BE49-F238E27FC236}">
                <a16:creationId xmlns:a16="http://schemas.microsoft.com/office/drawing/2014/main" id="{61D69274-5EA7-65E3-B163-2280AD49302E}"/>
              </a:ext>
            </a:extLst>
          </p:cNvPr>
          <p:cNvPicPr>
            <a:picLocks noChangeAspect="1"/>
          </p:cNvPicPr>
          <p:nvPr/>
        </p:nvPicPr>
        <p:blipFill>
          <a:blip r:embed="rId4"/>
          <a:srcRect/>
          <a:stretch>
            <a:fillRect/>
          </a:stretch>
        </p:blipFill>
        <p:spPr>
          <a:xfrm>
            <a:off x="262896" y="2386094"/>
            <a:ext cx="11296867" cy="4365994"/>
          </a:xfrm>
          <a:prstGeom prst="rect">
            <a:avLst/>
          </a:prstGeom>
          <a:ln w="11399" cap="flat">
            <a:prstDash val="solid"/>
          </a:ln>
        </p:spPr>
      </p:pic>
      <p:sp>
        <p:nvSpPr>
          <p:cNvPr id="2" name="Text 0">
            <a:extLst>
              <a:ext uri="{FF2B5EF4-FFF2-40B4-BE49-F238E27FC236}">
                <a16:creationId xmlns:a16="http://schemas.microsoft.com/office/drawing/2014/main" id="{52D1BAAC-957C-D0B7-B5AB-3457FBF16EB9}"/>
              </a:ext>
            </a:extLst>
          </p:cNvPr>
          <p:cNvSpPr/>
          <p:nvPr/>
        </p:nvSpPr>
        <p:spPr>
          <a:xfrm>
            <a:off x="457200" y="292608"/>
            <a:ext cx="11277295" cy="548640"/>
          </a:xfrm>
          <a:prstGeom prst="rect">
            <a:avLst/>
          </a:prstGeom>
          <a:noFill/>
          <a:ln/>
        </p:spPr>
        <p:txBody>
          <a:bodyPr wrap="square" rtlCol="0" anchor="ctr"/>
          <a:lstStyle/>
          <a:p>
            <a:pPr marL="0" indent="0">
              <a:buNone/>
            </a:pPr>
            <a:r>
              <a:rPr lang="en-US" sz="2600" b="1">
                <a:solidFill>
                  <a:srgbClr val="12284C"/>
                </a:solidFill>
                <a:latin typeface="Raleway"/>
                <a:ea typeface="Georgia" pitchFamily="34" charset="-122"/>
                <a:cs typeface="Georgia" pitchFamily="34" charset="-120"/>
              </a:rPr>
              <a:t>Executive Summary — </a:t>
            </a:r>
            <a:r>
              <a:rPr lang="en-US" sz="2600" b="1" err="1">
                <a:solidFill>
                  <a:srgbClr val="12284C"/>
                </a:solidFill>
                <a:latin typeface="Raleway"/>
                <a:ea typeface="Georgia" pitchFamily="34" charset="-122"/>
                <a:cs typeface="Georgia" pitchFamily="34" charset="-120"/>
              </a:rPr>
              <a:t>Seluruh</a:t>
            </a:r>
            <a:r>
              <a:rPr lang="en-US" sz="2600" b="1">
                <a:solidFill>
                  <a:srgbClr val="12284C"/>
                </a:solidFill>
                <a:latin typeface="Raleway"/>
                <a:ea typeface="Georgia" pitchFamily="34" charset="-122"/>
                <a:cs typeface="Georgia" pitchFamily="34" charset="-120"/>
              </a:rPr>
              <a:t> FPTK 2026</a:t>
            </a:r>
            <a:endParaRPr lang="en-US" sz="2600">
              <a:latin typeface="Raleway"/>
            </a:endParaRPr>
          </a:p>
        </p:txBody>
      </p:sp>
      <p:sp>
        <p:nvSpPr>
          <p:cNvPr id="4" name="Shape 3">
            <a:extLst>
              <a:ext uri="{FF2B5EF4-FFF2-40B4-BE49-F238E27FC236}">
                <a16:creationId xmlns:a16="http://schemas.microsoft.com/office/drawing/2014/main" id="{2D1147DE-47C5-373E-3C2F-A6FE73053261}"/>
              </a:ext>
            </a:extLst>
          </p:cNvPr>
          <p:cNvSpPr/>
          <p:nvPr/>
        </p:nvSpPr>
        <p:spPr>
          <a:xfrm>
            <a:off x="420914" y="1153886"/>
            <a:ext cx="1757629" cy="1207008"/>
          </a:xfrm>
          <a:prstGeom prst="roundRect">
            <a:avLst>
              <a:gd name="adj" fmla="val 4545"/>
            </a:avLst>
          </a:prstGeom>
          <a:solidFill>
            <a:srgbClr val="0070C0"/>
          </a:solidFill>
          <a:ln/>
        </p:spPr>
        <p:txBody>
          <a:bodyPr/>
          <a:lstStyle/>
          <a:p>
            <a:endParaRPr lang="en-US">
              <a:latin typeface="Raleway"/>
            </a:endParaRPr>
          </a:p>
        </p:txBody>
      </p:sp>
      <p:sp>
        <p:nvSpPr>
          <p:cNvPr id="5" name="txtFPTKMasuk">
            <a:extLst>
              <a:ext uri="{FF2B5EF4-FFF2-40B4-BE49-F238E27FC236}">
                <a16:creationId xmlns:a16="http://schemas.microsoft.com/office/drawing/2014/main" id="{325B0002-3B44-191B-3EBA-8794B3197956}"/>
              </a:ext>
            </a:extLst>
          </p:cNvPr>
          <p:cNvSpPr/>
          <p:nvPr/>
        </p:nvSpPr>
        <p:spPr>
          <a:xfrm>
            <a:off x="375194" y="1343677"/>
            <a:ext cx="1849069" cy="461665"/>
          </a:xfrm>
          <a:prstGeom prst="rect">
            <a:avLst/>
          </a:prstGeom>
          <a:noFill/>
          <a:ln/>
        </p:spPr>
        <p:txBody>
          <a:bodyPr wrap="square" lIns="91440" tIns="45720" rIns="91440" bIns="45720" rtlCol="0" anchor="ctr">
            <a:spAutoFit/>
          </a:bodyPr>
          <a:lstStyle/>
          <a:p>
            <a:pPr marL="0" indent="0" algn="ctr">
              <a:buNone/>
            </a:pPr>
            <a:r>
              <a:rPr lang="en-US" sz="2400" b="1">
                <a:solidFill>
                  <a:srgbClr val="FFFFFF"/>
                </a:solidFill>
                <a:latin typeface="Raleway"/>
              </a:rPr>
              <a:t>1947</a:t>
            </a:r>
          </a:p>
        </p:txBody>
      </p:sp>
      <p:sp>
        <p:nvSpPr>
          <p:cNvPr id="6" name="Text 5">
            <a:extLst>
              <a:ext uri="{FF2B5EF4-FFF2-40B4-BE49-F238E27FC236}">
                <a16:creationId xmlns:a16="http://schemas.microsoft.com/office/drawing/2014/main" id="{788D5692-EBDC-0771-D2C9-70278788BEDB}"/>
              </a:ext>
            </a:extLst>
          </p:cNvPr>
          <p:cNvSpPr/>
          <p:nvPr/>
        </p:nvSpPr>
        <p:spPr>
          <a:xfrm>
            <a:off x="420914" y="1921982"/>
            <a:ext cx="1757629" cy="365760"/>
          </a:xfrm>
          <a:prstGeom prst="rect">
            <a:avLst/>
          </a:prstGeom>
          <a:noFill/>
          <a:ln/>
        </p:spPr>
        <p:txBody>
          <a:bodyPr wrap="square" rtlCol="0" anchor="ctr"/>
          <a:lstStyle/>
          <a:p>
            <a:pPr marL="0" indent="0" algn="ctr">
              <a:buNone/>
            </a:pPr>
            <a:r>
              <a:rPr lang="en-US" sz="850" b="1">
                <a:solidFill>
                  <a:srgbClr val="FFFFFF"/>
                </a:solidFill>
                <a:latin typeface="Raleway"/>
                <a:ea typeface="Calibri" pitchFamily="34" charset="-122"/>
                <a:cs typeface="Calibri" pitchFamily="34" charset="-120"/>
              </a:rPr>
              <a:t>FPTK MASUK</a:t>
            </a:r>
            <a:endParaRPr lang="en-US" sz="850">
              <a:latin typeface="Raleway"/>
            </a:endParaRPr>
          </a:p>
        </p:txBody>
      </p:sp>
      <p:sp>
        <p:nvSpPr>
          <p:cNvPr id="7" name="Shape 6">
            <a:extLst>
              <a:ext uri="{FF2B5EF4-FFF2-40B4-BE49-F238E27FC236}">
                <a16:creationId xmlns:a16="http://schemas.microsoft.com/office/drawing/2014/main" id="{E235AE68-6EEE-90F5-595E-3E7B29B024E0}"/>
              </a:ext>
            </a:extLst>
          </p:cNvPr>
          <p:cNvSpPr/>
          <p:nvPr/>
        </p:nvSpPr>
        <p:spPr>
          <a:xfrm>
            <a:off x="2324847" y="1153886"/>
            <a:ext cx="1757629" cy="1207008"/>
          </a:xfrm>
          <a:prstGeom prst="roundRect">
            <a:avLst>
              <a:gd name="adj" fmla="val 4545"/>
            </a:avLst>
          </a:prstGeom>
          <a:solidFill>
            <a:srgbClr val="0070C0"/>
          </a:solidFill>
          <a:ln/>
        </p:spPr>
        <p:txBody>
          <a:bodyPr/>
          <a:lstStyle/>
          <a:p>
            <a:endParaRPr lang="en-US">
              <a:latin typeface="Raleway"/>
            </a:endParaRPr>
          </a:p>
        </p:txBody>
      </p:sp>
      <p:sp>
        <p:nvSpPr>
          <p:cNvPr id="8" name="txtOpen">
            <a:extLst>
              <a:ext uri="{FF2B5EF4-FFF2-40B4-BE49-F238E27FC236}">
                <a16:creationId xmlns:a16="http://schemas.microsoft.com/office/drawing/2014/main" id="{2AF738B4-FBCA-CD94-8AF0-17EE96E72FB9}"/>
              </a:ext>
            </a:extLst>
          </p:cNvPr>
          <p:cNvSpPr/>
          <p:nvPr/>
        </p:nvSpPr>
        <p:spPr>
          <a:xfrm>
            <a:off x="2279127" y="1343677"/>
            <a:ext cx="1849069" cy="461665"/>
          </a:xfrm>
          <a:prstGeom prst="rect">
            <a:avLst/>
          </a:prstGeom>
          <a:noFill/>
          <a:ln/>
        </p:spPr>
        <p:txBody>
          <a:bodyPr wrap="square" lIns="91440" tIns="45720" rIns="91440" bIns="45720" rtlCol="0" anchor="ctr">
            <a:spAutoFit/>
          </a:bodyPr>
          <a:lstStyle/>
          <a:p>
            <a:pPr marL="0" indent="0" algn="ctr">
              <a:buNone/>
            </a:pPr>
            <a:r>
              <a:rPr lang="en-US" sz="2400" b="1">
                <a:solidFill>
                  <a:srgbClr val="FFFFFF"/>
                </a:solidFill>
                <a:latin typeface="Raleway"/>
              </a:rPr>
              <a:t>490</a:t>
            </a:r>
          </a:p>
        </p:txBody>
      </p:sp>
      <p:sp>
        <p:nvSpPr>
          <p:cNvPr id="9" name="Text 8">
            <a:extLst>
              <a:ext uri="{FF2B5EF4-FFF2-40B4-BE49-F238E27FC236}">
                <a16:creationId xmlns:a16="http://schemas.microsoft.com/office/drawing/2014/main" id="{D687B5A1-1E32-0EBA-BFA3-0B30B80A2CE2}"/>
              </a:ext>
            </a:extLst>
          </p:cNvPr>
          <p:cNvSpPr/>
          <p:nvPr/>
        </p:nvSpPr>
        <p:spPr>
          <a:xfrm>
            <a:off x="2324847" y="1921982"/>
            <a:ext cx="1757629" cy="365760"/>
          </a:xfrm>
          <a:prstGeom prst="rect">
            <a:avLst/>
          </a:prstGeom>
          <a:noFill/>
          <a:ln/>
        </p:spPr>
        <p:txBody>
          <a:bodyPr wrap="square" rtlCol="0" anchor="ctr"/>
          <a:lstStyle/>
          <a:p>
            <a:pPr marL="0" indent="0" algn="ctr">
              <a:buNone/>
            </a:pPr>
            <a:r>
              <a:rPr lang="en-US" sz="850" b="1">
                <a:solidFill>
                  <a:srgbClr val="FFFFFF"/>
                </a:solidFill>
                <a:latin typeface="Raleway"/>
                <a:ea typeface="Calibri" pitchFamily="34" charset="-122"/>
                <a:cs typeface="Calibri" pitchFamily="34" charset="-120"/>
              </a:rPr>
              <a:t>OPEN</a:t>
            </a:r>
            <a:endParaRPr lang="en-US" sz="850">
              <a:latin typeface="Raleway"/>
            </a:endParaRPr>
          </a:p>
        </p:txBody>
      </p:sp>
      <p:sp>
        <p:nvSpPr>
          <p:cNvPr id="10" name="Shape 9">
            <a:extLst>
              <a:ext uri="{FF2B5EF4-FFF2-40B4-BE49-F238E27FC236}">
                <a16:creationId xmlns:a16="http://schemas.microsoft.com/office/drawing/2014/main" id="{B07EA445-F6B4-0FE6-2B19-5195E1E5C101}"/>
              </a:ext>
            </a:extLst>
          </p:cNvPr>
          <p:cNvSpPr/>
          <p:nvPr/>
        </p:nvSpPr>
        <p:spPr>
          <a:xfrm>
            <a:off x="4228780" y="1153886"/>
            <a:ext cx="1757629" cy="1207008"/>
          </a:xfrm>
          <a:prstGeom prst="roundRect">
            <a:avLst>
              <a:gd name="adj" fmla="val 4545"/>
            </a:avLst>
          </a:prstGeom>
          <a:solidFill>
            <a:srgbClr val="0070C0"/>
          </a:solidFill>
          <a:ln/>
        </p:spPr>
        <p:txBody>
          <a:bodyPr/>
          <a:lstStyle/>
          <a:p>
            <a:endParaRPr lang="en-US">
              <a:latin typeface="Raleway"/>
            </a:endParaRPr>
          </a:p>
        </p:txBody>
      </p:sp>
      <p:sp>
        <p:nvSpPr>
          <p:cNvPr id="11" name="txtClosed">
            <a:extLst>
              <a:ext uri="{FF2B5EF4-FFF2-40B4-BE49-F238E27FC236}">
                <a16:creationId xmlns:a16="http://schemas.microsoft.com/office/drawing/2014/main" id="{1566EBAA-E366-2878-5A01-BA6CA5151115}"/>
              </a:ext>
            </a:extLst>
          </p:cNvPr>
          <p:cNvSpPr/>
          <p:nvPr/>
        </p:nvSpPr>
        <p:spPr>
          <a:xfrm>
            <a:off x="4183060" y="1343677"/>
            <a:ext cx="1849069" cy="461665"/>
          </a:xfrm>
          <a:prstGeom prst="rect">
            <a:avLst/>
          </a:prstGeom>
          <a:noFill/>
          <a:ln/>
        </p:spPr>
        <p:txBody>
          <a:bodyPr wrap="square" lIns="91440" tIns="45720" rIns="91440" bIns="45720" rtlCol="0" anchor="ctr">
            <a:spAutoFit/>
          </a:bodyPr>
          <a:lstStyle/>
          <a:p>
            <a:pPr marL="0" indent="0" algn="ctr">
              <a:buNone/>
            </a:pPr>
            <a:r>
              <a:rPr lang="en-US" sz="2400" b="1">
                <a:solidFill>
                  <a:srgbClr val="FFFFFF"/>
                </a:solidFill>
                <a:latin typeface="Raleway"/>
              </a:rPr>
              <a:t>1137</a:t>
            </a:r>
          </a:p>
        </p:txBody>
      </p:sp>
      <p:sp>
        <p:nvSpPr>
          <p:cNvPr id="12" name="Text 11">
            <a:extLst>
              <a:ext uri="{FF2B5EF4-FFF2-40B4-BE49-F238E27FC236}">
                <a16:creationId xmlns:a16="http://schemas.microsoft.com/office/drawing/2014/main" id="{FC266365-6120-9AC8-A1DB-124C5FDA752E}"/>
              </a:ext>
            </a:extLst>
          </p:cNvPr>
          <p:cNvSpPr/>
          <p:nvPr/>
        </p:nvSpPr>
        <p:spPr>
          <a:xfrm>
            <a:off x="4228780" y="1921982"/>
            <a:ext cx="1757629" cy="365760"/>
          </a:xfrm>
          <a:prstGeom prst="rect">
            <a:avLst/>
          </a:prstGeom>
          <a:noFill/>
          <a:ln/>
        </p:spPr>
        <p:txBody>
          <a:bodyPr wrap="square" rtlCol="0" anchor="ctr"/>
          <a:lstStyle/>
          <a:p>
            <a:pPr marL="0" indent="0" algn="ctr">
              <a:buNone/>
            </a:pPr>
            <a:r>
              <a:rPr lang="en-US" sz="850" b="1">
                <a:solidFill>
                  <a:srgbClr val="FFFFFF"/>
                </a:solidFill>
                <a:latin typeface="Raleway"/>
                <a:ea typeface="Calibri" pitchFamily="34" charset="-122"/>
                <a:cs typeface="Calibri" pitchFamily="34" charset="-120"/>
              </a:rPr>
              <a:t>CLOSED</a:t>
            </a:r>
            <a:endParaRPr lang="en-US" sz="850">
              <a:latin typeface="Raleway"/>
            </a:endParaRPr>
          </a:p>
        </p:txBody>
      </p:sp>
      <p:sp>
        <p:nvSpPr>
          <p:cNvPr id="13" name="Shape 12">
            <a:extLst>
              <a:ext uri="{FF2B5EF4-FFF2-40B4-BE49-F238E27FC236}">
                <a16:creationId xmlns:a16="http://schemas.microsoft.com/office/drawing/2014/main" id="{404934FC-1669-E61B-60AF-CC50D0A0F7DB}"/>
              </a:ext>
            </a:extLst>
          </p:cNvPr>
          <p:cNvSpPr/>
          <p:nvPr/>
        </p:nvSpPr>
        <p:spPr>
          <a:xfrm>
            <a:off x="6132714" y="1153886"/>
            <a:ext cx="1757629" cy="1207008"/>
          </a:xfrm>
          <a:prstGeom prst="roundRect">
            <a:avLst>
              <a:gd name="adj" fmla="val 4545"/>
            </a:avLst>
          </a:prstGeom>
          <a:solidFill>
            <a:srgbClr val="0070C0"/>
          </a:solidFill>
          <a:ln/>
        </p:spPr>
        <p:txBody>
          <a:bodyPr/>
          <a:lstStyle/>
          <a:p>
            <a:endParaRPr lang="en-US">
              <a:latin typeface="Raleway"/>
            </a:endParaRPr>
          </a:p>
        </p:txBody>
      </p:sp>
      <p:sp>
        <p:nvSpPr>
          <p:cNvPr id="14" name="txtCancel">
            <a:extLst>
              <a:ext uri="{FF2B5EF4-FFF2-40B4-BE49-F238E27FC236}">
                <a16:creationId xmlns:a16="http://schemas.microsoft.com/office/drawing/2014/main" id="{381BBD78-49A7-DE87-0D3F-6B9FD078B44C}"/>
              </a:ext>
            </a:extLst>
          </p:cNvPr>
          <p:cNvSpPr/>
          <p:nvPr/>
        </p:nvSpPr>
        <p:spPr>
          <a:xfrm>
            <a:off x="6086994" y="1343677"/>
            <a:ext cx="1849069" cy="461665"/>
          </a:xfrm>
          <a:prstGeom prst="rect">
            <a:avLst/>
          </a:prstGeom>
          <a:noFill/>
          <a:ln/>
        </p:spPr>
        <p:txBody>
          <a:bodyPr wrap="square" lIns="91440" tIns="45720" rIns="91440" bIns="45720" rtlCol="0" anchor="ctr">
            <a:spAutoFit/>
          </a:bodyPr>
          <a:lstStyle/>
          <a:p>
            <a:pPr marL="0" indent="0" algn="ctr">
              <a:buNone/>
            </a:pPr>
            <a:r>
              <a:rPr lang="en-US" sz="2400" b="1">
                <a:solidFill>
                  <a:srgbClr val="FFFFFF"/>
                </a:solidFill>
                <a:latin typeface="Raleway"/>
              </a:rPr>
              <a:t>320</a:t>
            </a:r>
          </a:p>
        </p:txBody>
      </p:sp>
      <p:sp>
        <p:nvSpPr>
          <p:cNvPr id="15" name="Text 14">
            <a:extLst>
              <a:ext uri="{FF2B5EF4-FFF2-40B4-BE49-F238E27FC236}">
                <a16:creationId xmlns:a16="http://schemas.microsoft.com/office/drawing/2014/main" id="{6142B434-481C-A8F0-EB47-2F1FAE2B5305}"/>
              </a:ext>
            </a:extLst>
          </p:cNvPr>
          <p:cNvSpPr/>
          <p:nvPr/>
        </p:nvSpPr>
        <p:spPr>
          <a:xfrm>
            <a:off x="6132714" y="1921982"/>
            <a:ext cx="1757629" cy="365760"/>
          </a:xfrm>
          <a:prstGeom prst="rect">
            <a:avLst/>
          </a:prstGeom>
          <a:noFill/>
          <a:ln/>
        </p:spPr>
        <p:txBody>
          <a:bodyPr wrap="square" rtlCol="0" anchor="ctr"/>
          <a:lstStyle/>
          <a:p>
            <a:pPr marL="0" indent="0" algn="ctr">
              <a:buNone/>
            </a:pPr>
            <a:r>
              <a:rPr lang="en-US" sz="850" b="1">
                <a:solidFill>
                  <a:srgbClr val="FFFFFF"/>
                </a:solidFill>
                <a:latin typeface="Raleway"/>
                <a:ea typeface="Calibri" pitchFamily="34" charset="-122"/>
                <a:cs typeface="Calibri" pitchFamily="34" charset="-120"/>
              </a:rPr>
              <a:t>CANCEL</a:t>
            </a:r>
            <a:endParaRPr lang="en-US" sz="850">
              <a:latin typeface="Raleway"/>
            </a:endParaRPr>
          </a:p>
        </p:txBody>
      </p:sp>
      <p:sp>
        <p:nvSpPr>
          <p:cNvPr id="16" name="Shape 15">
            <a:extLst>
              <a:ext uri="{FF2B5EF4-FFF2-40B4-BE49-F238E27FC236}">
                <a16:creationId xmlns:a16="http://schemas.microsoft.com/office/drawing/2014/main" id="{1C141661-BC3A-486C-3FDE-01870364840D}"/>
              </a:ext>
            </a:extLst>
          </p:cNvPr>
          <p:cNvSpPr/>
          <p:nvPr/>
        </p:nvSpPr>
        <p:spPr>
          <a:xfrm>
            <a:off x="8036647" y="1153886"/>
            <a:ext cx="1757629" cy="1207008"/>
          </a:xfrm>
          <a:prstGeom prst="roundRect">
            <a:avLst>
              <a:gd name="adj" fmla="val 4545"/>
            </a:avLst>
          </a:prstGeom>
          <a:solidFill>
            <a:srgbClr val="0070C0"/>
          </a:solidFill>
          <a:ln/>
        </p:spPr>
        <p:txBody>
          <a:bodyPr/>
          <a:lstStyle/>
          <a:p>
            <a:endParaRPr lang="en-US">
              <a:latin typeface="Raleway"/>
            </a:endParaRPr>
          </a:p>
        </p:txBody>
      </p:sp>
      <p:sp>
        <p:nvSpPr>
          <p:cNvPr id="17" name="txtFillRate">
            <a:extLst>
              <a:ext uri="{FF2B5EF4-FFF2-40B4-BE49-F238E27FC236}">
                <a16:creationId xmlns:a16="http://schemas.microsoft.com/office/drawing/2014/main" id="{96010182-CB3E-16BF-53CA-1DB8E0B9BA20}"/>
              </a:ext>
            </a:extLst>
          </p:cNvPr>
          <p:cNvSpPr/>
          <p:nvPr/>
        </p:nvSpPr>
        <p:spPr>
          <a:xfrm>
            <a:off x="7990927" y="1343677"/>
            <a:ext cx="1849069" cy="461665"/>
          </a:xfrm>
          <a:prstGeom prst="rect">
            <a:avLst/>
          </a:prstGeom>
          <a:noFill/>
          <a:ln/>
        </p:spPr>
        <p:txBody>
          <a:bodyPr wrap="square" lIns="91440" tIns="45720" rIns="91440" bIns="45720" rtlCol="0" anchor="ctr">
            <a:spAutoFit/>
          </a:bodyPr>
          <a:lstStyle/>
          <a:p>
            <a:pPr marL="0" indent="0" algn="ctr">
              <a:buNone/>
            </a:pPr>
            <a:r>
              <a:rPr lang="en-US" sz="2400" b="1">
                <a:solidFill>
                  <a:srgbClr val="FFFFFF"/>
                </a:solidFill>
                <a:latin typeface="Raleway"/>
              </a:rPr>
              <a:t>69.88%</a:t>
            </a:r>
            <a:endParaRPr lang="en-US" sz="2400">
              <a:latin typeface="Raleway"/>
            </a:endParaRPr>
          </a:p>
        </p:txBody>
      </p:sp>
      <p:sp>
        <p:nvSpPr>
          <p:cNvPr id="18" name="Text 17">
            <a:extLst>
              <a:ext uri="{FF2B5EF4-FFF2-40B4-BE49-F238E27FC236}">
                <a16:creationId xmlns:a16="http://schemas.microsoft.com/office/drawing/2014/main" id="{0E212ABF-48B4-9B33-B2F1-4E8B30736BF9}"/>
              </a:ext>
            </a:extLst>
          </p:cNvPr>
          <p:cNvSpPr/>
          <p:nvPr/>
        </p:nvSpPr>
        <p:spPr>
          <a:xfrm>
            <a:off x="8036647" y="1921982"/>
            <a:ext cx="1757629" cy="365760"/>
          </a:xfrm>
          <a:prstGeom prst="rect">
            <a:avLst/>
          </a:prstGeom>
          <a:noFill/>
          <a:ln/>
        </p:spPr>
        <p:txBody>
          <a:bodyPr wrap="square" rtlCol="0" anchor="ctr"/>
          <a:lstStyle/>
          <a:p>
            <a:pPr marL="0" indent="0" algn="ctr">
              <a:buNone/>
            </a:pPr>
            <a:r>
              <a:rPr lang="en-US" sz="850" b="1">
                <a:solidFill>
                  <a:srgbClr val="FFFFFF"/>
                </a:solidFill>
                <a:latin typeface="Raleway"/>
                <a:ea typeface="Calibri" pitchFamily="34" charset="-122"/>
                <a:cs typeface="Calibri" pitchFamily="34" charset="-120"/>
              </a:rPr>
              <a:t>FILL RATE</a:t>
            </a:r>
            <a:endParaRPr lang="en-US" sz="850">
              <a:latin typeface="Raleway"/>
            </a:endParaRPr>
          </a:p>
        </p:txBody>
      </p:sp>
      <p:sp>
        <p:nvSpPr>
          <p:cNvPr id="19" name="Shape 15">
            <a:extLst>
              <a:ext uri="{FF2B5EF4-FFF2-40B4-BE49-F238E27FC236}">
                <a16:creationId xmlns:a16="http://schemas.microsoft.com/office/drawing/2014/main" id="{FAD6291A-22E1-8277-87F7-CF1E906C1B86}"/>
              </a:ext>
            </a:extLst>
          </p:cNvPr>
          <p:cNvSpPr/>
          <p:nvPr/>
        </p:nvSpPr>
        <p:spPr>
          <a:xfrm>
            <a:off x="9986300" y="1163030"/>
            <a:ext cx="1757629" cy="1207008"/>
          </a:xfrm>
          <a:prstGeom prst="roundRect">
            <a:avLst>
              <a:gd name="adj" fmla="val 4545"/>
            </a:avLst>
          </a:prstGeom>
          <a:solidFill>
            <a:srgbClr val="0070C0"/>
          </a:solidFill>
          <a:ln/>
        </p:spPr>
        <p:txBody>
          <a:bodyPr/>
          <a:lstStyle/>
          <a:p>
            <a:endParaRPr lang="en-US">
              <a:latin typeface="Raleway"/>
            </a:endParaRPr>
          </a:p>
        </p:txBody>
      </p:sp>
      <p:sp>
        <p:nvSpPr>
          <p:cNvPr id="20" name="txtCloseSLA">
            <a:extLst>
              <a:ext uri="{FF2B5EF4-FFF2-40B4-BE49-F238E27FC236}">
                <a16:creationId xmlns:a16="http://schemas.microsoft.com/office/drawing/2014/main" id="{600E3EF9-2DD7-99EF-3479-7F4D1FD1516C}"/>
              </a:ext>
            </a:extLst>
          </p:cNvPr>
          <p:cNvSpPr/>
          <p:nvPr/>
        </p:nvSpPr>
        <p:spPr>
          <a:xfrm>
            <a:off x="9885716" y="1370977"/>
            <a:ext cx="1849069" cy="461665"/>
          </a:xfrm>
          <a:prstGeom prst="rect">
            <a:avLst/>
          </a:prstGeom>
          <a:noFill/>
          <a:ln/>
        </p:spPr>
        <p:txBody>
          <a:bodyPr wrap="square" lIns="91440" tIns="45720" rIns="91440" bIns="45720" rtlCol="0" anchor="ctr">
            <a:spAutoFit/>
          </a:bodyPr>
          <a:lstStyle/>
          <a:p>
            <a:pPr algn="ctr"/>
            <a:r>
              <a:rPr lang="en-US" sz="2400" b="1">
                <a:solidFill>
                  <a:srgbClr val="FFFFFF"/>
                </a:solidFill>
                <a:latin typeface="Raleway"/>
              </a:rPr>
              <a:t>40.88%</a:t>
            </a:r>
          </a:p>
        </p:txBody>
      </p:sp>
      <p:sp>
        <p:nvSpPr>
          <p:cNvPr id="22" name="Text 17">
            <a:extLst>
              <a:ext uri="{FF2B5EF4-FFF2-40B4-BE49-F238E27FC236}">
                <a16:creationId xmlns:a16="http://schemas.microsoft.com/office/drawing/2014/main" id="{F3AEF2EE-23AD-C83D-3A14-550F398FE6B8}"/>
              </a:ext>
            </a:extLst>
          </p:cNvPr>
          <p:cNvSpPr/>
          <p:nvPr/>
        </p:nvSpPr>
        <p:spPr>
          <a:xfrm>
            <a:off x="9940580" y="1903694"/>
            <a:ext cx="1757629" cy="365760"/>
          </a:xfrm>
          <a:prstGeom prst="rect">
            <a:avLst/>
          </a:prstGeom>
          <a:noFill/>
          <a:ln/>
        </p:spPr>
        <p:txBody>
          <a:bodyPr wrap="square" rtlCol="0" anchor="ctr"/>
          <a:lstStyle/>
          <a:p>
            <a:pPr marL="0" indent="0" algn="ctr">
              <a:buNone/>
            </a:pPr>
            <a:r>
              <a:rPr lang="en-US" sz="850" b="1">
                <a:solidFill>
                  <a:srgbClr val="FFFFFF"/>
                </a:solidFill>
                <a:latin typeface="Raleway"/>
                <a:ea typeface="Calibri" pitchFamily="34" charset="-122"/>
                <a:cs typeface="Calibri" pitchFamily="34" charset="-120"/>
              </a:rPr>
              <a:t>CLOSE SESUAI SLA</a:t>
            </a:r>
            <a:endParaRPr lang="en-US" sz="850">
              <a:latin typeface="Raleway"/>
            </a:endParaRPr>
          </a:p>
        </p:txBody>
      </p:sp>
      <p:sp>
        <p:nvSpPr>
          <p:cNvPr id="28" name="TextBox 27">
            <a:extLst>
              <a:ext uri="{FF2B5EF4-FFF2-40B4-BE49-F238E27FC236}">
                <a16:creationId xmlns:a16="http://schemas.microsoft.com/office/drawing/2014/main" id="{7817A516-49B9-0C02-7DDD-CD05C02E6E14}"/>
              </a:ext>
            </a:extLst>
          </p:cNvPr>
          <p:cNvSpPr txBox="1"/>
          <p:nvPr/>
        </p:nvSpPr>
        <p:spPr>
          <a:xfrm>
            <a:off x="454367" y="2494712"/>
            <a:ext cx="2908168" cy="600164"/>
          </a:xfrm>
          <a:prstGeom prst="rect">
            <a:avLst/>
          </a:prstGeom>
          <a:noFill/>
        </p:spPr>
        <p:txBody>
          <a:bodyPr wrap="none" lIns="91440" tIns="45720" rIns="91440" bIns="45720" rtlCol="0" anchor="t">
            <a:spAutoFit/>
          </a:bodyPr>
          <a:lstStyle/>
          <a:p>
            <a:r>
              <a:rPr lang="en-US" sz="1100" b="1">
                <a:latin typeface="Raleway"/>
              </a:rPr>
              <a:t>Q1</a:t>
            </a:r>
          </a:p>
          <a:p>
            <a:r>
              <a:rPr lang="en-US" sz="1100">
                <a:latin typeface="Raleway"/>
              </a:rPr>
              <a:t>Average </a:t>
            </a:r>
            <a:r>
              <a:rPr lang="en-US" sz="1100" b="1">
                <a:latin typeface="Raleway"/>
              </a:rPr>
              <a:t>FPTK </a:t>
            </a:r>
            <a:r>
              <a:rPr lang="en-US" sz="1100" b="1" err="1">
                <a:latin typeface="Raleway"/>
              </a:rPr>
              <a:t>Diterima</a:t>
            </a:r>
            <a:r>
              <a:rPr lang="en-US" sz="1100">
                <a:latin typeface="Raleway"/>
              </a:rPr>
              <a:t> =   </a:t>
            </a:r>
            <a:r>
              <a:rPr lang="en-US" sz="1100" b="1">
                <a:latin typeface="Raleway"/>
              </a:rPr>
              <a:t>    FPTK/ week</a:t>
            </a:r>
          </a:p>
          <a:p>
            <a:r>
              <a:rPr lang="en-US" sz="1100">
                <a:latin typeface="Raleway"/>
              </a:rPr>
              <a:t>Average </a:t>
            </a:r>
            <a:r>
              <a:rPr lang="en-US" sz="1100" b="1">
                <a:latin typeface="Raleway"/>
              </a:rPr>
              <a:t>FPTK Closed</a:t>
            </a:r>
            <a:r>
              <a:rPr lang="en-US" sz="1100">
                <a:latin typeface="Raleway"/>
              </a:rPr>
              <a:t> =      </a:t>
            </a:r>
            <a:r>
              <a:rPr lang="en-US" sz="1100" b="1">
                <a:latin typeface="Raleway"/>
              </a:rPr>
              <a:t>FPTK/ week</a:t>
            </a:r>
          </a:p>
        </p:txBody>
      </p:sp>
      <p:sp>
        <p:nvSpPr>
          <p:cNvPr id="33" name="TextBox 32">
            <a:extLst>
              <a:ext uri="{FF2B5EF4-FFF2-40B4-BE49-F238E27FC236}">
                <a16:creationId xmlns:a16="http://schemas.microsoft.com/office/drawing/2014/main" id="{01439170-18D1-616D-4FEF-4CF219E6529B}"/>
              </a:ext>
            </a:extLst>
          </p:cNvPr>
          <p:cNvSpPr txBox="1"/>
          <p:nvPr/>
        </p:nvSpPr>
        <p:spPr>
          <a:xfrm>
            <a:off x="454366" y="3089797"/>
            <a:ext cx="1865548" cy="584775"/>
          </a:xfrm>
          <a:prstGeom prst="rect">
            <a:avLst/>
          </a:prstGeom>
          <a:noFill/>
        </p:spPr>
        <p:txBody>
          <a:bodyPr wrap="square" lIns="91440" tIns="45720" rIns="91440" bIns="45720" rtlCol="0" anchor="t">
            <a:spAutoFit/>
          </a:bodyPr>
          <a:lstStyle/>
          <a:p>
            <a:r>
              <a:rPr lang="en-US" sz="800" b="1">
                <a:solidFill>
                  <a:srgbClr val="3333FF"/>
                </a:solidFill>
                <a:latin typeface="Raleway"/>
              </a:rPr>
              <a:t>Note:</a:t>
            </a:r>
          </a:p>
          <a:p>
            <a:r>
              <a:rPr lang="en-US" sz="800" err="1">
                <a:solidFill>
                  <a:srgbClr val="3333FF"/>
                </a:solidFill>
                <a:latin typeface="Raleway"/>
              </a:rPr>
              <a:t>Sebanyak</a:t>
            </a:r>
            <a:r>
              <a:rPr lang="en-US" sz="800">
                <a:solidFill>
                  <a:srgbClr val="3333FF"/>
                </a:solidFill>
                <a:latin typeface="Raleway"/>
              </a:rPr>
              <a:t> </a:t>
            </a:r>
            <a:r>
              <a:rPr lang="en-US" sz="800" b="1">
                <a:solidFill>
                  <a:srgbClr val="3333FF"/>
                </a:solidFill>
                <a:latin typeface="Raleway"/>
              </a:rPr>
              <a:t>522 FPTK</a:t>
            </a:r>
            <a:r>
              <a:rPr lang="en-US" sz="800">
                <a:solidFill>
                  <a:srgbClr val="3333FF"/>
                </a:solidFill>
                <a:latin typeface="Raleway"/>
              </a:rPr>
              <a:t> </a:t>
            </a:r>
            <a:r>
              <a:rPr lang="en-US" sz="800" err="1">
                <a:solidFill>
                  <a:srgbClr val="3333FF"/>
                </a:solidFill>
                <a:latin typeface="Raleway"/>
              </a:rPr>
              <a:t>adalah</a:t>
            </a:r>
            <a:r>
              <a:rPr lang="en-US" sz="800">
                <a:solidFill>
                  <a:srgbClr val="3333FF"/>
                </a:solidFill>
                <a:latin typeface="Raleway"/>
              </a:rPr>
              <a:t> </a:t>
            </a:r>
            <a:r>
              <a:rPr lang="en-US" sz="800" b="1" err="1">
                <a:solidFill>
                  <a:srgbClr val="3333FF"/>
                </a:solidFill>
                <a:latin typeface="Raleway"/>
              </a:rPr>
              <a:t>oustanding</a:t>
            </a:r>
            <a:r>
              <a:rPr lang="en-US" sz="800" b="1">
                <a:solidFill>
                  <a:srgbClr val="3333FF"/>
                </a:solidFill>
                <a:latin typeface="Raleway"/>
              </a:rPr>
              <a:t> 2025</a:t>
            </a:r>
            <a:r>
              <a:rPr lang="en-US" sz="800">
                <a:solidFill>
                  <a:srgbClr val="3333FF"/>
                </a:solidFill>
                <a:latin typeface="Raleway"/>
              </a:rPr>
              <a:t> (</a:t>
            </a:r>
            <a:r>
              <a:rPr lang="en-US" sz="800" err="1">
                <a:solidFill>
                  <a:srgbClr val="3333FF"/>
                </a:solidFill>
                <a:latin typeface="Raleway"/>
              </a:rPr>
              <a:t>sudah</a:t>
            </a:r>
            <a:r>
              <a:rPr lang="en-US" sz="800">
                <a:solidFill>
                  <a:srgbClr val="3333FF"/>
                </a:solidFill>
                <a:latin typeface="Raleway"/>
              </a:rPr>
              <a:t> </a:t>
            </a:r>
            <a:r>
              <a:rPr lang="en-US" sz="800" err="1">
                <a:solidFill>
                  <a:srgbClr val="3333FF"/>
                </a:solidFill>
                <a:latin typeface="Raleway"/>
              </a:rPr>
              <a:t>diexclude</a:t>
            </a:r>
            <a:r>
              <a:rPr lang="en-US" sz="800">
                <a:solidFill>
                  <a:srgbClr val="3333FF"/>
                </a:solidFill>
                <a:latin typeface="Raleway"/>
              </a:rPr>
              <a:t> </a:t>
            </a:r>
            <a:r>
              <a:rPr lang="en-US" sz="800" err="1">
                <a:solidFill>
                  <a:srgbClr val="3333FF"/>
                </a:solidFill>
                <a:latin typeface="Raleway"/>
              </a:rPr>
              <a:t>dari</a:t>
            </a:r>
            <a:r>
              <a:rPr lang="en-US" sz="800">
                <a:solidFill>
                  <a:srgbClr val="3333FF"/>
                </a:solidFill>
                <a:latin typeface="Raleway"/>
              </a:rPr>
              <a:t> </a:t>
            </a:r>
            <a:r>
              <a:rPr lang="en-US" sz="800" err="1">
                <a:solidFill>
                  <a:srgbClr val="3333FF"/>
                </a:solidFill>
                <a:latin typeface="Raleway"/>
              </a:rPr>
              <a:t>perhitungan</a:t>
            </a:r>
            <a:r>
              <a:rPr lang="en-US" sz="800">
                <a:solidFill>
                  <a:srgbClr val="3333FF"/>
                </a:solidFill>
                <a:latin typeface="Raleway"/>
              </a:rPr>
              <a:t> average)</a:t>
            </a:r>
            <a:endParaRPr lang="en-US" sz="800">
              <a:solidFill>
                <a:srgbClr val="3333FF"/>
              </a:solidFill>
              <a:ea typeface="Calibri"/>
              <a:cs typeface="Calibri"/>
            </a:endParaRPr>
          </a:p>
        </p:txBody>
      </p:sp>
      <p:sp>
        <p:nvSpPr>
          <p:cNvPr id="25" name="TextBox 24">
            <a:extLst>
              <a:ext uri="{FF2B5EF4-FFF2-40B4-BE49-F238E27FC236}">
                <a16:creationId xmlns:a16="http://schemas.microsoft.com/office/drawing/2014/main" id="{EC7FAE10-73DB-DFD7-6AF4-64A78905D7AE}"/>
              </a:ext>
            </a:extLst>
          </p:cNvPr>
          <p:cNvSpPr txBox="1"/>
          <p:nvPr/>
        </p:nvSpPr>
        <p:spPr>
          <a:xfrm>
            <a:off x="8872654" y="2494713"/>
            <a:ext cx="2927404" cy="600164"/>
          </a:xfrm>
          <a:prstGeom prst="rect">
            <a:avLst/>
          </a:prstGeom>
          <a:noFill/>
        </p:spPr>
        <p:txBody>
          <a:bodyPr wrap="none" lIns="91440" tIns="45720" rIns="91440" bIns="45720" rtlCol="0" anchor="t">
            <a:spAutoFit/>
          </a:bodyPr>
          <a:lstStyle/>
          <a:p>
            <a:r>
              <a:rPr lang="en-US" sz="1100" b="1">
                <a:latin typeface="Raleway"/>
              </a:rPr>
              <a:t>Q2</a:t>
            </a:r>
          </a:p>
          <a:p>
            <a:r>
              <a:rPr lang="en-US" sz="1100">
                <a:latin typeface="Raleway"/>
              </a:rPr>
              <a:t>Average </a:t>
            </a:r>
            <a:r>
              <a:rPr lang="en-US" sz="1100" b="1">
                <a:latin typeface="Raleway"/>
              </a:rPr>
              <a:t>FPTK </a:t>
            </a:r>
            <a:r>
              <a:rPr lang="en-US" sz="1100" b="1" err="1">
                <a:latin typeface="Raleway"/>
              </a:rPr>
              <a:t>Diterima</a:t>
            </a:r>
            <a:r>
              <a:rPr lang="en-US" sz="1100">
                <a:latin typeface="Raleway"/>
              </a:rPr>
              <a:t> =       </a:t>
            </a:r>
            <a:r>
              <a:rPr lang="en-US" sz="1100" b="1">
                <a:latin typeface="Raleway"/>
              </a:rPr>
              <a:t>FPTK/ week</a:t>
            </a:r>
          </a:p>
          <a:p>
            <a:r>
              <a:rPr lang="en-US" sz="1100">
                <a:latin typeface="Raleway"/>
              </a:rPr>
              <a:t>Average </a:t>
            </a:r>
            <a:r>
              <a:rPr lang="en-US" sz="1100" b="1">
                <a:latin typeface="Raleway"/>
              </a:rPr>
              <a:t>FPTK Closed</a:t>
            </a:r>
            <a:r>
              <a:rPr lang="en-US" sz="1100">
                <a:latin typeface="Raleway"/>
              </a:rPr>
              <a:t> = </a:t>
            </a:r>
            <a:r>
              <a:rPr lang="en-US" sz="1100" b="1">
                <a:latin typeface="Raleway"/>
              </a:rPr>
              <a:t>     FPTK/ week</a:t>
            </a:r>
          </a:p>
        </p:txBody>
      </p:sp>
      <p:cxnSp>
        <p:nvCxnSpPr>
          <p:cNvPr id="35" name="Straight Connector 34">
            <a:extLst>
              <a:ext uri="{FF2B5EF4-FFF2-40B4-BE49-F238E27FC236}">
                <a16:creationId xmlns:a16="http://schemas.microsoft.com/office/drawing/2014/main" id="{C3D1CB0E-2185-2B52-BB05-E80D121CE4E4}"/>
              </a:ext>
            </a:extLst>
          </p:cNvPr>
          <p:cNvCxnSpPr>
            <a:cxnSpLocks/>
          </p:cNvCxnSpPr>
          <p:nvPr/>
        </p:nvCxnSpPr>
        <p:spPr>
          <a:xfrm flipH="1">
            <a:off x="5384838" y="3429000"/>
            <a:ext cx="29028" cy="3114705"/>
          </a:xfrm>
          <a:prstGeom prst="line">
            <a:avLst/>
          </a:prstGeom>
        </p:spPr>
        <p:style>
          <a:lnRef idx="2">
            <a:schemeClr val="accent1"/>
          </a:lnRef>
          <a:fillRef idx="0">
            <a:schemeClr val="accent1"/>
          </a:fillRef>
          <a:effectRef idx="1">
            <a:schemeClr val="accent1"/>
          </a:effectRef>
          <a:fontRef idx="minor">
            <a:schemeClr val="tx1"/>
          </a:fontRef>
        </p:style>
      </p:cxnSp>
      <p:sp>
        <p:nvSpPr>
          <p:cNvPr id="23" name="Qbeforediterima">
            <a:extLst>
              <a:ext uri="{FF2B5EF4-FFF2-40B4-BE49-F238E27FC236}">
                <a16:creationId xmlns:a16="http://schemas.microsoft.com/office/drawing/2014/main" id="{8E9EDCA3-FBFD-379D-0C74-10C1D0D1E0CE}"/>
              </a:ext>
            </a:extLst>
          </p:cNvPr>
          <p:cNvSpPr txBox="1"/>
          <p:nvPr/>
        </p:nvSpPr>
        <p:spPr>
          <a:xfrm>
            <a:off x="2118769" y="2667584"/>
            <a:ext cx="354584" cy="261610"/>
          </a:xfrm>
          <a:prstGeom prst="rect">
            <a:avLst/>
          </a:prstGeom>
          <a:noFill/>
        </p:spPr>
        <p:txBody>
          <a:bodyPr wrap="square" lIns="91440" tIns="45720" rIns="91440" bIns="45720" rtlCol="0" anchor="t">
            <a:spAutoFit/>
          </a:bodyPr>
          <a:lstStyle/>
          <a:p>
            <a:r>
              <a:rPr lang="en-US" sz="1100" b="1">
                <a:latin typeface="Raleway"/>
              </a:rPr>
              <a:t>65</a:t>
            </a:r>
          </a:p>
        </p:txBody>
      </p:sp>
      <p:sp>
        <p:nvSpPr>
          <p:cNvPr id="26" name="Qbeforeclosed">
            <a:extLst>
              <a:ext uri="{FF2B5EF4-FFF2-40B4-BE49-F238E27FC236}">
                <a16:creationId xmlns:a16="http://schemas.microsoft.com/office/drawing/2014/main" id="{75839134-F10B-D94D-D98C-232B99E4AD08}"/>
              </a:ext>
            </a:extLst>
          </p:cNvPr>
          <p:cNvSpPr txBox="1"/>
          <p:nvPr/>
        </p:nvSpPr>
        <p:spPr>
          <a:xfrm>
            <a:off x="2001830" y="2824461"/>
            <a:ext cx="354584" cy="261610"/>
          </a:xfrm>
          <a:prstGeom prst="rect">
            <a:avLst/>
          </a:prstGeom>
          <a:noFill/>
        </p:spPr>
        <p:txBody>
          <a:bodyPr wrap="square" lIns="91440" tIns="45720" rIns="91440" bIns="45720" rtlCol="0" anchor="t">
            <a:spAutoFit/>
          </a:bodyPr>
          <a:lstStyle/>
          <a:p>
            <a:r>
              <a:rPr lang="en-US" sz="1100" b="1">
                <a:latin typeface="Raleway"/>
              </a:rPr>
              <a:t>31</a:t>
            </a:r>
          </a:p>
        </p:txBody>
      </p:sp>
      <p:sp>
        <p:nvSpPr>
          <p:cNvPr id="29" name="Qafterditerima">
            <a:extLst>
              <a:ext uri="{FF2B5EF4-FFF2-40B4-BE49-F238E27FC236}">
                <a16:creationId xmlns:a16="http://schemas.microsoft.com/office/drawing/2014/main" id="{BB7A0287-F917-AA21-A027-3B00B56DFA5A}"/>
              </a:ext>
            </a:extLst>
          </p:cNvPr>
          <p:cNvSpPr txBox="1"/>
          <p:nvPr/>
        </p:nvSpPr>
        <p:spPr>
          <a:xfrm>
            <a:off x="10527464" y="2667584"/>
            <a:ext cx="354584" cy="261610"/>
          </a:xfrm>
          <a:prstGeom prst="rect">
            <a:avLst/>
          </a:prstGeom>
          <a:noFill/>
        </p:spPr>
        <p:txBody>
          <a:bodyPr wrap="square" lIns="91440" tIns="45720" rIns="91440" bIns="45720" rtlCol="0" anchor="t">
            <a:spAutoFit/>
          </a:bodyPr>
          <a:lstStyle/>
          <a:p>
            <a:r>
              <a:rPr lang="en-US" sz="1100" b="1">
                <a:latin typeface="Raleway"/>
              </a:rPr>
              <a:t>47</a:t>
            </a:r>
          </a:p>
        </p:txBody>
      </p:sp>
      <p:sp>
        <p:nvSpPr>
          <p:cNvPr id="31" name="Qafterclosed">
            <a:extLst>
              <a:ext uri="{FF2B5EF4-FFF2-40B4-BE49-F238E27FC236}">
                <a16:creationId xmlns:a16="http://schemas.microsoft.com/office/drawing/2014/main" id="{A6F4A4B9-8AD7-E41E-9489-4BE340968A2F}"/>
              </a:ext>
            </a:extLst>
          </p:cNvPr>
          <p:cNvSpPr txBox="1"/>
          <p:nvPr/>
        </p:nvSpPr>
        <p:spPr>
          <a:xfrm>
            <a:off x="10415713" y="2824461"/>
            <a:ext cx="354584" cy="261610"/>
          </a:xfrm>
          <a:prstGeom prst="rect">
            <a:avLst/>
          </a:prstGeom>
          <a:noFill/>
        </p:spPr>
        <p:txBody>
          <a:bodyPr wrap="square" lIns="91440" tIns="45720" rIns="91440" bIns="45720" rtlCol="0" anchor="t">
            <a:spAutoFit/>
          </a:bodyPr>
          <a:lstStyle/>
          <a:p>
            <a:r>
              <a:rPr lang="en-US" sz="1100" b="1">
                <a:latin typeface="Raleway"/>
              </a:rPr>
              <a:t>39</a:t>
            </a:r>
          </a:p>
        </p:txBody>
      </p:sp>
    </p:spTree>
    <p:extLst>
      <p:ext uri="{BB962C8B-B14F-4D97-AF65-F5344CB8AC3E}">
        <p14:creationId xmlns:p14="http://schemas.microsoft.com/office/powerpoint/2010/main" val="3357161073"/>
      </p:ext>
    </p:extLst>
  </p:cSld>
  <p:clrMapOvr>
    <a:masterClrMapping/>
  </p:clrMapOvr>
  <p:extLst>
    <p:ext uri="{6950BFC3-D8DA-4A85-94F7-54DA5524770B}">
      <p188:commentRel xmlns:p188="http://schemas.microsoft.com/office/powerpoint/2018/8/main" r:id="rId3"/>
    </p:ext>
  </p:extLs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0"/>
          <p:cNvSpPr/>
          <p:nvPr/>
        </p:nvSpPr>
        <p:spPr>
          <a:xfrm>
            <a:off x="457200" y="292608"/>
            <a:ext cx="11277295" cy="548640"/>
          </a:xfrm>
          <a:prstGeom prst="rect">
            <a:avLst/>
          </a:prstGeom>
          <a:noFill/>
          <a:ln/>
        </p:spPr>
        <p:txBody>
          <a:bodyPr wrap="square" rtlCol="0" anchor="ctr"/>
          <a:lstStyle/>
          <a:p>
            <a:pPr marL="0" indent="0">
              <a:buNone/>
            </a:pPr>
            <a:r>
              <a:rPr lang="en-US" sz="2600" b="1">
                <a:solidFill>
                  <a:srgbClr val="12284C"/>
                </a:solidFill>
                <a:latin typeface="Raleway"/>
                <a:ea typeface="Georgia" pitchFamily="34" charset="-122"/>
                <a:cs typeface="Georgia" pitchFamily="34" charset="-120"/>
              </a:rPr>
              <a:t>Executive Summary — </a:t>
            </a:r>
            <a:r>
              <a:rPr lang="en-US" sz="2600" b="1" err="1">
                <a:solidFill>
                  <a:srgbClr val="12284C"/>
                </a:solidFill>
                <a:latin typeface="Raleway"/>
                <a:ea typeface="Georgia" pitchFamily="34" charset="-122"/>
                <a:cs typeface="Georgia" pitchFamily="34" charset="-120"/>
              </a:rPr>
              <a:t>Seluruh</a:t>
            </a:r>
            <a:r>
              <a:rPr lang="en-US" sz="2600" b="1">
                <a:solidFill>
                  <a:srgbClr val="12284C"/>
                </a:solidFill>
                <a:latin typeface="Raleway"/>
                <a:ea typeface="Georgia" pitchFamily="34" charset="-122"/>
                <a:cs typeface="Georgia" pitchFamily="34" charset="-120"/>
              </a:rPr>
              <a:t> FPTK 2026</a:t>
            </a:r>
            <a:endParaRPr lang="en-US" sz="2600">
              <a:latin typeface="Raleway"/>
            </a:endParaRPr>
          </a:p>
        </p:txBody>
      </p:sp>
      <p:sp>
        <p:nvSpPr>
          <p:cNvPr id="6" name="Shape 3">
            <a:extLst>
              <a:ext uri="{FF2B5EF4-FFF2-40B4-BE49-F238E27FC236}">
                <a16:creationId xmlns:a16="http://schemas.microsoft.com/office/drawing/2014/main" id="{F4EE53A3-3205-09CE-3A9F-815EE823031D}"/>
              </a:ext>
            </a:extLst>
          </p:cNvPr>
          <p:cNvSpPr/>
          <p:nvPr/>
        </p:nvSpPr>
        <p:spPr>
          <a:xfrm>
            <a:off x="420914" y="1153886"/>
            <a:ext cx="1757629" cy="1207008"/>
          </a:xfrm>
          <a:prstGeom prst="roundRect">
            <a:avLst>
              <a:gd name="adj" fmla="val 4545"/>
            </a:avLst>
          </a:prstGeom>
          <a:solidFill>
            <a:srgbClr val="0070C0"/>
          </a:solidFill>
          <a:ln/>
        </p:spPr>
        <p:txBody>
          <a:bodyPr/>
          <a:lstStyle/>
          <a:p>
            <a:endParaRPr lang="en-US">
              <a:latin typeface="Raleway"/>
            </a:endParaRPr>
          </a:p>
        </p:txBody>
      </p:sp>
      <p:sp>
        <p:nvSpPr>
          <p:cNvPr id="21" name="txtFPTKMasuk">
            <a:extLst>
              <a:ext uri="{FF2B5EF4-FFF2-40B4-BE49-F238E27FC236}">
                <a16:creationId xmlns:a16="http://schemas.microsoft.com/office/drawing/2014/main" id="{BB284524-D277-261C-5C64-816666D0CD81}"/>
              </a:ext>
            </a:extLst>
          </p:cNvPr>
          <p:cNvSpPr/>
          <p:nvPr/>
        </p:nvSpPr>
        <p:spPr>
          <a:xfrm>
            <a:off x="375194" y="1343677"/>
            <a:ext cx="1849069" cy="461665"/>
          </a:xfrm>
          <a:prstGeom prst="rect">
            <a:avLst/>
          </a:prstGeom>
          <a:noFill/>
          <a:ln/>
        </p:spPr>
        <p:txBody>
          <a:bodyPr wrap="square" lIns="91440" tIns="45720" rIns="91440" bIns="45720" rtlCol="0" anchor="ctr">
            <a:spAutoFit/>
          </a:bodyPr>
          <a:lstStyle/>
          <a:p>
            <a:pPr marL="0" indent="0" algn="ctr">
              <a:buNone/>
            </a:pPr>
            <a:r>
              <a:rPr lang="en-US" sz="2400" b="1">
                <a:solidFill>
                  <a:srgbClr val="FFFFFF"/>
                </a:solidFill>
                <a:latin typeface="Raleway"/>
              </a:rPr>
              <a:t>1947</a:t>
            </a:r>
          </a:p>
        </p:txBody>
      </p:sp>
      <p:sp>
        <p:nvSpPr>
          <p:cNvPr id="24" name="Text 5">
            <a:extLst>
              <a:ext uri="{FF2B5EF4-FFF2-40B4-BE49-F238E27FC236}">
                <a16:creationId xmlns:a16="http://schemas.microsoft.com/office/drawing/2014/main" id="{8362A123-17E1-F727-5D01-1A4E08914DB3}"/>
              </a:ext>
            </a:extLst>
          </p:cNvPr>
          <p:cNvSpPr/>
          <p:nvPr/>
        </p:nvSpPr>
        <p:spPr>
          <a:xfrm>
            <a:off x="420914" y="1921982"/>
            <a:ext cx="1757629" cy="365760"/>
          </a:xfrm>
          <a:prstGeom prst="rect">
            <a:avLst/>
          </a:prstGeom>
          <a:noFill/>
          <a:ln/>
        </p:spPr>
        <p:txBody>
          <a:bodyPr wrap="square" rtlCol="0" anchor="ctr"/>
          <a:lstStyle/>
          <a:p>
            <a:pPr marL="0" indent="0" algn="ctr">
              <a:buNone/>
            </a:pPr>
            <a:r>
              <a:rPr lang="en-US" sz="850" b="1">
                <a:solidFill>
                  <a:srgbClr val="FFFFFF"/>
                </a:solidFill>
                <a:latin typeface="Raleway"/>
                <a:ea typeface="Calibri" pitchFamily="34" charset="-122"/>
                <a:cs typeface="Calibri" pitchFamily="34" charset="-120"/>
              </a:rPr>
              <a:t>FPTK MASUK</a:t>
            </a:r>
            <a:endParaRPr lang="en-US" sz="850">
              <a:latin typeface="Raleway"/>
            </a:endParaRPr>
          </a:p>
        </p:txBody>
      </p:sp>
      <p:sp>
        <p:nvSpPr>
          <p:cNvPr id="25" name="Shape 6">
            <a:extLst>
              <a:ext uri="{FF2B5EF4-FFF2-40B4-BE49-F238E27FC236}">
                <a16:creationId xmlns:a16="http://schemas.microsoft.com/office/drawing/2014/main" id="{832C128E-C9BD-00D2-1596-75D2F52794B2}"/>
              </a:ext>
            </a:extLst>
          </p:cNvPr>
          <p:cNvSpPr/>
          <p:nvPr/>
        </p:nvSpPr>
        <p:spPr>
          <a:xfrm>
            <a:off x="2324847" y="1153886"/>
            <a:ext cx="1757629" cy="1207008"/>
          </a:xfrm>
          <a:prstGeom prst="roundRect">
            <a:avLst>
              <a:gd name="adj" fmla="val 4545"/>
            </a:avLst>
          </a:prstGeom>
          <a:solidFill>
            <a:srgbClr val="0070C0"/>
          </a:solidFill>
          <a:ln/>
        </p:spPr>
        <p:txBody>
          <a:bodyPr/>
          <a:lstStyle/>
          <a:p>
            <a:endParaRPr lang="en-US">
              <a:latin typeface="Raleway"/>
            </a:endParaRPr>
          </a:p>
        </p:txBody>
      </p:sp>
      <p:sp>
        <p:nvSpPr>
          <p:cNvPr id="26" name="txtOpen">
            <a:extLst>
              <a:ext uri="{FF2B5EF4-FFF2-40B4-BE49-F238E27FC236}">
                <a16:creationId xmlns:a16="http://schemas.microsoft.com/office/drawing/2014/main" id="{F3E45200-DFC0-77C7-343E-24F555D5DD09}"/>
              </a:ext>
            </a:extLst>
          </p:cNvPr>
          <p:cNvSpPr/>
          <p:nvPr/>
        </p:nvSpPr>
        <p:spPr>
          <a:xfrm>
            <a:off x="2279127" y="1343677"/>
            <a:ext cx="1849069" cy="461665"/>
          </a:xfrm>
          <a:prstGeom prst="rect">
            <a:avLst/>
          </a:prstGeom>
          <a:noFill/>
          <a:ln/>
        </p:spPr>
        <p:txBody>
          <a:bodyPr wrap="square" lIns="91440" tIns="45720" rIns="91440" bIns="45720" rtlCol="0" anchor="ctr">
            <a:spAutoFit/>
          </a:bodyPr>
          <a:lstStyle/>
          <a:p>
            <a:pPr marL="0" indent="0" algn="ctr">
              <a:buNone/>
            </a:pPr>
            <a:r>
              <a:rPr lang="en-US" sz="2400" b="1">
                <a:solidFill>
                  <a:srgbClr val="FFFFFF"/>
                </a:solidFill>
                <a:latin typeface="Raleway"/>
              </a:rPr>
              <a:t>490</a:t>
            </a:r>
          </a:p>
        </p:txBody>
      </p:sp>
      <p:sp>
        <p:nvSpPr>
          <p:cNvPr id="27" name="Text 8">
            <a:extLst>
              <a:ext uri="{FF2B5EF4-FFF2-40B4-BE49-F238E27FC236}">
                <a16:creationId xmlns:a16="http://schemas.microsoft.com/office/drawing/2014/main" id="{94F9EFE2-109D-7A2B-FC0B-D75F45DA93D6}"/>
              </a:ext>
            </a:extLst>
          </p:cNvPr>
          <p:cNvSpPr/>
          <p:nvPr/>
        </p:nvSpPr>
        <p:spPr>
          <a:xfrm>
            <a:off x="2324847" y="1921982"/>
            <a:ext cx="1757629" cy="365760"/>
          </a:xfrm>
          <a:prstGeom prst="rect">
            <a:avLst/>
          </a:prstGeom>
          <a:noFill/>
          <a:ln/>
        </p:spPr>
        <p:txBody>
          <a:bodyPr wrap="square" rtlCol="0" anchor="ctr"/>
          <a:lstStyle/>
          <a:p>
            <a:pPr marL="0" indent="0" algn="ctr">
              <a:buNone/>
            </a:pPr>
            <a:r>
              <a:rPr lang="en-US" sz="850" b="1">
                <a:solidFill>
                  <a:srgbClr val="FFFFFF"/>
                </a:solidFill>
                <a:latin typeface="Raleway"/>
                <a:ea typeface="Calibri" pitchFamily="34" charset="-122"/>
                <a:cs typeface="Calibri" pitchFamily="34" charset="-120"/>
              </a:rPr>
              <a:t>OPEN</a:t>
            </a:r>
            <a:endParaRPr lang="en-US" sz="850">
              <a:latin typeface="Raleway"/>
            </a:endParaRPr>
          </a:p>
        </p:txBody>
      </p:sp>
      <p:sp>
        <p:nvSpPr>
          <p:cNvPr id="28" name="Shape 9">
            <a:extLst>
              <a:ext uri="{FF2B5EF4-FFF2-40B4-BE49-F238E27FC236}">
                <a16:creationId xmlns:a16="http://schemas.microsoft.com/office/drawing/2014/main" id="{7973C8D1-8E76-418A-6DC7-34F56B3FFD24}"/>
              </a:ext>
            </a:extLst>
          </p:cNvPr>
          <p:cNvSpPr/>
          <p:nvPr/>
        </p:nvSpPr>
        <p:spPr>
          <a:xfrm>
            <a:off x="4228780" y="1153886"/>
            <a:ext cx="1757629" cy="1207008"/>
          </a:xfrm>
          <a:prstGeom prst="roundRect">
            <a:avLst>
              <a:gd name="adj" fmla="val 4545"/>
            </a:avLst>
          </a:prstGeom>
          <a:solidFill>
            <a:srgbClr val="0070C0"/>
          </a:solidFill>
          <a:ln/>
        </p:spPr>
        <p:txBody>
          <a:bodyPr/>
          <a:lstStyle/>
          <a:p>
            <a:endParaRPr lang="en-US">
              <a:latin typeface="Raleway"/>
            </a:endParaRPr>
          </a:p>
        </p:txBody>
      </p:sp>
      <p:sp>
        <p:nvSpPr>
          <p:cNvPr id="29" name="txtClosed">
            <a:extLst>
              <a:ext uri="{FF2B5EF4-FFF2-40B4-BE49-F238E27FC236}">
                <a16:creationId xmlns:a16="http://schemas.microsoft.com/office/drawing/2014/main" id="{F4BF7C0E-0E59-4C1C-FBE7-2B8DCF367502}"/>
              </a:ext>
            </a:extLst>
          </p:cNvPr>
          <p:cNvSpPr/>
          <p:nvPr/>
        </p:nvSpPr>
        <p:spPr>
          <a:xfrm>
            <a:off x="4183060" y="1343677"/>
            <a:ext cx="1849069" cy="461665"/>
          </a:xfrm>
          <a:prstGeom prst="rect">
            <a:avLst/>
          </a:prstGeom>
          <a:noFill/>
          <a:ln/>
        </p:spPr>
        <p:txBody>
          <a:bodyPr wrap="square" lIns="91440" tIns="45720" rIns="91440" bIns="45720" rtlCol="0" anchor="ctr">
            <a:spAutoFit/>
          </a:bodyPr>
          <a:lstStyle/>
          <a:p>
            <a:pPr marL="0" indent="0" algn="ctr">
              <a:buNone/>
            </a:pPr>
            <a:r>
              <a:rPr lang="en-US" sz="2400" b="1">
                <a:solidFill>
                  <a:srgbClr val="FFFFFF"/>
                </a:solidFill>
                <a:latin typeface="Raleway"/>
              </a:rPr>
              <a:t>1137</a:t>
            </a:r>
          </a:p>
        </p:txBody>
      </p:sp>
      <p:sp>
        <p:nvSpPr>
          <p:cNvPr id="30" name="Text 11">
            <a:extLst>
              <a:ext uri="{FF2B5EF4-FFF2-40B4-BE49-F238E27FC236}">
                <a16:creationId xmlns:a16="http://schemas.microsoft.com/office/drawing/2014/main" id="{E2D7B66B-7B27-E45F-4292-093A046E7DA2}"/>
              </a:ext>
            </a:extLst>
          </p:cNvPr>
          <p:cNvSpPr/>
          <p:nvPr/>
        </p:nvSpPr>
        <p:spPr>
          <a:xfrm>
            <a:off x="4228780" y="1921982"/>
            <a:ext cx="1757629" cy="365760"/>
          </a:xfrm>
          <a:prstGeom prst="rect">
            <a:avLst/>
          </a:prstGeom>
          <a:noFill/>
          <a:ln/>
        </p:spPr>
        <p:txBody>
          <a:bodyPr wrap="square" rtlCol="0" anchor="ctr"/>
          <a:lstStyle/>
          <a:p>
            <a:pPr marL="0" indent="0" algn="ctr">
              <a:buNone/>
            </a:pPr>
            <a:r>
              <a:rPr lang="en-US" sz="850" b="1">
                <a:solidFill>
                  <a:srgbClr val="FFFFFF"/>
                </a:solidFill>
                <a:latin typeface="Raleway"/>
                <a:ea typeface="Calibri" pitchFamily="34" charset="-122"/>
                <a:cs typeface="Calibri" pitchFamily="34" charset="-120"/>
              </a:rPr>
              <a:t>CLOSED</a:t>
            </a:r>
            <a:endParaRPr lang="en-US" sz="850">
              <a:latin typeface="Raleway"/>
            </a:endParaRPr>
          </a:p>
        </p:txBody>
      </p:sp>
      <p:sp>
        <p:nvSpPr>
          <p:cNvPr id="31" name="Shape 12">
            <a:extLst>
              <a:ext uri="{FF2B5EF4-FFF2-40B4-BE49-F238E27FC236}">
                <a16:creationId xmlns:a16="http://schemas.microsoft.com/office/drawing/2014/main" id="{811493E4-904A-0925-9213-0254C1F21B2F}"/>
              </a:ext>
            </a:extLst>
          </p:cNvPr>
          <p:cNvSpPr/>
          <p:nvPr/>
        </p:nvSpPr>
        <p:spPr>
          <a:xfrm>
            <a:off x="6132714" y="1153886"/>
            <a:ext cx="1757629" cy="1207008"/>
          </a:xfrm>
          <a:prstGeom prst="roundRect">
            <a:avLst>
              <a:gd name="adj" fmla="val 4545"/>
            </a:avLst>
          </a:prstGeom>
          <a:solidFill>
            <a:srgbClr val="0070C0"/>
          </a:solidFill>
          <a:ln/>
        </p:spPr>
        <p:txBody>
          <a:bodyPr/>
          <a:lstStyle/>
          <a:p>
            <a:endParaRPr lang="en-US">
              <a:latin typeface="Raleway"/>
            </a:endParaRPr>
          </a:p>
        </p:txBody>
      </p:sp>
      <p:sp>
        <p:nvSpPr>
          <p:cNvPr id="32" name="txtCancel">
            <a:extLst>
              <a:ext uri="{FF2B5EF4-FFF2-40B4-BE49-F238E27FC236}">
                <a16:creationId xmlns:a16="http://schemas.microsoft.com/office/drawing/2014/main" id="{B4E7ADA3-C116-8C59-DFFC-6AD26B636B67}"/>
              </a:ext>
            </a:extLst>
          </p:cNvPr>
          <p:cNvSpPr/>
          <p:nvPr/>
        </p:nvSpPr>
        <p:spPr>
          <a:xfrm>
            <a:off x="6086994" y="1343677"/>
            <a:ext cx="1849069" cy="461665"/>
          </a:xfrm>
          <a:prstGeom prst="rect">
            <a:avLst/>
          </a:prstGeom>
          <a:noFill/>
          <a:ln/>
        </p:spPr>
        <p:txBody>
          <a:bodyPr wrap="square" lIns="91440" tIns="45720" rIns="91440" bIns="45720" rtlCol="0" anchor="ctr">
            <a:spAutoFit/>
          </a:bodyPr>
          <a:lstStyle/>
          <a:p>
            <a:pPr marL="0" indent="0" algn="ctr">
              <a:buNone/>
            </a:pPr>
            <a:r>
              <a:rPr lang="en-US" sz="2400" b="1">
                <a:solidFill>
                  <a:srgbClr val="FFFFFF"/>
                </a:solidFill>
                <a:latin typeface="Raleway"/>
              </a:rPr>
              <a:t>320</a:t>
            </a:r>
          </a:p>
        </p:txBody>
      </p:sp>
      <p:sp>
        <p:nvSpPr>
          <p:cNvPr id="33" name="Text 14">
            <a:extLst>
              <a:ext uri="{FF2B5EF4-FFF2-40B4-BE49-F238E27FC236}">
                <a16:creationId xmlns:a16="http://schemas.microsoft.com/office/drawing/2014/main" id="{812ECD55-CEE7-0486-CA1B-4E82D5700F59}"/>
              </a:ext>
            </a:extLst>
          </p:cNvPr>
          <p:cNvSpPr/>
          <p:nvPr/>
        </p:nvSpPr>
        <p:spPr>
          <a:xfrm>
            <a:off x="6132714" y="1921982"/>
            <a:ext cx="1757629" cy="365760"/>
          </a:xfrm>
          <a:prstGeom prst="rect">
            <a:avLst/>
          </a:prstGeom>
          <a:noFill/>
          <a:ln/>
        </p:spPr>
        <p:txBody>
          <a:bodyPr wrap="square" rtlCol="0" anchor="ctr"/>
          <a:lstStyle/>
          <a:p>
            <a:pPr marL="0" indent="0" algn="ctr">
              <a:buNone/>
            </a:pPr>
            <a:r>
              <a:rPr lang="en-US" sz="850" b="1">
                <a:solidFill>
                  <a:srgbClr val="FFFFFF"/>
                </a:solidFill>
                <a:latin typeface="Raleway"/>
                <a:ea typeface="Calibri" pitchFamily="34" charset="-122"/>
                <a:cs typeface="Calibri" pitchFamily="34" charset="-120"/>
              </a:rPr>
              <a:t>CANCEL</a:t>
            </a:r>
            <a:endParaRPr lang="en-US" sz="850">
              <a:latin typeface="Raleway"/>
            </a:endParaRPr>
          </a:p>
        </p:txBody>
      </p:sp>
      <p:sp>
        <p:nvSpPr>
          <p:cNvPr id="34" name="Shape 15">
            <a:extLst>
              <a:ext uri="{FF2B5EF4-FFF2-40B4-BE49-F238E27FC236}">
                <a16:creationId xmlns:a16="http://schemas.microsoft.com/office/drawing/2014/main" id="{0FB6EEED-5CA8-C0E6-0F24-7FB47FD347E0}"/>
              </a:ext>
            </a:extLst>
          </p:cNvPr>
          <p:cNvSpPr/>
          <p:nvPr/>
        </p:nvSpPr>
        <p:spPr>
          <a:xfrm>
            <a:off x="8036647" y="1153886"/>
            <a:ext cx="1757629" cy="1207008"/>
          </a:xfrm>
          <a:prstGeom prst="roundRect">
            <a:avLst>
              <a:gd name="adj" fmla="val 4545"/>
            </a:avLst>
          </a:prstGeom>
          <a:solidFill>
            <a:srgbClr val="0070C0"/>
          </a:solidFill>
          <a:ln/>
        </p:spPr>
        <p:txBody>
          <a:bodyPr/>
          <a:lstStyle/>
          <a:p>
            <a:endParaRPr lang="en-US">
              <a:latin typeface="Raleway"/>
            </a:endParaRPr>
          </a:p>
        </p:txBody>
      </p:sp>
      <p:sp>
        <p:nvSpPr>
          <p:cNvPr id="35" name="txtFillRate">
            <a:extLst>
              <a:ext uri="{FF2B5EF4-FFF2-40B4-BE49-F238E27FC236}">
                <a16:creationId xmlns:a16="http://schemas.microsoft.com/office/drawing/2014/main" id="{B42AF663-F2AE-66DE-531B-F31E9DA3243D}"/>
              </a:ext>
            </a:extLst>
          </p:cNvPr>
          <p:cNvSpPr/>
          <p:nvPr/>
        </p:nvSpPr>
        <p:spPr>
          <a:xfrm>
            <a:off x="7990927" y="1343677"/>
            <a:ext cx="1849069" cy="461665"/>
          </a:xfrm>
          <a:prstGeom prst="rect">
            <a:avLst/>
          </a:prstGeom>
          <a:noFill/>
          <a:ln/>
        </p:spPr>
        <p:txBody>
          <a:bodyPr wrap="square" lIns="91440" tIns="45720" rIns="91440" bIns="45720" rtlCol="0" anchor="ctr">
            <a:spAutoFit/>
          </a:bodyPr>
          <a:lstStyle/>
          <a:p>
            <a:pPr marL="0" indent="0" algn="ctr">
              <a:buNone/>
            </a:pPr>
            <a:r>
              <a:rPr lang="en-US" sz="2400" b="1">
                <a:solidFill>
                  <a:srgbClr val="FFFFFF"/>
                </a:solidFill>
                <a:latin typeface="Raleway"/>
              </a:rPr>
              <a:t>69.88%</a:t>
            </a:r>
            <a:endParaRPr lang="en-US" sz="2400">
              <a:latin typeface="Raleway"/>
            </a:endParaRPr>
          </a:p>
        </p:txBody>
      </p:sp>
      <p:sp>
        <p:nvSpPr>
          <p:cNvPr id="36" name="Text 17">
            <a:extLst>
              <a:ext uri="{FF2B5EF4-FFF2-40B4-BE49-F238E27FC236}">
                <a16:creationId xmlns:a16="http://schemas.microsoft.com/office/drawing/2014/main" id="{EB530E75-6410-4599-0830-6FDF5BEE9D98}"/>
              </a:ext>
            </a:extLst>
          </p:cNvPr>
          <p:cNvSpPr/>
          <p:nvPr/>
        </p:nvSpPr>
        <p:spPr>
          <a:xfrm>
            <a:off x="8036647" y="1921982"/>
            <a:ext cx="1757629" cy="365760"/>
          </a:xfrm>
          <a:prstGeom prst="rect">
            <a:avLst/>
          </a:prstGeom>
          <a:noFill/>
          <a:ln/>
        </p:spPr>
        <p:txBody>
          <a:bodyPr wrap="square" rtlCol="0" anchor="ctr"/>
          <a:lstStyle/>
          <a:p>
            <a:pPr marL="0" indent="0" algn="ctr">
              <a:buNone/>
            </a:pPr>
            <a:r>
              <a:rPr lang="en-US" sz="850" b="1">
                <a:solidFill>
                  <a:srgbClr val="FFFFFF"/>
                </a:solidFill>
                <a:latin typeface="Raleway"/>
                <a:ea typeface="Calibri" pitchFamily="34" charset="-122"/>
                <a:cs typeface="Calibri" pitchFamily="34" charset="-120"/>
              </a:rPr>
              <a:t>FILL RATE</a:t>
            </a:r>
            <a:endParaRPr lang="en-US" sz="850">
              <a:latin typeface="Raleway"/>
            </a:endParaRPr>
          </a:p>
        </p:txBody>
      </p:sp>
      <p:sp>
        <p:nvSpPr>
          <p:cNvPr id="37" name="Shape 15">
            <a:extLst>
              <a:ext uri="{FF2B5EF4-FFF2-40B4-BE49-F238E27FC236}">
                <a16:creationId xmlns:a16="http://schemas.microsoft.com/office/drawing/2014/main" id="{8001B7FA-AC2B-FC8A-EC45-D6F26FF9A778}"/>
              </a:ext>
            </a:extLst>
          </p:cNvPr>
          <p:cNvSpPr/>
          <p:nvPr/>
        </p:nvSpPr>
        <p:spPr>
          <a:xfrm>
            <a:off x="9986300" y="1163030"/>
            <a:ext cx="1757629" cy="1207008"/>
          </a:xfrm>
          <a:prstGeom prst="roundRect">
            <a:avLst>
              <a:gd name="adj" fmla="val 4545"/>
            </a:avLst>
          </a:prstGeom>
          <a:solidFill>
            <a:srgbClr val="0070C0"/>
          </a:solidFill>
          <a:ln/>
        </p:spPr>
        <p:txBody>
          <a:bodyPr/>
          <a:lstStyle/>
          <a:p>
            <a:endParaRPr lang="en-US">
              <a:latin typeface="Raleway"/>
            </a:endParaRPr>
          </a:p>
        </p:txBody>
      </p:sp>
      <p:sp>
        <p:nvSpPr>
          <p:cNvPr id="38" name="txtCloseSLA">
            <a:extLst>
              <a:ext uri="{FF2B5EF4-FFF2-40B4-BE49-F238E27FC236}">
                <a16:creationId xmlns:a16="http://schemas.microsoft.com/office/drawing/2014/main" id="{29CCAAEB-ADA2-A84B-3DD4-A2859F05F22C}"/>
              </a:ext>
            </a:extLst>
          </p:cNvPr>
          <p:cNvSpPr/>
          <p:nvPr/>
        </p:nvSpPr>
        <p:spPr>
          <a:xfrm>
            <a:off x="9885716" y="1370977"/>
            <a:ext cx="1849069" cy="461665"/>
          </a:xfrm>
          <a:prstGeom prst="rect">
            <a:avLst/>
          </a:prstGeom>
          <a:noFill/>
          <a:ln/>
        </p:spPr>
        <p:txBody>
          <a:bodyPr wrap="square" lIns="91440" tIns="45720" rIns="91440" bIns="45720" rtlCol="0" anchor="ctr">
            <a:spAutoFit/>
          </a:bodyPr>
          <a:lstStyle/>
          <a:p>
            <a:pPr algn="ctr"/>
            <a:r>
              <a:rPr lang="en-US" sz="2400" b="1">
                <a:solidFill>
                  <a:srgbClr val="FFFFFF"/>
                </a:solidFill>
                <a:latin typeface="Raleway"/>
              </a:rPr>
              <a:t>40.88%</a:t>
            </a:r>
          </a:p>
        </p:txBody>
      </p:sp>
      <p:sp>
        <p:nvSpPr>
          <p:cNvPr id="39" name="Text 17">
            <a:extLst>
              <a:ext uri="{FF2B5EF4-FFF2-40B4-BE49-F238E27FC236}">
                <a16:creationId xmlns:a16="http://schemas.microsoft.com/office/drawing/2014/main" id="{9A815F0F-749F-70F1-762C-4150C9A1C750}"/>
              </a:ext>
            </a:extLst>
          </p:cNvPr>
          <p:cNvSpPr/>
          <p:nvPr/>
        </p:nvSpPr>
        <p:spPr>
          <a:xfrm>
            <a:off x="9940580" y="1903694"/>
            <a:ext cx="1757629" cy="365760"/>
          </a:xfrm>
          <a:prstGeom prst="rect">
            <a:avLst/>
          </a:prstGeom>
          <a:noFill/>
          <a:ln/>
        </p:spPr>
        <p:txBody>
          <a:bodyPr wrap="square" rtlCol="0" anchor="ctr"/>
          <a:lstStyle/>
          <a:p>
            <a:pPr marL="0" indent="0" algn="ctr">
              <a:buNone/>
            </a:pPr>
            <a:r>
              <a:rPr lang="en-US" sz="850" b="1">
                <a:solidFill>
                  <a:srgbClr val="FFFFFF"/>
                </a:solidFill>
                <a:latin typeface="Raleway"/>
                <a:ea typeface="Calibri" pitchFamily="34" charset="-122"/>
                <a:cs typeface="Calibri" pitchFamily="34" charset="-120"/>
              </a:rPr>
              <a:t>CLOSE SESUAI SLA</a:t>
            </a:r>
            <a:endParaRPr lang="en-US" sz="850">
              <a:latin typeface="Raleway"/>
            </a:endParaRPr>
          </a:p>
        </p:txBody>
      </p:sp>
      <p:graphicFrame>
        <p:nvGraphicFramePr>
          <p:cNvPr id="11" name="Tableallfptk">
            <a:extLst>
              <a:ext uri="{FF2B5EF4-FFF2-40B4-BE49-F238E27FC236}">
                <a16:creationId xmlns:a16="http://schemas.microsoft.com/office/drawing/2014/main" id="{D53F39CD-0164-FA6F-A724-A46B1FF8BEA5}"/>
              </a:ext>
            </a:extLst>
          </p:cNvPr>
          <p:cNvGraphicFramePr>
            <a:graphicFrameLocks noGrp="1"/>
          </p:cNvGraphicFramePr>
          <p:nvPr>
            <p:extLst>
              <p:ext uri="{D42A27DB-BD31-4B8C-83A1-F6EECF244321}">
                <p14:modId xmlns:p14="http://schemas.microsoft.com/office/powerpoint/2010/main" val="2209251884"/>
              </p:ext>
            </p:extLst>
          </p:nvPr>
        </p:nvGraphicFramePr>
        <p:xfrm>
          <a:off x="480263" y="2530404"/>
          <a:ext cx="11213462" cy="4116286"/>
        </p:xfrm>
        <a:graphic>
          <a:graphicData uri="http://schemas.openxmlformats.org/drawingml/2006/table">
            <a:tbl>
              <a:tblPr/>
              <a:tblGrid>
                <a:gridCol w="1814742">
                  <a:extLst>
                    <a:ext uri="{9D8B030D-6E8A-4147-A177-3AD203B41FA5}">
                      <a16:colId xmlns:a16="http://schemas.microsoft.com/office/drawing/2014/main" val="761204914"/>
                    </a:ext>
                  </a:extLst>
                </a:gridCol>
                <a:gridCol w="787834">
                  <a:extLst>
                    <a:ext uri="{9D8B030D-6E8A-4147-A177-3AD203B41FA5}">
                      <a16:colId xmlns:a16="http://schemas.microsoft.com/office/drawing/2014/main" val="2026255577"/>
                    </a:ext>
                  </a:extLst>
                </a:gridCol>
                <a:gridCol w="815477">
                  <a:extLst>
                    <a:ext uri="{9D8B030D-6E8A-4147-A177-3AD203B41FA5}">
                      <a16:colId xmlns:a16="http://schemas.microsoft.com/office/drawing/2014/main" val="386183474"/>
                    </a:ext>
                  </a:extLst>
                </a:gridCol>
                <a:gridCol w="995159">
                  <a:extLst>
                    <a:ext uri="{9D8B030D-6E8A-4147-A177-3AD203B41FA5}">
                      <a16:colId xmlns:a16="http://schemas.microsoft.com/office/drawing/2014/main" val="951457077"/>
                    </a:ext>
                  </a:extLst>
                </a:gridCol>
                <a:gridCol w="995159">
                  <a:extLst>
                    <a:ext uri="{9D8B030D-6E8A-4147-A177-3AD203B41FA5}">
                      <a16:colId xmlns:a16="http://schemas.microsoft.com/office/drawing/2014/main" val="2646736237"/>
                    </a:ext>
                  </a:extLst>
                </a:gridCol>
                <a:gridCol w="3372481">
                  <a:extLst>
                    <a:ext uri="{9D8B030D-6E8A-4147-A177-3AD203B41FA5}">
                      <a16:colId xmlns:a16="http://schemas.microsoft.com/office/drawing/2014/main" val="3267588136"/>
                    </a:ext>
                  </a:extLst>
                </a:gridCol>
                <a:gridCol w="2432610">
                  <a:extLst>
                    <a:ext uri="{9D8B030D-6E8A-4147-A177-3AD203B41FA5}">
                      <a16:colId xmlns:a16="http://schemas.microsoft.com/office/drawing/2014/main" val="3115461847"/>
                    </a:ext>
                  </a:extLst>
                </a:gridCol>
              </a:tblGrid>
              <a:tr h="456120">
                <a:tc rowSpan="2">
                  <a:txBody>
                    <a:bodyPr/>
                    <a:lstStyle/>
                    <a:p>
                      <a:pPr algn="ctr" rtl="0" fontAlgn="ctr">
                        <a:buNone/>
                      </a:pPr>
                      <a:r>
                        <a:rPr lang="en-US" sz="1600" b="1" i="0" u="none" strike="noStrike">
                          <a:solidFill>
                            <a:srgbClr val="FFFFFF"/>
                          </a:solidFill>
                          <a:effectLst/>
                          <a:latin typeface="Raleway" pitchFamily="2" charset="0"/>
                        </a:rPr>
                        <a:t>KATEGORI</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solidFill>
                      <a:srgbClr val="002060"/>
                    </a:solidFill>
                  </a:tcPr>
                </a:tc>
                <a:tc rowSpan="2">
                  <a:txBody>
                    <a:bodyPr/>
                    <a:lstStyle/>
                    <a:p>
                      <a:pPr algn="ctr" rtl="0" fontAlgn="ctr">
                        <a:buNone/>
                      </a:pPr>
                      <a:r>
                        <a:rPr lang="en-US" sz="1600" b="1" i="0" u="none" strike="noStrike">
                          <a:solidFill>
                            <a:srgbClr val="FFFFFF"/>
                          </a:solidFill>
                          <a:effectLst/>
                          <a:latin typeface="Raleway" pitchFamily="2" charset="0"/>
                        </a:rPr>
                        <a:t>FPTK</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solidFill>
                      <a:srgbClr val="002060"/>
                    </a:solidFill>
                  </a:tcPr>
                </a:tc>
                <a:tc rowSpan="2">
                  <a:txBody>
                    <a:bodyPr/>
                    <a:lstStyle/>
                    <a:p>
                      <a:pPr algn="ctr" rtl="0" fontAlgn="ctr">
                        <a:buNone/>
                      </a:pPr>
                      <a:r>
                        <a:rPr lang="en-US" sz="1600" b="1" i="0" u="none" strike="noStrike">
                          <a:solidFill>
                            <a:srgbClr val="FFFFFF"/>
                          </a:solidFill>
                          <a:effectLst/>
                          <a:latin typeface="Raleway" pitchFamily="2" charset="0"/>
                        </a:rPr>
                        <a:t>Open</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solidFill>
                      <a:srgbClr val="002060"/>
                    </a:solidFill>
                  </a:tcPr>
                </a:tc>
                <a:tc rowSpan="2">
                  <a:txBody>
                    <a:bodyPr/>
                    <a:lstStyle/>
                    <a:p>
                      <a:pPr algn="ctr" rtl="0" fontAlgn="ctr">
                        <a:buNone/>
                      </a:pPr>
                      <a:r>
                        <a:rPr lang="en-US" sz="1600" b="1" i="0" u="none" strike="noStrike">
                          <a:solidFill>
                            <a:srgbClr val="FFFFFF"/>
                          </a:solidFill>
                          <a:effectLst/>
                          <a:latin typeface="Raleway" pitchFamily="2" charset="0"/>
                        </a:rPr>
                        <a:t>Closed</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solidFill>
                      <a:srgbClr val="002060"/>
                    </a:solidFill>
                  </a:tcPr>
                </a:tc>
                <a:tc rowSpan="2">
                  <a:txBody>
                    <a:bodyPr/>
                    <a:lstStyle/>
                    <a:p>
                      <a:pPr algn="ctr" rtl="0" fontAlgn="ctr">
                        <a:buNone/>
                      </a:pPr>
                      <a:r>
                        <a:rPr lang="en-US" sz="1600" b="1" i="0" u="none" strike="noStrike">
                          <a:solidFill>
                            <a:srgbClr val="FFFFFF"/>
                          </a:solidFill>
                          <a:effectLst/>
                          <a:latin typeface="Raleway" pitchFamily="2" charset="0"/>
                        </a:rPr>
                        <a:t>Cancel</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solidFill>
                      <a:srgbClr val="002060"/>
                    </a:solidFill>
                  </a:tcPr>
                </a:tc>
                <a:tc>
                  <a:txBody>
                    <a:bodyPr/>
                    <a:lstStyle/>
                    <a:p>
                      <a:pPr algn="ctr" rtl="0" fontAlgn="ctr">
                        <a:buNone/>
                      </a:pPr>
                      <a:r>
                        <a:rPr lang="en-US" sz="1600" b="1" i="0" u="none" strike="noStrike">
                          <a:solidFill>
                            <a:srgbClr val="FFFFFF"/>
                          </a:solidFill>
                          <a:effectLst/>
                          <a:latin typeface="Raleway" pitchFamily="2" charset="0"/>
                        </a:rPr>
                        <a:t>Fill Rate</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a:noFill/>
                    </a:lnB>
                    <a:solidFill>
                      <a:srgbClr val="002060"/>
                    </a:solidFill>
                  </a:tcPr>
                </a:tc>
                <a:tc rowSpan="2">
                  <a:txBody>
                    <a:bodyPr/>
                    <a:lstStyle/>
                    <a:p>
                      <a:pPr algn="ctr" rtl="0" fontAlgn="ctr">
                        <a:buNone/>
                      </a:pPr>
                      <a:r>
                        <a:rPr lang="en-US" sz="1600" b="1" i="0" u="none" strike="noStrike">
                          <a:solidFill>
                            <a:srgbClr val="FFFFFF"/>
                          </a:solidFill>
                          <a:effectLst/>
                          <a:latin typeface="Raleway" pitchFamily="2" charset="0"/>
                        </a:rPr>
                        <a:t>Closed sesuai SLA</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solidFill>
                      <a:srgbClr val="002060"/>
                    </a:solidFill>
                  </a:tcPr>
                </a:tc>
                <a:extLst>
                  <a:ext uri="{0D108BD9-81ED-4DB2-BD59-A6C34878D82A}">
                    <a16:rowId xmlns:a16="http://schemas.microsoft.com/office/drawing/2014/main" val="4159104913"/>
                  </a:ext>
                </a:extLst>
              </a:tr>
              <a:tr h="691384">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algn="ctr" rtl="0" fontAlgn="ctr">
                        <a:buNone/>
                      </a:pPr>
                      <a:r>
                        <a:rPr lang="en-US" sz="1600" b="1" i="0" u="none" strike="noStrike">
                          <a:solidFill>
                            <a:srgbClr val="FFFFFF"/>
                          </a:solidFill>
                          <a:effectLst/>
                          <a:latin typeface="Raleway" pitchFamily="2" charset="0"/>
                        </a:rPr>
                        <a:t>(Closed/All FPTK-Cancel)</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a:noFill/>
                    </a:lnT>
                    <a:lnB w="6350" cap="flat" cmpd="sng" algn="ctr">
                      <a:solidFill>
                        <a:srgbClr val="D5DEEA"/>
                      </a:solidFill>
                      <a:prstDash val="solid"/>
                      <a:round/>
                      <a:headEnd type="none" w="med" len="med"/>
                      <a:tailEnd type="none" w="med" len="med"/>
                    </a:lnB>
                    <a:solidFill>
                      <a:srgbClr val="002060"/>
                    </a:solidFill>
                  </a:tcPr>
                </a:tc>
                <a:tc vMerge="1">
                  <a:txBody>
                    <a:bodyPr/>
                    <a:lstStyle/>
                    <a:p>
                      <a:endParaRPr lang="en-US"/>
                    </a:p>
                  </a:txBody>
                  <a:tcPr/>
                </a:tc>
                <a:extLst>
                  <a:ext uri="{0D108BD9-81ED-4DB2-BD59-A6C34878D82A}">
                    <a16:rowId xmlns:a16="http://schemas.microsoft.com/office/drawing/2014/main" val="2179847395"/>
                  </a:ext>
                </a:extLst>
              </a:tr>
              <a:tr h="456120">
                <a:tc>
                  <a:txBody>
                    <a:bodyPr/>
                    <a:lstStyle/>
                    <a:p>
                      <a:pPr algn="l" rtl="0" fontAlgn="ctr">
                        <a:buNone/>
                      </a:pPr>
                      <a:r>
                        <a:rPr lang="en-US" sz="1800" b="1" i="0" u="none" strike="noStrike">
                          <a:solidFill>
                            <a:srgbClr val="12284C"/>
                          </a:solidFill>
                          <a:effectLst/>
                          <a:latin typeface="Raleway" pitchFamily="2" charset="0"/>
                        </a:rPr>
                        <a:t>Manager</a:t>
                      </a:r>
                    </a:p>
                  </a:txBody>
                  <a:tcPr marL="7620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tc>
                  <a:txBody>
                    <a:bodyPr/>
                    <a:lstStyle/>
                    <a:p>
                      <a:pPr algn="ctr" rtl="0" fontAlgn="ctr">
                        <a:buNone/>
                      </a:pPr>
                      <a:r>
                        <a:rPr lang="en-US" sz="1800" b="0" i="0" u="none" strike="noStrike">
                          <a:solidFill>
                            <a:srgbClr val="1E293B"/>
                          </a:solidFill>
                          <a:effectLst/>
                          <a:latin typeface="Raleway" pitchFamily="2" charset="0"/>
                        </a:rPr>
                        <a:t>48</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tc>
                  <a:txBody>
                    <a:bodyPr/>
                    <a:lstStyle/>
                    <a:p>
                      <a:pPr algn="ctr" rtl="0" fontAlgn="ctr">
                        <a:buNone/>
                      </a:pPr>
                      <a:r>
                        <a:rPr lang="en-US" sz="1800" b="1" i="0" u="none" strike="noStrike">
                          <a:solidFill>
                            <a:srgbClr val="E08D1C"/>
                          </a:solidFill>
                          <a:effectLst/>
                          <a:latin typeface="Raleway" pitchFamily="2" charset="0"/>
                        </a:rPr>
                        <a:t>15</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tc>
                  <a:txBody>
                    <a:bodyPr/>
                    <a:lstStyle/>
                    <a:p>
                      <a:pPr algn="ctr" rtl="0" fontAlgn="ctr">
                        <a:buNone/>
                      </a:pPr>
                      <a:r>
                        <a:rPr lang="en-US" sz="1800" b="0" i="0" u="none" strike="noStrike">
                          <a:solidFill>
                            <a:srgbClr val="1F7A4D"/>
                          </a:solidFill>
                          <a:effectLst/>
                          <a:latin typeface="Raleway" pitchFamily="2" charset="0"/>
                        </a:rPr>
                        <a:t>18</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tc>
                  <a:txBody>
                    <a:bodyPr/>
                    <a:lstStyle/>
                    <a:p>
                      <a:pPr algn="ctr" rtl="0" fontAlgn="ctr">
                        <a:buNone/>
                      </a:pPr>
                      <a:r>
                        <a:rPr lang="en-US" sz="1800" b="0" i="0" u="none" strike="noStrike">
                          <a:solidFill>
                            <a:srgbClr val="B5392F"/>
                          </a:solidFill>
                          <a:effectLst/>
                          <a:latin typeface="Raleway" pitchFamily="2" charset="0"/>
                        </a:rPr>
                        <a:t>15</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tc>
                  <a:txBody>
                    <a:bodyPr/>
                    <a:lstStyle/>
                    <a:p>
                      <a:pPr algn="ctr" rtl="0" fontAlgn="ctr">
                        <a:buNone/>
                      </a:pPr>
                      <a:r>
                        <a:rPr lang="en-US" sz="1800" b="1" i="0" u="none" strike="noStrike">
                          <a:solidFill>
                            <a:srgbClr val="1E293B"/>
                          </a:solidFill>
                          <a:effectLst/>
                          <a:latin typeface="Raleway" pitchFamily="2" charset="0"/>
                        </a:rPr>
                        <a:t>54.55%</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tc>
                  <a:txBody>
                    <a:bodyPr/>
                    <a:lstStyle/>
                    <a:p>
                      <a:pPr algn="ctr" rtl="0" fontAlgn="ctr">
                        <a:buNone/>
                      </a:pPr>
                      <a:r>
                        <a:rPr lang="en-US" sz="1800" b="1" i="0" u="none" strike="noStrike">
                          <a:solidFill>
                            <a:srgbClr val="000000"/>
                          </a:solidFill>
                          <a:effectLst/>
                          <a:latin typeface="Raleway" pitchFamily="2" charset="0"/>
                        </a:rPr>
                        <a:t>54.55%</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extLst>
                  <a:ext uri="{0D108BD9-81ED-4DB2-BD59-A6C34878D82A}">
                    <a16:rowId xmlns:a16="http://schemas.microsoft.com/office/drawing/2014/main" val="2972866821"/>
                  </a:ext>
                </a:extLst>
              </a:tr>
              <a:tr h="456120">
                <a:tc>
                  <a:txBody>
                    <a:bodyPr/>
                    <a:lstStyle/>
                    <a:p>
                      <a:pPr algn="l" rtl="0" fontAlgn="ctr">
                        <a:buNone/>
                      </a:pPr>
                      <a:r>
                        <a:rPr lang="en-US" sz="1800" b="1" i="0" u="none" strike="noStrike">
                          <a:solidFill>
                            <a:srgbClr val="12284C"/>
                          </a:solidFill>
                          <a:effectLst/>
                          <a:latin typeface="Raleway" pitchFamily="2" charset="0"/>
                        </a:rPr>
                        <a:t>Level 3</a:t>
                      </a:r>
                    </a:p>
                  </a:txBody>
                  <a:tcPr marL="7620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tc>
                  <a:txBody>
                    <a:bodyPr/>
                    <a:lstStyle/>
                    <a:p>
                      <a:pPr algn="ctr" rtl="0" fontAlgn="ctr">
                        <a:buNone/>
                      </a:pPr>
                      <a:r>
                        <a:rPr lang="en-US" sz="1800" b="0" i="0" u="none" strike="noStrike">
                          <a:solidFill>
                            <a:srgbClr val="1E293B"/>
                          </a:solidFill>
                          <a:effectLst/>
                          <a:latin typeface="Raleway" pitchFamily="2" charset="0"/>
                        </a:rPr>
                        <a:t>251</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tc>
                  <a:txBody>
                    <a:bodyPr/>
                    <a:lstStyle/>
                    <a:p>
                      <a:pPr algn="ctr" rtl="0" fontAlgn="ctr">
                        <a:buNone/>
                      </a:pPr>
                      <a:r>
                        <a:rPr lang="en-US" sz="1800" b="1" i="0" u="none" strike="noStrike">
                          <a:solidFill>
                            <a:srgbClr val="E08D1C"/>
                          </a:solidFill>
                          <a:effectLst/>
                          <a:latin typeface="Raleway" pitchFamily="2" charset="0"/>
                        </a:rPr>
                        <a:t>83</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tc>
                  <a:txBody>
                    <a:bodyPr/>
                    <a:lstStyle/>
                    <a:p>
                      <a:pPr algn="ctr" rtl="0" fontAlgn="ctr">
                        <a:buNone/>
                      </a:pPr>
                      <a:r>
                        <a:rPr lang="en-US" sz="1800" b="0" i="0" u="none" strike="noStrike">
                          <a:solidFill>
                            <a:srgbClr val="1F7A4D"/>
                          </a:solidFill>
                          <a:effectLst/>
                          <a:latin typeface="Raleway" pitchFamily="2" charset="0"/>
                        </a:rPr>
                        <a:t>113</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tc>
                  <a:txBody>
                    <a:bodyPr/>
                    <a:lstStyle/>
                    <a:p>
                      <a:pPr algn="ctr" rtl="0" fontAlgn="ctr">
                        <a:buNone/>
                      </a:pPr>
                      <a:r>
                        <a:rPr lang="en-US" sz="1800" b="0" i="0" u="none" strike="noStrike">
                          <a:solidFill>
                            <a:srgbClr val="B5392F"/>
                          </a:solidFill>
                          <a:effectLst/>
                          <a:latin typeface="Raleway" pitchFamily="2" charset="0"/>
                        </a:rPr>
                        <a:t>55</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tc>
                  <a:txBody>
                    <a:bodyPr/>
                    <a:lstStyle/>
                    <a:p>
                      <a:pPr algn="ctr" rtl="0" fontAlgn="ctr">
                        <a:buNone/>
                      </a:pPr>
                      <a:r>
                        <a:rPr lang="en-US" sz="1800" b="1" i="0" u="none" strike="noStrike">
                          <a:solidFill>
                            <a:srgbClr val="000000"/>
                          </a:solidFill>
                          <a:effectLst/>
                          <a:latin typeface="Raleway" pitchFamily="2" charset="0"/>
                        </a:rPr>
                        <a:t>57.65%</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tc>
                  <a:txBody>
                    <a:bodyPr/>
                    <a:lstStyle/>
                    <a:p>
                      <a:pPr algn="ctr" rtl="0" fontAlgn="ctr">
                        <a:buNone/>
                      </a:pPr>
                      <a:r>
                        <a:rPr lang="en-US" sz="1800" b="1" i="0" u="none" strike="noStrike">
                          <a:solidFill>
                            <a:srgbClr val="000000"/>
                          </a:solidFill>
                          <a:effectLst/>
                          <a:latin typeface="Raleway" pitchFamily="2" charset="0"/>
                        </a:rPr>
                        <a:t>57.65%</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extLst>
                  <a:ext uri="{0D108BD9-81ED-4DB2-BD59-A6C34878D82A}">
                    <a16:rowId xmlns:a16="http://schemas.microsoft.com/office/drawing/2014/main" val="3923626245"/>
                  </a:ext>
                </a:extLst>
              </a:tr>
              <a:tr h="456120">
                <a:tc>
                  <a:txBody>
                    <a:bodyPr/>
                    <a:lstStyle/>
                    <a:p>
                      <a:pPr algn="l" rtl="0" fontAlgn="ctr">
                        <a:buNone/>
                      </a:pPr>
                      <a:r>
                        <a:rPr lang="en-US" sz="1800" b="1" i="0" u="none" strike="noStrike">
                          <a:solidFill>
                            <a:srgbClr val="12284C"/>
                          </a:solidFill>
                          <a:effectLst/>
                          <a:latin typeface="Raleway" pitchFamily="2" charset="0"/>
                        </a:rPr>
                        <a:t>CLAP &amp; FGDP</a:t>
                      </a:r>
                    </a:p>
                  </a:txBody>
                  <a:tcPr marL="7620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tc>
                  <a:txBody>
                    <a:bodyPr/>
                    <a:lstStyle/>
                    <a:p>
                      <a:pPr algn="ctr" rtl="0" fontAlgn="ctr">
                        <a:buNone/>
                      </a:pPr>
                      <a:r>
                        <a:rPr lang="en-US" sz="1800" b="0" i="0" u="none" strike="noStrike">
                          <a:solidFill>
                            <a:srgbClr val="1E293B"/>
                          </a:solidFill>
                          <a:effectLst/>
                          <a:latin typeface="Raleway" pitchFamily="2" charset="0"/>
                        </a:rPr>
                        <a:t>68</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tc>
                  <a:txBody>
                    <a:bodyPr/>
                    <a:lstStyle/>
                    <a:p>
                      <a:pPr algn="ctr" rtl="0" fontAlgn="ctr">
                        <a:buNone/>
                      </a:pPr>
                      <a:r>
                        <a:rPr lang="en-US" sz="1800" b="1" i="0" u="none" strike="noStrike">
                          <a:solidFill>
                            <a:srgbClr val="E08D1C"/>
                          </a:solidFill>
                          <a:effectLst/>
                          <a:latin typeface="Raleway" pitchFamily="2" charset="0"/>
                        </a:rPr>
                        <a:t>31</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tc>
                  <a:txBody>
                    <a:bodyPr/>
                    <a:lstStyle/>
                    <a:p>
                      <a:pPr algn="ctr" rtl="0" fontAlgn="ctr">
                        <a:buNone/>
                      </a:pPr>
                      <a:r>
                        <a:rPr lang="en-US" sz="1800" b="0" i="0" u="none" strike="noStrike">
                          <a:solidFill>
                            <a:srgbClr val="1F7A4D"/>
                          </a:solidFill>
                          <a:effectLst/>
                          <a:latin typeface="Raleway" pitchFamily="2" charset="0"/>
                        </a:rPr>
                        <a:t>34</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tc>
                  <a:txBody>
                    <a:bodyPr/>
                    <a:lstStyle/>
                    <a:p>
                      <a:pPr algn="ctr" rtl="0" fontAlgn="ctr">
                        <a:buNone/>
                      </a:pPr>
                      <a:r>
                        <a:rPr lang="en-US" sz="1800" b="0" i="0" u="none" strike="noStrike">
                          <a:solidFill>
                            <a:srgbClr val="B5392F"/>
                          </a:solidFill>
                          <a:effectLst/>
                          <a:latin typeface="Raleway" pitchFamily="2" charset="0"/>
                        </a:rPr>
                        <a:t>3</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tc>
                  <a:txBody>
                    <a:bodyPr/>
                    <a:lstStyle/>
                    <a:p>
                      <a:pPr algn="ctr" rtl="0" fontAlgn="ctr">
                        <a:buNone/>
                      </a:pPr>
                      <a:r>
                        <a:rPr lang="en-US" sz="1800" b="1" i="0" u="none" strike="noStrike">
                          <a:solidFill>
                            <a:srgbClr val="000000"/>
                          </a:solidFill>
                          <a:effectLst/>
                          <a:latin typeface="Raleway" pitchFamily="2" charset="0"/>
                        </a:rPr>
                        <a:t>52.31%</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tc>
                  <a:txBody>
                    <a:bodyPr/>
                    <a:lstStyle/>
                    <a:p>
                      <a:pPr algn="ctr" rtl="0" fontAlgn="ctr">
                        <a:buNone/>
                      </a:pPr>
                      <a:r>
                        <a:rPr lang="en-US" sz="1800" b="1" i="0" u="none" strike="noStrike">
                          <a:solidFill>
                            <a:srgbClr val="000000"/>
                          </a:solidFill>
                          <a:effectLst/>
                          <a:latin typeface="Raleway" pitchFamily="2" charset="0"/>
                        </a:rPr>
                        <a:t>7.69%</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extLst>
                  <a:ext uri="{0D108BD9-81ED-4DB2-BD59-A6C34878D82A}">
                    <a16:rowId xmlns:a16="http://schemas.microsoft.com/office/drawing/2014/main" val="2148638731"/>
                  </a:ext>
                </a:extLst>
              </a:tr>
              <a:tr h="456120">
                <a:tc>
                  <a:txBody>
                    <a:bodyPr/>
                    <a:lstStyle/>
                    <a:p>
                      <a:pPr algn="l" rtl="0" fontAlgn="ctr">
                        <a:buNone/>
                      </a:pPr>
                      <a:r>
                        <a:rPr lang="en-US" sz="1800" b="1" i="0" u="none" strike="noStrike">
                          <a:solidFill>
                            <a:srgbClr val="12284C"/>
                          </a:solidFill>
                          <a:effectLst/>
                          <a:latin typeface="Raleway" pitchFamily="2" charset="0"/>
                        </a:rPr>
                        <a:t>STO</a:t>
                      </a:r>
                    </a:p>
                  </a:txBody>
                  <a:tcPr marL="7620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tc>
                  <a:txBody>
                    <a:bodyPr/>
                    <a:lstStyle/>
                    <a:p>
                      <a:pPr algn="ctr" rtl="0" fontAlgn="ctr">
                        <a:buNone/>
                      </a:pPr>
                      <a:r>
                        <a:rPr lang="en-US" sz="1800" b="0" i="0" u="none" strike="noStrike">
                          <a:solidFill>
                            <a:srgbClr val="1E293B"/>
                          </a:solidFill>
                          <a:effectLst/>
                          <a:latin typeface="Raleway" pitchFamily="2" charset="0"/>
                        </a:rPr>
                        <a:t>192</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tc>
                  <a:txBody>
                    <a:bodyPr/>
                    <a:lstStyle/>
                    <a:p>
                      <a:pPr algn="ctr" rtl="0" fontAlgn="ctr">
                        <a:buNone/>
                      </a:pPr>
                      <a:r>
                        <a:rPr lang="en-US" sz="1800" b="1" i="0" u="none" strike="noStrike">
                          <a:solidFill>
                            <a:srgbClr val="E08D1C"/>
                          </a:solidFill>
                          <a:effectLst/>
                          <a:latin typeface="Raleway" pitchFamily="2" charset="0"/>
                        </a:rPr>
                        <a:t>8</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tc>
                  <a:txBody>
                    <a:bodyPr/>
                    <a:lstStyle/>
                    <a:p>
                      <a:pPr algn="ctr" rtl="0" fontAlgn="ctr">
                        <a:buNone/>
                      </a:pPr>
                      <a:r>
                        <a:rPr lang="en-US" sz="1800" b="0" i="0" u="none" strike="noStrike">
                          <a:solidFill>
                            <a:srgbClr val="1F7A4D"/>
                          </a:solidFill>
                          <a:effectLst/>
                          <a:latin typeface="Raleway" pitchFamily="2" charset="0"/>
                        </a:rPr>
                        <a:t>165</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tc>
                  <a:txBody>
                    <a:bodyPr/>
                    <a:lstStyle/>
                    <a:p>
                      <a:pPr algn="ctr" rtl="0" fontAlgn="ctr">
                        <a:buNone/>
                      </a:pPr>
                      <a:r>
                        <a:rPr lang="en-US" sz="1800" b="0" i="0" u="none" strike="noStrike">
                          <a:solidFill>
                            <a:srgbClr val="B5392F"/>
                          </a:solidFill>
                          <a:effectLst/>
                          <a:latin typeface="Raleway" pitchFamily="2" charset="0"/>
                        </a:rPr>
                        <a:t>19</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tc>
                  <a:txBody>
                    <a:bodyPr/>
                    <a:lstStyle/>
                    <a:p>
                      <a:pPr algn="ctr" rtl="0" fontAlgn="ctr">
                        <a:buNone/>
                      </a:pPr>
                      <a:r>
                        <a:rPr lang="en-US" sz="1800" b="1" i="0" u="none" strike="noStrike">
                          <a:solidFill>
                            <a:srgbClr val="000000"/>
                          </a:solidFill>
                          <a:effectLst/>
                          <a:latin typeface="Raleway" pitchFamily="2" charset="0"/>
                        </a:rPr>
                        <a:t>95.38%</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tc>
                  <a:txBody>
                    <a:bodyPr/>
                    <a:lstStyle/>
                    <a:p>
                      <a:pPr algn="ctr" rtl="0" fontAlgn="ctr">
                        <a:buNone/>
                      </a:pPr>
                      <a:r>
                        <a:rPr lang="en-US" sz="1800" b="1" i="0" u="none" strike="noStrike">
                          <a:solidFill>
                            <a:srgbClr val="000000"/>
                          </a:solidFill>
                          <a:effectLst/>
                          <a:latin typeface="Raleway" pitchFamily="2" charset="0"/>
                        </a:rPr>
                        <a:t>92.12%</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extLst>
                  <a:ext uri="{0D108BD9-81ED-4DB2-BD59-A6C34878D82A}">
                    <a16:rowId xmlns:a16="http://schemas.microsoft.com/office/drawing/2014/main" val="65833515"/>
                  </a:ext>
                </a:extLst>
              </a:tr>
              <a:tr h="688182">
                <a:tc>
                  <a:txBody>
                    <a:bodyPr/>
                    <a:lstStyle/>
                    <a:p>
                      <a:pPr algn="l" rtl="0" fontAlgn="ctr">
                        <a:buNone/>
                      </a:pPr>
                      <a:r>
                        <a:rPr lang="en-US" sz="1800" b="1" i="0" u="none" strike="noStrike">
                          <a:solidFill>
                            <a:srgbClr val="12284C"/>
                          </a:solidFill>
                          <a:effectLst/>
                          <a:latin typeface="Raleway" pitchFamily="2" charset="0"/>
                        </a:rPr>
                        <a:t>Level 2C Below</a:t>
                      </a:r>
                    </a:p>
                  </a:txBody>
                  <a:tcPr marL="7620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tc>
                  <a:txBody>
                    <a:bodyPr/>
                    <a:lstStyle/>
                    <a:p>
                      <a:pPr algn="ctr" rtl="0" fontAlgn="ctr">
                        <a:buNone/>
                      </a:pPr>
                      <a:r>
                        <a:rPr lang="en-US" sz="1800" b="0" i="0" u="none" strike="noStrike">
                          <a:solidFill>
                            <a:srgbClr val="1E293B"/>
                          </a:solidFill>
                          <a:effectLst/>
                          <a:latin typeface="Raleway" pitchFamily="2" charset="0"/>
                        </a:rPr>
                        <a:t>1388</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tc>
                  <a:txBody>
                    <a:bodyPr/>
                    <a:lstStyle/>
                    <a:p>
                      <a:pPr algn="ctr" rtl="0" fontAlgn="ctr">
                        <a:buNone/>
                      </a:pPr>
                      <a:r>
                        <a:rPr lang="en-US" sz="1800" b="0" i="0" u="none" strike="noStrike">
                          <a:solidFill>
                            <a:srgbClr val="1E293B"/>
                          </a:solidFill>
                          <a:effectLst/>
                          <a:latin typeface="Raleway" pitchFamily="2" charset="0"/>
                        </a:rPr>
                        <a:t>353</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tc>
                  <a:txBody>
                    <a:bodyPr/>
                    <a:lstStyle/>
                    <a:p>
                      <a:pPr algn="ctr" rtl="0" fontAlgn="ctr">
                        <a:buNone/>
                      </a:pPr>
                      <a:r>
                        <a:rPr lang="en-US" sz="1800" b="0" i="0" u="none" strike="noStrike">
                          <a:solidFill>
                            <a:srgbClr val="1E293B"/>
                          </a:solidFill>
                          <a:effectLst/>
                          <a:latin typeface="Raleway" pitchFamily="2" charset="0"/>
                        </a:rPr>
                        <a:t>807</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tc>
                  <a:txBody>
                    <a:bodyPr/>
                    <a:lstStyle/>
                    <a:p>
                      <a:pPr algn="ctr" rtl="0" fontAlgn="ctr">
                        <a:buNone/>
                      </a:pPr>
                      <a:r>
                        <a:rPr lang="en-US" sz="1800" b="0" i="0" u="none" strike="noStrike">
                          <a:solidFill>
                            <a:srgbClr val="1E293B"/>
                          </a:solidFill>
                          <a:effectLst/>
                          <a:latin typeface="Raleway" pitchFamily="2" charset="0"/>
                        </a:rPr>
                        <a:t>228</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tc>
                  <a:txBody>
                    <a:bodyPr/>
                    <a:lstStyle/>
                    <a:p>
                      <a:pPr algn="ctr" rtl="0" fontAlgn="ctr">
                        <a:buNone/>
                      </a:pPr>
                      <a:r>
                        <a:rPr lang="en-US" sz="1800" b="1" i="0" u="none" strike="noStrike">
                          <a:solidFill>
                            <a:srgbClr val="000000"/>
                          </a:solidFill>
                          <a:effectLst/>
                          <a:latin typeface="Raleway" pitchFamily="2" charset="0"/>
                        </a:rPr>
                        <a:t>69,42%</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tc>
                  <a:txBody>
                    <a:bodyPr/>
                    <a:lstStyle/>
                    <a:p>
                      <a:pPr algn="ctr" rtl="0" fontAlgn="ctr">
                        <a:buNone/>
                      </a:pPr>
                      <a:r>
                        <a:rPr lang="en-US" sz="1800" b="1" i="0" u="none" strike="noStrike">
                          <a:solidFill>
                            <a:srgbClr val="000000"/>
                          </a:solidFill>
                          <a:effectLst/>
                          <a:latin typeface="Raleway" pitchFamily="2" charset="0"/>
                        </a:rPr>
                        <a:t>40,38%</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noFill/>
                  </a:tcPr>
                </a:tc>
                <a:extLst>
                  <a:ext uri="{0D108BD9-81ED-4DB2-BD59-A6C34878D82A}">
                    <a16:rowId xmlns:a16="http://schemas.microsoft.com/office/drawing/2014/main" val="2239299031"/>
                  </a:ext>
                </a:extLst>
              </a:tr>
              <a:tr h="456120">
                <a:tc>
                  <a:txBody>
                    <a:bodyPr/>
                    <a:lstStyle/>
                    <a:p>
                      <a:pPr algn="l" rtl="0" fontAlgn="ctr">
                        <a:buNone/>
                      </a:pPr>
                      <a:r>
                        <a:rPr lang="en-US" sz="1600" b="1" i="0" u="none" strike="noStrike">
                          <a:solidFill>
                            <a:srgbClr val="FFFFFF"/>
                          </a:solidFill>
                          <a:effectLst/>
                          <a:latin typeface="Raleway" pitchFamily="2" charset="0"/>
                        </a:rPr>
                        <a:t>TOTAL</a:t>
                      </a:r>
                    </a:p>
                  </a:txBody>
                  <a:tcPr marL="39376"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solidFill>
                      <a:srgbClr val="002060"/>
                    </a:solidFill>
                  </a:tcPr>
                </a:tc>
                <a:tc>
                  <a:txBody>
                    <a:bodyPr/>
                    <a:lstStyle/>
                    <a:p>
                      <a:pPr algn="ctr" rtl="0" fontAlgn="ctr">
                        <a:buNone/>
                      </a:pPr>
                      <a:r>
                        <a:rPr lang="en-US" sz="1600" b="1" i="0" u="none" strike="noStrike">
                          <a:solidFill>
                            <a:srgbClr val="FFFFFF"/>
                          </a:solidFill>
                          <a:effectLst/>
                          <a:latin typeface="Raleway" pitchFamily="2" charset="0"/>
                        </a:rPr>
                        <a:t>1947</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solidFill>
                      <a:srgbClr val="002060"/>
                    </a:solidFill>
                  </a:tcPr>
                </a:tc>
                <a:tc>
                  <a:txBody>
                    <a:bodyPr/>
                    <a:lstStyle/>
                    <a:p>
                      <a:pPr algn="ctr" rtl="0" fontAlgn="ctr">
                        <a:buNone/>
                      </a:pPr>
                      <a:r>
                        <a:rPr lang="en-US" sz="1600" b="1" i="0" u="none" strike="noStrike">
                          <a:solidFill>
                            <a:srgbClr val="FFFFFF"/>
                          </a:solidFill>
                          <a:effectLst/>
                          <a:latin typeface="Raleway" pitchFamily="2" charset="0"/>
                        </a:rPr>
                        <a:t>490</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solidFill>
                      <a:srgbClr val="002060"/>
                    </a:solidFill>
                  </a:tcPr>
                </a:tc>
                <a:tc>
                  <a:txBody>
                    <a:bodyPr/>
                    <a:lstStyle/>
                    <a:p>
                      <a:pPr algn="ctr" rtl="0" fontAlgn="ctr">
                        <a:buNone/>
                      </a:pPr>
                      <a:r>
                        <a:rPr lang="en-US" sz="1600" b="1" i="0" u="none" strike="noStrike">
                          <a:solidFill>
                            <a:srgbClr val="FFFFFF"/>
                          </a:solidFill>
                          <a:effectLst/>
                          <a:latin typeface="Raleway" pitchFamily="2" charset="0"/>
                        </a:rPr>
                        <a:t>1137</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solidFill>
                      <a:srgbClr val="002060"/>
                    </a:solidFill>
                  </a:tcPr>
                </a:tc>
                <a:tc>
                  <a:txBody>
                    <a:bodyPr/>
                    <a:lstStyle/>
                    <a:p>
                      <a:pPr algn="ctr" rtl="0" fontAlgn="ctr">
                        <a:buNone/>
                      </a:pPr>
                      <a:r>
                        <a:rPr lang="en-US" sz="1600" b="1" i="0" u="none" strike="noStrike">
                          <a:solidFill>
                            <a:srgbClr val="FFFFFF"/>
                          </a:solidFill>
                          <a:effectLst/>
                          <a:latin typeface="Raleway" pitchFamily="2" charset="0"/>
                        </a:rPr>
                        <a:t>320</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solidFill>
                      <a:srgbClr val="002060"/>
                    </a:solidFill>
                  </a:tcPr>
                </a:tc>
                <a:tc>
                  <a:txBody>
                    <a:bodyPr/>
                    <a:lstStyle/>
                    <a:p>
                      <a:pPr algn="ctr" rtl="0" fontAlgn="ctr">
                        <a:buNone/>
                      </a:pPr>
                      <a:r>
                        <a:rPr lang="en-US" sz="1600" b="1" i="0" u="none" strike="noStrike">
                          <a:solidFill>
                            <a:srgbClr val="FFFFFF"/>
                          </a:solidFill>
                          <a:effectLst/>
                          <a:latin typeface="Raleway" pitchFamily="2" charset="0"/>
                        </a:rPr>
                        <a:t>69.88%</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solidFill>
                      <a:srgbClr val="002060"/>
                    </a:solidFill>
                  </a:tcPr>
                </a:tc>
                <a:tc>
                  <a:txBody>
                    <a:bodyPr/>
                    <a:lstStyle/>
                    <a:p>
                      <a:pPr algn="ctr" rtl="0" fontAlgn="ctr">
                        <a:buNone/>
                      </a:pPr>
                      <a:r>
                        <a:rPr lang="en-US" sz="1600" b="1" i="0" u="none" strike="noStrike">
                          <a:solidFill>
                            <a:srgbClr val="FFFFFF"/>
                          </a:solidFill>
                          <a:effectLst/>
                          <a:latin typeface="Raleway" pitchFamily="2" charset="0"/>
                        </a:rPr>
                        <a:t>40.88%</a:t>
                      </a:r>
                    </a:p>
                  </a:txBody>
                  <a:tcPr marL="0" marR="0" marT="0" marB="0" anchor="ctr">
                    <a:lnL w="6350" cap="flat" cmpd="sng" algn="ctr">
                      <a:solidFill>
                        <a:srgbClr val="D5DEEA"/>
                      </a:solidFill>
                      <a:prstDash val="solid"/>
                      <a:round/>
                      <a:headEnd type="none" w="med" len="med"/>
                      <a:tailEnd type="none" w="med" len="med"/>
                    </a:lnL>
                    <a:lnR w="6350" cap="flat" cmpd="sng" algn="ctr">
                      <a:solidFill>
                        <a:srgbClr val="D5DEEA"/>
                      </a:solidFill>
                      <a:prstDash val="solid"/>
                      <a:round/>
                      <a:headEnd type="none" w="med" len="med"/>
                      <a:tailEnd type="none" w="med" len="med"/>
                    </a:lnR>
                    <a:lnT w="6350" cap="flat" cmpd="sng" algn="ctr">
                      <a:solidFill>
                        <a:srgbClr val="D5DEEA"/>
                      </a:solidFill>
                      <a:prstDash val="solid"/>
                      <a:round/>
                      <a:headEnd type="none" w="med" len="med"/>
                      <a:tailEnd type="none" w="med" len="med"/>
                    </a:lnT>
                    <a:lnB w="6350" cap="flat" cmpd="sng" algn="ctr">
                      <a:solidFill>
                        <a:srgbClr val="D5DEEA"/>
                      </a:solidFill>
                      <a:prstDash val="solid"/>
                      <a:round/>
                      <a:headEnd type="none" w="med" len="med"/>
                      <a:tailEnd type="none" w="med" len="med"/>
                    </a:lnB>
                    <a:solidFill>
                      <a:srgbClr val="002060"/>
                    </a:solidFill>
                  </a:tcPr>
                </a:tc>
                <a:extLst>
                  <a:ext uri="{0D108BD9-81ED-4DB2-BD59-A6C34878D82A}">
                    <a16:rowId xmlns:a16="http://schemas.microsoft.com/office/drawing/2014/main" val="1959438383"/>
                  </a:ext>
                </a:extLst>
              </a:tr>
            </a:tbl>
          </a:graphicData>
        </a:graphic>
      </p:graphicFrame>
    </p:spTree>
    <p:extLst>
      <p:ext uri="{BB962C8B-B14F-4D97-AF65-F5344CB8AC3E}">
        <p14:creationId xmlns:p14="http://schemas.microsoft.com/office/powerpoint/2010/main" val="2684839993"/>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C30F5E-724C-C968-AF3F-530620E657DC}"/>
            </a:ext>
          </a:extLst>
        </p:cNvPr>
        <p:cNvGrpSpPr/>
        <p:nvPr/>
      </p:nvGrpSpPr>
      <p:grpSpPr>
        <a:xfrm>
          <a:off x="0" y="0"/>
          <a:ext cx="0" cy="0"/>
          <a:chOff x="0" y="0"/>
          <a:chExt cx="0" cy="0"/>
        </a:xfrm>
      </p:grpSpPr>
      <p:sp>
        <p:nvSpPr>
          <p:cNvPr id="4" name="TextBox 3">
            <a:extLst>
              <a:ext uri="{FF2B5EF4-FFF2-40B4-BE49-F238E27FC236}">
                <a16:creationId xmlns:a16="http://schemas.microsoft.com/office/drawing/2014/main" id="{D7C532A1-7039-DA6B-FF7A-1358BD5BAF31}"/>
              </a:ext>
            </a:extLst>
          </p:cNvPr>
          <p:cNvSpPr txBox="1"/>
          <p:nvPr/>
        </p:nvSpPr>
        <p:spPr>
          <a:xfrm>
            <a:off x="2544521" y="2765452"/>
            <a:ext cx="7102957" cy="1327095"/>
          </a:xfrm>
          <a:prstGeom prst="rect">
            <a:avLst/>
          </a:prstGeom>
          <a:noFill/>
        </p:spPr>
        <p:txBody>
          <a:bodyPr wrap="square" lIns="91440" tIns="45720" rIns="91440" bIns="45720" rtlCol="0" anchor="t">
            <a:spAutoFit/>
          </a:bodyPr>
          <a:lstStyle/>
          <a:p>
            <a:pPr algn="ctr">
              <a:lnSpc>
                <a:spcPct val="70000"/>
              </a:lnSpc>
              <a:defRPr/>
            </a:pPr>
            <a:r>
              <a:rPr lang="en-US" sz="4800" b="1">
                <a:solidFill>
                  <a:srgbClr val="002060"/>
                </a:solidFill>
                <a:latin typeface="Raleway"/>
              </a:rPr>
              <a:t>RECRUITMENT</a:t>
            </a:r>
          </a:p>
          <a:p>
            <a:pPr algn="ctr">
              <a:lnSpc>
                <a:spcPct val="70000"/>
              </a:lnSpc>
              <a:defRPr/>
            </a:pPr>
            <a:r>
              <a:rPr lang="en-US" sz="4800" b="1">
                <a:solidFill>
                  <a:srgbClr val="002060"/>
                </a:solidFill>
                <a:latin typeface="Raleway"/>
              </a:rPr>
              <a:t>MANAGER</a:t>
            </a:r>
          </a:p>
          <a:p>
            <a:pPr algn="ctr">
              <a:lnSpc>
                <a:spcPct val="70000"/>
              </a:lnSpc>
              <a:defRPr/>
            </a:pPr>
            <a:r>
              <a:rPr lang="en-US" b="1">
                <a:latin typeface="Raleway"/>
              </a:rPr>
              <a:t>LEVEL 4A – 4C</a:t>
            </a:r>
          </a:p>
        </p:txBody>
      </p:sp>
    </p:spTree>
    <p:extLst>
      <p:ext uri="{BB962C8B-B14F-4D97-AF65-F5344CB8AC3E}">
        <p14:creationId xmlns:p14="http://schemas.microsoft.com/office/powerpoint/2010/main" val="164782670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A2190CE-6FEA-AD79-BD4A-736DFAF5EE33}"/>
            </a:ext>
          </a:extLst>
        </p:cNvPr>
        <p:cNvGrpSpPr/>
        <p:nvPr/>
      </p:nvGrpSpPr>
      <p:grpSpPr>
        <a:xfrm>
          <a:off x="0" y="0"/>
          <a:ext cx="0" cy="0"/>
          <a:chOff x="0" y="0"/>
          <a:chExt cx="0" cy="0"/>
        </a:xfrm>
      </p:grpSpPr>
      <p:pic>
        <p:nvPicPr>
          <p:cNvPr id="5" name="Grafikmanager">
            <a:extLst>
              <a:ext uri="{FF2B5EF4-FFF2-40B4-BE49-F238E27FC236}">
                <a16:creationId xmlns:a16="http://schemas.microsoft.com/office/drawing/2014/main" id="{FD10F96D-103D-2AF8-AB3C-7E8EB3E58FB0}"/>
              </a:ext>
            </a:extLst>
          </p:cNvPr>
          <p:cNvPicPr>
            <a:picLocks noChangeAspect="1"/>
          </p:cNvPicPr>
          <p:nvPr/>
        </p:nvPicPr>
        <p:blipFill>
          <a:blip r:embed="rId3"/>
          <a:srcRect/>
          <a:stretch>
            <a:fillRect/>
          </a:stretch>
        </p:blipFill>
        <p:spPr>
          <a:xfrm>
            <a:off x="889704" y="2774142"/>
            <a:ext cx="10394581" cy="3865199"/>
          </a:xfrm>
          <a:prstGeom prst="rect">
            <a:avLst/>
          </a:prstGeom>
        </p:spPr>
      </p:pic>
      <p:sp>
        <p:nvSpPr>
          <p:cNvPr id="2" name="Text 0">
            <a:extLst>
              <a:ext uri="{FF2B5EF4-FFF2-40B4-BE49-F238E27FC236}">
                <a16:creationId xmlns:a16="http://schemas.microsoft.com/office/drawing/2014/main" id="{A7CC8BE0-3C69-326C-3739-A0870FA7C1B6}"/>
              </a:ext>
            </a:extLst>
          </p:cNvPr>
          <p:cNvSpPr/>
          <p:nvPr/>
        </p:nvSpPr>
        <p:spPr>
          <a:xfrm>
            <a:off x="457200" y="292608"/>
            <a:ext cx="11277295" cy="548640"/>
          </a:xfrm>
          <a:prstGeom prst="rect">
            <a:avLst/>
          </a:prstGeom>
          <a:noFill/>
          <a:ln/>
        </p:spPr>
        <p:txBody>
          <a:bodyPr wrap="square" lIns="91440" tIns="45720" rIns="91440" bIns="45720" rtlCol="0" anchor="ctr"/>
          <a:lstStyle/>
          <a:p>
            <a:pPr marL="0" indent="0">
              <a:buNone/>
            </a:pPr>
            <a:r>
              <a:rPr lang="en-US" sz="2600" b="1">
                <a:solidFill>
                  <a:srgbClr val="12284C"/>
                </a:solidFill>
                <a:latin typeface="Raleway"/>
                <a:ea typeface="Georgia" pitchFamily="34" charset="-122"/>
                <a:cs typeface="Georgia" pitchFamily="34" charset="-120"/>
              </a:rPr>
              <a:t>Executive Summary — Manager</a:t>
            </a:r>
            <a:endParaRPr lang="en-US" sz="2600">
              <a:latin typeface="Raleway"/>
            </a:endParaRPr>
          </a:p>
        </p:txBody>
      </p:sp>
      <p:sp>
        <p:nvSpPr>
          <p:cNvPr id="25" name="TextBox 24">
            <a:extLst>
              <a:ext uri="{FF2B5EF4-FFF2-40B4-BE49-F238E27FC236}">
                <a16:creationId xmlns:a16="http://schemas.microsoft.com/office/drawing/2014/main" id="{FCEB5FB3-C327-3568-3AC9-DCFAB22252E0}"/>
              </a:ext>
            </a:extLst>
          </p:cNvPr>
          <p:cNvSpPr txBox="1"/>
          <p:nvPr/>
        </p:nvSpPr>
        <p:spPr>
          <a:xfrm>
            <a:off x="8872654" y="2494713"/>
            <a:ext cx="2930610" cy="600164"/>
          </a:xfrm>
          <a:prstGeom prst="rect">
            <a:avLst/>
          </a:prstGeom>
          <a:noFill/>
        </p:spPr>
        <p:txBody>
          <a:bodyPr wrap="none" lIns="91440" tIns="45720" rIns="91440" bIns="45720" rtlCol="0" anchor="t">
            <a:spAutoFit/>
          </a:bodyPr>
          <a:lstStyle/>
          <a:p>
            <a:r>
              <a:rPr lang="en-US" sz="1100" b="1">
                <a:latin typeface="Raleway"/>
              </a:rPr>
              <a:t>Q2</a:t>
            </a:r>
          </a:p>
          <a:p>
            <a:r>
              <a:rPr lang="en-US" sz="1100">
                <a:latin typeface="Raleway"/>
              </a:rPr>
              <a:t>Average </a:t>
            </a:r>
            <a:r>
              <a:rPr lang="en-US" sz="1100" b="1">
                <a:latin typeface="Raleway"/>
              </a:rPr>
              <a:t>FPTK </a:t>
            </a:r>
            <a:r>
              <a:rPr lang="en-US" sz="1100" b="1" err="1">
                <a:latin typeface="Raleway"/>
              </a:rPr>
              <a:t>Diterima</a:t>
            </a:r>
            <a:r>
              <a:rPr lang="en-US" sz="1100">
                <a:latin typeface="Raleway"/>
              </a:rPr>
              <a:t> = </a:t>
            </a:r>
            <a:r>
              <a:rPr lang="en-US" sz="1100" b="1">
                <a:latin typeface="Raleway"/>
              </a:rPr>
              <a:t>     FPTK/ week</a:t>
            </a:r>
          </a:p>
          <a:p>
            <a:r>
              <a:rPr lang="en-US" sz="1100">
                <a:latin typeface="Raleway"/>
              </a:rPr>
              <a:t>Average </a:t>
            </a:r>
            <a:r>
              <a:rPr lang="en-US" sz="1100" b="1">
                <a:latin typeface="Raleway"/>
              </a:rPr>
              <a:t>FPTK Closed</a:t>
            </a:r>
            <a:r>
              <a:rPr lang="en-US" sz="1100">
                <a:latin typeface="Raleway"/>
              </a:rPr>
              <a:t> = </a:t>
            </a:r>
            <a:r>
              <a:rPr lang="en-US" sz="1100" b="1">
                <a:latin typeface="Raleway"/>
              </a:rPr>
              <a:t>     FPTK/ week</a:t>
            </a:r>
          </a:p>
        </p:txBody>
      </p:sp>
      <p:sp>
        <p:nvSpPr>
          <p:cNvPr id="37" name="TextBox 36">
            <a:extLst>
              <a:ext uri="{FF2B5EF4-FFF2-40B4-BE49-F238E27FC236}">
                <a16:creationId xmlns:a16="http://schemas.microsoft.com/office/drawing/2014/main" id="{E00A0E4D-8C28-9116-06B4-F28C47BFF63A}"/>
              </a:ext>
            </a:extLst>
          </p:cNvPr>
          <p:cNvSpPr txBox="1"/>
          <p:nvPr/>
        </p:nvSpPr>
        <p:spPr>
          <a:xfrm>
            <a:off x="461623" y="3089797"/>
            <a:ext cx="1865548" cy="584775"/>
          </a:xfrm>
          <a:prstGeom prst="rect">
            <a:avLst/>
          </a:prstGeom>
          <a:noFill/>
        </p:spPr>
        <p:txBody>
          <a:bodyPr wrap="square" lIns="91440" tIns="45720" rIns="91440" bIns="45720" rtlCol="0" anchor="t">
            <a:spAutoFit/>
          </a:bodyPr>
          <a:lstStyle/>
          <a:p>
            <a:r>
              <a:rPr lang="en-US" sz="800" b="1">
                <a:solidFill>
                  <a:srgbClr val="3333FF"/>
                </a:solidFill>
                <a:latin typeface="Raleway"/>
              </a:rPr>
              <a:t>Note:</a:t>
            </a:r>
          </a:p>
          <a:p>
            <a:r>
              <a:rPr lang="en-US" sz="800" err="1">
                <a:solidFill>
                  <a:srgbClr val="3333FF"/>
                </a:solidFill>
                <a:latin typeface="Raleway"/>
              </a:rPr>
              <a:t>Sebanyak</a:t>
            </a:r>
            <a:r>
              <a:rPr lang="en-US" sz="800">
                <a:solidFill>
                  <a:srgbClr val="3333FF"/>
                </a:solidFill>
                <a:latin typeface="Raleway"/>
              </a:rPr>
              <a:t> </a:t>
            </a:r>
            <a:r>
              <a:rPr lang="en-US" sz="800" b="1">
                <a:solidFill>
                  <a:srgbClr val="3333FF"/>
                </a:solidFill>
                <a:latin typeface="Raleway"/>
              </a:rPr>
              <a:t>18 FPTK</a:t>
            </a:r>
            <a:r>
              <a:rPr lang="en-US" sz="800">
                <a:solidFill>
                  <a:srgbClr val="3333FF"/>
                </a:solidFill>
                <a:latin typeface="Raleway"/>
              </a:rPr>
              <a:t> </a:t>
            </a:r>
            <a:r>
              <a:rPr lang="en-US" sz="800" err="1">
                <a:solidFill>
                  <a:srgbClr val="3333FF"/>
                </a:solidFill>
                <a:latin typeface="Raleway"/>
              </a:rPr>
              <a:t>adalah</a:t>
            </a:r>
            <a:r>
              <a:rPr lang="en-US" sz="800">
                <a:solidFill>
                  <a:srgbClr val="3333FF"/>
                </a:solidFill>
                <a:latin typeface="Raleway"/>
              </a:rPr>
              <a:t> </a:t>
            </a:r>
            <a:r>
              <a:rPr lang="en-US" sz="800" b="1" err="1">
                <a:solidFill>
                  <a:srgbClr val="3333FF"/>
                </a:solidFill>
                <a:latin typeface="Raleway"/>
              </a:rPr>
              <a:t>oustanding</a:t>
            </a:r>
            <a:r>
              <a:rPr lang="en-US" sz="800" b="1">
                <a:solidFill>
                  <a:srgbClr val="3333FF"/>
                </a:solidFill>
                <a:latin typeface="Raleway"/>
              </a:rPr>
              <a:t> 2025</a:t>
            </a:r>
            <a:r>
              <a:rPr lang="en-US" sz="800">
                <a:solidFill>
                  <a:srgbClr val="3333FF"/>
                </a:solidFill>
                <a:latin typeface="Raleway"/>
              </a:rPr>
              <a:t> (</a:t>
            </a:r>
            <a:r>
              <a:rPr lang="en-US" sz="800" err="1">
                <a:solidFill>
                  <a:srgbClr val="3333FF"/>
                </a:solidFill>
                <a:latin typeface="Raleway"/>
              </a:rPr>
              <a:t>sudah</a:t>
            </a:r>
            <a:r>
              <a:rPr lang="en-US" sz="800">
                <a:solidFill>
                  <a:srgbClr val="3333FF"/>
                </a:solidFill>
                <a:latin typeface="Raleway"/>
              </a:rPr>
              <a:t> di exclude </a:t>
            </a:r>
            <a:r>
              <a:rPr lang="en-US" sz="800" err="1">
                <a:solidFill>
                  <a:srgbClr val="3333FF"/>
                </a:solidFill>
                <a:latin typeface="Raleway"/>
              </a:rPr>
              <a:t>dari</a:t>
            </a:r>
            <a:r>
              <a:rPr lang="en-US" sz="800">
                <a:solidFill>
                  <a:srgbClr val="3333FF"/>
                </a:solidFill>
                <a:latin typeface="Raleway"/>
              </a:rPr>
              <a:t> </a:t>
            </a:r>
            <a:r>
              <a:rPr lang="en-US" sz="800" err="1">
                <a:solidFill>
                  <a:srgbClr val="3333FF"/>
                </a:solidFill>
                <a:latin typeface="Raleway"/>
              </a:rPr>
              <a:t>perhitungan</a:t>
            </a:r>
            <a:r>
              <a:rPr lang="en-US" sz="800">
                <a:solidFill>
                  <a:srgbClr val="3333FF"/>
                </a:solidFill>
                <a:latin typeface="Raleway"/>
              </a:rPr>
              <a:t> average)</a:t>
            </a:r>
            <a:endParaRPr lang="en-US" sz="800">
              <a:solidFill>
                <a:srgbClr val="3333FF"/>
              </a:solidFill>
              <a:ea typeface="Calibri"/>
              <a:cs typeface="Calibri"/>
            </a:endParaRPr>
          </a:p>
        </p:txBody>
      </p:sp>
      <p:sp>
        <p:nvSpPr>
          <p:cNvPr id="28" name="TextBox 27">
            <a:extLst>
              <a:ext uri="{FF2B5EF4-FFF2-40B4-BE49-F238E27FC236}">
                <a16:creationId xmlns:a16="http://schemas.microsoft.com/office/drawing/2014/main" id="{3F2645C0-0C87-9CD7-729F-449109E9F1C1}"/>
              </a:ext>
            </a:extLst>
          </p:cNvPr>
          <p:cNvSpPr txBox="1"/>
          <p:nvPr/>
        </p:nvSpPr>
        <p:spPr>
          <a:xfrm>
            <a:off x="454367" y="2494712"/>
            <a:ext cx="2933816" cy="600164"/>
          </a:xfrm>
          <a:prstGeom prst="rect">
            <a:avLst/>
          </a:prstGeom>
          <a:noFill/>
        </p:spPr>
        <p:txBody>
          <a:bodyPr wrap="none" lIns="91440" tIns="45720" rIns="91440" bIns="45720" rtlCol="0" anchor="t">
            <a:spAutoFit/>
          </a:bodyPr>
          <a:lstStyle/>
          <a:p>
            <a:r>
              <a:rPr lang="en-US" sz="1100" b="1">
                <a:latin typeface="Raleway"/>
              </a:rPr>
              <a:t>Q1</a:t>
            </a:r>
          </a:p>
          <a:p>
            <a:r>
              <a:rPr lang="en-US" sz="1100">
                <a:latin typeface="Raleway"/>
              </a:rPr>
              <a:t>Average </a:t>
            </a:r>
            <a:r>
              <a:rPr lang="en-US" sz="1100" b="1">
                <a:latin typeface="Raleway"/>
              </a:rPr>
              <a:t>FPTK </a:t>
            </a:r>
            <a:r>
              <a:rPr lang="en-US" sz="1100" b="1" err="1">
                <a:latin typeface="Raleway"/>
              </a:rPr>
              <a:t>Diterima</a:t>
            </a:r>
            <a:r>
              <a:rPr lang="en-US" sz="1100">
                <a:latin typeface="Raleway"/>
              </a:rPr>
              <a:t> =</a:t>
            </a:r>
            <a:r>
              <a:rPr lang="en-US" sz="1100" b="1">
                <a:latin typeface="Raleway"/>
              </a:rPr>
              <a:t>       FPTK/ week</a:t>
            </a:r>
          </a:p>
          <a:p>
            <a:r>
              <a:rPr lang="en-US" sz="1100">
                <a:latin typeface="Raleway"/>
              </a:rPr>
              <a:t>Average </a:t>
            </a:r>
            <a:r>
              <a:rPr lang="en-US" sz="1100" b="1">
                <a:latin typeface="Raleway"/>
              </a:rPr>
              <a:t>FPTK Closed</a:t>
            </a:r>
            <a:r>
              <a:rPr lang="en-US" sz="1100">
                <a:latin typeface="Raleway"/>
              </a:rPr>
              <a:t> = </a:t>
            </a:r>
            <a:r>
              <a:rPr lang="en-US" sz="1100" b="1">
                <a:latin typeface="Raleway"/>
              </a:rPr>
              <a:t>      FPTK/ week</a:t>
            </a:r>
          </a:p>
        </p:txBody>
      </p:sp>
      <p:cxnSp>
        <p:nvCxnSpPr>
          <p:cNvPr id="27" name="Straight Connector 26">
            <a:extLst>
              <a:ext uri="{FF2B5EF4-FFF2-40B4-BE49-F238E27FC236}">
                <a16:creationId xmlns:a16="http://schemas.microsoft.com/office/drawing/2014/main" id="{D4F79856-E540-5BDC-FB3E-735DCFC61033}"/>
              </a:ext>
            </a:extLst>
          </p:cNvPr>
          <p:cNvCxnSpPr>
            <a:cxnSpLocks/>
          </p:cNvCxnSpPr>
          <p:nvPr/>
        </p:nvCxnSpPr>
        <p:spPr>
          <a:xfrm flipH="1">
            <a:off x="5466255" y="3070936"/>
            <a:ext cx="7257" cy="3325161"/>
          </a:xfrm>
          <a:prstGeom prst="line">
            <a:avLst/>
          </a:prstGeom>
        </p:spPr>
        <p:style>
          <a:lnRef idx="2">
            <a:schemeClr val="accent1"/>
          </a:lnRef>
          <a:fillRef idx="0">
            <a:schemeClr val="accent1"/>
          </a:fillRef>
          <a:effectRef idx="1">
            <a:schemeClr val="accent1"/>
          </a:effectRef>
          <a:fontRef idx="minor">
            <a:schemeClr val="tx1"/>
          </a:fontRef>
        </p:style>
      </p:cxnSp>
      <p:sp>
        <p:nvSpPr>
          <p:cNvPr id="24" name="Shape 3">
            <a:extLst>
              <a:ext uri="{FF2B5EF4-FFF2-40B4-BE49-F238E27FC236}">
                <a16:creationId xmlns:a16="http://schemas.microsoft.com/office/drawing/2014/main" id="{1CCB353D-6B7A-3833-FFC8-FD463F00B2D9}"/>
              </a:ext>
            </a:extLst>
          </p:cNvPr>
          <p:cNvSpPr/>
          <p:nvPr/>
        </p:nvSpPr>
        <p:spPr>
          <a:xfrm>
            <a:off x="411480" y="1111195"/>
            <a:ext cx="1757629" cy="1097280"/>
          </a:xfrm>
          <a:prstGeom prst="roundRect">
            <a:avLst>
              <a:gd name="adj" fmla="val 5000"/>
            </a:avLst>
          </a:prstGeom>
          <a:solidFill>
            <a:srgbClr val="0070C0"/>
          </a:solidFill>
          <a:ln/>
        </p:spPr>
        <p:txBody>
          <a:bodyPr/>
          <a:lstStyle/>
          <a:p>
            <a:endParaRPr lang="en-US">
              <a:latin typeface="Raleway"/>
            </a:endParaRPr>
          </a:p>
        </p:txBody>
      </p:sp>
      <p:sp>
        <p:nvSpPr>
          <p:cNvPr id="29" name="fptkmanager">
            <a:extLst>
              <a:ext uri="{FF2B5EF4-FFF2-40B4-BE49-F238E27FC236}">
                <a16:creationId xmlns:a16="http://schemas.microsoft.com/office/drawing/2014/main" id="{602D5604-CFBB-758C-1A7C-0BD3499C7AC4}"/>
              </a:ext>
            </a:extLst>
          </p:cNvPr>
          <p:cNvSpPr/>
          <p:nvPr/>
        </p:nvSpPr>
        <p:spPr>
          <a:xfrm>
            <a:off x="365760" y="1184347"/>
            <a:ext cx="1849069" cy="603504"/>
          </a:xfrm>
          <a:prstGeom prst="rect">
            <a:avLst/>
          </a:prstGeom>
          <a:noFill/>
          <a:ln/>
        </p:spPr>
        <p:txBody>
          <a:bodyPr wrap="square" lIns="91440" tIns="45720" rIns="91440" bIns="45720" rtlCol="0" anchor="ctr">
            <a:spAutoFit/>
          </a:bodyPr>
          <a:lstStyle/>
          <a:p>
            <a:pPr marL="0" indent="0" algn="ctr">
              <a:buNone/>
            </a:pPr>
            <a:r>
              <a:rPr lang="en-US" sz="3200" b="1">
                <a:solidFill>
                  <a:srgbClr val="FFFFFF"/>
                </a:solidFill>
                <a:latin typeface="Raleway"/>
              </a:rPr>
              <a:t>48</a:t>
            </a:r>
          </a:p>
        </p:txBody>
      </p:sp>
      <p:sp>
        <p:nvSpPr>
          <p:cNvPr id="31" name="Text 5">
            <a:extLst>
              <a:ext uri="{FF2B5EF4-FFF2-40B4-BE49-F238E27FC236}">
                <a16:creationId xmlns:a16="http://schemas.microsoft.com/office/drawing/2014/main" id="{89576975-1309-4217-9602-232A3A2C4780}"/>
              </a:ext>
            </a:extLst>
          </p:cNvPr>
          <p:cNvSpPr/>
          <p:nvPr/>
        </p:nvSpPr>
        <p:spPr>
          <a:xfrm>
            <a:off x="411480" y="1787851"/>
            <a:ext cx="1757629" cy="347472"/>
          </a:xfrm>
          <a:prstGeom prst="rect">
            <a:avLst/>
          </a:prstGeom>
          <a:noFill/>
          <a:ln/>
        </p:spPr>
        <p:txBody>
          <a:bodyPr wrap="square" rtlCol="0" anchor="ctr"/>
          <a:lstStyle/>
          <a:p>
            <a:pPr marL="0" indent="0" algn="ctr">
              <a:buNone/>
            </a:pPr>
            <a:r>
              <a:rPr lang="en-US" sz="1000" b="1">
                <a:solidFill>
                  <a:srgbClr val="FFFFFF"/>
                </a:solidFill>
                <a:latin typeface="Raleway"/>
                <a:ea typeface="Calibri" pitchFamily="34" charset="-122"/>
                <a:cs typeface="Calibri" pitchFamily="34" charset="-120"/>
              </a:rPr>
              <a:t>FPTK</a:t>
            </a:r>
            <a:endParaRPr lang="en-US" sz="1000">
              <a:latin typeface="Raleway"/>
            </a:endParaRPr>
          </a:p>
        </p:txBody>
      </p:sp>
      <p:sp>
        <p:nvSpPr>
          <p:cNvPr id="33" name="Shape 6">
            <a:extLst>
              <a:ext uri="{FF2B5EF4-FFF2-40B4-BE49-F238E27FC236}">
                <a16:creationId xmlns:a16="http://schemas.microsoft.com/office/drawing/2014/main" id="{EFF196E7-8AC3-78AA-69CB-172A9C2D8DBD}"/>
              </a:ext>
            </a:extLst>
          </p:cNvPr>
          <p:cNvSpPr/>
          <p:nvPr/>
        </p:nvSpPr>
        <p:spPr>
          <a:xfrm>
            <a:off x="2315413" y="1111195"/>
            <a:ext cx="1757629" cy="1097280"/>
          </a:xfrm>
          <a:prstGeom prst="roundRect">
            <a:avLst>
              <a:gd name="adj" fmla="val 5000"/>
            </a:avLst>
          </a:prstGeom>
          <a:solidFill>
            <a:srgbClr val="0070C0"/>
          </a:solidFill>
          <a:ln/>
        </p:spPr>
        <p:txBody>
          <a:bodyPr/>
          <a:lstStyle/>
          <a:p>
            <a:endParaRPr lang="en-US">
              <a:latin typeface="Raleway"/>
            </a:endParaRPr>
          </a:p>
        </p:txBody>
      </p:sp>
      <p:sp>
        <p:nvSpPr>
          <p:cNvPr id="35" name="openmanager">
            <a:extLst>
              <a:ext uri="{FF2B5EF4-FFF2-40B4-BE49-F238E27FC236}">
                <a16:creationId xmlns:a16="http://schemas.microsoft.com/office/drawing/2014/main" id="{08A3F6F1-F1F7-7F6E-E0D1-5964C84EFB98}"/>
              </a:ext>
            </a:extLst>
          </p:cNvPr>
          <p:cNvSpPr/>
          <p:nvPr/>
        </p:nvSpPr>
        <p:spPr>
          <a:xfrm>
            <a:off x="2269693" y="1184347"/>
            <a:ext cx="1849069" cy="603504"/>
          </a:xfrm>
          <a:prstGeom prst="rect">
            <a:avLst/>
          </a:prstGeom>
          <a:noFill/>
          <a:ln/>
        </p:spPr>
        <p:txBody>
          <a:bodyPr wrap="square" lIns="91440" tIns="45720" rIns="91440" bIns="45720" rtlCol="0" anchor="ctr">
            <a:spAutoFit/>
          </a:bodyPr>
          <a:lstStyle/>
          <a:p>
            <a:pPr marL="0" indent="0" algn="ctr">
              <a:buNone/>
            </a:pPr>
            <a:r>
              <a:rPr lang="en-US" sz="3200" b="1">
                <a:solidFill>
                  <a:srgbClr val="FFFFFF"/>
                </a:solidFill>
                <a:latin typeface="Raleway"/>
              </a:rPr>
              <a:t>15</a:t>
            </a:r>
          </a:p>
        </p:txBody>
      </p:sp>
      <p:sp>
        <p:nvSpPr>
          <p:cNvPr id="38" name="Text 8">
            <a:extLst>
              <a:ext uri="{FF2B5EF4-FFF2-40B4-BE49-F238E27FC236}">
                <a16:creationId xmlns:a16="http://schemas.microsoft.com/office/drawing/2014/main" id="{8A509555-918F-B685-03AF-E65DBFAE08D0}"/>
              </a:ext>
            </a:extLst>
          </p:cNvPr>
          <p:cNvSpPr/>
          <p:nvPr/>
        </p:nvSpPr>
        <p:spPr>
          <a:xfrm>
            <a:off x="2315413" y="1787851"/>
            <a:ext cx="1757629" cy="347472"/>
          </a:xfrm>
          <a:prstGeom prst="rect">
            <a:avLst/>
          </a:prstGeom>
          <a:noFill/>
          <a:ln/>
        </p:spPr>
        <p:txBody>
          <a:bodyPr wrap="square" rtlCol="0" anchor="ctr"/>
          <a:lstStyle/>
          <a:p>
            <a:pPr marL="0" indent="0" algn="ctr">
              <a:buNone/>
            </a:pPr>
            <a:r>
              <a:rPr lang="en-US" sz="1000" b="1">
                <a:solidFill>
                  <a:srgbClr val="FFFFFF"/>
                </a:solidFill>
                <a:latin typeface="Raleway"/>
                <a:ea typeface="Calibri" pitchFamily="34" charset="-122"/>
                <a:cs typeface="Calibri" pitchFamily="34" charset="-120"/>
              </a:rPr>
              <a:t>OPEN</a:t>
            </a:r>
            <a:endParaRPr lang="en-US" sz="1000">
              <a:latin typeface="Raleway"/>
            </a:endParaRPr>
          </a:p>
        </p:txBody>
      </p:sp>
      <p:sp>
        <p:nvSpPr>
          <p:cNvPr id="40" name="Shape 9">
            <a:extLst>
              <a:ext uri="{FF2B5EF4-FFF2-40B4-BE49-F238E27FC236}">
                <a16:creationId xmlns:a16="http://schemas.microsoft.com/office/drawing/2014/main" id="{41FF664C-C640-085B-4E61-D7269F9A7F2B}"/>
              </a:ext>
            </a:extLst>
          </p:cNvPr>
          <p:cNvSpPr/>
          <p:nvPr/>
        </p:nvSpPr>
        <p:spPr>
          <a:xfrm>
            <a:off x="4219346" y="1111195"/>
            <a:ext cx="1757629" cy="1097280"/>
          </a:xfrm>
          <a:prstGeom prst="roundRect">
            <a:avLst>
              <a:gd name="adj" fmla="val 5000"/>
            </a:avLst>
          </a:prstGeom>
          <a:solidFill>
            <a:srgbClr val="0070C0"/>
          </a:solidFill>
          <a:ln/>
        </p:spPr>
        <p:txBody>
          <a:bodyPr/>
          <a:lstStyle/>
          <a:p>
            <a:endParaRPr lang="en-US">
              <a:latin typeface="Raleway"/>
            </a:endParaRPr>
          </a:p>
        </p:txBody>
      </p:sp>
      <p:sp>
        <p:nvSpPr>
          <p:cNvPr id="43" name="closedmanager">
            <a:extLst>
              <a:ext uri="{FF2B5EF4-FFF2-40B4-BE49-F238E27FC236}">
                <a16:creationId xmlns:a16="http://schemas.microsoft.com/office/drawing/2014/main" id="{27AA188F-B7C0-837D-817A-A5D75AE8B5F2}"/>
              </a:ext>
            </a:extLst>
          </p:cNvPr>
          <p:cNvSpPr/>
          <p:nvPr/>
        </p:nvSpPr>
        <p:spPr>
          <a:xfrm>
            <a:off x="4173626" y="1184347"/>
            <a:ext cx="1849069" cy="603504"/>
          </a:xfrm>
          <a:prstGeom prst="rect">
            <a:avLst/>
          </a:prstGeom>
          <a:noFill/>
          <a:ln/>
        </p:spPr>
        <p:txBody>
          <a:bodyPr wrap="square" lIns="91440" tIns="45720" rIns="91440" bIns="45720" rtlCol="0" anchor="ctr">
            <a:spAutoFit/>
          </a:bodyPr>
          <a:lstStyle/>
          <a:p>
            <a:pPr marL="0" indent="0" algn="ctr">
              <a:buNone/>
            </a:pPr>
            <a:r>
              <a:rPr lang="en-US" sz="3200" b="1">
                <a:solidFill>
                  <a:srgbClr val="FFFFFF"/>
                </a:solidFill>
                <a:latin typeface="Raleway"/>
              </a:rPr>
              <a:t>18</a:t>
            </a:r>
          </a:p>
        </p:txBody>
      </p:sp>
      <p:sp>
        <p:nvSpPr>
          <p:cNvPr id="45" name="Text 11">
            <a:extLst>
              <a:ext uri="{FF2B5EF4-FFF2-40B4-BE49-F238E27FC236}">
                <a16:creationId xmlns:a16="http://schemas.microsoft.com/office/drawing/2014/main" id="{1A286CB3-D9D0-2688-A18A-EB752488A266}"/>
              </a:ext>
            </a:extLst>
          </p:cNvPr>
          <p:cNvSpPr/>
          <p:nvPr/>
        </p:nvSpPr>
        <p:spPr>
          <a:xfrm>
            <a:off x="4219346" y="1787851"/>
            <a:ext cx="1757629" cy="347472"/>
          </a:xfrm>
          <a:prstGeom prst="rect">
            <a:avLst/>
          </a:prstGeom>
          <a:noFill/>
          <a:ln/>
        </p:spPr>
        <p:txBody>
          <a:bodyPr wrap="square" rtlCol="0" anchor="ctr"/>
          <a:lstStyle/>
          <a:p>
            <a:pPr marL="0" indent="0" algn="ctr">
              <a:buNone/>
            </a:pPr>
            <a:r>
              <a:rPr lang="en-US" sz="1000" b="1">
                <a:solidFill>
                  <a:srgbClr val="FFFFFF"/>
                </a:solidFill>
                <a:latin typeface="Raleway"/>
                <a:ea typeface="Calibri" pitchFamily="34" charset="-122"/>
                <a:cs typeface="Calibri" pitchFamily="34" charset="-120"/>
              </a:rPr>
              <a:t>CLOSED</a:t>
            </a:r>
            <a:endParaRPr lang="en-US" sz="1000">
              <a:latin typeface="Raleway"/>
            </a:endParaRPr>
          </a:p>
        </p:txBody>
      </p:sp>
      <p:sp>
        <p:nvSpPr>
          <p:cNvPr id="47" name="Shape 12">
            <a:extLst>
              <a:ext uri="{FF2B5EF4-FFF2-40B4-BE49-F238E27FC236}">
                <a16:creationId xmlns:a16="http://schemas.microsoft.com/office/drawing/2014/main" id="{8B87BCB7-7AF9-EE93-1F93-FE1D5BC17A0E}"/>
              </a:ext>
            </a:extLst>
          </p:cNvPr>
          <p:cNvSpPr/>
          <p:nvPr/>
        </p:nvSpPr>
        <p:spPr>
          <a:xfrm>
            <a:off x="6123280" y="1111195"/>
            <a:ext cx="1757629" cy="1097280"/>
          </a:xfrm>
          <a:prstGeom prst="roundRect">
            <a:avLst>
              <a:gd name="adj" fmla="val 5000"/>
            </a:avLst>
          </a:prstGeom>
          <a:solidFill>
            <a:srgbClr val="0070C0"/>
          </a:solidFill>
          <a:ln/>
        </p:spPr>
        <p:txBody>
          <a:bodyPr/>
          <a:lstStyle/>
          <a:p>
            <a:endParaRPr lang="en-US">
              <a:latin typeface="Raleway"/>
            </a:endParaRPr>
          </a:p>
        </p:txBody>
      </p:sp>
      <p:sp>
        <p:nvSpPr>
          <p:cNvPr id="49" name="cancelmanager">
            <a:extLst>
              <a:ext uri="{FF2B5EF4-FFF2-40B4-BE49-F238E27FC236}">
                <a16:creationId xmlns:a16="http://schemas.microsoft.com/office/drawing/2014/main" id="{4E1CEE4A-0ED9-DBE5-1DCC-6F8282603B02}"/>
              </a:ext>
            </a:extLst>
          </p:cNvPr>
          <p:cNvSpPr/>
          <p:nvPr/>
        </p:nvSpPr>
        <p:spPr>
          <a:xfrm>
            <a:off x="6077560" y="1184347"/>
            <a:ext cx="1849069" cy="603504"/>
          </a:xfrm>
          <a:prstGeom prst="rect">
            <a:avLst/>
          </a:prstGeom>
          <a:noFill/>
          <a:ln/>
        </p:spPr>
        <p:txBody>
          <a:bodyPr wrap="square" lIns="91440" tIns="45720" rIns="91440" bIns="45720" rtlCol="0" anchor="ctr">
            <a:spAutoFit/>
          </a:bodyPr>
          <a:lstStyle/>
          <a:p>
            <a:pPr marL="0" indent="0" algn="ctr">
              <a:buNone/>
            </a:pPr>
            <a:r>
              <a:rPr lang="en-US" sz="3200" b="1">
                <a:solidFill>
                  <a:srgbClr val="FFFFFF"/>
                </a:solidFill>
                <a:latin typeface="Raleway"/>
              </a:rPr>
              <a:t>15</a:t>
            </a:r>
          </a:p>
        </p:txBody>
      </p:sp>
      <p:sp>
        <p:nvSpPr>
          <p:cNvPr id="51" name="Text 14">
            <a:extLst>
              <a:ext uri="{FF2B5EF4-FFF2-40B4-BE49-F238E27FC236}">
                <a16:creationId xmlns:a16="http://schemas.microsoft.com/office/drawing/2014/main" id="{F5E1B89A-EAF5-530C-2D6F-4DFCD77CFC53}"/>
              </a:ext>
            </a:extLst>
          </p:cNvPr>
          <p:cNvSpPr/>
          <p:nvPr/>
        </p:nvSpPr>
        <p:spPr>
          <a:xfrm>
            <a:off x="6123280" y="1787851"/>
            <a:ext cx="1757629" cy="347472"/>
          </a:xfrm>
          <a:prstGeom prst="rect">
            <a:avLst/>
          </a:prstGeom>
          <a:noFill/>
          <a:ln/>
        </p:spPr>
        <p:txBody>
          <a:bodyPr wrap="square" rtlCol="0" anchor="ctr"/>
          <a:lstStyle/>
          <a:p>
            <a:pPr marL="0" indent="0" algn="ctr">
              <a:buNone/>
            </a:pPr>
            <a:r>
              <a:rPr lang="en-US" sz="1000" b="1">
                <a:solidFill>
                  <a:srgbClr val="FFFFFF"/>
                </a:solidFill>
                <a:latin typeface="Raleway"/>
                <a:ea typeface="Calibri" pitchFamily="34" charset="-122"/>
                <a:cs typeface="Calibri" pitchFamily="34" charset="-120"/>
              </a:rPr>
              <a:t>CANCEL</a:t>
            </a:r>
            <a:endParaRPr lang="en-US" sz="1000">
              <a:latin typeface="Raleway"/>
            </a:endParaRPr>
          </a:p>
        </p:txBody>
      </p:sp>
      <p:sp>
        <p:nvSpPr>
          <p:cNvPr id="53" name="Shape 15">
            <a:extLst>
              <a:ext uri="{FF2B5EF4-FFF2-40B4-BE49-F238E27FC236}">
                <a16:creationId xmlns:a16="http://schemas.microsoft.com/office/drawing/2014/main" id="{C158B7DB-CFD4-C845-C973-11E568A395DA}"/>
              </a:ext>
            </a:extLst>
          </p:cNvPr>
          <p:cNvSpPr/>
          <p:nvPr/>
        </p:nvSpPr>
        <p:spPr>
          <a:xfrm>
            <a:off x="8027213" y="1111195"/>
            <a:ext cx="1757629" cy="1097280"/>
          </a:xfrm>
          <a:prstGeom prst="roundRect">
            <a:avLst>
              <a:gd name="adj" fmla="val 5000"/>
            </a:avLst>
          </a:prstGeom>
          <a:solidFill>
            <a:srgbClr val="0070C0"/>
          </a:solidFill>
          <a:ln/>
        </p:spPr>
        <p:txBody>
          <a:bodyPr/>
          <a:lstStyle/>
          <a:p>
            <a:endParaRPr lang="en-US">
              <a:latin typeface="Raleway"/>
            </a:endParaRPr>
          </a:p>
        </p:txBody>
      </p:sp>
      <p:sp>
        <p:nvSpPr>
          <p:cNvPr id="55" name="fillratemanager">
            <a:extLst>
              <a:ext uri="{FF2B5EF4-FFF2-40B4-BE49-F238E27FC236}">
                <a16:creationId xmlns:a16="http://schemas.microsoft.com/office/drawing/2014/main" id="{A3491E4B-452E-3FF1-8A0C-9A7302ABAF91}"/>
              </a:ext>
            </a:extLst>
          </p:cNvPr>
          <p:cNvSpPr/>
          <p:nvPr/>
        </p:nvSpPr>
        <p:spPr>
          <a:xfrm>
            <a:off x="7981493" y="1184347"/>
            <a:ext cx="1849069" cy="603504"/>
          </a:xfrm>
          <a:prstGeom prst="rect">
            <a:avLst/>
          </a:prstGeom>
          <a:noFill/>
          <a:ln/>
        </p:spPr>
        <p:txBody>
          <a:bodyPr wrap="square" lIns="91440" tIns="45720" rIns="91440" bIns="45720" rtlCol="0" anchor="ctr">
            <a:spAutoFit/>
          </a:bodyPr>
          <a:lstStyle/>
          <a:p>
            <a:pPr marL="0" indent="0" algn="ctr">
              <a:buNone/>
            </a:pPr>
            <a:r>
              <a:rPr lang="en-US" sz="3200" b="1">
                <a:solidFill>
                  <a:srgbClr val="FFFFFF"/>
                </a:solidFill>
                <a:latin typeface="Raleway"/>
              </a:rPr>
              <a:t>52.78%</a:t>
            </a:r>
          </a:p>
        </p:txBody>
      </p:sp>
      <p:sp>
        <p:nvSpPr>
          <p:cNvPr id="57" name="Text 17">
            <a:extLst>
              <a:ext uri="{FF2B5EF4-FFF2-40B4-BE49-F238E27FC236}">
                <a16:creationId xmlns:a16="http://schemas.microsoft.com/office/drawing/2014/main" id="{AD4197D4-799B-0C4D-BE5F-88DDE8074B6D}"/>
              </a:ext>
            </a:extLst>
          </p:cNvPr>
          <p:cNvSpPr/>
          <p:nvPr/>
        </p:nvSpPr>
        <p:spPr>
          <a:xfrm>
            <a:off x="8027213" y="1787851"/>
            <a:ext cx="1757629" cy="347472"/>
          </a:xfrm>
          <a:prstGeom prst="rect">
            <a:avLst/>
          </a:prstGeom>
          <a:noFill/>
          <a:ln/>
        </p:spPr>
        <p:txBody>
          <a:bodyPr wrap="square" rtlCol="0" anchor="ctr"/>
          <a:lstStyle/>
          <a:p>
            <a:pPr marL="0" indent="0" algn="ctr">
              <a:buNone/>
            </a:pPr>
            <a:r>
              <a:rPr lang="en-US" sz="1000" b="1">
                <a:solidFill>
                  <a:srgbClr val="FFFFFF"/>
                </a:solidFill>
                <a:latin typeface="Raleway"/>
                <a:ea typeface="Calibri" pitchFamily="34" charset="-122"/>
                <a:cs typeface="Calibri" pitchFamily="34" charset="-120"/>
              </a:rPr>
              <a:t>FILL RATE</a:t>
            </a:r>
            <a:endParaRPr lang="en-US" sz="1000">
              <a:latin typeface="Raleway"/>
            </a:endParaRPr>
          </a:p>
        </p:txBody>
      </p:sp>
      <p:sp>
        <p:nvSpPr>
          <p:cNvPr id="59" name="Shape 18">
            <a:extLst>
              <a:ext uri="{FF2B5EF4-FFF2-40B4-BE49-F238E27FC236}">
                <a16:creationId xmlns:a16="http://schemas.microsoft.com/office/drawing/2014/main" id="{E342B12C-3DAE-DBA8-27C9-0F6685A83E28}"/>
              </a:ext>
            </a:extLst>
          </p:cNvPr>
          <p:cNvSpPr/>
          <p:nvPr/>
        </p:nvSpPr>
        <p:spPr>
          <a:xfrm>
            <a:off x="9931146" y="1111195"/>
            <a:ext cx="1757629" cy="1097280"/>
          </a:xfrm>
          <a:prstGeom prst="roundRect">
            <a:avLst>
              <a:gd name="adj" fmla="val 5000"/>
            </a:avLst>
          </a:prstGeom>
          <a:solidFill>
            <a:srgbClr val="0070C0"/>
          </a:solidFill>
          <a:ln/>
        </p:spPr>
        <p:txBody>
          <a:bodyPr/>
          <a:lstStyle/>
          <a:p>
            <a:endParaRPr lang="en-US">
              <a:latin typeface="Raleway"/>
            </a:endParaRPr>
          </a:p>
        </p:txBody>
      </p:sp>
      <p:sp>
        <p:nvSpPr>
          <p:cNvPr id="61" name="closesesuaislamanager">
            <a:extLst>
              <a:ext uri="{FF2B5EF4-FFF2-40B4-BE49-F238E27FC236}">
                <a16:creationId xmlns:a16="http://schemas.microsoft.com/office/drawing/2014/main" id="{F6FEE35F-0A87-69E6-584A-DEC00B71ABFB}"/>
              </a:ext>
            </a:extLst>
          </p:cNvPr>
          <p:cNvSpPr/>
          <p:nvPr/>
        </p:nvSpPr>
        <p:spPr>
          <a:xfrm>
            <a:off x="9885426" y="1184347"/>
            <a:ext cx="1849069" cy="603504"/>
          </a:xfrm>
          <a:prstGeom prst="rect">
            <a:avLst/>
          </a:prstGeom>
          <a:noFill/>
          <a:ln/>
        </p:spPr>
        <p:txBody>
          <a:bodyPr wrap="square" lIns="91440" tIns="45720" rIns="91440" bIns="45720" rtlCol="0" anchor="ctr">
            <a:spAutoFit/>
          </a:bodyPr>
          <a:lstStyle/>
          <a:p>
            <a:pPr marL="0" indent="0" algn="ctr">
              <a:buNone/>
            </a:pPr>
            <a:r>
              <a:rPr lang="en-US" sz="3200" b="1">
                <a:solidFill>
                  <a:srgbClr val="FFFFFF"/>
                </a:solidFill>
                <a:latin typeface="Raleway"/>
              </a:rPr>
              <a:t>54.55%</a:t>
            </a:r>
            <a:endParaRPr lang="en-US" sz="3200">
              <a:latin typeface="Raleway"/>
            </a:endParaRPr>
          </a:p>
        </p:txBody>
      </p:sp>
      <p:sp>
        <p:nvSpPr>
          <p:cNvPr id="63" name="Text 20">
            <a:extLst>
              <a:ext uri="{FF2B5EF4-FFF2-40B4-BE49-F238E27FC236}">
                <a16:creationId xmlns:a16="http://schemas.microsoft.com/office/drawing/2014/main" id="{984BDD3D-3D1C-E471-9658-1B8C900A0FBF}"/>
              </a:ext>
            </a:extLst>
          </p:cNvPr>
          <p:cNvSpPr/>
          <p:nvPr/>
        </p:nvSpPr>
        <p:spPr>
          <a:xfrm>
            <a:off x="9931146" y="1787851"/>
            <a:ext cx="1757629" cy="347472"/>
          </a:xfrm>
          <a:prstGeom prst="rect">
            <a:avLst/>
          </a:prstGeom>
          <a:noFill/>
          <a:ln/>
        </p:spPr>
        <p:txBody>
          <a:bodyPr wrap="square" rtlCol="0" anchor="ctr"/>
          <a:lstStyle/>
          <a:p>
            <a:pPr marL="0" indent="0" algn="ctr">
              <a:buNone/>
            </a:pPr>
            <a:r>
              <a:rPr lang="en-US" sz="1000" b="1">
                <a:solidFill>
                  <a:srgbClr val="FFFFFF"/>
                </a:solidFill>
                <a:latin typeface="Raleway"/>
                <a:ea typeface="Calibri" pitchFamily="34" charset="-122"/>
                <a:cs typeface="Calibri" pitchFamily="34" charset="-120"/>
              </a:rPr>
              <a:t>CLOSE SESUAI SLA</a:t>
            </a:r>
            <a:endParaRPr lang="en-US" sz="1000">
              <a:latin typeface="Raleway"/>
            </a:endParaRPr>
          </a:p>
        </p:txBody>
      </p:sp>
      <p:sp>
        <p:nvSpPr>
          <p:cNvPr id="11" name="Qbeforediterima">
            <a:extLst>
              <a:ext uri="{FF2B5EF4-FFF2-40B4-BE49-F238E27FC236}">
                <a16:creationId xmlns:a16="http://schemas.microsoft.com/office/drawing/2014/main" id="{4FF5ED86-85CE-011C-47DE-6ED745C83218}"/>
              </a:ext>
            </a:extLst>
          </p:cNvPr>
          <p:cNvSpPr txBox="1"/>
          <p:nvPr/>
        </p:nvSpPr>
        <p:spPr>
          <a:xfrm>
            <a:off x="2087380" y="2663989"/>
            <a:ext cx="456065" cy="261610"/>
          </a:xfrm>
          <a:prstGeom prst="rect">
            <a:avLst/>
          </a:prstGeom>
          <a:noFill/>
        </p:spPr>
        <p:txBody>
          <a:bodyPr wrap="square" lIns="91440" tIns="45720" rIns="91440" bIns="45720" rtlCol="0" anchor="t">
            <a:spAutoFit/>
          </a:bodyPr>
          <a:lstStyle/>
          <a:p>
            <a:r>
              <a:rPr lang="en-US" sz="1100" b="1">
                <a:latin typeface="Raleway"/>
              </a:rPr>
              <a:t>0.4</a:t>
            </a:r>
          </a:p>
        </p:txBody>
      </p:sp>
      <p:sp>
        <p:nvSpPr>
          <p:cNvPr id="13" name="Qbeforeclosed">
            <a:extLst>
              <a:ext uri="{FF2B5EF4-FFF2-40B4-BE49-F238E27FC236}">
                <a16:creationId xmlns:a16="http://schemas.microsoft.com/office/drawing/2014/main" id="{3CF10964-16A2-B9C9-E49B-D496004131F2}"/>
              </a:ext>
            </a:extLst>
          </p:cNvPr>
          <p:cNvSpPr txBox="1"/>
          <p:nvPr/>
        </p:nvSpPr>
        <p:spPr>
          <a:xfrm>
            <a:off x="1988363" y="2809326"/>
            <a:ext cx="452931" cy="261610"/>
          </a:xfrm>
          <a:prstGeom prst="rect">
            <a:avLst/>
          </a:prstGeom>
          <a:noFill/>
        </p:spPr>
        <p:txBody>
          <a:bodyPr wrap="square" lIns="91440" tIns="45720" rIns="91440" bIns="45720" rtlCol="0" anchor="t">
            <a:spAutoFit/>
          </a:bodyPr>
          <a:lstStyle/>
          <a:p>
            <a:r>
              <a:rPr lang="en-US" sz="1100" b="1">
                <a:latin typeface="Raleway"/>
              </a:rPr>
              <a:t>0.2</a:t>
            </a:r>
          </a:p>
        </p:txBody>
      </p:sp>
      <p:sp>
        <p:nvSpPr>
          <p:cNvPr id="15" name="Qafterditerima">
            <a:extLst>
              <a:ext uri="{FF2B5EF4-FFF2-40B4-BE49-F238E27FC236}">
                <a16:creationId xmlns:a16="http://schemas.microsoft.com/office/drawing/2014/main" id="{067020A8-4D88-D6D2-2FF9-270AAED5DDAF}"/>
              </a:ext>
            </a:extLst>
          </p:cNvPr>
          <p:cNvSpPr txBox="1"/>
          <p:nvPr/>
        </p:nvSpPr>
        <p:spPr>
          <a:xfrm>
            <a:off x="10530925" y="2655522"/>
            <a:ext cx="354584" cy="261610"/>
          </a:xfrm>
          <a:prstGeom prst="rect">
            <a:avLst/>
          </a:prstGeom>
          <a:noFill/>
        </p:spPr>
        <p:txBody>
          <a:bodyPr wrap="square" lIns="91440" tIns="45720" rIns="91440" bIns="45720" rtlCol="0" anchor="t">
            <a:spAutoFit/>
          </a:bodyPr>
          <a:lstStyle/>
          <a:p>
            <a:r>
              <a:rPr lang="en-US" sz="1100" b="1">
                <a:latin typeface="Raleway"/>
              </a:rPr>
              <a:t>1</a:t>
            </a:r>
          </a:p>
        </p:txBody>
      </p:sp>
      <p:sp>
        <p:nvSpPr>
          <p:cNvPr id="17" name="Qafterclosed">
            <a:extLst>
              <a:ext uri="{FF2B5EF4-FFF2-40B4-BE49-F238E27FC236}">
                <a16:creationId xmlns:a16="http://schemas.microsoft.com/office/drawing/2014/main" id="{CBB16565-66FA-0B01-DF19-9F938FCC027D}"/>
              </a:ext>
            </a:extLst>
          </p:cNvPr>
          <p:cNvSpPr txBox="1"/>
          <p:nvPr/>
        </p:nvSpPr>
        <p:spPr>
          <a:xfrm>
            <a:off x="10418935" y="2815931"/>
            <a:ext cx="354584" cy="261610"/>
          </a:xfrm>
          <a:prstGeom prst="rect">
            <a:avLst/>
          </a:prstGeom>
          <a:noFill/>
        </p:spPr>
        <p:txBody>
          <a:bodyPr wrap="square" lIns="91440" tIns="45720" rIns="91440" bIns="45720" rtlCol="0" anchor="t">
            <a:spAutoFit/>
          </a:bodyPr>
          <a:lstStyle/>
          <a:p>
            <a:r>
              <a:rPr lang="en-US" sz="1100" b="1">
                <a:latin typeface="Raleway"/>
              </a:rPr>
              <a:t>1</a:t>
            </a:r>
          </a:p>
        </p:txBody>
      </p:sp>
    </p:spTree>
    <p:extLst>
      <p:ext uri="{BB962C8B-B14F-4D97-AF65-F5344CB8AC3E}">
        <p14:creationId xmlns:p14="http://schemas.microsoft.com/office/powerpoint/2010/main" val="296183786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CE7E30-74E1-5DCA-FAC6-3E0B0930E6F8}"/>
            </a:ext>
          </a:extLst>
        </p:cNvPr>
        <p:cNvGrpSpPr/>
        <p:nvPr/>
      </p:nvGrpSpPr>
      <p:grpSpPr>
        <a:xfrm>
          <a:off x="0" y="0"/>
          <a:ext cx="0" cy="0"/>
          <a:chOff x="0" y="0"/>
          <a:chExt cx="0" cy="0"/>
        </a:xfrm>
      </p:grpSpPr>
      <p:sp>
        <p:nvSpPr>
          <p:cNvPr id="2" name="Text 0">
            <a:extLst>
              <a:ext uri="{FF2B5EF4-FFF2-40B4-BE49-F238E27FC236}">
                <a16:creationId xmlns:a16="http://schemas.microsoft.com/office/drawing/2014/main" id="{4B7D536D-0432-31B0-B049-D6A95838386F}"/>
              </a:ext>
            </a:extLst>
          </p:cNvPr>
          <p:cNvSpPr/>
          <p:nvPr/>
        </p:nvSpPr>
        <p:spPr>
          <a:xfrm>
            <a:off x="457352" y="333955"/>
            <a:ext cx="11277295" cy="548640"/>
          </a:xfrm>
          <a:prstGeom prst="rect">
            <a:avLst/>
          </a:prstGeom>
          <a:noFill/>
          <a:ln/>
        </p:spPr>
        <p:txBody>
          <a:bodyPr wrap="square" rtlCol="0" anchor="ctr"/>
          <a:lstStyle/>
          <a:p>
            <a:pPr marL="0" indent="0">
              <a:buNone/>
            </a:pPr>
            <a:r>
              <a:rPr lang="en-US" sz="2600" b="1">
                <a:solidFill>
                  <a:srgbClr val="12284C"/>
                </a:solidFill>
                <a:latin typeface="Raleway"/>
                <a:ea typeface="Georgia" pitchFamily="34" charset="-122"/>
                <a:cs typeface="Georgia" pitchFamily="34" charset="-120"/>
              </a:rPr>
              <a:t>Executive Summary — Manager</a:t>
            </a:r>
            <a:endParaRPr lang="en-US" sz="2600">
              <a:latin typeface="Raleway"/>
            </a:endParaRPr>
          </a:p>
        </p:txBody>
      </p:sp>
      <p:sp>
        <p:nvSpPr>
          <p:cNvPr id="5" name="Shape 3">
            <a:extLst>
              <a:ext uri="{FF2B5EF4-FFF2-40B4-BE49-F238E27FC236}">
                <a16:creationId xmlns:a16="http://schemas.microsoft.com/office/drawing/2014/main" id="{DC18B904-C516-8102-3F39-D66CF405BAE0}"/>
              </a:ext>
            </a:extLst>
          </p:cNvPr>
          <p:cNvSpPr/>
          <p:nvPr/>
        </p:nvSpPr>
        <p:spPr>
          <a:xfrm>
            <a:off x="411480" y="1111195"/>
            <a:ext cx="1757629" cy="1097280"/>
          </a:xfrm>
          <a:prstGeom prst="roundRect">
            <a:avLst>
              <a:gd name="adj" fmla="val 5000"/>
            </a:avLst>
          </a:prstGeom>
          <a:solidFill>
            <a:srgbClr val="0070C0"/>
          </a:solidFill>
          <a:ln/>
        </p:spPr>
        <p:txBody>
          <a:bodyPr/>
          <a:lstStyle/>
          <a:p>
            <a:endParaRPr lang="en-US">
              <a:latin typeface="Raleway"/>
            </a:endParaRPr>
          </a:p>
        </p:txBody>
      </p:sp>
      <p:sp>
        <p:nvSpPr>
          <p:cNvPr id="6" name="fptkmanager">
            <a:extLst>
              <a:ext uri="{FF2B5EF4-FFF2-40B4-BE49-F238E27FC236}">
                <a16:creationId xmlns:a16="http://schemas.microsoft.com/office/drawing/2014/main" id="{A9B4E357-A79D-CD6D-97A1-6293E37406A1}"/>
              </a:ext>
            </a:extLst>
          </p:cNvPr>
          <p:cNvSpPr/>
          <p:nvPr/>
        </p:nvSpPr>
        <p:spPr>
          <a:xfrm>
            <a:off x="365760" y="1184347"/>
            <a:ext cx="1849069" cy="603504"/>
          </a:xfrm>
          <a:prstGeom prst="rect">
            <a:avLst/>
          </a:prstGeom>
          <a:noFill/>
          <a:ln/>
        </p:spPr>
        <p:txBody>
          <a:bodyPr wrap="square" lIns="91440" tIns="45720" rIns="91440" bIns="45720" rtlCol="0" anchor="ctr">
            <a:spAutoFit/>
          </a:bodyPr>
          <a:lstStyle/>
          <a:p>
            <a:pPr marL="0" indent="0" algn="ctr">
              <a:buNone/>
            </a:pPr>
            <a:r>
              <a:rPr lang="en-US" sz="3200" b="1">
                <a:solidFill>
                  <a:srgbClr val="FFFFFF"/>
                </a:solidFill>
                <a:latin typeface="Raleway"/>
              </a:rPr>
              <a:t>48</a:t>
            </a:r>
          </a:p>
        </p:txBody>
      </p:sp>
      <p:sp>
        <p:nvSpPr>
          <p:cNvPr id="7" name="Text 5">
            <a:extLst>
              <a:ext uri="{FF2B5EF4-FFF2-40B4-BE49-F238E27FC236}">
                <a16:creationId xmlns:a16="http://schemas.microsoft.com/office/drawing/2014/main" id="{86320E2F-768F-FEB7-B868-6822C9F453B7}"/>
              </a:ext>
            </a:extLst>
          </p:cNvPr>
          <p:cNvSpPr/>
          <p:nvPr/>
        </p:nvSpPr>
        <p:spPr>
          <a:xfrm>
            <a:off x="411480" y="1787851"/>
            <a:ext cx="1757629" cy="347472"/>
          </a:xfrm>
          <a:prstGeom prst="rect">
            <a:avLst/>
          </a:prstGeom>
          <a:noFill/>
          <a:ln/>
        </p:spPr>
        <p:txBody>
          <a:bodyPr wrap="square" rtlCol="0" anchor="ctr"/>
          <a:lstStyle/>
          <a:p>
            <a:pPr marL="0" indent="0" algn="ctr">
              <a:buNone/>
            </a:pPr>
            <a:r>
              <a:rPr lang="en-US" sz="1000" b="1">
                <a:solidFill>
                  <a:srgbClr val="FFFFFF"/>
                </a:solidFill>
                <a:latin typeface="Raleway"/>
                <a:ea typeface="Calibri" pitchFamily="34" charset="-122"/>
                <a:cs typeface="Calibri" pitchFamily="34" charset="-120"/>
              </a:rPr>
              <a:t>FPTK</a:t>
            </a:r>
            <a:endParaRPr lang="en-US" sz="1000">
              <a:latin typeface="Raleway"/>
            </a:endParaRPr>
          </a:p>
        </p:txBody>
      </p:sp>
      <p:sp>
        <p:nvSpPr>
          <p:cNvPr id="8" name="Shape 6">
            <a:extLst>
              <a:ext uri="{FF2B5EF4-FFF2-40B4-BE49-F238E27FC236}">
                <a16:creationId xmlns:a16="http://schemas.microsoft.com/office/drawing/2014/main" id="{DEB03679-455A-D244-36AB-F245DE1561AC}"/>
              </a:ext>
            </a:extLst>
          </p:cNvPr>
          <p:cNvSpPr/>
          <p:nvPr/>
        </p:nvSpPr>
        <p:spPr>
          <a:xfrm>
            <a:off x="2315413" y="1111195"/>
            <a:ext cx="1757629" cy="1097280"/>
          </a:xfrm>
          <a:prstGeom prst="roundRect">
            <a:avLst>
              <a:gd name="adj" fmla="val 5000"/>
            </a:avLst>
          </a:prstGeom>
          <a:solidFill>
            <a:srgbClr val="0070C0"/>
          </a:solidFill>
          <a:ln/>
        </p:spPr>
        <p:txBody>
          <a:bodyPr/>
          <a:lstStyle/>
          <a:p>
            <a:endParaRPr lang="en-US">
              <a:latin typeface="Raleway"/>
            </a:endParaRPr>
          </a:p>
        </p:txBody>
      </p:sp>
      <p:sp>
        <p:nvSpPr>
          <p:cNvPr id="9" name="openmanager">
            <a:extLst>
              <a:ext uri="{FF2B5EF4-FFF2-40B4-BE49-F238E27FC236}">
                <a16:creationId xmlns:a16="http://schemas.microsoft.com/office/drawing/2014/main" id="{6C495225-B82D-17A0-E833-AEA43F81DF0B}"/>
              </a:ext>
            </a:extLst>
          </p:cNvPr>
          <p:cNvSpPr/>
          <p:nvPr/>
        </p:nvSpPr>
        <p:spPr>
          <a:xfrm>
            <a:off x="2269693" y="1184347"/>
            <a:ext cx="1849069" cy="603504"/>
          </a:xfrm>
          <a:prstGeom prst="rect">
            <a:avLst/>
          </a:prstGeom>
          <a:noFill/>
          <a:ln/>
        </p:spPr>
        <p:txBody>
          <a:bodyPr wrap="square" lIns="91440" tIns="45720" rIns="91440" bIns="45720" rtlCol="0" anchor="ctr">
            <a:spAutoFit/>
          </a:bodyPr>
          <a:lstStyle/>
          <a:p>
            <a:pPr marL="0" indent="0" algn="ctr">
              <a:buNone/>
            </a:pPr>
            <a:r>
              <a:rPr lang="en-US" sz="3200" b="1">
                <a:solidFill>
                  <a:srgbClr val="FFFFFF"/>
                </a:solidFill>
                <a:latin typeface="Raleway"/>
              </a:rPr>
              <a:t>15</a:t>
            </a:r>
          </a:p>
        </p:txBody>
      </p:sp>
      <p:sp>
        <p:nvSpPr>
          <p:cNvPr id="10" name="Text 8">
            <a:extLst>
              <a:ext uri="{FF2B5EF4-FFF2-40B4-BE49-F238E27FC236}">
                <a16:creationId xmlns:a16="http://schemas.microsoft.com/office/drawing/2014/main" id="{B8F35017-F257-3383-67F9-E453CD612807}"/>
              </a:ext>
            </a:extLst>
          </p:cNvPr>
          <p:cNvSpPr/>
          <p:nvPr/>
        </p:nvSpPr>
        <p:spPr>
          <a:xfrm>
            <a:off x="2315413" y="1787851"/>
            <a:ext cx="1757629" cy="347472"/>
          </a:xfrm>
          <a:prstGeom prst="rect">
            <a:avLst/>
          </a:prstGeom>
          <a:noFill/>
          <a:ln/>
        </p:spPr>
        <p:txBody>
          <a:bodyPr wrap="square" rtlCol="0" anchor="ctr"/>
          <a:lstStyle/>
          <a:p>
            <a:pPr marL="0" indent="0" algn="ctr">
              <a:buNone/>
            </a:pPr>
            <a:r>
              <a:rPr lang="en-US" sz="1000" b="1">
                <a:solidFill>
                  <a:srgbClr val="FFFFFF"/>
                </a:solidFill>
                <a:latin typeface="Raleway"/>
                <a:ea typeface="Calibri" pitchFamily="34" charset="-122"/>
                <a:cs typeface="Calibri" pitchFamily="34" charset="-120"/>
              </a:rPr>
              <a:t>OPEN</a:t>
            </a:r>
            <a:endParaRPr lang="en-US" sz="1000">
              <a:latin typeface="Raleway"/>
            </a:endParaRPr>
          </a:p>
        </p:txBody>
      </p:sp>
      <p:sp>
        <p:nvSpPr>
          <p:cNvPr id="11" name="Shape 9">
            <a:extLst>
              <a:ext uri="{FF2B5EF4-FFF2-40B4-BE49-F238E27FC236}">
                <a16:creationId xmlns:a16="http://schemas.microsoft.com/office/drawing/2014/main" id="{23876F6F-FF3D-25EE-E48E-59C792B3D441}"/>
              </a:ext>
            </a:extLst>
          </p:cNvPr>
          <p:cNvSpPr/>
          <p:nvPr/>
        </p:nvSpPr>
        <p:spPr>
          <a:xfrm>
            <a:off x="4219346" y="1111195"/>
            <a:ext cx="1757629" cy="1097280"/>
          </a:xfrm>
          <a:prstGeom prst="roundRect">
            <a:avLst>
              <a:gd name="adj" fmla="val 5000"/>
            </a:avLst>
          </a:prstGeom>
          <a:solidFill>
            <a:srgbClr val="0070C0"/>
          </a:solidFill>
          <a:ln/>
        </p:spPr>
        <p:txBody>
          <a:bodyPr/>
          <a:lstStyle/>
          <a:p>
            <a:endParaRPr lang="en-US">
              <a:latin typeface="Raleway"/>
            </a:endParaRPr>
          </a:p>
        </p:txBody>
      </p:sp>
      <p:sp>
        <p:nvSpPr>
          <p:cNvPr id="12" name="closedmanager">
            <a:extLst>
              <a:ext uri="{FF2B5EF4-FFF2-40B4-BE49-F238E27FC236}">
                <a16:creationId xmlns:a16="http://schemas.microsoft.com/office/drawing/2014/main" id="{CF9FEFA8-F659-0BF2-5D2B-937C27B530B4}"/>
              </a:ext>
            </a:extLst>
          </p:cNvPr>
          <p:cNvSpPr/>
          <p:nvPr/>
        </p:nvSpPr>
        <p:spPr>
          <a:xfrm>
            <a:off x="4173626" y="1184347"/>
            <a:ext cx="1849069" cy="603504"/>
          </a:xfrm>
          <a:prstGeom prst="rect">
            <a:avLst/>
          </a:prstGeom>
          <a:noFill/>
          <a:ln/>
        </p:spPr>
        <p:txBody>
          <a:bodyPr wrap="square" lIns="91440" tIns="45720" rIns="91440" bIns="45720" rtlCol="0" anchor="ctr">
            <a:spAutoFit/>
          </a:bodyPr>
          <a:lstStyle/>
          <a:p>
            <a:pPr marL="0" indent="0" algn="ctr">
              <a:buNone/>
            </a:pPr>
            <a:r>
              <a:rPr lang="en-US" sz="3200" b="1">
                <a:solidFill>
                  <a:srgbClr val="FFFFFF"/>
                </a:solidFill>
                <a:latin typeface="Raleway"/>
              </a:rPr>
              <a:t>18</a:t>
            </a:r>
          </a:p>
        </p:txBody>
      </p:sp>
      <p:sp>
        <p:nvSpPr>
          <p:cNvPr id="13" name="Text 11">
            <a:extLst>
              <a:ext uri="{FF2B5EF4-FFF2-40B4-BE49-F238E27FC236}">
                <a16:creationId xmlns:a16="http://schemas.microsoft.com/office/drawing/2014/main" id="{A426BC15-8E50-6FE9-8BBB-B27B9B8E414A}"/>
              </a:ext>
            </a:extLst>
          </p:cNvPr>
          <p:cNvSpPr/>
          <p:nvPr/>
        </p:nvSpPr>
        <p:spPr>
          <a:xfrm>
            <a:off x="4219346" y="1787851"/>
            <a:ext cx="1757629" cy="347472"/>
          </a:xfrm>
          <a:prstGeom prst="rect">
            <a:avLst/>
          </a:prstGeom>
          <a:noFill/>
          <a:ln/>
        </p:spPr>
        <p:txBody>
          <a:bodyPr wrap="square" rtlCol="0" anchor="ctr"/>
          <a:lstStyle/>
          <a:p>
            <a:pPr marL="0" indent="0" algn="ctr">
              <a:buNone/>
            </a:pPr>
            <a:r>
              <a:rPr lang="en-US" sz="1000" b="1">
                <a:solidFill>
                  <a:srgbClr val="FFFFFF"/>
                </a:solidFill>
                <a:latin typeface="Raleway"/>
                <a:ea typeface="Calibri" pitchFamily="34" charset="-122"/>
                <a:cs typeface="Calibri" pitchFamily="34" charset="-120"/>
              </a:rPr>
              <a:t>CLOSED</a:t>
            </a:r>
            <a:endParaRPr lang="en-US" sz="1000">
              <a:latin typeface="Raleway"/>
            </a:endParaRPr>
          </a:p>
        </p:txBody>
      </p:sp>
      <p:sp>
        <p:nvSpPr>
          <p:cNvPr id="14" name="Shape 12">
            <a:extLst>
              <a:ext uri="{FF2B5EF4-FFF2-40B4-BE49-F238E27FC236}">
                <a16:creationId xmlns:a16="http://schemas.microsoft.com/office/drawing/2014/main" id="{B5099C0A-C517-B097-85DC-5B4EDF859A77}"/>
              </a:ext>
            </a:extLst>
          </p:cNvPr>
          <p:cNvSpPr/>
          <p:nvPr/>
        </p:nvSpPr>
        <p:spPr>
          <a:xfrm>
            <a:off x="6123280" y="1111195"/>
            <a:ext cx="1757629" cy="1097280"/>
          </a:xfrm>
          <a:prstGeom prst="roundRect">
            <a:avLst>
              <a:gd name="adj" fmla="val 5000"/>
            </a:avLst>
          </a:prstGeom>
          <a:solidFill>
            <a:srgbClr val="0070C0"/>
          </a:solidFill>
          <a:ln/>
        </p:spPr>
        <p:txBody>
          <a:bodyPr/>
          <a:lstStyle/>
          <a:p>
            <a:endParaRPr lang="en-US">
              <a:latin typeface="Raleway"/>
            </a:endParaRPr>
          </a:p>
        </p:txBody>
      </p:sp>
      <p:sp>
        <p:nvSpPr>
          <p:cNvPr id="15" name="cancelmanager">
            <a:extLst>
              <a:ext uri="{FF2B5EF4-FFF2-40B4-BE49-F238E27FC236}">
                <a16:creationId xmlns:a16="http://schemas.microsoft.com/office/drawing/2014/main" id="{7605419C-9390-6E0F-3C72-2FD20990E85A}"/>
              </a:ext>
            </a:extLst>
          </p:cNvPr>
          <p:cNvSpPr/>
          <p:nvPr/>
        </p:nvSpPr>
        <p:spPr>
          <a:xfrm>
            <a:off x="6077560" y="1184347"/>
            <a:ext cx="1849069" cy="603504"/>
          </a:xfrm>
          <a:prstGeom prst="rect">
            <a:avLst/>
          </a:prstGeom>
          <a:noFill/>
          <a:ln/>
        </p:spPr>
        <p:txBody>
          <a:bodyPr wrap="square" lIns="91440" tIns="45720" rIns="91440" bIns="45720" rtlCol="0" anchor="ctr">
            <a:spAutoFit/>
          </a:bodyPr>
          <a:lstStyle/>
          <a:p>
            <a:pPr marL="0" indent="0" algn="ctr">
              <a:buNone/>
            </a:pPr>
            <a:r>
              <a:rPr lang="en-US" sz="3200" b="1">
                <a:solidFill>
                  <a:srgbClr val="FFFFFF"/>
                </a:solidFill>
                <a:latin typeface="Raleway"/>
              </a:rPr>
              <a:t>15</a:t>
            </a:r>
          </a:p>
        </p:txBody>
      </p:sp>
      <p:sp>
        <p:nvSpPr>
          <p:cNvPr id="16" name="Text 14">
            <a:extLst>
              <a:ext uri="{FF2B5EF4-FFF2-40B4-BE49-F238E27FC236}">
                <a16:creationId xmlns:a16="http://schemas.microsoft.com/office/drawing/2014/main" id="{16E44E3C-92C0-F0E7-F6DE-E3A0A6E11CA7}"/>
              </a:ext>
            </a:extLst>
          </p:cNvPr>
          <p:cNvSpPr/>
          <p:nvPr/>
        </p:nvSpPr>
        <p:spPr>
          <a:xfrm>
            <a:off x="6123280" y="1787851"/>
            <a:ext cx="1757629" cy="347472"/>
          </a:xfrm>
          <a:prstGeom prst="rect">
            <a:avLst/>
          </a:prstGeom>
          <a:noFill/>
          <a:ln/>
        </p:spPr>
        <p:txBody>
          <a:bodyPr wrap="square" rtlCol="0" anchor="ctr"/>
          <a:lstStyle/>
          <a:p>
            <a:pPr marL="0" indent="0" algn="ctr">
              <a:buNone/>
            </a:pPr>
            <a:r>
              <a:rPr lang="en-US" sz="1000" b="1">
                <a:solidFill>
                  <a:srgbClr val="FFFFFF"/>
                </a:solidFill>
                <a:latin typeface="Raleway"/>
                <a:ea typeface="Calibri" pitchFamily="34" charset="-122"/>
                <a:cs typeface="Calibri" pitchFamily="34" charset="-120"/>
              </a:rPr>
              <a:t>CANCEL</a:t>
            </a:r>
            <a:endParaRPr lang="en-US" sz="1000">
              <a:latin typeface="Raleway"/>
            </a:endParaRPr>
          </a:p>
        </p:txBody>
      </p:sp>
      <p:sp>
        <p:nvSpPr>
          <p:cNvPr id="17" name="Shape 15">
            <a:extLst>
              <a:ext uri="{FF2B5EF4-FFF2-40B4-BE49-F238E27FC236}">
                <a16:creationId xmlns:a16="http://schemas.microsoft.com/office/drawing/2014/main" id="{0BFFE08D-2062-77B6-0C96-05EA58A16763}"/>
              </a:ext>
            </a:extLst>
          </p:cNvPr>
          <p:cNvSpPr/>
          <p:nvPr/>
        </p:nvSpPr>
        <p:spPr>
          <a:xfrm>
            <a:off x="8027213" y="1111195"/>
            <a:ext cx="1757629" cy="1097280"/>
          </a:xfrm>
          <a:prstGeom prst="roundRect">
            <a:avLst>
              <a:gd name="adj" fmla="val 5000"/>
            </a:avLst>
          </a:prstGeom>
          <a:solidFill>
            <a:srgbClr val="0070C0"/>
          </a:solidFill>
          <a:ln/>
        </p:spPr>
        <p:txBody>
          <a:bodyPr/>
          <a:lstStyle/>
          <a:p>
            <a:endParaRPr lang="en-US">
              <a:latin typeface="Raleway"/>
            </a:endParaRPr>
          </a:p>
        </p:txBody>
      </p:sp>
      <p:sp>
        <p:nvSpPr>
          <p:cNvPr id="18" name="fillratemanager">
            <a:extLst>
              <a:ext uri="{FF2B5EF4-FFF2-40B4-BE49-F238E27FC236}">
                <a16:creationId xmlns:a16="http://schemas.microsoft.com/office/drawing/2014/main" id="{3BB6F19A-76DB-5B64-6749-20D8E66BB01A}"/>
              </a:ext>
            </a:extLst>
          </p:cNvPr>
          <p:cNvSpPr/>
          <p:nvPr/>
        </p:nvSpPr>
        <p:spPr>
          <a:xfrm>
            <a:off x="7981493" y="1184347"/>
            <a:ext cx="1849069" cy="603504"/>
          </a:xfrm>
          <a:prstGeom prst="rect">
            <a:avLst/>
          </a:prstGeom>
          <a:noFill/>
          <a:ln/>
        </p:spPr>
        <p:txBody>
          <a:bodyPr wrap="square" lIns="91440" tIns="45720" rIns="91440" bIns="45720" rtlCol="0" anchor="ctr">
            <a:spAutoFit/>
          </a:bodyPr>
          <a:lstStyle/>
          <a:p>
            <a:pPr marL="0" indent="0" algn="ctr">
              <a:buNone/>
            </a:pPr>
            <a:r>
              <a:rPr lang="en-US" sz="3200" b="1">
                <a:solidFill>
                  <a:srgbClr val="FFFFFF"/>
                </a:solidFill>
                <a:latin typeface="Raleway"/>
              </a:rPr>
              <a:t>52.78%</a:t>
            </a:r>
          </a:p>
        </p:txBody>
      </p:sp>
      <p:sp>
        <p:nvSpPr>
          <p:cNvPr id="19" name="Text 17">
            <a:extLst>
              <a:ext uri="{FF2B5EF4-FFF2-40B4-BE49-F238E27FC236}">
                <a16:creationId xmlns:a16="http://schemas.microsoft.com/office/drawing/2014/main" id="{5D061BD9-8947-93DA-9FCB-75A1DFF1AC2A}"/>
              </a:ext>
            </a:extLst>
          </p:cNvPr>
          <p:cNvSpPr/>
          <p:nvPr/>
        </p:nvSpPr>
        <p:spPr>
          <a:xfrm>
            <a:off x="8027213" y="1787851"/>
            <a:ext cx="1757629" cy="347472"/>
          </a:xfrm>
          <a:prstGeom prst="rect">
            <a:avLst/>
          </a:prstGeom>
          <a:noFill/>
          <a:ln/>
        </p:spPr>
        <p:txBody>
          <a:bodyPr wrap="square" rtlCol="0" anchor="ctr"/>
          <a:lstStyle/>
          <a:p>
            <a:pPr marL="0" indent="0" algn="ctr">
              <a:buNone/>
            </a:pPr>
            <a:r>
              <a:rPr lang="en-US" sz="1000" b="1">
                <a:solidFill>
                  <a:srgbClr val="FFFFFF"/>
                </a:solidFill>
                <a:latin typeface="Raleway"/>
                <a:ea typeface="Calibri" pitchFamily="34" charset="-122"/>
                <a:cs typeface="Calibri" pitchFamily="34" charset="-120"/>
              </a:rPr>
              <a:t>FILL RATE</a:t>
            </a:r>
            <a:endParaRPr lang="en-US" sz="1000">
              <a:latin typeface="Raleway"/>
            </a:endParaRPr>
          </a:p>
        </p:txBody>
      </p:sp>
      <p:sp>
        <p:nvSpPr>
          <p:cNvPr id="20" name="Shape 18">
            <a:extLst>
              <a:ext uri="{FF2B5EF4-FFF2-40B4-BE49-F238E27FC236}">
                <a16:creationId xmlns:a16="http://schemas.microsoft.com/office/drawing/2014/main" id="{11795EB5-8877-4527-242E-B3CF54872A95}"/>
              </a:ext>
            </a:extLst>
          </p:cNvPr>
          <p:cNvSpPr/>
          <p:nvPr/>
        </p:nvSpPr>
        <p:spPr>
          <a:xfrm>
            <a:off x="9931146" y="1111195"/>
            <a:ext cx="1757629" cy="1097280"/>
          </a:xfrm>
          <a:prstGeom prst="roundRect">
            <a:avLst>
              <a:gd name="adj" fmla="val 5000"/>
            </a:avLst>
          </a:prstGeom>
          <a:solidFill>
            <a:srgbClr val="0070C0"/>
          </a:solidFill>
          <a:ln/>
        </p:spPr>
        <p:txBody>
          <a:bodyPr/>
          <a:lstStyle/>
          <a:p>
            <a:endParaRPr lang="en-US">
              <a:latin typeface="Raleway"/>
            </a:endParaRPr>
          </a:p>
        </p:txBody>
      </p:sp>
      <p:sp>
        <p:nvSpPr>
          <p:cNvPr id="21" name="closesesuaislamanager">
            <a:extLst>
              <a:ext uri="{FF2B5EF4-FFF2-40B4-BE49-F238E27FC236}">
                <a16:creationId xmlns:a16="http://schemas.microsoft.com/office/drawing/2014/main" id="{2184F3CE-A0A6-DE3B-E771-22CAF9C01406}"/>
              </a:ext>
            </a:extLst>
          </p:cNvPr>
          <p:cNvSpPr/>
          <p:nvPr/>
        </p:nvSpPr>
        <p:spPr>
          <a:xfrm>
            <a:off x="9885426" y="1184347"/>
            <a:ext cx="1849069" cy="603504"/>
          </a:xfrm>
          <a:prstGeom prst="rect">
            <a:avLst/>
          </a:prstGeom>
          <a:noFill/>
          <a:ln/>
        </p:spPr>
        <p:txBody>
          <a:bodyPr wrap="square" lIns="91440" tIns="45720" rIns="91440" bIns="45720" rtlCol="0" anchor="ctr">
            <a:spAutoFit/>
          </a:bodyPr>
          <a:lstStyle/>
          <a:p>
            <a:pPr marL="0" indent="0" algn="ctr">
              <a:buNone/>
            </a:pPr>
            <a:r>
              <a:rPr lang="en-US" sz="3200" b="1">
                <a:solidFill>
                  <a:srgbClr val="FFFFFF"/>
                </a:solidFill>
                <a:latin typeface="Raleway"/>
              </a:rPr>
              <a:t>54.55%</a:t>
            </a:r>
            <a:endParaRPr lang="en-US" sz="3200">
              <a:latin typeface="Raleway"/>
            </a:endParaRPr>
          </a:p>
        </p:txBody>
      </p:sp>
      <p:sp>
        <p:nvSpPr>
          <p:cNvPr id="22" name="Text 20">
            <a:extLst>
              <a:ext uri="{FF2B5EF4-FFF2-40B4-BE49-F238E27FC236}">
                <a16:creationId xmlns:a16="http://schemas.microsoft.com/office/drawing/2014/main" id="{5184D2A8-9D3B-6071-17FD-FEDF25A74DA4}"/>
              </a:ext>
            </a:extLst>
          </p:cNvPr>
          <p:cNvSpPr/>
          <p:nvPr/>
        </p:nvSpPr>
        <p:spPr>
          <a:xfrm>
            <a:off x="9931146" y="1787851"/>
            <a:ext cx="1757629" cy="347472"/>
          </a:xfrm>
          <a:prstGeom prst="rect">
            <a:avLst/>
          </a:prstGeom>
          <a:noFill/>
          <a:ln/>
        </p:spPr>
        <p:txBody>
          <a:bodyPr wrap="square" rtlCol="0" anchor="ctr"/>
          <a:lstStyle/>
          <a:p>
            <a:pPr marL="0" indent="0" algn="ctr">
              <a:buNone/>
            </a:pPr>
            <a:r>
              <a:rPr lang="en-US" sz="1000" b="1">
                <a:solidFill>
                  <a:srgbClr val="FFFFFF"/>
                </a:solidFill>
                <a:latin typeface="Raleway"/>
                <a:ea typeface="Calibri" pitchFamily="34" charset="-122"/>
                <a:cs typeface="Calibri" pitchFamily="34" charset="-120"/>
              </a:rPr>
              <a:t>CLOSE SESUAI SLA</a:t>
            </a:r>
            <a:endParaRPr lang="en-US" sz="1000">
              <a:latin typeface="Raleway"/>
            </a:endParaRPr>
          </a:p>
        </p:txBody>
      </p:sp>
      <p:sp>
        <p:nvSpPr>
          <p:cNvPr id="24" name="Text 22">
            <a:extLst>
              <a:ext uri="{FF2B5EF4-FFF2-40B4-BE49-F238E27FC236}">
                <a16:creationId xmlns:a16="http://schemas.microsoft.com/office/drawing/2014/main" id="{FC159C80-F6C3-C686-037C-5F7BC1BD6D02}"/>
              </a:ext>
            </a:extLst>
          </p:cNvPr>
          <p:cNvSpPr/>
          <p:nvPr/>
        </p:nvSpPr>
        <p:spPr>
          <a:xfrm>
            <a:off x="404223" y="2281627"/>
            <a:ext cx="11284552" cy="419463"/>
          </a:xfrm>
          <a:prstGeom prst="rect">
            <a:avLst/>
          </a:prstGeom>
          <a:noFill/>
          <a:ln/>
        </p:spPr>
        <p:txBody>
          <a:bodyPr wrap="square" lIns="91440" tIns="45720" rIns="91440" bIns="45720" rtlCol="0" anchor="ctr"/>
          <a:lstStyle/>
          <a:p>
            <a:r>
              <a:rPr lang="en-US" sz="1300" b="1">
                <a:solidFill>
                  <a:srgbClr val="12284C"/>
                </a:solidFill>
                <a:latin typeface="Raleway"/>
                <a:ea typeface="Calibri"/>
                <a:cs typeface="Calibri"/>
              </a:rPr>
              <a:t>15 FPTK Open:</a:t>
            </a:r>
            <a:endParaRPr lang="en-US" sz="1300">
              <a:latin typeface="Raleway"/>
              <a:ea typeface="Calibri"/>
              <a:cs typeface="Calibri"/>
            </a:endParaRPr>
          </a:p>
        </p:txBody>
      </p:sp>
      <p:graphicFrame>
        <p:nvGraphicFramePr>
          <p:cNvPr id="3" name="Table 0">
            <a:extLst>
              <a:ext uri="{FF2B5EF4-FFF2-40B4-BE49-F238E27FC236}">
                <a16:creationId xmlns:a16="http://schemas.microsoft.com/office/drawing/2014/main" id="{5B39274B-6FB9-11F2-34D3-EDB84151AB79}"/>
              </a:ext>
            </a:extLst>
          </p:cNvPr>
          <p:cNvGraphicFramePr>
            <a:graphicFrameLocks noGrp="1"/>
          </p:cNvGraphicFramePr>
          <p:nvPr>
            <p:extLst>
              <p:ext uri="{D42A27DB-BD31-4B8C-83A1-F6EECF244321}">
                <p14:modId xmlns:p14="http://schemas.microsoft.com/office/powerpoint/2010/main" val="2925079082"/>
              </p:ext>
            </p:extLst>
          </p:nvPr>
        </p:nvGraphicFramePr>
        <p:xfrm>
          <a:off x="457351" y="2752179"/>
          <a:ext cx="11231423" cy="1645920"/>
        </p:xfrm>
        <a:graphic>
          <a:graphicData uri="http://schemas.openxmlformats.org/drawingml/2006/table">
            <a:tbl>
              <a:tblPr/>
              <a:tblGrid>
                <a:gridCol w="5048927">
                  <a:extLst>
                    <a:ext uri="{9D8B030D-6E8A-4147-A177-3AD203B41FA5}">
                      <a16:colId xmlns:a16="http://schemas.microsoft.com/office/drawing/2014/main" val="20000"/>
                    </a:ext>
                  </a:extLst>
                </a:gridCol>
                <a:gridCol w="3307813">
                  <a:extLst>
                    <a:ext uri="{9D8B030D-6E8A-4147-A177-3AD203B41FA5}">
                      <a16:colId xmlns:a16="http://schemas.microsoft.com/office/drawing/2014/main" val="20001"/>
                    </a:ext>
                  </a:extLst>
                </a:gridCol>
                <a:gridCol w="2874683">
                  <a:extLst>
                    <a:ext uri="{9D8B030D-6E8A-4147-A177-3AD203B41FA5}">
                      <a16:colId xmlns:a16="http://schemas.microsoft.com/office/drawing/2014/main" val="20002"/>
                    </a:ext>
                  </a:extLst>
                </a:gridCol>
              </a:tblGrid>
              <a:tr h="208583">
                <a:tc>
                  <a:txBody>
                    <a:bodyPr/>
                    <a:lstStyle/>
                    <a:p>
                      <a:pPr marL="0" indent="0" algn="l">
                        <a:buNone/>
                      </a:pPr>
                      <a:r>
                        <a:rPr lang="en-US" sz="1200" b="1" err="1">
                          <a:solidFill>
                            <a:srgbClr val="FFFFFF"/>
                          </a:solidFill>
                          <a:latin typeface="Raleway"/>
                          <a:ea typeface="Calibri"/>
                          <a:cs typeface="Calibri"/>
                        </a:rPr>
                        <a:t>Posisi</a:t>
                      </a:r>
                      <a:endParaRPr lang="en-US" sz="1200">
                        <a:latin typeface="Raleway"/>
                        <a:ea typeface="Calibri"/>
                        <a:cs typeface="Calibri"/>
                      </a:endParaRPr>
                    </a:p>
                  </a:txBody>
                  <a:tcPr anchor="ctr">
                    <a:lnL w="5080" cap="flat" cmpd="sng" algn="ctr">
                      <a:solidFill>
                        <a:srgbClr val="D5DEEA"/>
                      </a:solidFill>
                      <a:prstDash val="solid"/>
                      <a:round/>
                      <a:headEnd type="none" w="med" len="med"/>
                      <a:tailEnd type="none" w="med" len="med"/>
                    </a:lnL>
                    <a:lnR w="5080" cap="flat" cmpd="sng" algn="ctr">
                      <a:solidFill>
                        <a:srgbClr val="D5DEEA"/>
                      </a:solidFill>
                      <a:prstDash val="solid"/>
                      <a:round/>
                      <a:headEnd type="none" w="med" len="med"/>
                      <a:tailEnd type="none" w="med" len="med"/>
                    </a:lnR>
                    <a:lnT w="5080" cap="flat" cmpd="sng" algn="ctr">
                      <a:solidFill>
                        <a:srgbClr val="D5DEEA"/>
                      </a:solidFill>
                      <a:prstDash val="solid"/>
                      <a:round/>
                      <a:headEnd type="none" w="med" len="med"/>
                      <a:tailEnd type="none" w="med" len="med"/>
                    </a:lnT>
                    <a:lnB w="5080" cap="flat" cmpd="sng" algn="ctr">
                      <a:solidFill>
                        <a:srgbClr val="D5DEEA"/>
                      </a:solidFill>
                      <a:prstDash val="solid"/>
                      <a:round/>
                      <a:headEnd type="none" w="med" len="med"/>
                      <a:tailEnd type="none" w="med" len="med"/>
                    </a:lnB>
                    <a:solidFill>
                      <a:srgbClr val="002060"/>
                    </a:solidFill>
                  </a:tcPr>
                </a:tc>
                <a:tc>
                  <a:txBody>
                    <a:bodyPr/>
                    <a:lstStyle/>
                    <a:p>
                      <a:pPr marL="0" indent="0" algn="ctr">
                        <a:buNone/>
                      </a:pPr>
                      <a:r>
                        <a:rPr lang="en-US" sz="1200" b="1">
                          <a:solidFill>
                            <a:srgbClr val="FFFFFF"/>
                          </a:solidFill>
                          <a:latin typeface="Raleway"/>
                          <a:ea typeface="Calibri"/>
                          <a:cs typeface="Calibri"/>
                        </a:rPr>
                        <a:t>Level</a:t>
                      </a:r>
                      <a:endParaRPr lang="en-US" sz="1200">
                        <a:latin typeface="Raleway"/>
                        <a:ea typeface="Calibri"/>
                        <a:cs typeface="Calibri"/>
                      </a:endParaRPr>
                    </a:p>
                  </a:txBody>
                  <a:tcPr anchor="ctr">
                    <a:lnL w="5080" cap="flat" cmpd="sng" algn="ctr">
                      <a:solidFill>
                        <a:srgbClr val="D5DEEA"/>
                      </a:solidFill>
                      <a:prstDash val="solid"/>
                      <a:round/>
                      <a:headEnd type="none" w="med" len="med"/>
                      <a:tailEnd type="none" w="med" len="med"/>
                    </a:lnL>
                    <a:lnR w="5080" cap="flat" cmpd="sng" algn="ctr">
                      <a:solidFill>
                        <a:srgbClr val="D5DEEA"/>
                      </a:solidFill>
                      <a:prstDash val="solid"/>
                      <a:round/>
                      <a:headEnd type="none" w="med" len="med"/>
                      <a:tailEnd type="none" w="med" len="med"/>
                    </a:lnR>
                    <a:lnT w="5080" cap="flat" cmpd="sng" algn="ctr">
                      <a:solidFill>
                        <a:srgbClr val="D5DEEA"/>
                      </a:solidFill>
                      <a:prstDash val="solid"/>
                      <a:round/>
                      <a:headEnd type="none" w="med" len="med"/>
                      <a:tailEnd type="none" w="med" len="med"/>
                    </a:lnT>
                    <a:lnB w="5080" cap="flat" cmpd="sng" algn="ctr">
                      <a:solidFill>
                        <a:srgbClr val="D5DEEA"/>
                      </a:solidFill>
                      <a:prstDash val="solid"/>
                      <a:round/>
                      <a:headEnd type="none" w="med" len="med"/>
                      <a:tailEnd type="none" w="med" len="med"/>
                    </a:lnB>
                    <a:solidFill>
                      <a:srgbClr val="002060"/>
                    </a:solidFill>
                  </a:tcPr>
                </a:tc>
                <a:tc>
                  <a:txBody>
                    <a:bodyPr/>
                    <a:lstStyle/>
                    <a:p>
                      <a:pPr marL="0" indent="0" algn="ctr">
                        <a:buNone/>
                      </a:pPr>
                      <a:r>
                        <a:rPr lang="en-US" sz="1200" b="1">
                          <a:solidFill>
                            <a:srgbClr val="FFFFFF"/>
                          </a:solidFill>
                          <a:latin typeface="Raleway"/>
                          <a:ea typeface="Calibri"/>
                          <a:cs typeface="Calibri"/>
                        </a:rPr>
                        <a:t>Headcount</a:t>
                      </a:r>
                    </a:p>
                  </a:txBody>
                  <a:tcPr anchor="ctr">
                    <a:lnL w="5080" cap="flat" cmpd="sng" algn="ctr">
                      <a:solidFill>
                        <a:srgbClr val="D5DEEA"/>
                      </a:solidFill>
                      <a:prstDash val="solid"/>
                      <a:round/>
                      <a:headEnd type="none" w="med" len="med"/>
                      <a:tailEnd type="none" w="med" len="med"/>
                    </a:lnL>
                    <a:lnR w="5080" cap="flat" cmpd="sng" algn="ctr">
                      <a:solidFill>
                        <a:srgbClr val="D5DEEA"/>
                      </a:solidFill>
                      <a:prstDash val="solid"/>
                      <a:round/>
                      <a:headEnd type="none" w="med" len="med"/>
                      <a:tailEnd type="none" w="med" len="med"/>
                    </a:lnR>
                    <a:lnT w="5080" cap="flat" cmpd="sng" algn="ctr">
                      <a:solidFill>
                        <a:srgbClr val="D5DEEA"/>
                      </a:solidFill>
                      <a:prstDash val="solid"/>
                      <a:round/>
                      <a:headEnd type="none" w="med" len="med"/>
                      <a:tailEnd type="none" w="med" len="med"/>
                    </a:lnT>
                    <a:lnB w="5080" cap="flat" cmpd="sng" algn="ctr">
                      <a:solidFill>
                        <a:srgbClr val="D5DEEA"/>
                      </a:solidFill>
                      <a:prstDash val="solid"/>
                      <a:round/>
                      <a:headEnd type="none" w="med" len="med"/>
                      <a:tailEnd type="none" w="med" len="med"/>
                    </a:lnB>
                    <a:solidFill>
                      <a:srgbClr val="002060"/>
                    </a:solidFill>
                  </a:tcPr>
                </a:tc>
                <a:extLst>
                  <a:ext uri="{0D108BD9-81ED-4DB2-BD59-A6C34878D82A}">
                    <a16:rowId xmlns:a16="http://schemas.microsoft.com/office/drawing/2014/main" val="10000"/>
                  </a:ext>
                </a:extLst>
              </a:tr>
              <a:tr h="126120">
                <a:tc>
                  <a:txBody>
                    <a:bodyPr/>
                    <a:lstStyle/>
                    <a:p>
                      <a:pPr marL="0" indent="0" algn="l">
                        <a:buNone/>
                      </a:pPr>
                      <a:r>
                        <a:rPr lang="en-US" sz="1200">
                          <a:solidFill>
                            <a:srgbClr val="12284C"/>
                          </a:solidFill>
                          <a:latin typeface="Raleway"/>
                          <a:ea typeface="Calibri"/>
                          <a:cs typeface="Calibri"/>
                        </a:rPr>
                        <a:t>Plant Manager</a:t>
                      </a:r>
                      <a:endParaRPr lang="en-US" sz="1200">
                        <a:latin typeface="Raleway"/>
                        <a:ea typeface="Calibri"/>
                        <a:cs typeface="Calibri"/>
                      </a:endParaRPr>
                    </a:p>
                  </a:txBody>
                  <a:tcPr anchor="ctr">
                    <a:lnL w="5080" cap="flat" cmpd="sng" algn="ctr">
                      <a:solidFill>
                        <a:srgbClr val="D5DEEA"/>
                      </a:solidFill>
                      <a:prstDash val="solid"/>
                      <a:round/>
                      <a:headEnd type="none" w="med" len="med"/>
                      <a:tailEnd type="none" w="med" len="med"/>
                    </a:lnL>
                    <a:lnR w="5080" cap="flat" cmpd="sng" algn="ctr">
                      <a:solidFill>
                        <a:srgbClr val="D5DEEA"/>
                      </a:solidFill>
                      <a:prstDash val="solid"/>
                      <a:round/>
                      <a:headEnd type="none" w="med" len="med"/>
                      <a:tailEnd type="none" w="med" len="med"/>
                    </a:lnR>
                    <a:lnT w="5080" cap="flat" cmpd="sng" algn="ctr">
                      <a:solidFill>
                        <a:srgbClr val="D5DEEA"/>
                      </a:solidFill>
                      <a:prstDash val="solid"/>
                      <a:round/>
                      <a:headEnd type="none" w="med" len="med"/>
                      <a:tailEnd type="none" w="med" len="med"/>
                    </a:lnT>
                    <a:lnB w="5080" cap="flat" cmpd="sng" algn="ctr">
                      <a:solidFill>
                        <a:srgbClr val="D5DEEA"/>
                      </a:solidFill>
                      <a:prstDash val="solid"/>
                      <a:round/>
                      <a:headEnd type="none" w="med" len="med"/>
                      <a:tailEnd type="none" w="med" len="med"/>
                    </a:lnB>
                    <a:noFill/>
                  </a:tcPr>
                </a:tc>
                <a:tc>
                  <a:txBody>
                    <a:bodyPr/>
                    <a:lstStyle/>
                    <a:p>
                      <a:pPr marL="0" indent="0" algn="ctr">
                        <a:buNone/>
                      </a:pPr>
                      <a:r>
                        <a:rPr lang="en-US" sz="1200">
                          <a:solidFill>
                            <a:srgbClr val="1E293B"/>
                          </a:solidFill>
                          <a:latin typeface="Raleway"/>
                          <a:ea typeface="Calibri"/>
                          <a:cs typeface="Calibri"/>
                        </a:rPr>
                        <a:t>4B</a:t>
                      </a:r>
                      <a:endParaRPr lang="en-US" sz="1200">
                        <a:latin typeface="Raleway"/>
                        <a:ea typeface="Calibri"/>
                        <a:cs typeface="Calibri"/>
                      </a:endParaRPr>
                    </a:p>
                  </a:txBody>
                  <a:tcPr anchor="ctr">
                    <a:lnL w="5080" cap="flat" cmpd="sng" algn="ctr">
                      <a:solidFill>
                        <a:srgbClr val="D5DEEA"/>
                      </a:solidFill>
                      <a:prstDash val="solid"/>
                      <a:round/>
                      <a:headEnd type="none" w="med" len="med"/>
                      <a:tailEnd type="none" w="med" len="med"/>
                    </a:lnL>
                    <a:lnR w="5080" cap="flat" cmpd="sng" algn="ctr">
                      <a:solidFill>
                        <a:srgbClr val="D5DEEA"/>
                      </a:solidFill>
                      <a:prstDash val="solid"/>
                      <a:round/>
                      <a:headEnd type="none" w="med" len="med"/>
                      <a:tailEnd type="none" w="med" len="med"/>
                    </a:lnR>
                    <a:lnT w="5080" cap="flat" cmpd="sng" algn="ctr">
                      <a:solidFill>
                        <a:srgbClr val="D5DEEA"/>
                      </a:solidFill>
                      <a:prstDash val="solid"/>
                      <a:round/>
                      <a:headEnd type="none" w="med" len="med"/>
                      <a:tailEnd type="none" w="med" len="med"/>
                    </a:lnT>
                    <a:lnB w="5080" cap="flat" cmpd="sng" algn="ctr">
                      <a:solidFill>
                        <a:srgbClr val="D5DEEA"/>
                      </a:solidFill>
                      <a:prstDash val="solid"/>
                      <a:round/>
                      <a:headEnd type="none" w="med" len="med"/>
                      <a:tailEnd type="none" w="med" len="med"/>
                    </a:lnB>
                    <a:noFill/>
                  </a:tcPr>
                </a:tc>
                <a:tc>
                  <a:txBody>
                    <a:bodyPr/>
                    <a:lstStyle/>
                    <a:p>
                      <a:pPr marL="0" indent="0" algn="ctr">
                        <a:buNone/>
                      </a:pPr>
                      <a:r>
                        <a:rPr lang="en-US" sz="1200" b="1">
                          <a:solidFill>
                            <a:srgbClr val="E08D1C"/>
                          </a:solidFill>
                          <a:latin typeface="Raleway"/>
                          <a:ea typeface="Calibri"/>
                          <a:cs typeface="Calibri"/>
                        </a:rPr>
                        <a:t>1</a:t>
                      </a:r>
                      <a:endParaRPr lang="en-US" sz="1200">
                        <a:latin typeface="Raleway"/>
                        <a:ea typeface="Calibri"/>
                        <a:cs typeface="Calibri"/>
                      </a:endParaRPr>
                    </a:p>
                  </a:txBody>
                  <a:tcPr anchor="ctr">
                    <a:lnL w="5080" cap="flat" cmpd="sng" algn="ctr">
                      <a:solidFill>
                        <a:srgbClr val="D5DEEA"/>
                      </a:solidFill>
                      <a:prstDash val="solid"/>
                      <a:round/>
                      <a:headEnd type="none" w="med" len="med"/>
                      <a:tailEnd type="none" w="med" len="med"/>
                    </a:lnL>
                    <a:lnR w="5080" cap="flat" cmpd="sng" algn="ctr">
                      <a:solidFill>
                        <a:srgbClr val="D5DEEA"/>
                      </a:solidFill>
                      <a:prstDash val="solid"/>
                      <a:round/>
                      <a:headEnd type="none" w="med" len="med"/>
                      <a:tailEnd type="none" w="med" len="med"/>
                    </a:lnR>
                    <a:lnT w="5080" cap="flat" cmpd="sng" algn="ctr">
                      <a:solidFill>
                        <a:srgbClr val="D5DEEA"/>
                      </a:solidFill>
                      <a:prstDash val="solid"/>
                      <a:round/>
                      <a:headEnd type="none" w="med" len="med"/>
                      <a:tailEnd type="none" w="med" len="med"/>
                    </a:lnT>
                    <a:lnB w="5080" cap="flat" cmpd="sng" algn="ctr">
                      <a:solidFill>
                        <a:srgbClr val="D5DEEA"/>
                      </a:solidFill>
                      <a:prstDash val="solid"/>
                      <a:round/>
                      <a:headEnd type="none" w="med" len="med"/>
                      <a:tailEnd type="none" w="med" len="med"/>
                    </a:lnB>
                    <a:noFill/>
                  </a:tcPr>
                </a:tc>
                <a:extLst>
                  <a:ext uri="{0D108BD9-81ED-4DB2-BD59-A6C34878D82A}">
                    <a16:rowId xmlns:a16="http://schemas.microsoft.com/office/drawing/2014/main" val="384422448"/>
                  </a:ext>
                </a:extLst>
              </a:tr>
              <a:tr h="126120">
                <a:tc>
                  <a:txBody>
                    <a:bodyPr/>
                    <a:lstStyle/>
                    <a:p>
                      <a:pPr marL="0" indent="0" algn="l">
                        <a:buNone/>
                      </a:pPr>
                      <a:r>
                        <a:rPr lang="en-US" sz="1200">
                          <a:solidFill>
                            <a:srgbClr val="12284C"/>
                          </a:solidFill>
                          <a:latin typeface="Raleway"/>
                          <a:ea typeface="Calibri"/>
                          <a:cs typeface="Calibri"/>
                        </a:rPr>
                        <a:t>Brand Manager</a:t>
                      </a:r>
                      <a:endParaRPr lang="en-US" sz="1200">
                        <a:latin typeface="Raleway"/>
                        <a:ea typeface="Calibri"/>
                        <a:cs typeface="Calibri"/>
                      </a:endParaRPr>
                    </a:p>
                  </a:txBody>
                  <a:tcPr anchor="ctr">
                    <a:lnL w="5080" cap="flat" cmpd="sng" algn="ctr">
                      <a:solidFill>
                        <a:srgbClr val="D5DEEA"/>
                      </a:solidFill>
                      <a:prstDash val="solid"/>
                      <a:round/>
                      <a:headEnd type="none" w="med" len="med"/>
                      <a:tailEnd type="none" w="med" len="med"/>
                    </a:lnL>
                    <a:lnR w="5080" cap="flat" cmpd="sng" algn="ctr">
                      <a:solidFill>
                        <a:srgbClr val="D5DEEA"/>
                      </a:solidFill>
                      <a:prstDash val="solid"/>
                      <a:round/>
                      <a:headEnd type="none" w="med" len="med"/>
                      <a:tailEnd type="none" w="med" len="med"/>
                    </a:lnR>
                    <a:lnT w="5080" cap="flat" cmpd="sng" algn="ctr">
                      <a:solidFill>
                        <a:srgbClr val="D5DEEA"/>
                      </a:solidFill>
                      <a:prstDash val="solid"/>
                      <a:round/>
                      <a:headEnd type="none" w="med" len="med"/>
                      <a:tailEnd type="none" w="med" len="med"/>
                    </a:lnT>
                    <a:lnB w="5080" cap="flat" cmpd="sng" algn="ctr">
                      <a:solidFill>
                        <a:srgbClr val="D5DEEA"/>
                      </a:solidFill>
                      <a:prstDash val="solid"/>
                      <a:round/>
                      <a:headEnd type="none" w="med" len="med"/>
                      <a:tailEnd type="none" w="med" len="med"/>
                    </a:lnB>
                    <a:noFill/>
                  </a:tcPr>
                </a:tc>
                <a:tc>
                  <a:txBody>
                    <a:bodyPr/>
                    <a:lstStyle/>
                    <a:p>
                      <a:pPr marL="0" indent="0" algn="ctr">
                        <a:buNone/>
                      </a:pPr>
                      <a:r>
                        <a:rPr lang="en-US" sz="1200">
                          <a:solidFill>
                            <a:srgbClr val="1E293B"/>
                          </a:solidFill>
                          <a:latin typeface="Raleway"/>
                          <a:ea typeface="Calibri"/>
                          <a:cs typeface="Calibri"/>
                        </a:rPr>
                        <a:t>4A</a:t>
                      </a:r>
                      <a:endParaRPr lang="en-US" sz="1200">
                        <a:latin typeface="Raleway"/>
                        <a:ea typeface="Calibri"/>
                        <a:cs typeface="Calibri"/>
                      </a:endParaRPr>
                    </a:p>
                  </a:txBody>
                  <a:tcPr anchor="ctr">
                    <a:lnL w="5080" cap="flat" cmpd="sng" algn="ctr">
                      <a:solidFill>
                        <a:srgbClr val="D5DEEA"/>
                      </a:solidFill>
                      <a:prstDash val="solid"/>
                      <a:round/>
                      <a:headEnd type="none" w="med" len="med"/>
                      <a:tailEnd type="none" w="med" len="med"/>
                    </a:lnL>
                    <a:lnR w="5080" cap="flat" cmpd="sng" algn="ctr">
                      <a:solidFill>
                        <a:srgbClr val="D5DEEA"/>
                      </a:solidFill>
                      <a:prstDash val="solid"/>
                      <a:round/>
                      <a:headEnd type="none" w="med" len="med"/>
                      <a:tailEnd type="none" w="med" len="med"/>
                    </a:lnR>
                    <a:lnT w="5080" cap="flat" cmpd="sng" algn="ctr">
                      <a:solidFill>
                        <a:srgbClr val="D5DEEA"/>
                      </a:solidFill>
                      <a:prstDash val="solid"/>
                      <a:round/>
                      <a:headEnd type="none" w="med" len="med"/>
                      <a:tailEnd type="none" w="med" len="med"/>
                    </a:lnT>
                    <a:lnB w="5080" cap="flat" cmpd="sng" algn="ctr">
                      <a:solidFill>
                        <a:srgbClr val="D5DEEA"/>
                      </a:solidFill>
                      <a:prstDash val="solid"/>
                      <a:round/>
                      <a:headEnd type="none" w="med" len="med"/>
                      <a:tailEnd type="none" w="med" len="med"/>
                    </a:lnB>
                    <a:noFill/>
                  </a:tcPr>
                </a:tc>
                <a:tc>
                  <a:txBody>
                    <a:bodyPr/>
                    <a:lstStyle/>
                    <a:p>
                      <a:pPr marL="0" indent="0" algn="ctr">
                        <a:buNone/>
                      </a:pPr>
                      <a:r>
                        <a:rPr lang="en-US" sz="1200" b="1" dirty="0">
                          <a:solidFill>
                            <a:srgbClr val="E08D1C"/>
                          </a:solidFill>
                          <a:latin typeface="Raleway"/>
                          <a:ea typeface="Calibri"/>
                          <a:cs typeface="Calibri"/>
                        </a:rPr>
                        <a:t>4</a:t>
                      </a:r>
                    </a:p>
                  </a:txBody>
                  <a:tcPr anchor="ctr">
                    <a:lnL w="5080" cap="flat" cmpd="sng" algn="ctr">
                      <a:solidFill>
                        <a:srgbClr val="D5DEEA"/>
                      </a:solidFill>
                      <a:prstDash val="solid"/>
                      <a:round/>
                      <a:headEnd type="none" w="med" len="med"/>
                      <a:tailEnd type="none" w="med" len="med"/>
                    </a:lnL>
                    <a:lnR w="5080" cap="flat" cmpd="sng" algn="ctr">
                      <a:solidFill>
                        <a:srgbClr val="D5DEEA"/>
                      </a:solidFill>
                      <a:prstDash val="solid"/>
                      <a:round/>
                      <a:headEnd type="none" w="med" len="med"/>
                      <a:tailEnd type="none" w="med" len="med"/>
                    </a:lnR>
                    <a:lnT w="5080" cap="flat" cmpd="sng" algn="ctr">
                      <a:solidFill>
                        <a:srgbClr val="D5DEEA"/>
                      </a:solidFill>
                      <a:prstDash val="solid"/>
                      <a:round/>
                      <a:headEnd type="none" w="med" len="med"/>
                      <a:tailEnd type="none" w="med" len="med"/>
                    </a:lnT>
                    <a:lnB w="5080" cap="flat" cmpd="sng" algn="ctr">
                      <a:solidFill>
                        <a:srgbClr val="D5DEEA"/>
                      </a:solidFill>
                      <a:prstDash val="solid"/>
                      <a:round/>
                      <a:headEnd type="none" w="med" len="med"/>
                      <a:tailEnd type="none" w="med" len="med"/>
                    </a:lnB>
                    <a:noFill/>
                  </a:tcPr>
                </a:tc>
                <a:extLst>
                  <a:ext uri="{0D108BD9-81ED-4DB2-BD59-A6C34878D82A}">
                    <a16:rowId xmlns:a16="http://schemas.microsoft.com/office/drawing/2014/main" val="10002"/>
                  </a:ext>
                </a:extLst>
              </a:tr>
              <a:tr h="126120">
                <a:tc>
                  <a:txBody>
                    <a:bodyPr/>
                    <a:lstStyle/>
                    <a:p>
                      <a:pPr marL="0" indent="0" algn="l">
                        <a:buNone/>
                      </a:pPr>
                      <a:r>
                        <a:rPr lang="en-US" sz="1200">
                          <a:solidFill>
                            <a:srgbClr val="12284C"/>
                          </a:solidFill>
                          <a:latin typeface="Raleway"/>
                          <a:ea typeface="Calibri"/>
                          <a:cs typeface="Calibri"/>
                        </a:rPr>
                        <a:t>Area Sales Manager – MP dan JESS</a:t>
                      </a:r>
                      <a:endParaRPr lang="en-US" sz="1200">
                        <a:latin typeface="Raleway"/>
                        <a:ea typeface="Calibri"/>
                        <a:cs typeface="Calibri"/>
                      </a:endParaRPr>
                    </a:p>
                  </a:txBody>
                  <a:tcPr anchor="ctr">
                    <a:lnL w="5080" cap="flat" cmpd="sng" algn="ctr">
                      <a:solidFill>
                        <a:srgbClr val="D5DEEA"/>
                      </a:solidFill>
                      <a:prstDash val="solid"/>
                      <a:round/>
                      <a:headEnd type="none" w="med" len="med"/>
                      <a:tailEnd type="none" w="med" len="med"/>
                    </a:lnL>
                    <a:lnR w="5080" cap="flat" cmpd="sng" algn="ctr">
                      <a:solidFill>
                        <a:srgbClr val="D5DEEA"/>
                      </a:solidFill>
                      <a:prstDash val="solid"/>
                      <a:round/>
                      <a:headEnd type="none" w="med" len="med"/>
                      <a:tailEnd type="none" w="med" len="med"/>
                    </a:lnR>
                    <a:lnT w="5080" cap="flat" cmpd="sng" algn="ctr">
                      <a:solidFill>
                        <a:srgbClr val="D5DEEA"/>
                      </a:solidFill>
                      <a:prstDash val="solid"/>
                      <a:round/>
                      <a:headEnd type="none" w="med" len="med"/>
                      <a:tailEnd type="none" w="med" len="med"/>
                    </a:lnT>
                    <a:lnB w="5080" cap="flat" cmpd="sng" algn="ctr">
                      <a:solidFill>
                        <a:srgbClr val="D5DEEA"/>
                      </a:solidFill>
                      <a:prstDash val="solid"/>
                      <a:round/>
                      <a:headEnd type="none" w="med" len="med"/>
                      <a:tailEnd type="none" w="med" len="med"/>
                    </a:lnB>
                    <a:noFill/>
                  </a:tcPr>
                </a:tc>
                <a:tc>
                  <a:txBody>
                    <a:bodyPr/>
                    <a:lstStyle/>
                    <a:p>
                      <a:pPr marL="0" indent="0" algn="ctr">
                        <a:buNone/>
                      </a:pPr>
                      <a:r>
                        <a:rPr lang="en-US" sz="1200">
                          <a:solidFill>
                            <a:srgbClr val="1E293B"/>
                          </a:solidFill>
                          <a:latin typeface="Raleway"/>
                          <a:ea typeface="Calibri"/>
                          <a:cs typeface="Calibri"/>
                        </a:rPr>
                        <a:t>4A</a:t>
                      </a:r>
                      <a:endParaRPr lang="en-US" sz="1200">
                        <a:latin typeface="Raleway"/>
                        <a:ea typeface="Calibri"/>
                        <a:cs typeface="Calibri"/>
                      </a:endParaRPr>
                    </a:p>
                  </a:txBody>
                  <a:tcPr anchor="ctr">
                    <a:lnL w="5080" cap="flat" cmpd="sng" algn="ctr">
                      <a:solidFill>
                        <a:srgbClr val="D5DEEA"/>
                      </a:solidFill>
                      <a:prstDash val="solid"/>
                      <a:round/>
                      <a:headEnd type="none" w="med" len="med"/>
                      <a:tailEnd type="none" w="med" len="med"/>
                    </a:lnL>
                    <a:lnR w="5080" cap="flat" cmpd="sng" algn="ctr">
                      <a:solidFill>
                        <a:srgbClr val="D5DEEA"/>
                      </a:solidFill>
                      <a:prstDash val="solid"/>
                      <a:round/>
                      <a:headEnd type="none" w="med" len="med"/>
                      <a:tailEnd type="none" w="med" len="med"/>
                    </a:lnR>
                    <a:lnT w="5080" cap="flat" cmpd="sng" algn="ctr">
                      <a:solidFill>
                        <a:srgbClr val="D5DEEA"/>
                      </a:solidFill>
                      <a:prstDash val="solid"/>
                      <a:round/>
                      <a:headEnd type="none" w="med" len="med"/>
                      <a:tailEnd type="none" w="med" len="med"/>
                    </a:lnT>
                    <a:lnB w="5080" cap="flat" cmpd="sng" algn="ctr">
                      <a:solidFill>
                        <a:srgbClr val="D5DEEA"/>
                      </a:solidFill>
                      <a:prstDash val="solid"/>
                      <a:round/>
                      <a:headEnd type="none" w="med" len="med"/>
                      <a:tailEnd type="none" w="med" len="med"/>
                    </a:lnB>
                    <a:noFill/>
                  </a:tcPr>
                </a:tc>
                <a:tc>
                  <a:txBody>
                    <a:bodyPr/>
                    <a:lstStyle/>
                    <a:p>
                      <a:pPr marL="0" indent="0" algn="ctr">
                        <a:buNone/>
                      </a:pPr>
                      <a:r>
                        <a:rPr lang="en-US" sz="1200" b="1" dirty="0">
                          <a:solidFill>
                            <a:srgbClr val="E08D1C"/>
                          </a:solidFill>
                          <a:latin typeface="Raleway"/>
                          <a:ea typeface="Calibri"/>
                          <a:cs typeface="Calibri"/>
                        </a:rPr>
                        <a:t>8</a:t>
                      </a:r>
                    </a:p>
                  </a:txBody>
                  <a:tcPr anchor="ctr">
                    <a:lnL w="5080" cap="flat" cmpd="sng" algn="ctr">
                      <a:solidFill>
                        <a:srgbClr val="D5DEEA"/>
                      </a:solidFill>
                      <a:prstDash val="solid"/>
                      <a:round/>
                      <a:headEnd type="none" w="med" len="med"/>
                      <a:tailEnd type="none" w="med" len="med"/>
                    </a:lnL>
                    <a:lnR w="5080" cap="flat" cmpd="sng" algn="ctr">
                      <a:solidFill>
                        <a:srgbClr val="D5DEEA"/>
                      </a:solidFill>
                      <a:prstDash val="solid"/>
                      <a:round/>
                      <a:headEnd type="none" w="med" len="med"/>
                      <a:tailEnd type="none" w="med" len="med"/>
                    </a:lnR>
                    <a:lnT w="5080" cap="flat" cmpd="sng" algn="ctr">
                      <a:solidFill>
                        <a:srgbClr val="D5DEEA"/>
                      </a:solidFill>
                      <a:prstDash val="solid"/>
                      <a:round/>
                      <a:headEnd type="none" w="med" len="med"/>
                      <a:tailEnd type="none" w="med" len="med"/>
                    </a:lnT>
                    <a:lnB w="5080" cap="flat" cmpd="sng" algn="ctr">
                      <a:solidFill>
                        <a:srgbClr val="D5DEEA"/>
                      </a:solidFill>
                      <a:prstDash val="solid"/>
                      <a:round/>
                      <a:headEnd type="none" w="med" len="med"/>
                      <a:tailEnd type="none" w="med" len="med"/>
                    </a:lnB>
                    <a:noFill/>
                  </a:tcPr>
                </a:tc>
                <a:extLst>
                  <a:ext uri="{0D108BD9-81ED-4DB2-BD59-A6C34878D82A}">
                    <a16:rowId xmlns:a16="http://schemas.microsoft.com/office/drawing/2014/main" val="2611288638"/>
                  </a:ext>
                </a:extLst>
              </a:tr>
              <a:tr h="185527">
                <a:tc>
                  <a:txBody>
                    <a:bodyPr/>
                    <a:lstStyle/>
                    <a:p>
                      <a:pPr marL="0" indent="0" algn="l">
                        <a:buNone/>
                      </a:pPr>
                      <a:r>
                        <a:rPr lang="en-US" sz="1200" dirty="0">
                          <a:solidFill>
                            <a:srgbClr val="12284C"/>
                          </a:solidFill>
                          <a:latin typeface="Raleway"/>
                          <a:ea typeface="Calibri"/>
                          <a:cs typeface="Calibri"/>
                        </a:rPr>
                        <a:t>Quality Control Manager</a:t>
                      </a:r>
                      <a:endParaRPr lang="en-US" sz="1200" dirty="0">
                        <a:latin typeface="Raleway"/>
                        <a:ea typeface="Calibri"/>
                        <a:cs typeface="Calibri"/>
                      </a:endParaRPr>
                    </a:p>
                  </a:txBody>
                  <a:tcPr anchor="ctr">
                    <a:lnL w="5078">
                      <a:solidFill>
                        <a:srgbClr val="D5DEEA"/>
                      </a:solidFill>
                    </a:lnL>
                    <a:lnR w="5078" cap="flat" cmpd="sng" algn="ctr">
                      <a:solidFill>
                        <a:srgbClr val="D5DEEA"/>
                      </a:solidFill>
                      <a:prstDash val="solid"/>
                      <a:round/>
                      <a:headEnd type="none" w="med" len="med"/>
                      <a:tailEnd type="none" w="med" len="med"/>
                    </a:lnR>
                    <a:lnT w="5080" cap="flat" cmpd="sng" algn="ctr">
                      <a:solidFill>
                        <a:srgbClr val="D5DEEA"/>
                      </a:solidFill>
                      <a:prstDash val="solid"/>
                      <a:round/>
                      <a:headEnd type="none" w="med" len="med"/>
                      <a:tailEnd type="none" w="med" len="med"/>
                    </a:lnT>
                    <a:lnB w="5080" cap="flat" cmpd="sng" algn="ctr">
                      <a:solidFill>
                        <a:srgbClr val="D5DEEA"/>
                      </a:solidFill>
                      <a:prstDash val="solid"/>
                      <a:round/>
                      <a:headEnd type="none" w="med" len="med"/>
                      <a:tailEnd type="none" w="med" len="med"/>
                    </a:lnB>
                    <a:noFill/>
                  </a:tcPr>
                </a:tc>
                <a:tc>
                  <a:txBody>
                    <a:bodyPr/>
                    <a:lstStyle/>
                    <a:p>
                      <a:pPr marL="0" indent="0" algn="ctr">
                        <a:buNone/>
                      </a:pPr>
                      <a:r>
                        <a:rPr lang="en-US" sz="1200">
                          <a:solidFill>
                            <a:srgbClr val="1E293B"/>
                          </a:solidFill>
                          <a:latin typeface="Raleway"/>
                          <a:ea typeface="Calibri"/>
                          <a:cs typeface="Calibri"/>
                        </a:rPr>
                        <a:t>4A</a:t>
                      </a:r>
                      <a:endParaRPr lang="en-US" sz="1200">
                        <a:latin typeface="Raleway"/>
                        <a:ea typeface="Calibri"/>
                        <a:cs typeface="Calibri"/>
                      </a:endParaRPr>
                    </a:p>
                  </a:txBody>
                  <a:tcPr anchor="ctr">
                    <a:lnL w="5078" cap="flat" cmpd="sng" algn="ctr">
                      <a:solidFill>
                        <a:srgbClr val="D5DEEA"/>
                      </a:solidFill>
                      <a:prstDash val="solid"/>
                      <a:round/>
                      <a:headEnd type="none" w="med" len="med"/>
                      <a:tailEnd type="none" w="med" len="med"/>
                    </a:lnL>
                    <a:lnR w="5078" cap="flat" cmpd="sng" algn="ctr">
                      <a:solidFill>
                        <a:srgbClr val="D5DEEA"/>
                      </a:solidFill>
                      <a:prstDash val="solid"/>
                      <a:round/>
                      <a:headEnd type="none" w="med" len="med"/>
                      <a:tailEnd type="none" w="med" len="med"/>
                    </a:lnR>
                    <a:lnT w="5080" cap="flat" cmpd="sng" algn="ctr">
                      <a:solidFill>
                        <a:srgbClr val="D5DEEA"/>
                      </a:solidFill>
                      <a:prstDash val="solid"/>
                      <a:round/>
                      <a:headEnd type="none" w="med" len="med"/>
                      <a:tailEnd type="none" w="med" len="med"/>
                    </a:lnT>
                    <a:lnB w="5080" cap="flat" cmpd="sng" algn="ctr">
                      <a:solidFill>
                        <a:srgbClr val="D5DEEA"/>
                      </a:solidFill>
                      <a:prstDash val="solid"/>
                      <a:round/>
                      <a:headEnd type="none" w="med" len="med"/>
                      <a:tailEnd type="none" w="med" len="med"/>
                    </a:lnB>
                    <a:noFill/>
                  </a:tcPr>
                </a:tc>
                <a:tc>
                  <a:txBody>
                    <a:bodyPr/>
                    <a:lstStyle/>
                    <a:p>
                      <a:pPr marL="0" indent="0" algn="ctr">
                        <a:buNone/>
                      </a:pPr>
                      <a:r>
                        <a:rPr lang="en-US" sz="1200" b="1" dirty="0">
                          <a:solidFill>
                            <a:srgbClr val="E08D1C"/>
                          </a:solidFill>
                          <a:latin typeface="Raleway"/>
                          <a:ea typeface="Calibri"/>
                          <a:cs typeface="Calibri"/>
                        </a:rPr>
                        <a:t>1</a:t>
                      </a:r>
                      <a:endParaRPr lang="en-US" sz="1200" dirty="0">
                        <a:latin typeface="Raleway"/>
                        <a:ea typeface="Calibri"/>
                        <a:cs typeface="Calibri"/>
                      </a:endParaRPr>
                    </a:p>
                  </a:txBody>
                  <a:tcPr anchor="ctr">
                    <a:lnL w="5078" cap="flat" cmpd="sng" algn="ctr">
                      <a:solidFill>
                        <a:srgbClr val="D5DEEA"/>
                      </a:solidFill>
                      <a:prstDash val="solid"/>
                      <a:round/>
                      <a:headEnd type="none" w="med" len="med"/>
                      <a:tailEnd type="none" w="med" len="med"/>
                    </a:lnL>
                    <a:lnR w="5078" cap="flat" cmpd="sng" algn="ctr">
                      <a:solidFill>
                        <a:srgbClr val="D5DEEA"/>
                      </a:solidFill>
                      <a:prstDash val="solid"/>
                      <a:round/>
                      <a:headEnd type="none" w="med" len="med"/>
                      <a:tailEnd type="none" w="med" len="med"/>
                    </a:lnR>
                    <a:lnT w="5080" cap="flat" cmpd="sng" algn="ctr">
                      <a:solidFill>
                        <a:srgbClr val="D5DEEA"/>
                      </a:solidFill>
                      <a:prstDash val="solid"/>
                      <a:round/>
                      <a:headEnd type="none" w="med" len="med"/>
                      <a:tailEnd type="none" w="med" len="med"/>
                    </a:lnT>
                    <a:lnB w="5080" cap="flat" cmpd="sng" algn="ctr">
                      <a:solidFill>
                        <a:srgbClr val="D5DEEA"/>
                      </a:solidFill>
                      <a:prstDash val="solid"/>
                      <a:round/>
                      <a:headEnd type="none" w="med" len="med"/>
                      <a:tailEnd type="none" w="med" len="med"/>
                    </a:lnB>
                    <a:noFill/>
                  </a:tcPr>
                </a:tc>
                <a:extLst>
                  <a:ext uri="{0D108BD9-81ED-4DB2-BD59-A6C34878D82A}">
                    <a16:rowId xmlns:a16="http://schemas.microsoft.com/office/drawing/2014/main" val="3126499359"/>
                  </a:ext>
                </a:extLst>
              </a:tr>
              <a:tr h="185527">
                <a:tc>
                  <a:txBody>
                    <a:bodyPr/>
                    <a:lstStyle/>
                    <a:p>
                      <a:pPr marL="0" indent="0" algn="l">
                        <a:buNone/>
                      </a:pPr>
                      <a:r>
                        <a:rPr lang="en-US" sz="1200">
                          <a:latin typeface="Raleway"/>
                          <a:ea typeface="Calibri"/>
                          <a:cs typeface="Calibri"/>
                        </a:rPr>
                        <a:t>Direct Procurement Manager</a:t>
                      </a:r>
                    </a:p>
                  </a:txBody>
                  <a:tcPr anchor="ctr">
                    <a:lnL w="5078">
                      <a:solidFill>
                        <a:srgbClr val="D5DEEA"/>
                      </a:solidFill>
                    </a:lnL>
                    <a:lnR w="5078" cap="flat" cmpd="sng" algn="ctr">
                      <a:solidFill>
                        <a:srgbClr val="D5DEEA"/>
                      </a:solidFill>
                      <a:prstDash val="solid"/>
                      <a:round/>
                      <a:headEnd type="none" w="med" len="med"/>
                      <a:tailEnd type="none" w="med" len="med"/>
                    </a:lnR>
                    <a:lnT w="5080" cap="flat" cmpd="sng" algn="ctr">
                      <a:solidFill>
                        <a:srgbClr val="D5DEEA"/>
                      </a:solidFill>
                      <a:prstDash val="solid"/>
                      <a:round/>
                      <a:headEnd type="none" w="med" len="med"/>
                      <a:tailEnd type="none" w="med" len="med"/>
                    </a:lnT>
                    <a:lnB w="5079" cap="flat" cmpd="sng" algn="ctr">
                      <a:solidFill>
                        <a:srgbClr val="D5DEEA"/>
                      </a:solidFill>
                      <a:prstDash val="solid"/>
                      <a:round/>
                      <a:headEnd type="none" w="med" len="med"/>
                      <a:tailEnd type="none" w="med" len="med"/>
                    </a:lnB>
                    <a:noFill/>
                  </a:tcPr>
                </a:tc>
                <a:tc>
                  <a:txBody>
                    <a:bodyPr/>
                    <a:lstStyle/>
                    <a:p>
                      <a:pPr marL="0" indent="0" algn="ctr">
                        <a:buNone/>
                      </a:pPr>
                      <a:r>
                        <a:rPr lang="en-US" sz="1200">
                          <a:latin typeface="Raleway"/>
                          <a:ea typeface="Calibri"/>
                          <a:cs typeface="Calibri"/>
                        </a:rPr>
                        <a:t>4A</a:t>
                      </a:r>
                    </a:p>
                  </a:txBody>
                  <a:tcPr anchor="ctr">
                    <a:lnL w="5078" cap="flat" cmpd="sng" algn="ctr">
                      <a:solidFill>
                        <a:srgbClr val="D5DEEA"/>
                      </a:solidFill>
                      <a:prstDash val="solid"/>
                      <a:round/>
                      <a:headEnd type="none" w="med" len="med"/>
                      <a:tailEnd type="none" w="med" len="med"/>
                    </a:lnL>
                    <a:lnR w="5078" cap="flat" cmpd="sng" algn="ctr">
                      <a:solidFill>
                        <a:srgbClr val="D5DEEA"/>
                      </a:solidFill>
                      <a:prstDash val="solid"/>
                      <a:round/>
                      <a:headEnd type="none" w="med" len="med"/>
                      <a:tailEnd type="none" w="med" len="med"/>
                    </a:lnR>
                    <a:lnT w="5080" cap="flat" cmpd="sng" algn="ctr">
                      <a:solidFill>
                        <a:srgbClr val="D5DEEA"/>
                      </a:solidFill>
                      <a:prstDash val="solid"/>
                      <a:round/>
                      <a:headEnd type="none" w="med" len="med"/>
                      <a:tailEnd type="none" w="med" len="med"/>
                    </a:lnT>
                    <a:lnB w="5079" cap="flat" cmpd="sng" algn="ctr">
                      <a:solidFill>
                        <a:srgbClr val="D5DEEA"/>
                      </a:solidFill>
                      <a:prstDash val="solid"/>
                      <a:round/>
                      <a:headEnd type="none" w="med" len="med"/>
                      <a:tailEnd type="none" w="med" len="med"/>
                    </a:lnB>
                    <a:noFill/>
                  </a:tcPr>
                </a:tc>
                <a:tc>
                  <a:txBody>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lang="en-US" sz="1200" b="1" dirty="0">
                          <a:solidFill>
                            <a:srgbClr val="E08D1C"/>
                          </a:solidFill>
                          <a:latin typeface="Raleway"/>
                          <a:ea typeface="Calibri"/>
                          <a:cs typeface="Calibri"/>
                        </a:rPr>
                        <a:t>1</a:t>
                      </a:r>
                      <a:endParaRPr lang="en-US" sz="1200" dirty="0">
                        <a:latin typeface="Raleway"/>
                        <a:ea typeface="Calibri"/>
                        <a:cs typeface="Calibri"/>
                      </a:endParaRPr>
                    </a:p>
                  </a:txBody>
                  <a:tcPr anchor="ctr">
                    <a:lnL w="5078" cap="flat" cmpd="sng" algn="ctr">
                      <a:solidFill>
                        <a:srgbClr val="D5DEEA"/>
                      </a:solidFill>
                      <a:prstDash val="solid"/>
                      <a:round/>
                      <a:headEnd type="none" w="med" len="med"/>
                      <a:tailEnd type="none" w="med" len="med"/>
                    </a:lnL>
                    <a:lnR w="5078" cap="flat" cmpd="sng" algn="ctr">
                      <a:solidFill>
                        <a:srgbClr val="D5DEEA"/>
                      </a:solidFill>
                      <a:prstDash val="solid"/>
                      <a:round/>
                      <a:headEnd type="none" w="med" len="med"/>
                      <a:tailEnd type="none" w="med" len="med"/>
                    </a:lnR>
                    <a:lnT w="5080" cap="flat" cmpd="sng" algn="ctr">
                      <a:solidFill>
                        <a:srgbClr val="D5DEEA"/>
                      </a:solidFill>
                      <a:prstDash val="solid"/>
                      <a:round/>
                      <a:headEnd type="none" w="med" len="med"/>
                      <a:tailEnd type="none" w="med" len="med"/>
                    </a:lnT>
                    <a:lnB w="5079" cap="flat" cmpd="sng" algn="ctr">
                      <a:solidFill>
                        <a:srgbClr val="D5DEEA"/>
                      </a:solidFill>
                      <a:prstDash val="solid"/>
                      <a:round/>
                      <a:headEnd type="none" w="med" len="med"/>
                      <a:tailEnd type="none" w="med" len="med"/>
                    </a:lnB>
                    <a:noFill/>
                  </a:tcPr>
                </a:tc>
                <a:extLst>
                  <a:ext uri="{0D108BD9-81ED-4DB2-BD59-A6C34878D82A}">
                    <a16:rowId xmlns:a16="http://schemas.microsoft.com/office/drawing/2014/main" val="2803040698"/>
                  </a:ext>
                </a:extLst>
              </a:tr>
            </a:tbl>
          </a:graphicData>
        </a:graphic>
      </p:graphicFrame>
    </p:spTree>
    <p:extLst>
      <p:ext uri="{BB962C8B-B14F-4D97-AF65-F5344CB8AC3E}">
        <p14:creationId xmlns:p14="http://schemas.microsoft.com/office/powerpoint/2010/main" val="255124855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6A8FDA-25E3-F61D-12D6-E7C96846229C}"/>
            </a:ext>
          </a:extLst>
        </p:cNvPr>
        <p:cNvGrpSpPr/>
        <p:nvPr/>
      </p:nvGrpSpPr>
      <p:grpSpPr>
        <a:xfrm>
          <a:off x="0" y="0"/>
          <a:ext cx="0" cy="0"/>
          <a:chOff x="0" y="0"/>
          <a:chExt cx="0" cy="0"/>
        </a:xfrm>
      </p:grpSpPr>
      <p:sp>
        <p:nvSpPr>
          <p:cNvPr id="2" name="Text 0">
            <a:extLst>
              <a:ext uri="{FF2B5EF4-FFF2-40B4-BE49-F238E27FC236}">
                <a16:creationId xmlns:a16="http://schemas.microsoft.com/office/drawing/2014/main" id="{E12512C6-BAE0-2CD8-C99E-A6E0F96B092F}"/>
              </a:ext>
            </a:extLst>
          </p:cNvPr>
          <p:cNvSpPr/>
          <p:nvPr/>
        </p:nvSpPr>
        <p:spPr>
          <a:xfrm>
            <a:off x="203352" y="126"/>
            <a:ext cx="11277295" cy="548640"/>
          </a:xfrm>
          <a:prstGeom prst="rect">
            <a:avLst/>
          </a:prstGeom>
          <a:noFill/>
          <a:ln/>
        </p:spPr>
        <p:txBody>
          <a:bodyPr wrap="square" lIns="91440" tIns="45720" rIns="91440" bIns="45720" rtlCol="0" anchor="ctr"/>
          <a:lstStyle/>
          <a:p>
            <a:r>
              <a:rPr lang="en-US" sz="2600" b="1">
                <a:solidFill>
                  <a:srgbClr val="12284C"/>
                </a:solidFill>
                <a:latin typeface="Raleway"/>
                <a:ea typeface="Georgia" pitchFamily="34" charset="-122"/>
                <a:cs typeface="Georgia" pitchFamily="34" charset="-120"/>
              </a:rPr>
              <a:t>20 FPTK — Manager: Recruitment Update</a:t>
            </a:r>
            <a:endParaRPr lang="en-US" sz="2600">
              <a:latin typeface="Raleway"/>
            </a:endParaRPr>
          </a:p>
        </p:txBody>
      </p:sp>
      <p:graphicFrame>
        <p:nvGraphicFramePr>
          <p:cNvPr id="3" name="Table 2">
            <a:extLst>
              <a:ext uri="{FF2B5EF4-FFF2-40B4-BE49-F238E27FC236}">
                <a16:creationId xmlns:a16="http://schemas.microsoft.com/office/drawing/2014/main" id="{BBF11C77-0882-2D0C-3E0B-17B24F7A2457}"/>
              </a:ext>
            </a:extLst>
          </p:cNvPr>
          <p:cNvGraphicFramePr>
            <a:graphicFrameLocks noGrp="1"/>
          </p:cNvGraphicFramePr>
          <p:nvPr>
            <p:extLst>
              <p:ext uri="{D42A27DB-BD31-4B8C-83A1-F6EECF244321}">
                <p14:modId xmlns:p14="http://schemas.microsoft.com/office/powerpoint/2010/main" val="2218538469"/>
              </p:ext>
            </p:extLst>
          </p:nvPr>
        </p:nvGraphicFramePr>
        <p:xfrm>
          <a:off x="160812" y="539801"/>
          <a:ext cx="11735530" cy="5349118"/>
        </p:xfrm>
        <a:graphic>
          <a:graphicData uri="http://schemas.openxmlformats.org/drawingml/2006/table">
            <a:tbl>
              <a:tblPr bandRow="1">
                <a:tableStyleId>{5C22544A-7EE6-4342-B048-85BDC9FD1C3A}</a:tableStyleId>
              </a:tblPr>
              <a:tblGrid>
                <a:gridCol w="543281">
                  <a:extLst>
                    <a:ext uri="{9D8B030D-6E8A-4147-A177-3AD203B41FA5}">
                      <a16:colId xmlns:a16="http://schemas.microsoft.com/office/drawing/2014/main" val="1287095220"/>
                    </a:ext>
                  </a:extLst>
                </a:gridCol>
                <a:gridCol w="1504196">
                  <a:extLst>
                    <a:ext uri="{9D8B030D-6E8A-4147-A177-3AD203B41FA5}">
                      <a16:colId xmlns:a16="http://schemas.microsoft.com/office/drawing/2014/main" val="3389479830"/>
                    </a:ext>
                  </a:extLst>
                </a:gridCol>
                <a:gridCol w="932184">
                  <a:extLst>
                    <a:ext uri="{9D8B030D-6E8A-4147-A177-3AD203B41FA5}">
                      <a16:colId xmlns:a16="http://schemas.microsoft.com/office/drawing/2014/main" val="932496142"/>
                    </a:ext>
                  </a:extLst>
                </a:gridCol>
                <a:gridCol w="732430">
                  <a:extLst>
                    <a:ext uri="{9D8B030D-6E8A-4147-A177-3AD203B41FA5}">
                      <a16:colId xmlns:a16="http://schemas.microsoft.com/office/drawing/2014/main" val="3148875764"/>
                    </a:ext>
                  </a:extLst>
                </a:gridCol>
                <a:gridCol w="876697">
                  <a:extLst>
                    <a:ext uri="{9D8B030D-6E8A-4147-A177-3AD203B41FA5}">
                      <a16:colId xmlns:a16="http://schemas.microsoft.com/office/drawing/2014/main" val="799961522"/>
                    </a:ext>
                  </a:extLst>
                </a:gridCol>
                <a:gridCol w="1009866">
                  <a:extLst>
                    <a:ext uri="{9D8B030D-6E8A-4147-A177-3AD203B41FA5}">
                      <a16:colId xmlns:a16="http://schemas.microsoft.com/office/drawing/2014/main" val="2152707469"/>
                    </a:ext>
                  </a:extLst>
                </a:gridCol>
                <a:gridCol w="382861">
                  <a:extLst>
                    <a:ext uri="{9D8B030D-6E8A-4147-A177-3AD203B41FA5}">
                      <a16:colId xmlns:a16="http://schemas.microsoft.com/office/drawing/2014/main" val="2711486617"/>
                    </a:ext>
                  </a:extLst>
                </a:gridCol>
                <a:gridCol w="405056">
                  <a:extLst>
                    <a:ext uri="{9D8B030D-6E8A-4147-A177-3AD203B41FA5}">
                      <a16:colId xmlns:a16="http://schemas.microsoft.com/office/drawing/2014/main" val="1132887812"/>
                    </a:ext>
                  </a:extLst>
                </a:gridCol>
                <a:gridCol w="554871">
                  <a:extLst>
                    <a:ext uri="{9D8B030D-6E8A-4147-A177-3AD203B41FA5}">
                      <a16:colId xmlns:a16="http://schemas.microsoft.com/office/drawing/2014/main" val="1085613895"/>
                    </a:ext>
                  </a:extLst>
                </a:gridCol>
                <a:gridCol w="527127">
                  <a:extLst>
                    <a:ext uri="{9D8B030D-6E8A-4147-A177-3AD203B41FA5}">
                      <a16:colId xmlns:a16="http://schemas.microsoft.com/office/drawing/2014/main" val="1623143417"/>
                    </a:ext>
                  </a:extLst>
                </a:gridCol>
                <a:gridCol w="477189">
                  <a:extLst>
                    <a:ext uri="{9D8B030D-6E8A-4147-A177-3AD203B41FA5}">
                      <a16:colId xmlns:a16="http://schemas.microsoft.com/office/drawing/2014/main" val="4240130948"/>
                    </a:ext>
                  </a:extLst>
                </a:gridCol>
                <a:gridCol w="443897">
                  <a:extLst>
                    <a:ext uri="{9D8B030D-6E8A-4147-A177-3AD203B41FA5}">
                      <a16:colId xmlns:a16="http://schemas.microsoft.com/office/drawing/2014/main" val="1200003500"/>
                    </a:ext>
                  </a:extLst>
                </a:gridCol>
                <a:gridCol w="393959">
                  <a:extLst>
                    <a:ext uri="{9D8B030D-6E8A-4147-A177-3AD203B41FA5}">
                      <a16:colId xmlns:a16="http://schemas.microsoft.com/office/drawing/2014/main" val="2126355072"/>
                    </a:ext>
                  </a:extLst>
                </a:gridCol>
                <a:gridCol w="454995">
                  <a:extLst>
                    <a:ext uri="{9D8B030D-6E8A-4147-A177-3AD203B41FA5}">
                      <a16:colId xmlns:a16="http://schemas.microsoft.com/office/drawing/2014/main" val="3926310413"/>
                    </a:ext>
                  </a:extLst>
                </a:gridCol>
                <a:gridCol w="371764">
                  <a:extLst>
                    <a:ext uri="{9D8B030D-6E8A-4147-A177-3AD203B41FA5}">
                      <a16:colId xmlns:a16="http://schemas.microsoft.com/office/drawing/2014/main" val="1213649948"/>
                    </a:ext>
                  </a:extLst>
                </a:gridCol>
                <a:gridCol w="438349">
                  <a:extLst>
                    <a:ext uri="{9D8B030D-6E8A-4147-A177-3AD203B41FA5}">
                      <a16:colId xmlns:a16="http://schemas.microsoft.com/office/drawing/2014/main" val="2026650813"/>
                    </a:ext>
                  </a:extLst>
                </a:gridCol>
                <a:gridCol w="460543">
                  <a:extLst>
                    <a:ext uri="{9D8B030D-6E8A-4147-A177-3AD203B41FA5}">
                      <a16:colId xmlns:a16="http://schemas.microsoft.com/office/drawing/2014/main" val="2096249116"/>
                    </a:ext>
                  </a:extLst>
                </a:gridCol>
                <a:gridCol w="449446">
                  <a:extLst>
                    <a:ext uri="{9D8B030D-6E8A-4147-A177-3AD203B41FA5}">
                      <a16:colId xmlns:a16="http://schemas.microsoft.com/office/drawing/2014/main" val="3231665418"/>
                    </a:ext>
                  </a:extLst>
                </a:gridCol>
                <a:gridCol w="327374">
                  <a:extLst>
                    <a:ext uri="{9D8B030D-6E8A-4147-A177-3AD203B41FA5}">
                      <a16:colId xmlns:a16="http://schemas.microsoft.com/office/drawing/2014/main" val="3886472384"/>
                    </a:ext>
                  </a:extLst>
                </a:gridCol>
                <a:gridCol w="221948">
                  <a:extLst>
                    <a:ext uri="{9D8B030D-6E8A-4147-A177-3AD203B41FA5}">
                      <a16:colId xmlns:a16="http://schemas.microsoft.com/office/drawing/2014/main" val="1356446550"/>
                    </a:ext>
                  </a:extLst>
                </a:gridCol>
                <a:gridCol w="227497">
                  <a:extLst>
                    <a:ext uri="{9D8B030D-6E8A-4147-A177-3AD203B41FA5}">
                      <a16:colId xmlns:a16="http://schemas.microsoft.com/office/drawing/2014/main" val="3603111542"/>
                    </a:ext>
                  </a:extLst>
                </a:gridCol>
              </a:tblGrid>
              <a:tr h="551777">
                <a:tc>
                  <a:txBody>
                    <a:bodyPr/>
                    <a:lstStyle/>
                    <a:p>
                      <a:pPr algn="ctr" rtl="0" fontAlgn="ctr">
                        <a:buNone/>
                      </a:pPr>
                      <a:r>
                        <a:rPr lang="en-US" sz="800" b="1" i="0" u="none" strike="noStrike">
                          <a:solidFill>
                            <a:srgbClr val="FFFFFF"/>
                          </a:solidFill>
                          <a:effectLst/>
                          <a:latin typeface="Aptos Narrow" panose="020B0004020202020204" pitchFamily="34" charset="0"/>
                        </a:rPr>
                        <a:t>FPTK Date Real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Posisi</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Business Unit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Direktorat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Divisi</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Department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Level FPTK</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Nama Rekruter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Sourcing FL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Sourcing HR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Shortlisted User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Psikotes</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HR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Technical Case</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Market Visit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User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Panel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Reference Check</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Proses MCU</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Offering</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Day One</a:t>
                      </a:r>
                    </a:p>
                  </a:txBody>
                  <a:tcPr marL="0" marR="0" marT="0" marB="0" anchor="ctr">
                    <a:lnL>
                      <a:noFill/>
                    </a:lnL>
                    <a:lnR>
                      <a:noFill/>
                    </a:lnR>
                    <a:lnT>
                      <a:noFill/>
                    </a:lnT>
                    <a:lnB>
                      <a:noFill/>
                    </a:lnB>
                    <a:solidFill>
                      <a:srgbClr val="2C3E50"/>
                    </a:solidFill>
                  </a:tcPr>
                </a:tc>
                <a:extLst>
                  <a:ext uri="{0D108BD9-81ED-4DB2-BD59-A6C34878D82A}">
                    <a16:rowId xmlns:a16="http://schemas.microsoft.com/office/drawing/2014/main" val="831830158"/>
                  </a:ext>
                </a:extLst>
              </a:tr>
              <a:tr h="266519">
                <a:tc>
                  <a:txBody>
                    <a:bodyPr/>
                    <a:lstStyle/>
                    <a:p>
                      <a:pPr algn="ctr" rtl="0" fontAlgn="b">
                        <a:buNone/>
                      </a:pPr>
                      <a:r>
                        <a:rPr lang="en-US" sz="800" b="0" i="0" u="none" strike="noStrike">
                          <a:solidFill>
                            <a:srgbClr val="000000"/>
                          </a:solidFill>
                          <a:effectLst/>
                          <a:latin typeface="Aptos Narrow" panose="020B0004020202020204" pitchFamily="34" charset="0"/>
                        </a:rPr>
                        <a:t>09-Jul-25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Brand Manager - Condiments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Ivan Hartono</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Brand Marketing</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Brand Marketing</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4A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Victor</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282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129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133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128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4167213634"/>
                  </a:ext>
                </a:extLst>
              </a:tr>
              <a:tr h="266519">
                <a:tc>
                  <a:txBody>
                    <a:bodyPr/>
                    <a:lstStyle/>
                    <a:p>
                      <a:pPr algn="ctr" rtl="0" fontAlgn="b">
                        <a:buNone/>
                      </a:pPr>
                      <a:r>
                        <a:rPr lang="en-US" sz="800" b="0" i="0" u="none" strike="noStrike">
                          <a:solidFill>
                            <a:srgbClr val="000000"/>
                          </a:solidFill>
                          <a:effectLst/>
                          <a:latin typeface="Aptos Narrow" panose="020B0004020202020204" pitchFamily="34" charset="0"/>
                        </a:rPr>
                        <a:t>13-Oct-25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Plant Manager - Semarang</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Kholily</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Operation Semarang</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Operation Semarang</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4B</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Victor</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215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4040099331"/>
                  </a:ext>
                </a:extLst>
              </a:tr>
              <a:tr h="266519">
                <a:tc>
                  <a:txBody>
                    <a:bodyPr/>
                    <a:lstStyle/>
                    <a:p>
                      <a:pPr algn="ctr" rtl="0" fontAlgn="b">
                        <a:buNone/>
                      </a:pPr>
                      <a:r>
                        <a:rPr lang="en-US" sz="800" b="0" i="0" u="none" strike="noStrike">
                          <a:solidFill>
                            <a:srgbClr val="000000"/>
                          </a:solidFill>
                          <a:effectLst/>
                          <a:latin typeface="Aptos Narrow" panose="020B0004020202020204" pitchFamily="34" charset="0"/>
                        </a:rPr>
                        <a:t>16-Oct-25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Control Manager - Citeureup</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Kholily</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Operation Citeureup</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Control</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4A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Pauline</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597</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339577221"/>
                  </a:ext>
                </a:extLst>
              </a:tr>
              <a:tr h="266519">
                <a:tc>
                  <a:txBody>
                    <a:bodyPr/>
                    <a:lstStyle/>
                    <a:p>
                      <a:pPr algn="ctr" rtl="0" fontAlgn="b">
                        <a:buNone/>
                      </a:pPr>
                      <a:r>
                        <a:rPr lang="en-US" sz="800" b="0" i="0" u="none" strike="noStrike">
                          <a:solidFill>
                            <a:srgbClr val="000000"/>
                          </a:solidFill>
                          <a:effectLst/>
                          <a:latin typeface="Aptos Narrow" panose="020B0004020202020204" pitchFamily="34" charset="0"/>
                        </a:rPr>
                        <a:t>12-Dec-25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Brand Manager - Ready to Eat Sosis Non Sauce</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Erica Febrianti</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Commercial</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Brand Marketing</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4A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Victor</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160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122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120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119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346604007"/>
                  </a:ext>
                </a:extLst>
              </a:tr>
              <a:tr h="266519">
                <a:tc>
                  <a:txBody>
                    <a:bodyPr/>
                    <a:lstStyle/>
                    <a:p>
                      <a:pPr algn="ctr" rtl="0" fontAlgn="b">
                        <a:buNone/>
                      </a:pPr>
                      <a:r>
                        <a:rPr lang="en-US" sz="800" b="0" i="0" u="none" strike="noStrike">
                          <a:solidFill>
                            <a:srgbClr val="000000"/>
                          </a:solidFill>
                          <a:effectLst/>
                          <a:latin typeface="Aptos Narrow" panose="020B0004020202020204" pitchFamily="34" charset="0"/>
                        </a:rPr>
                        <a:t>13-Mar-26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Area Sales Manager - Jawa Barat 3</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Ivan Hartono</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General Trade</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Operation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4A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Pauline</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93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392154443"/>
                  </a:ext>
                </a:extLst>
              </a:tr>
              <a:tr h="399778">
                <a:tc>
                  <a:txBody>
                    <a:bodyPr/>
                    <a:lstStyle/>
                    <a:p>
                      <a:pPr algn="ctr" rtl="0" fontAlgn="b">
                        <a:buNone/>
                      </a:pPr>
                      <a:r>
                        <a:rPr lang="en-US" sz="800" b="0" i="0" u="none" strike="noStrike">
                          <a:solidFill>
                            <a:srgbClr val="000000"/>
                          </a:solidFill>
                          <a:effectLst/>
                          <a:latin typeface="Aptos Narrow" panose="020B0004020202020204" pitchFamily="34" charset="0"/>
                        </a:rPr>
                        <a:t>13-May-26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Production Manager - 2</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Pamungkas Bayu Triprasetyo</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Manufacture Pasuruan &amp; Semarang</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Production - 2</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4A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Pauline</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4217480821"/>
                  </a:ext>
                </a:extLst>
              </a:tr>
              <a:tr h="266519">
                <a:tc>
                  <a:txBody>
                    <a:bodyPr/>
                    <a:lstStyle/>
                    <a:p>
                      <a:pPr algn="ctr" rtl="0" fontAlgn="b">
                        <a:buNone/>
                      </a:pPr>
                      <a:r>
                        <a:rPr lang="en-US" sz="800" b="0" i="0" u="none" strike="noStrike">
                          <a:solidFill>
                            <a:srgbClr val="000000"/>
                          </a:solidFill>
                          <a:effectLst/>
                          <a:latin typeface="Aptos Narrow" panose="020B0004020202020204" pitchFamily="34" charset="0"/>
                        </a:rPr>
                        <a:t>19-May-26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Assurance Manager - Semarang</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Kholily</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Operation</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Assurance</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4A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Pauline</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222514251"/>
                  </a:ext>
                </a:extLst>
              </a:tr>
              <a:tr h="266519">
                <a:tc>
                  <a:txBody>
                    <a:bodyPr/>
                    <a:lstStyle/>
                    <a:p>
                      <a:pPr algn="ctr" rtl="0" fontAlgn="b">
                        <a:buNone/>
                      </a:pPr>
                      <a:r>
                        <a:rPr lang="en-US" sz="800" b="0" i="0" u="none" strike="noStrike">
                          <a:solidFill>
                            <a:srgbClr val="000000"/>
                          </a:solidFill>
                          <a:effectLst/>
                          <a:latin typeface="Aptos Narrow" panose="020B0004020202020204" pitchFamily="34" charset="0"/>
                        </a:rPr>
                        <a:t>02-Jun-26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Area Sales Manager - Jawa Tengah 1</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Ivan Hartono</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General Trade</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Operation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4A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Pauline</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677754785"/>
                  </a:ext>
                </a:extLst>
              </a:tr>
              <a:tr h="399778">
                <a:tc>
                  <a:txBody>
                    <a:bodyPr/>
                    <a:lstStyle/>
                    <a:p>
                      <a:pPr algn="ctr" rtl="0" fontAlgn="b">
                        <a:buNone/>
                      </a:pPr>
                      <a:r>
                        <a:rPr lang="en-US" sz="800" b="0" i="0" u="none" strike="noStrike">
                          <a:solidFill>
                            <a:srgbClr val="000000"/>
                          </a:solidFill>
                          <a:effectLst/>
                          <a:latin typeface="Aptos Narrow" panose="020B0004020202020204" pitchFamily="34" charset="0"/>
                        </a:rPr>
                        <a:t>02-Jun-26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Packaging Material Manager</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Martua Parningotan Sihaloho</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Finance &amp; Procurement</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Direct Procurement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4A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Pauline</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115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824880392"/>
                  </a:ext>
                </a:extLst>
              </a:tr>
              <a:tr h="266519">
                <a:tc>
                  <a:txBody>
                    <a:bodyPr/>
                    <a:lstStyle/>
                    <a:p>
                      <a:pPr algn="ctr" rtl="0" fontAlgn="b">
                        <a:buNone/>
                      </a:pPr>
                      <a:r>
                        <a:rPr lang="en-US" sz="800" b="0" i="0" u="none" strike="noStrike">
                          <a:solidFill>
                            <a:srgbClr val="000000"/>
                          </a:solidFill>
                          <a:effectLst/>
                          <a:latin typeface="Aptos Narrow" panose="020B0004020202020204" pitchFamily="34" charset="0"/>
                        </a:rPr>
                        <a:t>05-Jun-26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Engineering Manager - JESS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Ivan Hartono</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Operation</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Engineering</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4A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Pauline</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97</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806395975"/>
                  </a:ext>
                </a:extLst>
              </a:tr>
              <a:tr h="266519">
                <a:tc>
                  <a:txBody>
                    <a:bodyPr/>
                    <a:lstStyle/>
                    <a:p>
                      <a:pPr algn="ctr" rtl="0" fontAlgn="b">
                        <a:buNone/>
                      </a:pPr>
                      <a:r>
                        <a:rPr lang="en-US" sz="800" b="0" i="0" u="none" strike="noStrike">
                          <a:solidFill>
                            <a:srgbClr val="000000"/>
                          </a:solidFill>
                          <a:effectLst/>
                          <a:latin typeface="Aptos Narrow" panose="020B0004020202020204" pitchFamily="34" charset="0"/>
                        </a:rPr>
                        <a:t>02-Jul-26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Area Sales Manager (Chilled) - Banten</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Johan</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General Trade</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Operation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4A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Pauline</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677278112"/>
                  </a:ext>
                </a:extLst>
              </a:tr>
              <a:tr h="266519">
                <a:tc>
                  <a:txBody>
                    <a:bodyPr/>
                    <a:lstStyle/>
                    <a:p>
                      <a:pPr algn="ctr" rtl="0" fontAlgn="b">
                        <a:buNone/>
                      </a:pPr>
                      <a:r>
                        <a:rPr lang="en-US" sz="800" b="0" i="0" u="none" strike="noStrike">
                          <a:solidFill>
                            <a:srgbClr val="000000"/>
                          </a:solidFill>
                          <a:effectLst/>
                          <a:latin typeface="Aptos Narrow" panose="020B0004020202020204" pitchFamily="34" charset="0"/>
                        </a:rPr>
                        <a:t>02-Jul-26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Brand Manager - MP (1)</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Erica Febrianti</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Commercial</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Brand</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4A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Victor</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70768553"/>
                  </a:ext>
                </a:extLst>
              </a:tr>
              <a:tr h="266519">
                <a:tc>
                  <a:txBody>
                    <a:bodyPr/>
                    <a:lstStyle/>
                    <a:p>
                      <a:pPr algn="ctr" rtl="0" fontAlgn="b">
                        <a:buNone/>
                      </a:pPr>
                      <a:r>
                        <a:rPr lang="en-US" sz="800" b="0" i="0" u="none" strike="noStrike">
                          <a:solidFill>
                            <a:srgbClr val="000000"/>
                          </a:solidFill>
                          <a:effectLst/>
                          <a:latin typeface="Aptos Narrow" panose="020B0004020202020204" pitchFamily="34" charset="0"/>
                        </a:rPr>
                        <a:t>02-Jul-26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Brand Manager - MP (2)</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Erica Febrianti</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Commercial</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Brand</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4A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Victor</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255355139"/>
                  </a:ext>
                </a:extLst>
              </a:tr>
              <a:tr h="266519">
                <a:tc>
                  <a:txBody>
                    <a:bodyPr/>
                    <a:lstStyle/>
                    <a:p>
                      <a:pPr algn="ctr" rtl="0" fontAlgn="b">
                        <a:buNone/>
                      </a:pPr>
                      <a:r>
                        <a:rPr lang="en-US" sz="800" b="0" i="0" u="none" strike="noStrike">
                          <a:solidFill>
                            <a:srgbClr val="000000"/>
                          </a:solidFill>
                          <a:effectLst/>
                          <a:latin typeface="Aptos Narrow" panose="020B0004020202020204" pitchFamily="34" charset="0"/>
                        </a:rPr>
                        <a:t>09-Jul-26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Area Sales Manager - Jawa Barat 1</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Ivan Hartono</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General Trade</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Operation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4A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Pauline</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789035647"/>
                  </a:ext>
                </a:extLst>
              </a:tr>
              <a:tr h="266519">
                <a:tc>
                  <a:txBody>
                    <a:bodyPr/>
                    <a:lstStyle/>
                    <a:p>
                      <a:pPr algn="ctr" rtl="0" fontAlgn="b">
                        <a:buNone/>
                      </a:pPr>
                      <a:r>
                        <a:rPr lang="en-US" sz="800" b="0" i="0" u="none" strike="noStrike">
                          <a:solidFill>
                            <a:srgbClr val="000000"/>
                          </a:solidFill>
                          <a:effectLst/>
                          <a:latin typeface="Aptos Narrow" panose="020B0004020202020204" pitchFamily="34" charset="0"/>
                        </a:rPr>
                        <a:t>09-Jul-26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Area Sales Manager - Bali Nusra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Ivan Hartono</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General Trade</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Operation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4A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Pauline</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859154281"/>
                  </a:ext>
                </a:extLst>
              </a:tr>
              <a:tr h="266519">
                <a:tc>
                  <a:txBody>
                    <a:bodyPr/>
                    <a:lstStyle/>
                    <a:p>
                      <a:pPr algn="ctr" rtl="0" fontAlgn="b">
                        <a:buNone/>
                      </a:pPr>
                      <a:r>
                        <a:rPr lang="en-US" sz="800" b="0" i="0" u="none" strike="noStrike">
                          <a:solidFill>
                            <a:srgbClr val="000000"/>
                          </a:solidFill>
                          <a:effectLst/>
                          <a:latin typeface="Aptos Narrow" panose="020B0004020202020204" pitchFamily="34" charset="0"/>
                        </a:rPr>
                        <a:t>09-Jul-26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Area Sales Manager - Banten</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Ivan Hartono</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General Trade</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Operation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4A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Pauline</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84266717"/>
                  </a:ext>
                </a:extLst>
              </a:tr>
              <a:tr h="266519">
                <a:tc>
                  <a:txBody>
                    <a:bodyPr/>
                    <a:lstStyle/>
                    <a:p>
                      <a:pPr algn="ctr" rtl="0" fontAlgn="b">
                        <a:buNone/>
                      </a:pPr>
                      <a:r>
                        <a:rPr lang="en-US" sz="800" b="0" i="0" u="none" strike="noStrike">
                          <a:solidFill>
                            <a:srgbClr val="000000"/>
                          </a:solidFill>
                          <a:effectLst/>
                          <a:latin typeface="Aptos Narrow" panose="020B0004020202020204" pitchFamily="34" charset="0"/>
                        </a:rPr>
                        <a:t>16-Jul-26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Area Sales Manager - Jakarta 2</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Ivan Hartono</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General Trade</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Operation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4A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Pauline</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805274241"/>
                  </a:ext>
                </a:extLst>
              </a:tr>
            </a:tbl>
          </a:graphicData>
        </a:graphic>
      </p:graphicFrame>
    </p:spTree>
    <p:extLst>
      <p:ext uri="{BB962C8B-B14F-4D97-AF65-F5344CB8AC3E}">
        <p14:creationId xmlns:p14="http://schemas.microsoft.com/office/powerpoint/2010/main" val="53666356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500FB5FF-7BE7-C03F-5ED3-F95BD796022A}"/>
            </a:ext>
          </a:extLst>
        </p:cNvPr>
        <p:cNvGrpSpPr/>
        <p:nvPr/>
      </p:nvGrpSpPr>
      <p:grpSpPr>
        <a:xfrm>
          <a:off x="0" y="0"/>
          <a:ext cx="0" cy="0"/>
          <a:chOff x="0" y="0"/>
          <a:chExt cx="0" cy="0"/>
        </a:xfrm>
      </p:grpSpPr>
      <p:sp>
        <p:nvSpPr>
          <p:cNvPr id="4" name="Text 0">
            <a:extLst>
              <a:ext uri="{FF2B5EF4-FFF2-40B4-BE49-F238E27FC236}">
                <a16:creationId xmlns:a16="http://schemas.microsoft.com/office/drawing/2014/main" id="{C1D54D7E-1D34-912E-C4A4-6F44DAA9E6F1}"/>
              </a:ext>
            </a:extLst>
          </p:cNvPr>
          <p:cNvSpPr/>
          <p:nvPr/>
        </p:nvSpPr>
        <p:spPr>
          <a:xfrm>
            <a:off x="170015" y="417956"/>
            <a:ext cx="11277295" cy="548640"/>
          </a:xfrm>
          <a:prstGeom prst="rect">
            <a:avLst/>
          </a:prstGeom>
          <a:noFill/>
          <a:ln/>
        </p:spPr>
        <p:txBody>
          <a:bodyPr wrap="square" lIns="91440" tIns="45720" rIns="91440" bIns="45720" rtlCol="0" anchor="ctr"/>
          <a:lstStyle/>
          <a:p>
            <a:r>
              <a:rPr lang="en-US" sz="2600" b="1">
                <a:solidFill>
                  <a:srgbClr val="12284C"/>
                </a:solidFill>
                <a:latin typeface="Raleway"/>
                <a:ea typeface="Georgia" pitchFamily="34" charset="-122"/>
                <a:cs typeface="Georgia" pitchFamily="34" charset="-120"/>
              </a:rPr>
              <a:t>15 FPTK — Manager: Recruitment Update</a:t>
            </a:r>
            <a:r>
              <a:rPr lang="en-US" sz="2600">
                <a:solidFill>
                  <a:srgbClr val="000000"/>
                </a:solidFill>
                <a:latin typeface="Raleway"/>
                <a:ea typeface="Georgia" pitchFamily="34" charset="-122"/>
                <a:cs typeface="Georgia" pitchFamily="34" charset="-120"/>
              </a:rPr>
              <a:t>`</a:t>
            </a:r>
            <a:endParaRPr lang="en-US" sz="2600">
              <a:latin typeface="Raleway"/>
            </a:endParaRPr>
          </a:p>
        </p:txBody>
      </p:sp>
      <p:graphicFrame>
        <p:nvGraphicFramePr>
          <p:cNvPr id="7" name="Table 6">
            <a:extLst>
              <a:ext uri="{FF2B5EF4-FFF2-40B4-BE49-F238E27FC236}">
                <a16:creationId xmlns:a16="http://schemas.microsoft.com/office/drawing/2014/main" id="{B368B238-B634-A685-CE99-4E7E77D5A448}"/>
              </a:ext>
            </a:extLst>
          </p:cNvPr>
          <p:cNvGraphicFramePr>
            <a:graphicFrameLocks noGrp="1"/>
          </p:cNvGraphicFramePr>
          <p:nvPr>
            <p:extLst>
              <p:ext uri="{D42A27DB-BD31-4B8C-83A1-F6EECF244321}">
                <p14:modId xmlns:p14="http://schemas.microsoft.com/office/powerpoint/2010/main" val="3358472556"/>
              </p:ext>
            </p:extLst>
          </p:nvPr>
        </p:nvGraphicFramePr>
        <p:xfrm>
          <a:off x="166413" y="963448"/>
          <a:ext cx="11859127" cy="4550873"/>
        </p:xfrm>
        <a:graphic>
          <a:graphicData uri="http://schemas.openxmlformats.org/drawingml/2006/table">
            <a:tbl>
              <a:tblPr bandRow="1">
                <a:tableStyleId>{5C22544A-7EE6-4342-B048-85BDC9FD1C3A}</a:tableStyleId>
              </a:tblPr>
              <a:tblGrid>
                <a:gridCol w="797034">
                  <a:extLst>
                    <a:ext uri="{9D8B030D-6E8A-4147-A177-3AD203B41FA5}">
                      <a16:colId xmlns:a16="http://schemas.microsoft.com/office/drawing/2014/main" val="2574017134"/>
                    </a:ext>
                  </a:extLst>
                </a:gridCol>
                <a:gridCol w="1129859">
                  <a:extLst>
                    <a:ext uri="{9D8B030D-6E8A-4147-A177-3AD203B41FA5}">
                      <a16:colId xmlns:a16="http://schemas.microsoft.com/office/drawing/2014/main" val="2455972941"/>
                    </a:ext>
                  </a:extLst>
                </a:gridCol>
                <a:gridCol w="613103">
                  <a:extLst>
                    <a:ext uri="{9D8B030D-6E8A-4147-A177-3AD203B41FA5}">
                      <a16:colId xmlns:a16="http://schemas.microsoft.com/office/drawing/2014/main" val="2700391548"/>
                    </a:ext>
                  </a:extLst>
                </a:gridCol>
                <a:gridCol w="1340069">
                  <a:extLst>
                    <a:ext uri="{9D8B030D-6E8A-4147-A177-3AD203B41FA5}">
                      <a16:colId xmlns:a16="http://schemas.microsoft.com/office/drawing/2014/main" val="2208032039"/>
                    </a:ext>
                  </a:extLst>
                </a:gridCol>
                <a:gridCol w="945928">
                  <a:extLst>
                    <a:ext uri="{9D8B030D-6E8A-4147-A177-3AD203B41FA5}">
                      <a16:colId xmlns:a16="http://schemas.microsoft.com/office/drawing/2014/main" val="2660905560"/>
                    </a:ext>
                  </a:extLst>
                </a:gridCol>
                <a:gridCol w="1156134">
                  <a:extLst>
                    <a:ext uri="{9D8B030D-6E8A-4147-A177-3AD203B41FA5}">
                      <a16:colId xmlns:a16="http://schemas.microsoft.com/office/drawing/2014/main" val="903512174"/>
                    </a:ext>
                  </a:extLst>
                </a:gridCol>
                <a:gridCol w="814551">
                  <a:extLst>
                    <a:ext uri="{9D8B030D-6E8A-4147-A177-3AD203B41FA5}">
                      <a16:colId xmlns:a16="http://schemas.microsoft.com/office/drawing/2014/main" val="1785143114"/>
                    </a:ext>
                  </a:extLst>
                </a:gridCol>
                <a:gridCol w="665655">
                  <a:extLst>
                    <a:ext uri="{9D8B030D-6E8A-4147-A177-3AD203B41FA5}">
                      <a16:colId xmlns:a16="http://schemas.microsoft.com/office/drawing/2014/main" val="3168663847"/>
                    </a:ext>
                  </a:extLst>
                </a:gridCol>
                <a:gridCol w="656896">
                  <a:extLst>
                    <a:ext uri="{9D8B030D-6E8A-4147-A177-3AD203B41FA5}">
                      <a16:colId xmlns:a16="http://schemas.microsoft.com/office/drawing/2014/main" val="4141825540"/>
                    </a:ext>
                  </a:extLst>
                </a:gridCol>
                <a:gridCol w="3739898">
                  <a:extLst>
                    <a:ext uri="{9D8B030D-6E8A-4147-A177-3AD203B41FA5}">
                      <a16:colId xmlns:a16="http://schemas.microsoft.com/office/drawing/2014/main" val="985808841"/>
                    </a:ext>
                  </a:extLst>
                </a:gridCol>
              </a:tblGrid>
              <a:tr h="634177">
                <a:tc>
                  <a:txBody>
                    <a:bodyPr/>
                    <a:lstStyle/>
                    <a:p>
                      <a:pPr algn="ctr">
                        <a:buNone/>
                      </a:pPr>
                      <a:r>
                        <a:rPr lang="en-US" sz="1000" b="1">
                          <a:solidFill>
                            <a:schemeClr val="bg1"/>
                          </a:solidFill>
                          <a:latin typeface="Raleway"/>
                        </a:rPr>
                        <a:t>Tanggal 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latin typeface="Raleway"/>
                        </a:rPr>
                        <a:t>Business 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latin typeface="Raleway"/>
                        </a:rPr>
                        <a:t>Kategori</a:t>
                      </a:r>
                      <a:r>
                        <a:rPr lang="en-US" sz="1000" b="1">
                          <a:solidFill>
                            <a:schemeClr val="bg1"/>
                          </a:solidFill>
                          <a:latin typeface="Raleway"/>
                        </a:rPr>
                        <a:t> </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latin typeface="Raleway"/>
                        </a:rPr>
                        <a:t>SLA Target </a:t>
                      </a:r>
                      <a:r>
                        <a:rPr lang="en-US" sz="1000" b="1" err="1">
                          <a:solidFill>
                            <a:schemeClr val="bg1"/>
                          </a:solidFill>
                          <a:latin typeface="Raleway"/>
                        </a:rPr>
                        <a:t>Pemenuhan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latin typeface="Raleway"/>
                        </a:rPr>
                        <a:t>Jumlah</a:t>
                      </a:r>
                      <a:r>
                        <a:rPr lang="en-US" sz="1000" b="1">
                          <a:solidFill>
                            <a:schemeClr val="bg1"/>
                          </a:solidFill>
                          <a:latin typeface="Raleway"/>
                        </a:rPr>
                        <a:t> </a:t>
                      </a:r>
                      <a:r>
                        <a:rPr lang="en-US" sz="1000" b="1" err="1">
                          <a:solidFill>
                            <a:schemeClr val="bg1"/>
                          </a:solidFill>
                          <a:latin typeface="Raleway"/>
                        </a:rPr>
                        <a:t>Permintaan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latin typeface="Raleway"/>
                        </a:rPr>
                        <a:t>Status </a:t>
                      </a:r>
                      <a:r>
                        <a:rPr lang="en-US" sz="1000" b="1" err="1">
                          <a:solidFill>
                            <a:schemeClr val="bg1"/>
                          </a:solidFill>
                          <a:latin typeface="Raleway"/>
                        </a:rPr>
                        <a:t>Rekrutmen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864970917"/>
                  </a:ext>
                </a:extLst>
              </a:tr>
              <a:tr h="614045">
                <a:tc>
                  <a:txBody>
                    <a:bodyPr/>
                    <a:lstStyle/>
                    <a:p>
                      <a:pPr algn="ctr">
                        <a:buNone/>
                      </a:pPr>
                      <a:r>
                        <a:rPr lang="en-US" sz="1000">
                          <a:latin typeface="Raleway"/>
                        </a:rPr>
                        <a:t>13-Oct-25</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Plant Manager - Semarang</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4B</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r>
                        <a:rPr lang="en-US" sz="1000" b="0" i="0" u="none" strike="noStrike" noProof="0">
                          <a:solidFill>
                            <a:srgbClr val="000000"/>
                          </a:solidFill>
                          <a:latin typeface="Raleway"/>
                        </a:rPr>
                        <a:t>27-Nov-25</a:t>
                      </a:r>
                    </a:p>
                    <a:p>
                      <a:pPr lvl="0" algn="ctr">
                        <a:buNone/>
                      </a:pPr>
                      <a:endParaRPr lang="en-US" sz="1000">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Victor</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l">
                        <a:buNone/>
                      </a:pPr>
                      <a:r>
                        <a:rPr lang="en-US" sz="900" b="0" i="0" u="none" strike="noStrike" noProof="0">
                          <a:solidFill>
                            <a:srgbClr val="000000"/>
                          </a:solidFill>
                          <a:latin typeface="Raleway"/>
                        </a:rPr>
                        <a:t>6 Jul 2026: Heru Fajar interview Pak </a:t>
                      </a:r>
                      <a:r>
                        <a:rPr lang="en-US" sz="900" b="0" i="0" u="none" strike="noStrike" noProof="0" err="1">
                          <a:solidFill>
                            <a:srgbClr val="000000"/>
                          </a:solidFill>
                          <a:latin typeface="Raleway"/>
                        </a:rPr>
                        <a:t>Martua</a:t>
                      </a:r>
                      <a:r>
                        <a:rPr lang="en-US" sz="900" b="0" i="0" u="none" strike="noStrike" noProof="0">
                          <a:solidFill>
                            <a:srgbClr val="000000"/>
                          </a:solidFill>
                          <a:latin typeface="Raleway"/>
                        </a:rPr>
                        <a:t> – DROP </a:t>
                      </a:r>
                      <a:r>
                        <a:rPr lang="en-US" sz="900" b="0" i="0" u="none" strike="noStrike" noProof="0" err="1">
                          <a:solidFill>
                            <a:srgbClr val="000000"/>
                          </a:solidFill>
                          <a:latin typeface="Raleway"/>
                        </a:rPr>
                        <a:t>karena</a:t>
                      </a:r>
                      <a:r>
                        <a:rPr lang="en-US" sz="900" b="0" i="0" u="none" strike="noStrike" noProof="0">
                          <a:solidFill>
                            <a:srgbClr val="000000"/>
                          </a:solidFill>
                          <a:latin typeface="Raleway"/>
                        </a:rPr>
                        <a:t> </a:t>
                      </a:r>
                      <a:r>
                        <a:rPr lang="en-US" sz="900" b="0" i="0" u="none" strike="noStrike" noProof="0" err="1">
                          <a:solidFill>
                            <a:srgbClr val="000000"/>
                          </a:solidFill>
                          <a:latin typeface="Raleway"/>
                        </a:rPr>
                        <a:t>kurang</a:t>
                      </a:r>
                      <a:r>
                        <a:rPr lang="en-US" sz="900" b="0" i="0" u="none" strike="noStrike" noProof="0">
                          <a:solidFill>
                            <a:srgbClr val="000000"/>
                          </a:solidFill>
                          <a:latin typeface="Raleway"/>
                        </a:rPr>
                        <a:t> </a:t>
                      </a:r>
                      <a:r>
                        <a:rPr lang="en-US" sz="900" b="0" i="0" u="none" strike="noStrike" noProof="0" err="1">
                          <a:solidFill>
                            <a:srgbClr val="000000"/>
                          </a:solidFill>
                          <a:latin typeface="Raleway"/>
                        </a:rPr>
                        <a:t>terstruktur</a:t>
                      </a:r>
                      <a:r>
                        <a:rPr lang="en-US" sz="900" b="0" i="0" u="none" strike="noStrike" noProof="0">
                          <a:solidFill>
                            <a:srgbClr val="000000"/>
                          </a:solidFill>
                          <a:latin typeface="Raleway"/>
                        </a:rPr>
                        <a:t> (too much detail </a:t>
                      </a:r>
                      <a:r>
                        <a:rPr lang="en-US" sz="900" b="0" i="0" u="none" strike="noStrike" noProof="0" err="1">
                          <a:solidFill>
                            <a:srgbClr val="000000"/>
                          </a:solidFill>
                          <a:latin typeface="Raleway"/>
                        </a:rPr>
                        <a:t>sehingga</a:t>
                      </a:r>
                      <a:r>
                        <a:rPr lang="en-US" sz="900" b="0" i="0" u="none" strike="noStrike" noProof="0">
                          <a:solidFill>
                            <a:srgbClr val="000000"/>
                          </a:solidFill>
                          <a:latin typeface="Raleway"/>
                        </a:rPr>
                        <a:t> </a:t>
                      </a:r>
                      <a:r>
                        <a:rPr lang="en-US" sz="900" b="0" i="0" u="none" strike="noStrike" noProof="0" err="1">
                          <a:solidFill>
                            <a:srgbClr val="000000"/>
                          </a:solidFill>
                          <a:latin typeface="Raleway"/>
                        </a:rPr>
                        <a:t>tidak</a:t>
                      </a:r>
                      <a:r>
                        <a:rPr lang="en-US" sz="900" b="0" i="0" u="none" strike="noStrike" noProof="0">
                          <a:solidFill>
                            <a:srgbClr val="000000"/>
                          </a:solidFill>
                          <a:latin typeface="Raleway"/>
                        </a:rPr>
                        <a:t> </a:t>
                      </a:r>
                      <a:r>
                        <a:rPr lang="en-US" sz="900" b="0" i="0" u="none" strike="noStrike" noProof="0" err="1">
                          <a:solidFill>
                            <a:srgbClr val="000000"/>
                          </a:solidFill>
                          <a:latin typeface="Raleway"/>
                        </a:rPr>
                        <a:t>fokus</a:t>
                      </a:r>
                      <a:r>
                        <a:rPr lang="en-US" sz="900" b="0" i="0" u="none" strike="noStrike" noProof="0">
                          <a:solidFill>
                            <a:srgbClr val="000000"/>
                          </a:solidFill>
                          <a:latin typeface="Raleway"/>
                        </a:rPr>
                        <a:t> pada inti </a:t>
                      </a:r>
                      <a:r>
                        <a:rPr lang="en-US" sz="900" b="0" i="0" u="none" strike="noStrike" noProof="0" err="1">
                          <a:solidFill>
                            <a:srgbClr val="000000"/>
                          </a:solidFill>
                          <a:latin typeface="Raleway"/>
                        </a:rPr>
                        <a:t>pertanyaan</a:t>
                      </a:r>
                      <a:r>
                        <a:rPr lang="en-US" sz="900" b="0" i="0" u="none" strike="noStrike" noProof="0">
                          <a:solidFill>
                            <a:srgbClr val="000000"/>
                          </a:solidFill>
                          <a:latin typeface="Raleway"/>
                        </a:rPr>
                        <a:t>)</a:t>
                      </a:r>
                    </a:p>
                    <a:p>
                      <a:pPr lvl="0" algn="l">
                        <a:buNone/>
                      </a:pPr>
                      <a:r>
                        <a:rPr lang="en-US" sz="900" b="0" i="0" u="none" strike="noStrike" noProof="0">
                          <a:solidFill>
                            <a:srgbClr val="000000"/>
                          </a:solidFill>
                          <a:latin typeface="Raleway"/>
                        </a:rPr>
                        <a:t>W29: 2 </a:t>
                      </a:r>
                      <a:r>
                        <a:rPr lang="en-US" sz="900" b="0" i="0" u="none" strike="noStrike" noProof="0" err="1">
                          <a:solidFill>
                            <a:srgbClr val="000000"/>
                          </a:solidFill>
                          <a:latin typeface="Raleway"/>
                        </a:rPr>
                        <a:t>kandidat</a:t>
                      </a:r>
                      <a:r>
                        <a:rPr lang="en-US" sz="900" b="0" i="0" u="none" strike="noStrike" noProof="0">
                          <a:solidFill>
                            <a:srgbClr val="000000"/>
                          </a:solidFill>
                          <a:latin typeface="Raleway"/>
                        </a:rPr>
                        <a:t> Panel Interview an. Windo &amp; Ivan Eka -&gt; Windo </a:t>
                      </a:r>
                      <a:r>
                        <a:rPr lang="en-US" sz="900" b="0" i="0" u="none" strike="noStrike" noProof="0" err="1">
                          <a:solidFill>
                            <a:srgbClr val="000000"/>
                          </a:solidFill>
                          <a:latin typeface="Raleway"/>
                        </a:rPr>
                        <a:t>dilanjutkan</a:t>
                      </a:r>
                      <a:r>
                        <a:rPr lang="en-US" sz="900" b="0" i="0" u="none" strike="noStrike" noProof="0">
                          <a:solidFill>
                            <a:srgbClr val="000000"/>
                          </a:solidFill>
                          <a:latin typeface="Raleway"/>
                        </a:rPr>
                        <a:t> </a:t>
                      </a:r>
                      <a:r>
                        <a:rPr lang="en-US" sz="900" b="0" i="0" u="none" strike="noStrike" noProof="0" err="1">
                          <a:solidFill>
                            <a:srgbClr val="000000"/>
                          </a:solidFill>
                          <a:latin typeface="Raleway"/>
                        </a:rPr>
                        <a:t>ke</a:t>
                      </a:r>
                      <a:r>
                        <a:rPr lang="en-US" sz="900" b="0" i="0" u="none" strike="noStrike" noProof="0">
                          <a:solidFill>
                            <a:srgbClr val="000000"/>
                          </a:solidFill>
                          <a:latin typeface="Raleway"/>
                        </a:rPr>
                        <a:t> Director Interview pada 20 Jul 2026 – KEEP</a:t>
                      </a:r>
                    </a:p>
                    <a:p>
                      <a:pPr lvl="0" algn="l">
                        <a:buNone/>
                      </a:pPr>
                      <a:r>
                        <a:rPr lang="en-US" sz="900" b="0" i="0" u="none" strike="noStrike" noProof="0">
                          <a:solidFill>
                            <a:srgbClr val="000000"/>
                          </a:solidFill>
                          <a:latin typeface="Raleway"/>
                        </a:rPr>
                        <a:t>W30: 4 </a:t>
                      </a:r>
                      <a:r>
                        <a:rPr lang="en-US" sz="900" b="0" i="0" u="none" strike="noStrike" noProof="0" err="1">
                          <a:solidFill>
                            <a:srgbClr val="000000"/>
                          </a:solidFill>
                          <a:latin typeface="Raleway"/>
                        </a:rPr>
                        <a:t>kandidat</a:t>
                      </a:r>
                      <a:r>
                        <a:rPr lang="en-US" sz="900" b="0" i="0" u="none" strike="noStrike" noProof="0">
                          <a:solidFill>
                            <a:srgbClr val="000000"/>
                          </a:solidFill>
                          <a:latin typeface="Raleway"/>
                        </a:rPr>
                        <a:t> Panel Interview an. Samuel, Taufiq, Adi Surya, </a:t>
                      </a:r>
                      <a:r>
                        <a:rPr lang="en-US" sz="900" b="0" i="0" u="none" strike="noStrike" noProof="0" err="1">
                          <a:solidFill>
                            <a:srgbClr val="000000"/>
                          </a:solidFill>
                          <a:latin typeface="Raleway"/>
                        </a:rPr>
                        <a:t>Dwion</a:t>
                      </a:r>
                      <a:r>
                        <a:rPr lang="en-US" sz="900" b="0" i="0" u="none" strike="noStrike" noProof="0">
                          <a:solidFill>
                            <a:srgbClr val="000000"/>
                          </a:solidFill>
                          <a:latin typeface="Raleway"/>
                        </a:rPr>
                        <a:t> Yunus -&gt; all DROP</a:t>
                      </a:r>
                    </a:p>
                    <a:p>
                      <a:pPr lvl="0" algn="l">
                        <a:buNone/>
                      </a:pPr>
                      <a:r>
                        <a:rPr lang="en-US" sz="900" b="0" i="0" u="none" strike="noStrike" noProof="0">
                          <a:solidFill>
                            <a:srgbClr val="000000"/>
                          </a:solidFill>
                          <a:latin typeface="Raleway"/>
                        </a:rPr>
                        <a:t>W31: 2 </a:t>
                      </a:r>
                      <a:r>
                        <a:rPr lang="en-US" sz="900" b="0" i="0" u="none" strike="noStrike" noProof="0" err="1">
                          <a:solidFill>
                            <a:srgbClr val="000000"/>
                          </a:solidFill>
                          <a:latin typeface="Raleway"/>
                        </a:rPr>
                        <a:t>kandidat</a:t>
                      </a:r>
                      <a:r>
                        <a:rPr lang="en-US" sz="900" b="0" i="0" u="none" strike="noStrike" noProof="0">
                          <a:solidFill>
                            <a:srgbClr val="000000"/>
                          </a:solidFill>
                          <a:latin typeface="Raleway"/>
                        </a:rPr>
                        <a:t> Panel Interview an. Dian Agung, Wahyu Ari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00"/>
                    </a:solidFill>
                  </a:tcPr>
                </a:tc>
                <a:extLst>
                  <a:ext uri="{0D108BD9-81ED-4DB2-BD59-A6C34878D82A}">
                    <a16:rowId xmlns:a16="http://schemas.microsoft.com/office/drawing/2014/main" val="2463303055"/>
                  </a:ext>
                </a:extLst>
              </a:tr>
              <a:tr h="1278425">
                <a:tc>
                  <a:txBody>
                    <a:bodyPr/>
                    <a:lstStyle/>
                    <a:p>
                      <a:pPr algn="ctr">
                        <a:buNone/>
                      </a:pPr>
                      <a:r>
                        <a:rPr lang="en-US" sz="1000">
                          <a:latin typeface="Raleway"/>
                        </a:rPr>
                        <a:t>07-Sep-26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Area Sales Manager - Banten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4A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23-Aug-2026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Brittney</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latin typeface="Raleway"/>
                        </a:rPr>
                        <a:t>"Send 5 CVs to user di Week 33 Next Action: Panel interview </a:t>
                      </a:r>
                      <a:r>
                        <a:rPr lang="en-US" sz="1000" err="1">
                          <a:latin typeface="Raleway"/>
                        </a:rPr>
                        <a:t>kandidat</a:t>
                      </a:r>
                      <a:r>
                        <a:rPr lang="en-US" sz="1000">
                          <a:latin typeface="Raleway"/>
                        </a:rPr>
                        <a:t> shortlisted user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977689210"/>
                  </a:ext>
                </a:extLst>
              </a:tr>
              <a:tr h="1449551">
                <a:tc>
                  <a:txBody>
                    <a:bodyPr/>
                    <a:lstStyle/>
                    <a:p>
                      <a:pPr algn="ctr">
                        <a:buNone/>
                      </a:pPr>
                      <a:r>
                        <a:rPr lang="en-US" sz="1000">
                          <a:latin typeface="Raleway"/>
                        </a:rPr>
                        <a:t>16-Jul-26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Area Sales Manager - Jakarta 2</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4A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30-Aug-2026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Brittney</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latin typeface="Raleway"/>
                        </a:rPr>
                        <a:t>"</a:t>
                      </a:r>
                      <a:r>
                        <a:rPr lang="en-US" sz="1000" err="1">
                          <a:latin typeface="Raleway"/>
                        </a:rPr>
                        <a:t>Kandidat</a:t>
                      </a:r>
                      <a:r>
                        <a:rPr lang="en-US" sz="1000">
                          <a:latin typeface="Raleway"/>
                        </a:rPr>
                        <a:t> an Ardi Bagas </a:t>
                      </a:r>
                      <a:r>
                        <a:rPr lang="en-US" sz="1000" err="1">
                          <a:latin typeface="Raleway"/>
                        </a:rPr>
                        <a:t>pemberkasan</a:t>
                      </a:r>
                      <a:r>
                        <a:rPr lang="en-US" sz="1000">
                          <a:latin typeface="Raleway"/>
                        </a:rPr>
                        <a:t> dan </a:t>
                      </a:r>
                      <a:r>
                        <a:rPr lang="en-US" sz="1000" err="1">
                          <a:latin typeface="Raleway"/>
                        </a:rPr>
                        <a:t>refcheck</a:t>
                      </a:r>
                      <a:r>
                        <a:rPr lang="en-US" sz="1000">
                          <a:latin typeface="Raleway"/>
                        </a:rPr>
                        <a:t> di Week 33 Next Action: Approval offering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230870026"/>
                  </a:ext>
                </a:extLst>
              </a:tr>
            </a:tbl>
          </a:graphicData>
        </a:graphic>
      </p:graphicFrame>
    </p:spTree>
    <p:extLst>
      <p:ext uri="{BB962C8B-B14F-4D97-AF65-F5344CB8AC3E}">
        <p14:creationId xmlns:p14="http://schemas.microsoft.com/office/powerpoint/2010/main" val="224410125"/>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EC890F90-8E53-A6B4-33D6-1B4FC2B8308E}"/>
            </a:ext>
          </a:extLst>
        </p:cNvPr>
        <p:cNvGrpSpPr/>
        <p:nvPr/>
      </p:nvGrpSpPr>
      <p:grpSpPr>
        <a:xfrm>
          <a:off x="0" y="0"/>
          <a:ext cx="0" cy="0"/>
          <a:chOff x="0" y="0"/>
          <a:chExt cx="0" cy="0"/>
        </a:xfrm>
      </p:grpSpPr>
      <p:sp>
        <p:nvSpPr>
          <p:cNvPr id="4" name="Text 0">
            <a:extLst>
              <a:ext uri="{FF2B5EF4-FFF2-40B4-BE49-F238E27FC236}">
                <a16:creationId xmlns:a16="http://schemas.microsoft.com/office/drawing/2014/main" id="{1DD3E06D-1898-B326-82D6-9284621ADFFF}"/>
              </a:ext>
            </a:extLst>
          </p:cNvPr>
          <p:cNvSpPr/>
          <p:nvPr/>
        </p:nvSpPr>
        <p:spPr>
          <a:xfrm>
            <a:off x="88735" y="417956"/>
            <a:ext cx="11277295" cy="548640"/>
          </a:xfrm>
          <a:prstGeom prst="rect">
            <a:avLst/>
          </a:prstGeom>
          <a:noFill/>
          <a:ln/>
        </p:spPr>
        <p:txBody>
          <a:bodyPr wrap="square" lIns="91440" tIns="45720" rIns="91440" bIns="45720" rtlCol="0" anchor="ctr"/>
          <a:lstStyle/>
          <a:p>
            <a:r>
              <a:rPr lang="en-US" sz="2600" b="1">
                <a:solidFill>
                  <a:srgbClr val="12284C"/>
                </a:solidFill>
                <a:latin typeface="Raleway"/>
                <a:ea typeface="Georgia" pitchFamily="34" charset="-122"/>
                <a:cs typeface="Georgia" pitchFamily="34" charset="-120"/>
              </a:rPr>
              <a:t>15 FPTK — Manager: Recruitment Update</a:t>
            </a:r>
            <a:endParaRPr lang="en-US" sz="2600">
              <a:latin typeface="Raleway"/>
            </a:endParaRPr>
          </a:p>
        </p:txBody>
      </p:sp>
      <p:graphicFrame>
        <p:nvGraphicFramePr>
          <p:cNvPr id="7" name="Table 6">
            <a:extLst>
              <a:ext uri="{FF2B5EF4-FFF2-40B4-BE49-F238E27FC236}">
                <a16:creationId xmlns:a16="http://schemas.microsoft.com/office/drawing/2014/main" id="{F3653458-B05B-47AB-27EF-8C9793BB2454}"/>
              </a:ext>
            </a:extLst>
          </p:cNvPr>
          <p:cNvGraphicFramePr>
            <a:graphicFrameLocks noGrp="1"/>
          </p:cNvGraphicFramePr>
          <p:nvPr>
            <p:extLst>
              <p:ext uri="{D42A27DB-BD31-4B8C-83A1-F6EECF244321}">
                <p14:modId xmlns:p14="http://schemas.microsoft.com/office/powerpoint/2010/main" val="2858707854"/>
              </p:ext>
            </p:extLst>
          </p:nvPr>
        </p:nvGraphicFramePr>
        <p:xfrm>
          <a:off x="166413" y="963448"/>
          <a:ext cx="11859127" cy="3781105"/>
        </p:xfrm>
        <a:graphic>
          <a:graphicData uri="http://schemas.openxmlformats.org/drawingml/2006/table">
            <a:tbl>
              <a:tblPr bandRow="1">
                <a:tableStyleId>{5C22544A-7EE6-4342-B048-85BDC9FD1C3A}</a:tableStyleId>
              </a:tblPr>
              <a:tblGrid>
                <a:gridCol w="797034">
                  <a:extLst>
                    <a:ext uri="{9D8B030D-6E8A-4147-A177-3AD203B41FA5}">
                      <a16:colId xmlns:a16="http://schemas.microsoft.com/office/drawing/2014/main" val="2574017134"/>
                    </a:ext>
                  </a:extLst>
                </a:gridCol>
                <a:gridCol w="1129859">
                  <a:extLst>
                    <a:ext uri="{9D8B030D-6E8A-4147-A177-3AD203B41FA5}">
                      <a16:colId xmlns:a16="http://schemas.microsoft.com/office/drawing/2014/main" val="2455972941"/>
                    </a:ext>
                  </a:extLst>
                </a:gridCol>
                <a:gridCol w="613103">
                  <a:extLst>
                    <a:ext uri="{9D8B030D-6E8A-4147-A177-3AD203B41FA5}">
                      <a16:colId xmlns:a16="http://schemas.microsoft.com/office/drawing/2014/main" val="2700391548"/>
                    </a:ext>
                  </a:extLst>
                </a:gridCol>
                <a:gridCol w="1340069">
                  <a:extLst>
                    <a:ext uri="{9D8B030D-6E8A-4147-A177-3AD203B41FA5}">
                      <a16:colId xmlns:a16="http://schemas.microsoft.com/office/drawing/2014/main" val="2208032039"/>
                    </a:ext>
                  </a:extLst>
                </a:gridCol>
                <a:gridCol w="945928">
                  <a:extLst>
                    <a:ext uri="{9D8B030D-6E8A-4147-A177-3AD203B41FA5}">
                      <a16:colId xmlns:a16="http://schemas.microsoft.com/office/drawing/2014/main" val="2660905560"/>
                    </a:ext>
                  </a:extLst>
                </a:gridCol>
                <a:gridCol w="1156134">
                  <a:extLst>
                    <a:ext uri="{9D8B030D-6E8A-4147-A177-3AD203B41FA5}">
                      <a16:colId xmlns:a16="http://schemas.microsoft.com/office/drawing/2014/main" val="903512174"/>
                    </a:ext>
                  </a:extLst>
                </a:gridCol>
                <a:gridCol w="814551">
                  <a:extLst>
                    <a:ext uri="{9D8B030D-6E8A-4147-A177-3AD203B41FA5}">
                      <a16:colId xmlns:a16="http://schemas.microsoft.com/office/drawing/2014/main" val="1785143114"/>
                    </a:ext>
                  </a:extLst>
                </a:gridCol>
                <a:gridCol w="665655">
                  <a:extLst>
                    <a:ext uri="{9D8B030D-6E8A-4147-A177-3AD203B41FA5}">
                      <a16:colId xmlns:a16="http://schemas.microsoft.com/office/drawing/2014/main" val="3168663847"/>
                    </a:ext>
                  </a:extLst>
                </a:gridCol>
                <a:gridCol w="656896">
                  <a:extLst>
                    <a:ext uri="{9D8B030D-6E8A-4147-A177-3AD203B41FA5}">
                      <a16:colId xmlns:a16="http://schemas.microsoft.com/office/drawing/2014/main" val="4141825540"/>
                    </a:ext>
                  </a:extLst>
                </a:gridCol>
                <a:gridCol w="3739898">
                  <a:extLst>
                    <a:ext uri="{9D8B030D-6E8A-4147-A177-3AD203B41FA5}">
                      <a16:colId xmlns:a16="http://schemas.microsoft.com/office/drawing/2014/main" val="985808841"/>
                    </a:ext>
                  </a:extLst>
                </a:gridCol>
              </a:tblGrid>
              <a:tr h="958587">
                <a:tc>
                  <a:txBody>
                    <a:bodyPr/>
                    <a:lstStyle/>
                    <a:p>
                      <a:pPr algn="ctr">
                        <a:buNone/>
                      </a:pPr>
                      <a:r>
                        <a:rPr lang="en-US" sz="1000" b="1">
                          <a:solidFill>
                            <a:schemeClr val="bg1"/>
                          </a:solidFill>
                          <a:latin typeface="Raleway"/>
                        </a:rPr>
                        <a:t>Tanggal 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latin typeface="Raleway"/>
                        </a:rPr>
                        <a:t>Business 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latin typeface="Raleway"/>
                        </a:rPr>
                        <a:t>Kategori</a:t>
                      </a:r>
                      <a:r>
                        <a:rPr lang="en-US" sz="1000" b="1">
                          <a:solidFill>
                            <a:schemeClr val="bg1"/>
                          </a:solidFill>
                          <a:latin typeface="Raleway"/>
                        </a:rPr>
                        <a:t> </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latin typeface="Raleway"/>
                        </a:rPr>
                        <a:t>SLA Target </a:t>
                      </a:r>
                      <a:r>
                        <a:rPr lang="en-US" sz="1000" b="1" err="1">
                          <a:solidFill>
                            <a:schemeClr val="bg1"/>
                          </a:solidFill>
                          <a:latin typeface="Raleway"/>
                        </a:rPr>
                        <a:t>Pemenuhan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latin typeface="Raleway"/>
                        </a:rPr>
                        <a:t>Jumlah</a:t>
                      </a:r>
                      <a:r>
                        <a:rPr lang="en-US" sz="1000" b="1">
                          <a:solidFill>
                            <a:schemeClr val="bg1"/>
                          </a:solidFill>
                          <a:latin typeface="Raleway"/>
                        </a:rPr>
                        <a:t> </a:t>
                      </a:r>
                      <a:r>
                        <a:rPr lang="en-US" sz="1000" b="1" err="1">
                          <a:solidFill>
                            <a:schemeClr val="bg1"/>
                          </a:solidFill>
                          <a:latin typeface="Raleway"/>
                        </a:rPr>
                        <a:t>Permintaan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latin typeface="Raleway"/>
                        </a:rPr>
                        <a:t>Status </a:t>
                      </a:r>
                      <a:r>
                        <a:rPr lang="en-US" sz="1000" b="1" err="1">
                          <a:solidFill>
                            <a:schemeClr val="bg1"/>
                          </a:solidFill>
                          <a:latin typeface="Raleway"/>
                        </a:rPr>
                        <a:t>Rekrutmen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864970917"/>
                  </a:ext>
                </a:extLst>
              </a:tr>
              <a:tr h="1411259">
                <a:tc>
                  <a:txBody>
                    <a:bodyPr/>
                    <a:lstStyle/>
                    <a:p>
                      <a:pPr algn="ctr">
                        <a:buNone/>
                      </a:pPr>
                      <a:r>
                        <a:rPr lang="en-US" sz="1000">
                          <a:latin typeface="Raleway"/>
                        </a:rPr>
                        <a:t>07-Sep-25</a:t>
                      </a:r>
                    </a:p>
                  </a:txBody>
                  <a:tcPr anchor="ctr">
                    <a:lnL w="12700">
                      <a:solidFill>
                        <a:schemeClr val="tx1"/>
                      </a:solid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tc>
                  <a:txBody>
                    <a:bodyPr/>
                    <a:lstStyle/>
                    <a:p>
                      <a:pPr algn="ctr">
                        <a:buNone/>
                      </a:pPr>
                      <a:r>
                        <a:rPr lang="en-US" sz="1000">
                          <a:latin typeface="Raleway"/>
                        </a:rPr>
                        <a:t>Brand Manager - Condiments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tc>
                  <a:txBody>
                    <a:bodyPr/>
                    <a:lstStyle/>
                    <a:p>
                      <a:pPr algn="ctr">
                        <a:buNone/>
                      </a:pPr>
                      <a:r>
                        <a:rPr lang="en-US" sz="1000">
                          <a:latin typeface="Raleway"/>
                        </a:rPr>
                        <a:t>4A</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tc>
                  <a:txBody>
                    <a:bodyPr/>
                    <a:lstStyle/>
                    <a:p>
                      <a:pPr algn="ctr">
                        <a:buNone/>
                      </a:pPr>
                      <a:r>
                        <a:rPr lang="en-US" sz="1000">
                          <a:latin typeface="Raleway"/>
                        </a:rPr>
                        <a:t>PT JAVA EGG SPECIALITIES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tc>
                  <a:txBody>
                    <a:bodyPr/>
                    <a:lstStyle/>
                    <a:p>
                      <a:pPr algn="ctr">
                        <a:buNone/>
                      </a:pPr>
                      <a:r>
                        <a:rPr lang="en-US" sz="1000">
                          <a:latin typeface="Raleway"/>
                        </a:rPr>
                        <a:t>REPLACEMENT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tc>
                  <a:txBody>
                    <a:bodyPr/>
                    <a:lstStyle/>
                    <a:p>
                      <a:pPr algn="ctr">
                        <a:buNone/>
                      </a:pPr>
                      <a:r>
                        <a:rPr lang="en-US" sz="1000">
                          <a:latin typeface="Raleway"/>
                        </a:rPr>
                        <a:t>23-Aug-2025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tc>
                  <a:txBody>
                    <a:bodyPr/>
                    <a:lstStyle/>
                    <a:p>
                      <a:pPr algn="ctr">
                        <a:buNone/>
                      </a:pPr>
                      <a:r>
                        <a:rPr lang="en-US" sz="1000">
                          <a:latin typeface="Raleway"/>
                        </a:rPr>
                        <a:t>Victor</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tc>
                  <a:txBody>
                    <a:bodyPr/>
                    <a:lstStyle/>
                    <a:p>
                      <a:pPr algn="ctr">
                        <a:buNone/>
                      </a:pPr>
                      <a:r>
                        <a:rPr lang="en-US" sz="1000">
                          <a:latin typeface="Raleway"/>
                        </a:rPr>
                        <a:t>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tc>
                  <a:txBody>
                    <a:bodyPr/>
                    <a:lstStyle/>
                    <a:p>
                      <a:pPr algn="ctr">
                        <a:buNone/>
                      </a:pPr>
                      <a:r>
                        <a:rPr lang="en-US" sz="1000">
                          <a:latin typeface="Raleway"/>
                        </a:rPr>
                        <a:t>OP</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tc>
                  <a:txBody>
                    <a:bodyPr/>
                    <a:lstStyle/>
                    <a:p>
                      <a:pPr lvl="0" algn="l">
                        <a:buNone/>
                      </a:pPr>
                      <a:r>
                        <a:rPr lang="en-US" sz="900" b="0" i="0" u="none" strike="noStrike" noProof="0">
                          <a:solidFill>
                            <a:srgbClr val="000000"/>
                          </a:solidFill>
                          <a:latin typeface="Raleway"/>
                        </a:rPr>
                        <a:t>7 Jul 2026: Aisha Hutami Anjani Market Visit -&gt; CEO Interview pada 16 Jul 2026 -&gt; OK to offering stage</a:t>
                      </a:r>
                    </a:p>
                    <a:p>
                      <a:pPr lvl="0" algn="l">
                        <a:buNone/>
                      </a:pPr>
                      <a:r>
                        <a:rPr lang="en-US" sz="900" b="0" i="0" u="none" strike="noStrike" noProof="0">
                          <a:solidFill>
                            <a:srgbClr val="000000"/>
                          </a:solidFill>
                          <a:latin typeface="Raleway"/>
                        </a:rPr>
                        <a:t>24 Jul 2026: Offering Aisha Hutami Anjani -&gt; </a:t>
                      </a:r>
                      <a:r>
                        <a:rPr lang="en-US" sz="900" b="0" i="0" u="none" strike="noStrike" noProof="0" err="1">
                          <a:solidFill>
                            <a:srgbClr val="000000"/>
                          </a:solidFill>
                          <a:latin typeface="Raleway"/>
                        </a:rPr>
                        <a:t>menunggu</a:t>
                      </a:r>
                      <a:r>
                        <a:rPr lang="en-US" sz="900" b="0" i="0" u="none" strike="noStrike" noProof="0">
                          <a:solidFill>
                            <a:srgbClr val="000000"/>
                          </a:solidFill>
                          <a:latin typeface="Raleway"/>
                        </a:rPr>
                        <a:t> feedback offering</a:t>
                      </a:r>
                    </a:p>
                    <a:p>
                      <a:pPr lvl="0" algn="l">
                        <a:buNone/>
                      </a:pPr>
                      <a:r>
                        <a:rPr lang="en-US" sz="900" b="0" i="0" u="none" strike="noStrike" noProof="0">
                          <a:solidFill>
                            <a:srgbClr val="000000"/>
                          </a:solidFill>
                          <a:latin typeface="Raleway"/>
                        </a:rPr>
                        <a:t>Week 31: Follow up feedback offering</a:t>
                      </a:r>
                    </a:p>
                    <a:p>
                      <a:pPr lvl="0">
                        <a:buNone/>
                      </a:pPr>
                      <a:endParaRPr lang="en-US" sz="1000">
                        <a:latin typeface="Raleway"/>
                      </a:endParaRPr>
                    </a:p>
                  </a:txBody>
                  <a:tcPr anchor="ctr">
                    <a:lnL w="12700" cap="flat" cmpd="sng" algn="ctr">
                      <a:solidFill>
                        <a:schemeClr val="tx1"/>
                      </a:solidFill>
                      <a:prstDash val="solid"/>
                      <a:round/>
                      <a:headEnd type="none" w="med" len="med"/>
                      <a:tailEnd type="none" w="med" len="med"/>
                    </a:lnL>
                    <a:lnR w="12700">
                      <a:solidFill>
                        <a:schemeClr val="tx1"/>
                      </a:solidFill>
                    </a:lnR>
                    <a:lnT w="12700" cap="flat" cmpd="sng" algn="ctr">
                      <a:solidFill>
                        <a:schemeClr val="tx1"/>
                      </a:solidFill>
                      <a:prstDash val="solid"/>
                      <a:round/>
                      <a:headEnd type="none" w="med" len="med"/>
                      <a:tailEnd type="none" w="med" len="med"/>
                    </a:lnT>
                    <a:lnB w="12700">
                      <a:solidFill>
                        <a:schemeClr val="tx1"/>
                      </a:solidFill>
                    </a:lnB>
                    <a:solidFill>
                      <a:srgbClr val="FFFF00"/>
                    </a:solidFill>
                  </a:tcPr>
                </a:tc>
                <a:extLst>
                  <a:ext uri="{0D108BD9-81ED-4DB2-BD59-A6C34878D82A}">
                    <a16:rowId xmlns:a16="http://schemas.microsoft.com/office/drawing/2014/main" val="1170287100"/>
                  </a:ext>
                </a:extLst>
              </a:tr>
              <a:tr h="1411259">
                <a:tc>
                  <a:txBody>
                    <a:bodyPr/>
                    <a:lstStyle/>
                    <a:p>
                      <a:pPr algn="ctr">
                        <a:buNone/>
                      </a:pPr>
                      <a:r>
                        <a:rPr lang="en-US" sz="1000">
                          <a:latin typeface="Raleway"/>
                        </a:rPr>
                        <a:t>16-Oct-25</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Quality Control Manager - </a:t>
                      </a:r>
                      <a:r>
                        <a:rPr lang="en-US" sz="1000" err="1">
                          <a:latin typeface="Raleway"/>
                        </a:rPr>
                        <a:t>Citeureup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4A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30-Nov-2025</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Pauline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l">
                        <a:buNone/>
                      </a:pPr>
                      <a:r>
                        <a:rPr lang="en-US" sz="900" b="0" i="0" u="none" strike="noStrike" noProof="0">
                          <a:solidFill>
                            <a:srgbClr val="000000"/>
                          </a:solidFill>
                          <a:latin typeface="Raleway"/>
                        </a:rPr>
                        <a:t>5 Jul 2026: Sent 50 CV for User Review -&gt; User Shortlist 8 </a:t>
                      </a:r>
                      <a:r>
                        <a:rPr lang="en-US" sz="900" b="0" i="0" u="none" strike="noStrike" noProof="0" err="1">
                          <a:solidFill>
                            <a:srgbClr val="000000"/>
                          </a:solidFill>
                          <a:latin typeface="Raleway"/>
                        </a:rPr>
                        <a:t>kandidat</a:t>
                      </a:r>
                    </a:p>
                    <a:p>
                      <a:pPr lvl="0" algn="l">
                        <a:buNone/>
                      </a:pPr>
                      <a:r>
                        <a:rPr lang="en-US" sz="900" b="0" i="0" u="none" strike="noStrike" noProof="0">
                          <a:solidFill>
                            <a:srgbClr val="000000"/>
                          </a:solidFill>
                          <a:latin typeface="Raleway"/>
                        </a:rPr>
                        <a:t>9 Jul 2026: Sent 17 CV for User Review -&gt; </a:t>
                      </a:r>
                      <a:r>
                        <a:rPr lang="en-US" sz="900" b="1" i="0" u="none" strike="noStrike" noProof="0">
                          <a:solidFill>
                            <a:srgbClr val="000000"/>
                          </a:solidFill>
                          <a:latin typeface="Raleway"/>
                        </a:rPr>
                        <a:t>pending User Review</a:t>
                      </a:r>
                      <a:endParaRPr lang="en-US" sz="900" b="0" i="0" u="none" strike="noStrike" noProof="0">
                        <a:solidFill>
                          <a:srgbClr val="000000"/>
                        </a:solidFill>
                        <a:latin typeface="Raleway"/>
                      </a:endParaRPr>
                    </a:p>
                    <a:p>
                      <a:pPr lvl="0" algn="l">
                        <a:buNone/>
                      </a:pPr>
                      <a:r>
                        <a:rPr lang="en-US" sz="900" b="0" i="0" u="none" strike="noStrike" noProof="0">
                          <a:solidFill>
                            <a:srgbClr val="000000"/>
                          </a:solidFill>
                          <a:latin typeface="Raleway"/>
                        </a:rPr>
                        <a:t>13 Jul 2026: Sent 24 CV for User Review -&gt; User shortlist 6 </a:t>
                      </a:r>
                      <a:r>
                        <a:rPr lang="en-US" sz="900" b="0" i="0" u="none" strike="noStrike" noProof="0" err="1">
                          <a:solidFill>
                            <a:srgbClr val="000000"/>
                          </a:solidFill>
                          <a:latin typeface="Raleway"/>
                        </a:rPr>
                        <a:t>kandidat</a:t>
                      </a:r>
                      <a:endParaRPr lang="en-US" sz="900" b="0" i="0" u="none" strike="noStrike" noProof="0">
                        <a:solidFill>
                          <a:srgbClr val="000000"/>
                        </a:solidFill>
                        <a:latin typeface="Raleway"/>
                      </a:endParaRPr>
                    </a:p>
                    <a:p>
                      <a:pPr lvl="0" algn="l">
                        <a:buNone/>
                      </a:pPr>
                      <a:r>
                        <a:rPr lang="en-US" sz="900" b="0" i="0" u="none" strike="noStrike" noProof="0">
                          <a:solidFill>
                            <a:srgbClr val="000000"/>
                          </a:solidFill>
                          <a:latin typeface="Raleway"/>
                        </a:rPr>
                        <a:t>W30: User Interview 2 </a:t>
                      </a:r>
                      <a:r>
                        <a:rPr lang="en-US" sz="900" b="0" i="0" u="none" strike="noStrike" noProof="0" err="1">
                          <a:solidFill>
                            <a:srgbClr val="000000"/>
                          </a:solidFill>
                          <a:latin typeface="Raleway"/>
                        </a:rPr>
                        <a:t>kandidat</a:t>
                      </a:r>
                      <a:r>
                        <a:rPr lang="en-US" sz="900" b="0" i="0" u="none" strike="noStrike" noProof="0">
                          <a:solidFill>
                            <a:srgbClr val="000000"/>
                          </a:solidFill>
                          <a:latin typeface="Raleway"/>
                        </a:rPr>
                        <a:t> – </a:t>
                      </a:r>
                      <a:r>
                        <a:rPr lang="en-US" sz="900" b="1" i="0" u="none" strike="noStrike" noProof="0">
                          <a:solidFill>
                            <a:srgbClr val="000000"/>
                          </a:solidFill>
                          <a:latin typeface="Raleway"/>
                        </a:rPr>
                        <a:t>pending User Feedback</a:t>
                      </a:r>
                      <a:endParaRPr lang="en-US" sz="900" b="0" i="0" u="none" strike="noStrike" noProof="0">
                        <a:solidFill>
                          <a:srgbClr val="000000"/>
                        </a:solidFill>
                        <a:latin typeface="Raleway"/>
                      </a:endParaRPr>
                    </a:p>
                    <a:p>
                      <a:pPr lvl="0" algn="l">
                        <a:buNone/>
                      </a:pPr>
                      <a:r>
                        <a:rPr lang="en-US" sz="900" b="0" i="0" u="none" strike="noStrike" noProof="0">
                          <a:solidFill>
                            <a:srgbClr val="000000"/>
                          </a:solidFill>
                          <a:latin typeface="Raleway"/>
                        </a:rPr>
                        <a:t>W31: </a:t>
                      </a:r>
                      <a:r>
                        <a:rPr lang="en-US" sz="900" b="0" i="0" u="none" strike="noStrike" noProof="0" err="1">
                          <a:solidFill>
                            <a:srgbClr val="000000"/>
                          </a:solidFill>
                          <a:latin typeface="Raleway"/>
                        </a:rPr>
                        <a:t>Jadwalkan</a:t>
                      </a:r>
                      <a:r>
                        <a:rPr lang="en-US" sz="900" b="0" i="0" u="none" strike="noStrike" noProof="0">
                          <a:solidFill>
                            <a:srgbClr val="000000"/>
                          </a:solidFill>
                          <a:latin typeface="Raleway"/>
                        </a:rPr>
                        <a:t> </a:t>
                      </a:r>
                      <a:r>
                        <a:rPr lang="en-US" sz="900" b="0" i="0" u="none" strike="noStrike" noProof="0" err="1">
                          <a:solidFill>
                            <a:srgbClr val="000000"/>
                          </a:solidFill>
                          <a:latin typeface="Raleway"/>
                        </a:rPr>
                        <a:t>kandidat</a:t>
                      </a:r>
                      <a:r>
                        <a:rPr lang="en-US" sz="900" b="0" i="0" u="none" strike="noStrike" noProof="0">
                          <a:solidFill>
                            <a:srgbClr val="000000"/>
                          </a:solidFill>
                          <a:latin typeface="Raleway"/>
                        </a:rPr>
                        <a:t> yang lolos LIP interview </a:t>
                      </a:r>
                      <a:r>
                        <a:rPr lang="en-US" sz="900" b="0" i="0" u="none" strike="noStrike" noProof="0" err="1">
                          <a:solidFill>
                            <a:srgbClr val="000000"/>
                          </a:solidFill>
                          <a:latin typeface="Raleway"/>
                        </a:rPr>
                        <a:t>dengan</a:t>
                      </a:r>
                      <a:r>
                        <a:rPr lang="en-US" sz="900" b="0" i="0" u="none" strike="noStrike" noProof="0">
                          <a:solidFill>
                            <a:srgbClr val="000000"/>
                          </a:solidFill>
                          <a:latin typeface="Raleway"/>
                        </a:rPr>
                        <a:t> User</a:t>
                      </a:r>
                    </a:p>
                    <a:p>
                      <a:pPr lvl="0">
                        <a:buNone/>
                      </a:pPr>
                      <a:endParaRPr lang="en-US" sz="1000">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00"/>
                    </a:solidFill>
                  </a:tcPr>
                </a:tc>
                <a:extLst>
                  <a:ext uri="{0D108BD9-81ED-4DB2-BD59-A6C34878D82A}">
                    <a16:rowId xmlns:a16="http://schemas.microsoft.com/office/drawing/2014/main" val="2690140920"/>
                  </a:ext>
                </a:extLst>
              </a:tr>
            </a:tbl>
          </a:graphicData>
        </a:graphic>
      </p:graphicFrame>
    </p:spTree>
    <p:extLst>
      <p:ext uri="{BB962C8B-B14F-4D97-AF65-F5344CB8AC3E}">
        <p14:creationId xmlns:p14="http://schemas.microsoft.com/office/powerpoint/2010/main" val="67859457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0FB5FF-7BE7-C03F-5ED3-F95BD796022A}"/>
            </a:ext>
          </a:extLst>
        </p:cNvPr>
        <p:cNvGrpSpPr/>
        <p:nvPr/>
      </p:nvGrpSpPr>
      <p:grpSpPr>
        <a:xfrm>
          <a:off x="0" y="0"/>
          <a:ext cx="0" cy="0"/>
          <a:chOff x="0" y="0"/>
          <a:chExt cx="0" cy="0"/>
        </a:xfrm>
      </p:grpSpPr>
      <p:graphicFrame>
        <p:nvGraphicFramePr>
          <p:cNvPr id="4" name="Table 3">
            <a:extLst>
              <a:ext uri="{FF2B5EF4-FFF2-40B4-BE49-F238E27FC236}">
                <a16:creationId xmlns:a16="http://schemas.microsoft.com/office/drawing/2014/main" id="{195B2B31-E292-4FD9-A534-1FE1E5DD1B17}"/>
              </a:ext>
            </a:extLst>
          </p:cNvPr>
          <p:cNvGraphicFramePr>
            <a:graphicFrameLocks noGrp="1"/>
          </p:cNvGraphicFramePr>
          <p:nvPr>
            <p:extLst>
              <p:ext uri="{D42A27DB-BD31-4B8C-83A1-F6EECF244321}">
                <p14:modId xmlns:p14="http://schemas.microsoft.com/office/powerpoint/2010/main" val="3691849685"/>
              </p:ext>
            </p:extLst>
          </p:nvPr>
        </p:nvGraphicFramePr>
        <p:xfrm>
          <a:off x="306552" y="1022915"/>
          <a:ext cx="11574936" cy="4657200"/>
        </p:xfrm>
        <a:graphic>
          <a:graphicData uri="http://schemas.openxmlformats.org/drawingml/2006/table">
            <a:tbl>
              <a:tblPr bandRow="1">
                <a:tableStyleId>{5C22544A-7EE6-4342-B048-85BDC9FD1C3A}</a:tableStyleId>
              </a:tblPr>
              <a:tblGrid>
                <a:gridCol w="621861">
                  <a:extLst>
                    <a:ext uri="{9D8B030D-6E8A-4147-A177-3AD203B41FA5}">
                      <a16:colId xmlns:a16="http://schemas.microsoft.com/office/drawing/2014/main" val="2526309609"/>
                    </a:ext>
                  </a:extLst>
                </a:gridCol>
                <a:gridCol w="1693297">
                  <a:extLst>
                    <a:ext uri="{9D8B030D-6E8A-4147-A177-3AD203B41FA5}">
                      <a16:colId xmlns:a16="http://schemas.microsoft.com/office/drawing/2014/main" val="3539956928"/>
                    </a:ext>
                  </a:extLst>
                </a:gridCol>
                <a:gridCol w="569309">
                  <a:extLst>
                    <a:ext uri="{9D8B030D-6E8A-4147-A177-3AD203B41FA5}">
                      <a16:colId xmlns:a16="http://schemas.microsoft.com/office/drawing/2014/main" val="1888988806"/>
                    </a:ext>
                  </a:extLst>
                </a:gridCol>
                <a:gridCol w="1246195">
                  <a:extLst>
                    <a:ext uri="{9D8B030D-6E8A-4147-A177-3AD203B41FA5}">
                      <a16:colId xmlns:a16="http://schemas.microsoft.com/office/drawing/2014/main" val="3093504858"/>
                    </a:ext>
                  </a:extLst>
                </a:gridCol>
                <a:gridCol w="726272">
                  <a:extLst>
                    <a:ext uri="{9D8B030D-6E8A-4147-A177-3AD203B41FA5}">
                      <a16:colId xmlns:a16="http://schemas.microsoft.com/office/drawing/2014/main" val="311103705"/>
                    </a:ext>
                  </a:extLst>
                </a:gridCol>
                <a:gridCol w="578745">
                  <a:extLst>
                    <a:ext uri="{9D8B030D-6E8A-4147-A177-3AD203B41FA5}">
                      <a16:colId xmlns:a16="http://schemas.microsoft.com/office/drawing/2014/main" val="2431139110"/>
                    </a:ext>
                  </a:extLst>
                </a:gridCol>
                <a:gridCol w="683171">
                  <a:extLst>
                    <a:ext uri="{9D8B030D-6E8A-4147-A177-3AD203B41FA5}">
                      <a16:colId xmlns:a16="http://schemas.microsoft.com/office/drawing/2014/main" val="191658925"/>
                    </a:ext>
                  </a:extLst>
                </a:gridCol>
                <a:gridCol w="683171">
                  <a:extLst>
                    <a:ext uri="{9D8B030D-6E8A-4147-A177-3AD203B41FA5}">
                      <a16:colId xmlns:a16="http://schemas.microsoft.com/office/drawing/2014/main" val="3139538292"/>
                    </a:ext>
                  </a:extLst>
                </a:gridCol>
                <a:gridCol w="560551">
                  <a:extLst>
                    <a:ext uri="{9D8B030D-6E8A-4147-A177-3AD203B41FA5}">
                      <a16:colId xmlns:a16="http://schemas.microsoft.com/office/drawing/2014/main" val="2090825599"/>
                    </a:ext>
                  </a:extLst>
                </a:gridCol>
                <a:gridCol w="4212364">
                  <a:extLst>
                    <a:ext uri="{9D8B030D-6E8A-4147-A177-3AD203B41FA5}">
                      <a16:colId xmlns:a16="http://schemas.microsoft.com/office/drawing/2014/main" val="3180520225"/>
                    </a:ext>
                  </a:extLst>
                </a:gridCol>
              </a:tblGrid>
              <a:tr h="984950">
                <a:tc>
                  <a:txBody>
                    <a:bodyPr/>
                    <a:lstStyle/>
                    <a:p>
                      <a:pPr algn="ctr">
                        <a:buNone/>
                      </a:pPr>
                      <a:r>
                        <a:rPr lang="en-US" sz="1000" b="1">
                          <a:solidFill>
                            <a:schemeClr val="bg1"/>
                          </a:solidFill>
                          <a:effectLst/>
                          <a:latin typeface="Raleway"/>
                        </a:rPr>
                        <a:t>Tanggal 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Business 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Kategori</a:t>
                      </a:r>
                      <a:r>
                        <a:rPr lang="en-US" sz="1000" b="1">
                          <a:solidFill>
                            <a:schemeClr val="bg1"/>
                          </a:solidFill>
                          <a:effectLst/>
                          <a:latin typeface="Raleway"/>
                        </a:rPr>
                        <a:t> </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SLA Target </a:t>
                      </a:r>
                      <a:r>
                        <a:rPr lang="en-US" sz="1000" b="1" err="1">
                          <a:solidFill>
                            <a:schemeClr val="bg1"/>
                          </a:solidFill>
                          <a:effectLst/>
                          <a:latin typeface="Raleway"/>
                        </a:rPr>
                        <a:t>Pemenuhan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Jumlah</a:t>
                      </a:r>
                      <a:r>
                        <a:rPr lang="en-US" sz="1000" b="1">
                          <a:solidFill>
                            <a:schemeClr val="bg1"/>
                          </a:solidFill>
                          <a:effectLst/>
                          <a:latin typeface="Raleway"/>
                        </a:rPr>
                        <a:t> </a:t>
                      </a:r>
                      <a:r>
                        <a:rPr lang="en-US" sz="1000" b="1" err="1">
                          <a:solidFill>
                            <a:schemeClr val="bg1"/>
                          </a:solidFill>
                          <a:effectLst/>
                          <a:latin typeface="Raleway"/>
                        </a:rPr>
                        <a:t>Permintaan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Status </a:t>
                      </a:r>
                      <a:r>
                        <a:rPr lang="en-US" sz="1000" b="1" err="1">
                          <a:solidFill>
                            <a:schemeClr val="bg1"/>
                          </a:solidFill>
                          <a:effectLst/>
                          <a:latin typeface="Raleway"/>
                        </a:rPr>
                        <a:t>Rekrutmen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4034120847"/>
                  </a:ext>
                </a:extLst>
              </a:tr>
              <a:tr h="899300">
                <a:tc>
                  <a:txBody>
                    <a:bodyPr/>
                    <a:lstStyle/>
                    <a:p>
                      <a:pPr algn="ctr">
                        <a:buNone/>
                      </a:pPr>
                      <a:r>
                        <a:rPr lang="en-US" sz="1000">
                          <a:effectLst/>
                          <a:latin typeface="Raleway"/>
                        </a:rPr>
                        <a:t>12-Dec-25</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1000">
                          <a:effectLst/>
                          <a:latin typeface="Raleway"/>
                        </a:rPr>
                        <a:t>Brand Manager - Ready to Eat </a:t>
                      </a:r>
                      <a:r>
                        <a:rPr lang="en-US" sz="1000" err="1">
                          <a:effectLst/>
                          <a:latin typeface="Raleway"/>
                        </a:rPr>
                        <a:t>Sosis</a:t>
                      </a:r>
                      <a:r>
                        <a:rPr lang="en-US" sz="1000">
                          <a:effectLst/>
                          <a:latin typeface="Raleway"/>
                        </a:rPr>
                        <a:t> Non Sauce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4A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26-Jan-26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Victor</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l">
                        <a:buNone/>
                      </a:pPr>
                      <a:r>
                        <a:rPr lang="en-US" sz="900" b="0" i="0" u="none" strike="noStrike" noProof="0">
                          <a:solidFill>
                            <a:srgbClr val="000000"/>
                          </a:solidFill>
                          <a:effectLst/>
                          <a:latin typeface="Raleway"/>
                        </a:rPr>
                        <a:t>W30: Alvin </a:t>
                      </a:r>
                      <a:r>
                        <a:rPr lang="en-US" sz="900" b="0" i="0" u="none" strike="noStrike" noProof="0" err="1">
                          <a:solidFill>
                            <a:srgbClr val="000000"/>
                          </a:solidFill>
                          <a:effectLst/>
                          <a:latin typeface="Raleway"/>
                        </a:rPr>
                        <a:t>Presentasi</a:t>
                      </a:r>
                      <a:r>
                        <a:rPr lang="en-US" sz="900" b="0" i="0" u="none" strike="noStrike" noProof="0">
                          <a:solidFill>
                            <a:srgbClr val="000000"/>
                          </a:solidFill>
                          <a:effectLst/>
                          <a:latin typeface="Raleway"/>
                        </a:rPr>
                        <a:t> 20 Jul 2026 - KEEP</a:t>
                      </a:r>
                    </a:p>
                    <a:p>
                      <a:pPr lvl="0" algn="l">
                        <a:buNone/>
                      </a:pPr>
                      <a:r>
                        <a:rPr lang="en-US" sz="900" b="0" i="0" u="none" strike="noStrike" noProof="0">
                          <a:solidFill>
                            <a:srgbClr val="000000"/>
                          </a:solidFill>
                          <a:effectLst/>
                          <a:latin typeface="Raleway"/>
                        </a:rPr>
                        <a:t>W30: 4 </a:t>
                      </a:r>
                      <a:r>
                        <a:rPr lang="en-US" sz="900" b="0" i="0" u="none" strike="noStrike" noProof="0" err="1">
                          <a:solidFill>
                            <a:srgbClr val="000000"/>
                          </a:solidFill>
                          <a:effectLst/>
                          <a:latin typeface="Raleway"/>
                        </a:rPr>
                        <a:t>kandidat</a:t>
                      </a:r>
                      <a:r>
                        <a:rPr lang="en-US" sz="900" b="0" i="0" u="none" strike="noStrike" noProof="0">
                          <a:solidFill>
                            <a:srgbClr val="000000"/>
                          </a:solidFill>
                          <a:effectLst/>
                          <a:latin typeface="Raleway"/>
                        </a:rPr>
                        <a:t> Panel Interview an. Jennifer Handaja, Adeline Liuputri, Khairina Shauma, Catherine Florencia -&gt; Khairina OK to Case Study</a:t>
                      </a:r>
                    </a:p>
                    <a:p>
                      <a:pPr lvl="0" algn="l">
                        <a:buNone/>
                      </a:pPr>
                      <a:r>
                        <a:rPr lang="en-US" sz="900" b="0" i="0" u="none" strike="noStrike" noProof="0">
                          <a:solidFill>
                            <a:srgbClr val="000000"/>
                          </a:solidFill>
                          <a:effectLst/>
                          <a:latin typeface="Raleway"/>
                        </a:rPr>
                        <a:t>W31: 7 </a:t>
                      </a:r>
                      <a:r>
                        <a:rPr lang="en-US" sz="900" b="0" i="0" u="none" strike="noStrike" noProof="0" err="1">
                          <a:solidFill>
                            <a:srgbClr val="000000"/>
                          </a:solidFill>
                          <a:effectLst/>
                          <a:latin typeface="Raleway"/>
                        </a:rPr>
                        <a:t>kandidat</a:t>
                      </a:r>
                      <a:r>
                        <a:rPr lang="en-US" sz="900" b="0" i="0" u="none" strike="noStrike" noProof="0">
                          <a:solidFill>
                            <a:srgbClr val="000000"/>
                          </a:solidFill>
                          <a:effectLst/>
                          <a:latin typeface="Raleway"/>
                        </a:rPr>
                        <a:t> Panel Interview an. Kelvin Rachmad, Isni Nur, Rio Rahman, Kenny, Nadia Shakira, Agnes Kumala, Mahira </a:t>
                      </a:r>
                      <a:r>
                        <a:rPr lang="en-US" sz="900" b="0" i="0" u="none" strike="noStrike" noProof="0" err="1">
                          <a:solidFill>
                            <a:srgbClr val="000000"/>
                          </a:solidFill>
                          <a:effectLst/>
                          <a:latin typeface="Raleway"/>
                        </a:rPr>
                        <a:t>Kinasih</a:t>
                      </a:r>
                      <a:endParaRPr lang="en-US" sz="900" b="0" i="0" u="none" strike="noStrike" noProof="0">
                        <a:solidFill>
                          <a:srgbClr val="000000"/>
                        </a:solidFill>
                        <a:effectLst/>
                        <a:latin typeface="Raleway"/>
                      </a:endParaRPr>
                    </a:p>
                    <a:p>
                      <a:pPr lvl="0" algn="l">
                        <a:buNone/>
                      </a:pPr>
                      <a:r>
                        <a:rPr lang="en-US" sz="900" b="0" i="0" u="none" strike="noStrike" noProof="0">
                          <a:solidFill>
                            <a:srgbClr val="000000"/>
                          </a:solidFill>
                          <a:effectLst/>
                          <a:latin typeface="Raleway"/>
                        </a:rPr>
                        <a:t>W31: </a:t>
                      </a:r>
                      <a:r>
                        <a:rPr lang="en-US" sz="900" b="0" i="0" u="none" strike="noStrike" noProof="0" err="1">
                          <a:solidFill>
                            <a:srgbClr val="000000"/>
                          </a:solidFill>
                          <a:effectLst/>
                          <a:latin typeface="Raleway"/>
                        </a:rPr>
                        <a:t>Presentasi</a:t>
                      </a:r>
                      <a:r>
                        <a:rPr lang="en-US" sz="900" b="0" i="0" u="none" strike="noStrike" noProof="0">
                          <a:solidFill>
                            <a:srgbClr val="000000"/>
                          </a:solidFill>
                          <a:effectLst/>
                          <a:latin typeface="Raleway"/>
                        </a:rPr>
                        <a:t> – Johanes Michael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00"/>
                    </a:solidFill>
                  </a:tcPr>
                </a:tc>
                <a:extLst>
                  <a:ext uri="{0D108BD9-81ED-4DB2-BD59-A6C34878D82A}">
                    <a16:rowId xmlns:a16="http://schemas.microsoft.com/office/drawing/2014/main" val="923337897"/>
                  </a:ext>
                </a:extLst>
              </a:tr>
              <a:tr h="685180">
                <a:tc>
                  <a:txBody>
                    <a:bodyPr/>
                    <a:lstStyle/>
                    <a:p>
                      <a:pPr algn="ctr">
                        <a:buNone/>
                      </a:pPr>
                      <a:r>
                        <a:rPr lang="en-US" sz="1000">
                          <a:effectLst/>
                          <a:latin typeface="Raleway"/>
                        </a:rPr>
                        <a:t>06-Feb-26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1000">
                          <a:effectLst/>
                          <a:latin typeface="Raleway"/>
                        </a:rPr>
                        <a:t>Area Sales Manager - Jawa Tengah 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4A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17-Jul-26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Brittney</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Send 6 CVs to user di Week 33</a:t>
                      </a:r>
                      <a:br>
                        <a:rPr lang="en-US" sz="1000">
                          <a:effectLst/>
                          <a:latin typeface="Raleway"/>
                        </a:rPr>
                      </a:br>
                      <a:r>
                        <a:rPr lang="en-US" sz="1000">
                          <a:effectLst/>
                          <a:latin typeface="Raleway"/>
                        </a:rPr>
                        <a:t>Next Action: Panel interview </a:t>
                      </a:r>
                      <a:r>
                        <a:rPr lang="en-US" sz="1000" err="1">
                          <a:effectLst/>
                          <a:latin typeface="Raleway"/>
                        </a:rPr>
                        <a:t>kandidat</a:t>
                      </a:r>
                      <a:r>
                        <a:rPr lang="en-US" sz="1000">
                          <a:effectLst/>
                          <a:latin typeface="Raleway"/>
                        </a:rPr>
                        <a:t> shortlisted user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073310836"/>
                  </a:ext>
                </a:extLst>
              </a:tr>
              <a:tr h="702310">
                <a:tc>
                  <a:txBody>
                    <a:bodyPr/>
                    <a:lstStyle/>
                    <a:p>
                      <a:pPr algn="ctr">
                        <a:buNone/>
                      </a:pPr>
                      <a:r>
                        <a:rPr lang="en-US" sz="1000">
                          <a:effectLst/>
                          <a:latin typeface="Raleway"/>
                        </a:rPr>
                        <a:t>07-Sep-26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1000">
                          <a:effectLst/>
                          <a:latin typeface="Raleway"/>
                        </a:rPr>
                        <a:t>Area Sales Manager - Bali Nusra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4A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23-Aug-26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Brittney</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err="1">
                          <a:effectLst/>
                          <a:latin typeface="Raleway"/>
                        </a:rPr>
                        <a:t>Kandidat</a:t>
                      </a:r>
                      <a:r>
                        <a:rPr lang="en-US" sz="1000">
                          <a:effectLst/>
                          <a:latin typeface="Raleway"/>
                        </a:rPr>
                        <a:t> an Putu Nadya </a:t>
                      </a:r>
                      <a:r>
                        <a:rPr lang="en-US" sz="1000" err="1">
                          <a:effectLst/>
                          <a:latin typeface="Raleway"/>
                        </a:rPr>
                        <a:t>pemberkasan</a:t>
                      </a:r>
                      <a:r>
                        <a:rPr lang="en-US" sz="1000">
                          <a:effectLst/>
                          <a:latin typeface="Raleway"/>
                        </a:rPr>
                        <a:t> dan </a:t>
                      </a:r>
                      <a:r>
                        <a:rPr lang="en-US" sz="1000" err="1">
                          <a:effectLst/>
                          <a:latin typeface="Raleway"/>
                        </a:rPr>
                        <a:t>refcheck</a:t>
                      </a:r>
                      <a:r>
                        <a:rPr lang="en-US" sz="1000">
                          <a:effectLst/>
                          <a:latin typeface="Raleway"/>
                        </a:rPr>
                        <a:t> di Week 33</a:t>
                      </a:r>
                      <a:br>
                        <a:rPr lang="en-US" sz="1000">
                          <a:effectLst/>
                          <a:latin typeface="Raleway"/>
                        </a:rPr>
                      </a:br>
                      <a:r>
                        <a:rPr lang="en-US" sz="1000">
                          <a:effectLst/>
                          <a:latin typeface="Raleway"/>
                        </a:rPr>
                        <a:t>Next Action: </a:t>
                      </a:r>
                      <a:r>
                        <a:rPr lang="en-US" sz="1000" err="1">
                          <a:effectLst/>
                          <a:latin typeface="Raleway"/>
                        </a:rPr>
                        <a:t>Menentukan</a:t>
                      </a:r>
                      <a:r>
                        <a:rPr lang="en-US" sz="1000">
                          <a:effectLst/>
                          <a:latin typeface="Raleway"/>
                        </a:rPr>
                        <a:t> </a:t>
                      </a:r>
                      <a:r>
                        <a:rPr lang="en-US" sz="1000" err="1">
                          <a:effectLst/>
                          <a:latin typeface="Raleway"/>
                        </a:rPr>
                        <a:t>jadwal</a:t>
                      </a:r>
                      <a:r>
                        <a:rPr lang="en-US" sz="1000">
                          <a:effectLst/>
                          <a:latin typeface="Raleway"/>
                        </a:rPr>
                        <a:t> panel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3560144446"/>
                  </a:ext>
                </a:extLst>
              </a:tr>
              <a:tr h="685180">
                <a:tc>
                  <a:txBody>
                    <a:bodyPr/>
                    <a:lstStyle/>
                    <a:p>
                      <a:pPr algn="ctr">
                        <a:buNone/>
                      </a:pPr>
                      <a:r>
                        <a:rPr lang="en-US" sz="1000">
                          <a:effectLst/>
                          <a:latin typeface="Raleway"/>
                        </a:rPr>
                        <a:t>08-Apr-26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1000">
                          <a:effectLst/>
                          <a:latin typeface="Raleway"/>
                        </a:rPr>
                        <a:t>Area Sales Manager - Kalimantan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4A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18-Sep-26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Brittney</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err="1">
                          <a:effectLst/>
                          <a:latin typeface="Raleway"/>
                        </a:rPr>
                        <a:t>Kandidat</a:t>
                      </a:r>
                      <a:r>
                        <a:rPr lang="en-US" sz="1000">
                          <a:effectLst/>
                          <a:latin typeface="Raleway"/>
                        </a:rPr>
                        <a:t> an Janet Petra </a:t>
                      </a:r>
                      <a:r>
                        <a:rPr lang="en-US" sz="1000" err="1">
                          <a:effectLst/>
                          <a:latin typeface="Raleway"/>
                        </a:rPr>
                        <a:t>pemberkasan</a:t>
                      </a:r>
                      <a:r>
                        <a:rPr lang="en-US" sz="1000">
                          <a:effectLst/>
                          <a:latin typeface="Raleway"/>
                        </a:rPr>
                        <a:t> dan </a:t>
                      </a:r>
                      <a:r>
                        <a:rPr lang="en-US" sz="1000" err="1">
                          <a:effectLst/>
                          <a:latin typeface="Raleway"/>
                        </a:rPr>
                        <a:t>refcheck</a:t>
                      </a:r>
                      <a:r>
                        <a:rPr lang="en-US" sz="1000">
                          <a:effectLst/>
                          <a:latin typeface="Raleway"/>
                        </a:rPr>
                        <a:t> di Week 33</a:t>
                      </a:r>
                      <a:br>
                        <a:rPr lang="en-US" sz="1000">
                          <a:effectLst/>
                          <a:latin typeface="Raleway"/>
                        </a:rPr>
                      </a:br>
                      <a:r>
                        <a:rPr lang="en-US" sz="1000">
                          <a:effectLst/>
                          <a:latin typeface="Raleway"/>
                        </a:rPr>
                        <a:t>Next Action: Approval offering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552441183"/>
                  </a:ext>
                </a:extLst>
              </a:tr>
              <a:tr h="685180">
                <a:tc>
                  <a:txBody>
                    <a:bodyPr/>
                    <a:lstStyle/>
                    <a:p>
                      <a:pPr algn="ctr">
                        <a:buNone/>
                      </a:pPr>
                      <a:r>
                        <a:rPr lang="en-US" sz="1000">
                          <a:effectLst/>
                          <a:latin typeface="Raleway"/>
                        </a:rPr>
                        <a:t>28-Jul-26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1000">
                          <a:effectLst/>
                          <a:latin typeface="Raleway"/>
                        </a:rPr>
                        <a:t>Area Sales Manager - Jawa Timur 2</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4A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09-Nov-26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Brittney</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Send 3 CVs to user di Week 33</a:t>
                      </a:r>
                      <a:br>
                        <a:rPr lang="en-US" sz="1000">
                          <a:effectLst/>
                          <a:latin typeface="Raleway"/>
                        </a:rPr>
                      </a:br>
                      <a:r>
                        <a:rPr lang="en-US" sz="1000">
                          <a:effectLst/>
                          <a:latin typeface="Raleway"/>
                        </a:rPr>
                        <a:t>Next Action: Panel interview </a:t>
                      </a:r>
                      <a:r>
                        <a:rPr lang="en-US" sz="1000" err="1">
                          <a:effectLst/>
                          <a:latin typeface="Raleway"/>
                        </a:rPr>
                        <a:t>kandidat</a:t>
                      </a:r>
                      <a:r>
                        <a:rPr lang="en-US" sz="1000">
                          <a:effectLst/>
                          <a:latin typeface="Raleway"/>
                        </a:rPr>
                        <a:t> shortlisted user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3753177538"/>
                  </a:ext>
                </a:extLst>
              </a:tr>
            </a:tbl>
          </a:graphicData>
        </a:graphic>
      </p:graphicFrame>
      <p:sp>
        <p:nvSpPr>
          <p:cNvPr id="5" name="Text 0">
            <a:extLst>
              <a:ext uri="{FF2B5EF4-FFF2-40B4-BE49-F238E27FC236}">
                <a16:creationId xmlns:a16="http://schemas.microsoft.com/office/drawing/2014/main" id="{340486E8-E02C-F593-5258-22C571FF8577}"/>
              </a:ext>
            </a:extLst>
          </p:cNvPr>
          <p:cNvSpPr/>
          <p:nvPr/>
        </p:nvSpPr>
        <p:spPr>
          <a:xfrm>
            <a:off x="304952" y="477646"/>
            <a:ext cx="11277295" cy="548640"/>
          </a:xfrm>
          <a:prstGeom prst="rect">
            <a:avLst/>
          </a:prstGeom>
          <a:noFill/>
          <a:ln/>
        </p:spPr>
        <p:txBody>
          <a:bodyPr wrap="square" lIns="91440" tIns="45720" rIns="91440" bIns="45720" rtlCol="0" anchor="ctr"/>
          <a:lstStyle/>
          <a:p>
            <a:r>
              <a:rPr lang="en-US" sz="2600" b="1">
                <a:solidFill>
                  <a:srgbClr val="12284C"/>
                </a:solidFill>
                <a:latin typeface="Raleway"/>
                <a:ea typeface="Georgia" pitchFamily="34" charset="-122"/>
                <a:cs typeface="Georgia" pitchFamily="34" charset="-120"/>
              </a:rPr>
              <a:t>15 FPTK — Manager: Recruitment Update</a:t>
            </a:r>
            <a:endParaRPr lang="en-US" sz="2600">
              <a:latin typeface="Raleway"/>
            </a:endParaRPr>
          </a:p>
        </p:txBody>
      </p:sp>
    </p:spTree>
    <p:extLst>
      <p:ext uri="{BB962C8B-B14F-4D97-AF65-F5344CB8AC3E}">
        <p14:creationId xmlns:p14="http://schemas.microsoft.com/office/powerpoint/2010/main" val="217578954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0FB5FF-7BE7-C03F-5ED3-F95BD796022A}"/>
            </a:ext>
          </a:extLst>
        </p:cNvPr>
        <p:cNvGrpSpPr/>
        <p:nvPr/>
      </p:nvGrpSpPr>
      <p:grpSpPr>
        <a:xfrm>
          <a:off x="0" y="0"/>
          <a:ext cx="0" cy="0"/>
          <a:chOff x="0" y="0"/>
          <a:chExt cx="0" cy="0"/>
        </a:xfrm>
      </p:grpSpPr>
      <p:graphicFrame>
        <p:nvGraphicFramePr>
          <p:cNvPr id="4" name="Table 3">
            <a:extLst>
              <a:ext uri="{FF2B5EF4-FFF2-40B4-BE49-F238E27FC236}">
                <a16:creationId xmlns:a16="http://schemas.microsoft.com/office/drawing/2014/main" id="{5C7DB5BF-B4D8-9DBF-1B56-D608F0BCD084}"/>
              </a:ext>
            </a:extLst>
          </p:cNvPr>
          <p:cNvGraphicFramePr>
            <a:graphicFrameLocks noGrp="1"/>
          </p:cNvGraphicFramePr>
          <p:nvPr>
            <p:extLst>
              <p:ext uri="{D42A27DB-BD31-4B8C-83A1-F6EECF244321}">
                <p14:modId xmlns:p14="http://schemas.microsoft.com/office/powerpoint/2010/main" val="576003896"/>
              </p:ext>
            </p:extLst>
          </p:nvPr>
        </p:nvGraphicFramePr>
        <p:xfrm>
          <a:off x="201448" y="709448"/>
          <a:ext cx="11758866" cy="5190065"/>
        </p:xfrm>
        <a:graphic>
          <a:graphicData uri="http://schemas.openxmlformats.org/drawingml/2006/table">
            <a:tbl>
              <a:tblPr bandRow="1">
                <a:tableStyleId>{5C22544A-7EE6-4342-B048-85BDC9FD1C3A}</a:tableStyleId>
              </a:tblPr>
              <a:tblGrid>
                <a:gridCol w="748085">
                  <a:extLst>
                    <a:ext uri="{9D8B030D-6E8A-4147-A177-3AD203B41FA5}">
                      <a16:colId xmlns:a16="http://schemas.microsoft.com/office/drawing/2014/main" val="1545605935"/>
                    </a:ext>
                  </a:extLst>
                </a:gridCol>
                <a:gridCol w="1611586">
                  <a:extLst>
                    <a:ext uri="{9D8B030D-6E8A-4147-A177-3AD203B41FA5}">
                      <a16:colId xmlns:a16="http://schemas.microsoft.com/office/drawing/2014/main" val="1591198215"/>
                    </a:ext>
                  </a:extLst>
                </a:gridCol>
                <a:gridCol w="569310">
                  <a:extLst>
                    <a:ext uri="{9D8B030D-6E8A-4147-A177-3AD203B41FA5}">
                      <a16:colId xmlns:a16="http://schemas.microsoft.com/office/drawing/2014/main" val="432485578"/>
                    </a:ext>
                  </a:extLst>
                </a:gridCol>
                <a:gridCol w="1267317">
                  <a:extLst>
                    <a:ext uri="{9D8B030D-6E8A-4147-A177-3AD203B41FA5}">
                      <a16:colId xmlns:a16="http://schemas.microsoft.com/office/drawing/2014/main" val="1806927685"/>
                    </a:ext>
                  </a:extLst>
                </a:gridCol>
                <a:gridCol w="737811">
                  <a:extLst>
                    <a:ext uri="{9D8B030D-6E8A-4147-A177-3AD203B41FA5}">
                      <a16:colId xmlns:a16="http://schemas.microsoft.com/office/drawing/2014/main" val="3409219443"/>
                    </a:ext>
                  </a:extLst>
                </a:gridCol>
                <a:gridCol w="587943">
                  <a:extLst>
                    <a:ext uri="{9D8B030D-6E8A-4147-A177-3AD203B41FA5}">
                      <a16:colId xmlns:a16="http://schemas.microsoft.com/office/drawing/2014/main" val="77879520"/>
                    </a:ext>
                  </a:extLst>
                </a:gridCol>
                <a:gridCol w="945321">
                  <a:extLst>
                    <a:ext uri="{9D8B030D-6E8A-4147-A177-3AD203B41FA5}">
                      <a16:colId xmlns:a16="http://schemas.microsoft.com/office/drawing/2014/main" val="1761874154"/>
                    </a:ext>
                  </a:extLst>
                </a:gridCol>
                <a:gridCol w="553356">
                  <a:extLst>
                    <a:ext uri="{9D8B030D-6E8A-4147-A177-3AD203B41FA5}">
                      <a16:colId xmlns:a16="http://schemas.microsoft.com/office/drawing/2014/main" val="1807633787"/>
                    </a:ext>
                  </a:extLst>
                </a:gridCol>
                <a:gridCol w="553356">
                  <a:extLst>
                    <a:ext uri="{9D8B030D-6E8A-4147-A177-3AD203B41FA5}">
                      <a16:colId xmlns:a16="http://schemas.microsoft.com/office/drawing/2014/main" val="2919857763"/>
                    </a:ext>
                  </a:extLst>
                </a:gridCol>
                <a:gridCol w="4184781">
                  <a:extLst>
                    <a:ext uri="{9D8B030D-6E8A-4147-A177-3AD203B41FA5}">
                      <a16:colId xmlns:a16="http://schemas.microsoft.com/office/drawing/2014/main" val="3269260510"/>
                    </a:ext>
                  </a:extLst>
                </a:gridCol>
              </a:tblGrid>
              <a:tr h="1491689">
                <a:tc>
                  <a:txBody>
                    <a:bodyPr/>
                    <a:lstStyle/>
                    <a:p>
                      <a:pPr algn="ctr">
                        <a:buNone/>
                      </a:pPr>
                      <a:r>
                        <a:rPr lang="en-US" b="1">
                          <a:solidFill>
                            <a:schemeClr val="bg1"/>
                          </a:solidFill>
                          <a:effectLst/>
                        </a:rPr>
                        <a:t>Tanggal 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b="1" err="1">
                          <a:solidFill>
                            <a:schemeClr val="bg1"/>
                          </a:solidFill>
                          <a:effectLst/>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b="1">
                          <a:solidFill>
                            <a:schemeClr val="bg1"/>
                          </a:solidFill>
                          <a:effectLst/>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b="1">
                          <a:solidFill>
                            <a:schemeClr val="bg1"/>
                          </a:solidFill>
                          <a:effectLst/>
                          <a:latin typeface="Raleway"/>
                        </a:rPr>
                        <a:t>Business 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b="1" err="1">
                          <a:solidFill>
                            <a:schemeClr val="bg1"/>
                          </a:solidFill>
                          <a:effectLst/>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b="1">
                          <a:solidFill>
                            <a:schemeClr val="bg1"/>
                          </a:solidFill>
                          <a:effectLst/>
                          <a:latin typeface="Raleway"/>
                        </a:rPr>
                        <a:t>SLA Target </a:t>
                      </a:r>
                      <a:r>
                        <a:rPr lang="en-US" b="1" err="1">
                          <a:solidFill>
                            <a:schemeClr val="bg1"/>
                          </a:solidFill>
                          <a:effectLst/>
                          <a:latin typeface="Raleway"/>
                        </a:rPr>
                        <a:t>Pemenuhan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b="1">
                          <a:solidFill>
                            <a:schemeClr val="bg1"/>
                          </a:solidFill>
                          <a:effectLst/>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b="1" err="1">
                          <a:solidFill>
                            <a:schemeClr val="bg1"/>
                          </a:solidFill>
                          <a:effectLst/>
                          <a:latin typeface="Raleway"/>
                        </a:rPr>
                        <a:t>Jumlah</a:t>
                      </a:r>
                      <a:r>
                        <a:rPr lang="en-US" b="1">
                          <a:solidFill>
                            <a:schemeClr val="bg1"/>
                          </a:solidFill>
                          <a:effectLst/>
                          <a:latin typeface="Raleway"/>
                        </a:rPr>
                        <a:t> </a:t>
                      </a:r>
                      <a:r>
                        <a:rPr lang="en-US" b="1" err="1">
                          <a:solidFill>
                            <a:schemeClr val="bg1"/>
                          </a:solidFill>
                          <a:effectLst/>
                          <a:latin typeface="Raleway"/>
                        </a:rPr>
                        <a:t>Permintaan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b="1">
                          <a:solidFill>
                            <a:schemeClr val="bg1"/>
                          </a:solidFill>
                          <a:effectLst/>
                          <a:latin typeface="Raleway"/>
                        </a:rPr>
                        <a:t>Status </a:t>
                      </a:r>
                      <a:r>
                        <a:rPr lang="en-US" b="1" err="1">
                          <a:solidFill>
                            <a:schemeClr val="bg1"/>
                          </a:solidFill>
                          <a:effectLst/>
                          <a:latin typeface="Raleway"/>
                        </a:rPr>
                        <a:t>Rekrutmen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b="1">
                          <a:solidFill>
                            <a:schemeClr val="bg1"/>
                          </a:solidFill>
                          <a:effectLst/>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2260155818"/>
                  </a:ext>
                </a:extLst>
              </a:tr>
              <a:tr h="825400">
                <a:tc>
                  <a:txBody>
                    <a:bodyPr/>
                    <a:lstStyle/>
                    <a:p>
                      <a:pPr algn="ctr">
                        <a:buNone/>
                      </a:pPr>
                      <a:r>
                        <a:rPr lang="en-US" sz="1000">
                          <a:effectLst/>
                          <a:latin typeface="Raleway"/>
                        </a:rPr>
                        <a:t>06-Feb-26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Direct Procurement Manager - Packaging Material</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4A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17-Jul-26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Pauline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l">
                        <a:buNone/>
                      </a:pPr>
                      <a:r>
                        <a:rPr lang="en-US" sz="1100" b="0" i="0" u="none" strike="noStrike" noProof="0">
                          <a:solidFill>
                            <a:srgbClr val="000000"/>
                          </a:solidFill>
                          <a:effectLst/>
                          <a:latin typeface="Raleway"/>
                        </a:rPr>
                        <a:t>5 Jul 2026: 5 </a:t>
                      </a:r>
                      <a:r>
                        <a:rPr lang="en-US" sz="1100" b="0" i="0" u="none" strike="noStrike" noProof="0" err="1">
                          <a:solidFill>
                            <a:srgbClr val="000000"/>
                          </a:solidFill>
                          <a:effectLst/>
                          <a:latin typeface="Raleway"/>
                        </a:rPr>
                        <a:t>kandidat</a:t>
                      </a:r>
                      <a:r>
                        <a:rPr lang="en-US" sz="1100" b="0" i="0" u="none" strike="noStrike" noProof="0">
                          <a:solidFill>
                            <a:srgbClr val="000000"/>
                          </a:solidFill>
                          <a:effectLst/>
                          <a:latin typeface="Raleway"/>
                        </a:rPr>
                        <a:t> DROP di User Review</a:t>
                      </a:r>
                    </a:p>
                    <a:p>
                      <a:pPr lvl="0" algn="l">
                        <a:buNone/>
                      </a:pPr>
                      <a:r>
                        <a:rPr lang="en-US" sz="1100" b="0" i="0" u="none" strike="noStrike" noProof="0">
                          <a:solidFill>
                            <a:srgbClr val="000000"/>
                          </a:solidFill>
                          <a:effectLst/>
                          <a:latin typeface="Raleway"/>
                        </a:rPr>
                        <a:t>10 Jul 2026: Sent 99 </a:t>
                      </a:r>
                      <a:r>
                        <a:rPr lang="en-US" sz="1100" b="0" i="0" u="none" strike="noStrike" noProof="0" err="1">
                          <a:solidFill>
                            <a:srgbClr val="000000"/>
                          </a:solidFill>
                          <a:effectLst/>
                          <a:latin typeface="Raleway"/>
                        </a:rPr>
                        <a:t>kandidat</a:t>
                      </a:r>
                      <a:r>
                        <a:rPr lang="en-US" sz="1100" b="0" i="0" u="none" strike="noStrike" noProof="0">
                          <a:solidFill>
                            <a:srgbClr val="000000"/>
                          </a:solidFill>
                          <a:effectLst/>
                          <a:latin typeface="Raleway"/>
                        </a:rPr>
                        <a:t> for User Review -&gt; follow up User Review di W30</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00"/>
                    </a:solidFill>
                  </a:tcPr>
                </a:tc>
                <a:extLst>
                  <a:ext uri="{0D108BD9-81ED-4DB2-BD59-A6C34878D82A}">
                    <a16:rowId xmlns:a16="http://schemas.microsoft.com/office/drawing/2014/main" val="1945022770"/>
                  </a:ext>
                </a:extLst>
              </a:tr>
              <a:tr h="586729">
                <a:tc>
                  <a:txBody>
                    <a:bodyPr/>
                    <a:lstStyle/>
                    <a:p>
                      <a:pPr algn="ctr">
                        <a:buNone/>
                      </a:pPr>
                      <a:r>
                        <a:rPr lang="en-US" sz="1000">
                          <a:effectLst/>
                          <a:latin typeface="Raleway"/>
                        </a:rPr>
                        <a:t>06-May-26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Engineering Manager - JESS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4A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20-Jul-26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Pauline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l">
                        <a:buNone/>
                      </a:pPr>
                      <a:r>
                        <a:rPr lang="en-US" sz="1100" b="0" i="0" u="none" strike="noStrike" noProof="0">
                          <a:solidFill>
                            <a:srgbClr val="000000"/>
                          </a:solidFill>
                          <a:effectLst/>
                          <a:latin typeface="Raleway"/>
                        </a:rPr>
                        <a:t>11 Jul 2026: </a:t>
                      </a:r>
                      <a:r>
                        <a:rPr lang="en-US" sz="1100" b="0" i="0" u="none" strike="noStrike" noProof="0" err="1">
                          <a:solidFill>
                            <a:srgbClr val="000000"/>
                          </a:solidFill>
                          <a:effectLst/>
                          <a:latin typeface="Raleway"/>
                        </a:rPr>
                        <a:t>Distian</a:t>
                      </a:r>
                      <a:r>
                        <a:rPr lang="en-US" sz="1100" b="0" i="0" u="none" strike="noStrike" noProof="0">
                          <a:solidFill>
                            <a:srgbClr val="000000"/>
                          </a:solidFill>
                          <a:effectLst/>
                          <a:latin typeface="Raleway"/>
                        </a:rPr>
                        <a:t> Adi -&gt; OK to Case Study</a:t>
                      </a:r>
                    </a:p>
                    <a:p>
                      <a:pPr lvl="0" algn="l">
                        <a:buNone/>
                      </a:pPr>
                      <a:r>
                        <a:rPr lang="en-US" sz="1100" b="0" i="0" u="none" strike="noStrike" noProof="0">
                          <a:solidFill>
                            <a:srgbClr val="000000"/>
                          </a:solidFill>
                          <a:effectLst/>
                          <a:latin typeface="Raleway"/>
                        </a:rPr>
                        <a:t>23 Jul 2026: </a:t>
                      </a:r>
                      <a:r>
                        <a:rPr lang="en-US" sz="1100" b="0" i="0" u="none" strike="noStrike" noProof="0" err="1">
                          <a:solidFill>
                            <a:srgbClr val="000000"/>
                          </a:solidFill>
                          <a:effectLst/>
                          <a:latin typeface="Raleway"/>
                        </a:rPr>
                        <a:t>Presentasi</a:t>
                      </a:r>
                      <a:r>
                        <a:rPr lang="en-US" sz="1100" b="0" i="0" u="none" strike="noStrike" noProof="0">
                          <a:solidFill>
                            <a:srgbClr val="000000"/>
                          </a:solidFill>
                          <a:effectLst/>
                          <a:latin typeface="Raleway"/>
                        </a:rPr>
                        <a:t> Offline </a:t>
                      </a:r>
                      <a:r>
                        <a:rPr lang="en-US" sz="1100" b="0" i="0" u="none" strike="noStrike" noProof="0" err="1">
                          <a:solidFill>
                            <a:srgbClr val="000000"/>
                          </a:solidFill>
                          <a:effectLst/>
                          <a:latin typeface="Raleway"/>
                        </a:rPr>
                        <a:t>kandidat</a:t>
                      </a:r>
                      <a:r>
                        <a:rPr lang="en-US" sz="1100" b="0" i="0" u="none" strike="noStrike" noProof="0">
                          <a:solidFill>
                            <a:srgbClr val="000000"/>
                          </a:solidFill>
                          <a:effectLst/>
                          <a:latin typeface="Raleway"/>
                        </a:rPr>
                        <a:t> an. </a:t>
                      </a:r>
                      <a:r>
                        <a:rPr lang="en-US" sz="1100" b="0" i="0" u="none" strike="noStrike" noProof="0" err="1">
                          <a:solidFill>
                            <a:srgbClr val="000000"/>
                          </a:solidFill>
                          <a:effectLst/>
                          <a:latin typeface="Raleway"/>
                        </a:rPr>
                        <a:t>Distian</a:t>
                      </a:r>
                      <a:r>
                        <a:rPr lang="en-US" sz="1100" b="0" i="0" u="none" strike="noStrike" noProof="0">
                          <a:solidFill>
                            <a:srgbClr val="000000"/>
                          </a:solidFill>
                          <a:effectLst/>
                          <a:latin typeface="Raleway"/>
                        </a:rPr>
                        <a:t> Adi -&gt; KEEP</a:t>
                      </a:r>
                    </a:p>
                    <a:p>
                      <a:pPr lvl="0" algn="l">
                        <a:buNone/>
                      </a:pPr>
                      <a:r>
                        <a:rPr lang="en-US" sz="1100" b="0" i="0" u="none" strike="noStrike" noProof="0">
                          <a:solidFill>
                            <a:srgbClr val="000000"/>
                          </a:solidFill>
                          <a:effectLst/>
                          <a:latin typeface="Raleway"/>
                        </a:rPr>
                        <a:t>Next Action:</a:t>
                      </a:r>
                    </a:p>
                    <a:p>
                      <a:pPr lvl="0" algn="l">
                        <a:buNone/>
                      </a:pPr>
                      <a:r>
                        <a:rPr lang="en-US" sz="1100" b="0" i="0" u="none" strike="noStrike" noProof="0">
                          <a:solidFill>
                            <a:srgbClr val="000000"/>
                          </a:solidFill>
                          <a:effectLst/>
                          <a:latin typeface="Raleway"/>
                        </a:rPr>
                        <a:t>W31: send minimal 25 </a:t>
                      </a:r>
                      <a:r>
                        <a:rPr lang="en-US" sz="1100" b="0" i="0" u="none" strike="noStrike" noProof="0" err="1">
                          <a:solidFill>
                            <a:srgbClr val="000000"/>
                          </a:solidFill>
                          <a:effectLst/>
                          <a:latin typeface="Raleway"/>
                        </a:rPr>
                        <a:t>kandidat</a:t>
                      </a:r>
                      <a:r>
                        <a:rPr lang="en-US" sz="1100" b="0" i="0" u="none" strike="noStrike" noProof="0">
                          <a:solidFill>
                            <a:srgbClr val="000000"/>
                          </a:solidFill>
                          <a:effectLst/>
                          <a:latin typeface="Raleway"/>
                        </a:rPr>
                        <a:t> </a:t>
                      </a:r>
                      <a:r>
                        <a:rPr lang="en-US" sz="1100" b="0" i="0" u="none" strike="noStrike" noProof="0" err="1">
                          <a:solidFill>
                            <a:srgbClr val="000000"/>
                          </a:solidFill>
                          <a:effectLst/>
                          <a:latin typeface="Raleway"/>
                        </a:rPr>
                        <a:t>pembanding</a:t>
                      </a:r>
                      <a:endParaRPr lang="en-US" sz="1100" b="0" i="0" u="none" strike="noStrike" noProof="0">
                        <a:solidFill>
                          <a:srgbClr val="000000"/>
                        </a:solidFill>
                        <a:effectLst/>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00"/>
                    </a:solidFill>
                  </a:tcPr>
                </a:tc>
                <a:extLst>
                  <a:ext uri="{0D108BD9-81ED-4DB2-BD59-A6C34878D82A}">
                    <a16:rowId xmlns:a16="http://schemas.microsoft.com/office/drawing/2014/main" val="4140931984"/>
                  </a:ext>
                </a:extLst>
              </a:tr>
              <a:tr h="1044176">
                <a:tc>
                  <a:txBody>
                    <a:bodyPr/>
                    <a:lstStyle/>
                    <a:p>
                      <a:pPr algn="ctr">
                        <a:buNone/>
                      </a:pPr>
                      <a:r>
                        <a:rPr lang="en-US" sz="1000">
                          <a:effectLst/>
                          <a:latin typeface="Raleway"/>
                        </a:rPr>
                        <a:t>07-Feb-26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Area Sales Manager (Chilled) - Banten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4A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16-Aug-26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Pauline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l">
                        <a:buNone/>
                      </a:pPr>
                      <a:r>
                        <a:rPr lang="en-US" sz="1100" b="0" i="0" u="none" strike="noStrike" noProof="0">
                          <a:solidFill>
                            <a:srgbClr val="000000"/>
                          </a:solidFill>
                          <a:effectLst/>
                          <a:latin typeface="Raleway"/>
                        </a:rPr>
                        <a:t>W30: Sent 11 </a:t>
                      </a:r>
                      <a:r>
                        <a:rPr lang="en-US" sz="1100" b="0" i="0" u="none" strike="noStrike" noProof="0" err="1">
                          <a:solidFill>
                            <a:srgbClr val="000000"/>
                          </a:solidFill>
                          <a:effectLst/>
                          <a:latin typeface="Raleway"/>
                        </a:rPr>
                        <a:t>kandidat</a:t>
                      </a:r>
                      <a:r>
                        <a:rPr lang="en-US" sz="1100" b="0" i="0" u="none" strike="noStrike" noProof="0">
                          <a:solidFill>
                            <a:srgbClr val="000000"/>
                          </a:solidFill>
                          <a:effectLst/>
                          <a:latin typeface="Raleway"/>
                        </a:rPr>
                        <a:t> -&gt; follow up di W31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00"/>
                    </a:solidFill>
                  </a:tcPr>
                </a:tc>
                <a:extLst>
                  <a:ext uri="{0D108BD9-81ED-4DB2-BD59-A6C34878D82A}">
                    <a16:rowId xmlns:a16="http://schemas.microsoft.com/office/drawing/2014/main" val="374076438"/>
                  </a:ext>
                </a:extLst>
              </a:tr>
              <a:tr h="1044176">
                <a:tc>
                  <a:txBody>
                    <a:bodyPr/>
                    <a:lstStyle/>
                    <a:p>
                      <a:pPr algn="ctr">
                        <a:buNone/>
                      </a:pPr>
                      <a:r>
                        <a:rPr lang="en-US" sz="1000">
                          <a:effectLst/>
                          <a:latin typeface="Raleway"/>
                        </a:rPr>
                        <a:t>07-Feb-26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Brand Manager - MP (1)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4A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16-Aug-26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Victor</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l">
                        <a:buNone/>
                      </a:pPr>
                      <a:r>
                        <a:rPr lang="en-US" sz="900" b="0" i="0" u="none" strike="noStrike" noProof="0">
                          <a:solidFill>
                            <a:srgbClr val="000000"/>
                          </a:solidFill>
                          <a:effectLst/>
                          <a:latin typeface="Raleway"/>
                        </a:rPr>
                        <a:t>W30: Alvin Presentasi 20 Jul 2026 - KEEP</a:t>
                      </a:r>
                    </a:p>
                    <a:p>
                      <a:pPr lvl="0" algn="l">
                        <a:buNone/>
                      </a:pPr>
                      <a:r>
                        <a:rPr lang="en-US" sz="900" b="0" i="0" u="none" strike="noStrike" noProof="0">
                          <a:solidFill>
                            <a:srgbClr val="000000"/>
                          </a:solidFill>
                          <a:effectLst/>
                          <a:latin typeface="Raleway"/>
                        </a:rPr>
                        <a:t>W30: 4 kandidat Panel Interview an. Jennifer Handaja, Adeline Liuputri, Khairina Shauma, Catherine Florencia -&gt; Khairina OK to Case Study</a:t>
                      </a:r>
                    </a:p>
                    <a:p>
                      <a:pPr lvl="0" algn="l">
                        <a:buNone/>
                      </a:pPr>
                      <a:r>
                        <a:rPr lang="en-US" sz="900" b="0" i="0" u="none" strike="noStrike" noProof="0">
                          <a:solidFill>
                            <a:srgbClr val="000000"/>
                          </a:solidFill>
                          <a:effectLst/>
                          <a:latin typeface="Raleway"/>
                        </a:rPr>
                        <a:t>W31: 7 kandidat Panel Interview an. Kelvin Rachmad, Isni Nur, Rio Rahman, Kenny, Nadia Shakira, Agnes Kumala, Mahira Kinasih</a:t>
                      </a:r>
                    </a:p>
                    <a:p>
                      <a:pPr lvl="0" algn="l">
                        <a:buNone/>
                      </a:pPr>
                      <a:r>
                        <a:rPr lang="en-US" sz="900" b="0" i="0" u="none" strike="noStrike" noProof="0">
                          <a:solidFill>
                            <a:srgbClr val="000000"/>
                          </a:solidFill>
                          <a:effectLst/>
                          <a:latin typeface="Raleway"/>
                        </a:rPr>
                        <a:t>W31: Presentasi – Johanes Michael</a:t>
                      </a:r>
                    </a:p>
                    <a:p>
                      <a:pPr lvl="0">
                        <a:buNone/>
                      </a:pPr>
                      <a:endParaRPr lang="en-US" sz="1000">
                        <a:effectLst/>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00"/>
                    </a:solidFill>
                  </a:tcPr>
                </a:tc>
                <a:extLst>
                  <a:ext uri="{0D108BD9-81ED-4DB2-BD59-A6C34878D82A}">
                    <a16:rowId xmlns:a16="http://schemas.microsoft.com/office/drawing/2014/main" val="3932696833"/>
                  </a:ext>
                </a:extLst>
              </a:tr>
            </a:tbl>
          </a:graphicData>
        </a:graphic>
      </p:graphicFrame>
      <p:sp>
        <p:nvSpPr>
          <p:cNvPr id="5" name="Text 0">
            <a:extLst>
              <a:ext uri="{FF2B5EF4-FFF2-40B4-BE49-F238E27FC236}">
                <a16:creationId xmlns:a16="http://schemas.microsoft.com/office/drawing/2014/main" id="{3DEB6357-5F50-8E32-B873-353A68A47918}"/>
              </a:ext>
            </a:extLst>
          </p:cNvPr>
          <p:cNvSpPr/>
          <p:nvPr/>
        </p:nvSpPr>
        <p:spPr>
          <a:xfrm>
            <a:off x="203352" y="233806"/>
            <a:ext cx="11277295" cy="548640"/>
          </a:xfrm>
          <a:prstGeom prst="rect">
            <a:avLst/>
          </a:prstGeom>
          <a:noFill/>
          <a:ln/>
        </p:spPr>
        <p:txBody>
          <a:bodyPr wrap="square" lIns="91440" tIns="45720" rIns="91440" bIns="45720" rtlCol="0" anchor="ctr"/>
          <a:lstStyle/>
          <a:p>
            <a:r>
              <a:rPr lang="en-US" sz="2600" b="1">
                <a:solidFill>
                  <a:srgbClr val="12284C"/>
                </a:solidFill>
                <a:latin typeface="Raleway"/>
                <a:ea typeface="Georgia" pitchFamily="34" charset="-122"/>
                <a:cs typeface="Georgia" pitchFamily="34" charset="-120"/>
              </a:rPr>
              <a:t>15 FPTK — Manager: Recruitment Update</a:t>
            </a:r>
            <a:endParaRPr lang="en-US" sz="2600">
              <a:latin typeface="Raleway"/>
            </a:endParaRPr>
          </a:p>
        </p:txBody>
      </p:sp>
    </p:spTree>
    <p:extLst>
      <p:ext uri="{BB962C8B-B14F-4D97-AF65-F5344CB8AC3E}">
        <p14:creationId xmlns:p14="http://schemas.microsoft.com/office/powerpoint/2010/main" val="658659115"/>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CA1F856-EB16-1641-5693-725D11D56B78}"/>
            </a:ext>
          </a:extLst>
        </p:cNvPr>
        <p:cNvGrpSpPr/>
        <p:nvPr/>
      </p:nvGrpSpPr>
      <p:grpSpPr>
        <a:xfrm>
          <a:off x="0" y="0"/>
          <a:ext cx="0" cy="0"/>
          <a:chOff x="0" y="0"/>
          <a:chExt cx="0" cy="0"/>
        </a:xfrm>
      </p:grpSpPr>
      <p:sp>
        <p:nvSpPr>
          <p:cNvPr id="2" name="Text 0">
            <a:extLst>
              <a:ext uri="{FF2B5EF4-FFF2-40B4-BE49-F238E27FC236}">
                <a16:creationId xmlns:a16="http://schemas.microsoft.com/office/drawing/2014/main" id="{90E5ACEA-68E8-3B0E-5B02-84DF32563613}"/>
              </a:ext>
            </a:extLst>
          </p:cNvPr>
          <p:cNvSpPr/>
          <p:nvPr/>
        </p:nvSpPr>
        <p:spPr>
          <a:xfrm>
            <a:off x="284632" y="558926"/>
            <a:ext cx="11277295" cy="548640"/>
          </a:xfrm>
          <a:prstGeom prst="rect">
            <a:avLst/>
          </a:prstGeom>
          <a:noFill/>
          <a:ln/>
        </p:spPr>
        <p:txBody>
          <a:bodyPr wrap="square" lIns="91440" tIns="45720" rIns="91440" bIns="45720" rtlCol="0" anchor="ctr"/>
          <a:lstStyle/>
          <a:p>
            <a:r>
              <a:rPr lang="en-US" sz="2600" b="1">
                <a:solidFill>
                  <a:srgbClr val="12284C"/>
                </a:solidFill>
                <a:latin typeface="Raleway"/>
                <a:ea typeface="Georgia" pitchFamily="34" charset="-122"/>
                <a:cs typeface="Georgia" pitchFamily="34" charset="-120"/>
              </a:rPr>
              <a:t>15 FPTK — Manager: Recruitment Update</a:t>
            </a:r>
            <a:endParaRPr lang="en-US" sz="2600">
              <a:latin typeface="Raleway"/>
            </a:endParaRPr>
          </a:p>
        </p:txBody>
      </p:sp>
      <p:graphicFrame>
        <p:nvGraphicFramePr>
          <p:cNvPr id="4" name="Table 3">
            <a:extLst>
              <a:ext uri="{FF2B5EF4-FFF2-40B4-BE49-F238E27FC236}">
                <a16:creationId xmlns:a16="http://schemas.microsoft.com/office/drawing/2014/main" id="{FD85AFF9-B9F6-3BB1-E95A-395404C850AB}"/>
              </a:ext>
            </a:extLst>
          </p:cNvPr>
          <p:cNvGraphicFramePr>
            <a:graphicFrameLocks noGrp="1"/>
          </p:cNvGraphicFramePr>
          <p:nvPr>
            <p:extLst>
              <p:ext uri="{D42A27DB-BD31-4B8C-83A1-F6EECF244321}">
                <p14:modId xmlns:p14="http://schemas.microsoft.com/office/powerpoint/2010/main" val="885233164"/>
              </p:ext>
            </p:extLst>
          </p:nvPr>
        </p:nvGraphicFramePr>
        <p:xfrm>
          <a:off x="280276" y="1110385"/>
          <a:ext cx="11636273" cy="2308885"/>
        </p:xfrm>
        <a:graphic>
          <a:graphicData uri="http://schemas.openxmlformats.org/drawingml/2006/table">
            <a:tbl>
              <a:tblPr bandRow="1">
                <a:tableStyleId>{5C22544A-7EE6-4342-B048-85BDC9FD1C3A}</a:tableStyleId>
              </a:tblPr>
              <a:tblGrid>
                <a:gridCol w="547589">
                  <a:extLst>
                    <a:ext uri="{9D8B030D-6E8A-4147-A177-3AD203B41FA5}">
                      <a16:colId xmlns:a16="http://schemas.microsoft.com/office/drawing/2014/main" val="3305883358"/>
                    </a:ext>
                  </a:extLst>
                </a:gridCol>
                <a:gridCol w="2076277">
                  <a:extLst>
                    <a:ext uri="{9D8B030D-6E8A-4147-A177-3AD203B41FA5}">
                      <a16:colId xmlns:a16="http://schemas.microsoft.com/office/drawing/2014/main" val="1859053792"/>
                    </a:ext>
                  </a:extLst>
                </a:gridCol>
                <a:gridCol w="547589">
                  <a:extLst>
                    <a:ext uri="{9D8B030D-6E8A-4147-A177-3AD203B41FA5}">
                      <a16:colId xmlns:a16="http://schemas.microsoft.com/office/drawing/2014/main" val="1584050253"/>
                    </a:ext>
                  </a:extLst>
                </a:gridCol>
                <a:gridCol w="981097">
                  <a:extLst>
                    <a:ext uri="{9D8B030D-6E8A-4147-A177-3AD203B41FA5}">
                      <a16:colId xmlns:a16="http://schemas.microsoft.com/office/drawing/2014/main" val="3746191263"/>
                    </a:ext>
                  </a:extLst>
                </a:gridCol>
                <a:gridCol w="730119">
                  <a:extLst>
                    <a:ext uri="{9D8B030D-6E8A-4147-A177-3AD203B41FA5}">
                      <a16:colId xmlns:a16="http://schemas.microsoft.com/office/drawing/2014/main" val="2238123112"/>
                    </a:ext>
                  </a:extLst>
                </a:gridCol>
                <a:gridCol w="581813">
                  <a:extLst>
                    <a:ext uri="{9D8B030D-6E8A-4147-A177-3AD203B41FA5}">
                      <a16:colId xmlns:a16="http://schemas.microsoft.com/office/drawing/2014/main" val="4051824501"/>
                    </a:ext>
                  </a:extLst>
                </a:gridCol>
                <a:gridCol w="935465">
                  <a:extLst>
                    <a:ext uri="{9D8B030D-6E8A-4147-A177-3AD203B41FA5}">
                      <a16:colId xmlns:a16="http://schemas.microsoft.com/office/drawing/2014/main" val="3906797265"/>
                    </a:ext>
                  </a:extLst>
                </a:gridCol>
                <a:gridCol w="547589">
                  <a:extLst>
                    <a:ext uri="{9D8B030D-6E8A-4147-A177-3AD203B41FA5}">
                      <a16:colId xmlns:a16="http://schemas.microsoft.com/office/drawing/2014/main" val="631437759"/>
                    </a:ext>
                  </a:extLst>
                </a:gridCol>
                <a:gridCol w="547589">
                  <a:extLst>
                    <a:ext uri="{9D8B030D-6E8A-4147-A177-3AD203B41FA5}">
                      <a16:colId xmlns:a16="http://schemas.microsoft.com/office/drawing/2014/main" val="1579440946"/>
                    </a:ext>
                  </a:extLst>
                </a:gridCol>
                <a:gridCol w="4141146">
                  <a:extLst>
                    <a:ext uri="{9D8B030D-6E8A-4147-A177-3AD203B41FA5}">
                      <a16:colId xmlns:a16="http://schemas.microsoft.com/office/drawing/2014/main" val="1577583706"/>
                    </a:ext>
                  </a:extLst>
                </a:gridCol>
              </a:tblGrid>
              <a:tr h="942541">
                <a:tc>
                  <a:txBody>
                    <a:bodyPr/>
                    <a:lstStyle/>
                    <a:p>
                      <a:pPr algn="ctr">
                        <a:buNone/>
                      </a:pPr>
                      <a:r>
                        <a:rPr lang="en-US" sz="1000" b="1">
                          <a:solidFill>
                            <a:schemeClr val="bg1"/>
                          </a:solidFill>
                          <a:effectLst/>
                          <a:latin typeface="Raleway"/>
                        </a:rPr>
                        <a:t>Tanggal 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Posisi</a:t>
                      </a:r>
                      <a:endParaRPr lang="en-US" sz="1000" b="1">
                        <a:solidFill>
                          <a:schemeClr val="bg1"/>
                        </a:solidFill>
                        <a:effectLst/>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Business 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Kategori</a:t>
                      </a:r>
                      <a:r>
                        <a:rPr lang="en-US" sz="1000" b="1">
                          <a:solidFill>
                            <a:schemeClr val="bg1"/>
                          </a:solidFill>
                          <a:effectLst/>
                          <a:latin typeface="Raleway"/>
                        </a:rPr>
                        <a:t> sheet5</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SLA Target </a:t>
                      </a:r>
                      <a:r>
                        <a:rPr lang="en-US" sz="1000" b="1" err="1">
                          <a:solidFill>
                            <a:schemeClr val="bg1"/>
                          </a:solidFill>
                          <a:effectLst/>
                          <a:latin typeface="Raleway"/>
                        </a:rPr>
                        <a:t>Pemenuhan</a:t>
                      </a:r>
                      <a:endParaRPr lang="en-US" sz="1000" b="1">
                        <a:solidFill>
                          <a:schemeClr val="bg1"/>
                        </a:solidFill>
                        <a:effectLst/>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Jumlah</a:t>
                      </a:r>
                      <a:r>
                        <a:rPr lang="en-US" sz="1000" b="1">
                          <a:solidFill>
                            <a:schemeClr val="bg1"/>
                          </a:solidFill>
                          <a:effectLst/>
                          <a:latin typeface="Raleway"/>
                        </a:rPr>
                        <a:t> </a:t>
                      </a:r>
                      <a:r>
                        <a:rPr lang="en-US" sz="1000" b="1" err="1">
                          <a:solidFill>
                            <a:schemeClr val="bg1"/>
                          </a:solidFill>
                          <a:effectLst/>
                          <a:latin typeface="Raleway"/>
                        </a:rPr>
                        <a:t>Permintaan</a:t>
                      </a:r>
                      <a:endParaRPr lang="en-US" sz="1000" b="1">
                        <a:solidFill>
                          <a:schemeClr val="bg1"/>
                        </a:solidFill>
                        <a:effectLst/>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Status </a:t>
                      </a:r>
                      <a:r>
                        <a:rPr lang="en-US" sz="1000" b="1" err="1">
                          <a:solidFill>
                            <a:schemeClr val="bg1"/>
                          </a:solidFill>
                          <a:effectLst/>
                          <a:latin typeface="Raleway"/>
                        </a:rPr>
                        <a:t>Rekrutmen</a:t>
                      </a:r>
                      <a:endParaRPr lang="en-US" sz="1000" b="1">
                        <a:solidFill>
                          <a:schemeClr val="bg1"/>
                        </a:solidFill>
                        <a:effectLst/>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3804343341"/>
                  </a:ext>
                </a:extLst>
              </a:tr>
              <a:tr h="1366344">
                <a:tc>
                  <a:txBody>
                    <a:bodyPr/>
                    <a:lstStyle/>
                    <a:p>
                      <a:pPr algn="ctr">
                        <a:buNone/>
                      </a:pPr>
                      <a:r>
                        <a:rPr lang="en-US" sz="1000">
                          <a:effectLst/>
                          <a:latin typeface="Raleway"/>
                        </a:rPr>
                        <a:t>07-Feb-26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Brand Manager - MP (2)</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4A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16-Aug-26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Victor</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l">
                        <a:buNone/>
                      </a:pPr>
                      <a:r>
                        <a:rPr lang="en-US" sz="900" b="0" i="0" u="none" strike="noStrike" noProof="0">
                          <a:solidFill>
                            <a:srgbClr val="000000"/>
                          </a:solidFill>
                          <a:effectLst/>
                          <a:latin typeface="Raleway"/>
                        </a:rPr>
                        <a:t>W30: Alvin </a:t>
                      </a:r>
                      <a:r>
                        <a:rPr lang="en-US" sz="900" b="0" i="0" u="none" strike="noStrike" noProof="0" err="1">
                          <a:solidFill>
                            <a:srgbClr val="000000"/>
                          </a:solidFill>
                          <a:effectLst/>
                          <a:latin typeface="Raleway"/>
                        </a:rPr>
                        <a:t>Presentasi</a:t>
                      </a:r>
                      <a:r>
                        <a:rPr lang="en-US" sz="900" b="0" i="0" u="none" strike="noStrike" noProof="0">
                          <a:solidFill>
                            <a:srgbClr val="000000"/>
                          </a:solidFill>
                          <a:effectLst/>
                          <a:latin typeface="Raleway"/>
                        </a:rPr>
                        <a:t> 20 Jul 2026 - KEEP</a:t>
                      </a:r>
                    </a:p>
                    <a:p>
                      <a:pPr lvl="0" algn="l">
                        <a:buNone/>
                      </a:pPr>
                      <a:r>
                        <a:rPr lang="en-US" sz="900" b="0" i="0" u="none" strike="noStrike" noProof="0">
                          <a:solidFill>
                            <a:srgbClr val="000000"/>
                          </a:solidFill>
                          <a:effectLst/>
                          <a:latin typeface="Raleway"/>
                        </a:rPr>
                        <a:t>W30: 4 </a:t>
                      </a:r>
                      <a:r>
                        <a:rPr lang="en-US" sz="900" b="0" i="0" u="none" strike="noStrike" noProof="0" err="1">
                          <a:solidFill>
                            <a:srgbClr val="000000"/>
                          </a:solidFill>
                          <a:effectLst/>
                          <a:latin typeface="Raleway"/>
                        </a:rPr>
                        <a:t>kandidat</a:t>
                      </a:r>
                      <a:r>
                        <a:rPr lang="en-US" sz="900" b="0" i="0" u="none" strike="noStrike" noProof="0">
                          <a:solidFill>
                            <a:srgbClr val="000000"/>
                          </a:solidFill>
                          <a:effectLst/>
                          <a:latin typeface="Raleway"/>
                        </a:rPr>
                        <a:t> Panel Interview an. Jennifer Handaja, Adeline Liuputri, Khairina Shauma, Catherine Florencia -&gt; Khairina OK to Case Study</a:t>
                      </a:r>
                    </a:p>
                    <a:p>
                      <a:pPr lvl="0" algn="l">
                        <a:buNone/>
                      </a:pPr>
                      <a:r>
                        <a:rPr lang="en-US" sz="900" b="0" i="0" u="none" strike="noStrike" noProof="0">
                          <a:solidFill>
                            <a:srgbClr val="000000"/>
                          </a:solidFill>
                          <a:effectLst/>
                          <a:latin typeface="Raleway"/>
                        </a:rPr>
                        <a:t>W31: 7 </a:t>
                      </a:r>
                      <a:r>
                        <a:rPr lang="en-US" sz="900" b="0" i="0" u="none" strike="noStrike" noProof="0" err="1">
                          <a:solidFill>
                            <a:srgbClr val="000000"/>
                          </a:solidFill>
                          <a:effectLst/>
                          <a:latin typeface="Raleway"/>
                        </a:rPr>
                        <a:t>kandidat</a:t>
                      </a:r>
                      <a:r>
                        <a:rPr lang="en-US" sz="900" b="0" i="0" u="none" strike="noStrike" noProof="0">
                          <a:solidFill>
                            <a:srgbClr val="000000"/>
                          </a:solidFill>
                          <a:effectLst/>
                          <a:latin typeface="Raleway"/>
                        </a:rPr>
                        <a:t> Panel Interview an. Kelvin Rachmad, Isni Nur, Rio Rahman, Kenny, Nadia Shakira, Agnes Kumala, Mahira </a:t>
                      </a:r>
                      <a:r>
                        <a:rPr lang="en-US" sz="900" b="0" i="0" u="none" strike="noStrike" noProof="0" err="1">
                          <a:solidFill>
                            <a:srgbClr val="000000"/>
                          </a:solidFill>
                          <a:effectLst/>
                          <a:latin typeface="Raleway"/>
                        </a:rPr>
                        <a:t>Kinasih</a:t>
                      </a:r>
                    </a:p>
                    <a:p>
                      <a:pPr lvl="0" algn="l">
                        <a:buNone/>
                      </a:pPr>
                      <a:r>
                        <a:rPr lang="en-US" sz="900" b="0" i="0" u="none" strike="noStrike" noProof="0">
                          <a:solidFill>
                            <a:srgbClr val="000000"/>
                          </a:solidFill>
                          <a:effectLst/>
                          <a:latin typeface="Raleway"/>
                        </a:rPr>
                        <a:t>W31: </a:t>
                      </a:r>
                      <a:r>
                        <a:rPr lang="en-US" sz="900" b="0" i="0" u="none" strike="noStrike" noProof="0" err="1">
                          <a:solidFill>
                            <a:srgbClr val="000000"/>
                          </a:solidFill>
                          <a:effectLst/>
                          <a:latin typeface="Raleway"/>
                        </a:rPr>
                        <a:t>Presentasi</a:t>
                      </a:r>
                      <a:r>
                        <a:rPr lang="en-US" sz="900" b="0" i="0" u="none" strike="noStrike" noProof="0">
                          <a:solidFill>
                            <a:srgbClr val="000000"/>
                          </a:solidFill>
                          <a:effectLst/>
                          <a:latin typeface="Raleway"/>
                        </a:rPr>
                        <a:t> – Johanes Michael</a:t>
                      </a:r>
                    </a:p>
                    <a:p>
                      <a:pPr lvl="0">
                        <a:buNone/>
                      </a:pPr>
                      <a:endParaRPr lang="en-US" sz="1000">
                        <a:effectLst/>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00"/>
                    </a:solidFill>
                  </a:tcPr>
                </a:tc>
                <a:extLst>
                  <a:ext uri="{0D108BD9-81ED-4DB2-BD59-A6C34878D82A}">
                    <a16:rowId xmlns:a16="http://schemas.microsoft.com/office/drawing/2014/main" val="3013184190"/>
                  </a:ext>
                </a:extLst>
              </a:tr>
            </a:tbl>
          </a:graphicData>
        </a:graphic>
      </p:graphicFrame>
    </p:spTree>
    <p:extLst>
      <p:ext uri="{BB962C8B-B14F-4D97-AF65-F5344CB8AC3E}">
        <p14:creationId xmlns:p14="http://schemas.microsoft.com/office/powerpoint/2010/main" val="337781051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8ABD29-7DBF-B60E-BE90-85833848FBB7}"/>
            </a:ext>
          </a:extLst>
        </p:cNvPr>
        <p:cNvGrpSpPr/>
        <p:nvPr/>
      </p:nvGrpSpPr>
      <p:grpSpPr>
        <a:xfrm>
          <a:off x="0" y="0"/>
          <a:ext cx="0" cy="0"/>
          <a:chOff x="0" y="0"/>
          <a:chExt cx="0" cy="0"/>
        </a:xfrm>
      </p:grpSpPr>
      <p:sp>
        <p:nvSpPr>
          <p:cNvPr id="4" name="TextBox 3">
            <a:extLst>
              <a:ext uri="{FF2B5EF4-FFF2-40B4-BE49-F238E27FC236}">
                <a16:creationId xmlns:a16="http://schemas.microsoft.com/office/drawing/2014/main" id="{C538FEDD-A746-55BA-6BE9-38A93A5370D2}"/>
              </a:ext>
            </a:extLst>
          </p:cNvPr>
          <p:cNvSpPr txBox="1"/>
          <p:nvPr/>
        </p:nvSpPr>
        <p:spPr>
          <a:xfrm>
            <a:off x="2544521" y="2765452"/>
            <a:ext cx="7102957" cy="1327095"/>
          </a:xfrm>
          <a:prstGeom prst="rect">
            <a:avLst/>
          </a:prstGeom>
          <a:noFill/>
        </p:spPr>
        <p:txBody>
          <a:bodyPr wrap="square" lIns="91440" tIns="45720" rIns="91440" bIns="45720" rtlCol="0" anchor="t">
            <a:spAutoFit/>
          </a:bodyPr>
          <a:lstStyle/>
          <a:p>
            <a:pPr algn="ctr">
              <a:lnSpc>
                <a:spcPct val="70000"/>
              </a:lnSpc>
              <a:defRPr/>
            </a:pPr>
            <a:r>
              <a:rPr lang="en-US" sz="4800" b="1" err="1">
                <a:solidFill>
                  <a:srgbClr val="002060"/>
                </a:solidFill>
                <a:latin typeface="Raleway"/>
              </a:rPr>
              <a:t>Rekrutmen</a:t>
            </a:r>
            <a:endParaRPr lang="en-US" sz="4800" b="1">
              <a:solidFill>
                <a:srgbClr val="002060"/>
              </a:solidFill>
              <a:latin typeface="Raleway"/>
            </a:endParaRPr>
          </a:p>
          <a:p>
            <a:pPr algn="ctr">
              <a:lnSpc>
                <a:spcPct val="70000"/>
              </a:lnSpc>
              <a:defRPr/>
            </a:pPr>
            <a:r>
              <a:rPr lang="en-US" sz="4800" b="1">
                <a:solidFill>
                  <a:srgbClr val="002060"/>
                </a:solidFill>
                <a:latin typeface="Raleway"/>
              </a:rPr>
              <a:t>Level 3</a:t>
            </a:r>
          </a:p>
          <a:p>
            <a:pPr algn="ctr">
              <a:lnSpc>
                <a:spcPct val="70000"/>
              </a:lnSpc>
              <a:defRPr/>
            </a:pPr>
            <a:r>
              <a:rPr lang="en-US" b="1">
                <a:latin typeface="Raleway"/>
              </a:rPr>
              <a:t>LEVEL 3A - 3C</a:t>
            </a:r>
          </a:p>
        </p:txBody>
      </p:sp>
    </p:spTree>
    <p:extLst>
      <p:ext uri="{BB962C8B-B14F-4D97-AF65-F5344CB8AC3E}">
        <p14:creationId xmlns:p14="http://schemas.microsoft.com/office/powerpoint/2010/main" val="3841361758"/>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09A845-A53A-A195-E682-91F502FD546A}"/>
            </a:ext>
          </a:extLst>
        </p:cNvPr>
        <p:cNvGrpSpPr/>
        <p:nvPr/>
      </p:nvGrpSpPr>
      <p:grpSpPr>
        <a:xfrm>
          <a:off x="0" y="0"/>
          <a:ext cx="0" cy="0"/>
          <a:chOff x="0" y="0"/>
          <a:chExt cx="0" cy="0"/>
        </a:xfrm>
      </p:grpSpPr>
      <p:pic>
        <p:nvPicPr>
          <p:cNvPr id="25" name="Grafiklvl3">
            <a:extLst>
              <a:ext uri="{FF2B5EF4-FFF2-40B4-BE49-F238E27FC236}">
                <a16:creationId xmlns:a16="http://schemas.microsoft.com/office/drawing/2014/main" id="{B7C204BF-AC9F-AF29-0DA0-2799BA02F2D6}"/>
              </a:ext>
            </a:extLst>
          </p:cNvPr>
          <p:cNvPicPr>
            <a:picLocks noChangeAspect="1"/>
          </p:cNvPicPr>
          <p:nvPr/>
        </p:nvPicPr>
        <p:blipFill>
          <a:blip r:embed="rId3"/>
          <a:srcRect/>
          <a:stretch>
            <a:fillRect/>
          </a:stretch>
        </p:blipFill>
        <p:spPr>
          <a:xfrm>
            <a:off x="363882" y="2171329"/>
            <a:ext cx="11451769" cy="4362245"/>
          </a:xfrm>
          <a:prstGeom prst="rect">
            <a:avLst/>
          </a:prstGeom>
        </p:spPr>
      </p:pic>
      <p:sp>
        <p:nvSpPr>
          <p:cNvPr id="2" name="Text 0">
            <a:extLst>
              <a:ext uri="{FF2B5EF4-FFF2-40B4-BE49-F238E27FC236}">
                <a16:creationId xmlns:a16="http://schemas.microsoft.com/office/drawing/2014/main" id="{612AC3E2-E320-DD75-99AD-76C84EE96111}"/>
              </a:ext>
            </a:extLst>
          </p:cNvPr>
          <p:cNvSpPr/>
          <p:nvPr/>
        </p:nvSpPr>
        <p:spPr>
          <a:xfrm>
            <a:off x="365760" y="228600"/>
            <a:ext cx="6858000" cy="502920"/>
          </a:xfrm>
          <a:prstGeom prst="rect">
            <a:avLst/>
          </a:prstGeom>
          <a:noFill/>
          <a:ln/>
        </p:spPr>
        <p:txBody>
          <a:bodyPr wrap="square" lIns="0" tIns="0" rIns="0" bIns="0" rtlCol="0" anchor="ctr"/>
          <a:lstStyle/>
          <a:p>
            <a:pPr marL="0" indent="0">
              <a:buNone/>
            </a:pPr>
            <a:r>
              <a:rPr lang="en-US" sz="2800" b="1">
                <a:solidFill>
                  <a:srgbClr val="1A1A1A"/>
                </a:solidFill>
                <a:latin typeface="Raleway"/>
                <a:ea typeface="Calibri" pitchFamily="34" charset="-122"/>
                <a:cs typeface="Calibri" pitchFamily="34" charset="-120"/>
              </a:rPr>
              <a:t>Executive Summary — Level 3</a:t>
            </a:r>
            <a:endParaRPr lang="en-US" sz="2800">
              <a:latin typeface="Raleway"/>
            </a:endParaRPr>
          </a:p>
        </p:txBody>
      </p:sp>
      <p:sp>
        <p:nvSpPr>
          <p:cNvPr id="4" name="Text 2">
            <a:extLst>
              <a:ext uri="{FF2B5EF4-FFF2-40B4-BE49-F238E27FC236}">
                <a16:creationId xmlns:a16="http://schemas.microsoft.com/office/drawing/2014/main" id="{7ECCC0D6-7CF1-BF98-C8EE-657F6BDD2FF4}"/>
              </a:ext>
            </a:extLst>
          </p:cNvPr>
          <p:cNvSpPr/>
          <p:nvPr/>
        </p:nvSpPr>
        <p:spPr>
          <a:xfrm>
            <a:off x="7909560" y="219456"/>
            <a:ext cx="3200400" cy="530352"/>
          </a:xfrm>
          <a:prstGeom prst="rect">
            <a:avLst/>
          </a:prstGeom>
          <a:noFill/>
          <a:ln/>
        </p:spPr>
        <p:txBody>
          <a:bodyPr wrap="square" lIns="0" tIns="0" rIns="0" bIns="0" rtlCol="0" anchor="ctr"/>
          <a:lstStyle/>
          <a:p>
            <a:pPr marL="0" indent="0" algn="ctr">
              <a:buNone/>
            </a:pPr>
            <a:endParaRPr lang="en-US" sz="1200" b="1">
              <a:solidFill>
                <a:srgbClr val="FFFFFF"/>
              </a:solidFill>
              <a:latin typeface="Raleway"/>
              <a:ea typeface="Calibri"/>
              <a:cs typeface="Calibri"/>
            </a:endParaRPr>
          </a:p>
        </p:txBody>
      </p:sp>
      <p:sp>
        <p:nvSpPr>
          <p:cNvPr id="7" name="Shape 5">
            <a:extLst>
              <a:ext uri="{FF2B5EF4-FFF2-40B4-BE49-F238E27FC236}">
                <a16:creationId xmlns:a16="http://schemas.microsoft.com/office/drawing/2014/main" id="{35917DDD-47CD-CF06-8AA2-413E00259766}"/>
              </a:ext>
            </a:extLst>
          </p:cNvPr>
          <p:cNvSpPr/>
          <p:nvPr/>
        </p:nvSpPr>
        <p:spPr>
          <a:xfrm>
            <a:off x="365760" y="1188720"/>
            <a:ext cx="1767840" cy="960120"/>
          </a:xfrm>
          <a:prstGeom prst="rect">
            <a:avLst/>
          </a:prstGeom>
          <a:solidFill>
            <a:srgbClr val="0070C0"/>
          </a:solidFill>
          <a:ln w="12700">
            <a:solidFill>
              <a:srgbClr val="1F6FB2"/>
            </a:solidFill>
            <a:prstDash val="solid"/>
          </a:ln>
        </p:spPr>
        <p:txBody>
          <a:bodyPr/>
          <a:lstStyle/>
          <a:p>
            <a:endParaRPr lang="en-US">
              <a:latin typeface="Raleway"/>
            </a:endParaRPr>
          </a:p>
        </p:txBody>
      </p:sp>
      <p:sp>
        <p:nvSpPr>
          <p:cNvPr id="8" name="fptklvl3">
            <a:extLst>
              <a:ext uri="{FF2B5EF4-FFF2-40B4-BE49-F238E27FC236}">
                <a16:creationId xmlns:a16="http://schemas.microsoft.com/office/drawing/2014/main" id="{FADEE565-60B7-287B-04B0-A7AFDBDE90B2}"/>
              </a:ext>
            </a:extLst>
          </p:cNvPr>
          <p:cNvSpPr/>
          <p:nvPr/>
        </p:nvSpPr>
        <p:spPr>
          <a:xfrm>
            <a:off x="365760" y="1305359"/>
            <a:ext cx="1767840" cy="461665"/>
          </a:xfrm>
          <a:prstGeom prst="rect">
            <a:avLst/>
          </a:prstGeom>
          <a:noFill/>
          <a:ln/>
        </p:spPr>
        <p:txBody>
          <a:bodyPr wrap="square" lIns="0" tIns="0" rIns="0" bIns="0" rtlCol="0" anchor="ctr">
            <a:spAutoFit/>
          </a:bodyPr>
          <a:lstStyle/>
          <a:p>
            <a:pPr marL="0" indent="0" algn="ctr">
              <a:buNone/>
            </a:pPr>
            <a:r>
              <a:rPr lang="en-US" sz="3000" b="1">
                <a:solidFill>
                  <a:srgbClr val="FFFFFF"/>
                </a:solidFill>
                <a:latin typeface="Raleway"/>
                <a:ea typeface="Calibri"/>
                <a:cs typeface="Calibri"/>
              </a:rPr>
              <a:t>251</a:t>
            </a:r>
            <a:endParaRPr lang="en-US" sz="3000">
              <a:latin typeface="Raleway"/>
            </a:endParaRPr>
          </a:p>
        </p:txBody>
      </p:sp>
      <p:sp>
        <p:nvSpPr>
          <p:cNvPr id="9" name="Text 7">
            <a:extLst>
              <a:ext uri="{FF2B5EF4-FFF2-40B4-BE49-F238E27FC236}">
                <a16:creationId xmlns:a16="http://schemas.microsoft.com/office/drawing/2014/main" id="{E58F33F8-EC54-2D88-C9FC-EE0E09907D5B}"/>
              </a:ext>
            </a:extLst>
          </p:cNvPr>
          <p:cNvSpPr/>
          <p:nvPr/>
        </p:nvSpPr>
        <p:spPr>
          <a:xfrm>
            <a:off x="365760"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FPTK</a:t>
            </a:r>
            <a:endParaRPr lang="en-US" sz="1100">
              <a:latin typeface="Raleway"/>
            </a:endParaRPr>
          </a:p>
        </p:txBody>
      </p:sp>
      <p:sp>
        <p:nvSpPr>
          <p:cNvPr id="10" name="Shape 8">
            <a:extLst>
              <a:ext uri="{FF2B5EF4-FFF2-40B4-BE49-F238E27FC236}">
                <a16:creationId xmlns:a16="http://schemas.microsoft.com/office/drawing/2014/main" id="{B5012C70-88B6-DD49-A06B-E220237E008E}"/>
              </a:ext>
            </a:extLst>
          </p:cNvPr>
          <p:cNvSpPr/>
          <p:nvPr/>
        </p:nvSpPr>
        <p:spPr>
          <a:xfrm>
            <a:off x="2298192" y="1188720"/>
            <a:ext cx="1767840" cy="960120"/>
          </a:xfrm>
          <a:prstGeom prst="rect">
            <a:avLst/>
          </a:prstGeom>
          <a:solidFill>
            <a:srgbClr val="0070C0"/>
          </a:solidFill>
          <a:ln w="12700">
            <a:solidFill>
              <a:srgbClr val="1F6FB2"/>
            </a:solidFill>
            <a:prstDash val="solid"/>
          </a:ln>
        </p:spPr>
        <p:txBody>
          <a:bodyPr/>
          <a:lstStyle/>
          <a:p>
            <a:endParaRPr lang="en-US">
              <a:latin typeface="Raleway"/>
            </a:endParaRPr>
          </a:p>
        </p:txBody>
      </p:sp>
      <p:sp>
        <p:nvSpPr>
          <p:cNvPr id="11" name="openlvl3">
            <a:extLst>
              <a:ext uri="{FF2B5EF4-FFF2-40B4-BE49-F238E27FC236}">
                <a16:creationId xmlns:a16="http://schemas.microsoft.com/office/drawing/2014/main" id="{747BB4F0-E31F-DC52-2380-65F5AB8D5005}"/>
              </a:ext>
            </a:extLst>
          </p:cNvPr>
          <p:cNvSpPr/>
          <p:nvPr/>
        </p:nvSpPr>
        <p:spPr>
          <a:xfrm>
            <a:off x="2298192" y="1305359"/>
            <a:ext cx="1767840" cy="461665"/>
          </a:xfrm>
          <a:prstGeom prst="rect">
            <a:avLst/>
          </a:prstGeom>
          <a:noFill/>
          <a:ln/>
        </p:spPr>
        <p:txBody>
          <a:bodyPr wrap="square" lIns="0" tIns="0" rIns="0" bIns="0" rtlCol="0" anchor="ctr">
            <a:spAutoFit/>
          </a:bodyPr>
          <a:lstStyle/>
          <a:p>
            <a:pPr marL="0" indent="0" algn="ctr">
              <a:buNone/>
            </a:pPr>
            <a:r>
              <a:rPr lang="en-US" sz="3000" b="1">
                <a:solidFill>
                  <a:srgbClr val="FFFFFF"/>
                </a:solidFill>
                <a:latin typeface="Raleway"/>
                <a:ea typeface="Calibri"/>
                <a:cs typeface="Calibri"/>
              </a:rPr>
              <a:t>83</a:t>
            </a:r>
          </a:p>
        </p:txBody>
      </p:sp>
      <p:sp>
        <p:nvSpPr>
          <p:cNvPr id="12" name="Text 10">
            <a:extLst>
              <a:ext uri="{FF2B5EF4-FFF2-40B4-BE49-F238E27FC236}">
                <a16:creationId xmlns:a16="http://schemas.microsoft.com/office/drawing/2014/main" id="{FC213BA4-4D1A-3C8D-E707-4CC5DA378877}"/>
              </a:ext>
            </a:extLst>
          </p:cNvPr>
          <p:cNvSpPr/>
          <p:nvPr/>
        </p:nvSpPr>
        <p:spPr>
          <a:xfrm>
            <a:off x="2298192"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OPEN</a:t>
            </a:r>
            <a:endParaRPr lang="en-US" sz="1100">
              <a:latin typeface="Raleway"/>
            </a:endParaRPr>
          </a:p>
        </p:txBody>
      </p:sp>
      <p:sp>
        <p:nvSpPr>
          <p:cNvPr id="13" name="Shape 11">
            <a:extLst>
              <a:ext uri="{FF2B5EF4-FFF2-40B4-BE49-F238E27FC236}">
                <a16:creationId xmlns:a16="http://schemas.microsoft.com/office/drawing/2014/main" id="{587605E8-A24E-3FCC-6D94-0BBB5FFD2E07}"/>
              </a:ext>
            </a:extLst>
          </p:cNvPr>
          <p:cNvSpPr/>
          <p:nvPr/>
        </p:nvSpPr>
        <p:spPr>
          <a:xfrm>
            <a:off x="4230624" y="1188720"/>
            <a:ext cx="1767840" cy="960120"/>
          </a:xfrm>
          <a:prstGeom prst="rect">
            <a:avLst/>
          </a:prstGeom>
          <a:solidFill>
            <a:srgbClr val="0070C0"/>
          </a:solidFill>
          <a:ln w="12700">
            <a:solidFill>
              <a:srgbClr val="1F6FB2"/>
            </a:solidFill>
            <a:prstDash val="solid"/>
          </a:ln>
        </p:spPr>
        <p:txBody>
          <a:bodyPr/>
          <a:lstStyle/>
          <a:p>
            <a:endParaRPr lang="en-US">
              <a:latin typeface="Raleway"/>
            </a:endParaRPr>
          </a:p>
        </p:txBody>
      </p:sp>
      <p:sp>
        <p:nvSpPr>
          <p:cNvPr id="14" name="closedlvl3">
            <a:extLst>
              <a:ext uri="{FF2B5EF4-FFF2-40B4-BE49-F238E27FC236}">
                <a16:creationId xmlns:a16="http://schemas.microsoft.com/office/drawing/2014/main" id="{64E3B3E4-2513-D6A3-3B69-6384BEFC6517}"/>
              </a:ext>
            </a:extLst>
          </p:cNvPr>
          <p:cNvSpPr/>
          <p:nvPr/>
        </p:nvSpPr>
        <p:spPr>
          <a:xfrm>
            <a:off x="4230624" y="1305359"/>
            <a:ext cx="1767840" cy="461665"/>
          </a:xfrm>
          <a:prstGeom prst="rect">
            <a:avLst/>
          </a:prstGeom>
          <a:noFill/>
          <a:ln/>
        </p:spPr>
        <p:txBody>
          <a:bodyPr wrap="square" lIns="0" tIns="0" rIns="0" bIns="0" rtlCol="0" anchor="ctr">
            <a:spAutoFit/>
          </a:bodyPr>
          <a:lstStyle/>
          <a:p>
            <a:pPr marL="0" indent="0" algn="ctr">
              <a:buNone/>
            </a:pPr>
            <a:r>
              <a:rPr lang="en-US" sz="3000" b="1">
                <a:solidFill>
                  <a:srgbClr val="FFFFFF"/>
                </a:solidFill>
                <a:latin typeface="Raleway"/>
                <a:ea typeface="Calibri"/>
                <a:cs typeface="Calibri"/>
              </a:rPr>
              <a:t>113</a:t>
            </a:r>
          </a:p>
        </p:txBody>
      </p:sp>
      <p:sp>
        <p:nvSpPr>
          <p:cNvPr id="15" name="Text 13">
            <a:extLst>
              <a:ext uri="{FF2B5EF4-FFF2-40B4-BE49-F238E27FC236}">
                <a16:creationId xmlns:a16="http://schemas.microsoft.com/office/drawing/2014/main" id="{3DE58EBB-D58F-9674-2954-4114BBBC8D2E}"/>
              </a:ext>
            </a:extLst>
          </p:cNvPr>
          <p:cNvSpPr/>
          <p:nvPr/>
        </p:nvSpPr>
        <p:spPr>
          <a:xfrm>
            <a:off x="4230624"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CLOSED</a:t>
            </a:r>
            <a:endParaRPr lang="en-US" sz="1100">
              <a:latin typeface="Raleway"/>
            </a:endParaRPr>
          </a:p>
        </p:txBody>
      </p:sp>
      <p:sp>
        <p:nvSpPr>
          <p:cNvPr id="16" name="Shape 14">
            <a:extLst>
              <a:ext uri="{FF2B5EF4-FFF2-40B4-BE49-F238E27FC236}">
                <a16:creationId xmlns:a16="http://schemas.microsoft.com/office/drawing/2014/main" id="{59C187A9-0D3E-EEED-5F8E-650FB1E584E8}"/>
              </a:ext>
            </a:extLst>
          </p:cNvPr>
          <p:cNvSpPr/>
          <p:nvPr/>
        </p:nvSpPr>
        <p:spPr>
          <a:xfrm>
            <a:off x="6163056" y="1188720"/>
            <a:ext cx="1767840" cy="960120"/>
          </a:xfrm>
          <a:prstGeom prst="rect">
            <a:avLst/>
          </a:prstGeom>
          <a:solidFill>
            <a:srgbClr val="0070C0"/>
          </a:solidFill>
          <a:ln w="12700">
            <a:solidFill>
              <a:srgbClr val="1F6FB2"/>
            </a:solidFill>
            <a:prstDash val="solid"/>
          </a:ln>
        </p:spPr>
        <p:txBody>
          <a:bodyPr/>
          <a:lstStyle/>
          <a:p>
            <a:endParaRPr lang="en-US">
              <a:latin typeface="Raleway"/>
            </a:endParaRPr>
          </a:p>
        </p:txBody>
      </p:sp>
      <p:sp>
        <p:nvSpPr>
          <p:cNvPr id="17" name="cancellvl3">
            <a:extLst>
              <a:ext uri="{FF2B5EF4-FFF2-40B4-BE49-F238E27FC236}">
                <a16:creationId xmlns:a16="http://schemas.microsoft.com/office/drawing/2014/main" id="{C350D839-1CE2-2442-FAEC-5DEFE638F0DB}"/>
              </a:ext>
            </a:extLst>
          </p:cNvPr>
          <p:cNvSpPr/>
          <p:nvPr/>
        </p:nvSpPr>
        <p:spPr>
          <a:xfrm>
            <a:off x="6163056" y="1305359"/>
            <a:ext cx="1767840" cy="461665"/>
          </a:xfrm>
          <a:prstGeom prst="rect">
            <a:avLst/>
          </a:prstGeom>
          <a:noFill/>
          <a:ln/>
        </p:spPr>
        <p:txBody>
          <a:bodyPr wrap="square" lIns="0" tIns="0" rIns="0" bIns="0" rtlCol="0" anchor="ctr">
            <a:spAutoFit/>
          </a:bodyPr>
          <a:lstStyle/>
          <a:p>
            <a:pPr marL="0" indent="0" algn="ctr">
              <a:buNone/>
            </a:pPr>
            <a:r>
              <a:rPr lang="en-US" sz="3000" b="1">
                <a:solidFill>
                  <a:srgbClr val="FFFFFF"/>
                </a:solidFill>
                <a:latin typeface="Raleway"/>
                <a:ea typeface="Calibri"/>
                <a:cs typeface="Calibri"/>
              </a:rPr>
              <a:t>55</a:t>
            </a:r>
          </a:p>
        </p:txBody>
      </p:sp>
      <p:sp>
        <p:nvSpPr>
          <p:cNvPr id="18" name="Text 16">
            <a:extLst>
              <a:ext uri="{FF2B5EF4-FFF2-40B4-BE49-F238E27FC236}">
                <a16:creationId xmlns:a16="http://schemas.microsoft.com/office/drawing/2014/main" id="{4FF400DD-BA6B-720A-958A-EFDD61749DEE}"/>
              </a:ext>
            </a:extLst>
          </p:cNvPr>
          <p:cNvSpPr/>
          <p:nvPr/>
        </p:nvSpPr>
        <p:spPr>
          <a:xfrm>
            <a:off x="6163056"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CANCEL</a:t>
            </a:r>
            <a:endParaRPr lang="en-US" sz="1100">
              <a:latin typeface="Raleway"/>
            </a:endParaRPr>
          </a:p>
        </p:txBody>
      </p:sp>
      <p:sp>
        <p:nvSpPr>
          <p:cNvPr id="19" name="Shape 17">
            <a:extLst>
              <a:ext uri="{FF2B5EF4-FFF2-40B4-BE49-F238E27FC236}">
                <a16:creationId xmlns:a16="http://schemas.microsoft.com/office/drawing/2014/main" id="{6142D035-FEBF-A51E-DCA2-A766DC892FAF}"/>
              </a:ext>
            </a:extLst>
          </p:cNvPr>
          <p:cNvSpPr/>
          <p:nvPr/>
        </p:nvSpPr>
        <p:spPr>
          <a:xfrm>
            <a:off x="8095488" y="1188720"/>
            <a:ext cx="1767840" cy="960120"/>
          </a:xfrm>
          <a:prstGeom prst="rect">
            <a:avLst/>
          </a:prstGeom>
          <a:solidFill>
            <a:srgbClr val="0070C0"/>
          </a:solidFill>
          <a:ln w="12700">
            <a:solidFill>
              <a:srgbClr val="1F6FB2"/>
            </a:solidFill>
            <a:prstDash val="solid"/>
          </a:ln>
        </p:spPr>
        <p:txBody>
          <a:bodyPr/>
          <a:lstStyle/>
          <a:p>
            <a:endParaRPr lang="en-US">
              <a:latin typeface="Raleway"/>
            </a:endParaRPr>
          </a:p>
        </p:txBody>
      </p:sp>
      <p:sp>
        <p:nvSpPr>
          <p:cNvPr id="20" name="fillratelvl3">
            <a:extLst>
              <a:ext uri="{FF2B5EF4-FFF2-40B4-BE49-F238E27FC236}">
                <a16:creationId xmlns:a16="http://schemas.microsoft.com/office/drawing/2014/main" id="{7D2122B2-BD8D-9254-A3D7-8E03CD4CF18F}"/>
              </a:ext>
            </a:extLst>
          </p:cNvPr>
          <p:cNvSpPr/>
          <p:nvPr/>
        </p:nvSpPr>
        <p:spPr>
          <a:xfrm>
            <a:off x="8095488" y="1305359"/>
            <a:ext cx="1767840" cy="461665"/>
          </a:xfrm>
          <a:prstGeom prst="rect">
            <a:avLst/>
          </a:prstGeom>
          <a:noFill/>
          <a:ln/>
        </p:spPr>
        <p:txBody>
          <a:bodyPr wrap="square" lIns="0" tIns="0" rIns="0" bIns="0" rtlCol="0" anchor="ctr">
            <a:spAutoFit/>
          </a:bodyPr>
          <a:lstStyle/>
          <a:p>
            <a:pPr marL="0" indent="0" algn="ctr">
              <a:buNone/>
            </a:pPr>
            <a:r>
              <a:rPr lang="en-US" sz="3000" b="1">
                <a:solidFill>
                  <a:schemeClr val="bg1"/>
                </a:solidFill>
                <a:latin typeface="Raleway"/>
                <a:ea typeface="Calibri"/>
                <a:cs typeface="Calibri"/>
              </a:rPr>
              <a:t>57.65%</a:t>
            </a:r>
            <a:endParaRPr lang="en-US" sz="3000">
              <a:solidFill>
                <a:schemeClr val="bg1"/>
              </a:solidFill>
              <a:latin typeface="Raleway"/>
              <a:ea typeface="Calibri"/>
              <a:cs typeface="Calibri"/>
            </a:endParaRPr>
          </a:p>
        </p:txBody>
      </p:sp>
      <p:sp>
        <p:nvSpPr>
          <p:cNvPr id="21" name="Text 19">
            <a:extLst>
              <a:ext uri="{FF2B5EF4-FFF2-40B4-BE49-F238E27FC236}">
                <a16:creationId xmlns:a16="http://schemas.microsoft.com/office/drawing/2014/main" id="{8799DC5C-11DB-F6BC-0E87-E455EEA417FD}"/>
              </a:ext>
            </a:extLst>
          </p:cNvPr>
          <p:cNvSpPr/>
          <p:nvPr/>
        </p:nvSpPr>
        <p:spPr>
          <a:xfrm>
            <a:off x="8095488"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FILL RATE</a:t>
            </a:r>
            <a:endParaRPr lang="en-US" sz="1100">
              <a:latin typeface="Raleway"/>
            </a:endParaRPr>
          </a:p>
        </p:txBody>
      </p:sp>
      <p:sp>
        <p:nvSpPr>
          <p:cNvPr id="22" name="Shape 20">
            <a:extLst>
              <a:ext uri="{FF2B5EF4-FFF2-40B4-BE49-F238E27FC236}">
                <a16:creationId xmlns:a16="http://schemas.microsoft.com/office/drawing/2014/main" id="{F4DC8E08-4E2B-0815-7595-A50ED2D68CB5}"/>
              </a:ext>
            </a:extLst>
          </p:cNvPr>
          <p:cNvSpPr/>
          <p:nvPr/>
        </p:nvSpPr>
        <p:spPr>
          <a:xfrm>
            <a:off x="10027920" y="1188720"/>
            <a:ext cx="1767840" cy="960120"/>
          </a:xfrm>
          <a:prstGeom prst="rect">
            <a:avLst/>
          </a:prstGeom>
          <a:solidFill>
            <a:srgbClr val="0070C0"/>
          </a:solidFill>
          <a:ln w="12700">
            <a:solidFill>
              <a:srgbClr val="1F6FB2"/>
            </a:solidFill>
            <a:prstDash val="solid"/>
          </a:ln>
        </p:spPr>
        <p:txBody>
          <a:bodyPr/>
          <a:lstStyle/>
          <a:p>
            <a:endParaRPr lang="en-US">
              <a:latin typeface="Raleway"/>
            </a:endParaRPr>
          </a:p>
        </p:txBody>
      </p:sp>
      <p:sp>
        <p:nvSpPr>
          <p:cNvPr id="23" name="closesesuaislalvl3">
            <a:extLst>
              <a:ext uri="{FF2B5EF4-FFF2-40B4-BE49-F238E27FC236}">
                <a16:creationId xmlns:a16="http://schemas.microsoft.com/office/drawing/2014/main" id="{65234EAB-6CAA-31A5-78FC-D2F9D994C703}"/>
              </a:ext>
            </a:extLst>
          </p:cNvPr>
          <p:cNvSpPr/>
          <p:nvPr/>
        </p:nvSpPr>
        <p:spPr>
          <a:xfrm>
            <a:off x="10027920" y="1261872"/>
            <a:ext cx="1767840" cy="548640"/>
          </a:xfrm>
          <a:prstGeom prst="rect">
            <a:avLst/>
          </a:prstGeom>
          <a:noFill/>
          <a:ln/>
        </p:spPr>
        <p:txBody>
          <a:bodyPr wrap="square" lIns="0" tIns="0" rIns="0" bIns="0" rtlCol="0" anchor="ctr">
            <a:noAutofit/>
          </a:bodyPr>
          <a:lstStyle/>
          <a:p>
            <a:pPr marL="0" indent="0" algn="ctr">
              <a:buNone/>
            </a:pPr>
            <a:r>
              <a:rPr lang="en-US" sz="3000" b="1">
                <a:solidFill>
                  <a:schemeClr val="bg1"/>
                </a:solidFill>
                <a:latin typeface="Raleway"/>
                <a:ea typeface="Calibri"/>
                <a:cs typeface="Calibri"/>
              </a:rPr>
              <a:t>20,44%</a:t>
            </a:r>
            <a:endParaRPr lang="en-US" sz="3000">
              <a:solidFill>
                <a:schemeClr val="bg1"/>
              </a:solidFill>
              <a:latin typeface="Raleway"/>
            </a:endParaRPr>
          </a:p>
        </p:txBody>
      </p:sp>
      <p:sp>
        <p:nvSpPr>
          <p:cNvPr id="24" name="Text 22">
            <a:extLst>
              <a:ext uri="{FF2B5EF4-FFF2-40B4-BE49-F238E27FC236}">
                <a16:creationId xmlns:a16="http://schemas.microsoft.com/office/drawing/2014/main" id="{6610CB45-46F3-982C-990D-1CAE2ABD65A3}"/>
              </a:ext>
            </a:extLst>
          </p:cNvPr>
          <p:cNvSpPr/>
          <p:nvPr/>
        </p:nvSpPr>
        <p:spPr>
          <a:xfrm>
            <a:off x="10027920"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 SESUAI SLA</a:t>
            </a:r>
            <a:endParaRPr lang="en-US" sz="1100">
              <a:latin typeface="Raleway"/>
            </a:endParaRPr>
          </a:p>
        </p:txBody>
      </p:sp>
      <p:sp>
        <p:nvSpPr>
          <p:cNvPr id="35" name="TextBox 34">
            <a:extLst>
              <a:ext uri="{FF2B5EF4-FFF2-40B4-BE49-F238E27FC236}">
                <a16:creationId xmlns:a16="http://schemas.microsoft.com/office/drawing/2014/main" id="{59554AB7-E3B5-4B3E-8F76-8F53623F0748}"/>
              </a:ext>
            </a:extLst>
          </p:cNvPr>
          <p:cNvSpPr txBox="1"/>
          <p:nvPr/>
        </p:nvSpPr>
        <p:spPr>
          <a:xfrm>
            <a:off x="534194" y="3089797"/>
            <a:ext cx="1865548" cy="707886"/>
          </a:xfrm>
          <a:prstGeom prst="rect">
            <a:avLst/>
          </a:prstGeom>
          <a:noFill/>
        </p:spPr>
        <p:txBody>
          <a:bodyPr wrap="square" lIns="91440" tIns="45720" rIns="91440" bIns="45720" rtlCol="0" anchor="t">
            <a:spAutoFit/>
          </a:bodyPr>
          <a:lstStyle/>
          <a:p>
            <a:r>
              <a:rPr lang="en-US" sz="800" b="1">
                <a:solidFill>
                  <a:srgbClr val="3333FF"/>
                </a:solidFill>
                <a:latin typeface="Raleway"/>
              </a:rPr>
              <a:t>Note:</a:t>
            </a:r>
          </a:p>
          <a:p>
            <a:r>
              <a:rPr lang="en-US" sz="800" err="1">
                <a:solidFill>
                  <a:srgbClr val="3333FF"/>
                </a:solidFill>
                <a:latin typeface="Raleway"/>
              </a:rPr>
              <a:t>Sebanyak</a:t>
            </a:r>
            <a:r>
              <a:rPr lang="en-US" sz="800">
                <a:solidFill>
                  <a:srgbClr val="3333FF"/>
                </a:solidFill>
                <a:latin typeface="Raleway"/>
              </a:rPr>
              <a:t> </a:t>
            </a:r>
            <a:r>
              <a:rPr lang="en-US" sz="800" b="1">
                <a:solidFill>
                  <a:srgbClr val="3333FF"/>
                </a:solidFill>
                <a:latin typeface="Raleway"/>
              </a:rPr>
              <a:t>63</a:t>
            </a:r>
          </a:p>
          <a:p>
            <a:r>
              <a:rPr lang="en-US" sz="800" b="1">
                <a:solidFill>
                  <a:srgbClr val="3333FF"/>
                </a:solidFill>
                <a:latin typeface="Raleway"/>
              </a:rPr>
              <a:t> FPTK</a:t>
            </a:r>
            <a:r>
              <a:rPr lang="en-US" sz="800">
                <a:solidFill>
                  <a:srgbClr val="3333FF"/>
                </a:solidFill>
                <a:latin typeface="Raleway"/>
              </a:rPr>
              <a:t> </a:t>
            </a:r>
            <a:r>
              <a:rPr lang="en-US" sz="800" err="1">
                <a:solidFill>
                  <a:srgbClr val="3333FF"/>
                </a:solidFill>
                <a:latin typeface="Raleway"/>
              </a:rPr>
              <a:t>adalah</a:t>
            </a:r>
            <a:r>
              <a:rPr lang="en-US" sz="800">
                <a:solidFill>
                  <a:srgbClr val="3333FF"/>
                </a:solidFill>
                <a:latin typeface="Raleway"/>
              </a:rPr>
              <a:t> </a:t>
            </a:r>
            <a:r>
              <a:rPr lang="en-US" sz="800" b="1" err="1">
                <a:solidFill>
                  <a:srgbClr val="3333FF"/>
                </a:solidFill>
                <a:latin typeface="Raleway"/>
              </a:rPr>
              <a:t>oustanding</a:t>
            </a:r>
            <a:r>
              <a:rPr lang="en-US" sz="800" b="1">
                <a:solidFill>
                  <a:srgbClr val="3333FF"/>
                </a:solidFill>
                <a:latin typeface="Raleway"/>
              </a:rPr>
              <a:t> 2025</a:t>
            </a:r>
            <a:r>
              <a:rPr lang="en-US" sz="800">
                <a:solidFill>
                  <a:srgbClr val="3333FF"/>
                </a:solidFill>
                <a:latin typeface="Raleway"/>
              </a:rPr>
              <a:t> (</a:t>
            </a:r>
            <a:r>
              <a:rPr lang="en-US" sz="800" err="1">
                <a:solidFill>
                  <a:srgbClr val="3333FF"/>
                </a:solidFill>
                <a:latin typeface="Raleway"/>
              </a:rPr>
              <a:t>sudah</a:t>
            </a:r>
            <a:r>
              <a:rPr lang="en-US" sz="800">
                <a:solidFill>
                  <a:srgbClr val="3333FF"/>
                </a:solidFill>
                <a:latin typeface="Raleway"/>
              </a:rPr>
              <a:t> di exclude </a:t>
            </a:r>
            <a:r>
              <a:rPr lang="en-US" sz="800" err="1">
                <a:solidFill>
                  <a:srgbClr val="3333FF"/>
                </a:solidFill>
                <a:latin typeface="Raleway"/>
              </a:rPr>
              <a:t>dari</a:t>
            </a:r>
            <a:r>
              <a:rPr lang="en-US" sz="800">
                <a:solidFill>
                  <a:srgbClr val="3333FF"/>
                </a:solidFill>
                <a:latin typeface="Raleway"/>
              </a:rPr>
              <a:t> </a:t>
            </a:r>
            <a:r>
              <a:rPr lang="en-US" sz="800" err="1">
                <a:solidFill>
                  <a:srgbClr val="3333FF"/>
                </a:solidFill>
                <a:latin typeface="Raleway"/>
              </a:rPr>
              <a:t>perhitungan</a:t>
            </a:r>
            <a:r>
              <a:rPr lang="en-US" sz="800">
                <a:solidFill>
                  <a:srgbClr val="3333FF"/>
                </a:solidFill>
                <a:latin typeface="Raleway"/>
              </a:rPr>
              <a:t> average)</a:t>
            </a:r>
            <a:endParaRPr lang="en-US" sz="800">
              <a:solidFill>
                <a:srgbClr val="3333FF"/>
              </a:solidFill>
              <a:ea typeface="Calibri"/>
              <a:cs typeface="Calibri"/>
            </a:endParaRPr>
          </a:p>
        </p:txBody>
      </p:sp>
      <p:sp>
        <p:nvSpPr>
          <p:cNvPr id="30" name="TextBox 29">
            <a:extLst>
              <a:ext uri="{FF2B5EF4-FFF2-40B4-BE49-F238E27FC236}">
                <a16:creationId xmlns:a16="http://schemas.microsoft.com/office/drawing/2014/main" id="{51042570-E0F5-C9A4-0DEB-A2EE0224F95D}"/>
              </a:ext>
            </a:extLst>
          </p:cNvPr>
          <p:cNvSpPr txBox="1"/>
          <p:nvPr/>
        </p:nvSpPr>
        <p:spPr>
          <a:xfrm>
            <a:off x="367281" y="2306026"/>
            <a:ext cx="2916183" cy="600164"/>
          </a:xfrm>
          <a:prstGeom prst="rect">
            <a:avLst/>
          </a:prstGeom>
          <a:noFill/>
        </p:spPr>
        <p:txBody>
          <a:bodyPr wrap="none" lIns="91440" tIns="45720" rIns="91440" bIns="45720" rtlCol="0" anchor="t">
            <a:spAutoFit/>
          </a:bodyPr>
          <a:lstStyle/>
          <a:p>
            <a:r>
              <a:rPr lang="en-US" sz="1100" b="1">
                <a:latin typeface="Raleway"/>
              </a:rPr>
              <a:t>Q1</a:t>
            </a:r>
          </a:p>
          <a:p>
            <a:r>
              <a:rPr lang="en-US" sz="1100">
                <a:latin typeface="Raleway"/>
              </a:rPr>
              <a:t>Average </a:t>
            </a:r>
            <a:r>
              <a:rPr lang="en-US" sz="1100" b="1">
                <a:latin typeface="Raleway"/>
              </a:rPr>
              <a:t>FPTK </a:t>
            </a:r>
            <a:r>
              <a:rPr lang="en-US" sz="1100" b="1" err="1">
                <a:latin typeface="Raleway"/>
              </a:rPr>
              <a:t>Diterima</a:t>
            </a:r>
            <a:r>
              <a:rPr lang="en-US" sz="1100">
                <a:latin typeface="Raleway"/>
              </a:rPr>
              <a:t> =</a:t>
            </a:r>
            <a:r>
              <a:rPr lang="en-US" sz="1100" b="1">
                <a:latin typeface="Raleway"/>
              </a:rPr>
              <a:t>       FPTK/ week</a:t>
            </a:r>
          </a:p>
          <a:p>
            <a:r>
              <a:rPr lang="en-US" sz="1100">
                <a:latin typeface="Raleway"/>
              </a:rPr>
              <a:t>Average </a:t>
            </a:r>
            <a:r>
              <a:rPr lang="en-US" sz="1100" b="1">
                <a:latin typeface="Raleway"/>
              </a:rPr>
              <a:t>FPTK Closed</a:t>
            </a:r>
            <a:r>
              <a:rPr lang="en-US" sz="1100">
                <a:latin typeface="Raleway"/>
              </a:rPr>
              <a:t> =       </a:t>
            </a:r>
            <a:r>
              <a:rPr lang="en-US" sz="1100" b="1">
                <a:latin typeface="Raleway"/>
              </a:rPr>
              <a:t>FPTK/ week</a:t>
            </a:r>
          </a:p>
        </p:txBody>
      </p:sp>
      <p:sp>
        <p:nvSpPr>
          <p:cNvPr id="32" name="TextBox 31">
            <a:extLst>
              <a:ext uri="{FF2B5EF4-FFF2-40B4-BE49-F238E27FC236}">
                <a16:creationId xmlns:a16="http://schemas.microsoft.com/office/drawing/2014/main" id="{ADE525F8-28E6-5119-33EF-2AA0C4A0E287}"/>
              </a:ext>
            </a:extLst>
          </p:cNvPr>
          <p:cNvSpPr txBox="1"/>
          <p:nvPr/>
        </p:nvSpPr>
        <p:spPr>
          <a:xfrm>
            <a:off x="8916197" y="2306027"/>
            <a:ext cx="2911374" cy="600164"/>
          </a:xfrm>
          <a:prstGeom prst="rect">
            <a:avLst/>
          </a:prstGeom>
          <a:noFill/>
        </p:spPr>
        <p:txBody>
          <a:bodyPr wrap="none" lIns="91440" tIns="45720" rIns="91440" bIns="45720" rtlCol="0" anchor="t">
            <a:spAutoFit/>
          </a:bodyPr>
          <a:lstStyle/>
          <a:p>
            <a:r>
              <a:rPr lang="en-US" sz="1100" b="1">
                <a:latin typeface="Raleway"/>
              </a:rPr>
              <a:t>Q2</a:t>
            </a:r>
          </a:p>
          <a:p>
            <a:r>
              <a:rPr lang="en-US" sz="1100">
                <a:latin typeface="Raleway"/>
              </a:rPr>
              <a:t>Average </a:t>
            </a:r>
            <a:r>
              <a:rPr lang="en-US" sz="1100" b="1">
                <a:latin typeface="Raleway"/>
              </a:rPr>
              <a:t>FPTK </a:t>
            </a:r>
            <a:r>
              <a:rPr lang="en-US" sz="1100" b="1" err="1">
                <a:latin typeface="Raleway"/>
              </a:rPr>
              <a:t>Diterima</a:t>
            </a:r>
            <a:r>
              <a:rPr lang="en-US" sz="1100">
                <a:latin typeface="Raleway"/>
              </a:rPr>
              <a:t> =       </a:t>
            </a:r>
            <a:r>
              <a:rPr lang="en-US" sz="1100" b="1">
                <a:latin typeface="Raleway"/>
              </a:rPr>
              <a:t>FPTK/ week</a:t>
            </a:r>
          </a:p>
          <a:p>
            <a:r>
              <a:rPr lang="en-US" sz="1100">
                <a:latin typeface="Raleway"/>
              </a:rPr>
              <a:t>Average </a:t>
            </a:r>
            <a:r>
              <a:rPr lang="en-US" sz="1100" b="1">
                <a:latin typeface="Raleway"/>
              </a:rPr>
              <a:t>FPTK Closed</a:t>
            </a:r>
            <a:r>
              <a:rPr lang="en-US" sz="1100">
                <a:latin typeface="Raleway"/>
              </a:rPr>
              <a:t> =        </a:t>
            </a:r>
            <a:r>
              <a:rPr lang="en-US" sz="1100" b="1">
                <a:latin typeface="Raleway"/>
              </a:rPr>
              <a:t>FPTK/ week</a:t>
            </a:r>
          </a:p>
        </p:txBody>
      </p:sp>
      <p:cxnSp>
        <p:nvCxnSpPr>
          <p:cNvPr id="6" name="Straight Connector 5">
            <a:extLst>
              <a:ext uri="{FF2B5EF4-FFF2-40B4-BE49-F238E27FC236}">
                <a16:creationId xmlns:a16="http://schemas.microsoft.com/office/drawing/2014/main" id="{A55AD9D8-0391-2B81-CC7E-0F33CC06615E}"/>
              </a:ext>
            </a:extLst>
          </p:cNvPr>
          <p:cNvCxnSpPr>
            <a:cxnSpLocks/>
          </p:cNvCxnSpPr>
          <p:nvPr/>
        </p:nvCxnSpPr>
        <p:spPr>
          <a:xfrm>
            <a:off x="5727948" y="3588160"/>
            <a:ext cx="0" cy="2541391"/>
          </a:xfrm>
          <a:prstGeom prst="line">
            <a:avLst/>
          </a:prstGeom>
        </p:spPr>
        <p:style>
          <a:lnRef idx="2">
            <a:schemeClr val="accent1"/>
          </a:lnRef>
          <a:fillRef idx="0">
            <a:schemeClr val="accent1"/>
          </a:fillRef>
          <a:effectRef idx="1">
            <a:schemeClr val="accent1"/>
          </a:effectRef>
          <a:fontRef idx="minor">
            <a:schemeClr val="tx1"/>
          </a:fontRef>
        </p:style>
      </p:cxnSp>
      <p:sp>
        <p:nvSpPr>
          <p:cNvPr id="33" name="Qbeforediterima">
            <a:extLst>
              <a:ext uri="{FF2B5EF4-FFF2-40B4-BE49-F238E27FC236}">
                <a16:creationId xmlns:a16="http://schemas.microsoft.com/office/drawing/2014/main" id="{24E5C78E-A6D8-5568-EDDD-81B28BB44550}"/>
              </a:ext>
            </a:extLst>
          </p:cNvPr>
          <p:cNvSpPr txBox="1"/>
          <p:nvPr/>
        </p:nvSpPr>
        <p:spPr>
          <a:xfrm>
            <a:off x="2011290" y="2463832"/>
            <a:ext cx="439809" cy="261610"/>
          </a:xfrm>
          <a:prstGeom prst="rect">
            <a:avLst/>
          </a:prstGeom>
          <a:noFill/>
        </p:spPr>
        <p:txBody>
          <a:bodyPr wrap="square" lIns="91440" tIns="45720" rIns="91440" bIns="45720" rtlCol="0" anchor="t">
            <a:spAutoFit/>
          </a:bodyPr>
          <a:lstStyle/>
          <a:p>
            <a:r>
              <a:rPr lang="en-US" sz="1100" b="1">
                <a:latin typeface="Raleway"/>
              </a:rPr>
              <a:t>4.8</a:t>
            </a:r>
          </a:p>
        </p:txBody>
      </p:sp>
      <p:sp>
        <p:nvSpPr>
          <p:cNvPr id="36" name="Qbeforeclosed">
            <a:extLst>
              <a:ext uri="{FF2B5EF4-FFF2-40B4-BE49-F238E27FC236}">
                <a16:creationId xmlns:a16="http://schemas.microsoft.com/office/drawing/2014/main" id="{D9AE01D8-5E03-FF8C-7F70-2F75E2DCAB36}"/>
              </a:ext>
            </a:extLst>
          </p:cNvPr>
          <p:cNvSpPr txBox="1"/>
          <p:nvPr/>
        </p:nvSpPr>
        <p:spPr>
          <a:xfrm>
            <a:off x="1896491" y="2627291"/>
            <a:ext cx="439808" cy="261610"/>
          </a:xfrm>
          <a:prstGeom prst="rect">
            <a:avLst/>
          </a:prstGeom>
          <a:noFill/>
        </p:spPr>
        <p:txBody>
          <a:bodyPr wrap="square" lIns="91440" tIns="45720" rIns="91440" bIns="45720" rtlCol="0" anchor="t">
            <a:spAutoFit/>
          </a:bodyPr>
          <a:lstStyle/>
          <a:p>
            <a:r>
              <a:rPr lang="en-US" sz="1100" b="1">
                <a:latin typeface="Raleway"/>
              </a:rPr>
              <a:t>2.9</a:t>
            </a:r>
          </a:p>
        </p:txBody>
      </p:sp>
      <p:sp>
        <p:nvSpPr>
          <p:cNvPr id="38" name="Qafterditerima">
            <a:extLst>
              <a:ext uri="{FF2B5EF4-FFF2-40B4-BE49-F238E27FC236}">
                <a16:creationId xmlns:a16="http://schemas.microsoft.com/office/drawing/2014/main" id="{8D7B7A0C-AA4E-0952-BF61-64D1D481DA4C}"/>
              </a:ext>
            </a:extLst>
          </p:cNvPr>
          <p:cNvSpPr txBox="1"/>
          <p:nvPr/>
        </p:nvSpPr>
        <p:spPr>
          <a:xfrm>
            <a:off x="10563606" y="2466300"/>
            <a:ext cx="459994" cy="261610"/>
          </a:xfrm>
          <a:prstGeom prst="rect">
            <a:avLst/>
          </a:prstGeom>
          <a:noFill/>
        </p:spPr>
        <p:txBody>
          <a:bodyPr wrap="square" lIns="91440" tIns="45720" rIns="91440" bIns="45720" rtlCol="0" anchor="t">
            <a:spAutoFit/>
          </a:bodyPr>
          <a:lstStyle/>
          <a:p>
            <a:r>
              <a:rPr lang="en-US" sz="1100" b="1">
                <a:latin typeface="Raleway"/>
              </a:rPr>
              <a:t>8.1</a:t>
            </a:r>
          </a:p>
        </p:txBody>
      </p:sp>
      <p:sp>
        <p:nvSpPr>
          <p:cNvPr id="40" name="Qafterclosed">
            <a:extLst>
              <a:ext uri="{FF2B5EF4-FFF2-40B4-BE49-F238E27FC236}">
                <a16:creationId xmlns:a16="http://schemas.microsoft.com/office/drawing/2014/main" id="{261F2A27-CF9B-F03D-F941-B5C9502A5D85}"/>
              </a:ext>
            </a:extLst>
          </p:cNvPr>
          <p:cNvSpPr txBox="1"/>
          <p:nvPr/>
        </p:nvSpPr>
        <p:spPr>
          <a:xfrm>
            <a:off x="10474207" y="2619179"/>
            <a:ext cx="502826" cy="261610"/>
          </a:xfrm>
          <a:prstGeom prst="rect">
            <a:avLst/>
          </a:prstGeom>
          <a:noFill/>
        </p:spPr>
        <p:txBody>
          <a:bodyPr wrap="square" lIns="91440" tIns="45720" rIns="91440" bIns="45720" rtlCol="0" anchor="t">
            <a:spAutoFit/>
          </a:bodyPr>
          <a:lstStyle/>
          <a:p>
            <a:r>
              <a:rPr lang="en-US" sz="1100" b="1">
                <a:latin typeface="Raleway"/>
              </a:rPr>
              <a:t>3.9</a:t>
            </a:r>
          </a:p>
        </p:txBody>
      </p:sp>
    </p:spTree>
    <p:extLst>
      <p:ext uri="{BB962C8B-B14F-4D97-AF65-F5344CB8AC3E}">
        <p14:creationId xmlns:p14="http://schemas.microsoft.com/office/powerpoint/2010/main" val="380751071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E40201-2DC9-AE8D-EB3A-5260E790D45D}"/>
            </a:ext>
          </a:extLst>
        </p:cNvPr>
        <p:cNvGrpSpPr/>
        <p:nvPr/>
      </p:nvGrpSpPr>
      <p:grpSpPr>
        <a:xfrm>
          <a:off x="0" y="0"/>
          <a:ext cx="0" cy="0"/>
          <a:chOff x="0" y="0"/>
          <a:chExt cx="0" cy="0"/>
        </a:xfrm>
      </p:grpSpPr>
      <p:sp>
        <p:nvSpPr>
          <p:cNvPr id="40" name="Text 19">
            <a:extLst>
              <a:ext uri="{FF2B5EF4-FFF2-40B4-BE49-F238E27FC236}">
                <a16:creationId xmlns:a16="http://schemas.microsoft.com/office/drawing/2014/main" id="{22EE791B-84A2-3EAF-BA34-9276EBB7EF1A}"/>
              </a:ext>
            </a:extLst>
          </p:cNvPr>
          <p:cNvSpPr/>
          <p:nvPr/>
        </p:nvSpPr>
        <p:spPr>
          <a:xfrm>
            <a:off x="8095488"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FILL RATE</a:t>
            </a:r>
            <a:endParaRPr lang="en-US" sz="1100">
              <a:latin typeface="Raleway"/>
            </a:endParaRPr>
          </a:p>
        </p:txBody>
      </p:sp>
      <p:sp>
        <p:nvSpPr>
          <p:cNvPr id="43" name="Text 22">
            <a:extLst>
              <a:ext uri="{FF2B5EF4-FFF2-40B4-BE49-F238E27FC236}">
                <a16:creationId xmlns:a16="http://schemas.microsoft.com/office/drawing/2014/main" id="{E38C19B4-BD96-117C-1E8E-D805AC555E9D}"/>
              </a:ext>
            </a:extLst>
          </p:cNvPr>
          <p:cNvSpPr/>
          <p:nvPr/>
        </p:nvSpPr>
        <p:spPr>
          <a:xfrm>
            <a:off x="10027920"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 SESUAI SLA</a:t>
            </a:r>
            <a:endParaRPr lang="en-US" sz="1100">
              <a:latin typeface="Raleway"/>
            </a:endParaRPr>
          </a:p>
        </p:txBody>
      </p:sp>
      <p:sp>
        <p:nvSpPr>
          <p:cNvPr id="6" name="Text 0">
            <a:extLst>
              <a:ext uri="{FF2B5EF4-FFF2-40B4-BE49-F238E27FC236}">
                <a16:creationId xmlns:a16="http://schemas.microsoft.com/office/drawing/2014/main" id="{9CD8F5F4-3311-3269-104B-A098FF3F1E8F}"/>
              </a:ext>
            </a:extLst>
          </p:cNvPr>
          <p:cNvSpPr/>
          <p:nvPr/>
        </p:nvSpPr>
        <p:spPr>
          <a:xfrm>
            <a:off x="354124" y="164592"/>
            <a:ext cx="6858000" cy="502920"/>
          </a:xfrm>
          <a:prstGeom prst="rect">
            <a:avLst/>
          </a:prstGeom>
          <a:noFill/>
          <a:ln/>
        </p:spPr>
        <p:txBody>
          <a:bodyPr wrap="square" lIns="0" tIns="0" rIns="0" bIns="0" rtlCol="0" anchor="ctr"/>
          <a:lstStyle/>
          <a:p>
            <a:r>
              <a:rPr lang="en-US" sz="2800" b="1">
                <a:solidFill>
                  <a:srgbClr val="12284C"/>
                </a:solidFill>
                <a:latin typeface="Raleway"/>
                <a:ea typeface="Georgia" pitchFamily="34" charset="-122"/>
                <a:cs typeface="Georgia" pitchFamily="34" charset="-120"/>
              </a:rPr>
              <a:t>83 FPTK Open — Level 3</a:t>
            </a:r>
            <a:endParaRPr lang="en-US" sz="2800" b="1">
              <a:solidFill>
                <a:srgbClr val="C00000"/>
              </a:solidFill>
              <a:latin typeface="Raleway"/>
            </a:endParaRPr>
          </a:p>
        </p:txBody>
      </p:sp>
      <p:graphicFrame>
        <p:nvGraphicFramePr>
          <p:cNvPr id="5" name="Table 4">
            <a:extLst>
              <a:ext uri="{FF2B5EF4-FFF2-40B4-BE49-F238E27FC236}">
                <a16:creationId xmlns:a16="http://schemas.microsoft.com/office/drawing/2014/main" id="{45D240DC-5B13-6CEC-4899-0605BD3E78BB}"/>
              </a:ext>
            </a:extLst>
          </p:cNvPr>
          <p:cNvGraphicFramePr>
            <a:graphicFrameLocks noGrp="1"/>
          </p:cNvGraphicFramePr>
          <p:nvPr>
            <p:extLst>
              <p:ext uri="{D42A27DB-BD31-4B8C-83A1-F6EECF244321}">
                <p14:modId xmlns:p14="http://schemas.microsoft.com/office/powerpoint/2010/main" val="1774551387"/>
              </p:ext>
            </p:extLst>
          </p:nvPr>
        </p:nvGraphicFramePr>
        <p:xfrm>
          <a:off x="354124" y="667512"/>
          <a:ext cx="11441637" cy="5745954"/>
        </p:xfrm>
        <a:graphic>
          <a:graphicData uri="http://schemas.openxmlformats.org/drawingml/2006/table">
            <a:tbl>
              <a:tblPr bandRow="1">
                <a:tableStyleId>{5C22544A-7EE6-4342-B048-85BDC9FD1C3A}</a:tableStyleId>
              </a:tblPr>
              <a:tblGrid>
                <a:gridCol w="691088">
                  <a:extLst>
                    <a:ext uri="{9D8B030D-6E8A-4147-A177-3AD203B41FA5}">
                      <a16:colId xmlns:a16="http://schemas.microsoft.com/office/drawing/2014/main" val="964775141"/>
                    </a:ext>
                  </a:extLst>
                </a:gridCol>
                <a:gridCol w="1774643">
                  <a:extLst>
                    <a:ext uri="{9D8B030D-6E8A-4147-A177-3AD203B41FA5}">
                      <a16:colId xmlns:a16="http://schemas.microsoft.com/office/drawing/2014/main" val="3818843332"/>
                    </a:ext>
                  </a:extLst>
                </a:gridCol>
                <a:gridCol w="1365111">
                  <a:extLst>
                    <a:ext uri="{9D8B030D-6E8A-4147-A177-3AD203B41FA5}">
                      <a16:colId xmlns:a16="http://schemas.microsoft.com/office/drawing/2014/main" val="3805053784"/>
                    </a:ext>
                  </a:extLst>
                </a:gridCol>
                <a:gridCol w="1003821">
                  <a:extLst>
                    <a:ext uri="{9D8B030D-6E8A-4147-A177-3AD203B41FA5}">
                      <a16:colId xmlns:a16="http://schemas.microsoft.com/office/drawing/2014/main" val="873694035"/>
                    </a:ext>
                  </a:extLst>
                </a:gridCol>
                <a:gridCol w="426326">
                  <a:extLst>
                    <a:ext uri="{9D8B030D-6E8A-4147-A177-3AD203B41FA5}">
                      <a16:colId xmlns:a16="http://schemas.microsoft.com/office/drawing/2014/main" val="2118302063"/>
                    </a:ext>
                  </a:extLst>
                </a:gridCol>
                <a:gridCol w="546571">
                  <a:extLst>
                    <a:ext uri="{9D8B030D-6E8A-4147-A177-3AD203B41FA5}">
                      <a16:colId xmlns:a16="http://schemas.microsoft.com/office/drawing/2014/main" val="347069574"/>
                    </a:ext>
                  </a:extLst>
                </a:gridCol>
                <a:gridCol w="601228">
                  <a:extLst>
                    <a:ext uri="{9D8B030D-6E8A-4147-A177-3AD203B41FA5}">
                      <a16:colId xmlns:a16="http://schemas.microsoft.com/office/drawing/2014/main" val="2517663509"/>
                    </a:ext>
                  </a:extLst>
                </a:gridCol>
                <a:gridCol w="557503">
                  <a:extLst>
                    <a:ext uri="{9D8B030D-6E8A-4147-A177-3AD203B41FA5}">
                      <a16:colId xmlns:a16="http://schemas.microsoft.com/office/drawing/2014/main" val="4256926922"/>
                    </a:ext>
                  </a:extLst>
                </a:gridCol>
                <a:gridCol w="699610">
                  <a:extLst>
                    <a:ext uri="{9D8B030D-6E8A-4147-A177-3AD203B41FA5}">
                      <a16:colId xmlns:a16="http://schemas.microsoft.com/office/drawing/2014/main" val="103401002"/>
                    </a:ext>
                  </a:extLst>
                </a:gridCol>
                <a:gridCol w="623091">
                  <a:extLst>
                    <a:ext uri="{9D8B030D-6E8A-4147-A177-3AD203B41FA5}">
                      <a16:colId xmlns:a16="http://schemas.microsoft.com/office/drawing/2014/main" val="1508212738"/>
                    </a:ext>
                  </a:extLst>
                </a:gridCol>
                <a:gridCol w="557503">
                  <a:extLst>
                    <a:ext uri="{9D8B030D-6E8A-4147-A177-3AD203B41FA5}">
                      <a16:colId xmlns:a16="http://schemas.microsoft.com/office/drawing/2014/main" val="2156794149"/>
                    </a:ext>
                  </a:extLst>
                </a:gridCol>
                <a:gridCol w="590297">
                  <a:extLst>
                    <a:ext uri="{9D8B030D-6E8A-4147-A177-3AD203B41FA5}">
                      <a16:colId xmlns:a16="http://schemas.microsoft.com/office/drawing/2014/main" val="225074111"/>
                    </a:ext>
                  </a:extLst>
                </a:gridCol>
                <a:gridCol w="460562">
                  <a:extLst>
                    <a:ext uri="{9D8B030D-6E8A-4147-A177-3AD203B41FA5}">
                      <a16:colId xmlns:a16="http://schemas.microsoft.com/office/drawing/2014/main" val="461221745"/>
                    </a:ext>
                  </a:extLst>
                </a:gridCol>
                <a:gridCol w="503385">
                  <a:extLst>
                    <a:ext uri="{9D8B030D-6E8A-4147-A177-3AD203B41FA5}">
                      <a16:colId xmlns:a16="http://schemas.microsoft.com/office/drawing/2014/main" val="1428405946"/>
                    </a:ext>
                  </a:extLst>
                </a:gridCol>
                <a:gridCol w="341278">
                  <a:extLst>
                    <a:ext uri="{9D8B030D-6E8A-4147-A177-3AD203B41FA5}">
                      <a16:colId xmlns:a16="http://schemas.microsoft.com/office/drawing/2014/main" val="1005622174"/>
                    </a:ext>
                  </a:extLst>
                </a:gridCol>
                <a:gridCol w="349810">
                  <a:extLst>
                    <a:ext uri="{9D8B030D-6E8A-4147-A177-3AD203B41FA5}">
                      <a16:colId xmlns:a16="http://schemas.microsoft.com/office/drawing/2014/main" val="4214742890"/>
                    </a:ext>
                  </a:extLst>
                </a:gridCol>
                <a:gridCol w="349810">
                  <a:extLst>
                    <a:ext uri="{9D8B030D-6E8A-4147-A177-3AD203B41FA5}">
                      <a16:colId xmlns:a16="http://schemas.microsoft.com/office/drawing/2014/main" val="3877463835"/>
                    </a:ext>
                  </a:extLst>
                </a:gridCol>
              </a:tblGrid>
              <a:tr h="442868">
                <a:tc>
                  <a:txBody>
                    <a:bodyPr/>
                    <a:lstStyle/>
                    <a:p>
                      <a:pPr algn="ctr" rtl="0" fontAlgn="ctr">
                        <a:buNone/>
                      </a:pPr>
                      <a:r>
                        <a:rPr lang="en-US" sz="800" b="1" i="0" u="none" strike="noStrike">
                          <a:solidFill>
                            <a:srgbClr val="FFFFFF"/>
                          </a:solidFill>
                          <a:effectLst/>
                          <a:latin typeface="Aptos Narrow" panose="020B0004020202020204" pitchFamily="34" charset="0"/>
                        </a:rPr>
                        <a:t>FPTK Date Real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Posisi</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Business Unit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PIC Recruiter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Sourcing FL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Sourcing HR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Shortlisted User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Psikotes</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HR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Technical Case</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Market Visit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User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Panel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Reference Check</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MCU</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Offering</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Day One</a:t>
                      </a:r>
                    </a:p>
                  </a:txBody>
                  <a:tcPr marL="0" marR="0" marT="0" marB="0" anchor="ctr">
                    <a:lnL>
                      <a:noFill/>
                    </a:lnL>
                    <a:lnR>
                      <a:noFill/>
                    </a:lnR>
                    <a:lnT>
                      <a:noFill/>
                    </a:lnT>
                    <a:lnB>
                      <a:noFill/>
                    </a:lnB>
                    <a:solidFill>
                      <a:srgbClr val="2C3E50"/>
                    </a:solidFill>
                  </a:tcPr>
                </a:tc>
                <a:extLst>
                  <a:ext uri="{0D108BD9-81ED-4DB2-BD59-A6C34878D82A}">
                    <a16:rowId xmlns:a16="http://schemas.microsoft.com/office/drawing/2014/main" val="276996153"/>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27-Feb-25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Food Service Supervisor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Brittney</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252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22271737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10-Jun-25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Tax Supervisor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Karin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130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7</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7</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808569414"/>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Maintenance Supervisor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185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extLst>
                  <a:ext uri="{0D108BD9-81ED-4DB2-BD59-A6C34878D82A}">
                    <a16:rowId xmlns:a16="http://schemas.microsoft.com/office/drawing/2014/main" val="295290552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Production Supervisor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Karin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25770375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Production Supervisor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Karin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88035826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Control Supervisor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Karin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981100202"/>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Control Supervisor - Incoming</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165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848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189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17</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376468157"/>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Control Supervisor - Laboratory</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88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199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extLst>
                  <a:ext uri="{0D108BD9-81ED-4DB2-BD59-A6C34878D82A}">
                    <a16:rowId xmlns:a16="http://schemas.microsoft.com/office/drawing/2014/main" val="203488664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Regulatory Supervisor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235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4160727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Waste Water Treatment Plant Supervisor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389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77</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238096821"/>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Finance Supervisor - GT MP &amp; JESS</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Karin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180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76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83467016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16-Oct-25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International Marketing Manager - ASEAN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Pauline</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70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461425895"/>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10-Nov-25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Head of Area Ketapang</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Karin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103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3536401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22-Nov-25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Key Account Supervisor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4234110072"/>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16-Dec-25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Tax Supervisor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Valen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156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423729169"/>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04-Feb-26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Mechanical &amp; Piping Specialist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Karin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171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29065694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02-Mar-26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Brand Partnership Specialist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Karin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528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28095855"/>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03-Mar-26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Area Sales Supervisor - Jakarta Selatan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Kevin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163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19477437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18-Mar-26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Area Sales Supervisor (Chilled) - Semarang</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Valen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06633629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20-Mar-26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Area Sales Supervisor - Tangerang Selatan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Kevin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139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783835084"/>
                  </a:ext>
                </a:extLst>
              </a:tr>
            </a:tbl>
          </a:graphicData>
        </a:graphic>
      </p:graphicFrame>
    </p:spTree>
    <p:extLst>
      <p:ext uri="{BB962C8B-B14F-4D97-AF65-F5344CB8AC3E}">
        <p14:creationId xmlns:p14="http://schemas.microsoft.com/office/powerpoint/2010/main" val="2117777768"/>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A783FB-995F-7113-3E93-84B804CE6175}"/>
            </a:ext>
          </a:extLst>
        </p:cNvPr>
        <p:cNvGrpSpPr/>
        <p:nvPr/>
      </p:nvGrpSpPr>
      <p:grpSpPr>
        <a:xfrm>
          <a:off x="0" y="0"/>
          <a:ext cx="0" cy="0"/>
          <a:chOff x="0" y="0"/>
          <a:chExt cx="0" cy="0"/>
        </a:xfrm>
      </p:grpSpPr>
      <p:sp>
        <p:nvSpPr>
          <p:cNvPr id="40" name="Text 19">
            <a:extLst>
              <a:ext uri="{FF2B5EF4-FFF2-40B4-BE49-F238E27FC236}">
                <a16:creationId xmlns:a16="http://schemas.microsoft.com/office/drawing/2014/main" id="{6F7FA1AF-3EFC-E656-CAE3-680262AE3CE0}"/>
              </a:ext>
            </a:extLst>
          </p:cNvPr>
          <p:cNvSpPr/>
          <p:nvPr/>
        </p:nvSpPr>
        <p:spPr>
          <a:xfrm>
            <a:off x="8095488"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FILL RATE</a:t>
            </a:r>
            <a:endParaRPr lang="en-US" sz="1100">
              <a:latin typeface="Raleway"/>
            </a:endParaRPr>
          </a:p>
        </p:txBody>
      </p:sp>
      <p:sp>
        <p:nvSpPr>
          <p:cNvPr id="43" name="Text 22">
            <a:extLst>
              <a:ext uri="{FF2B5EF4-FFF2-40B4-BE49-F238E27FC236}">
                <a16:creationId xmlns:a16="http://schemas.microsoft.com/office/drawing/2014/main" id="{3511F7F5-589F-5F64-160E-5AE05FD860EF}"/>
              </a:ext>
            </a:extLst>
          </p:cNvPr>
          <p:cNvSpPr/>
          <p:nvPr/>
        </p:nvSpPr>
        <p:spPr>
          <a:xfrm>
            <a:off x="10027920"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 SESUAI SLA</a:t>
            </a:r>
            <a:endParaRPr lang="en-US" sz="1100">
              <a:latin typeface="Raleway"/>
            </a:endParaRPr>
          </a:p>
        </p:txBody>
      </p:sp>
      <p:sp>
        <p:nvSpPr>
          <p:cNvPr id="6" name="Text 0">
            <a:extLst>
              <a:ext uri="{FF2B5EF4-FFF2-40B4-BE49-F238E27FC236}">
                <a16:creationId xmlns:a16="http://schemas.microsoft.com/office/drawing/2014/main" id="{E8ED3E84-AD93-09DE-3441-8CF1C090364D}"/>
              </a:ext>
            </a:extLst>
          </p:cNvPr>
          <p:cNvSpPr/>
          <p:nvPr/>
        </p:nvSpPr>
        <p:spPr>
          <a:xfrm>
            <a:off x="354124" y="164592"/>
            <a:ext cx="6858000" cy="502920"/>
          </a:xfrm>
          <a:prstGeom prst="rect">
            <a:avLst/>
          </a:prstGeom>
          <a:noFill/>
          <a:ln/>
        </p:spPr>
        <p:txBody>
          <a:bodyPr wrap="square" lIns="0" tIns="0" rIns="0" bIns="0" rtlCol="0" anchor="ctr"/>
          <a:lstStyle/>
          <a:p>
            <a:r>
              <a:rPr lang="en-US" sz="2800" b="1">
                <a:solidFill>
                  <a:srgbClr val="12284C"/>
                </a:solidFill>
                <a:latin typeface="Raleway"/>
                <a:ea typeface="Georgia" pitchFamily="34" charset="-122"/>
                <a:cs typeface="Georgia" pitchFamily="34" charset="-120"/>
              </a:rPr>
              <a:t>83 FPTK Open — Level 3</a:t>
            </a:r>
            <a:endParaRPr lang="en-US" sz="2800" b="1">
              <a:solidFill>
                <a:srgbClr val="C00000"/>
              </a:solidFill>
              <a:latin typeface="Raleway"/>
            </a:endParaRPr>
          </a:p>
        </p:txBody>
      </p:sp>
      <p:graphicFrame>
        <p:nvGraphicFramePr>
          <p:cNvPr id="5" name="Table 4">
            <a:extLst>
              <a:ext uri="{FF2B5EF4-FFF2-40B4-BE49-F238E27FC236}">
                <a16:creationId xmlns:a16="http://schemas.microsoft.com/office/drawing/2014/main" id="{FCB740E6-693E-A928-438B-2C162B190452}"/>
              </a:ext>
            </a:extLst>
          </p:cNvPr>
          <p:cNvGraphicFramePr>
            <a:graphicFrameLocks noGrp="1"/>
          </p:cNvGraphicFramePr>
          <p:nvPr>
            <p:extLst>
              <p:ext uri="{D42A27DB-BD31-4B8C-83A1-F6EECF244321}">
                <p14:modId xmlns:p14="http://schemas.microsoft.com/office/powerpoint/2010/main" val="938712754"/>
              </p:ext>
            </p:extLst>
          </p:nvPr>
        </p:nvGraphicFramePr>
        <p:xfrm>
          <a:off x="354124" y="667512"/>
          <a:ext cx="11441637" cy="5745954"/>
        </p:xfrm>
        <a:graphic>
          <a:graphicData uri="http://schemas.openxmlformats.org/drawingml/2006/table">
            <a:tbl>
              <a:tblPr bandRow="1">
                <a:tableStyleId>{5C22544A-7EE6-4342-B048-85BDC9FD1C3A}</a:tableStyleId>
              </a:tblPr>
              <a:tblGrid>
                <a:gridCol w="691088">
                  <a:extLst>
                    <a:ext uri="{9D8B030D-6E8A-4147-A177-3AD203B41FA5}">
                      <a16:colId xmlns:a16="http://schemas.microsoft.com/office/drawing/2014/main" val="964775141"/>
                    </a:ext>
                  </a:extLst>
                </a:gridCol>
                <a:gridCol w="1774643">
                  <a:extLst>
                    <a:ext uri="{9D8B030D-6E8A-4147-A177-3AD203B41FA5}">
                      <a16:colId xmlns:a16="http://schemas.microsoft.com/office/drawing/2014/main" val="3818843332"/>
                    </a:ext>
                  </a:extLst>
                </a:gridCol>
                <a:gridCol w="1365111">
                  <a:extLst>
                    <a:ext uri="{9D8B030D-6E8A-4147-A177-3AD203B41FA5}">
                      <a16:colId xmlns:a16="http://schemas.microsoft.com/office/drawing/2014/main" val="3805053784"/>
                    </a:ext>
                  </a:extLst>
                </a:gridCol>
                <a:gridCol w="1003821">
                  <a:extLst>
                    <a:ext uri="{9D8B030D-6E8A-4147-A177-3AD203B41FA5}">
                      <a16:colId xmlns:a16="http://schemas.microsoft.com/office/drawing/2014/main" val="873694035"/>
                    </a:ext>
                  </a:extLst>
                </a:gridCol>
                <a:gridCol w="426326">
                  <a:extLst>
                    <a:ext uri="{9D8B030D-6E8A-4147-A177-3AD203B41FA5}">
                      <a16:colId xmlns:a16="http://schemas.microsoft.com/office/drawing/2014/main" val="2118302063"/>
                    </a:ext>
                  </a:extLst>
                </a:gridCol>
                <a:gridCol w="546571">
                  <a:extLst>
                    <a:ext uri="{9D8B030D-6E8A-4147-A177-3AD203B41FA5}">
                      <a16:colId xmlns:a16="http://schemas.microsoft.com/office/drawing/2014/main" val="347069574"/>
                    </a:ext>
                  </a:extLst>
                </a:gridCol>
                <a:gridCol w="601228">
                  <a:extLst>
                    <a:ext uri="{9D8B030D-6E8A-4147-A177-3AD203B41FA5}">
                      <a16:colId xmlns:a16="http://schemas.microsoft.com/office/drawing/2014/main" val="2517663509"/>
                    </a:ext>
                  </a:extLst>
                </a:gridCol>
                <a:gridCol w="557503">
                  <a:extLst>
                    <a:ext uri="{9D8B030D-6E8A-4147-A177-3AD203B41FA5}">
                      <a16:colId xmlns:a16="http://schemas.microsoft.com/office/drawing/2014/main" val="4256926922"/>
                    </a:ext>
                  </a:extLst>
                </a:gridCol>
                <a:gridCol w="699610">
                  <a:extLst>
                    <a:ext uri="{9D8B030D-6E8A-4147-A177-3AD203B41FA5}">
                      <a16:colId xmlns:a16="http://schemas.microsoft.com/office/drawing/2014/main" val="103401002"/>
                    </a:ext>
                  </a:extLst>
                </a:gridCol>
                <a:gridCol w="623091">
                  <a:extLst>
                    <a:ext uri="{9D8B030D-6E8A-4147-A177-3AD203B41FA5}">
                      <a16:colId xmlns:a16="http://schemas.microsoft.com/office/drawing/2014/main" val="1508212738"/>
                    </a:ext>
                  </a:extLst>
                </a:gridCol>
                <a:gridCol w="557503">
                  <a:extLst>
                    <a:ext uri="{9D8B030D-6E8A-4147-A177-3AD203B41FA5}">
                      <a16:colId xmlns:a16="http://schemas.microsoft.com/office/drawing/2014/main" val="2156794149"/>
                    </a:ext>
                  </a:extLst>
                </a:gridCol>
                <a:gridCol w="590297">
                  <a:extLst>
                    <a:ext uri="{9D8B030D-6E8A-4147-A177-3AD203B41FA5}">
                      <a16:colId xmlns:a16="http://schemas.microsoft.com/office/drawing/2014/main" val="225074111"/>
                    </a:ext>
                  </a:extLst>
                </a:gridCol>
                <a:gridCol w="460562">
                  <a:extLst>
                    <a:ext uri="{9D8B030D-6E8A-4147-A177-3AD203B41FA5}">
                      <a16:colId xmlns:a16="http://schemas.microsoft.com/office/drawing/2014/main" val="461221745"/>
                    </a:ext>
                  </a:extLst>
                </a:gridCol>
                <a:gridCol w="503385">
                  <a:extLst>
                    <a:ext uri="{9D8B030D-6E8A-4147-A177-3AD203B41FA5}">
                      <a16:colId xmlns:a16="http://schemas.microsoft.com/office/drawing/2014/main" val="1428405946"/>
                    </a:ext>
                  </a:extLst>
                </a:gridCol>
                <a:gridCol w="341278">
                  <a:extLst>
                    <a:ext uri="{9D8B030D-6E8A-4147-A177-3AD203B41FA5}">
                      <a16:colId xmlns:a16="http://schemas.microsoft.com/office/drawing/2014/main" val="1005622174"/>
                    </a:ext>
                  </a:extLst>
                </a:gridCol>
                <a:gridCol w="349810">
                  <a:extLst>
                    <a:ext uri="{9D8B030D-6E8A-4147-A177-3AD203B41FA5}">
                      <a16:colId xmlns:a16="http://schemas.microsoft.com/office/drawing/2014/main" val="4214742890"/>
                    </a:ext>
                  </a:extLst>
                </a:gridCol>
                <a:gridCol w="349810">
                  <a:extLst>
                    <a:ext uri="{9D8B030D-6E8A-4147-A177-3AD203B41FA5}">
                      <a16:colId xmlns:a16="http://schemas.microsoft.com/office/drawing/2014/main" val="3877463835"/>
                    </a:ext>
                  </a:extLst>
                </a:gridCol>
              </a:tblGrid>
              <a:tr h="442868">
                <a:tc>
                  <a:txBody>
                    <a:bodyPr/>
                    <a:lstStyle/>
                    <a:p>
                      <a:pPr algn="ctr" rtl="0" fontAlgn="ctr">
                        <a:buNone/>
                      </a:pPr>
                      <a:r>
                        <a:rPr lang="en-US" sz="800" b="1" i="0" u="none" strike="noStrike">
                          <a:solidFill>
                            <a:srgbClr val="FFFFFF"/>
                          </a:solidFill>
                          <a:effectLst/>
                          <a:latin typeface="Aptos Narrow" panose="020B0004020202020204" pitchFamily="34" charset="0"/>
                        </a:rPr>
                        <a:t>FPTK Date Real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Posisi</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Business Unit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PIC Recruiter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Sourcing FL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Sourcing HR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Shortlisted User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Psikotes</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HR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Technical Case</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Market Visit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User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Panel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Reference Check</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MCU</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Offering</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Day One</a:t>
                      </a:r>
                    </a:p>
                  </a:txBody>
                  <a:tcPr marL="0" marR="0" marT="0" marB="0" anchor="ctr">
                    <a:lnL>
                      <a:noFill/>
                    </a:lnL>
                    <a:lnR>
                      <a:noFill/>
                    </a:lnR>
                    <a:lnT>
                      <a:noFill/>
                    </a:lnT>
                    <a:lnB>
                      <a:noFill/>
                    </a:lnB>
                    <a:solidFill>
                      <a:srgbClr val="2C3E50"/>
                    </a:solidFill>
                  </a:tcPr>
                </a:tc>
                <a:extLst>
                  <a:ext uri="{0D108BD9-81ED-4DB2-BD59-A6C34878D82A}">
                    <a16:rowId xmlns:a16="http://schemas.microsoft.com/office/drawing/2014/main" val="276996153"/>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20-Mar-26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Planning &amp; Analysis Manager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Pauline</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37</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7</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22271737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25-Mar-26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Head of Area - Lahat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Fiqra </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808569414"/>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17-Apr-26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Warehouse Supervisor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113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95290552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17-Apr-26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Area Sales Supervisor (Chilled) - Samarinda</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Salsa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25770375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23-Apr-26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Finance &amp; Accounting Supervisor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395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88035826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27-Apr-26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HSE Specialist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Karin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318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981100202"/>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28-Apr-26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Continuous Improvement Specialist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376468157"/>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29-Apr-26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Head of Area - Belitung</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Fiqra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03488664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05-May-26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Head of Area Kediri</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Kenthansen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4160727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07-May-26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Facility &amp; Office Management Supervisor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Kevin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238096821"/>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19-May-26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Brand Executive</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Valen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83467016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19-May-26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Area Sales Supervisor (Mix) - Banda Aceh</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Salsa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133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461425895"/>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20-May-26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Brand Executive</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Valen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3536401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21-May-26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Head of Area - Jakarta Barat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Omega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146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4234110072"/>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21-May-26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Head of Area - Palangkaraya</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Karin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23729169"/>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03-Jun-26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Head of Area - Bengkulu</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Fiqra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29065694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05-Jun-26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Head of Area - Timika</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28095855"/>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05-Jun-26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Area Sales Supervisor (Chilled) - Banten </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Omega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123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19477437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10-Jun-26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Instrument Engineer Supervisor Sentul</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Wahyu</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126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06633629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10-Jun-26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Production Shift Supervisor Sentul</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Wahyu</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126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783835084"/>
                  </a:ext>
                </a:extLst>
              </a:tr>
            </a:tbl>
          </a:graphicData>
        </a:graphic>
      </p:graphicFrame>
    </p:spTree>
    <p:extLst>
      <p:ext uri="{BB962C8B-B14F-4D97-AF65-F5344CB8AC3E}">
        <p14:creationId xmlns:p14="http://schemas.microsoft.com/office/powerpoint/2010/main" val="508410115"/>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8DEB49-9FC6-32D1-E2BC-F1A1442C8FCA}"/>
            </a:ext>
          </a:extLst>
        </p:cNvPr>
        <p:cNvGrpSpPr/>
        <p:nvPr/>
      </p:nvGrpSpPr>
      <p:grpSpPr>
        <a:xfrm>
          <a:off x="0" y="0"/>
          <a:ext cx="0" cy="0"/>
          <a:chOff x="0" y="0"/>
          <a:chExt cx="0" cy="0"/>
        </a:xfrm>
      </p:grpSpPr>
      <p:sp>
        <p:nvSpPr>
          <p:cNvPr id="40" name="Text 19">
            <a:extLst>
              <a:ext uri="{FF2B5EF4-FFF2-40B4-BE49-F238E27FC236}">
                <a16:creationId xmlns:a16="http://schemas.microsoft.com/office/drawing/2014/main" id="{F3D11D8C-4559-5889-FBA8-22DE7116A888}"/>
              </a:ext>
            </a:extLst>
          </p:cNvPr>
          <p:cNvSpPr/>
          <p:nvPr/>
        </p:nvSpPr>
        <p:spPr>
          <a:xfrm>
            <a:off x="8095488"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FILL RATE</a:t>
            </a:r>
            <a:endParaRPr lang="en-US" sz="1100">
              <a:latin typeface="Raleway"/>
            </a:endParaRPr>
          </a:p>
        </p:txBody>
      </p:sp>
      <p:sp>
        <p:nvSpPr>
          <p:cNvPr id="43" name="Text 22">
            <a:extLst>
              <a:ext uri="{FF2B5EF4-FFF2-40B4-BE49-F238E27FC236}">
                <a16:creationId xmlns:a16="http://schemas.microsoft.com/office/drawing/2014/main" id="{E90AD0CE-39EF-7988-54A6-41E608ED0E21}"/>
              </a:ext>
            </a:extLst>
          </p:cNvPr>
          <p:cNvSpPr/>
          <p:nvPr/>
        </p:nvSpPr>
        <p:spPr>
          <a:xfrm>
            <a:off x="10027920"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 SESUAI SLA</a:t>
            </a:r>
            <a:endParaRPr lang="en-US" sz="1100">
              <a:latin typeface="Raleway"/>
            </a:endParaRPr>
          </a:p>
        </p:txBody>
      </p:sp>
      <p:sp>
        <p:nvSpPr>
          <p:cNvPr id="6" name="Text 0">
            <a:extLst>
              <a:ext uri="{FF2B5EF4-FFF2-40B4-BE49-F238E27FC236}">
                <a16:creationId xmlns:a16="http://schemas.microsoft.com/office/drawing/2014/main" id="{03385275-CF43-2ECC-6DE6-C45726529A09}"/>
              </a:ext>
            </a:extLst>
          </p:cNvPr>
          <p:cNvSpPr/>
          <p:nvPr/>
        </p:nvSpPr>
        <p:spPr>
          <a:xfrm>
            <a:off x="354124" y="164592"/>
            <a:ext cx="6858000" cy="502920"/>
          </a:xfrm>
          <a:prstGeom prst="rect">
            <a:avLst/>
          </a:prstGeom>
          <a:noFill/>
          <a:ln/>
        </p:spPr>
        <p:txBody>
          <a:bodyPr wrap="square" lIns="0" tIns="0" rIns="0" bIns="0" rtlCol="0" anchor="ctr"/>
          <a:lstStyle/>
          <a:p>
            <a:r>
              <a:rPr lang="en-US" sz="2800" b="1">
                <a:solidFill>
                  <a:srgbClr val="12284C"/>
                </a:solidFill>
                <a:latin typeface="Raleway"/>
                <a:ea typeface="Georgia" pitchFamily="34" charset="-122"/>
                <a:cs typeface="Georgia" pitchFamily="34" charset="-120"/>
              </a:rPr>
              <a:t>83 FPTK Open — Level 3</a:t>
            </a:r>
            <a:endParaRPr lang="en-US" sz="2800" b="1">
              <a:solidFill>
                <a:srgbClr val="C00000"/>
              </a:solidFill>
              <a:latin typeface="Raleway"/>
            </a:endParaRPr>
          </a:p>
        </p:txBody>
      </p:sp>
      <p:graphicFrame>
        <p:nvGraphicFramePr>
          <p:cNvPr id="5" name="Table 4">
            <a:extLst>
              <a:ext uri="{FF2B5EF4-FFF2-40B4-BE49-F238E27FC236}">
                <a16:creationId xmlns:a16="http://schemas.microsoft.com/office/drawing/2014/main" id="{35A11D6D-7251-FFE3-3E9D-C9CC90D4826C}"/>
              </a:ext>
            </a:extLst>
          </p:cNvPr>
          <p:cNvGraphicFramePr>
            <a:graphicFrameLocks noGrp="1"/>
          </p:cNvGraphicFramePr>
          <p:nvPr>
            <p:extLst>
              <p:ext uri="{D42A27DB-BD31-4B8C-83A1-F6EECF244321}">
                <p14:modId xmlns:p14="http://schemas.microsoft.com/office/powerpoint/2010/main" val="1832915507"/>
              </p:ext>
            </p:extLst>
          </p:nvPr>
        </p:nvGraphicFramePr>
        <p:xfrm>
          <a:off x="354124" y="667512"/>
          <a:ext cx="11441637" cy="5745954"/>
        </p:xfrm>
        <a:graphic>
          <a:graphicData uri="http://schemas.openxmlformats.org/drawingml/2006/table">
            <a:tbl>
              <a:tblPr bandRow="1">
                <a:tableStyleId>{5C22544A-7EE6-4342-B048-85BDC9FD1C3A}</a:tableStyleId>
              </a:tblPr>
              <a:tblGrid>
                <a:gridCol w="691088">
                  <a:extLst>
                    <a:ext uri="{9D8B030D-6E8A-4147-A177-3AD203B41FA5}">
                      <a16:colId xmlns:a16="http://schemas.microsoft.com/office/drawing/2014/main" val="964775141"/>
                    </a:ext>
                  </a:extLst>
                </a:gridCol>
                <a:gridCol w="1774643">
                  <a:extLst>
                    <a:ext uri="{9D8B030D-6E8A-4147-A177-3AD203B41FA5}">
                      <a16:colId xmlns:a16="http://schemas.microsoft.com/office/drawing/2014/main" val="3818843332"/>
                    </a:ext>
                  </a:extLst>
                </a:gridCol>
                <a:gridCol w="1365111">
                  <a:extLst>
                    <a:ext uri="{9D8B030D-6E8A-4147-A177-3AD203B41FA5}">
                      <a16:colId xmlns:a16="http://schemas.microsoft.com/office/drawing/2014/main" val="3805053784"/>
                    </a:ext>
                  </a:extLst>
                </a:gridCol>
                <a:gridCol w="1003821">
                  <a:extLst>
                    <a:ext uri="{9D8B030D-6E8A-4147-A177-3AD203B41FA5}">
                      <a16:colId xmlns:a16="http://schemas.microsoft.com/office/drawing/2014/main" val="873694035"/>
                    </a:ext>
                  </a:extLst>
                </a:gridCol>
                <a:gridCol w="426326">
                  <a:extLst>
                    <a:ext uri="{9D8B030D-6E8A-4147-A177-3AD203B41FA5}">
                      <a16:colId xmlns:a16="http://schemas.microsoft.com/office/drawing/2014/main" val="2118302063"/>
                    </a:ext>
                  </a:extLst>
                </a:gridCol>
                <a:gridCol w="546571">
                  <a:extLst>
                    <a:ext uri="{9D8B030D-6E8A-4147-A177-3AD203B41FA5}">
                      <a16:colId xmlns:a16="http://schemas.microsoft.com/office/drawing/2014/main" val="347069574"/>
                    </a:ext>
                  </a:extLst>
                </a:gridCol>
                <a:gridCol w="601228">
                  <a:extLst>
                    <a:ext uri="{9D8B030D-6E8A-4147-A177-3AD203B41FA5}">
                      <a16:colId xmlns:a16="http://schemas.microsoft.com/office/drawing/2014/main" val="2517663509"/>
                    </a:ext>
                  </a:extLst>
                </a:gridCol>
                <a:gridCol w="557503">
                  <a:extLst>
                    <a:ext uri="{9D8B030D-6E8A-4147-A177-3AD203B41FA5}">
                      <a16:colId xmlns:a16="http://schemas.microsoft.com/office/drawing/2014/main" val="4256926922"/>
                    </a:ext>
                  </a:extLst>
                </a:gridCol>
                <a:gridCol w="699610">
                  <a:extLst>
                    <a:ext uri="{9D8B030D-6E8A-4147-A177-3AD203B41FA5}">
                      <a16:colId xmlns:a16="http://schemas.microsoft.com/office/drawing/2014/main" val="103401002"/>
                    </a:ext>
                  </a:extLst>
                </a:gridCol>
                <a:gridCol w="623091">
                  <a:extLst>
                    <a:ext uri="{9D8B030D-6E8A-4147-A177-3AD203B41FA5}">
                      <a16:colId xmlns:a16="http://schemas.microsoft.com/office/drawing/2014/main" val="1508212738"/>
                    </a:ext>
                  </a:extLst>
                </a:gridCol>
                <a:gridCol w="557503">
                  <a:extLst>
                    <a:ext uri="{9D8B030D-6E8A-4147-A177-3AD203B41FA5}">
                      <a16:colId xmlns:a16="http://schemas.microsoft.com/office/drawing/2014/main" val="2156794149"/>
                    </a:ext>
                  </a:extLst>
                </a:gridCol>
                <a:gridCol w="590297">
                  <a:extLst>
                    <a:ext uri="{9D8B030D-6E8A-4147-A177-3AD203B41FA5}">
                      <a16:colId xmlns:a16="http://schemas.microsoft.com/office/drawing/2014/main" val="225074111"/>
                    </a:ext>
                  </a:extLst>
                </a:gridCol>
                <a:gridCol w="460562">
                  <a:extLst>
                    <a:ext uri="{9D8B030D-6E8A-4147-A177-3AD203B41FA5}">
                      <a16:colId xmlns:a16="http://schemas.microsoft.com/office/drawing/2014/main" val="461221745"/>
                    </a:ext>
                  </a:extLst>
                </a:gridCol>
                <a:gridCol w="503385">
                  <a:extLst>
                    <a:ext uri="{9D8B030D-6E8A-4147-A177-3AD203B41FA5}">
                      <a16:colId xmlns:a16="http://schemas.microsoft.com/office/drawing/2014/main" val="1428405946"/>
                    </a:ext>
                  </a:extLst>
                </a:gridCol>
                <a:gridCol w="341278">
                  <a:extLst>
                    <a:ext uri="{9D8B030D-6E8A-4147-A177-3AD203B41FA5}">
                      <a16:colId xmlns:a16="http://schemas.microsoft.com/office/drawing/2014/main" val="1005622174"/>
                    </a:ext>
                  </a:extLst>
                </a:gridCol>
                <a:gridCol w="349810">
                  <a:extLst>
                    <a:ext uri="{9D8B030D-6E8A-4147-A177-3AD203B41FA5}">
                      <a16:colId xmlns:a16="http://schemas.microsoft.com/office/drawing/2014/main" val="4214742890"/>
                    </a:ext>
                  </a:extLst>
                </a:gridCol>
                <a:gridCol w="349810">
                  <a:extLst>
                    <a:ext uri="{9D8B030D-6E8A-4147-A177-3AD203B41FA5}">
                      <a16:colId xmlns:a16="http://schemas.microsoft.com/office/drawing/2014/main" val="3877463835"/>
                    </a:ext>
                  </a:extLst>
                </a:gridCol>
              </a:tblGrid>
              <a:tr h="442868">
                <a:tc>
                  <a:txBody>
                    <a:bodyPr/>
                    <a:lstStyle/>
                    <a:p>
                      <a:pPr algn="ctr" rtl="0" fontAlgn="ctr">
                        <a:buNone/>
                      </a:pPr>
                      <a:r>
                        <a:rPr lang="en-US" sz="800" b="1" i="0" u="none" strike="noStrike">
                          <a:solidFill>
                            <a:srgbClr val="FFFFFF"/>
                          </a:solidFill>
                          <a:effectLst/>
                          <a:latin typeface="Aptos Narrow" panose="020B0004020202020204" pitchFamily="34" charset="0"/>
                        </a:rPr>
                        <a:t>FPTK Date Real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Posisi</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Business Unit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PIC Recruiter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Sourcing FL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Sourcing HR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Shortlisted User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Psikotes</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HR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Technical Case</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Market Visit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User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Panel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Reference Check</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MCU</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Offering</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Day One</a:t>
                      </a:r>
                    </a:p>
                  </a:txBody>
                  <a:tcPr marL="0" marR="0" marT="0" marB="0" anchor="ctr">
                    <a:lnL>
                      <a:noFill/>
                    </a:lnL>
                    <a:lnR>
                      <a:noFill/>
                    </a:lnR>
                    <a:lnT>
                      <a:noFill/>
                    </a:lnT>
                    <a:lnB>
                      <a:noFill/>
                    </a:lnB>
                    <a:solidFill>
                      <a:srgbClr val="2C3E50"/>
                    </a:solidFill>
                  </a:tcPr>
                </a:tc>
                <a:extLst>
                  <a:ext uri="{0D108BD9-81ED-4DB2-BD59-A6C34878D82A}">
                    <a16:rowId xmlns:a16="http://schemas.microsoft.com/office/drawing/2014/main" val="276996153"/>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10-Jun-26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Production Supervisor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Wahyu</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73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22271737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10-Jun-26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Production Supervisor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Wahyu</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808569414"/>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10-Jun-26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Production Supervisor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Wahyu</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95290552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11-Jun-26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Fulfillment Planning Manager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Pauline</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25770375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12-Jun-26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Area Sales Supervisor - Surabaya Barat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Kenthansen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75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88035826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17-Jun-26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Area Sales Promotion Supervisor - Bekasi</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Fiqra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981100202"/>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17-Jun-26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Management System Supervisor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376468157"/>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18-Jun-26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Brand Activation Lead</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Karin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17</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03488664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19-Jun-26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Production Supervisor Sentul</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Wahyu</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4160727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23-Jun-26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HRGA Assistant Manager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Karin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extLst>
                  <a:ext uri="{0D108BD9-81ED-4DB2-BD59-A6C34878D82A}">
                    <a16:rowId xmlns:a16="http://schemas.microsoft.com/office/drawing/2014/main" val="1238096821"/>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23-Jun-26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Project Manager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Pauline</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83467016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26-Jun-26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Area Sales Supervisor - Pekanbaru</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Kevin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461425895"/>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02-Jul-26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Chef &amp; Culinary Specialist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Karin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3536401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Assurance Assistant Manager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Karin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4234110072"/>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02-Jul-26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Area Sales Supervisor - Baturaja (JES)</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Kevin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423729169"/>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Area Sales Supervisor - Garut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Kevin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29065694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Area Sales Supervisor - Purwokerto</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Kevin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28095855"/>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Area Sales Supervisor (JESS) - Karawang</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Kevin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19477437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Area Sales Supervisor (Chilled) - Pontianak</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Salsa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06633629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04-Jul-26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and Marketing Audit Supervisor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Kevin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783835084"/>
                  </a:ext>
                </a:extLst>
              </a:tr>
            </a:tbl>
          </a:graphicData>
        </a:graphic>
      </p:graphicFrame>
    </p:spTree>
    <p:extLst>
      <p:ext uri="{BB962C8B-B14F-4D97-AF65-F5344CB8AC3E}">
        <p14:creationId xmlns:p14="http://schemas.microsoft.com/office/powerpoint/2010/main" val="3397316350"/>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A4880E-A55D-B067-3BB0-DA0AEEC1F25C}"/>
            </a:ext>
          </a:extLst>
        </p:cNvPr>
        <p:cNvGrpSpPr/>
        <p:nvPr/>
      </p:nvGrpSpPr>
      <p:grpSpPr>
        <a:xfrm>
          <a:off x="0" y="0"/>
          <a:ext cx="0" cy="0"/>
          <a:chOff x="0" y="0"/>
          <a:chExt cx="0" cy="0"/>
        </a:xfrm>
      </p:grpSpPr>
      <p:sp>
        <p:nvSpPr>
          <p:cNvPr id="40" name="Text 19">
            <a:extLst>
              <a:ext uri="{FF2B5EF4-FFF2-40B4-BE49-F238E27FC236}">
                <a16:creationId xmlns:a16="http://schemas.microsoft.com/office/drawing/2014/main" id="{020520AF-C216-07EB-0108-929CED37DC63}"/>
              </a:ext>
            </a:extLst>
          </p:cNvPr>
          <p:cNvSpPr/>
          <p:nvPr/>
        </p:nvSpPr>
        <p:spPr>
          <a:xfrm>
            <a:off x="8095488"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FILL RATE</a:t>
            </a:r>
            <a:endParaRPr lang="en-US" sz="1100">
              <a:latin typeface="Raleway"/>
            </a:endParaRPr>
          </a:p>
        </p:txBody>
      </p:sp>
      <p:sp>
        <p:nvSpPr>
          <p:cNvPr id="43" name="Text 22">
            <a:extLst>
              <a:ext uri="{FF2B5EF4-FFF2-40B4-BE49-F238E27FC236}">
                <a16:creationId xmlns:a16="http://schemas.microsoft.com/office/drawing/2014/main" id="{05AAC256-E0EF-29F8-4BF4-1082214C9F16}"/>
              </a:ext>
            </a:extLst>
          </p:cNvPr>
          <p:cNvSpPr/>
          <p:nvPr/>
        </p:nvSpPr>
        <p:spPr>
          <a:xfrm>
            <a:off x="10027920"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 SESUAI SLA</a:t>
            </a:r>
            <a:endParaRPr lang="en-US" sz="1100">
              <a:latin typeface="Raleway"/>
            </a:endParaRPr>
          </a:p>
        </p:txBody>
      </p:sp>
      <p:sp>
        <p:nvSpPr>
          <p:cNvPr id="6" name="Text 0">
            <a:extLst>
              <a:ext uri="{FF2B5EF4-FFF2-40B4-BE49-F238E27FC236}">
                <a16:creationId xmlns:a16="http://schemas.microsoft.com/office/drawing/2014/main" id="{00DBF619-61FF-9B5F-7C63-A4EDB7559CF2}"/>
              </a:ext>
            </a:extLst>
          </p:cNvPr>
          <p:cNvSpPr/>
          <p:nvPr/>
        </p:nvSpPr>
        <p:spPr>
          <a:xfrm>
            <a:off x="354124" y="164592"/>
            <a:ext cx="6858000" cy="502920"/>
          </a:xfrm>
          <a:prstGeom prst="rect">
            <a:avLst/>
          </a:prstGeom>
          <a:noFill/>
          <a:ln/>
        </p:spPr>
        <p:txBody>
          <a:bodyPr wrap="square" lIns="0" tIns="0" rIns="0" bIns="0" rtlCol="0" anchor="ctr"/>
          <a:lstStyle/>
          <a:p>
            <a:r>
              <a:rPr lang="en-US" sz="2800" b="1">
                <a:solidFill>
                  <a:srgbClr val="12284C"/>
                </a:solidFill>
                <a:latin typeface="Raleway"/>
                <a:ea typeface="Georgia" pitchFamily="34" charset="-122"/>
                <a:cs typeface="Georgia" pitchFamily="34" charset="-120"/>
              </a:rPr>
              <a:t>83 FPTK Open — Level 3</a:t>
            </a:r>
            <a:endParaRPr lang="en-US" sz="2800" b="1">
              <a:solidFill>
                <a:srgbClr val="C00000"/>
              </a:solidFill>
              <a:latin typeface="Raleway"/>
            </a:endParaRPr>
          </a:p>
        </p:txBody>
      </p:sp>
      <p:graphicFrame>
        <p:nvGraphicFramePr>
          <p:cNvPr id="5" name="Table 4">
            <a:extLst>
              <a:ext uri="{FF2B5EF4-FFF2-40B4-BE49-F238E27FC236}">
                <a16:creationId xmlns:a16="http://schemas.microsoft.com/office/drawing/2014/main" id="{4B2963F8-4CE2-CBC5-DDB8-D6C95609AA1D}"/>
              </a:ext>
            </a:extLst>
          </p:cNvPr>
          <p:cNvGraphicFramePr>
            <a:graphicFrameLocks noGrp="1"/>
          </p:cNvGraphicFramePr>
          <p:nvPr>
            <p:extLst>
              <p:ext uri="{D42A27DB-BD31-4B8C-83A1-F6EECF244321}">
                <p14:modId xmlns:p14="http://schemas.microsoft.com/office/powerpoint/2010/main" val="213831356"/>
              </p:ext>
            </p:extLst>
          </p:nvPr>
        </p:nvGraphicFramePr>
        <p:xfrm>
          <a:off x="354124" y="667512"/>
          <a:ext cx="11441637" cy="5745954"/>
        </p:xfrm>
        <a:graphic>
          <a:graphicData uri="http://schemas.openxmlformats.org/drawingml/2006/table">
            <a:tbl>
              <a:tblPr bandRow="1">
                <a:tableStyleId>{5C22544A-7EE6-4342-B048-85BDC9FD1C3A}</a:tableStyleId>
              </a:tblPr>
              <a:tblGrid>
                <a:gridCol w="691088">
                  <a:extLst>
                    <a:ext uri="{9D8B030D-6E8A-4147-A177-3AD203B41FA5}">
                      <a16:colId xmlns:a16="http://schemas.microsoft.com/office/drawing/2014/main" val="964775141"/>
                    </a:ext>
                  </a:extLst>
                </a:gridCol>
                <a:gridCol w="1774643">
                  <a:extLst>
                    <a:ext uri="{9D8B030D-6E8A-4147-A177-3AD203B41FA5}">
                      <a16:colId xmlns:a16="http://schemas.microsoft.com/office/drawing/2014/main" val="3818843332"/>
                    </a:ext>
                  </a:extLst>
                </a:gridCol>
                <a:gridCol w="1365111">
                  <a:extLst>
                    <a:ext uri="{9D8B030D-6E8A-4147-A177-3AD203B41FA5}">
                      <a16:colId xmlns:a16="http://schemas.microsoft.com/office/drawing/2014/main" val="3805053784"/>
                    </a:ext>
                  </a:extLst>
                </a:gridCol>
                <a:gridCol w="1003821">
                  <a:extLst>
                    <a:ext uri="{9D8B030D-6E8A-4147-A177-3AD203B41FA5}">
                      <a16:colId xmlns:a16="http://schemas.microsoft.com/office/drawing/2014/main" val="873694035"/>
                    </a:ext>
                  </a:extLst>
                </a:gridCol>
                <a:gridCol w="426326">
                  <a:extLst>
                    <a:ext uri="{9D8B030D-6E8A-4147-A177-3AD203B41FA5}">
                      <a16:colId xmlns:a16="http://schemas.microsoft.com/office/drawing/2014/main" val="2118302063"/>
                    </a:ext>
                  </a:extLst>
                </a:gridCol>
                <a:gridCol w="546571">
                  <a:extLst>
                    <a:ext uri="{9D8B030D-6E8A-4147-A177-3AD203B41FA5}">
                      <a16:colId xmlns:a16="http://schemas.microsoft.com/office/drawing/2014/main" val="347069574"/>
                    </a:ext>
                  </a:extLst>
                </a:gridCol>
                <a:gridCol w="601228">
                  <a:extLst>
                    <a:ext uri="{9D8B030D-6E8A-4147-A177-3AD203B41FA5}">
                      <a16:colId xmlns:a16="http://schemas.microsoft.com/office/drawing/2014/main" val="2517663509"/>
                    </a:ext>
                  </a:extLst>
                </a:gridCol>
                <a:gridCol w="557503">
                  <a:extLst>
                    <a:ext uri="{9D8B030D-6E8A-4147-A177-3AD203B41FA5}">
                      <a16:colId xmlns:a16="http://schemas.microsoft.com/office/drawing/2014/main" val="4256926922"/>
                    </a:ext>
                  </a:extLst>
                </a:gridCol>
                <a:gridCol w="699610">
                  <a:extLst>
                    <a:ext uri="{9D8B030D-6E8A-4147-A177-3AD203B41FA5}">
                      <a16:colId xmlns:a16="http://schemas.microsoft.com/office/drawing/2014/main" val="103401002"/>
                    </a:ext>
                  </a:extLst>
                </a:gridCol>
                <a:gridCol w="623091">
                  <a:extLst>
                    <a:ext uri="{9D8B030D-6E8A-4147-A177-3AD203B41FA5}">
                      <a16:colId xmlns:a16="http://schemas.microsoft.com/office/drawing/2014/main" val="1508212738"/>
                    </a:ext>
                  </a:extLst>
                </a:gridCol>
                <a:gridCol w="557503">
                  <a:extLst>
                    <a:ext uri="{9D8B030D-6E8A-4147-A177-3AD203B41FA5}">
                      <a16:colId xmlns:a16="http://schemas.microsoft.com/office/drawing/2014/main" val="2156794149"/>
                    </a:ext>
                  </a:extLst>
                </a:gridCol>
                <a:gridCol w="590297">
                  <a:extLst>
                    <a:ext uri="{9D8B030D-6E8A-4147-A177-3AD203B41FA5}">
                      <a16:colId xmlns:a16="http://schemas.microsoft.com/office/drawing/2014/main" val="225074111"/>
                    </a:ext>
                  </a:extLst>
                </a:gridCol>
                <a:gridCol w="460562">
                  <a:extLst>
                    <a:ext uri="{9D8B030D-6E8A-4147-A177-3AD203B41FA5}">
                      <a16:colId xmlns:a16="http://schemas.microsoft.com/office/drawing/2014/main" val="461221745"/>
                    </a:ext>
                  </a:extLst>
                </a:gridCol>
                <a:gridCol w="503385">
                  <a:extLst>
                    <a:ext uri="{9D8B030D-6E8A-4147-A177-3AD203B41FA5}">
                      <a16:colId xmlns:a16="http://schemas.microsoft.com/office/drawing/2014/main" val="1428405946"/>
                    </a:ext>
                  </a:extLst>
                </a:gridCol>
                <a:gridCol w="341278">
                  <a:extLst>
                    <a:ext uri="{9D8B030D-6E8A-4147-A177-3AD203B41FA5}">
                      <a16:colId xmlns:a16="http://schemas.microsoft.com/office/drawing/2014/main" val="1005622174"/>
                    </a:ext>
                  </a:extLst>
                </a:gridCol>
                <a:gridCol w="349810">
                  <a:extLst>
                    <a:ext uri="{9D8B030D-6E8A-4147-A177-3AD203B41FA5}">
                      <a16:colId xmlns:a16="http://schemas.microsoft.com/office/drawing/2014/main" val="4214742890"/>
                    </a:ext>
                  </a:extLst>
                </a:gridCol>
                <a:gridCol w="349810">
                  <a:extLst>
                    <a:ext uri="{9D8B030D-6E8A-4147-A177-3AD203B41FA5}">
                      <a16:colId xmlns:a16="http://schemas.microsoft.com/office/drawing/2014/main" val="3877463835"/>
                    </a:ext>
                  </a:extLst>
                </a:gridCol>
              </a:tblGrid>
              <a:tr h="442868">
                <a:tc>
                  <a:txBody>
                    <a:bodyPr/>
                    <a:lstStyle/>
                    <a:p>
                      <a:pPr algn="ctr" rtl="0" fontAlgn="ctr">
                        <a:buNone/>
                      </a:pPr>
                      <a:r>
                        <a:rPr lang="en-US" sz="800" b="1" i="0" u="none" strike="noStrike">
                          <a:solidFill>
                            <a:srgbClr val="FFFFFF"/>
                          </a:solidFill>
                          <a:effectLst/>
                          <a:latin typeface="Aptos Narrow" panose="020B0004020202020204" pitchFamily="34" charset="0"/>
                        </a:rPr>
                        <a:t>FPTK Date Real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Posisi</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Business Unit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PIC Recruiter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Sourcing FL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Sourcing HR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Shortlisted User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Psikotes</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HR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Technical Case</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Market Visit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User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Panel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Reference Check</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MCU</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Offering</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Day One</a:t>
                      </a:r>
                    </a:p>
                  </a:txBody>
                  <a:tcPr marL="0" marR="0" marT="0" marB="0" anchor="ctr">
                    <a:lnL>
                      <a:noFill/>
                    </a:lnL>
                    <a:lnR>
                      <a:noFill/>
                    </a:lnR>
                    <a:lnT>
                      <a:noFill/>
                    </a:lnT>
                    <a:lnB>
                      <a:noFill/>
                    </a:lnB>
                    <a:solidFill>
                      <a:srgbClr val="2C3E50"/>
                    </a:solidFill>
                  </a:tcPr>
                </a:tc>
                <a:extLst>
                  <a:ext uri="{0D108BD9-81ED-4DB2-BD59-A6C34878D82A}">
                    <a16:rowId xmlns:a16="http://schemas.microsoft.com/office/drawing/2014/main" val="276996153"/>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09-Jul-26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Head of Area - Malingping</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Fiqra </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22271737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09-Jul-26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Area Sales Supervisor - Surabaya Timur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Kevin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808569414"/>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10-Jul-26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Production Supervisor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Karin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95290552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10-Jul-26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Maintenance Supervisor Instrument Engineer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Wahyu</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25770375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14-Jul-26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R&amp;I Supervisor - Formulation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Karin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88035826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14-Jul-26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R&amp;I Supervisor - Process Engineering</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Karin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981100202"/>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16-Jul-26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Area Sales Supervisor (Chilled) - Jakarta Timur </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Salsa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376468157"/>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21-Jul-26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Area Sales Supervisor (Frozen) - Jakarta Selatan </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Salsa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03488664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Head of Area Jombang</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Kenthansen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160727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28-Jul-26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Area Sales Supervisor (Chilled) - Batam</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Salsa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238096821"/>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30-Jul-26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Area Sales Supervisor (Mix) - Kuningan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Salsa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83467016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03-Aug-26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Media Intelligence Specialist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Karin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61425895"/>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03-Aug-26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Media Relations Lead</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Karin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3536401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03-Aug-26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Public Affairs Lead</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Karin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4234110072"/>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04-Aug-26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Head of Area - Tangerang Kabupaten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Omega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23729169"/>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04-Aug-26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Finance, Accounting, &amp; Tax Assistant Manager - Branch</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Karin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29065694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04-Aug-26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Area Sales Supervisor (Chilled) - Banda Aceh</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Salsa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28095855"/>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05-Aug-26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Area Sales Supervisor - Tangerang Kabupaten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Kevin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19477437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05-Aug-26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Area Sales Supervisor (Chilled) - Padang</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Salsa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06633629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05-Aug-26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Area Sales Supervisor (Mix) - Rantau Prapat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Salsa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783835084"/>
                  </a:ext>
                </a:extLst>
              </a:tr>
            </a:tbl>
          </a:graphicData>
        </a:graphic>
      </p:graphicFrame>
    </p:spTree>
    <p:extLst>
      <p:ext uri="{BB962C8B-B14F-4D97-AF65-F5344CB8AC3E}">
        <p14:creationId xmlns:p14="http://schemas.microsoft.com/office/powerpoint/2010/main" val="1897622684"/>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8E0CD0-23A9-8924-05FE-2EECC6805529}"/>
            </a:ext>
          </a:extLst>
        </p:cNvPr>
        <p:cNvGrpSpPr/>
        <p:nvPr/>
      </p:nvGrpSpPr>
      <p:grpSpPr>
        <a:xfrm>
          <a:off x="0" y="0"/>
          <a:ext cx="0" cy="0"/>
          <a:chOff x="0" y="0"/>
          <a:chExt cx="0" cy="0"/>
        </a:xfrm>
      </p:grpSpPr>
      <p:sp>
        <p:nvSpPr>
          <p:cNvPr id="40" name="Text 19">
            <a:extLst>
              <a:ext uri="{FF2B5EF4-FFF2-40B4-BE49-F238E27FC236}">
                <a16:creationId xmlns:a16="http://schemas.microsoft.com/office/drawing/2014/main" id="{ACE6256D-1228-2454-A4C4-CEDE13C92EC1}"/>
              </a:ext>
            </a:extLst>
          </p:cNvPr>
          <p:cNvSpPr/>
          <p:nvPr/>
        </p:nvSpPr>
        <p:spPr>
          <a:xfrm>
            <a:off x="8095488"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FILL RATE</a:t>
            </a:r>
            <a:endParaRPr lang="en-US" sz="1100">
              <a:latin typeface="Raleway"/>
            </a:endParaRPr>
          </a:p>
        </p:txBody>
      </p:sp>
      <p:sp>
        <p:nvSpPr>
          <p:cNvPr id="43" name="Text 22">
            <a:extLst>
              <a:ext uri="{FF2B5EF4-FFF2-40B4-BE49-F238E27FC236}">
                <a16:creationId xmlns:a16="http://schemas.microsoft.com/office/drawing/2014/main" id="{F12B2DE4-4DA7-A424-934B-E0D9BEA5CE65}"/>
              </a:ext>
            </a:extLst>
          </p:cNvPr>
          <p:cNvSpPr/>
          <p:nvPr/>
        </p:nvSpPr>
        <p:spPr>
          <a:xfrm>
            <a:off x="10027920"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 SESUAI SLA</a:t>
            </a:r>
            <a:endParaRPr lang="en-US" sz="1100">
              <a:latin typeface="Raleway"/>
            </a:endParaRPr>
          </a:p>
        </p:txBody>
      </p:sp>
      <p:sp>
        <p:nvSpPr>
          <p:cNvPr id="6" name="Text 0">
            <a:extLst>
              <a:ext uri="{FF2B5EF4-FFF2-40B4-BE49-F238E27FC236}">
                <a16:creationId xmlns:a16="http://schemas.microsoft.com/office/drawing/2014/main" id="{D95EF561-E973-346D-2CE5-1B5573292078}"/>
              </a:ext>
            </a:extLst>
          </p:cNvPr>
          <p:cNvSpPr/>
          <p:nvPr/>
        </p:nvSpPr>
        <p:spPr>
          <a:xfrm>
            <a:off x="354124" y="164592"/>
            <a:ext cx="6858000" cy="502920"/>
          </a:xfrm>
          <a:prstGeom prst="rect">
            <a:avLst/>
          </a:prstGeom>
          <a:noFill/>
          <a:ln/>
        </p:spPr>
        <p:txBody>
          <a:bodyPr wrap="square" lIns="0" tIns="0" rIns="0" bIns="0" rtlCol="0" anchor="ctr"/>
          <a:lstStyle/>
          <a:p>
            <a:r>
              <a:rPr lang="en-US" sz="2800" b="1">
                <a:solidFill>
                  <a:srgbClr val="12284C"/>
                </a:solidFill>
                <a:latin typeface="Raleway"/>
                <a:ea typeface="Georgia" pitchFamily="34" charset="-122"/>
                <a:cs typeface="Georgia" pitchFamily="34" charset="-120"/>
              </a:rPr>
              <a:t>83 FPTK Open — Level 3</a:t>
            </a:r>
            <a:endParaRPr lang="en-US" sz="2800" b="1">
              <a:solidFill>
                <a:srgbClr val="C00000"/>
              </a:solidFill>
              <a:latin typeface="Raleway"/>
            </a:endParaRPr>
          </a:p>
        </p:txBody>
      </p:sp>
      <p:graphicFrame>
        <p:nvGraphicFramePr>
          <p:cNvPr id="5" name="Table 4">
            <a:extLst>
              <a:ext uri="{FF2B5EF4-FFF2-40B4-BE49-F238E27FC236}">
                <a16:creationId xmlns:a16="http://schemas.microsoft.com/office/drawing/2014/main" id="{B684D90D-1045-E501-B07E-EE038361801F}"/>
              </a:ext>
            </a:extLst>
          </p:cNvPr>
          <p:cNvGraphicFramePr>
            <a:graphicFrameLocks noGrp="1"/>
          </p:cNvGraphicFramePr>
          <p:nvPr>
            <p:extLst>
              <p:ext uri="{D42A27DB-BD31-4B8C-83A1-F6EECF244321}">
                <p14:modId xmlns:p14="http://schemas.microsoft.com/office/powerpoint/2010/main" val="2583460887"/>
              </p:ext>
            </p:extLst>
          </p:nvPr>
        </p:nvGraphicFramePr>
        <p:xfrm>
          <a:off x="354124" y="667512"/>
          <a:ext cx="11441637" cy="1271009"/>
        </p:xfrm>
        <a:graphic>
          <a:graphicData uri="http://schemas.openxmlformats.org/drawingml/2006/table">
            <a:tbl>
              <a:tblPr bandRow="1">
                <a:tableStyleId>{5C22544A-7EE6-4342-B048-85BDC9FD1C3A}</a:tableStyleId>
              </a:tblPr>
              <a:tblGrid>
                <a:gridCol w="691088">
                  <a:extLst>
                    <a:ext uri="{9D8B030D-6E8A-4147-A177-3AD203B41FA5}">
                      <a16:colId xmlns:a16="http://schemas.microsoft.com/office/drawing/2014/main" val="964775141"/>
                    </a:ext>
                  </a:extLst>
                </a:gridCol>
                <a:gridCol w="1774643">
                  <a:extLst>
                    <a:ext uri="{9D8B030D-6E8A-4147-A177-3AD203B41FA5}">
                      <a16:colId xmlns:a16="http://schemas.microsoft.com/office/drawing/2014/main" val="3818843332"/>
                    </a:ext>
                  </a:extLst>
                </a:gridCol>
                <a:gridCol w="1365111">
                  <a:extLst>
                    <a:ext uri="{9D8B030D-6E8A-4147-A177-3AD203B41FA5}">
                      <a16:colId xmlns:a16="http://schemas.microsoft.com/office/drawing/2014/main" val="3805053784"/>
                    </a:ext>
                  </a:extLst>
                </a:gridCol>
                <a:gridCol w="1003821">
                  <a:extLst>
                    <a:ext uri="{9D8B030D-6E8A-4147-A177-3AD203B41FA5}">
                      <a16:colId xmlns:a16="http://schemas.microsoft.com/office/drawing/2014/main" val="873694035"/>
                    </a:ext>
                  </a:extLst>
                </a:gridCol>
                <a:gridCol w="426326">
                  <a:extLst>
                    <a:ext uri="{9D8B030D-6E8A-4147-A177-3AD203B41FA5}">
                      <a16:colId xmlns:a16="http://schemas.microsoft.com/office/drawing/2014/main" val="2118302063"/>
                    </a:ext>
                  </a:extLst>
                </a:gridCol>
                <a:gridCol w="546571">
                  <a:extLst>
                    <a:ext uri="{9D8B030D-6E8A-4147-A177-3AD203B41FA5}">
                      <a16:colId xmlns:a16="http://schemas.microsoft.com/office/drawing/2014/main" val="347069574"/>
                    </a:ext>
                  </a:extLst>
                </a:gridCol>
                <a:gridCol w="601228">
                  <a:extLst>
                    <a:ext uri="{9D8B030D-6E8A-4147-A177-3AD203B41FA5}">
                      <a16:colId xmlns:a16="http://schemas.microsoft.com/office/drawing/2014/main" val="2517663509"/>
                    </a:ext>
                  </a:extLst>
                </a:gridCol>
                <a:gridCol w="557503">
                  <a:extLst>
                    <a:ext uri="{9D8B030D-6E8A-4147-A177-3AD203B41FA5}">
                      <a16:colId xmlns:a16="http://schemas.microsoft.com/office/drawing/2014/main" val="4256926922"/>
                    </a:ext>
                  </a:extLst>
                </a:gridCol>
                <a:gridCol w="699610">
                  <a:extLst>
                    <a:ext uri="{9D8B030D-6E8A-4147-A177-3AD203B41FA5}">
                      <a16:colId xmlns:a16="http://schemas.microsoft.com/office/drawing/2014/main" val="103401002"/>
                    </a:ext>
                  </a:extLst>
                </a:gridCol>
                <a:gridCol w="623091">
                  <a:extLst>
                    <a:ext uri="{9D8B030D-6E8A-4147-A177-3AD203B41FA5}">
                      <a16:colId xmlns:a16="http://schemas.microsoft.com/office/drawing/2014/main" val="1508212738"/>
                    </a:ext>
                  </a:extLst>
                </a:gridCol>
                <a:gridCol w="557503">
                  <a:extLst>
                    <a:ext uri="{9D8B030D-6E8A-4147-A177-3AD203B41FA5}">
                      <a16:colId xmlns:a16="http://schemas.microsoft.com/office/drawing/2014/main" val="2156794149"/>
                    </a:ext>
                  </a:extLst>
                </a:gridCol>
                <a:gridCol w="590297">
                  <a:extLst>
                    <a:ext uri="{9D8B030D-6E8A-4147-A177-3AD203B41FA5}">
                      <a16:colId xmlns:a16="http://schemas.microsoft.com/office/drawing/2014/main" val="225074111"/>
                    </a:ext>
                  </a:extLst>
                </a:gridCol>
                <a:gridCol w="460562">
                  <a:extLst>
                    <a:ext uri="{9D8B030D-6E8A-4147-A177-3AD203B41FA5}">
                      <a16:colId xmlns:a16="http://schemas.microsoft.com/office/drawing/2014/main" val="461221745"/>
                    </a:ext>
                  </a:extLst>
                </a:gridCol>
                <a:gridCol w="503385">
                  <a:extLst>
                    <a:ext uri="{9D8B030D-6E8A-4147-A177-3AD203B41FA5}">
                      <a16:colId xmlns:a16="http://schemas.microsoft.com/office/drawing/2014/main" val="1428405946"/>
                    </a:ext>
                  </a:extLst>
                </a:gridCol>
                <a:gridCol w="341278">
                  <a:extLst>
                    <a:ext uri="{9D8B030D-6E8A-4147-A177-3AD203B41FA5}">
                      <a16:colId xmlns:a16="http://schemas.microsoft.com/office/drawing/2014/main" val="1005622174"/>
                    </a:ext>
                  </a:extLst>
                </a:gridCol>
                <a:gridCol w="349810">
                  <a:extLst>
                    <a:ext uri="{9D8B030D-6E8A-4147-A177-3AD203B41FA5}">
                      <a16:colId xmlns:a16="http://schemas.microsoft.com/office/drawing/2014/main" val="4214742890"/>
                    </a:ext>
                  </a:extLst>
                </a:gridCol>
                <a:gridCol w="349810">
                  <a:extLst>
                    <a:ext uri="{9D8B030D-6E8A-4147-A177-3AD203B41FA5}">
                      <a16:colId xmlns:a16="http://schemas.microsoft.com/office/drawing/2014/main" val="3877463835"/>
                    </a:ext>
                  </a:extLst>
                </a:gridCol>
              </a:tblGrid>
              <a:tr h="442868">
                <a:tc>
                  <a:txBody>
                    <a:bodyPr/>
                    <a:lstStyle/>
                    <a:p>
                      <a:pPr algn="ctr" rtl="0" fontAlgn="ctr">
                        <a:buNone/>
                      </a:pPr>
                      <a:r>
                        <a:rPr lang="en-US" sz="800" b="1" i="0" u="none" strike="noStrike">
                          <a:solidFill>
                            <a:srgbClr val="FFFFFF"/>
                          </a:solidFill>
                          <a:effectLst/>
                          <a:latin typeface="Aptos Narrow" panose="020B0004020202020204" pitchFamily="34" charset="0"/>
                        </a:rPr>
                        <a:t>FPTK Date Real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Posisi</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Business Unit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PIC Recruiter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Sourcing FL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Sourcing HR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Shortlisted User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Psikotes</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HR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Technical Case</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Market Visit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User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Panel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Reference Check</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MCU</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Offering</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Day One</a:t>
                      </a:r>
                    </a:p>
                  </a:txBody>
                  <a:tcPr marL="0" marR="0" marT="0" marB="0" anchor="ctr">
                    <a:lnL>
                      <a:noFill/>
                    </a:lnL>
                    <a:lnR>
                      <a:noFill/>
                    </a:lnR>
                    <a:lnT>
                      <a:noFill/>
                    </a:lnT>
                    <a:lnB>
                      <a:noFill/>
                    </a:lnB>
                    <a:solidFill>
                      <a:srgbClr val="2C3E50"/>
                    </a:solidFill>
                  </a:tcPr>
                </a:tc>
                <a:extLst>
                  <a:ext uri="{0D108BD9-81ED-4DB2-BD59-A6C34878D82A}">
                    <a16:rowId xmlns:a16="http://schemas.microsoft.com/office/drawing/2014/main" val="276996153"/>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06-Aug-26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Channel Development Excellence (CDEx) Specialist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Brittney</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22271737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06-Aug-26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Channel Development Excellence (CDEx) Specialist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Brittney</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808569414"/>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06-Aug-26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CommEx Analyst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Brittney</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952905528"/>
                  </a:ext>
                </a:extLst>
              </a:tr>
            </a:tbl>
          </a:graphicData>
        </a:graphic>
      </p:graphicFrame>
    </p:spTree>
    <p:extLst>
      <p:ext uri="{BB962C8B-B14F-4D97-AF65-F5344CB8AC3E}">
        <p14:creationId xmlns:p14="http://schemas.microsoft.com/office/powerpoint/2010/main" val="208903657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AA68532-5810-6CA5-227C-F151552E0403}"/>
            </a:ext>
          </a:extLst>
        </p:cNvPr>
        <p:cNvGrpSpPr/>
        <p:nvPr/>
      </p:nvGrpSpPr>
      <p:grpSpPr>
        <a:xfrm>
          <a:off x="0" y="0"/>
          <a:ext cx="0" cy="0"/>
          <a:chOff x="0" y="0"/>
          <a:chExt cx="0" cy="0"/>
        </a:xfrm>
      </p:grpSpPr>
      <p:graphicFrame>
        <p:nvGraphicFramePr>
          <p:cNvPr id="4" name="Table 3">
            <a:extLst>
              <a:ext uri="{FF2B5EF4-FFF2-40B4-BE49-F238E27FC236}">
                <a16:creationId xmlns:a16="http://schemas.microsoft.com/office/drawing/2014/main" id="{6A6156D4-843A-7236-A684-B0581535A1C6}"/>
              </a:ext>
            </a:extLst>
          </p:cNvPr>
          <p:cNvGraphicFramePr>
            <a:graphicFrameLocks noGrp="1"/>
          </p:cNvGraphicFramePr>
          <p:nvPr>
            <p:extLst>
              <p:ext uri="{D42A27DB-BD31-4B8C-83A1-F6EECF244321}">
                <p14:modId xmlns:p14="http://schemas.microsoft.com/office/powerpoint/2010/main" val="3204163710"/>
              </p:ext>
            </p:extLst>
          </p:nvPr>
        </p:nvGraphicFramePr>
        <p:xfrm>
          <a:off x="280276" y="1110385"/>
          <a:ext cx="11636273" cy="4312125"/>
        </p:xfrm>
        <a:graphic>
          <a:graphicData uri="http://schemas.openxmlformats.org/drawingml/2006/table">
            <a:tbl>
              <a:tblPr bandRow="1">
                <a:tableStyleId>{5C22544A-7EE6-4342-B048-85BDC9FD1C3A}</a:tableStyleId>
              </a:tblPr>
              <a:tblGrid>
                <a:gridCol w="547589">
                  <a:extLst>
                    <a:ext uri="{9D8B030D-6E8A-4147-A177-3AD203B41FA5}">
                      <a16:colId xmlns:a16="http://schemas.microsoft.com/office/drawing/2014/main" val="3305883358"/>
                    </a:ext>
                  </a:extLst>
                </a:gridCol>
                <a:gridCol w="2076277">
                  <a:extLst>
                    <a:ext uri="{9D8B030D-6E8A-4147-A177-3AD203B41FA5}">
                      <a16:colId xmlns:a16="http://schemas.microsoft.com/office/drawing/2014/main" val="1859053792"/>
                    </a:ext>
                  </a:extLst>
                </a:gridCol>
                <a:gridCol w="547589">
                  <a:extLst>
                    <a:ext uri="{9D8B030D-6E8A-4147-A177-3AD203B41FA5}">
                      <a16:colId xmlns:a16="http://schemas.microsoft.com/office/drawing/2014/main" val="1584050253"/>
                    </a:ext>
                  </a:extLst>
                </a:gridCol>
                <a:gridCol w="981097">
                  <a:extLst>
                    <a:ext uri="{9D8B030D-6E8A-4147-A177-3AD203B41FA5}">
                      <a16:colId xmlns:a16="http://schemas.microsoft.com/office/drawing/2014/main" val="3746191263"/>
                    </a:ext>
                  </a:extLst>
                </a:gridCol>
                <a:gridCol w="730119">
                  <a:extLst>
                    <a:ext uri="{9D8B030D-6E8A-4147-A177-3AD203B41FA5}">
                      <a16:colId xmlns:a16="http://schemas.microsoft.com/office/drawing/2014/main" val="2238123112"/>
                    </a:ext>
                  </a:extLst>
                </a:gridCol>
                <a:gridCol w="581813">
                  <a:extLst>
                    <a:ext uri="{9D8B030D-6E8A-4147-A177-3AD203B41FA5}">
                      <a16:colId xmlns:a16="http://schemas.microsoft.com/office/drawing/2014/main" val="4051824501"/>
                    </a:ext>
                  </a:extLst>
                </a:gridCol>
                <a:gridCol w="935465">
                  <a:extLst>
                    <a:ext uri="{9D8B030D-6E8A-4147-A177-3AD203B41FA5}">
                      <a16:colId xmlns:a16="http://schemas.microsoft.com/office/drawing/2014/main" val="3906797265"/>
                    </a:ext>
                  </a:extLst>
                </a:gridCol>
                <a:gridCol w="547589">
                  <a:extLst>
                    <a:ext uri="{9D8B030D-6E8A-4147-A177-3AD203B41FA5}">
                      <a16:colId xmlns:a16="http://schemas.microsoft.com/office/drawing/2014/main" val="631437759"/>
                    </a:ext>
                  </a:extLst>
                </a:gridCol>
                <a:gridCol w="547589">
                  <a:extLst>
                    <a:ext uri="{9D8B030D-6E8A-4147-A177-3AD203B41FA5}">
                      <a16:colId xmlns:a16="http://schemas.microsoft.com/office/drawing/2014/main" val="1579440946"/>
                    </a:ext>
                  </a:extLst>
                </a:gridCol>
                <a:gridCol w="4141146">
                  <a:extLst>
                    <a:ext uri="{9D8B030D-6E8A-4147-A177-3AD203B41FA5}">
                      <a16:colId xmlns:a16="http://schemas.microsoft.com/office/drawing/2014/main" val="1577583706"/>
                    </a:ext>
                  </a:extLst>
                </a:gridCol>
              </a:tblGrid>
              <a:tr h="942541">
                <a:tc>
                  <a:txBody>
                    <a:bodyPr/>
                    <a:lstStyle/>
                    <a:p>
                      <a:pPr algn="ctr">
                        <a:buNone/>
                      </a:pPr>
                      <a:r>
                        <a:rPr lang="en-US" sz="1000" b="1">
                          <a:solidFill>
                            <a:schemeClr val="bg1"/>
                          </a:solidFill>
                          <a:effectLst/>
                          <a:latin typeface="Raleway"/>
                        </a:rPr>
                        <a:t>Tanggal 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Posisi</a:t>
                      </a:r>
                      <a:endParaRPr lang="en-US" sz="1000" b="1">
                        <a:solidFill>
                          <a:schemeClr val="bg1"/>
                        </a:solidFill>
                        <a:effectLst/>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Business 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Kategori</a:t>
                      </a:r>
                      <a:r>
                        <a:rPr lang="en-US" sz="1000" b="1">
                          <a:solidFill>
                            <a:schemeClr val="bg1"/>
                          </a:solidFill>
                          <a:effectLst/>
                          <a:latin typeface="Raleway"/>
                        </a:rPr>
                        <a:t> sheet5</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SLA Target </a:t>
                      </a:r>
                      <a:r>
                        <a:rPr lang="en-US" sz="1000" b="1" err="1">
                          <a:solidFill>
                            <a:schemeClr val="bg1"/>
                          </a:solidFill>
                          <a:effectLst/>
                          <a:latin typeface="Raleway"/>
                        </a:rPr>
                        <a:t>Pemenuhan</a:t>
                      </a:r>
                      <a:endParaRPr lang="en-US" sz="1000" b="1">
                        <a:solidFill>
                          <a:schemeClr val="bg1"/>
                        </a:solidFill>
                        <a:effectLst/>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Jumlah</a:t>
                      </a:r>
                      <a:r>
                        <a:rPr lang="en-US" sz="1000" b="1">
                          <a:solidFill>
                            <a:schemeClr val="bg1"/>
                          </a:solidFill>
                          <a:effectLst/>
                          <a:latin typeface="Raleway"/>
                        </a:rPr>
                        <a:t> </a:t>
                      </a:r>
                      <a:r>
                        <a:rPr lang="en-US" sz="1000" b="1" err="1">
                          <a:solidFill>
                            <a:schemeClr val="bg1"/>
                          </a:solidFill>
                          <a:effectLst/>
                          <a:latin typeface="Raleway"/>
                        </a:rPr>
                        <a:t>Permintaan</a:t>
                      </a:r>
                      <a:endParaRPr lang="en-US" sz="1000" b="1">
                        <a:solidFill>
                          <a:schemeClr val="bg1"/>
                        </a:solidFill>
                        <a:effectLst/>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Status </a:t>
                      </a:r>
                      <a:r>
                        <a:rPr lang="en-US" sz="1000" b="1" err="1">
                          <a:solidFill>
                            <a:schemeClr val="bg1"/>
                          </a:solidFill>
                          <a:effectLst/>
                          <a:latin typeface="Raleway"/>
                        </a:rPr>
                        <a:t>Rekrutmen</a:t>
                      </a:r>
                      <a:endParaRPr lang="en-US" sz="1000" b="1">
                        <a:solidFill>
                          <a:schemeClr val="bg1"/>
                        </a:solidFill>
                        <a:effectLst/>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3804343341"/>
                  </a:ext>
                </a:extLst>
              </a:tr>
              <a:tr h="942541">
                <a:tc>
                  <a:txBody>
                    <a:bodyPr/>
                    <a:lstStyle/>
                    <a:p>
                      <a:pPr algn="ctr">
                        <a:buNone/>
                      </a:pPr>
                      <a:r>
                        <a:rPr lang="en-US" sz="1000">
                          <a:effectLst/>
                          <a:latin typeface="Raleway"/>
                        </a:rPr>
                        <a:t>06-Oct-25</a:t>
                      </a:r>
                    </a:p>
                  </a:txBody>
                  <a:tcPr anchor="ctr">
                    <a:lnL w="12700">
                      <a:solidFill>
                        <a:schemeClr val="tx1"/>
                      </a:solid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tc>
                  <a:txBody>
                    <a:bodyPr/>
                    <a:lstStyle/>
                    <a:p>
                      <a:pPr>
                        <a:buNone/>
                      </a:pPr>
                      <a:r>
                        <a:rPr lang="en-US" sz="1000">
                          <a:effectLst/>
                          <a:latin typeface="Raleway"/>
                        </a:rPr>
                        <a:t>Tax </a:t>
                      </a:r>
                      <a:r>
                        <a:rPr lang="en-US" sz="1000" err="1">
                          <a:effectLst/>
                          <a:latin typeface="Raleway"/>
                        </a:rPr>
                        <a:t>Supervisora</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tc>
                  <a:txBody>
                    <a:bodyPr/>
                    <a:lstStyle/>
                    <a:p>
                      <a:pPr algn="ctr">
                        <a:buNone/>
                      </a:pPr>
                      <a:r>
                        <a:rPr lang="en-US" sz="1000">
                          <a:effectLst/>
                          <a:latin typeface="Raleway"/>
                        </a:rPr>
                        <a:t>3C</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tc>
                  <a:txBody>
                    <a:bodyPr/>
                    <a:lstStyle/>
                    <a:p>
                      <a:pPr>
                        <a:buNone/>
                      </a:pPr>
                      <a:r>
                        <a:rPr lang="en-US" sz="1000">
                          <a:effectLst/>
                          <a:latin typeface="Raleway"/>
                        </a:rPr>
                        <a:t>PT MACROSENTRA NIAGABOGA</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tc>
                  <a:txBody>
                    <a:bodyPr/>
                    <a:lstStyle/>
                    <a:p>
                      <a:pPr>
                        <a:buNone/>
                      </a:pPr>
                      <a:r>
                        <a:rPr lang="en-US" sz="1000">
                          <a:effectLst/>
                          <a:latin typeface="Raleway"/>
                        </a:rPr>
                        <a:t>NEW</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tc>
                  <a:txBody>
                    <a:bodyPr/>
                    <a:lstStyle/>
                    <a:p>
                      <a:pPr algn="ctr">
                        <a:buNone/>
                      </a:pPr>
                      <a:r>
                        <a:rPr lang="en-US" sz="1000">
                          <a:effectLst/>
                          <a:latin typeface="Raleway"/>
                        </a:rPr>
                        <a:t>07-Oct-25</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tc>
                  <a:txBody>
                    <a:bodyPr/>
                    <a:lstStyle/>
                    <a:p>
                      <a:pPr algn="ctr">
                        <a:buNone/>
                      </a:pPr>
                      <a:r>
                        <a:rPr lang="en-US" sz="1000">
                          <a:effectLst/>
                          <a:latin typeface="Raleway"/>
                        </a:rPr>
                        <a:t>Valen</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tc>
                  <a:txBody>
                    <a:bodyPr/>
                    <a:lstStyle/>
                    <a:p>
                      <a:pPr algn="ctr">
                        <a:buNone/>
                      </a:pPr>
                      <a:r>
                        <a:rPr lang="en-US" sz="1000">
                          <a:effectLst/>
                          <a:latin typeface="Raleway"/>
                        </a:rPr>
                        <a:t>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tc>
                  <a:txBody>
                    <a:bodyPr/>
                    <a:lstStyle/>
                    <a:p>
                      <a:pPr algn="ctr">
                        <a:buNone/>
                      </a:pPr>
                      <a:r>
                        <a:rPr lang="en-US" sz="1000">
                          <a:effectLst/>
                          <a:latin typeface="Raleway"/>
                        </a:rPr>
                        <a:t>OP</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tc>
                  <a:txBody>
                    <a:bodyPr/>
                    <a:lstStyle/>
                    <a:p>
                      <a:pPr>
                        <a:buNone/>
                      </a:pPr>
                      <a:r>
                        <a:rPr lang="en-US" sz="1000">
                          <a:effectLst/>
                          <a:latin typeface="Raleway"/>
                        </a:rPr>
                        <a:t>Progress :</a:t>
                      </a:r>
                      <a:br>
                        <a:rPr lang="en-US" sz="1000">
                          <a:effectLst/>
                          <a:latin typeface="Raleway"/>
                        </a:rPr>
                      </a:br>
                      <a:r>
                        <a:rPr lang="en-US" sz="1000">
                          <a:effectLst/>
                          <a:latin typeface="Raleway"/>
                        </a:rPr>
                        <a:t>1. Sourcing CV 10 CV di Week 33</a:t>
                      </a: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1. Send 10 CV </a:t>
                      </a:r>
                      <a:r>
                        <a:rPr lang="en-US" sz="1000" err="1">
                          <a:effectLst/>
                          <a:latin typeface="Raleway"/>
                        </a:rPr>
                        <a:t>ke</a:t>
                      </a:r>
                      <a:r>
                        <a:rPr lang="en-US" sz="1000">
                          <a:effectLst/>
                          <a:latin typeface="Raleway"/>
                        </a:rPr>
                        <a:t> user di Week 34</a:t>
                      </a:r>
                    </a:p>
                  </a:txBody>
                  <a:tcPr anchor="ctr">
                    <a:lnL w="12700" cap="flat" cmpd="sng" algn="ctr">
                      <a:solidFill>
                        <a:schemeClr val="tx1"/>
                      </a:solidFill>
                      <a:prstDash val="solid"/>
                      <a:round/>
                      <a:headEnd type="none" w="med" len="med"/>
                      <a:tailEnd type="none" w="med" len="med"/>
                    </a:lnL>
                    <a:lnR w="12700">
                      <a:solidFill>
                        <a:schemeClr val="tx1"/>
                      </a:solidFill>
                    </a:lnR>
                    <a:lnT w="12700" cap="flat" cmpd="sng" algn="ctr">
                      <a:solidFill>
                        <a:schemeClr val="tx1"/>
                      </a:solidFill>
                      <a:prstDash val="solid"/>
                      <a:round/>
                      <a:headEnd type="none" w="med" len="med"/>
                      <a:tailEnd type="none" w="med" len="med"/>
                    </a:lnT>
                    <a:lnB w="12700">
                      <a:solidFill>
                        <a:schemeClr val="tx1"/>
                      </a:solidFill>
                    </a:lnB>
                    <a:noFill/>
                  </a:tcPr>
                </a:tc>
                <a:extLst>
                  <a:ext uri="{0D108BD9-81ED-4DB2-BD59-A6C34878D82A}">
                    <a16:rowId xmlns:a16="http://schemas.microsoft.com/office/drawing/2014/main" val="1300218373"/>
                  </a:ext>
                </a:extLst>
              </a:tr>
              <a:tr h="742251">
                <a:tc>
                  <a:txBody>
                    <a:bodyPr/>
                    <a:lstStyle/>
                    <a:p>
                      <a:pPr algn="ctr">
                        <a:buNone/>
                      </a:pPr>
                      <a:r>
                        <a:rPr lang="en-US" sz="1000">
                          <a:effectLst/>
                          <a:latin typeface="Raleway"/>
                        </a:rPr>
                        <a:t>03-Feb-26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Brand Partnership Specialist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3C</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04-Jan-26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Karin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&gt; 1 </a:t>
                      </a:r>
                      <a:r>
                        <a:rPr lang="en-US" sz="1000" err="1">
                          <a:effectLst/>
                          <a:latin typeface="Raleway"/>
                        </a:rPr>
                        <a:t>kandidat</a:t>
                      </a:r>
                      <a:r>
                        <a:rPr lang="en-US" sz="1000">
                          <a:effectLst/>
                          <a:latin typeface="Raleway"/>
                        </a:rPr>
                        <a:t> user interview di Week 33 &amp; 1 </a:t>
                      </a:r>
                      <a:r>
                        <a:rPr lang="en-US" sz="1000" err="1">
                          <a:effectLst/>
                          <a:latin typeface="Raleway"/>
                        </a:rPr>
                        <a:t>kandidat</a:t>
                      </a:r>
                      <a:r>
                        <a:rPr lang="en-US" sz="1000">
                          <a:effectLst/>
                          <a:latin typeface="Raleway"/>
                        </a:rPr>
                        <a:t> user interview di Week 34</a:t>
                      </a: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&gt; Send 5 CV </a:t>
                      </a:r>
                      <a:r>
                        <a:rPr lang="en-US" sz="1000" err="1">
                          <a:effectLst/>
                          <a:latin typeface="Raleway"/>
                        </a:rPr>
                        <a:t>lainnya</a:t>
                      </a:r>
                      <a:r>
                        <a:rPr lang="en-US" sz="1000">
                          <a:effectLst/>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855159579"/>
                  </a:ext>
                </a:extLst>
              </a:tr>
              <a:tr h="742251">
                <a:tc>
                  <a:txBody>
                    <a:bodyPr/>
                    <a:lstStyle/>
                    <a:p>
                      <a:pPr algn="ctr">
                        <a:buNone/>
                      </a:pPr>
                      <a:r>
                        <a:rPr lang="en-US" sz="1000">
                          <a:effectLst/>
                          <a:latin typeface="Raleway"/>
                        </a:rPr>
                        <a:t>07-Feb-26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Quality Assurance Assistant Manager</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3C</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08-Jan-26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Karin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&gt; 1 </a:t>
                      </a:r>
                      <a:r>
                        <a:rPr lang="en-US" sz="1000" err="1">
                          <a:effectLst/>
                          <a:latin typeface="Raleway"/>
                        </a:rPr>
                        <a:t>kandidat</a:t>
                      </a:r>
                      <a:r>
                        <a:rPr lang="en-US" sz="1000">
                          <a:effectLst/>
                          <a:latin typeface="Raleway"/>
                        </a:rPr>
                        <a:t> an Firmansyah </a:t>
                      </a:r>
                      <a:r>
                        <a:rPr lang="en-US" sz="1000" err="1">
                          <a:effectLst/>
                          <a:latin typeface="Raleway"/>
                        </a:rPr>
                        <a:t>menunggu</a:t>
                      </a:r>
                      <a:r>
                        <a:rPr lang="en-US" sz="1000">
                          <a:effectLst/>
                          <a:latin typeface="Raleway"/>
                        </a:rPr>
                        <a:t> TTD OL</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969710188"/>
                  </a:ext>
                </a:extLst>
              </a:tr>
              <a:tr h="942541">
                <a:tc>
                  <a:txBody>
                    <a:bodyPr/>
                    <a:lstStyle/>
                    <a:p>
                      <a:pPr algn="ctr">
                        <a:buNone/>
                      </a:pPr>
                      <a:r>
                        <a:rPr lang="en-US" sz="1000">
                          <a:effectLst/>
                          <a:latin typeface="Raleway"/>
                        </a:rPr>
                        <a:t>07-Feb-26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Chef &amp; Culinary Specialist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3C</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08-Jan-26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Karin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&gt; 1 </a:t>
                      </a:r>
                      <a:r>
                        <a:rPr lang="en-US" sz="1000" err="1">
                          <a:effectLst/>
                          <a:latin typeface="Raleway"/>
                        </a:rPr>
                        <a:t>kandidat</a:t>
                      </a:r>
                      <a:r>
                        <a:rPr lang="en-US" sz="1000">
                          <a:effectLst/>
                          <a:latin typeface="Raleway"/>
                        </a:rPr>
                        <a:t> KEEP an Michelle Anjani</a:t>
                      </a:r>
                      <a:br>
                        <a:rPr lang="en-US" sz="1000">
                          <a:effectLst/>
                          <a:latin typeface="Raleway"/>
                        </a:rPr>
                      </a:br>
                      <a:r>
                        <a:rPr lang="en-US" sz="1000">
                          <a:effectLst/>
                          <a:latin typeface="Raleway"/>
                        </a:rPr>
                        <a:t>&gt; 1 </a:t>
                      </a:r>
                      <a:r>
                        <a:rPr lang="en-US" sz="1000" err="1">
                          <a:effectLst/>
                          <a:latin typeface="Raleway"/>
                        </a:rPr>
                        <a:t>kandidat</a:t>
                      </a:r>
                      <a:r>
                        <a:rPr lang="en-US" sz="1000">
                          <a:effectLst/>
                          <a:latin typeface="Raleway"/>
                        </a:rPr>
                        <a:t> an Jeremy Drop agenda user interview</a:t>
                      </a: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&gt; Send 10 CV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564141880"/>
                  </a:ext>
                </a:extLst>
              </a:tr>
            </a:tbl>
          </a:graphicData>
        </a:graphic>
      </p:graphicFrame>
      <p:sp>
        <p:nvSpPr>
          <p:cNvPr id="5" name="Title 1">
            <a:extLst>
              <a:ext uri="{FF2B5EF4-FFF2-40B4-BE49-F238E27FC236}">
                <a16:creationId xmlns:a16="http://schemas.microsoft.com/office/drawing/2014/main" id="{FBC0EB57-9474-FBC4-B09F-6BFB907AEA30}"/>
              </a:ext>
            </a:extLst>
          </p:cNvPr>
          <p:cNvSpPr txBox="1">
            <a:spLocks/>
          </p:cNvSpPr>
          <p:nvPr/>
        </p:nvSpPr>
        <p:spPr>
          <a:xfrm>
            <a:off x="1567829" y="416783"/>
            <a:ext cx="8958197" cy="4799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2400" b="1">
                <a:latin typeface="Raleway" panose="020B0503030101060003"/>
              </a:rPr>
              <a:t>Recruitment Progress – Level 3</a:t>
            </a:r>
            <a:endParaRPr lang="en-US" sz="2400">
              <a:latin typeface="Raleway" panose="020B0503030101060003"/>
            </a:endParaRPr>
          </a:p>
        </p:txBody>
      </p:sp>
      <p:sp>
        <p:nvSpPr>
          <p:cNvPr id="7" name="TextBox 7">
            <a:extLst>
              <a:ext uri="{FF2B5EF4-FFF2-40B4-BE49-F238E27FC236}">
                <a16:creationId xmlns:a16="http://schemas.microsoft.com/office/drawing/2014/main" id="{94DD7CEC-C1EC-2577-A6E1-21F1CA3599B3}"/>
              </a:ext>
            </a:extLst>
          </p:cNvPr>
          <p:cNvSpPr txBox="1"/>
          <p:nvPr/>
        </p:nvSpPr>
        <p:spPr>
          <a:xfrm>
            <a:off x="89575" y="6408147"/>
            <a:ext cx="10972800" cy="261610"/>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a:latin typeface="Raleway"/>
              </a:rPr>
              <a:t>* </a:t>
            </a:r>
            <a:r>
              <a:rPr lang="en-US" sz="1100" i="1">
                <a:latin typeface="Raleway"/>
              </a:rPr>
              <a:t>Update per </a:t>
            </a:r>
            <a:r>
              <a:rPr lang="en-US" sz="1100" i="1" err="1">
                <a:latin typeface="Raleway"/>
              </a:rPr>
              <a:t>tanggal</a:t>
            </a:r>
            <a:r>
              <a:rPr lang="en-US" sz="1100" i="1">
                <a:latin typeface="Raleway"/>
              </a:rPr>
              <a:t> 14 Agustus 2026</a:t>
            </a:r>
            <a:endParaRPr lang="en-US" sz="1100">
              <a:latin typeface="Raleway"/>
            </a:endParaRPr>
          </a:p>
        </p:txBody>
      </p:sp>
    </p:spTree>
    <p:extLst>
      <p:ext uri="{BB962C8B-B14F-4D97-AF65-F5344CB8AC3E}">
        <p14:creationId xmlns:p14="http://schemas.microsoft.com/office/powerpoint/2010/main" val="168081513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3035AF-3B18-20F3-0B79-16EBE0DAD489}"/>
            </a:ext>
          </a:extLst>
        </p:cNvPr>
        <p:cNvGrpSpPr/>
        <p:nvPr/>
      </p:nvGrpSpPr>
      <p:grpSpPr>
        <a:xfrm>
          <a:off x="0" y="0"/>
          <a:ext cx="0" cy="0"/>
          <a:chOff x="0" y="0"/>
          <a:chExt cx="0" cy="0"/>
        </a:xfrm>
      </p:grpSpPr>
      <p:graphicFrame>
        <p:nvGraphicFramePr>
          <p:cNvPr id="4" name="Table 3">
            <a:extLst>
              <a:ext uri="{FF2B5EF4-FFF2-40B4-BE49-F238E27FC236}">
                <a16:creationId xmlns:a16="http://schemas.microsoft.com/office/drawing/2014/main" id="{5FD770F2-CA4F-C0D7-2AF9-E5B17B9099CB}"/>
              </a:ext>
            </a:extLst>
          </p:cNvPr>
          <p:cNvGraphicFramePr>
            <a:graphicFrameLocks noGrp="1"/>
          </p:cNvGraphicFramePr>
          <p:nvPr>
            <p:extLst>
              <p:ext uri="{D42A27DB-BD31-4B8C-83A1-F6EECF244321}">
                <p14:modId xmlns:p14="http://schemas.microsoft.com/office/powerpoint/2010/main" val="1657946379"/>
              </p:ext>
            </p:extLst>
          </p:nvPr>
        </p:nvGraphicFramePr>
        <p:xfrm>
          <a:off x="140138" y="780438"/>
          <a:ext cx="11782355" cy="5445751"/>
        </p:xfrm>
        <a:graphic>
          <a:graphicData uri="http://schemas.openxmlformats.org/drawingml/2006/table">
            <a:tbl>
              <a:tblPr bandRow="1">
                <a:tableStyleId>{5C22544A-7EE6-4342-B048-85BDC9FD1C3A}</a:tableStyleId>
              </a:tblPr>
              <a:tblGrid>
                <a:gridCol w="726965">
                  <a:extLst>
                    <a:ext uri="{9D8B030D-6E8A-4147-A177-3AD203B41FA5}">
                      <a16:colId xmlns:a16="http://schemas.microsoft.com/office/drawing/2014/main" val="1925552882"/>
                    </a:ext>
                  </a:extLst>
                </a:gridCol>
                <a:gridCol w="1352450">
                  <a:extLst>
                    <a:ext uri="{9D8B030D-6E8A-4147-A177-3AD203B41FA5}">
                      <a16:colId xmlns:a16="http://schemas.microsoft.com/office/drawing/2014/main" val="1500064323"/>
                    </a:ext>
                  </a:extLst>
                </a:gridCol>
                <a:gridCol w="595586">
                  <a:extLst>
                    <a:ext uri="{9D8B030D-6E8A-4147-A177-3AD203B41FA5}">
                      <a16:colId xmlns:a16="http://schemas.microsoft.com/office/drawing/2014/main" val="2876802475"/>
                    </a:ext>
                  </a:extLst>
                </a:gridCol>
                <a:gridCol w="1059792">
                  <a:extLst>
                    <a:ext uri="{9D8B030D-6E8A-4147-A177-3AD203B41FA5}">
                      <a16:colId xmlns:a16="http://schemas.microsoft.com/office/drawing/2014/main" val="3363264610"/>
                    </a:ext>
                  </a:extLst>
                </a:gridCol>
                <a:gridCol w="905310">
                  <a:extLst>
                    <a:ext uri="{9D8B030D-6E8A-4147-A177-3AD203B41FA5}">
                      <a16:colId xmlns:a16="http://schemas.microsoft.com/office/drawing/2014/main" val="3448658620"/>
                    </a:ext>
                  </a:extLst>
                </a:gridCol>
                <a:gridCol w="552910">
                  <a:extLst>
                    <a:ext uri="{9D8B030D-6E8A-4147-A177-3AD203B41FA5}">
                      <a16:colId xmlns:a16="http://schemas.microsoft.com/office/drawing/2014/main" val="3619090012"/>
                    </a:ext>
                  </a:extLst>
                </a:gridCol>
                <a:gridCol w="639377">
                  <a:extLst>
                    <a:ext uri="{9D8B030D-6E8A-4147-A177-3AD203B41FA5}">
                      <a16:colId xmlns:a16="http://schemas.microsoft.com/office/drawing/2014/main" val="1947856400"/>
                    </a:ext>
                  </a:extLst>
                </a:gridCol>
                <a:gridCol w="613103">
                  <a:extLst>
                    <a:ext uri="{9D8B030D-6E8A-4147-A177-3AD203B41FA5}">
                      <a16:colId xmlns:a16="http://schemas.microsoft.com/office/drawing/2014/main" val="4120753070"/>
                    </a:ext>
                  </a:extLst>
                </a:gridCol>
                <a:gridCol w="604344">
                  <a:extLst>
                    <a:ext uri="{9D8B030D-6E8A-4147-A177-3AD203B41FA5}">
                      <a16:colId xmlns:a16="http://schemas.microsoft.com/office/drawing/2014/main" val="602569228"/>
                    </a:ext>
                  </a:extLst>
                </a:gridCol>
                <a:gridCol w="4732518">
                  <a:extLst>
                    <a:ext uri="{9D8B030D-6E8A-4147-A177-3AD203B41FA5}">
                      <a16:colId xmlns:a16="http://schemas.microsoft.com/office/drawing/2014/main" val="1760566426"/>
                    </a:ext>
                  </a:extLst>
                </a:gridCol>
              </a:tblGrid>
              <a:tr h="1007241">
                <a:tc>
                  <a:txBody>
                    <a:bodyPr/>
                    <a:lstStyle/>
                    <a:p>
                      <a:pPr algn="ctr">
                        <a:buNone/>
                      </a:pPr>
                      <a:r>
                        <a:rPr lang="en-US" sz="1000" b="1">
                          <a:solidFill>
                            <a:schemeClr val="bg1"/>
                          </a:solidFill>
                          <a:effectLst/>
                          <a:latin typeface="Raleway"/>
                        </a:rPr>
                        <a:t>Tanggal 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Business 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Kategori</a:t>
                      </a:r>
                      <a:r>
                        <a:rPr lang="en-US" sz="1000" b="1">
                          <a:solidFill>
                            <a:schemeClr val="bg1"/>
                          </a:solidFill>
                          <a:effectLst/>
                          <a:latin typeface="Raleway"/>
                        </a:rPr>
                        <a:t> sheet5</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SLA Target </a:t>
                      </a:r>
                      <a:r>
                        <a:rPr lang="en-US" sz="1000" b="1" err="1">
                          <a:solidFill>
                            <a:schemeClr val="bg1"/>
                          </a:solidFill>
                          <a:effectLst/>
                          <a:latin typeface="Raleway"/>
                        </a:rPr>
                        <a:t>Pemenuhan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Jumlah</a:t>
                      </a:r>
                      <a:r>
                        <a:rPr lang="en-US" sz="1000" b="1">
                          <a:solidFill>
                            <a:schemeClr val="bg1"/>
                          </a:solidFill>
                          <a:effectLst/>
                          <a:latin typeface="Raleway"/>
                        </a:rPr>
                        <a:t> </a:t>
                      </a:r>
                      <a:r>
                        <a:rPr lang="en-US" sz="1000" b="1" err="1">
                          <a:solidFill>
                            <a:schemeClr val="bg1"/>
                          </a:solidFill>
                          <a:effectLst/>
                          <a:latin typeface="Raleway"/>
                        </a:rPr>
                        <a:t>Permintaan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Status </a:t>
                      </a:r>
                      <a:r>
                        <a:rPr lang="en-US" sz="1000" b="1" err="1">
                          <a:solidFill>
                            <a:schemeClr val="bg1"/>
                          </a:solidFill>
                          <a:effectLst/>
                          <a:latin typeface="Raleway"/>
                        </a:rPr>
                        <a:t>Rekrutmen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2258043115"/>
                  </a:ext>
                </a:extLst>
              </a:tr>
              <a:tr h="1272890">
                <a:tc>
                  <a:txBody>
                    <a:bodyPr/>
                    <a:lstStyle/>
                    <a:p>
                      <a:pPr algn="ctr">
                        <a:buNone/>
                      </a:pPr>
                      <a:r>
                        <a:rPr lang="en-US" sz="1000">
                          <a:effectLst/>
                          <a:latin typeface="Raleway"/>
                        </a:rPr>
                        <a:t>08-Apr-26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1000">
                          <a:effectLst/>
                          <a:latin typeface="Raleway"/>
                        </a:rPr>
                        <a:t>Finance, Accounting, &amp; Tax Assistant Manager - Branch</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3C</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09-Mar-26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Karin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&gt; 1 </a:t>
                      </a:r>
                      <a:r>
                        <a:rPr lang="en-US" sz="1000" err="1">
                          <a:effectLst/>
                          <a:latin typeface="Raleway"/>
                        </a:rPr>
                        <a:t>kandidat</a:t>
                      </a:r>
                      <a:r>
                        <a:rPr lang="en-US" sz="1000">
                          <a:effectLst/>
                          <a:latin typeface="Raleway"/>
                        </a:rPr>
                        <a:t> </a:t>
                      </a:r>
                      <a:r>
                        <a:rPr lang="en-US" sz="1000" err="1">
                          <a:effectLst/>
                          <a:latin typeface="Raleway"/>
                        </a:rPr>
                        <a:t>siska</a:t>
                      </a:r>
                      <a:r>
                        <a:rPr lang="en-US" sz="1000">
                          <a:effectLst/>
                          <a:latin typeface="Raleway"/>
                        </a:rPr>
                        <a:t> Orlis KEEP - user interview</a:t>
                      </a:r>
                      <a:br>
                        <a:rPr lang="en-US" sz="1000">
                          <a:effectLst/>
                          <a:latin typeface="Raleway"/>
                        </a:rPr>
                      </a:br>
                      <a:r>
                        <a:rPr lang="en-US" sz="1000">
                          <a:effectLst/>
                          <a:latin typeface="Raleway"/>
                        </a:rPr>
                        <a:t>&gt; User </a:t>
                      </a:r>
                      <a:r>
                        <a:rPr lang="en-US" sz="1000" err="1">
                          <a:effectLst/>
                          <a:latin typeface="Raleway"/>
                        </a:rPr>
                        <a:t>sedang</a:t>
                      </a:r>
                      <a:r>
                        <a:rPr lang="en-US" sz="1000">
                          <a:effectLst/>
                          <a:latin typeface="Raleway"/>
                        </a:rPr>
                        <a:t> </a:t>
                      </a:r>
                      <a:r>
                        <a:rPr lang="en-US" sz="1000" err="1">
                          <a:effectLst/>
                          <a:latin typeface="Raleway"/>
                        </a:rPr>
                        <a:t>menjalankan</a:t>
                      </a:r>
                      <a:r>
                        <a:rPr lang="en-US" sz="1000">
                          <a:effectLst/>
                          <a:latin typeface="Raleway"/>
                        </a:rPr>
                        <a:t> proses </a:t>
                      </a:r>
                      <a:r>
                        <a:rPr lang="en-US" sz="1000" err="1">
                          <a:effectLst/>
                          <a:latin typeface="Raleway"/>
                        </a:rPr>
                        <a:t>mutasi</a:t>
                      </a:r>
                      <a:r>
                        <a:rPr lang="en-US" sz="1000">
                          <a:effectLst/>
                          <a:latin typeface="Raleway"/>
                        </a:rPr>
                        <a:t> </a:t>
                      </a:r>
                      <a:r>
                        <a:rPr lang="en-US" sz="1000" err="1">
                          <a:effectLst/>
                          <a:latin typeface="Raleway"/>
                        </a:rPr>
                        <a:t>sebagai</a:t>
                      </a:r>
                      <a:r>
                        <a:rPr lang="en-US" sz="1000">
                          <a:effectLst/>
                          <a:latin typeface="Raleway"/>
                        </a:rPr>
                        <a:t> </a:t>
                      </a:r>
                      <a:r>
                        <a:rPr lang="en-US" sz="1000" err="1">
                          <a:effectLst/>
                          <a:latin typeface="Raleway"/>
                        </a:rPr>
                        <a:t>kandidat</a:t>
                      </a:r>
                      <a:r>
                        <a:rPr lang="en-US" sz="1000">
                          <a:effectLst/>
                          <a:latin typeface="Raleway"/>
                        </a:rPr>
                        <a:t> </a:t>
                      </a:r>
                      <a:r>
                        <a:rPr lang="en-US" sz="1000" err="1">
                          <a:effectLst/>
                          <a:latin typeface="Raleway"/>
                        </a:rPr>
                        <a:t>pembanding</a:t>
                      </a:r>
                      <a:r>
                        <a:rPr lang="en-US" sz="1000">
                          <a:effectLst/>
                          <a:latin typeface="Raleway"/>
                        </a:rPr>
                        <a:t> </a:t>
                      </a:r>
                      <a:br>
                        <a:rPr lang="en-US" sz="1000">
                          <a:effectLst/>
                          <a:latin typeface="Raleway"/>
                        </a:rPr>
                      </a:br>
                      <a:r>
                        <a:rPr lang="en-US" sz="1000">
                          <a:effectLst/>
                          <a:latin typeface="Raleway"/>
                        </a:rPr>
                        <a:t>&gt; 15 CV di Week 33, </a:t>
                      </a:r>
                      <a:r>
                        <a:rPr lang="en-US" sz="1000" err="1">
                          <a:effectLst/>
                          <a:latin typeface="Raleway"/>
                        </a:rPr>
                        <a:t>menunggu</a:t>
                      </a:r>
                      <a:r>
                        <a:rPr lang="en-US" sz="1000">
                          <a:effectLst/>
                          <a:latin typeface="Raleway"/>
                        </a:rPr>
                        <a:t> feedback user (</a:t>
                      </a:r>
                      <a:r>
                        <a:rPr lang="en-US" sz="1000" err="1">
                          <a:effectLst/>
                          <a:latin typeface="Raleway"/>
                        </a:rPr>
                        <a:t>Sudah</a:t>
                      </a:r>
                      <a:r>
                        <a:rPr lang="en-US" sz="1000">
                          <a:effectLst/>
                          <a:latin typeface="Raleway"/>
                        </a:rPr>
                        <a:t> follow up 13 </a:t>
                      </a:r>
                      <a:r>
                        <a:rPr lang="en-US" sz="1000" err="1">
                          <a:effectLst/>
                          <a:latin typeface="Raleway"/>
                        </a:rPr>
                        <a:t>Agt</a:t>
                      </a:r>
                      <a:r>
                        <a:rPr lang="en-US" sz="1000">
                          <a:effectLst/>
                          <a:latin typeface="Raleway"/>
                        </a:rPr>
                        <a:t> 2026)</a:t>
                      </a: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&gt; Send 15 CV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2230756887"/>
                  </a:ext>
                </a:extLst>
              </a:tr>
              <a:tr h="885487">
                <a:tc>
                  <a:txBody>
                    <a:bodyPr/>
                    <a:lstStyle/>
                    <a:p>
                      <a:pPr algn="ctr">
                        <a:buNone/>
                      </a:pPr>
                      <a:r>
                        <a:rPr lang="en-US" sz="1000">
                          <a:effectLst/>
                          <a:latin typeface="Raleway"/>
                        </a:rPr>
                        <a:t>08-Mar-26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1000">
                          <a:effectLst/>
                          <a:latin typeface="Raleway"/>
                        </a:rPr>
                        <a:t>Media Relations Lead</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3C</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09-Feb-26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Karin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&gt; 1 </a:t>
                      </a:r>
                      <a:r>
                        <a:rPr lang="en-US" sz="1000" err="1">
                          <a:effectLst/>
                          <a:latin typeface="Raleway"/>
                        </a:rPr>
                        <a:t>kandidat</a:t>
                      </a:r>
                      <a:r>
                        <a:rPr lang="en-US" sz="1000">
                          <a:effectLst/>
                          <a:latin typeface="Raleway"/>
                        </a:rPr>
                        <a:t> user interview di 15 Agustus 2026</a:t>
                      </a:r>
                      <a:br>
                        <a:rPr lang="en-US" sz="1000">
                          <a:effectLst/>
                          <a:latin typeface="Raleway"/>
                        </a:rPr>
                      </a:br>
                      <a:r>
                        <a:rPr lang="en-US" sz="1000">
                          <a:effectLst/>
                          <a:latin typeface="Raleway"/>
                        </a:rPr>
                        <a:t>&gt; 1 </a:t>
                      </a:r>
                      <a:r>
                        <a:rPr lang="en-US" sz="1000" err="1">
                          <a:effectLst/>
                          <a:latin typeface="Raleway"/>
                        </a:rPr>
                        <a:t>kandidat</a:t>
                      </a:r>
                      <a:r>
                        <a:rPr lang="en-US" sz="1000">
                          <a:effectLst/>
                          <a:latin typeface="Raleway"/>
                        </a:rPr>
                        <a:t> an Ilham - Drop user interview di 13 </a:t>
                      </a:r>
                      <a:r>
                        <a:rPr lang="en-US" sz="1000" err="1">
                          <a:effectLst/>
                          <a:latin typeface="Raleway"/>
                        </a:rPr>
                        <a:t>Agt</a:t>
                      </a:r>
                      <a:r>
                        <a:rPr lang="en-US" sz="1000">
                          <a:effectLst/>
                          <a:latin typeface="Raleway"/>
                        </a:rPr>
                        <a:t> 2026</a:t>
                      </a: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&gt; Send 10 CV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732836471"/>
                  </a:ext>
                </a:extLst>
              </a:tr>
              <a:tr h="885487">
                <a:tc>
                  <a:txBody>
                    <a:bodyPr/>
                    <a:lstStyle/>
                    <a:p>
                      <a:pPr algn="ctr">
                        <a:buNone/>
                      </a:pPr>
                      <a:r>
                        <a:rPr lang="en-US" sz="1000">
                          <a:effectLst/>
                          <a:latin typeface="Raleway"/>
                        </a:rPr>
                        <a:t>08-Mar-26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1000">
                          <a:effectLst/>
                          <a:latin typeface="Raleway"/>
                        </a:rPr>
                        <a:t>Public Affairs Lead</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3C</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09-Feb-26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Karin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&gt; 3 </a:t>
                      </a:r>
                      <a:r>
                        <a:rPr lang="en-US" sz="1000" err="1">
                          <a:effectLst/>
                          <a:latin typeface="Raleway"/>
                        </a:rPr>
                        <a:t>kandidat</a:t>
                      </a:r>
                      <a:r>
                        <a:rPr lang="en-US" sz="1000">
                          <a:effectLst/>
                          <a:latin typeface="Raleway"/>
                        </a:rPr>
                        <a:t> Ok </a:t>
                      </a:r>
                      <a:r>
                        <a:rPr lang="en-US" sz="1000" err="1">
                          <a:effectLst/>
                          <a:latin typeface="Raleway"/>
                        </a:rPr>
                        <a:t>dari</a:t>
                      </a:r>
                      <a:r>
                        <a:rPr lang="en-US" sz="1000">
                          <a:effectLst/>
                          <a:latin typeface="Raleway"/>
                        </a:rPr>
                        <a:t> Pak Nikki di Week 33</a:t>
                      </a:r>
                      <a:br>
                        <a:rPr lang="en-US" sz="1000">
                          <a:effectLst/>
                          <a:latin typeface="Raleway"/>
                        </a:rPr>
                      </a:br>
                      <a:r>
                        <a:rPr lang="en-US" sz="1000">
                          <a:effectLst/>
                          <a:latin typeface="Raleway"/>
                        </a:rPr>
                        <a:t>&gt; </a:t>
                      </a:r>
                      <a:r>
                        <a:rPr lang="en-US" sz="1000" err="1">
                          <a:effectLst/>
                          <a:latin typeface="Raleway"/>
                        </a:rPr>
                        <a:t>Agendakan</a:t>
                      </a:r>
                      <a:r>
                        <a:rPr lang="en-US" sz="1000">
                          <a:effectLst/>
                          <a:latin typeface="Raleway"/>
                        </a:rPr>
                        <a:t> user interview </a:t>
                      </a:r>
                      <a:r>
                        <a:rPr lang="en-US" sz="1000" err="1">
                          <a:effectLst/>
                          <a:latin typeface="Raleway"/>
                        </a:rPr>
                        <a:t>dengan</a:t>
                      </a:r>
                      <a:r>
                        <a:rPr lang="en-US" sz="1000">
                          <a:effectLst/>
                          <a:latin typeface="Raleway"/>
                        </a:rPr>
                        <a:t> Bu Ericca di 34</a:t>
                      </a: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&gt; Send 10 CV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2640560255"/>
                  </a:ext>
                </a:extLst>
              </a:tr>
              <a:tr h="697323">
                <a:tc>
                  <a:txBody>
                    <a:bodyPr/>
                    <a:lstStyle/>
                    <a:p>
                      <a:pPr algn="ctr">
                        <a:buNone/>
                      </a:pPr>
                      <a:r>
                        <a:rPr lang="en-US" sz="1000">
                          <a:effectLst/>
                          <a:latin typeface="Raleway"/>
                        </a:rPr>
                        <a:t>16-Oct-25</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1000">
                          <a:effectLst/>
                          <a:latin typeface="Raleway"/>
                        </a:rPr>
                        <a:t>International Marketing Manager - ASEAN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3C</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15-Nov-25</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Pauline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endParaRPr lang="en-US" sz="1000">
                        <a:effectLst/>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970872430"/>
                  </a:ext>
                </a:extLst>
              </a:tr>
              <a:tr h="697323">
                <a:tc>
                  <a:txBody>
                    <a:bodyPr/>
                    <a:lstStyle/>
                    <a:p>
                      <a:pPr algn="ctr">
                        <a:buNone/>
                      </a:pPr>
                      <a:r>
                        <a:rPr lang="en-US" sz="1000">
                          <a:effectLst/>
                          <a:latin typeface="Raleway"/>
                        </a:rPr>
                        <a:t>20-Mar-26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1000">
                          <a:effectLst/>
                          <a:latin typeface="Raleway"/>
                        </a:rPr>
                        <a:t>Sales Planning &amp; Analysis Manager</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3C</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19-Apr-26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Pauline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endParaRPr lang="en-US" sz="1000">
                        <a:effectLst/>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280035532"/>
                  </a:ext>
                </a:extLst>
              </a:tr>
            </a:tbl>
          </a:graphicData>
        </a:graphic>
      </p:graphicFrame>
      <p:sp>
        <p:nvSpPr>
          <p:cNvPr id="6" name="TextBox 7">
            <a:extLst>
              <a:ext uri="{FF2B5EF4-FFF2-40B4-BE49-F238E27FC236}">
                <a16:creationId xmlns:a16="http://schemas.microsoft.com/office/drawing/2014/main" id="{E9115E3B-87B4-62B6-85BC-4505973B640C}"/>
              </a:ext>
            </a:extLst>
          </p:cNvPr>
          <p:cNvSpPr txBox="1"/>
          <p:nvPr/>
        </p:nvSpPr>
        <p:spPr>
          <a:xfrm>
            <a:off x="89575" y="6408147"/>
            <a:ext cx="10972800" cy="261610"/>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a:latin typeface="Raleway"/>
              </a:rPr>
              <a:t>* </a:t>
            </a:r>
            <a:r>
              <a:rPr lang="en-US" sz="1100" i="1">
                <a:latin typeface="Raleway"/>
              </a:rPr>
              <a:t>Update per </a:t>
            </a:r>
            <a:r>
              <a:rPr lang="en-US" sz="1100" i="1" err="1">
                <a:latin typeface="Raleway"/>
              </a:rPr>
              <a:t>tanggal</a:t>
            </a:r>
            <a:r>
              <a:rPr lang="en-US" sz="1100" i="1">
                <a:latin typeface="Raleway"/>
              </a:rPr>
              <a:t> 14 Agustus 2026</a:t>
            </a:r>
            <a:endParaRPr lang="en-US" sz="1100">
              <a:latin typeface="Raleway"/>
            </a:endParaRPr>
          </a:p>
        </p:txBody>
      </p:sp>
      <p:sp>
        <p:nvSpPr>
          <p:cNvPr id="8" name="Title 1">
            <a:extLst>
              <a:ext uri="{FF2B5EF4-FFF2-40B4-BE49-F238E27FC236}">
                <a16:creationId xmlns:a16="http://schemas.microsoft.com/office/drawing/2014/main" id="{EDF3E11A-5774-D9B2-0E59-6829FC74E7C6}"/>
              </a:ext>
            </a:extLst>
          </p:cNvPr>
          <p:cNvSpPr txBox="1">
            <a:spLocks/>
          </p:cNvSpPr>
          <p:nvPr/>
        </p:nvSpPr>
        <p:spPr>
          <a:xfrm>
            <a:off x="1550312" y="311680"/>
            <a:ext cx="8958197" cy="4799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2400" b="1">
                <a:latin typeface="Raleway" panose="020B0503030101060003"/>
              </a:rPr>
              <a:t>Recruitment Progress – Level 3</a:t>
            </a:r>
            <a:endParaRPr lang="en-US" sz="2400">
              <a:latin typeface="Raleway" panose="020B0503030101060003"/>
            </a:endParaRPr>
          </a:p>
        </p:txBody>
      </p:sp>
    </p:spTree>
    <p:extLst>
      <p:ext uri="{BB962C8B-B14F-4D97-AF65-F5344CB8AC3E}">
        <p14:creationId xmlns:p14="http://schemas.microsoft.com/office/powerpoint/2010/main" val="1755367041"/>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F199D9-1B6F-0A06-2D04-D6FA8B9AE52D}"/>
            </a:ext>
          </a:extLst>
        </p:cNvPr>
        <p:cNvGrpSpPr/>
        <p:nvPr/>
      </p:nvGrpSpPr>
      <p:grpSpPr>
        <a:xfrm>
          <a:off x="0" y="0"/>
          <a:ext cx="0" cy="0"/>
          <a:chOff x="0" y="0"/>
          <a:chExt cx="0" cy="0"/>
        </a:xfrm>
      </p:grpSpPr>
      <p:graphicFrame>
        <p:nvGraphicFramePr>
          <p:cNvPr id="4" name="Table 3">
            <a:extLst>
              <a:ext uri="{FF2B5EF4-FFF2-40B4-BE49-F238E27FC236}">
                <a16:creationId xmlns:a16="http://schemas.microsoft.com/office/drawing/2014/main" id="{A36AB612-C460-EC14-0506-8F2486D740A8}"/>
              </a:ext>
            </a:extLst>
          </p:cNvPr>
          <p:cNvGraphicFramePr>
            <a:graphicFrameLocks noGrp="1"/>
          </p:cNvGraphicFramePr>
          <p:nvPr>
            <p:extLst>
              <p:ext uri="{D42A27DB-BD31-4B8C-83A1-F6EECF244321}">
                <p14:modId xmlns:p14="http://schemas.microsoft.com/office/powerpoint/2010/main" val="1870960469"/>
              </p:ext>
            </p:extLst>
          </p:nvPr>
        </p:nvGraphicFramePr>
        <p:xfrm>
          <a:off x="175172" y="639379"/>
          <a:ext cx="11574941" cy="5587090"/>
        </p:xfrm>
        <a:graphic>
          <a:graphicData uri="http://schemas.openxmlformats.org/drawingml/2006/table">
            <a:tbl>
              <a:tblPr bandRow="1">
                <a:tableStyleId>{5C22544A-7EE6-4342-B048-85BDC9FD1C3A}</a:tableStyleId>
              </a:tblPr>
              <a:tblGrid>
                <a:gridCol w="823309">
                  <a:extLst>
                    <a:ext uri="{9D8B030D-6E8A-4147-A177-3AD203B41FA5}">
                      <a16:colId xmlns:a16="http://schemas.microsoft.com/office/drawing/2014/main" val="2485871707"/>
                    </a:ext>
                  </a:extLst>
                </a:gridCol>
                <a:gridCol w="1523998">
                  <a:extLst>
                    <a:ext uri="{9D8B030D-6E8A-4147-A177-3AD203B41FA5}">
                      <a16:colId xmlns:a16="http://schemas.microsoft.com/office/drawing/2014/main" val="285537815"/>
                    </a:ext>
                  </a:extLst>
                </a:gridCol>
                <a:gridCol w="621862">
                  <a:extLst>
                    <a:ext uri="{9D8B030D-6E8A-4147-A177-3AD203B41FA5}">
                      <a16:colId xmlns:a16="http://schemas.microsoft.com/office/drawing/2014/main" val="28821563"/>
                    </a:ext>
                  </a:extLst>
                </a:gridCol>
                <a:gridCol w="1161492">
                  <a:extLst>
                    <a:ext uri="{9D8B030D-6E8A-4147-A177-3AD203B41FA5}">
                      <a16:colId xmlns:a16="http://schemas.microsoft.com/office/drawing/2014/main" val="882256252"/>
                    </a:ext>
                  </a:extLst>
                </a:gridCol>
                <a:gridCol w="726270">
                  <a:extLst>
                    <a:ext uri="{9D8B030D-6E8A-4147-A177-3AD203B41FA5}">
                      <a16:colId xmlns:a16="http://schemas.microsoft.com/office/drawing/2014/main" val="1552630286"/>
                    </a:ext>
                  </a:extLst>
                </a:gridCol>
                <a:gridCol w="578745">
                  <a:extLst>
                    <a:ext uri="{9D8B030D-6E8A-4147-A177-3AD203B41FA5}">
                      <a16:colId xmlns:a16="http://schemas.microsoft.com/office/drawing/2014/main" val="2214111915"/>
                    </a:ext>
                  </a:extLst>
                </a:gridCol>
                <a:gridCol w="930535">
                  <a:extLst>
                    <a:ext uri="{9D8B030D-6E8A-4147-A177-3AD203B41FA5}">
                      <a16:colId xmlns:a16="http://schemas.microsoft.com/office/drawing/2014/main" val="3200579695"/>
                    </a:ext>
                  </a:extLst>
                </a:gridCol>
                <a:gridCol w="544701">
                  <a:extLst>
                    <a:ext uri="{9D8B030D-6E8A-4147-A177-3AD203B41FA5}">
                      <a16:colId xmlns:a16="http://schemas.microsoft.com/office/drawing/2014/main" val="1913415393"/>
                    </a:ext>
                  </a:extLst>
                </a:gridCol>
                <a:gridCol w="544701">
                  <a:extLst>
                    <a:ext uri="{9D8B030D-6E8A-4147-A177-3AD203B41FA5}">
                      <a16:colId xmlns:a16="http://schemas.microsoft.com/office/drawing/2014/main" val="523161526"/>
                    </a:ext>
                  </a:extLst>
                </a:gridCol>
                <a:gridCol w="4119328">
                  <a:extLst>
                    <a:ext uri="{9D8B030D-6E8A-4147-A177-3AD203B41FA5}">
                      <a16:colId xmlns:a16="http://schemas.microsoft.com/office/drawing/2014/main" val="2316126363"/>
                    </a:ext>
                  </a:extLst>
                </a:gridCol>
              </a:tblGrid>
              <a:tr h="1068700">
                <a:tc>
                  <a:txBody>
                    <a:bodyPr/>
                    <a:lstStyle/>
                    <a:p>
                      <a:pPr algn="ctr">
                        <a:buNone/>
                      </a:pPr>
                      <a:r>
                        <a:rPr lang="en-US" sz="1050" b="1">
                          <a:solidFill>
                            <a:schemeClr val="bg1"/>
                          </a:solidFill>
                          <a:effectLst/>
                          <a:latin typeface="Raleway"/>
                        </a:rPr>
                        <a:t>Tanggal 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50" b="1" err="1">
                          <a:solidFill>
                            <a:schemeClr val="bg1"/>
                          </a:solidFill>
                          <a:effectLst/>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50" b="1">
                          <a:solidFill>
                            <a:schemeClr val="bg1"/>
                          </a:solidFill>
                          <a:effectLst/>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50" b="1">
                          <a:solidFill>
                            <a:schemeClr val="bg1"/>
                          </a:solidFill>
                          <a:effectLst/>
                          <a:latin typeface="Raleway"/>
                        </a:rPr>
                        <a:t>Business 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50" b="1" err="1">
                          <a:solidFill>
                            <a:schemeClr val="bg1"/>
                          </a:solidFill>
                          <a:effectLst/>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50" b="1">
                          <a:solidFill>
                            <a:schemeClr val="bg1"/>
                          </a:solidFill>
                          <a:effectLst/>
                          <a:latin typeface="Raleway"/>
                        </a:rPr>
                        <a:t>SLA Target </a:t>
                      </a:r>
                      <a:r>
                        <a:rPr lang="en-US" sz="1050" b="1" err="1">
                          <a:solidFill>
                            <a:schemeClr val="bg1"/>
                          </a:solidFill>
                          <a:effectLst/>
                          <a:latin typeface="Raleway"/>
                        </a:rPr>
                        <a:t>Pemenuhan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50" b="1">
                          <a:solidFill>
                            <a:schemeClr val="bg1"/>
                          </a:solidFill>
                          <a:effectLst/>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50" b="1" err="1">
                          <a:solidFill>
                            <a:schemeClr val="bg1"/>
                          </a:solidFill>
                          <a:effectLst/>
                          <a:latin typeface="Raleway"/>
                        </a:rPr>
                        <a:t>Jumlah</a:t>
                      </a:r>
                      <a:r>
                        <a:rPr lang="en-US" sz="1050" b="1">
                          <a:solidFill>
                            <a:schemeClr val="bg1"/>
                          </a:solidFill>
                          <a:effectLst/>
                          <a:latin typeface="Raleway"/>
                        </a:rPr>
                        <a:t> </a:t>
                      </a:r>
                      <a:r>
                        <a:rPr lang="en-US" sz="1050" b="1" err="1">
                          <a:solidFill>
                            <a:schemeClr val="bg1"/>
                          </a:solidFill>
                          <a:effectLst/>
                          <a:latin typeface="Raleway"/>
                        </a:rPr>
                        <a:t>Permintaan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50" b="1">
                          <a:solidFill>
                            <a:schemeClr val="bg1"/>
                          </a:solidFill>
                          <a:effectLst/>
                          <a:latin typeface="Raleway"/>
                        </a:rPr>
                        <a:t>Status </a:t>
                      </a:r>
                      <a:r>
                        <a:rPr lang="en-US" sz="1050" b="1" err="1">
                          <a:solidFill>
                            <a:schemeClr val="bg1"/>
                          </a:solidFill>
                          <a:effectLst/>
                          <a:latin typeface="Raleway"/>
                        </a:rPr>
                        <a:t>Rekrutmen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50" b="1">
                          <a:solidFill>
                            <a:schemeClr val="bg1"/>
                          </a:solidFill>
                          <a:effectLst/>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4273270825"/>
                  </a:ext>
                </a:extLst>
              </a:tr>
              <a:tr h="903678">
                <a:tc>
                  <a:txBody>
                    <a:bodyPr/>
                    <a:lstStyle/>
                    <a:p>
                      <a:pPr>
                        <a:buNone/>
                      </a:pPr>
                      <a:r>
                        <a:rPr lang="en-US" sz="1050">
                          <a:effectLst/>
                          <a:latin typeface="Raleway"/>
                        </a:rPr>
                        <a:t>06-Nov-26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50">
                          <a:effectLst/>
                          <a:latin typeface="Raleway"/>
                        </a:rPr>
                        <a:t>Fulfillment Planning Manager</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3C</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07-Nov-26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Pauline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endParaRPr lang="en-US" sz="1050">
                        <a:effectLst/>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558305787"/>
                  </a:ext>
                </a:extLst>
              </a:tr>
              <a:tr h="903678">
                <a:tc>
                  <a:txBody>
                    <a:bodyPr/>
                    <a:lstStyle/>
                    <a:p>
                      <a:pPr>
                        <a:buNone/>
                      </a:pPr>
                      <a:r>
                        <a:rPr lang="en-US" sz="1050">
                          <a:effectLst/>
                          <a:latin typeface="Raleway"/>
                        </a:rPr>
                        <a:t>23-06-2026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50">
                          <a:effectLst/>
                          <a:latin typeface="Raleway"/>
                        </a:rPr>
                        <a:t>Project Manager</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3C</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23-07-2026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Pauline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endParaRPr lang="en-US" sz="1050">
                        <a:effectLst/>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544230879"/>
                  </a:ext>
                </a:extLst>
              </a:tr>
              <a:tr h="903678">
                <a:tc>
                  <a:txBody>
                    <a:bodyPr/>
                    <a:lstStyle/>
                    <a:p>
                      <a:pPr>
                        <a:buNone/>
                      </a:pPr>
                      <a:r>
                        <a:rPr lang="en-US" sz="1050">
                          <a:effectLst/>
                          <a:latin typeface="Raleway"/>
                        </a:rPr>
                        <a:t>08-Jun-26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50">
                          <a:effectLst/>
                          <a:latin typeface="Raleway"/>
                        </a:rPr>
                        <a:t>Channel Development Excellence (</a:t>
                      </a:r>
                      <a:r>
                        <a:rPr lang="en-US" sz="1050" err="1">
                          <a:effectLst/>
                          <a:latin typeface="Raleway"/>
                        </a:rPr>
                        <a:t>CDEx</a:t>
                      </a:r>
                      <a:r>
                        <a:rPr lang="en-US" sz="1050">
                          <a:effectLst/>
                          <a:latin typeface="Raleway"/>
                        </a:rPr>
                        <a:t>) Specialist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3B</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09-May-26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Brittney</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50">
                          <a:effectLst/>
                          <a:latin typeface="Raleway"/>
                        </a:rPr>
                        <a:t>Send 5 CVs to user di Week 33</a:t>
                      </a:r>
                      <a:br>
                        <a:rPr lang="en-US" sz="1050">
                          <a:effectLst/>
                          <a:latin typeface="Raleway"/>
                        </a:rPr>
                      </a:br>
                      <a:r>
                        <a:rPr lang="en-US" sz="1050">
                          <a:effectLst/>
                          <a:latin typeface="Raleway"/>
                        </a:rPr>
                        <a:t>Next Action: send 5 CVs </a:t>
                      </a:r>
                      <a:r>
                        <a:rPr lang="en-US" sz="1050" err="1">
                          <a:effectLst/>
                          <a:latin typeface="Raleway"/>
                        </a:rPr>
                        <a:t>baru</a:t>
                      </a:r>
                      <a:r>
                        <a:rPr lang="en-US" sz="1050">
                          <a:effectLst/>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3498272650"/>
                  </a:ext>
                </a:extLst>
              </a:tr>
              <a:tr h="903678">
                <a:tc>
                  <a:txBody>
                    <a:bodyPr/>
                    <a:lstStyle/>
                    <a:p>
                      <a:pPr>
                        <a:buNone/>
                      </a:pPr>
                      <a:r>
                        <a:rPr lang="en-US" sz="1050">
                          <a:effectLst/>
                          <a:latin typeface="Raleway"/>
                        </a:rPr>
                        <a:t>08-Jun-26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50">
                          <a:effectLst/>
                          <a:latin typeface="Raleway"/>
                        </a:rPr>
                        <a:t>Channel Development Excellence (</a:t>
                      </a:r>
                      <a:r>
                        <a:rPr lang="en-US" sz="1050" err="1">
                          <a:effectLst/>
                          <a:latin typeface="Raleway"/>
                        </a:rPr>
                        <a:t>CDEx</a:t>
                      </a:r>
                      <a:r>
                        <a:rPr lang="en-US" sz="1050">
                          <a:effectLst/>
                          <a:latin typeface="Raleway"/>
                        </a:rPr>
                        <a:t>) Specialist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3B</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09-May-26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Brittney</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50">
                          <a:effectLst/>
                          <a:latin typeface="Raleway"/>
                        </a:rPr>
                        <a:t>Send 5 CVs to user di Week 33</a:t>
                      </a:r>
                      <a:br>
                        <a:rPr lang="en-US" sz="1050">
                          <a:effectLst/>
                          <a:latin typeface="Raleway"/>
                        </a:rPr>
                      </a:br>
                      <a:r>
                        <a:rPr lang="en-US" sz="1050">
                          <a:effectLst/>
                          <a:latin typeface="Raleway"/>
                        </a:rPr>
                        <a:t>Next Action: send 5 CVs </a:t>
                      </a:r>
                      <a:r>
                        <a:rPr lang="en-US" sz="1050" err="1">
                          <a:effectLst/>
                          <a:latin typeface="Raleway"/>
                        </a:rPr>
                        <a:t>baru</a:t>
                      </a:r>
                      <a:r>
                        <a:rPr lang="en-US" sz="1050">
                          <a:effectLst/>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731764542"/>
                  </a:ext>
                </a:extLst>
              </a:tr>
              <a:tr h="903678">
                <a:tc>
                  <a:txBody>
                    <a:bodyPr/>
                    <a:lstStyle/>
                    <a:p>
                      <a:pPr>
                        <a:buNone/>
                      </a:pPr>
                      <a:r>
                        <a:rPr lang="en-US" sz="1050">
                          <a:effectLst/>
                          <a:latin typeface="Raleway"/>
                        </a:rPr>
                        <a:t>08-Jun-26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50" err="1">
                          <a:effectLst/>
                          <a:latin typeface="Raleway"/>
                        </a:rPr>
                        <a:t>CommEx</a:t>
                      </a:r>
                      <a:r>
                        <a:rPr lang="en-US" sz="1050">
                          <a:effectLst/>
                          <a:latin typeface="Raleway"/>
                        </a:rPr>
                        <a:t> Analyst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3B</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09-May-26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Brittney</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5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50">
                          <a:effectLst/>
                          <a:latin typeface="Raleway"/>
                        </a:rPr>
                        <a:t>Send 5 CVs to user di Week 33</a:t>
                      </a:r>
                      <a:br>
                        <a:rPr lang="en-US" sz="1050">
                          <a:effectLst/>
                          <a:latin typeface="Raleway"/>
                        </a:rPr>
                      </a:br>
                      <a:r>
                        <a:rPr lang="en-US" sz="1050">
                          <a:effectLst/>
                          <a:latin typeface="Raleway"/>
                        </a:rPr>
                        <a:t>Next Action: send 5 CVs </a:t>
                      </a:r>
                      <a:r>
                        <a:rPr lang="en-US" sz="1050" err="1">
                          <a:effectLst/>
                          <a:latin typeface="Raleway"/>
                        </a:rPr>
                        <a:t>baru</a:t>
                      </a:r>
                      <a:r>
                        <a:rPr lang="en-US" sz="1050">
                          <a:effectLst/>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2212390902"/>
                  </a:ext>
                </a:extLst>
              </a:tr>
            </a:tbl>
          </a:graphicData>
        </a:graphic>
      </p:graphicFrame>
      <p:sp>
        <p:nvSpPr>
          <p:cNvPr id="6" name="TextBox 7">
            <a:extLst>
              <a:ext uri="{FF2B5EF4-FFF2-40B4-BE49-F238E27FC236}">
                <a16:creationId xmlns:a16="http://schemas.microsoft.com/office/drawing/2014/main" id="{D637B474-2957-6F3F-119C-47A9AC2E97C7}"/>
              </a:ext>
            </a:extLst>
          </p:cNvPr>
          <p:cNvSpPr txBox="1"/>
          <p:nvPr/>
        </p:nvSpPr>
        <p:spPr>
          <a:xfrm>
            <a:off x="89575" y="6408147"/>
            <a:ext cx="10972800" cy="261610"/>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a:latin typeface="Raleway"/>
              </a:rPr>
              <a:t>* </a:t>
            </a:r>
            <a:r>
              <a:rPr lang="en-US" sz="1100" i="1">
                <a:latin typeface="Raleway"/>
              </a:rPr>
              <a:t>Update per </a:t>
            </a:r>
            <a:r>
              <a:rPr lang="en-US" sz="1100" i="1" err="1">
                <a:latin typeface="Raleway"/>
              </a:rPr>
              <a:t>tanggal</a:t>
            </a:r>
            <a:r>
              <a:rPr lang="en-US" sz="1100" i="1">
                <a:latin typeface="Raleway"/>
              </a:rPr>
              <a:t> 14 Agustus 2026</a:t>
            </a:r>
            <a:endParaRPr lang="en-US" sz="1100">
              <a:latin typeface="Raleway"/>
            </a:endParaRPr>
          </a:p>
        </p:txBody>
      </p:sp>
      <p:sp>
        <p:nvSpPr>
          <p:cNvPr id="8" name="Title 1">
            <a:extLst>
              <a:ext uri="{FF2B5EF4-FFF2-40B4-BE49-F238E27FC236}">
                <a16:creationId xmlns:a16="http://schemas.microsoft.com/office/drawing/2014/main" id="{C8485093-9494-B83D-0AD9-7A02F8DB139C}"/>
              </a:ext>
            </a:extLst>
          </p:cNvPr>
          <p:cNvSpPr txBox="1">
            <a:spLocks/>
          </p:cNvSpPr>
          <p:nvPr/>
        </p:nvSpPr>
        <p:spPr>
          <a:xfrm>
            <a:off x="1480243" y="162783"/>
            <a:ext cx="8958197" cy="4799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2400" b="1">
                <a:latin typeface="Raleway" panose="020B0503030101060003"/>
              </a:rPr>
              <a:t>Recruitment Progress – Level 3</a:t>
            </a:r>
            <a:endParaRPr lang="en-US" sz="2400">
              <a:latin typeface="Raleway" panose="020B0503030101060003"/>
            </a:endParaRPr>
          </a:p>
        </p:txBody>
      </p:sp>
    </p:spTree>
    <p:extLst>
      <p:ext uri="{BB962C8B-B14F-4D97-AF65-F5344CB8AC3E}">
        <p14:creationId xmlns:p14="http://schemas.microsoft.com/office/powerpoint/2010/main" val="3124691356"/>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71F29A-15B4-7439-850B-465A8BA528A2}"/>
            </a:ext>
          </a:extLst>
        </p:cNvPr>
        <p:cNvGrpSpPr/>
        <p:nvPr/>
      </p:nvGrpSpPr>
      <p:grpSpPr>
        <a:xfrm>
          <a:off x="0" y="0"/>
          <a:ext cx="0" cy="0"/>
          <a:chOff x="0" y="0"/>
          <a:chExt cx="0" cy="0"/>
        </a:xfrm>
      </p:grpSpPr>
      <p:graphicFrame>
        <p:nvGraphicFramePr>
          <p:cNvPr id="4" name="Table 3">
            <a:extLst>
              <a:ext uri="{FF2B5EF4-FFF2-40B4-BE49-F238E27FC236}">
                <a16:creationId xmlns:a16="http://schemas.microsoft.com/office/drawing/2014/main" id="{498A3340-FB61-0034-67F3-0A91BEA11133}"/>
              </a:ext>
            </a:extLst>
          </p:cNvPr>
          <p:cNvGraphicFramePr>
            <a:graphicFrameLocks noGrp="1"/>
          </p:cNvGraphicFramePr>
          <p:nvPr>
            <p:extLst>
              <p:ext uri="{D42A27DB-BD31-4B8C-83A1-F6EECF244321}">
                <p14:modId xmlns:p14="http://schemas.microsoft.com/office/powerpoint/2010/main" val="4227903401"/>
              </p:ext>
            </p:extLst>
          </p:nvPr>
        </p:nvGraphicFramePr>
        <p:xfrm>
          <a:off x="201448" y="613103"/>
          <a:ext cx="11557447" cy="5754607"/>
        </p:xfrm>
        <a:graphic>
          <a:graphicData uri="http://schemas.openxmlformats.org/drawingml/2006/table">
            <a:tbl>
              <a:tblPr bandRow="1">
                <a:tableStyleId>{5C22544A-7EE6-4342-B048-85BDC9FD1C3A}</a:tableStyleId>
              </a:tblPr>
              <a:tblGrid>
                <a:gridCol w="543879">
                  <a:extLst>
                    <a:ext uri="{9D8B030D-6E8A-4147-A177-3AD203B41FA5}">
                      <a16:colId xmlns:a16="http://schemas.microsoft.com/office/drawing/2014/main" val="527830919"/>
                    </a:ext>
                  </a:extLst>
                </a:gridCol>
                <a:gridCol w="1620344">
                  <a:extLst>
                    <a:ext uri="{9D8B030D-6E8A-4147-A177-3AD203B41FA5}">
                      <a16:colId xmlns:a16="http://schemas.microsoft.com/office/drawing/2014/main" val="963037553"/>
                    </a:ext>
                  </a:extLst>
                </a:gridCol>
                <a:gridCol w="613103">
                  <a:extLst>
                    <a:ext uri="{9D8B030D-6E8A-4147-A177-3AD203B41FA5}">
                      <a16:colId xmlns:a16="http://schemas.microsoft.com/office/drawing/2014/main" val="1067155058"/>
                    </a:ext>
                  </a:extLst>
                </a:gridCol>
                <a:gridCol w="1208689">
                  <a:extLst>
                    <a:ext uri="{9D8B030D-6E8A-4147-A177-3AD203B41FA5}">
                      <a16:colId xmlns:a16="http://schemas.microsoft.com/office/drawing/2014/main" val="3645233945"/>
                    </a:ext>
                  </a:extLst>
                </a:gridCol>
                <a:gridCol w="779517">
                  <a:extLst>
                    <a:ext uri="{9D8B030D-6E8A-4147-A177-3AD203B41FA5}">
                      <a16:colId xmlns:a16="http://schemas.microsoft.com/office/drawing/2014/main" val="1297892341"/>
                    </a:ext>
                  </a:extLst>
                </a:gridCol>
                <a:gridCol w="661934">
                  <a:extLst>
                    <a:ext uri="{9D8B030D-6E8A-4147-A177-3AD203B41FA5}">
                      <a16:colId xmlns:a16="http://schemas.microsoft.com/office/drawing/2014/main" val="1619360387"/>
                    </a:ext>
                  </a:extLst>
                </a:gridCol>
                <a:gridCol w="674413">
                  <a:extLst>
                    <a:ext uri="{9D8B030D-6E8A-4147-A177-3AD203B41FA5}">
                      <a16:colId xmlns:a16="http://schemas.microsoft.com/office/drawing/2014/main" val="3711261371"/>
                    </a:ext>
                  </a:extLst>
                </a:gridCol>
                <a:gridCol w="613103">
                  <a:extLst>
                    <a:ext uri="{9D8B030D-6E8A-4147-A177-3AD203B41FA5}">
                      <a16:colId xmlns:a16="http://schemas.microsoft.com/office/drawing/2014/main" val="2891929370"/>
                    </a:ext>
                  </a:extLst>
                </a:gridCol>
                <a:gridCol w="604344">
                  <a:extLst>
                    <a:ext uri="{9D8B030D-6E8A-4147-A177-3AD203B41FA5}">
                      <a16:colId xmlns:a16="http://schemas.microsoft.com/office/drawing/2014/main" val="1141124478"/>
                    </a:ext>
                  </a:extLst>
                </a:gridCol>
                <a:gridCol w="4238121">
                  <a:extLst>
                    <a:ext uri="{9D8B030D-6E8A-4147-A177-3AD203B41FA5}">
                      <a16:colId xmlns:a16="http://schemas.microsoft.com/office/drawing/2014/main" val="3506845931"/>
                    </a:ext>
                  </a:extLst>
                </a:gridCol>
              </a:tblGrid>
              <a:tr h="925681">
                <a:tc>
                  <a:txBody>
                    <a:bodyPr/>
                    <a:lstStyle/>
                    <a:p>
                      <a:pPr algn="ctr">
                        <a:buNone/>
                      </a:pPr>
                      <a:r>
                        <a:rPr lang="en-US" sz="1000" b="1">
                          <a:solidFill>
                            <a:schemeClr val="bg1"/>
                          </a:solidFill>
                          <a:effectLst/>
                          <a:latin typeface="Raleway"/>
                        </a:rPr>
                        <a:t>Tanggal 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Business 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SLA Target </a:t>
                      </a:r>
                      <a:r>
                        <a:rPr lang="en-US" sz="1000" b="1" err="1">
                          <a:solidFill>
                            <a:schemeClr val="bg1"/>
                          </a:solidFill>
                          <a:effectLst/>
                          <a:latin typeface="Raleway"/>
                        </a:rPr>
                        <a:t>Pemenuhan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Jumlah</a:t>
                      </a:r>
                      <a:r>
                        <a:rPr lang="en-US" sz="1000" b="1">
                          <a:solidFill>
                            <a:schemeClr val="bg1"/>
                          </a:solidFill>
                          <a:effectLst/>
                          <a:latin typeface="Raleway"/>
                        </a:rPr>
                        <a:t> </a:t>
                      </a:r>
                      <a:r>
                        <a:rPr lang="en-US" sz="1000" b="1" err="1">
                          <a:solidFill>
                            <a:schemeClr val="bg1"/>
                          </a:solidFill>
                          <a:effectLst/>
                          <a:latin typeface="Raleway"/>
                        </a:rPr>
                        <a:t>Permintaan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Status </a:t>
                      </a:r>
                      <a:r>
                        <a:rPr lang="en-US" sz="1000" b="1" err="1">
                          <a:solidFill>
                            <a:schemeClr val="bg1"/>
                          </a:solidFill>
                          <a:effectLst/>
                          <a:latin typeface="Raleway"/>
                        </a:rPr>
                        <a:t>Rekrutmen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757857713"/>
                  </a:ext>
                </a:extLst>
              </a:tr>
              <a:tr h="2504308">
                <a:tc>
                  <a:txBody>
                    <a:bodyPr/>
                    <a:lstStyle/>
                    <a:p>
                      <a:pPr algn="ctr">
                        <a:buNone/>
                      </a:pPr>
                      <a:r>
                        <a:rPr lang="en-US" sz="1000">
                          <a:effectLst/>
                          <a:latin typeface="Raleway"/>
                        </a:rPr>
                        <a:t>22-Nov-25</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Key Account Supervisor</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3B</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22-Dec-25</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Eli</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 HR Interview 2 </a:t>
                      </a:r>
                      <a:r>
                        <a:rPr lang="en-US" sz="1000" err="1">
                          <a:effectLst/>
                          <a:latin typeface="Raleway"/>
                        </a:rPr>
                        <a:t>kandidat</a:t>
                      </a:r>
                      <a:r>
                        <a:rPr lang="en-US" sz="1000">
                          <a:effectLst/>
                          <a:latin typeface="Raleway"/>
                        </a:rPr>
                        <a:t> pada 27 November 2025 - DROP</a:t>
                      </a:r>
                      <a:br>
                        <a:rPr lang="en-US" sz="1000">
                          <a:effectLst/>
                          <a:latin typeface="Raleway"/>
                        </a:rPr>
                      </a:br>
                      <a:r>
                        <a:rPr lang="en-US" sz="1000">
                          <a:effectLst/>
                          <a:latin typeface="Raleway"/>
                        </a:rPr>
                        <a:t>- 2 </a:t>
                      </a:r>
                      <a:r>
                        <a:rPr lang="en-US" sz="1000" err="1">
                          <a:effectLst/>
                          <a:latin typeface="Raleway"/>
                        </a:rPr>
                        <a:t>kandidat</a:t>
                      </a:r>
                      <a:r>
                        <a:rPr lang="en-US" sz="1000">
                          <a:effectLst/>
                          <a:latin typeface="Raleway"/>
                        </a:rPr>
                        <a:t> </a:t>
                      </a:r>
                      <a:r>
                        <a:rPr lang="en-US" sz="1000" err="1">
                          <a:effectLst/>
                          <a:latin typeface="Raleway"/>
                        </a:rPr>
                        <a:t>dikirimkan</a:t>
                      </a:r>
                      <a:r>
                        <a:rPr lang="en-US" sz="1000">
                          <a:effectLst/>
                          <a:latin typeface="Raleway"/>
                        </a:rPr>
                        <a:t> 8 Des – </a:t>
                      </a:r>
                      <a:r>
                        <a:rPr lang="en-US" sz="1000" err="1">
                          <a:effectLst/>
                          <a:latin typeface="Raleway"/>
                        </a:rPr>
                        <a:t>dijadwalkan</a:t>
                      </a:r>
                      <a:r>
                        <a:rPr lang="en-US" sz="1000">
                          <a:effectLst/>
                          <a:latin typeface="Raleway"/>
                        </a:rPr>
                        <a:t> User Interview di Week 1 </a:t>
                      </a:r>
                      <a:br>
                        <a:rPr lang="en-US" sz="1000">
                          <a:effectLst/>
                          <a:latin typeface="Raleway"/>
                        </a:rPr>
                      </a:br>
                      <a:r>
                        <a:rPr lang="en-US" sz="1000">
                          <a:effectLst/>
                          <a:latin typeface="Raleway"/>
                        </a:rPr>
                        <a:t>- Jason – </a:t>
                      </a:r>
                      <a:r>
                        <a:rPr lang="en-US" sz="1000" err="1">
                          <a:effectLst/>
                          <a:latin typeface="Raleway"/>
                        </a:rPr>
                        <a:t>menunggu</a:t>
                      </a:r>
                      <a:r>
                        <a:rPr lang="en-US" sz="1000">
                          <a:effectLst/>
                          <a:latin typeface="Raleway"/>
                        </a:rPr>
                        <a:t> </a:t>
                      </a:r>
                      <a:r>
                        <a:rPr lang="en-US" sz="1000" err="1">
                          <a:effectLst/>
                          <a:latin typeface="Raleway"/>
                        </a:rPr>
                        <a:t>jadwal</a:t>
                      </a:r>
                      <a:r>
                        <a:rPr lang="en-US" sz="1000">
                          <a:effectLst/>
                          <a:latin typeface="Raleway"/>
                        </a:rPr>
                        <a:t> interview User (Week 2)</a:t>
                      </a:r>
                      <a:br>
                        <a:rPr lang="en-US" sz="1000">
                          <a:effectLst/>
                          <a:latin typeface="Raleway"/>
                        </a:rPr>
                      </a:br>
                      <a:r>
                        <a:rPr lang="en-US" sz="1000">
                          <a:effectLst/>
                          <a:latin typeface="Raleway"/>
                        </a:rPr>
                        <a:t>- </a:t>
                      </a:r>
                      <a:r>
                        <a:rPr lang="en-US" sz="1000" err="1">
                          <a:effectLst/>
                          <a:latin typeface="Raleway"/>
                        </a:rPr>
                        <a:t>Eriyani</a:t>
                      </a:r>
                      <a:r>
                        <a:rPr lang="en-US" sz="1000">
                          <a:effectLst/>
                          <a:latin typeface="Raleway"/>
                        </a:rPr>
                        <a:t> – done User Interview, </a:t>
                      </a:r>
                      <a:r>
                        <a:rPr lang="en-US" sz="1000" err="1">
                          <a:effectLst/>
                          <a:latin typeface="Raleway"/>
                        </a:rPr>
                        <a:t>menunggu</a:t>
                      </a:r>
                      <a:r>
                        <a:rPr lang="en-US" sz="1000">
                          <a:effectLst/>
                          <a:latin typeface="Raleway"/>
                        </a:rPr>
                        <a:t> feedback </a:t>
                      </a:r>
                      <a:r>
                        <a:rPr lang="en-US" sz="1000" err="1">
                          <a:effectLst/>
                          <a:latin typeface="Raleway"/>
                        </a:rPr>
                        <a:t>hasil</a:t>
                      </a:r>
                      <a:r>
                        <a:rPr lang="en-US" sz="1000">
                          <a:effectLst/>
                          <a:latin typeface="Raleway"/>
                        </a:rPr>
                        <a:t> interview</a:t>
                      </a:r>
                      <a:br>
                        <a:rPr lang="en-US" sz="1000">
                          <a:effectLst/>
                          <a:latin typeface="Raleway"/>
                        </a:rPr>
                      </a:br>
                      <a:r>
                        <a:rPr lang="en-US" sz="1000">
                          <a:effectLst/>
                          <a:latin typeface="Raleway"/>
                        </a:rPr>
                        <a:t>- 5 </a:t>
                      </a:r>
                      <a:r>
                        <a:rPr lang="en-US" sz="1000" err="1">
                          <a:effectLst/>
                          <a:latin typeface="Raleway"/>
                        </a:rPr>
                        <a:t>kandidat</a:t>
                      </a:r>
                      <a:r>
                        <a:rPr lang="en-US" sz="1000">
                          <a:effectLst/>
                          <a:latin typeface="Raleway"/>
                        </a:rPr>
                        <a:t> </a:t>
                      </a:r>
                      <a:r>
                        <a:rPr lang="en-US" sz="1000" err="1">
                          <a:effectLst/>
                          <a:latin typeface="Raleway"/>
                        </a:rPr>
                        <a:t>Psikotes</a:t>
                      </a:r>
                      <a:r>
                        <a:rPr lang="en-US" sz="1000">
                          <a:effectLst/>
                          <a:latin typeface="Raleway"/>
                        </a:rPr>
                        <a:t> di Week 51 – 2 HR Interview – DROPPED</a:t>
                      </a:r>
                      <a:br>
                        <a:rPr lang="en-US" sz="1000">
                          <a:effectLst/>
                          <a:latin typeface="Raleway"/>
                        </a:rPr>
                      </a:br>
                      <a:r>
                        <a:rPr lang="en-US" sz="1000">
                          <a:effectLst/>
                          <a:latin typeface="Raleway"/>
                        </a:rPr>
                        <a:t>- 15 </a:t>
                      </a:r>
                      <a:r>
                        <a:rPr lang="en-US" sz="1000" err="1">
                          <a:effectLst/>
                          <a:latin typeface="Raleway"/>
                        </a:rPr>
                        <a:t>kandidat</a:t>
                      </a:r>
                      <a:r>
                        <a:rPr lang="en-US" sz="1000">
                          <a:effectLst/>
                          <a:latin typeface="Raleway"/>
                        </a:rPr>
                        <a:t> </a:t>
                      </a:r>
                      <a:r>
                        <a:rPr lang="en-US" sz="1000" err="1">
                          <a:effectLst/>
                          <a:latin typeface="Raleway"/>
                        </a:rPr>
                        <a:t>Psikotes</a:t>
                      </a:r>
                      <a:r>
                        <a:rPr lang="en-US" sz="1000">
                          <a:effectLst/>
                          <a:latin typeface="Raleway"/>
                        </a:rPr>
                        <a:t> di Week 52 -&gt; 3 lolos </a:t>
                      </a:r>
                      <a:r>
                        <a:rPr lang="en-US" sz="1000" err="1">
                          <a:effectLst/>
                          <a:latin typeface="Raleway"/>
                        </a:rPr>
                        <a:t>Psikotes</a:t>
                      </a:r>
                      <a:r>
                        <a:rPr lang="en-US" sz="1000">
                          <a:effectLst/>
                          <a:latin typeface="Raleway"/>
                        </a:rPr>
                        <a:t> -&gt; 1 </a:t>
                      </a:r>
                      <a:r>
                        <a:rPr lang="en-US" sz="1000" err="1">
                          <a:effectLst/>
                          <a:latin typeface="Raleway"/>
                        </a:rPr>
                        <a:t>kandidat</a:t>
                      </a:r>
                      <a:r>
                        <a:rPr lang="en-US" sz="1000">
                          <a:effectLst/>
                          <a:latin typeface="Raleway"/>
                        </a:rPr>
                        <a:t> lolos HR Interview </a:t>
                      </a:r>
                      <a:r>
                        <a:rPr lang="en-US" sz="1000" err="1">
                          <a:effectLst/>
                          <a:latin typeface="Raleway"/>
                        </a:rPr>
                        <a:t>a.n</a:t>
                      </a:r>
                      <a:r>
                        <a:rPr lang="en-US" sz="1000">
                          <a:effectLst/>
                          <a:latin typeface="Raleway"/>
                        </a:rPr>
                        <a:t>. Tito</a:t>
                      </a:r>
                      <a:br>
                        <a:rPr lang="en-US" sz="1000">
                          <a:effectLst/>
                          <a:latin typeface="Raleway"/>
                        </a:rPr>
                      </a:br>
                      <a:r>
                        <a:rPr lang="en-US" sz="1000">
                          <a:effectLst/>
                          <a:latin typeface="Raleway"/>
                        </a:rPr>
                        <a:t>- 1 </a:t>
                      </a:r>
                      <a:r>
                        <a:rPr lang="en-US" sz="1000" err="1">
                          <a:effectLst/>
                          <a:latin typeface="Raleway"/>
                        </a:rPr>
                        <a:t>kandidat</a:t>
                      </a:r>
                      <a:r>
                        <a:rPr lang="en-US" sz="1000">
                          <a:effectLst/>
                          <a:latin typeface="Raleway"/>
                        </a:rPr>
                        <a:t> User Interview </a:t>
                      </a:r>
                      <a:r>
                        <a:rPr lang="en-US" sz="1000" err="1">
                          <a:effectLst/>
                          <a:latin typeface="Raleway"/>
                        </a:rPr>
                        <a:t>a.n</a:t>
                      </a:r>
                      <a:r>
                        <a:rPr lang="en-US" sz="1000">
                          <a:effectLst/>
                          <a:latin typeface="Raleway"/>
                        </a:rPr>
                        <a:t>. Jason (Week 3 – 15 Jan) – LOLOS</a:t>
                      </a:r>
                      <a:br>
                        <a:rPr lang="en-US" sz="1000">
                          <a:effectLst/>
                          <a:latin typeface="Raleway"/>
                        </a:rPr>
                      </a:br>
                      <a:r>
                        <a:rPr lang="en-US" sz="1000">
                          <a:effectLst/>
                          <a:latin typeface="Raleway"/>
                        </a:rPr>
                        <a:t>- 1 </a:t>
                      </a:r>
                      <a:r>
                        <a:rPr lang="en-US" sz="1000" err="1">
                          <a:effectLst/>
                          <a:latin typeface="Raleway"/>
                        </a:rPr>
                        <a:t>kandidat</a:t>
                      </a:r>
                      <a:r>
                        <a:rPr lang="en-US" sz="1000">
                          <a:effectLst/>
                          <a:latin typeface="Raleway"/>
                        </a:rPr>
                        <a:t> </a:t>
                      </a:r>
                      <a:r>
                        <a:rPr lang="en-US" sz="1000" err="1">
                          <a:effectLst/>
                          <a:latin typeface="Raleway"/>
                        </a:rPr>
                        <a:t>dijadwalkan</a:t>
                      </a:r>
                      <a:r>
                        <a:rPr lang="en-US" sz="1000">
                          <a:effectLst/>
                          <a:latin typeface="Raleway"/>
                        </a:rPr>
                        <a:t> User Interview </a:t>
                      </a:r>
                      <a:r>
                        <a:rPr lang="en-US" sz="1000" err="1">
                          <a:effectLst/>
                          <a:latin typeface="Raleway"/>
                        </a:rPr>
                        <a:t>a.n</a:t>
                      </a:r>
                      <a:r>
                        <a:rPr lang="en-US" sz="1000">
                          <a:effectLst/>
                          <a:latin typeface="Raleway"/>
                        </a:rPr>
                        <a:t>. Tito – NO RESPOND </a:t>
                      </a:r>
                      <a:br>
                        <a:rPr lang="en-US" sz="1000">
                          <a:effectLst/>
                          <a:latin typeface="Raleway"/>
                        </a:rPr>
                      </a:br>
                      <a:r>
                        <a:rPr lang="en-US" sz="1000">
                          <a:effectLst/>
                          <a:latin typeface="Raleway"/>
                        </a:rPr>
                        <a:t>- Week 9: Jason Reinhart –    Joined per 20 Apr 2026</a:t>
                      </a:r>
                      <a:br>
                        <a:rPr lang="en-US" sz="1000">
                          <a:effectLst/>
                          <a:latin typeface="Raleway"/>
                        </a:rPr>
                      </a:br>
                      <a:r>
                        <a:rPr lang="en-US" sz="1000">
                          <a:effectLst/>
                          <a:latin typeface="Raleway"/>
                        </a:rPr>
                        <a:t>- Send 25 CV pada 14 Agustus 2026</a:t>
                      </a:r>
                      <a:br>
                        <a:rPr lang="en-US" sz="1000">
                          <a:effectLst/>
                          <a:latin typeface="Raleway"/>
                        </a:rPr>
                      </a:b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 Sourcing 10 CV di Week 34</a:t>
                      </a:r>
                      <a:br>
                        <a:rPr lang="en-US" sz="1000">
                          <a:effectLst/>
                          <a:latin typeface="Raleway"/>
                        </a:rPr>
                      </a:br>
                      <a:r>
                        <a:rPr lang="en-US" sz="1000">
                          <a:effectLst/>
                          <a:latin typeface="Raleway"/>
                        </a:rPr>
                        <a:t>- User interview 1 </a:t>
                      </a:r>
                      <a:r>
                        <a:rPr lang="en-US" sz="1000" err="1">
                          <a:effectLst/>
                          <a:latin typeface="Raleway"/>
                        </a:rPr>
                        <a:t>kandiat</a:t>
                      </a:r>
                      <a:r>
                        <a:rPr lang="en-US" sz="1000">
                          <a:effectLst/>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3839532735"/>
                  </a:ext>
                </a:extLst>
              </a:tr>
              <a:tr h="809973">
                <a:tc>
                  <a:txBody>
                    <a:bodyPr/>
                    <a:lstStyle/>
                    <a:p>
                      <a:pPr algn="ctr">
                        <a:buNone/>
                      </a:pPr>
                      <a:r>
                        <a:rPr lang="en-US" sz="1000">
                          <a:effectLst/>
                          <a:latin typeface="Raleway"/>
                        </a:rPr>
                        <a:t>02-Apr-26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Mechanical &amp; Piping Specialist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3B</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03-Jun-26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Karin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&gt; 1 </a:t>
                      </a:r>
                      <a:r>
                        <a:rPr lang="en-US" sz="1000" err="1">
                          <a:effectLst/>
                          <a:latin typeface="Raleway"/>
                        </a:rPr>
                        <a:t>Kandidat</a:t>
                      </a:r>
                      <a:r>
                        <a:rPr lang="en-US" sz="1000">
                          <a:effectLst/>
                          <a:latin typeface="Raleway"/>
                        </a:rPr>
                        <a:t> user interview an Fajar Maulana (Pak Daniel &amp; Pak </a:t>
                      </a:r>
                      <a:r>
                        <a:rPr lang="en-US" sz="1000" err="1">
                          <a:effectLst/>
                          <a:latin typeface="Raleway"/>
                        </a:rPr>
                        <a:t>Asep</a:t>
                      </a:r>
                      <a:r>
                        <a:rPr lang="en-US" sz="1000">
                          <a:effectLst/>
                          <a:latin typeface="Raleway"/>
                        </a:rPr>
                        <a:t> OK)</a:t>
                      </a:r>
                      <a:br>
                        <a:rPr lang="en-US" sz="1000">
                          <a:effectLst/>
                          <a:latin typeface="Raleway"/>
                        </a:rPr>
                      </a:br>
                      <a:r>
                        <a:rPr lang="en-US" sz="1000">
                          <a:effectLst/>
                          <a:latin typeface="Raleway"/>
                        </a:rPr>
                        <a:t>&gt; User </a:t>
                      </a:r>
                      <a:r>
                        <a:rPr lang="en-US" sz="1000" err="1">
                          <a:effectLst/>
                          <a:latin typeface="Raleway"/>
                        </a:rPr>
                        <a:t>sedang</a:t>
                      </a:r>
                      <a:r>
                        <a:rPr lang="en-US" sz="1000">
                          <a:effectLst/>
                          <a:latin typeface="Raleway"/>
                        </a:rPr>
                        <a:t> discuss </a:t>
                      </a:r>
                      <a:r>
                        <a:rPr lang="en-US" sz="1000" err="1">
                          <a:effectLst/>
                          <a:latin typeface="Raleway"/>
                        </a:rPr>
                        <a:t>mengenai</a:t>
                      </a:r>
                      <a:r>
                        <a:rPr lang="en-US" sz="1000">
                          <a:effectLst/>
                          <a:latin typeface="Raleway"/>
                        </a:rPr>
                        <a:t> level an Fajar Maulana</a:t>
                      </a: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&gt; Send 10 </a:t>
                      </a:r>
                      <a:r>
                        <a:rPr lang="en-US" sz="1000" err="1">
                          <a:effectLst/>
                          <a:latin typeface="Raleway"/>
                        </a:rPr>
                        <a:t>kandidat</a:t>
                      </a:r>
                      <a:r>
                        <a:rPr lang="en-US" sz="1000">
                          <a:effectLst/>
                          <a:latin typeface="Raleway"/>
                        </a:rPr>
                        <a:t> </a:t>
                      </a:r>
                      <a:r>
                        <a:rPr lang="en-US" sz="1000" err="1">
                          <a:effectLst/>
                          <a:latin typeface="Raleway"/>
                        </a:rPr>
                        <a:t>lainnya</a:t>
                      </a:r>
                      <a:r>
                        <a:rPr lang="en-US" sz="1000">
                          <a:effectLst/>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2188305759"/>
                  </a:ext>
                </a:extLst>
              </a:tr>
              <a:tr h="892626">
                <a:tc>
                  <a:txBody>
                    <a:bodyPr/>
                    <a:lstStyle/>
                    <a:p>
                      <a:pPr algn="ctr">
                        <a:buNone/>
                      </a:pPr>
                      <a:r>
                        <a:rPr lang="en-US" sz="1000">
                          <a:effectLst/>
                          <a:latin typeface="Raleway"/>
                        </a:rPr>
                        <a:t>27-Apr-26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HSE Specialist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3B</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27-May-26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Karin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&gt; User interview 4 orang di Week 32 &amp; 34</a:t>
                      </a:r>
                      <a:br>
                        <a:rPr lang="en-US" sz="1000">
                          <a:effectLst/>
                          <a:latin typeface="Raleway"/>
                        </a:rPr>
                      </a:br>
                      <a:r>
                        <a:rPr lang="en-US" sz="1000">
                          <a:effectLst/>
                          <a:latin typeface="Raleway"/>
                        </a:rPr>
                        <a:t>&gt; 1 </a:t>
                      </a:r>
                      <a:r>
                        <a:rPr lang="en-US" sz="1000" err="1">
                          <a:effectLst/>
                          <a:latin typeface="Raleway"/>
                        </a:rPr>
                        <a:t>kandidat</a:t>
                      </a:r>
                      <a:r>
                        <a:rPr lang="en-US" sz="1000">
                          <a:effectLst/>
                          <a:latin typeface="Raleway"/>
                        </a:rPr>
                        <a:t> OK an </a:t>
                      </a:r>
                      <a:r>
                        <a:rPr lang="en-US" sz="1000" err="1">
                          <a:effectLst/>
                          <a:latin typeface="Raleway"/>
                        </a:rPr>
                        <a:t>Pratista</a:t>
                      </a:r>
                      <a:r>
                        <a:rPr lang="en-US" sz="1000">
                          <a:effectLst/>
                          <a:latin typeface="Raleway"/>
                        </a:rPr>
                        <a:t> </a:t>
                      </a:r>
                      <a:r>
                        <a:rPr lang="en-US" sz="1000" err="1">
                          <a:effectLst/>
                          <a:latin typeface="Raleway"/>
                        </a:rPr>
                        <a:t>Doharta</a:t>
                      </a:r>
                      <a:r>
                        <a:rPr lang="en-US" sz="1000">
                          <a:effectLst/>
                          <a:latin typeface="Raleway"/>
                        </a:rPr>
                        <a:t> </a:t>
                      </a:r>
                      <a:br>
                        <a:rPr lang="en-US" sz="1000">
                          <a:effectLst/>
                          <a:latin typeface="Raleway"/>
                        </a:rPr>
                      </a:br>
                      <a:r>
                        <a:rPr lang="en-US" sz="1000">
                          <a:effectLst/>
                          <a:latin typeface="Raleway"/>
                        </a:rPr>
                        <a:t>&gt; Send 28 CV di Week 33 </a:t>
                      </a:r>
                      <a:r>
                        <a:rPr lang="en-US" sz="1000" err="1">
                          <a:effectLst/>
                          <a:latin typeface="Raleway"/>
                        </a:rPr>
                        <a:t>sedang</a:t>
                      </a:r>
                      <a:r>
                        <a:rPr lang="en-US" sz="1000">
                          <a:effectLst/>
                          <a:latin typeface="Raleway"/>
                        </a:rPr>
                        <a:t> </a:t>
                      </a:r>
                      <a:r>
                        <a:rPr lang="en-US" sz="1000" err="1">
                          <a:effectLst/>
                          <a:latin typeface="Raleway"/>
                        </a:rPr>
                        <a:t>menunggu</a:t>
                      </a:r>
                      <a:r>
                        <a:rPr lang="en-US" sz="1000">
                          <a:effectLst/>
                          <a:latin typeface="Raleway"/>
                        </a:rPr>
                        <a:t> Screening by user </a:t>
                      </a: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&gt; Follow up user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081535009"/>
                  </a:ext>
                </a:extLst>
              </a:tr>
              <a:tr h="578552">
                <a:tc>
                  <a:txBody>
                    <a:bodyPr/>
                    <a:lstStyle/>
                    <a:p>
                      <a:pPr algn="ctr">
                        <a:buNone/>
                      </a:pPr>
                      <a:r>
                        <a:rPr lang="en-US" sz="1000">
                          <a:effectLst/>
                          <a:latin typeface="Raleway"/>
                        </a:rPr>
                        <a:t>18-Jun-26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Brand Activation Lead</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3B</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18-Jul-26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Karin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&gt; User interview Final, 3 orang di Week 33 - DROP </a:t>
                      </a: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&gt; Send 10 CV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3650598438"/>
                  </a:ext>
                </a:extLst>
              </a:tr>
            </a:tbl>
          </a:graphicData>
        </a:graphic>
      </p:graphicFrame>
      <p:sp>
        <p:nvSpPr>
          <p:cNvPr id="6" name="TextBox 7">
            <a:extLst>
              <a:ext uri="{FF2B5EF4-FFF2-40B4-BE49-F238E27FC236}">
                <a16:creationId xmlns:a16="http://schemas.microsoft.com/office/drawing/2014/main" id="{C33A528A-7FD5-8B57-FE55-369064D13140}"/>
              </a:ext>
            </a:extLst>
          </p:cNvPr>
          <p:cNvSpPr txBox="1"/>
          <p:nvPr/>
        </p:nvSpPr>
        <p:spPr>
          <a:xfrm>
            <a:off x="89575" y="6408147"/>
            <a:ext cx="10972800" cy="261610"/>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a:latin typeface="Raleway"/>
              </a:rPr>
              <a:t>* </a:t>
            </a:r>
            <a:r>
              <a:rPr lang="en-US" sz="1100" i="1">
                <a:latin typeface="Raleway"/>
              </a:rPr>
              <a:t>Update per </a:t>
            </a:r>
            <a:r>
              <a:rPr lang="en-US" sz="1100" i="1" err="1">
                <a:latin typeface="Raleway"/>
              </a:rPr>
              <a:t>tanggal</a:t>
            </a:r>
            <a:r>
              <a:rPr lang="en-US" sz="1100" i="1">
                <a:latin typeface="Raleway"/>
              </a:rPr>
              <a:t> 14 Agustus 2026</a:t>
            </a:r>
            <a:endParaRPr lang="en-US" sz="1100">
              <a:latin typeface="Raleway"/>
            </a:endParaRPr>
          </a:p>
        </p:txBody>
      </p:sp>
      <p:sp>
        <p:nvSpPr>
          <p:cNvPr id="8" name="Title 1">
            <a:extLst>
              <a:ext uri="{FF2B5EF4-FFF2-40B4-BE49-F238E27FC236}">
                <a16:creationId xmlns:a16="http://schemas.microsoft.com/office/drawing/2014/main" id="{F9982B93-9A74-AC1E-29AE-04EFC7FCFCEB}"/>
              </a:ext>
            </a:extLst>
          </p:cNvPr>
          <p:cNvSpPr txBox="1">
            <a:spLocks/>
          </p:cNvSpPr>
          <p:nvPr/>
        </p:nvSpPr>
        <p:spPr>
          <a:xfrm>
            <a:off x="1611622" y="136507"/>
            <a:ext cx="8958197" cy="4799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2400" b="1">
                <a:latin typeface="Raleway" panose="020B0503030101060003"/>
              </a:rPr>
              <a:t>Recruitment Progress – Level 3</a:t>
            </a:r>
            <a:endParaRPr lang="en-US" sz="2400">
              <a:latin typeface="Raleway" panose="020B0503030101060003"/>
            </a:endParaRPr>
          </a:p>
        </p:txBody>
      </p:sp>
    </p:spTree>
    <p:extLst>
      <p:ext uri="{BB962C8B-B14F-4D97-AF65-F5344CB8AC3E}">
        <p14:creationId xmlns:p14="http://schemas.microsoft.com/office/powerpoint/2010/main" val="206721141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A5E739-7ECC-16B0-AE68-1141E9BE07E7}"/>
            </a:ext>
          </a:extLst>
        </p:cNvPr>
        <p:cNvGrpSpPr/>
        <p:nvPr/>
      </p:nvGrpSpPr>
      <p:grpSpPr>
        <a:xfrm>
          <a:off x="0" y="0"/>
          <a:ext cx="0" cy="0"/>
          <a:chOff x="0" y="0"/>
          <a:chExt cx="0" cy="0"/>
        </a:xfrm>
      </p:grpSpPr>
      <p:graphicFrame>
        <p:nvGraphicFramePr>
          <p:cNvPr id="5" name="Table 4">
            <a:extLst>
              <a:ext uri="{FF2B5EF4-FFF2-40B4-BE49-F238E27FC236}">
                <a16:creationId xmlns:a16="http://schemas.microsoft.com/office/drawing/2014/main" id="{5B8B3E8E-0B6B-4700-953E-18C370ED253E}"/>
              </a:ext>
            </a:extLst>
          </p:cNvPr>
          <p:cNvGraphicFramePr>
            <a:graphicFrameLocks noGrp="1"/>
          </p:cNvGraphicFramePr>
          <p:nvPr>
            <p:extLst>
              <p:ext uri="{D42A27DB-BD31-4B8C-83A1-F6EECF244321}">
                <p14:modId xmlns:p14="http://schemas.microsoft.com/office/powerpoint/2010/main" val="2567917369"/>
              </p:ext>
            </p:extLst>
          </p:nvPr>
        </p:nvGraphicFramePr>
        <p:xfrm>
          <a:off x="210207" y="1028677"/>
          <a:ext cx="11776423" cy="5001146"/>
        </p:xfrm>
        <a:graphic>
          <a:graphicData uri="http://schemas.openxmlformats.org/drawingml/2006/table">
            <a:tbl>
              <a:tblPr bandRow="1">
                <a:tableStyleId>{5C22544A-7EE6-4342-B048-85BDC9FD1C3A}</a:tableStyleId>
              </a:tblPr>
              <a:tblGrid>
                <a:gridCol w="554184">
                  <a:extLst>
                    <a:ext uri="{9D8B030D-6E8A-4147-A177-3AD203B41FA5}">
                      <a16:colId xmlns:a16="http://schemas.microsoft.com/office/drawing/2014/main" val="2931158160"/>
                    </a:ext>
                  </a:extLst>
                </a:gridCol>
                <a:gridCol w="2101285">
                  <a:extLst>
                    <a:ext uri="{9D8B030D-6E8A-4147-A177-3AD203B41FA5}">
                      <a16:colId xmlns:a16="http://schemas.microsoft.com/office/drawing/2014/main" val="1230938750"/>
                    </a:ext>
                  </a:extLst>
                </a:gridCol>
                <a:gridCol w="554184">
                  <a:extLst>
                    <a:ext uri="{9D8B030D-6E8A-4147-A177-3AD203B41FA5}">
                      <a16:colId xmlns:a16="http://schemas.microsoft.com/office/drawing/2014/main" val="1735153530"/>
                    </a:ext>
                  </a:extLst>
                </a:gridCol>
                <a:gridCol w="992914">
                  <a:extLst>
                    <a:ext uri="{9D8B030D-6E8A-4147-A177-3AD203B41FA5}">
                      <a16:colId xmlns:a16="http://schemas.microsoft.com/office/drawing/2014/main" val="145978915"/>
                    </a:ext>
                  </a:extLst>
                </a:gridCol>
                <a:gridCol w="738912">
                  <a:extLst>
                    <a:ext uri="{9D8B030D-6E8A-4147-A177-3AD203B41FA5}">
                      <a16:colId xmlns:a16="http://schemas.microsoft.com/office/drawing/2014/main" val="4273676577"/>
                    </a:ext>
                  </a:extLst>
                </a:gridCol>
                <a:gridCol w="588820">
                  <a:extLst>
                    <a:ext uri="{9D8B030D-6E8A-4147-A177-3AD203B41FA5}">
                      <a16:colId xmlns:a16="http://schemas.microsoft.com/office/drawing/2014/main" val="828537077"/>
                    </a:ext>
                  </a:extLst>
                </a:gridCol>
                <a:gridCol w="946731">
                  <a:extLst>
                    <a:ext uri="{9D8B030D-6E8A-4147-A177-3AD203B41FA5}">
                      <a16:colId xmlns:a16="http://schemas.microsoft.com/office/drawing/2014/main" val="1065209217"/>
                    </a:ext>
                  </a:extLst>
                </a:gridCol>
                <a:gridCol w="554184">
                  <a:extLst>
                    <a:ext uri="{9D8B030D-6E8A-4147-A177-3AD203B41FA5}">
                      <a16:colId xmlns:a16="http://schemas.microsoft.com/office/drawing/2014/main" val="2696154506"/>
                    </a:ext>
                  </a:extLst>
                </a:gridCol>
                <a:gridCol w="554184">
                  <a:extLst>
                    <a:ext uri="{9D8B030D-6E8A-4147-A177-3AD203B41FA5}">
                      <a16:colId xmlns:a16="http://schemas.microsoft.com/office/drawing/2014/main" val="1481972711"/>
                    </a:ext>
                  </a:extLst>
                </a:gridCol>
                <a:gridCol w="4191025">
                  <a:extLst>
                    <a:ext uri="{9D8B030D-6E8A-4147-A177-3AD203B41FA5}">
                      <a16:colId xmlns:a16="http://schemas.microsoft.com/office/drawing/2014/main" val="490910048"/>
                    </a:ext>
                  </a:extLst>
                </a:gridCol>
              </a:tblGrid>
              <a:tr h="941718">
                <a:tc>
                  <a:txBody>
                    <a:bodyPr/>
                    <a:lstStyle/>
                    <a:p>
                      <a:pPr algn="ctr">
                        <a:buNone/>
                      </a:pPr>
                      <a:r>
                        <a:rPr lang="en-US" sz="1000" b="1">
                          <a:solidFill>
                            <a:schemeClr val="bg1"/>
                          </a:solidFill>
                          <a:effectLst/>
                          <a:latin typeface="Raleway"/>
                        </a:rPr>
                        <a:t>Tanggal 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Business 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SLA Target </a:t>
                      </a:r>
                      <a:r>
                        <a:rPr lang="en-US" sz="1000" b="1" err="1">
                          <a:solidFill>
                            <a:schemeClr val="bg1"/>
                          </a:solidFill>
                          <a:effectLst/>
                          <a:latin typeface="Raleway"/>
                        </a:rPr>
                        <a:t>Pemenuhan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Jumlah</a:t>
                      </a:r>
                      <a:r>
                        <a:rPr lang="en-US" sz="1000" b="1">
                          <a:solidFill>
                            <a:schemeClr val="bg1"/>
                          </a:solidFill>
                          <a:effectLst/>
                          <a:latin typeface="Raleway"/>
                        </a:rPr>
                        <a:t> </a:t>
                      </a:r>
                      <a:r>
                        <a:rPr lang="en-US" sz="1000" b="1" err="1">
                          <a:solidFill>
                            <a:schemeClr val="bg1"/>
                          </a:solidFill>
                          <a:effectLst/>
                          <a:latin typeface="Raleway"/>
                        </a:rPr>
                        <a:t>Permintaan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Status </a:t>
                      </a:r>
                      <a:r>
                        <a:rPr lang="en-US" sz="1000" b="1" err="1">
                          <a:solidFill>
                            <a:schemeClr val="bg1"/>
                          </a:solidFill>
                          <a:effectLst/>
                          <a:latin typeface="Raleway"/>
                        </a:rPr>
                        <a:t>Rekrutmen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2677574163"/>
                  </a:ext>
                </a:extLst>
              </a:tr>
              <a:tr h="905142">
                <a:tc>
                  <a:txBody>
                    <a:bodyPr/>
                    <a:lstStyle/>
                    <a:p>
                      <a:pPr algn="ctr">
                        <a:buNone/>
                      </a:pPr>
                      <a:r>
                        <a:rPr lang="en-US" sz="1000">
                          <a:effectLst/>
                          <a:latin typeface="Raleway"/>
                        </a:rPr>
                        <a:t>23-Jun-26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HRGA Assistant Manager</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3B</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23-Jul-26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Karin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&gt; 1 </a:t>
                      </a:r>
                      <a:r>
                        <a:rPr lang="en-US" sz="1000" err="1">
                          <a:effectLst/>
                          <a:latin typeface="Raleway"/>
                        </a:rPr>
                        <a:t>kandidat</a:t>
                      </a:r>
                      <a:r>
                        <a:rPr lang="en-US" sz="1000">
                          <a:effectLst/>
                          <a:latin typeface="Raleway"/>
                        </a:rPr>
                        <a:t> HRGA </a:t>
                      </a:r>
                      <a:r>
                        <a:rPr lang="en-US" sz="1000" err="1">
                          <a:effectLst/>
                          <a:latin typeface="Raleway"/>
                        </a:rPr>
                        <a:t>Asmen</a:t>
                      </a:r>
                      <a:r>
                        <a:rPr lang="en-US" sz="1000">
                          <a:effectLst/>
                          <a:latin typeface="Raleway"/>
                        </a:rPr>
                        <a:t> an Dewa </a:t>
                      </a:r>
                      <a:r>
                        <a:rPr lang="en-US" sz="1000" err="1">
                          <a:effectLst/>
                          <a:latin typeface="Raleway"/>
                        </a:rPr>
                        <a:t>Rizqy</a:t>
                      </a:r>
                      <a:br>
                        <a:rPr lang="en-US" sz="1000">
                          <a:effectLst/>
                          <a:latin typeface="Raleway"/>
                        </a:rPr>
                      </a:br>
                      <a:r>
                        <a:rPr lang="en-US" sz="1000">
                          <a:effectLst/>
                          <a:latin typeface="Raleway"/>
                        </a:rPr>
                        <a:t>&gt; 1 </a:t>
                      </a:r>
                      <a:r>
                        <a:rPr lang="en-US" sz="1000" err="1">
                          <a:effectLst/>
                          <a:latin typeface="Raleway"/>
                        </a:rPr>
                        <a:t>kandidat</a:t>
                      </a:r>
                      <a:r>
                        <a:rPr lang="en-US" sz="1000">
                          <a:effectLst/>
                          <a:latin typeface="Raleway"/>
                        </a:rPr>
                        <a:t> an Dewi </a:t>
                      </a:r>
                      <a:r>
                        <a:rPr lang="en-US" sz="1000" err="1">
                          <a:effectLst/>
                          <a:latin typeface="Raleway"/>
                        </a:rPr>
                        <a:t>Nauli</a:t>
                      </a:r>
                      <a:r>
                        <a:rPr lang="en-US" sz="1000">
                          <a:effectLst/>
                          <a:latin typeface="Raleway"/>
                        </a:rPr>
                        <a:t> - Drop </a:t>
                      </a:r>
                      <a:br>
                        <a:rPr lang="en-US" sz="1000">
                          <a:effectLst/>
                          <a:latin typeface="Raleway"/>
                        </a:rPr>
                      </a:br>
                      <a:r>
                        <a:rPr lang="en-US" sz="1000">
                          <a:effectLst/>
                          <a:latin typeface="Raleway"/>
                        </a:rPr>
                        <a:t>Next Action </a:t>
                      </a:r>
                      <a:br>
                        <a:rPr lang="en-US" sz="1000">
                          <a:effectLst/>
                          <a:latin typeface="Raleway"/>
                        </a:rPr>
                      </a:br>
                      <a:r>
                        <a:rPr lang="en-US" sz="1000">
                          <a:effectLst/>
                          <a:latin typeface="Raleway"/>
                        </a:rPr>
                        <a:t>&gt; Send 10 </a:t>
                      </a:r>
                      <a:r>
                        <a:rPr lang="en-US" sz="1000" err="1">
                          <a:effectLst/>
                          <a:latin typeface="Raleway"/>
                        </a:rPr>
                        <a:t>kandidat</a:t>
                      </a:r>
                      <a:r>
                        <a:rPr lang="en-US" sz="1000">
                          <a:effectLst/>
                          <a:latin typeface="Raleway"/>
                        </a:rPr>
                        <a:t> </a:t>
                      </a:r>
                      <a:r>
                        <a:rPr lang="en-US" sz="1000" err="1">
                          <a:effectLst/>
                          <a:latin typeface="Raleway"/>
                        </a:rPr>
                        <a:t>lainnya</a:t>
                      </a:r>
                      <a:r>
                        <a:rPr lang="en-US" sz="1000">
                          <a:effectLst/>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3220287870"/>
                  </a:ext>
                </a:extLst>
              </a:tr>
              <a:tr h="905142">
                <a:tc>
                  <a:txBody>
                    <a:bodyPr/>
                    <a:lstStyle/>
                    <a:p>
                      <a:pPr algn="ctr">
                        <a:buNone/>
                      </a:pPr>
                      <a:r>
                        <a:rPr lang="en-US" sz="1000">
                          <a:effectLst/>
                          <a:latin typeface="Raleway"/>
                        </a:rPr>
                        <a:t>08-Mar-26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Media Intelligence Specialist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3B</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09-Feb-26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Karin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&gt; 1 </a:t>
                      </a:r>
                      <a:r>
                        <a:rPr lang="en-US" sz="1000" err="1">
                          <a:effectLst/>
                          <a:latin typeface="Raleway"/>
                        </a:rPr>
                        <a:t>kandidat</a:t>
                      </a:r>
                      <a:r>
                        <a:rPr lang="en-US" sz="1000">
                          <a:effectLst/>
                          <a:latin typeface="Raleway"/>
                        </a:rPr>
                        <a:t> - Drop by user an Gabriella</a:t>
                      </a: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&gt; Send 10 CV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356884102"/>
                  </a:ext>
                </a:extLst>
              </a:tr>
              <a:tr h="658286">
                <a:tc>
                  <a:txBody>
                    <a:bodyPr/>
                    <a:lstStyle/>
                    <a:p>
                      <a:pPr algn="ctr">
                        <a:buNone/>
                      </a:pPr>
                      <a:r>
                        <a:rPr lang="en-US" sz="1000">
                          <a:effectLst/>
                          <a:latin typeface="Raleway"/>
                        </a:rPr>
                        <a:t>17-Mar-26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Area Sales Promotion Supervisor - Bekasi</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17-Jul-26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err="1">
                          <a:effectLst/>
                          <a:latin typeface="Raleway"/>
                        </a:rPr>
                        <a:t>Fiqra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Week 33: Hand Over FPTK </a:t>
                      </a:r>
                      <a:br>
                        <a:rPr lang="en-US" sz="1000">
                          <a:effectLst/>
                          <a:latin typeface="Raleway"/>
                        </a:rPr>
                      </a:br>
                      <a:r>
                        <a:rPr lang="en-US" sz="1000">
                          <a:effectLst/>
                          <a:latin typeface="Raleway"/>
                        </a:rPr>
                        <a:t>Next Week: Sourcing &amp; Shortlist </a:t>
                      </a:r>
                      <a:r>
                        <a:rPr lang="en-US" sz="1000" err="1">
                          <a:effectLst/>
                          <a:latin typeface="Raleway"/>
                        </a:rPr>
                        <a:t>Cv</a:t>
                      </a:r>
                      <a:r>
                        <a:rPr lang="en-US" sz="1000">
                          <a:effectLst/>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2575164972"/>
                  </a:ext>
                </a:extLst>
              </a:tr>
              <a:tr h="795429">
                <a:tc>
                  <a:txBody>
                    <a:bodyPr/>
                    <a:lstStyle/>
                    <a:p>
                      <a:pPr algn="ctr">
                        <a:buNone/>
                      </a:pPr>
                      <a:r>
                        <a:rPr lang="en-US" sz="1000">
                          <a:effectLst/>
                          <a:latin typeface="Raleway"/>
                        </a:rPr>
                        <a:t>07-Sep-26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Head of Area - </a:t>
                      </a:r>
                      <a:r>
                        <a:rPr lang="en-US" sz="1000" err="1">
                          <a:effectLst/>
                          <a:latin typeface="Raleway"/>
                        </a:rPr>
                        <a:t>Malingping</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08-Aug-26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err="1">
                          <a:effectLst/>
                          <a:latin typeface="Raleway"/>
                        </a:rPr>
                        <a:t>Fiqra</a:t>
                      </a:r>
                      <a:r>
                        <a:rPr lang="en-US" sz="1000">
                          <a:effectLst/>
                          <a:latin typeface="Raleway"/>
                        </a:rPr>
                        <a:t> </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Week 33: Hand Over FPTK &amp; </a:t>
                      </a:r>
                      <a:r>
                        <a:rPr lang="en-US" sz="1000" err="1">
                          <a:effectLst/>
                          <a:latin typeface="Raleway"/>
                        </a:rPr>
                        <a:t>mengirmkan</a:t>
                      </a:r>
                      <a:r>
                        <a:rPr lang="en-US" sz="1000">
                          <a:effectLst/>
                          <a:latin typeface="Raleway"/>
                        </a:rPr>
                        <a:t> 5  CV </a:t>
                      </a:r>
                      <a:r>
                        <a:rPr lang="en-US" sz="1000" err="1">
                          <a:effectLst/>
                          <a:latin typeface="Raleway"/>
                        </a:rPr>
                        <a:t>ke</a:t>
                      </a:r>
                      <a:r>
                        <a:rPr lang="en-US" sz="1000">
                          <a:effectLst/>
                          <a:latin typeface="Raleway"/>
                        </a:rPr>
                        <a:t> User </a:t>
                      </a:r>
                      <a:br>
                        <a:rPr lang="en-US" sz="1000">
                          <a:effectLst/>
                          <a:latin typeface="Raleway"/>
                        </a:rPr>
                      </a:br>
                      <a:r>
                        <a:rPr lang="en-US" sz="1000">
                          <a:effectLst/>
                          <a:latin typeface="Raleway"/>
                        </a:rPr>
                        <a:t>Next Week: Sourcing &amp; Shortlist </a:t>
                      </a:r>
                      <a:r>
                        <a:rPr lang="en-US" sz="1000" err="1">
                          <a:effectLst/>
                          <a:latin typeface="Raleway"/>
                        </a:rPr>
                        <a:t>Cv</a:t>
                      </a:r>
                      <a:r>
                        <a:rPr lang="en-US" sz="1000">
                          <a:effectLst/>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3166558746"/>
                  </a:ext>
                </a:extLst>
              </a:tr>
              <a:tr h="795429">
                <a:tc>
                  <a:txBody>
                    <a:bodyPr/>
                    <a:lstStyle/>
                    <a:p>
                      <a:pPr algn="ctr">
                        <a:buNone/>
                      </a:pPr>
                      <a:r>
                        <a:rPr lang="en-US" sz="1000">
                          <a:effectLst/>
                          <a:latin typeface="Raleway"/>
                        </a:rPr>
                        <a:t>25-Mar-26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Head of Area - Lahat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24-Apr-26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err="1">
                          <a:effectLst/>
                          <a:latin typeface="Raleway"/>
                        </a:rPr>
                        <a:t>Fiqra</a:t>
                      </a:r>
                      <a:r>
                        <a:rPr lang="en-US" sz="1000">
                          <a:effectLst/>
                          <a:latin typeface="Raleway"/>
                        </a:rPr>
                        <a:t> </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Week 33: Hand Over FPTK &amp; </a:t>
                      </a:r>
                      <a:r>
                        <a:rPr lang="en-US" sz="1000" err="1">
                          <a:effectLst/>
                          <a:latin typeface="Raleway"/>
                        </a:rPr>
                        <a:t>mengirimkan</a:t>
                      </a:r>
                      <a:r>
                        <a:rPr lang="en-US" sz="1000">
                          <a:effectLst/>
                          <a:latin typeface="Raleway"/>
                        </a:rPr>
                        <a:t> 17 CV </a:t>
                      </a:r>
                      <a:r>
                        <a:rPr lang="en-US" sz="1000" err="1">
                          <a:effectLst/>
                          <a:latin typeface="Raleway"/>
                        </a:rPr>
                        <a:t>ke</a:t>
                      </a:r>
                      <a:r>
                        <a:rPr lang="en-US" sz="1000">
                          <a:effectLst/>
                          <a:latin typeface="Raleway"/>
                        </a:rPr>
                        <a:t> User </a:t>
                      </a:r>
                      <a:br>
                        <a:rPr lang="en-US" sz="1000">
                          <a:effectLst/>
                          <a:latin typeface="Raleway"/>
                        </a:rPr>
                      </a:br>
                      <a:r>
                        <a:rPr lang="en-US" sz="1000">
                          <a:effectLst/>
                          <a:latin typeface="Raleway"/>
                        </a:rPr>
                        <a:t>Next Week: Sourcing &amp; Shortlist </a:t>
                      </a:r>
                      <a:r>
                        <a:rPr lang="en-US" sz="1000" err="1">
                          <a:effectLst/>
                          <a:latin typeface="Raleway"/>
                        </a:rPr>
                        <a:t>Cv</a:t>
                      </a:r>
                      <a:r>
                        <a:rPr lang="en-US" sz="1000">
                          <a:effectLst/>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299031509"/>
                  </a:ext>
                </a:extLst>
              </a:tr>
            </a:tbl>
          </a:graphicData>
        </a:graphic>
      </p:graphicFrame>
      <p:sp>
        <p:nvSpPr>
          <p:cNvPr id="7" name="TextBox 7">
            <a:extLst>
              <a:ext uri="{FF2B5EF4-FFF2-40B4-BE49-F238E27FC236}">
                <a16:creationId xmlns:a16="http://schemas.microsoft.com/office/drawing/2014/main" id="{DCBEB213-FB15-7C14-454A-3FC2675D844B}"/>
              </a:ext>
            </a:extLst>
          </p:cNvPr>
          <p:cNvSpPr txBox="1"/>
          <p:nvPr/>
        </p:nvSpPr>
        <p:spPr>
          <a:xfrm>
            <a:off x="89575" y="6408147"/>
            <a:ext cx="10972800" cy="261610"/>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a:latin typeface="Raleway"/>
              </a:rPr>
              <a:t>* </a:t>
            </a:r>
            <a:r>
              <a:rPr lang="en-US" sz="1100" i="1">
                <a:latin typeface="Raleway"/>
              </a:rPr>
              <a:t>Update per </a:t>
            </a:r>
            <a:r>
              <a:rPr lang="en-US" sz="1100" i="1" err="1">
                <a:latin typeface="Raleway"/>
              </a:rPr>
              <a:t>tanggal</a:t>
            </a:r>
            <a:r>
              <a:rPr lang="en-US" sz="1100" i="1">
                <a:latin typeface="Raleway"/>
              </a:rPr>
              <a:t> 14 Agustus 2026</a:t>
            </a:r>
            <a:endParaRPr lang="en-US" sz="1100">
              <a:latin typeface="Raleway"/>
            </a:endParaRPr>
          </a:p>
        </p:txBody>
      </p:sp>
      <p:sp>
        <p:nvSpPr>
          <p:cNvPr id="9" name="Title 1">
            <a:extLst>
              <a:ext uri="{FF2B5EF4-FFF2-40B4-BE49-F238E27FC236}">
                <a16:creationId xmlns:a16="http://schemas.microsoft.com/office/drawing/2014/main" id="{433C6EFF-8459-392D-051D-3981D5EDE9A3}"/>
              </a:ext>
            </a:extLst>
          </p:cNvPr>
          <p:cNvSpPr txBox="1">
            <a:spLocks/>
          </p:cNvSpPr>
          <p:nvPr/>
        </p:nvSpPr>
        <p:spPr>
          <a:xfrm>
            <a:off x="1567829" y="416783"/>
            <a:ext cx="8958197" cy="4799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2400" b="1">
                <a:latin typeface="Raleway" panose="020B0503030101060003"/>
              </a:rPr>
              <a:t>Recruitment Progress – Level 3</a:t>
            </a:r>
            <a:endParaRPr lang="en-US" sz="2400">
              <a:latin typeface="Raleway" panose="020B0503030101060003"/>
            </a:endParaRPr>
          </a:p>
        </p:txBody>
      </p:sp>
    </p:spTree>
    <p:extLst>
      <p:ext uri="{BB962C8B-B14F-4D97-AF65-F5344CB8AC3E}">
        <p14:creationId xmlns:p14="http://schemas.microsoft.com/office/powerpoint/2010/main" val="2006123079"/>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E5FE68-D550-D215-86D2-45A4D429EB3F}"/>
            </a:ext>
          </a:extLst>
        </p:cNvPr>
        <p:cNvGrpSpPr/>
        <p:nvPr/>
      </p:nvGrpSpPr>
      <p:grpSpPr>
        <a:xfrm>
          <a:off x="0" y="0"/>
          <a:ext cx="0" cy="0"/>
          <a:chOff x="0" y="0"/>
          <a:chExt cx="0" cy="0"/>
        </a:xfrm>
      </p:grpSpPr>
      <p:graphicFrame>
        <p:nvGraphicFramePr>
          <p:cNvPr id="4" name="Table 3">
            <a:extLst>
              <a:ext uri="{FF2B5EF4-FFF2-40B4-BE49-F238E27FC236}">
                <a16:creationId xmlns:a16="http://schemas.microsoft.com/office/drawing/2014/main" id="{45977195-C0F0-80E0-C458-7F5419F92FF6}"/>
              </a:ext>
            </a:extLst>
          </p:cNvPr>
          <p:cNvGraphicFramePr>
            <a:graphicFrameLocks noGrp="1"/>
          </p:cNvGraphicFramePr>
          <p:nvPr>
            <p:extLst>
              <p:ext uri="{D42A27DB-BD31-4B8C-83A1-F6EECF244321}">
                <p14:modId xmlns:p14="http://schemas.microsoft.com/office/powerpoint/2010/main" val="4151064944"/>
              </p:ext>
            </p:extLst>
          </p:nvPr>
        </p:nvGraphicFramePr>
        <p:xfrm>
          <a:off x="201449" y="555480"/>
          <a:ext cx="11951581" cy="5868881"/>
        </p:xfrm>
        <a:graphic>
          <a:graphicData uri="http://schemas.openxmlformats.org/drawingml/2006/table">
            <a:tbl>
              <a:tblPr bandRow="1">
                <a:tableStyleId>{5C22544A-7EE6-4342-B048-85BDC9FD1C3A}</a:tableStyleId>
              </a:tblPr>
              <a:tblGrid>
                <a:gridCol w="562427">
                  <a:extLst>
                    <a:ext uri="{9D8B030D-6E8A-4147-A177-3AD203B41FA5}">
                      <a16:colId xmlns:a16="http://schemas.microsoft.com/office/drawing/2014/main" val="2045699218"/>
                    </a:ext>
                  </a:extLst>
                </a:gridCol>
                <a:gridCol w="2132538">
                  <a:extLst>
                    <a:ext uri="{9D8B030D-6E8A-4147-A177-3AD203B41FA5}">
                      <a16:colId xmlns:a16="http://schemas.microsoft.com/office/drawing/2014/main" val="2809843896"/>
                    </a:ext>
                  </a:extLst>
                </a:gridCol>
                <a:gridCol w="562427">
                  <a:extLst>
                    <a:ext uri="{9D8B030D-6E8A-4147-A177-3AD203B41FA5}">
                      <a16:colId xmlns:a16="http://schemas.microsoft.com/office/drawing/2014/main" val="3146645271"/>
                    </a:ext>
                  </a:extLst>
                </a:gridCol>
                <a:gridCol w="1007682">
                  <a:extLst>
                    <a:ext uri="{9D8B030D-6E8A-4147-A177-3AD203B41FA5}">
                      <a16:colId xmlns:a16="http://schemas.microsoft.com/office/drawing/2014/main" val="2016778955"/>
                    </a:ext>
                  </a:extLst>
                </a:gridCol>
                <a:gridCol w="749903">
                  <a:extLst>
                    <a:ext uri="{9D8B030D-6E8A-4147-A177-3AD203B41FA5}">
                      <a16:colId xmlns:a16="http://schemas.microsoft.com/office/drawing/2014/main" val="1888522807"/>
                    </a:ext>
                  </a:extLst>
                </a:gridCol>
                <a:gridCol w="597579">
                  <a:extLst>
                    <a:ext uri="{9D8B030D-6E8A-4147-A177-3AD203B41FA5}">
                      <a16:colId xmlns:a16="http://schemas.microsoft.com/office/drawing/2014/main" val="1305659106"/>
                    </a:ext>
                  </a:extLst>
                </a:gridCol>
                <a:gridCol w="960813">
                  <a:extLst>
                    <a:ext uri="{9D8B030D-6E8A-4147-A177-3AD203B41FA5}">
                      <a16:colId xmlns:a16="http://schemas.microsoft.com/office/drawing/2014/main" val="3033770418"/>
                    </a:ext>
                  </a:extLst>
                </a:gridCol>
                <a:gridCol w="562427">
                  <a:extLst>
                    <a:ext uri="{9D8B030D-6E8A-4147-A177-3AD203B41FA5}">
                      <a16:colId xmlns:a16="http://schemas.microsoft.com/office/drawing/2014/main" val="3001702168"/>
                    </a:ext>
                  </a:extLst>
                </a:gridCol>
                <a:gridCol w="562427">
                  <a:extLst>
                    <a:ext uri="{9D8B030D-6E8A-4147-A177-3AD203B41FA5}">
                      <a16:colId xmlns:a16="http://schemas.microsoft.com/office/drawing/2014/main" val="2916534564"/>
                    </a:ext>
                  </a:extLst>
                </a:gridCol>
                <a:gridCol w="4253358">
                  <a:extLst>
                    <a:ext uri="{9D8B030D-6E8A-4147-A177-3AD203B41FA5}">
                      <a16:colId xmlns:a16="http://schemas.microsoft.com/office/drawing/2014/main" val="2010478298"/>
                    </a:ext>
                  </a:extLst>
                </a:gridCol>
              </a:tblGrid>
              <a:tr h="733609">
                <a:tc>
                  <a:txBody>
                    <a:bodyPr/>
                    <a:lstStyle/>
                    <a:p>
                      <a:pPr algn="ctr">
                        <a:buNone/>
                      </a:pPr>
                      <a:r>
                        <a:rPr lang="en-US" sz="1000" b="1">
                          <a:solidFill>
                            <a:schemeClr val="bg1"/>
                          </a:solidFill>
                          <a:effectLst/>
                          <a:latin typeface="Raleway"/>
                        </a:rPr>
                        <a:t>Tanggal 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Business 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SLA Target </a:t>
                      </a:r>
                      <a:r>
                        <a:rPr lang="en-US" sz="1000" b="1" err="1">
                          <a:solidFill>
                            <a:schemeClr val="bg1"/>
                          </a:solidFill>
                          <a:effectLst/>
                          <a:latin typeface="Raleway"/>
                        </a:rPr>
                        <a:t>Pemenuhan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Jumlah</a:t>
                      </a:r>
                      <a:r>
                        <a:rPr lang="en-US" sz="1000" b="1">
                          <a:solidFill>
                            <a:schemeClr val="bg1"/>
                          </a:solidFill>
                          <a:effectLst/>
                          <a:latin typeface="Raleway"/>
                        </a:rPr>
                        <a:t> </a:t>
                      </a:r>
                      <a:r>
                        <a:rPr lang="en-US" sz="1000" b="1" err="1">
                          <a:solidFill>
                            <a:schemeClr val="bg1"/>
                          </a:solidFill>
                          <a:effectLst/>
                          <a:latin typeface="Raleway"/>
                        </a:rPr>
                        <a:t>Permintaan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Status </a:t>
                      </a:r>
                      <a:r>
                        <a:rPr lang="en-US" sz="1000" b="1" err="1">
                          <a:solidFill>
                            <a:schemeClr val="bg1"/>
                          </a:solidFill>
                          <a:effectLst/>
                          <a:latin typeface="Raleway"/>
                        </a:rPr>
                        <a:t>Rekrutmen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67085513"/>
                  </a:ext>
                </a:extLst>
              </a:tr>
              <a:tr h="577717">
                <a:tc>
                  <a:txBody>
                    <a:bodyPr/>
                    <a:lstStyle/>
                    <a:p>
                      <a:pPr algn="ctr">
                        <a:buNone/>
                      </a:pPr>
                      <a:r>
                        <a:rPr lang="en-US" sz="900">
                          <a:effectLst/>
                          <a:latin typeface="Raleway"/>
                        </a:rPr>
                        <a:t>29-Apr-26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900">
                          <a:effectLst/>
                          <a:latin typeface="Raleway"/>
                        </a:rPr>
                        <a:t>Head of Area - Belitung</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29-Apr-26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err="1">
                          <a:effectLst/>
                          <a:latin typeface="Raleway"/>
                        </a:rPr>
                        <a:t>Fiqra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Week 33: Hand Over FPTK </a:t>
                      </a:r>
                      <a:br>
                        <a:rPr lang="en-US" sz="900">
                          <a:effectLst/>
                          <a:latin typeface="Raleway"/>
                        </a:rPr>
                      </a:br>
                      <a:r>
                        <a:rPr lang="en-US" sz="900">
                          <a:effectLst/>
                          <a:latin typeface="Raleway"/>
                        </a:rPr>
                        <a:t>Next Week: Sourcing &amp; Shortlist </a:t>
                      </a:r>
                      <a:r>
                        <a:rPr lang="en-US" sz="900" err="1">
                          <a:effectLst/>
                          <a:latin typeface="Raleway"/>
                        </a:rPr>
                        <a:t>Cv</a:t>
                      </a:r>
                      <a:r>
                        <a:rPr lang="en-US" sz="900">
                          <a:effectLst/>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2270935198"/>
                  </a:ext>
                </a:extLst>
              </a:tr>
              <a:tr h="577717">
                <a:tc>
                  <a:txBody>
                    <a:bodyPr/>
                    <a:lstStyle/>
                    <a:p>
                      <a:pPr algn="ctr">
                        <a:buNone/>
                      </a:pPr>
                      <a:r>
                        <a:rPr lang="en-US" sz="900">
                          <a:effectLst/>
                          <a:latin typeface="Raleway"/>
                        </a:rPr>
                        <a:t>06-Mar-26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900">
                          <a:effectLst/>
                          <a:latin typeface="Raleway"/>
                        </a:rPr>
                        <a:t>Head of Area - Bengkulu</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07-Mar-26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err="1">
                          <a:effectLst/>
                          <a:latin typeface="Raleway"/>
                        </a:rPr>
                        <a:t>Fiqra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Week 33: Hand Over FPTK </a:t>
                      </a:r>
                      <a:br>
                        <a:rPr lang="en-US" sz="900">
                          <a:effectLst/>
                          <a:latin typeface="Raleway"/>
                        </a:rPr>
                      </a:br>
                      <a:r>
                        <a:rPr lang="en-US" sz="900">
                          <a:effectLst/>
                          <a:latin typeface="Raleway"/>
                        </a:rPr>
                        <a:t>Next Week: Sourcing &amp; Shortlist </a:t>
                      </a:r>
                      <a:r>
                        <a:rPr lang="en-US" sz="900" err="1">
                          <a:effectLst/>
                          <a:latin typeface="Raleway"/>
                        </a:rPr>
                        <a:t>Cv</a:t>
                      </a:r>
                      <a:r>
                        <a:rPr lang="en-US" sz="900">
                          <a:effectLst/>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049625010"/>
                  </a:ext>
                </a:extLst>
              </a:tr>
              <a:tr h="1219629">
                <a:tc>
                  <a:txBody>
                    <a:bodyPr/>
                    <a:lstStyle/>
                    <a:p>
                      <a:pPr algn="ctr">
                        <a:buNone/>
                      </a:pPr>
                      <a:r>
                        <a:rPr lang="en-US" sz="900">
                          <a:effectLst/>
                          <a:latin typeface="Raleway"/>
                        </a:rPr>
                        <a:t>06-Oct-26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900">
                          <a:effectLst/>
                          <a:latin typeface="Raleway"/>
                        </a:rPr>
                        <a:t>Instrument Engineer Supervisor</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07-Oct-26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Wahyu</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Sourcing 10 CV </a:t>
                      </a:r>
                      <a:r>
                        <a:rPr lang="en-US" sz="900" err="1">
                          <a:effectLst/>
                          <a:latin typeface="Raleway"/>
                        </a:rPr>
                        <a:t>tanggal</a:t>
                      </a:r>
                      <a:r>
                        <a:rPr lang="en-US" sz="900">
                          <a:effectLst/>
                          <a:latin typeface="Raleway"/>
                        </a:rPr>
                        <a:t> 14 Agustus 2026 dan send CV </a:t>
                      </a:r>
                      <a:r>
                        <a:rPr lang="en-US" sz="900" err="1">
                          <a:effectLst/>
                          <a:latin typeface="Raleway"/>
                        </a:rPr>
                        <a:t>ke</a:t>
                      </a:r>
                      <a:r>
                        <a:rPr lang="en-US" sz="900">
                          <a:effectLst/>
                          <a:latin typeface="Raleway"/>
                        </a:rPr>
                        <a:t> user </a:t>
                      </a:r>
                      <a:br>
                        <a:rPr lang="en-US" sz="900">
                          <a:effectLst/>
                          <a:latin typeface="Raleway"/>
                        </a:rPr>
                      </a:br>
                      <a:r>
                        <a:rPr lang="en-US" sz="900">
                          <a:effectLst/>
                          <a:latin typeface="Raleway"/>
                        </a:rPr>
                        <a:t>Follow Up </a:t>
                      </a:r>
                      <a:r>
                        <a:rPr lang="en-US" sz="900" err="1">
                          <a:effectLst/>
                          <a:latin typeface="Raleway"/>
                        </a:rPr>
                        <a:t>jadwal</a:t>
                      </a:r>
                      <a:r>
                        <a:rPr lang="en-US" sz="900">
                          <a:effectLst/>
                          <a:latin typeface="Raleway"/>
                        </a:rPr>
                        <a:t> interview </a:t>
                      </a:r>
                      <a:r>
                        <a:rPr lang="en-US" sz="900" err="1">
                          <a:effectLst/>
                          <a:latin typeface="Raleway"/>
                        </a:rPr>
                        <a:t>dengan</a:t>
                      </a:r>
                      <a:r>
                        <a:rPr lang="en-US" sz="900">
                          <a:effectLst/>
                          <a:latin typeface="Raleway"/>
                        </a:rPr>
                        <a:t> pak Bayu  1 </a:t>
                      </a:r>
                      <a:r>
                        <a:rPr lang="en-US" sz="900" err="1">
                          <a:effectLst/>
                          <a:latin typeface="Raleway"/>
                        </a:rPr>
                        <a:t>kandidat</a:t>
                      </a:r>
                      <a:r>
                        <a:rPr lang="en-US" sz="900">
                          <a:effectLst/>
                          <a:latin typeface="Raleway"/>
                        </a:rPr>
                        <a:t> </a:t>
                      </a:r>
                      <a:r>
                        <a:rPr lang="en-US" sz="900" err="1">
                          <a:effectLst/>
                          <a:latin typeface="Raleway"/>
                        </a:rPr>
                        <a:t>a.n</a:t>
                      </a:r>
                      <a:r>
                        <a:rPr lang="en-US" sz="900">
                          <a:effectLst/>
                          <a:latin typeface="Raleway"/>
                        </a:rPr>
                        <a:t> Ahmad Sudarma </a:t>
                      </a:r>
                      <a:r>
                        <a:rPr lang="en-US" sz="900" err="1">
                          <a:effectLst/>
                          <a:latin typeface="Raleway"/>
                        </a:rPr>
                        <a:t>tanggal</a:t>
                      </a:r>
                      <a:r>
                        <a:rPr lang="en-US" sz="900">
                          <a:effectLst/>
                          <a:latin typeface="Raleway"/>
                        </a:rPr>
                        <a:t> 13 Agustus 2026</a:t>
                      </a:r>
                      <a:br>
                        <a:rPr lang="en-US" sz="900">
                          <a:effectLst/>
                          <a:latin typeface="Raleway"/>
                        </a:rPr>
                      </a:br>
                      <a:r>
                        <a:rPr lang="en-US" sz="900">
                          <a:effectLst/>
                          <a:latin typeface="Raleway"/>
                        </a:rPr>
                        <a:t>Next Action:</a:t>
                      </a:r>
                      <a:br>
                        <a:rPr lang="en-US" sz="900">
                          <a:effectLst/>
                          <a:latin typeface="Raleway"/>
                        </a:rPr>
                      </a:br>
                      <a:r>
                        <a:rPr lang="en-US" sz="900">
                          <a:effectLst/>
                          <a:latin typeface="Raleway"/>
                        </a:rPr>
                        <a:t>Kirim </a:t>
                      </a:r>
                      <a:r>
                        <a:rPr lang="en-US" sz="900" err="1">
                          <a:effectLst/>
                          <a:latin typeface="Raleway"/>
                        </a:rPr>
                        <a:t>psikotest</a:t>
                      </a:r>
                      <a:r>
                        <a:rPr lang="en-US" sz="900">
                          <a:effectLst/>
                          <a:latin typeface="Raleway"/>
                        </a:rPr>
                        <a:t> </a:t>
                      </a:r>
                      <a:r>
                        <a:rPr lang="en-US" sz="900" err="1">
                          <a:effectLst/>
                          <a:latin typeface="Raleway"/>
                        </a:rPr>
                        <a:t>tanggal</a:t>
                      </a:r>
                      <a:r>
                        <a:rPr lang="en-US" sz="900">
                          <a:effectLst/>
                          <a:latin typeface="Raleway"/>
                        </a:rPr>
                        <a:t> 18 Agustus 2026 – Week 34</a:t>
                      </a:r>
                      <a:br>
                        <a:rPr lang="en-US" sz="900">
                          <a:effectLst/>
                          <a:latin typeface="Raleway"/>
                        </a:rPr>
                      </a:br>
                      <a:r>
                        <a:rPr lang="en-US" sz="900">
                          <a:effectLst/>
                          <a:latin typeface="Raleway"/>
                        </a:rPr>
                        <a:t>Interview </a:t>
                      </a:r>
                      <a:r>
                        <a:rPr lang="en-US" sz="900" err="1">
                          <a:effectLst/>
                          <a:latin typeface="Raleway"/>
                        </a:rPr>
                        <a:t>dengan</a:t>
                      </a:r>
                      <a:r>
                        <a:rPr lang="en-US" sz="900">
                          <a:effectLst/>
                          <a:latin typeface="Raleway"/>
                        </a:rPr>
                        <a:t> pak Bayu 1 </a:t>
                      </a:r>
                      <a:r>
                        <a:rPr lang="en-US" sz="900" err="1">
                          <a:effectLst/>
                          <a:latin typeface="Raleway"/>
                        </a:rPr>
                        <a:t>kandidat</a:t>
                      </a:r>
                      <a:r>
                        <a:rPr lang="en-US" sz="900">
                          <a:effectLst/>
                          <a:latin typeface="Raleway"/>
                        </a:rPr>
                        <a:t> </a:t>
                      </a:r>
                      <a:r>
                        <a:rPr lang="en-US" sz="900" err="1">
                          <a:effectLst/>
                          <a:latin typeface="Raleway"/>
                        </a:rPr>
                        <a:t>a.n</a:t>
                      </a:r>
                      <a:r>
                        <a:rPr lang="en-US" sz="900">
                          <a:effectLst/>
                          <a:latin typeface="Raleway"/>
                        </a:rPr>
                        <a:t> Ahmad Sudarma </a:t>
                      </a:r>
                      <a:r>
                        <a:rPr lang="en-US" sz="900" err="1">
                          <a:effectLst/>
                          <a:latin typeface="Raleway"/>
                        </a:rPr>
                        <a:t>tanggal</a:t>
                      </a:r>
                      <a:r>
                        <a:rPr lang="en-US" sz="900">
                          <a:effectLst/>
                          <a:latin typeface="Raleway"/>
                        </a:rPr>
                        <a:t> 19 Agustus 2026 –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2979182368"/>
                  </a:ext>
                </a:extLst>
              </a:tr>
              <a:tr h="1219629">
                <a:tc>
                  <a:txBody>
                    <a:bodyPr/>
                    <a:lstStyle/>
                    <a:p>
                      <a:pPr algn="ctr">
                        <a:buNone/>
                      </a:pPr>
                      <a:r>
                        <a:rPr lang="en-US" sz="900">
                          <a:effectLst/>
                          <a:latin typeface="Raleway"/>
                        </a:rPr>
                        <a:t>06-Oct-26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900">
                          <a:effectLst/>
                          <a:latin typeface="Raleway"/>
                        </a:rPr>
                        <a:t>Production Shift Supervisor</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07-Oct-26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Wahyu</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Sourcing 10 CV </a:t>
                      </a:r>
                      <a:r>
                        <a:rPr lang="en-US" sz="900" err="1">
                          <a:effectLst/>
                          <a:latin typeface="Raleway"/>
                        </a:rPr>
                        <a:t>tanggal</a:t>
                      </a:r>
                      <a:r>
                        <a:rPr lang="en-US" sz="900">
                          <a:effectLst/>
                          <a:latin typeface="Raleway"/>
                        </a:rPr>
                        <a:t> 14 Agustus 2026 dan send CV </a:t>
                      </a:r>
                      <a:r>
                        <a:rPr lang="en-US" sz="900" err="1">
                          <a:effectLst/>
                          <a:latin typeface="Raleway"/>
                        </a:rPr>
                        <a:t>ke</a:t>
                      </a:r>
                      <a:r>
                        <a:rPr lang="en-US" sz="900">
                          <a:effectLst/>
                          <a:latin typeface="Raleway"/>
                        </a:rPr>
                        <a:t> user </a:t>
                      </a:r>
                      <a:br>
                        <a:rPr lang="en-US" sz="900">
                          <a:effectLst/>
                          <a:latin typeface="Raleway"/>
                        </a:rPr>
                      </a:br>
                      <a:r>
                        <a:rPr lang="en-US" sz="900">
                          <a:effectLst/>
                          <a:latin typeface="Raleway"/>
                        </a:rPr>
                        <a:t>Follow Up </a:t>
                      </a:r>
                      <a:r>
                        <a:rPr lang="en-US" sz="900" err="1">
                          <a:effectLst/>
                          <a:latin typeface="Raleway"/>
                        </a:rPr>
                        <a:t>jadwal</a:t>
                      </a:r>
                      <a:r>
                        <a:rPr lang="en-US" sz="900">
                          <a:effectLst/>
                          <a:latin typeface="Raleway"/>
                        </a:rPr>
                        <a:t> interview </a:t>
                      </a:r>
                      <a:r>
                        <a:rPr lang="en-US" sz="900" err="1">
                          <a:effectLst/>
                          <a:latin typeface="Raleway"/>
                        </a:rPr>
                        <a:t>dengan</a:t>
                      </a:r>
                      <a:r>
                        <a:rPr lang="en-US" sz="900">
                          <a:effectLst/>
                          <a:latin typeface="Raleway"/>
                        </a:rPr>
                        <a:t> pak Bayu  1 </a:t>
                      </a:r>
                      <a:r>
                        <a:rPr lang="en-US" sz="900" err="1">
                          <a:effectLst/>
                          <a:latin typeface="Raleway"/>
                        </a:rPr>
                        <a:t>kandidat</a:t>
                      </a:r>
                      <a:r>
                        <a:rPr lang="en-US" sz="900">
                          <a:effectLst/>
                          <a:latin typeface="Raleway"/>
                        </a:rPr>
                        <a:t> </a:t>
                      </a:r>
                      <a:r>
                        <a:rPr lang="en-US" sz="900" err="1">
                          <a:effectLst/>
                          <a:latin typeface="Raleway"/>
                        </a:rPr>
                        <a:t>a.n</a:t>
                      </a:r>
                      <a:r>
                        <a:rPr lang="en-US" sz="900">
                          <a:effectLst/>
                          <a:latin typeface="Raleway"/>
                        </a:rPr>
                        <a:t> Amru Rizal Basri </a:t>
                      </a:r>
                      <a:r>
                        <a:rPr lang="en-US" sz="900" err="1">
                          <a:effectLst/>
                          <a:latin typeface="Raleway"/>
                        </a:rPr>
                        <a:t>tanggal</a:t>
                      </a:r>
                      <a:r>
                        <a:rPr lang="en-US" sz="900">
                          <a:effectLst/>
                          <a:latin typeface="Raleway"/>
                        </a:rPr>
                        <a:t> 13 Agustus 2026</a:t>
                      </a:r>
                      <a:br>
                        <a:rPr lang="en-US" sz="900">
                          <a:effectLst/>
                          <a:latin typeface="Raleway"/>
                        </a:rPr>
                      </a:br>
                      <a:r>
                        <a:rPr lang="en-US" sz="900">
                          <a:effectLst/>
                          <a:latin typeface="Raleway"/>
                        </a:rPr>
                        <a:t>Next Action:</a:t>
                      </a:r>
                      <a:br>
                        <a:rPr lang="en-US" sz="900">
                          <a:effectLst/>
                          <a:latin typeface="Raleway"/>
                        </a:rPr>
                      </a:br>
                      <a:r>
                        <a:rPr lang="en-US" sz="900">
                          <a:effectLst/>
                          <a:latin typeface="Raleway"/>
                        </a:rPr>
                        <a:t>Kirim </a:t>
                      </a:r>
                      <a:r>
                        <a:rPr lang="en-US" sz="900" err="1">
                          <a:effectLst/>
                          <a:latin typeface="Raleway"/>
                        </a:rPr>
                        <a:t>psikotest</a:t>
                      </a:r>
                      <a:r>
                        <a:rPr lang="en-US" sz="900">
                          <a:effectLst/>
                          <a:latin typeface="Raleway"/>
                        </a:rPr>
                        <a:t> </a:t>
                      </a:r>
                      <a:r>
                        <a:rPr lang="en-US" sz="900" err="1">
                          <a:effectLst/>
                          <a:latin typeface="Raleway"/>
                        </a:rPr>
                        <a:t>tanggal</a:t>
                      </a:r>
                      <a:r>
                        <a:rPr lang="en-US" sz="900">
                          <a:effectLst/>
                          <a:latin typeface="Raleway"/>
                        </a:rPr>
                        <a:t> 18 Agustus 2026 – Week 34</a:t>
                      </a:r>
                      <a:br>
                        <a:rPr lang="en-US" sz="900">
                          <a:effectLst/>
                          <a:latin typeface="Raleway"/>
                        </a:rPr>
                      </a:br>
                      <a:r>
                        <a:rPr lang="en-US" sz="900">
                          <a:effectLst/>
                          <a:latin typeface="Raleway"/>
                        </a:rPr>
                        <a:t>Interview </a:t>
                      </a:r>
                      <a:r>
                        <a:rPr lang="en-US" sz="900" err="1">
                          <a:effectLst/>
                          <a:latin typeface="Raleway"/>
                        </a:rPr>
                        <a:t>dengan</a:t>
                      </a:r>
                      <a:r>
                        <a:rPr lang="en-US" sz="900">
                          <a:effectLst/>
                          <a:latin typeface="Raleway"/>
                        </a:rPr>
                        <a:t> pak Bayu 1 </a:t>
                      </a:r>
                      <a:r>
                        <a:rPr lang="en-US" sz="900" err="1">
                          <a:effectLst/>
                          <a:latin typeface="Raleway"/>
                        </a:rPr>
                        <a:t>kandidat</a:t>
                      </a:r>
                      <a:r>
                        <a:rPr lang="en-US" sz="900">
                          <a:effectLst/>
                          <a:latin typeface="Raleway"/>
                        </a:rPr>
                        <a:t> </a:t>
                      </a:r>
                      <a:r>
                        <a:rPr lang="en-US" sz="900" err="1">
                          <a:effectLst/>
                          <a:latin typeface="Raleway"/>
                        </a:rPr>
                        <a:t>a.n</a:t>
                      </a:r>
                      <a:r>
                        <a:rPr lang="en-US" sz="900">
                          <a:effectLst/>
                          <a:latin typeface="Raleway"/>
                        </a:rPr>
                        <a:t> Amru Rizal Basri </a:t>
                      </a:r>
                      <a:r>
                        <a:rPr lang="en-US" sz="900" err="1">
                          <a:effectLst/>
                          <a:latin typeface="Raleway"/>
                        </a:rPr>
                        <a:t>tanggal</a:t>
                      </a:r>
                      <a:r>
                        <a:rPr lang="en-US" sz="900">
                          <a:effectLst/>
                          <a:latin typeface="Raleway"/>
                        </a:rPr>
                        <a:t> 19 Agustus 2026 –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561353140"/>
                  </a:ext>
                </a:extLst>
              </a:tr>
              <a:tr h="1540580">
                <a:tc>
                  <a:txBody>
                    <a:bodyPr/>
                    <a:lstStyle/>
                    <a:p>
                      <a:pPr algn="ctr">
                        <a:buNone/>
                      </a:pPr>
                      <a:r>
                        <a:rPr lang="en-US" sz="900">
                          <a:effectLst/>
                          <a:latin typeface="Raleway"/>
                        </a:rPr>
                        <a:t>06-Oct-26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900">
                          <a:effectLst/>
                          <a:latin typeface="Raleway"/>
                        </a:rPr>
                        <a:t>Production Supervisor</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07-Oct-26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Wahyu</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Sourcing 10 CV </a:t>
                      </a:r>
                      <a:r>
                        <a:rPr lang="en-US" sz="900" err="1">
                          <a:effectLst/>
                          <a:latin typeface="Raleway"/>
                        </a:rPr>
                        <a:t>tanggal</a:t>
                      </a:r>
                      <a:r>
                        <a:rPr lang="en-US" sz="900">
                          <a:effectLst/>
                          <a:latin typeface="Raleway"/>
                        </a:rPr>
                        <a:t> 14 Agustus 2026 dan send CV </a:t>
                      </a:r>
                      <a:r>
                        <a:rPr lang="en-US" sz="900" err="1">
                          <a:effectLst/>
                          <a:latin typeface="Raleway"/>
                        </a:rPr>
                        <a:t>ke</a:t>
                      </a:r>
                      <a:r>
                        <a:rPr lang="en-US" sz="900">
                          <a:effectLst/>
                          <a:latin typeface="Raleway"/>
                        </a:rPr>
                        <a:t> user </a:t>
                      </a:r>
                      <a:br>
                        <a:rPr lang="en-US" sz="900">
                          <a:effectLst/>
                          <a:latin typeface="Raleway"/>
                        </a:rPr>
                      </a:br>
                      <a:r>
                        <a:rPr lang="en-US" sz="900">
                          <a:effectLst/>
                          <a:latin typeface="Raleway"/>
                        </a:rPr>
                        <a:t>Follow Up </a:t>
                      </a:r>
                      <a:r>
                        <a:rPr lang="en-US" sz="900" err="1">
                          <a:effectLst/>
                          <a:latin typeface="Raleway"/>
                        </a:rPr>
                        <a:t>jadwal</a:t>
                      </a:r>
                      <a:r>
                        <a:rPr lang="en-US" sz="900">
                          <a:effectLst/>
                          <a:latin typeface="Raleway"/>
                        </a:rPr>
                        <a:t> interview </a:t>
                      </a:r>
                      <a:r>
                        <a:rPr lang="en-US" sz="900" err="1">
                          <a:effectLst/>
                          <a:latin typeface="Raleway"/>
                        </a:rPr>
                        <a:t>dengan</a:t>
                      </a:r>
                      <a:r>
                        <a:rPr lang="en-US" sz="900">
                          <a:effectLst/>
                          <a:latin typeface="Raleway"/>
                        </a:rPr>
                        <a:t> pak Bayu  1 </a:t>
                      </a:r>
                      <a:r>
                        <a:rPr lang="en-US" sz="900" err="1">
                          <a:effectLst/>
                          <a:latin typeface="Raleway"/>
                        </a:rPr>
                        <a:t>kandidat</a:t>
                      </a:r>
                      <a:r>
                        <a:rPr lang="en-US" sz="900">
                          <a:effectLst/>
                          <a:latin typeface="Raleway"/>
                        </a:rPr>
                        <a:t> </a:t>
                      </a:r>
                      <a:r>
                        <a:rPr lang="en-US" sz="900" err="1">
                          <a:effectLst/>
                          <a:latin typeface="Raleway"/>
                        </a:rPr>
                        <a:t>a.n</a:t>
                      </a:r>
                      <a:r>
                        <a:rPr lang="en-US" sz="900">
                          <a:effectLst/>
                          <a:latin typeface="Raleway"/>
                        </a:rPr>
                        <a:t> Dhanu </a:t>
                      </a:r>
                      <a:r>
                        <a:rPr lang="en-US" sz="900" err="1">
                          <a:effectLst/>
                          <a:latin typeface="Raleway"/>
                        </a:rPr>
                        <a:t>Cipto</a:t>
                      </a:r>
                      <a:r>
                        <a:rPr lang="en-US" sz="900">
                          <a:effectLst/>
                          <a:latin typeface="Raleway"/>
                        </a:rPr>
                        <a:t> </a:t>
                      </a:r>
                      <a:r>
                        <a:rPr lang="en-US" sz="900" err="1">
                          <a:effectLst/>
                          <a:latin typeface="Raleway"/>
                        </a:rPr>
                        <a:t>tanggal</a:t>
                      </a:r>
                      <a:r>
                        <a:rPr lang="en-US" sz="900">
                          <a:effectLst/>
                          <a:latin typeface="Raleway"/>
                        </a:rPr>
                        <a:t> 13 Agustus 2026</a:t>
                      </a:r>
                      <a:br>
                        <a:rPr lang="en-US" sz="900">
                          <a:effectLst/>
                          <a:latin typeface="Raleway"/>
                        </a:rPr>
                      </a:br>
                      <a:r>
                        <a:rPr lang="en-US" sz="900">
                          <a:effectLst/>
                          <a:latin typeface="Raleway"/>
                        </a:rPr>
                        <a:t>Interview </a:t>
                      </a:r>
                      <a:r>
                        <a:rPr lang="en-US" sz="900" err="1">
                          <a:effectLst/>
                          <a:latin typeface="Raleway"/>
                        </a:rPr>
                        <a:t>dengan</a:t>
                      </a:r>
                      <a:r>
                        <a:rPr lang="en-US" sz="900">
                          <a:effectLst/>
                          <a:latin typeface="Raleway"/>
                        </a:rPr>
                        <a:t> pak Bayu 1 </a:t>
                      </a:r>
                      <a:r>
                        <a:rPr lang="en-US" sz="900" err="1">
                          <a:effectLst/>
                          <a:latin typeface="Raleway"/>
                        </a:rPr>
                        <a:t>kandidat</a:t>
                      </a:r>
                      <a:r>
                        <a:rPr lang="en-US" sz="900">
                          <a:effectLst/>
                          <a:latin typeface="Raleway"/>
                        </a:rPr>
                        <a:t> internal </a:t>
                      </a:r>
                      <a:r>
                        <a:rPr lang="en-US" sz="900" err="1">
                          <a:effectLst/>
                          <a:latin typeface="Raleway"/>
                        </a:rPr>
                        <a:t>a.n</a:t>
                      </a:r>
                      <a:r>
                        <a:rPr lang="en-US" sz="900">
                          <a:effectLst/>
                          <a:latin typeface="Raleway"/>
                        </a:rPr>
                        <a:t> Wahyu Aji </a:t>
                      </a:r>
                      <a:r>
                        <a:rPr lang="en-US" sz="900" err="1">
                          <a:effectLst/>
                          <a:latin typeface="Raleway"/>
                        </a:rPr>
                        <a:t>tanggal</a:t>
                      </a:r>
                      <a:r>
                        <a:rPr lang="en-US" sz="900">
                          <a:effectLst/>
                          <a:latin typeface="Raleway"/>
                        </a:rPr>
                        <a:t> 13 Agustus 2026</a:t>
                      </a:r>
                      <a:br>
                        <a:rPr lang="en-US" sz="900">
                          <a:effectLst/>
                          <a:latin typeface="Raleway"/>
                        </a:rPr>
                      </a:br>
                      <a:r>
                        <a:rPr lang="en-US" sz="900">
                          <a:effectLst/>
                          <a:latin typeface="Raleway"/>
                        </a:rPr>
                        <a:t>Next Action:</a:t>
                      </a:r>
                      <a:br>
                        <a:rPr lang="en-US" sz="900">
                          <a:effectLst/>
                          <a:latin typeface="Raleway"/>
                        </a:rPr>
                      </a:br>
                      <a:r>
                        <a:rPr lang="en-US" sz="900">
                          <a:effectLst/>
                          <a:latin typeface="Raleway"/>
                        </a:rPr>
                        <a:t>Kirim </a:t>
                      </a:r>
                      <a:r>
                        <a:rPr lang="en-US" sz="900" err="1">
                          <a:effectLst/>
                          <a:latin typeface="Raleway"/>
                        </a:rPr>
                        <a:t>psikotest</a:t>
                      </a:r>
                      <a:r>
                        <a:rPr lang="en-US" sz="900">
                          <a:effectLst/>
                          <a:latin typeface="Raleway"/>
                        </a:rPr>
                        <a:t> </a:t>
                      </a:r>
                      <a:r>
                        <a:rPr lang="en-US" sz="900" err="1">
                          <a:effectLst/>
                          <a:latin typeface="Raleway"/>
                        </a:rPr>
                        <a:t>tanggal</a:t>
                      </a:r>
                      <a:r>
                        <a:rPr lang="en-US" sz="900">
                          <a:effectLst/>
                          <a:latin typeface="Raleway"/>
                        </a:rPr>
                        <a:t> 18 Agustus 2026 – Week 34</a:t>
                      </a:r>
                      <a:br>
                        <a:rPr lang="en-US" sz="900">
                          <a:effectLst/>
                          <a:latin typeface="Raleway"/>
                        </a:rPr>
                      </a:br>
                      <a:r>
                        <a:rPr lang="en-US" sz="900">
                          <a:effectLst/>
                          <a:latin typeface="Raleway"/>
                        </a:rPr>
                        <a:t>Interview </a:t>
                      </a:r>
                      <a:r>
                        <a:rPr lang="en-US" sz="900" err="1">
                          <a:effectLst/>
                          <a:latin typeface="Raleway"/>
                        </a:rPr>
                        <a:t>dengan</a:t>
                      </a:r>
                      <a:r>
                        <a:rPr lang="en-US" sz="900">
                          <a:effectLst/>
                          <a:latin typeface="Raleway"/>
                        </a:rPr>
                        <a:t> pak Bayu 1 </a:t>
                      </a:r>
                      <a:r>
                        <a:rPr lang="en-US" sz="900" err="1">
                          <a:effectLst/>
                          <a:latin typeface="Raleway"/>
                        </a:rPr>
                        <a:t>kandidat</a:t>
                      </a:r>
                      <a:r>
                        <a:rPr lang="en-US" sz="900">
                          <a:effectLst/>
                          <a:latin typeface="Raleway"/>
                        </a:rPr>
                        <a:t> </a:t>
                      </a:r>
                      <a:r>
                        <a:rPr lang="en-US" sz="900" err="1">
                          <a:effectLst/>
                          <a:latin typeface="Raleway"/>
                        </a:rPr>
                        <a:t>a.n</a:t>
                      </a:r>
                      <a:r>
                        <a:rPr lang="en-US" sz="900">
                          <a:effectLst/>
                          <a:latin typeface="Raleway"/>
                        </a:rPr>
                        <a:t> Dhanu </a:t>
                      </a:r>
                      <a:r>
                        <a:rPr lang="en-US" sz="900" err="1">
                          <a:effectLst/>
                          <a:latin typeface="Raleway"/>
                        </a:rPr>
                        <a:t>Cipto</a:t>
                      </a:r>
                      <a:r>
                        <a:rPr lang="en-US" sz="900">
                          <a:effectLst/>
                          <a:latin typeface="Raleway"/>
                        </a:rPr>
                        <a:t>  </a:t>
                      </a:r>
                      <a:r>
                        <a:rPr lang="en-US" sz="900" err="1">
                          <a:effectLst/>
                          <a:latin typeface="Raleway"/>
                        </a:rPr>
                        <a:t>tanggal</a:t>
                      </a:r>
                      <a:r>
                        <a:rPr lang="en-US" sz="900">
                          <a:effectLst/>
                          <a:latin typeface="Raleway"/>
                        </a:rPr>
                        <a:t> 20 Agustus 2026 –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2722329867"/>
                  </a:ext>
                </a:extLst>
              </a:tr>
            </a:tbl>
          </a:graphicData>
        </a:graphic>
      </p:graphicFrame>
      <p:sp>
        <p:nvSpPr>
          <p:cNvPr id="6" name="TextBox 7">
            <a:extLst>
              <a:ext uri="{FF2B5EF4-FFF2-40B4-BE49-F238E27FC236}">
                <a16:creationId xmlns:a16="http://schemas.microsoft.com/office/drawing/2014/main" id="{C6441FC6-8E8D-8293-A03A-45113F2AC05E}"/>
              </a:ext>
            </a:extLst>
          </p:cNvPr>
          <p:cNvSpPr txBox="1"/>
          <p:nvPr/>
        </p:nvSpPr>
        <p:spPr>
          <a:xfrm>
            <a:off x="89575" y="6408147"/>
            <a:ext cx="10972800" cy="261610"/>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a:latin typeface="Raleway"/>
              </a:rPr>
              <a:t>* </a:t>
            </a:r>
            <a:r>
              <a:rPr lang="en-US" sz="1100" i="1">
                <a:latin typeface="Raleway"/>
              </a:rPr>
              <a:t>Update per </a:t>
            </a:r>
            <a:r>
              <a:rPr lang="en-US" sz="1100" i="1" err="1">
                <a:latin typeface="Raleway"/>
              </a:rPr>
              <a:t>tanggal</a:t>
            </a:r>
            <a:r>
              <a:rPr lang="en-US" sz="1100" i="1">
                <a:latin typeface="Raleway"/>
              </a:rPr>
              <a:t> 14 Agustus 2026</a:t>
            </a:r>
            <a:endParaRPr lang="en-US" sz="1100">
              <a:latin typeface="Raleway"/>
            </a:endParaRPr>
          </a:p>
        </p:txBody>
      </p:sp>
      <p:sp>
        <p:nvSpPr>
          <p:cNvPr id="8" name="Title 1">
            <a:extLst>
              <a:ext uri="{FF2B5EF4-FFF2-40B4-BE49-F238E27FC236}">
                <a16:creationId xmlns:a16="http://schemas.microsoft.com/office/drawing/2014/main" id="{92BE5255-386D-6C39-675B-3FAF9A022193}"/>
              </a:ext>
            </a:extLst>
          </p:cNvPr>
          <p:cNvSpPr txBox="1">
            <a:spLocks/>
          </p:cNvSpPr>
          <p:nvPr/>
        </p:nvSpPr>
        <p:spPr>
          <a:xfrm>
            <a:off x="1541553" y="-3631"/>
            <a:ext cx="8958197" cy="4799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2400" b="1">
                <a:latin typeface="Raleway" panose="020B0503030101060003"/>
              </a:rPr>
              <a:t>Recruitment Progress – Level 3</a:t>
            </a:r>
            <a:endParaRPr lang="en-US" sz="2400">
              <a:latin typeface="Raleway" panose="020B0503030101060003"/>
            </a:endParaRPr>
          </a:p>
        </p:txBody>
      </p:sp>
    </p:spTree>
    <p:extLst>
      <p:ext uri="{BB962C8B-B14F-4D97-AF65-F5344CB8AC3E}">
        <p14:creationId xmlns:p14="http://schemas.microsoft.com/office/powerpoint/2010/main" val="390620629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5EA338-1B29-7DED-1398-EE735FFD1635}"/>
            </a:ext>
          </a:extLst>
        </p:cNvPr>
        <p:cNvGrpSpPr/>
        <p:nvPr/>
      </p:nvGrpSpPr>
      <p:grpSpPr>
        <a:xfrm>
          <a:off x="0" y="0"/>
          <a:ext cx="0" cy="0"/>
          <a:chOff x="0" y="0"/>
          <a:chExt cx="0" cy="0"/>
        </a:xfrm>
      </p:grpSpPr>
      <p:graphicFrame>
        <p:nvGraphicFramePr>
          <p:cNvPr id="5" name="Table 4">
            <a:extLst>
              <a:ext uri="{FF2B5EF4-FFF2-40B4-BE49-F238E27FC236}">
                <a16:creationId xmlns:a16="http://schemas.microsoft.com/office/drawing/2014/main" id="{0F7CB88B-114B-E71A-7C92-4C95FDF1A4F3}"/>
              </a:ext>
            </a:extLst>
          </p:cNvPr>
          <p:cNvGraphicFramePr>
            <a:graphicFrameLocks noGrp="1"/>
          </p:cNvGraphicFramePr>
          <p:nvPr>
            <p:extLst>
              <p:ext uri="{D42A27DB-BD31-4B8C-83A1-F6EECF244321}">
                <p14:modId xmlns:p14="http://schemas.microsoft.com/office/powerpoint/2010/main" val="2947342688"/>
              </p:ext>
            </p:extLst>
          </p:nvPr>
        </p:nvGraphicFramePr>
        <p:xfrm>
          <a:off x="201448" y="551792"/>
          <a:ext cx="11627525" cy="5684520"/>
        </p:xfrm>
        <a:graphic>
          <a:graphicData uri="http://schemas.openxmlformats.org/drawingml/2006/table">
            <a:tbl>
              <a:tblPr bandRow="1">
                <a:tableStyleId>{5C22544A-7EE6-4342-B048-85BDC9FD1C3A}</a:tableStyleId>
              </a:tblPr>
              <a:tblGrid>
                <a:gridCol w="547177">
                  <a:extLst>
                    <a:ext uri="{9D8B030D-6E8A-4147-A177-3AD203B41FA5}">
                      <a16:colId xmlns:a16="http://schemas.microsoft.com/office/drawing/2014/main" val="143509232"/>
                    </a:ext>
                  </a:extLst>
                </a:gridCol>
                <a:gridCol w="1598015">
                  <a:extLst>
                    <a:ext uri="{9D8B030D-6E8A-4147-A177-3AD203B41FA5}">
                      <a16:colId xmlns:a16="http://schemas.microsoft.com/office/drawing/2014/main" val="967100021"/>
                    </a:ext>
                  </a:extLst>
                </a:gridCol>
                <a:gridCol w="742246">
                  <a:extLst>
                    <a:ext uri="{9D8B030D-6E8A-4147-A177-3AD203B41FA5}">
                      <a16:colId xmlns:a16="http://schemas.microsoft.com/office/drawing/2014/main" val="2500898390"/>
                    </a:ext>
                  </a:extLst>
                </a:gridCol>
                <a:gridCol w="1030414">
                  <a:extLst>
                    <a:ext uri="{9D8B030D-6E8A-4147-A177-3AD203B41FA5}">
                      <a16:colId xmlns:a16="http://schemas.microsoft.com/office/drawing/2014/main" val="676220860"/>
                    </a:ext>
                  </a:extLst>
                </a:gridCol>
                <a:gridCol w="742246">
                  <a:extLst>
                    <a:ext uri="{9D8B030D-6E8A-4147-A177-3AD203B41FA5}">
                      <a16:colId xmlns:a16="http://schemas.microsoft.com/office/drawing/2014/main" val="1636827242"/>
                    </a:ext>
                  </a:extLst>
                </a:gridCol>
                <a:gridCol w="800276">
                  <a:extLst>
                    <a:ext uri="{9D8B030D-6E8A-4147-A177-3AD203B41FA5}">
                      <a16:colId xmlns:a16="http://schemas.microsoft.com/office/drawing/2014/main" val="1719507352"/>
                    </a:ext>
                  </a:extLst>
                </a:gridCol>
                <a:gridCol w="934760">
                  <a:extLst>
                    <a:ext uri="{9D8B030D-6E8A-4147-A177-3AD203B41FA5}">
                      <a16:colId xmlns:a16="http://schemas.microsoft.com/office/drawing/2014/main" val="1367527281"/>
                    </a:ext>
                  </a:extLst>
                </a:gridCol>
                <a:gridCol w="547177">
                  <a:extLst>
                    <a:ext uri="{9D8B030D-6E8A-4147-A177-3AD203B41FA5}">
                      <a16:colId xmlns:a16="http://schemas.microsoft.com/office/drawing/2014/main" val="1496801684"/>
                    </a:ext>
                  </a:extLst>
                </a:gridCol>
                <a:gridCol w="547177">
                  <a:extLst>
                    <a:ext uri="{9D8B030D-6E8A-4147-A177-3AD203B41FA5}">
                      <a16:colId xmlns:a16="http://schemas.microsoft.com/office/drawing/2014/main" val="2803886669"/>
                    </a:ext>
                  </a:extLst>
                </a:gridCol>
                <a:gridCol w="4138037">
                  <a:extLst>
                    <a:ext uri="{9D8B030D-6E8A-4147-A177-3AD203B41FA5}">
                      <a16:colId xmlns:a16="http://schemas.microsoft.com/office/drawing/2014/main" val="4226289461"/>
                    </a:ext>
                  </a:extLst>
                </a:gridCol>
              </a:tblGrid>
              <a:tr h="683978">
                <a:tc>
                  <a:txBody>
                    <a:bodyPr/>
                    <a:lstStyle/>
                    <a:p>
                      <a:pPr algn="ctr">
                        <a:buNone/>
                      </a:pPr>
                      <a:r>
                        <a:rPr lang="en-US" sz="1000" b="1">
                          <a:solidFill>
                            <a:schemeClr val="bg1"/>
                          </a:solidFill>
                          <a:effectLst/>
                          <a:latin typeface="Raleway"/>
                        </a:rPr>
                        <a:t>Tanggal 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Business 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SLA Target </a:t>
                      </a:r>
                      <a:r>
                        <a:rPr lang="en-US" sz="1000" b="1" err="1">
                          <a:solidFill>
                            <a:schemeClr val="bg1"/>
                          </a:solidFill>
                          <a:effectLst/>
                          <a:latin typeface="Raleway"/>
                        </a:rPr>
                        <a:t>Pemenuhan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Jumlah</a:t>
                      </a:r>
                      <a:r>
                        <a:rPr lang="en-US" sz="1000" b="1">
                          <a:solidFill>
                            <a:schemeClr val="bg1"/>
                          </a:solidFill>
                          <a:effectLst/>
                          <a:latin typeface="Raleway"/>
                        </a:rPr>
                        <a:t> </a:t>
                      </a:r>
                      <a:r>
                        <a:rPr lang="en-US" sz="1000" b="1" err="1">
                          <a:solidFill>
                            <a:schemeClr val="bg1"/>
                          </a:solidFill>
                          <a:effectLst/>
                          <a:latin typeface="Raleway"/>
                        </a:rPr>
                        <a:t>Permintaan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Status </a:t>
                      </a:r>
                      <a:r>
                        <a:rPr lang="en-US" sz="1000" b="1" err="1">
                          <a:solidFill>
                            <a:schemeClr val="bg1"/>
                          </a:solidFill>
                          <a:effectLst/>
                          <a:latin typeface="Raleway"/>
                        </a:rPr>
                        <a:t>Rekrutmen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4040275426"/>
                  </a:ext>
                </a:extLst>
              </a:tr>
              <a:tr h="1296372">
                <a:tc>
                  <a:txBody>
                    <a:bodyPr/>
                    <a:lstStyle/>
                    <a:p>
                      <a:pPr algn="ctr">
                        <a:buNone/>
                      </a:pPr>
                      <a:r>
                        <a:rPr lang="en-US" sz="900">
                          <a:effectLst/>
                          <a:latin typeface="Raleway"/>
                        </a:rPr>
                        <a:t>06-Oct-26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Production Supervisor</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07-Oct-26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Wahyu</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Sourcing 10 CV </a:t>
                      </a:r>
                      <a:r>
                        <a:rPr lang="en-US" sz="900" err="1">
                          <a:effectLst/>
                          <a:latin typeface="Raleway"/>
                        </a:rPr>
                        <a:t>tanggal</a:t>
                      </a:r>
                      <a:r>
                        <a:rPr lang="en-US" sz="900">
                          <a:effectLst/>
                          <a:latin typeface="Raleway"/>
                        </a:rPr>
                        <a:t> 14 Agustus 2026 dan send CV </a:t>
                      </a:r>
                      <a:r>
                        <a:rPr lang="en-US" sz="900" err="1">
                          <a:effectLst/>
                          <a:latin typeface="Raleway"/>
                        </a:rPr>
                        <a:t>ke</a:t>
                      </a:r>
                      <a:r>
                        <a:rPr lang="en-US" sz="900">
                          <a:effectLst/>
                          <a:latin typeface="Raleway"/>
                        </a:rPr>
                        <a:t> user </a:t>
                      </a:r>
                      <a:br>
                        <a:rPr lang="en-US" sz="900">
                          <a:effectLst/>
                          <a:latin typeface="Raleway"/>
                        </a:rPr>
                      </a:br>
                      <a:r>
                        <a:rPr lang="en-US" sz="900">
                          <a:effectLst/>
                          <a:latin typeface="Raleway"/>
                        </a:rPr>
                        <a:t>Follow Up </a:t>
                      </a:r>
                      <a:r>
                        <a:rPr lang="en-US" sz="900" err="1">
                          <a:effectLst/>
                          <a:latin typeface="Raleway"/>
                        </a:rPr>
                        <a:t>jadwal</a:t>
                      </a:r>
                      <a:r>
                        <a:rPr lang="en-US" sz="900">
                          <a:effectLst/>
                          <a:latin typeface="Raleway"/>
                        </a:rPr>
                        <a:t> interview </a:t>
                      </a:r>
                      <a:r>
                        <a:rPr lang="en-US" sz="900" err="1">
                          <a:effectLst/>
                          <a:latin typeface="Raleway"/>
                        </a:rPr>
                        <a:t>dengan</a:t>
                      </a:r>
                      <a:r>
                        <a:rPr lang="en-US" sz="900">
                          <a:effectLst/>
                          <a:latin typeface="Raleway"/>
                        </a:rPr>
                        <a:t> pak Bayu  1 </a:t>
                      </a:r>
                      <a:r>
                        <a:rPr lang="en-US" sz="900" err="1">
                          <a:effectLst/>
                          <a:latin typeface="Raleway"/>
                        </a:rPr>
                        <a:t>kandidat</a:t>
                      </a:r>
                      <a:r>
                        <a:rPr lang="en-US" sz="900">
                          <a:effectLst/>
                          <a:latin typeface="Raleway"/>
                        </a:rPr>
                        <a:t> </a:t>
                      </a:r>
                      <a:r>
                        <a:rPr lang="en-US" sz="900" err="1">
                          <a:effectLst/>
                          <a:latin typeface="Raleway"/>
                        </a:rPr>
                        <a:t>a.n</a:t>
                      </a:r>
                      <a:r>
                        <a:rPr lang="en-US" sz="900">
                          <a:effectLst/>
                          <a:latin typeface="Raleway"/>
                        </a:rPr>
                        <a:t> Dhanu </a:t>
                      </a:r>
                      <a:r>
                        <a:rPr lang="en-US" sz="900" err="1">
                          <a:effectLst/>
                          <a:latin typeface="Raleway"/>
                        </a:rPr>
                        <a:t>Cipto</a:t>
                      </a:r>
                      <a:r>
                        <a:rPr lang="en-US" sz="900">
                          <a:effectLst/>
                          <a:latin typeface="Raleway"/>
                        </a:rPr>
                        <a:t> </a:t>
                      </a:r>
                      <a:r>
                        <a:rPr lang="en-US" sz="900" err="1">
                          <a:effectLst/>
                          <a:latin typeface="Raleway"/>
                        </a:rPr>
                        <a:t>tanggal</a:t>
                      </a:r>
                      <a:r>
                        <a:rPr lang="en-US" sz="900">
                          <a:effectLst/>
                          <a:latin typeface="Raleway"/>
                        </a:rPr>
                        <a:t> 13 Agustus 2026</a:t>
                      </a:r>
                      <a:br>
                        <a:rPr lang="en-US" sz="900">
                          <a:effectLst/>
                          <a:latin typeface="Raleway"/>
                        </a:rPr>
                      </a:br>
                      <a:r>
                        <a:rPr lang="en-US" sz="900">
                          <a:effectLst/>
                          <a:latin typeface="Raleway"/>
                        </a:rPr>
                        <a:t>Interview </a:t>
                      </a:r>
                      <a:r>
                        <a:rPr lang="en-US" sz="900" err="1">
                          <a:effectLst/>
                          <a:latin typeface="Raleway"/>
                        </a:rPr>
                        <a:t>dengan</a:t>
                      </a:r>
                      <a:r>
                        <a:rPr lang="en-US" sz="900">
                          <a:effectLst/>
                          <a:latin typeface="Raleway"/>
                        </a:rPr>
                        <a:t> pak Bayu 1 </a:t>
                      </a:r>
                      <a:r>
                        <a:rPr lang="en-US" sz="900" err="1">
                          <a:effectLst/>
                          <a:latin typeface="Raleway"/>
                        </a:rPr>
                        <a:t>kandidat</a:t>
                      </a:r>
                      <a:r>
                        <a:rPr lang="en-US" sz="900">
                          <a:effectLst/>
                          <a:latin typeface="Raleway"/>
                        </a:rPr>
                        <a:t> internal </a:t>
                      </a:r>
                      <a:r>
                        <a:rPr lang="en-US" sz="900" err="1">
                          <a:effectLst/>
                          <a:latin typeface="Raleway"/>
                        </a:rPr>
                        <a:t>a.n</a:t>
                      </a:r>
                      <a:r>
                        <a:rPr lang="en-US" sz="900">
                          <a:effectLst/>
                          <a:latin typeface="Raleway"/>
                        </a:rPr>
                        <a:t> Wahyu Aji </a:t>
                      </a:r>
                      <a:r>
                        <a:rPr lang="en-US" sz="900" err="1">
                          <a:effectLst/>
                          <a:latin typeface="Raleway"/>
                        </a:rPr>
                        <a:t>tanggal</a:t>
                      </a:r>
                      <a:r>
                        <a:rPr lang="en-US" sz="900">
                          <a:effectLst/>
                          <a:latin typeface="Raleway"/>
                        </a:rPr>
                        <a:t> 13 Agustus 2026</a:t>
                      </a:r>
                      <a:br>
                        <a:rPr lang="en-US" sz="900">
                          <a:effectLst/>
                          <a:latin typeface="Raleway"/>
                        </a:rPr>
                      </a:br>
                      <a:r>
                        <a:rPr lang="en-US" sz="900">
                          <a:effectLst/>
                          <a:latin typeface="Raleway"/>
                        </a:rPr>
                        <a:t>Next Action:</a:t>
                      </a:r>
                      <a:br>
                        <a:rPr lang="en-US" sz="900">
                          <a:effectLst/>
                          <a:latin typeface="Raleway"/>
                        </a:rPr>
                      </a:br>
                      <a:r>
                        <a:rPr lang="en-US" sz="900">
                          <a:effectLst/>
                          <a:latin typeface="Raleway"/>
                        </a:rPr>
                        <a:t>Kirim </a:t>
                      </a:r>
                      <a:r>
                        <a:rPr lang="en-US" sz="900" err="1">
                          <a:effectLst/>
                          <a:latin typeface="Raleway"/>
                        </a:rPr>
                        <a:t>psikotest</a:t>
                      </a:r>
                      <a:r>
                        <a:rPr lang="en-US" sz="900">
                          <a:effectLst/>
                          <a:latin typeface="Raleway"/>
                        </a:rPr>
                        <a:t> </a:t>
                      </a:r>
                      <a:r>
                        <a:rPr lang="en-US" sz="900" err="1">
                          <a:effectLst/>
                          <a:latin typeface="Raleway"/>
                        </a:rPr>
                        <a:t>tanggal</a:t>
                      </a:r>
                      <a:r>
                        <a:rPr lang="en-US" sz="900">
                          <a:effectLst/>
                          <a:latin typeface="Raleway"/>
                        </a:rPr>
                        <a:t> 18 Agustus 2026 – Week 34</a:t>
                      </a:r>
                      <a:br>
                        <a:rPr lang="en-US" sz="900">
                          <a:effectLst/>
                          <a:latin typeface="Raleway"/>
                        </a:rPr>
                      </a:br>
                      <a:r>
                        <a:rPr lang="en-US" sz="900">
                          <a:effectLst/>
                          <a:latin typeface="Raleway"/>
                        </a:rPr>
                        <a:t>Interview </a:t>
                      </a:r>
                      <a:r>
                        <a:rPr lang="en-US" sz="900" err="1">
                          <a:effectLst/>
                          <a:latin typeface="Raleway"/>
                        </a:rPr>
                        <a:t>dengan</a:t>
                      </a:r>
                      <a:r>
                        <a:rPr lang="en-US" sz="900">
                          <a:effectLst/>
                          <a:latin typeface="Raleway"/>
                        </a:rPr>
                        <a:t> pak Bayu 1 </a:t>
                      </a:r>
                      <a:r>
                        <a:rPr lang="en-US" sz="900" err="1">
                          <a:effectLst/>
                          <a:latin typeface="Raleway"/>
                        </a:rPr>
                        <a:t>kandidat</a:t>
                      </a:r>
                      <a:r>
                        <a:rPr lang="en-US" sz="900">
                          <a:effectLst/>
                          <a:latin typeface="Raleway"/>
                        </a:rPr>
                        <a:t> </a:t>
                      </a:r>
                      <a:r>
                        <a:rPr lang="en-US" sz="900" err="1">
                          <a:effectLst/>
                          <a:latin typeface="Raleway"/>
                        </a:rPr>
                        <a:t>a.n</a:t>
                      </a:r>
                      <a:r>
                        <a:rPr lang="en-US" sz="900">
                          <a:effectLst/>
                          <a:latin typeface="Raleway"/>
                        </a:rPr>
                        <a:t> Dhanu </a:t>
                      </a:r>
                      <a:r>
                        <a:rPr lang="en-US" sz="900" err="1">
                          <a:effectLst/>
                          <a:latin typeface="Raleway"/>
                        </a:rPr>
                        <a:t>Cipto</a:t>
                      </a:r>
                      <a:r>
                        <a:rPr lang="en-US" sz="900">
                          <a:effectLst/>
                          <a:latin typeface="Raleway"/>
                        </a:rPr>
                        <a:t>  </a:t>
                      </a:r>
                      <a:r>
                        <a:rPr lang="en-US" sz="900" err="1">
                          <a:effectLst/>
                          <a:latin typeface="Raleway"/>
                        </a:rPr>
                        <a:t>tanggal</a:t>
                      </a:r>
                      <a:r>
                        <a:rPr lang="en-US" sz="900">
                          <a:effectLst/>
                          <a:latin typeface="Raleway"/>
                        </a:rPr>
                        <a:t> 20 Agustus 2026 –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3020698597"/>
                  </a:ext>
                </a:extLst>
              </a:tr>
              <a:tr h="1296372">
                <a:tc>
                  <a:txBody>
                    <a:bodyPr/>
                    <a:lstStyle/>
                    <a:p>
                      <a:pPr algn="ctr">
                        <a:buNone/>
                      </a:pPr>
                      <a:r>
                        <a:rPr lang="en-US" sz="900">
                          <a:effectLst/>
                          <a:latin typeface="Raleway"/>
                        </a:rPr>
                        <a:t>06-Oct-26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Production Supervisor</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07-Oct-26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Wahyu</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Sourcing 10 CV </a:t>
                      </a:r>
                      <a:r>
                        <a:rPr lang="en-US" sz="900" err="1">
                          <a:effectLst/>
                          <a:latin typeface="Raleway"/>
                        </a:rPr>
                        <a:t>tanggal</a:t>
                      </a:r>
                      <a:r>
                        <a:rPr lang="en-US" sz="900">
                          <a:effectLst/>
                          <a:latin typeface="Raleway"/>
                        </a:rPr>
                        <a:t> 14 Agustus 2026 dan send CV </a:t>
                      </a:r>
                      <a:r>
                        <a:rPr lang="en-US" sz="900" err="1">
                          <a:effectLst/>
                          <a:latin typeface="Raleway"/>
                        </a:rPr>
                        <a:t>ke</a:t>
                      </a:r>
                      <a:r>
                        <a:rPr lang="en-US" sz="900">
                          <a:effectLst/>
                          <a:latin typeface="Raleway"/>
                        </a:rPr>
                        <a:t> user </a:t>
                      </a:r>
                      <a:br>
                        <a:rPr lang="en-US" sz="900">
                          <a:effectLst/>
                          <a:latin typeface="Raleway"/>
                        </a:rPr>
                      </a:br>
                      <a:r>
                        <a:rPr lang="en-US" sz="900">
                          <a:effectLst/>
                          <a:latin typeface="Raleway"/>
                        </a:rPr>
                        <a:t>Follow Up </a:t>
                      </a:r>
                      <a:r>
                        <a:rPr lang="en-US" sz="900" err="1">
                          <a:effectLst/>
                          <a:latin typeface="Raleway"/>
                        </a:rPr>
                        <a:t>jadwal</a:t>
                      </a:r>
                      <a:r>
                        <a:rPr lang="en-US" sz="900">
                          <a:effectLst/>
                          <a:latin typeface="Raleway"/>
                        </a:rPr>
                        <a:t> interview </a:t>
                      </a:r>
                      <a:r>
                        <a:rPr lang="en-US" sz="900" err="1">
                          <a:effectLst/>
                          <a:latin typeface="Raleway"/>
                        </a:rPr>
                        <a:t>dengan</a:t>
                      </a:r>
                      <a:r>
                        <a:rPr lang="en-US" sz="900">
                          <a:effectLst/>
                          <a:latin typeface="Raleway"/>
                        </a:rPr>
                        <a:t> pak Bayu  1 </a:t>
                      </a:r>
                      <a:r>
                        <a:rPr lang="en-US" sz="900" err="1">
                          <a:effectLst/>
                          <a:latin typeface="Raleway"/>
                        </a:rPr>
                        <a:t>kandidat</a:t>
                      </a:r>
                      <a:r>
                        <a:rPr lang="en-US" sz="900">
                          <a:effectLst/>
                          <a:latin typeface="Raleway"/>
                        </a:rPr>
                        <a:t> </a:t>
                      </a:r>
                      <a:r>
                        <a:rPr lang="en-US" sz="900" err="1">
                          <a:effectLst/>
                          <a:latin typeface="Raleway"/>
                        </a:rPr>
                        <a:t>a.n</a:t>
                      </a:r>
                      <a:r>
                        <a:rPr lang="en-US" sz="900">
                          <a:effectLst/>
                          <a:latin typeface="Raleway"/>
                        </a:rPr>
                        <a:t> Dhanu </a:t>
                      </a:r>
                      <a:r>
                        <a:rPr lang="en-US" sz="900" err="1">
                          <a:effectLst/>
                          <a:latin typeface="Raleway"/>
                        </a:rPr>
                        <a:t>Cipto</a:t>
                      </a:r>
                      <a:r>
                        <a:rPr lang="en-US" sz="900">
                          <a:effectLst/>
                          <a:latin typeface="Raleway"/>
                        </a:rPr>
                        <a:t> </a:t>
                      </a:r>
                      <a:r>
                        <a:rPr lang="en-US" sz="900" err="1">
                          <a:effectLst/>
                          <a:latin typeface="Raleway"/>
                        </a:rPr>
                        <a:t>tanggal</a:t>
                      </a:r>
                      <a:r>
                        <a:rPr lang="en-US" sz="900">
                          <a:effectLst/>
                          <a:latin typeface="Raleway"/>
                        </a:rPr>
                        <a:t> 13 Agustus 2026</a:t>
                      </a:r>
                      <a:br>
                        <a:rPr lang="en-US" sz="900">
                          <a:effectLst/>
                          <a:latin typeface="Raleway"/>
                        </a:rPr>
                      </a:br>
                      <a:r>
                        <a:rPr lang="en-US" sz="900">
                          <a:effectLst/>
                          <a:latin typeface="Raleway"/>
                        </a:rPr>
                        <a:t>Interview </a:t>
                      </a:r>
                      <a:r>
                        <a:rPr lang="en-US" sz="900" err="1">
                          <a:effectLst/>
                          <a:latin typeface="Raleway"/>
                        </a:rPr>
                        <a:t>dengan</a:t>
                      </a:r>
                      <a:r>
                        <a:rPr lang="en-US" sz="900">
                          <a:effectLst/>
                          <a:latin typeface="Raleway"/>
                        </a:rPr>
                        <a:t> pak Bayu 1 </a:t>
                      </a:r>
                      <a:r>
                        <a:rPr lang="en-US" sz="900" err="1">
                          <a:effectLst/>
                          <a:latin typeface="Raleway"/>
                        </a:rPr>
                        <a:t>kandidat</a:t>
                      </a:r>
                      <a:r>
                        <a:rPr lang="en-US" sz="900">
                          <a:effectLst/>
                          <a:latin typeface="Raleway"/>
                        </a:rPr>
                        <a:t> internal </a:t>
                      </a:r>
                      <a:r>
                        <a:rPr lang="en-US" sz="900" err="1">
                          <a:effectLst/>
                          <a:latin typeface="Raleway"/>
                        </a:rPr>
                        <a:t>a.n</a:t>
                      </a:r>
                      <a:r>
                        <a:rPr lang="en-US" sz="900">
                          <a:effectLst/>
                          <a:latin typeface="Raleway"/>
                        </a:rPr>
                        <a:t> Wahyu Aji </a:t>
                      </a:r>
                      <a:r>
                        <a:rPr lang="en-US" sz="900" err="1">
                          <a:effectLst/>
                          <a:latin typeface="Raleway"/>
                        </a:rPr>
                        <a:t>tanggal</a:t>
                      </a:r>
                      <a:r>
                        <a:rPr lang="en-US" sz="900">
                          <a:effectLst/>
                          <a:latin typeface="Raleway"/>
                        </a:rPr>
                        <a:t> 13 Agustus 2026</a:t>
                      </a:r>
                      <a:br>
                        <a:rPr lang="en-US" sz="900">
                          <a:effectLst/>
                          <a:latin typeface="Raleway"/>
                        </a:rPr>
                      </a:br>
                      <a:r>
                        <a:rPr lang="en-US" sz="900">
                          <a:effectLst/>
                          <a:latin typeface="Raleway"/>
                        </a:rPr>
                        <a:t>Next Action:</a:t>
                      </a:r>
                      <a:br>
                        <a:rPr lang="en-US" sz="900">
                          <a:effectLst/>
                          <a:latin typeface="Raleway"/>
                        </a:rPr>
                      </a:br>
                      <a:r>
                        <a:rPr lang="en-US" sz="900">
                          <a:effectLst/>
                          <a:latin typeface="Raleway"/>
                        </a:rPr>
                        <a:t>Kirim </a:t>
                      </a:r>
                      <a:r>
                        <a:rPr lang="en-US" sz="900" err="1">
                          <a:effectLst/>
                          <a:latin typeface="Raleway"/>
                        </a:rPr>
                        <a:t>psikotest</a:t>
                      </a:r>
                      <a:r>
                        <a:rPr lang="en-US" sz="900">
                          <a:effectLst/>
                          <a:latin typeface="Raleway"/>
                        </a:rPr>
                        <a:t> </a:t>
                      </a:r>
                      <a:r>
                        <a:rPr lang="en-US" sz="900" err="1">
                          <a:effectLst/>
                          <a:latin typeface="Raleway"/>
                        </a:rPr>
                        <a:t>tanggal</a:t>
                      </a:r>
                      <a:r>
                        <a:rPr lang="en-US" sz="900">
                          <a:effectLst/>
                          <a:latin typeface="Raleway"/>
                        </a:rPr>
                        <a:t> 18 Agustus 2026 – Week 34</a:t>
                      </a:r>
                      <a:br>
                        <a:rPr lang="en-US" sz="900">
                          <a:effectLst/>
                          <a:latin typeface="Raleway"/>
                        </a:rPr>
                      </a:br>
                      <a:r>
                        <a:rPr lang="en-US" sz="900">
                          <a:effectLst/>
                          <a:latin typeface="Raleway"/>
                        </a:rPr>
                        <a:t>Interview </a:t>
                      </a:r>
                      <a:r>
                        <a:rPr lang="en-US" sz="900" err="1">
                          <a:effectLst/>
                          <a:latin typeface="Raleway"/>
                        </a:rPr>
                        <a:t>dengan</a:t>
                      </a:r>
                      <a:r>
                        <a:rPr lang="en-US" sz="900">
                          <a:effectLst/>
                          <a:latin typeface="Raleway"/>
                        </a:rPr>
                        <a:t> pak Bayu 1 </a:t>
                      </a:r>
                      <a:r>
                        <a:rPr lang="en-US" sz="900" err="1">
                          <a:effectLst/>
                          <a:latin typeface="Raleway"/>
                        </a:rPr>
                        <a:t>kandidat</a:t>
                      </a:r>
                      <a:r>
                        <a:rPr lang="en-US" sz="900">
                          <a:effectLst/>
                          <a:latin typeface="Raleway"/>
                        </a:rPr>
                        <a:t> </a:t>
                      </a:r>
                      <a:r>
                        <a:rPr lang="en-US" sz="900" err="1">
                          <a:effectLst/>
                          <a:latin typeface="Raleway"/>
                        </a:rPr>
                        <a:t>a.n</a:t>
                      </a:r>
                      <a:r>
                        <a:rPr lang="en-US" sz="900">
                          <a:effectLst/>
                          <a:latin typeface="Raleway"/>
                        </a:rPr>
                        <a:t> Dhanu </a:t>
                      </a:r>
                      <a:r>
                        <a:rPr lang="en-US" sz="900" err="1">
                          <a:effectLst/>
                          <a:latin typeface="Raleway"/>
                        </a:rPr>
                        <a:t>Cipto</a:t>
                      </a:r>
                      <a:r>
                        <a:rPr lang="en-US" sz="900">
                          <a:effectLst/>
                          <a:latin typeface="Raleway"/>
                        </a:rPr>
                        <a:t>  </a:t>
                      </a:r>
                      <a:r>
                        <a:rPr lang="en-US" sz="900" err="1">
                          <a:effectLst/>
                          <a:latin typeface="Raleway"/>
                        </a:rPr>
                        <a:t>tanggal</a:t>
                      </a:r>
                      <a:r>
                        <a:rPr lang="en-US" sz="900">
                          <a:effectLst/>
                          <a:latin typeface="Raleway"/>
                        </a:rPr>
                        <a:t> 20 Agustus 2026 –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817053908"/>
                  </a:ext>
                </a:extLst>
              </a:tr>
              <a:tr h="890760">
                <a:tc>
                  <a:txBody>
                    <a:bodyPr/>
                    <a:lstStyle/>
                    <a:p>
                      <a:pPr algn="ctr">
                        <a:buNone/>
                      </a:pPr>
                      <a:r>
                        <a:rPr lang="en-US" sz="900">
                          <a:effectLst/>
                          <a:latin typeface="Raleway"/>
                        </a:rPr>
                        <a:t>19-Jun-26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Production Supervisor</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19-Jul-26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Wahyu</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Sourcing 10 CV </a:t>
                      </a:r>
                      <a:r>
                        <a:rPr lang="en-US" sz="900" err="1">
                          <a:effectLst/>
                          <a:latin typeface="Raleway"/>
                        </a:rPr>
                        <a:t>tanggal</a:t>
                      </a:r>
                      <a:r>
                        <a:rPr lang="en-US" sz="900">
                          <a:effectLst/>
                          <a:latin typeface="Raleway"/>
                        </a:rPr>
                        <a:t> 14 Agustus 2026 dan send CV </a:t>
                      </a:r>
                      <a:r>
                        <a:rPr lang="en-US" sz="900" err="1">
                          <a:effectLst/>
                          <a:latin typeface="Raleway"/>
                        </a:rPr>
                        <a:t>ke</a:t>
                      </a:r>
                      <a:r>
                        <a:rPr lang="en-US" sz="900">
                          <a:effectLst/>
                          <a:latin typeface="Raleway"/>
                        </a:rPr>
                        <a:t> user </a:t>
                      </a:r>
                      <a:br>
                        <a:rPr lang="en-US" sz="900">
                          <a:effectLst/>
                          <a:latin typeface="Raleway"/>
                        </a:rPr>
                      </a:br>
                      <a:r>
                        <a:rPr lang="en-US" sz="900">
                          <a:effectLst/>
                          <a:latin typeface="Raleway"/>
                        </a:rPr>
                        <a:t>Follow up </a:t>
                      </a:r>
                      <a:r>
                        <a:rPr lang="en-US" sz="900" err="1">
                          <a:effectLst/>
                          <a:latin typeface="Raleway"/>
                        </a:rPr>
                        <a:t>jadwal</a:t>
                      </a:r>
                      <a:r>
                        <a:rPr lang="en-US" sz="900">
                          <a:effectLst/>
                          <a:latin typeface="Raleway"/>
                        </a:rPr>
                        <a:t> interview user 2 </a:t>
                      </a:r>
                      <a:r>
                        <a:rPr lang="en-US" sz="900" err="1">
                          <a:effectLst/>
                          <a:latin typeface="Raleway"/>
                        </a:rPr>
                        <a:t>kandidat</a:t>
                      </a:r>
                      <a:r>
                        <a:rPr lang="en-US" sz="900">
                          <a:effectLst/>
                          <a:latin typeface="Raleway"/>
                        </a:rPr>
                        <a:t> </a:t>
                      </a:r>
                      <a:r>
                        <a:rPr lang="en-US" sz="900" err="1">
                          <a:effectLst/>
                          <a:latin typeface="Raleway"/>
                        </a:rPr>
                        <a:t>a.n</a:t>
                      </a:r>
                      <a:r>
                        <a:rPr lang="en-US" sz="900">
                          <a:effectLst/>
                          <a:latin typeface="Raleway"/>
                        </a:rPr>
                        <a:t> Peter dan Dedi </a:t>
                      </a:r>
                      <a:r>
                        <a:rPr lang="en-US" sz="900" err="1">
                          <a:effectLst/>
                          <a:latin typeface="Raleway"/>
                        </a:rPr>
                        <a:t>tanggal</a:t>
                      </a:r>
                      <a:r>
                        <a:rPr lang="en-US" sz="900">
                          <a:effectLst/>
                          <a:latin typeface="Raleway"/>
                        </a:rPr>
                        <a:t> 14 Agustus 2026</a:t>
                      </a:r>
                      <a:br>
                        <a:rPr lang="en-US" sz="900">
                          <a:effectLst/>
                          <a:latin typeface="Raleway"/>
                        </a:rPr>
                      </a:br>
                      <a:r>
                        <a:rPr lang="en-US" sz="900">
                          <a:effectLst/>
                          <a:latin typeface="Raleway"/>
                        </a:rPr>
                        <a:t>Next Action:</a:t>
                      </a:r>
                      <a:br>
                        <a:rPr lang="en-US" sz="900">
                          <a:effectLst/>
                          <a:latin typeface="Raleway"/>
                        </a:rPr>
                      </a:br>
                      <a:r>
                        <a:rPr lang="en-US" sz="900">
                          <a:effectLst/>
                          <a:latin typeface="Raleway"/>
                        </a:rPr>
                        <a:t>Kirim </a:t>
                      </a:r>
                      <a:r>
                        <a:rPr lang="en-US" sz="900" err="1">
                          <a:effectLst/>
                          <a:latin typeface="Raleway"/>
                        </a:rPr>
                        <a:t>psikotest</a:t>
                      </a:r>
                      <a:r>
                        <a:rPr lang="en-US" sz="900">
                          <a:effectLst/>
                          <a:latin typeface="Raleway"/>
                        </a:rPr>
                        <a:t> </a:t>
                      </a:r>
                      <a:r>
                        <a:rPr lang="en-US" sz="900" err="1">
                          <a:effectLst/>
                          <a:latin typeface="Raleway"/>
                        </a:rPr>
                        <a:t>tanggal</a:t>
                      </a:r>
                      <a:r>
                        <a:rPr lang="en-US" sz="900">
                          <a:effectLst/>
                          <a:latin typeface="Raleway"/>
                        </a:rPr>
                        <a:t> 18 Agustus 2026 – Week 34</a:t>
                      </a:r>
                      <a:br>
                        <a:rPr lang="en-US" sz="900">
                          <a:effectLst/>
                          <a:latin typeface="Raleway"/>
                        </a:rPr>
                      </a:br>
                      <a:r>
                        <a:rPr lang="en-US" sz="900" err="1">
                          <a:effectLst/>
                          <a:latin typeface="Raleway"/>
                        </a:rPr>
                        <a:t>Menjadwalkan</a:t>
                      </a:r>
                      <a:r>
                        <a:rPr lang="en-US" sz="900">
                          <a:effectLst/>
                          <a:latin typeface="Raleway"/>
                        </a:rPr>
                        <a:t> Interview user </a:t>
                      </a:r>
                      <a:r>
                        <a:rPr lang="en-US" sz="900" err="1">
                          <a:effectLst/>
                          <a:latin typeface="Raleway"/>
                        </a:rPr>
                        <a:t>tanggal</a:t>
                      </a:r>
                      <a:r>
                        <a:rPr lang="en-US" sz="900">
                          <a:effectLst/>
                          <a:latin typeface="Raleway"/>
                        </a:rPr>
                        <a:t> 18 Agustus  2026 –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3210683683"/>
                  </a:ext>
                </a:extLst>
              </a:tr>
              <a:tr h="755557">
                <a:tc>
                  <a:txBody>
                    <a:bodyPr/>
                    <a:lstStyle/>
                    <a:p>
                      <a:pPr algn="ctr">
                        <a:buNone/>
                      </a:pPr>
                      <a:r>
                        <a:rPr lang="en-US" sz="900">
                          <a:effectLst/>
                          <a:latin typeface="Raleway"/>
                        </a:rPr>
                        <a:t>10-Jul-26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Maintenance Supervisor Instrument Engineer</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08-Sep-26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Wahyu</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Sourcing 10 CV </a:t>
                      </a:r>
                      <a:r>
                        <a:rPr lang="en-US" sz="900" err="1">
                          <a:effectLst/>
                          <a:latin typeface="Raleway"/>
                        </a:rPr>
                        <a:t>tanggal</a:t>
                      </a:r>
                      <a:r>
                        <a:rPr lang="en-US" sz="900">
                          <a:effectLst/>
                          <a:latin typeface="Raleway"/>
                        </a:rPr>
                        <a:t> 14 Agustus 2026 dan send CV </a:t>
                      </a:r>
                      <a:r>
                        <a:rPr lang="en-US" sz="900" err="1">
                          <a:effectLst/>
                          <a:latin typeface="Raleway"/>
                        </a:rPr>
                        <a:t>ke</a:t>
                      </a:r>
                      <a:r>
                        <a:rPr lang="en-US" sz="900">
                          <a:effectLst/>
                          <a:latin typeface="Raleway"/>
                        </a:rPr>
                        <a:t> user </a:t>
                      </a:r>
                      <a:br>
                        <a:rPr lang="en-US" sz="900">
                          <a:effectLst/>
                          <a:latin typeface="Raleway"/>
                        </a:rPr>
                      </a:br>
                      <a:r>
                        <a:rPr lang="en-US" sz="900">
                          <a:effectLst/>
                          <a:latin typeface="Raleway"/>
                        </a:rPr>
                        <a:t>Interview user 4 </a:t>
                      </a:r>
                      <a:r>
                        <a:rPr lang="en-US" sz="900" err="1">
                          <a:effectLst/>
                          <a:latin typeface="Raleway"/>
                        </a:rPr>
                        <a:t>kandidat</a:t>
                      </a:r>
                      <a:r>
                        <a:rPr lang="en-US" sz="900">
                          <a:effectLst/>
                          <a:latin typeface="Raleway"/>
                        </a:rPr>
                        <a:t> </a:t>
                      </a:r>
                      <a:r>
                        <a:rPr lang="en-US" sz="900" err="1">
                          <a:effectLst/>
                          <a:latin typeface="Raleway"/>
                        </a:rPr>
                        <a:t>a.n</a:t>
                      </a:r>
                      <a:r>
                        <a:rPr lang="en-US" sz="900">
                          <a:effectLst/>
                          <a:latin typeface="Raleway"/>
                        </a:rPr>
                        <a:t> Elok, </a:t>
                      </a:r>
                      <a:r>
                        <a:rPr lang="en-US" sz="900" err="1">
                          <a:effectLst/>
                          <a:latin typeface="Raleway"/>
                        </a:rPr>
                        <a:t>Tsabitah</a:t>
                      </a:r>
                      <a:r>
                        <a:rPr lang="en-US" sz="900">
                          <a:effectLst/>
                          <a:latin typeface="Raleway"/>
                        </a:rPr>
                        <a:t>, Ulya, Rosalia – Week 33</a:t>
                      </a:r>
                      <a:br>
                        <a:rPr lang="en-US" sz="900">
                          <a:effectLst/>
                          <a:latin typeface="Raleway"/>
                        </a:rPr>
                      </a:br>
                      <a:r>
                        <a:rPr lang="en-US" sz="900">
                          <a:effectLst/>
                          <a:latin typeface="Raleway"/>
                        </a:rPr>
                        <a:t>Next Action:</a:t>
                      </a:r>
                      <a:br>
                        <a:rPr lang="en-US" sz="900">
                          <a:effectLst/>
                          <a:latin typeface="Raleway"/>
                        </a:rPr>
                      </a:br>
                      <a:r>
                        <a:rPr lang="en-US" sz="900">
                          <a:effectLst/>
                          <a:latin typeface="Raleway"/>
                        </a:rPr>
                        <a:t>Kirim </a:t>
                      </a:r>
                      <a:r>
                        <a:rPr lang="en-US" sz="900" err="1">
                          <a:effectLst/>
                          <a:latin typeface="Raleway"/>
                        </a:rPr>
                        <a:t>psikotest</a:t>
                      </a:r>
                      <a:r>
                        <a:rPr lang="en-US" sz="900">
                          <a:effectLst/>
                          <a:latin typeface="Raleway"/>
                        </a:rPr>
                        <a:t> </a:t>
                      </a:r>
                      <a:r>
                        <a:rPr lang="en-US" sz="900" err="1">
                          <a:effectLst/>
                          <a:latin typeface="Raleway"/>
                        </a:rPr>
                        <a:t>tanggal</a:t>
                      </a:r>
                      <a:r>
                        <a:rPr lang="en-US" sz="900">
                          <a:effectLst/>
                          <a:latin typeface="Raleway"/>
                        </a:rPr>
                        <a:t> 18 Agustus 2026 – Week 34</a:t>
                      </a:r>
                      <a:br>
                        <a:rPr lang="en-US" sz="900">
                          <a:effectLst/>
                          <a:latin typeface="Raleway"/>
                        </a:rPr>
                      </a:br>
                      <a:r>
                        <a:rPr lang="en-US" sz="900">
                          <a:effectLst/>
                          <a:latin typeface="Raleway"/>
                        </a:rPr>
                        <a:t>Kirim </a:t>
                      </a:r>
                      <a:r>
                        <a:rPr lang="en-US" sz="900" err="1">
                          <a:effectLst/>
                          <a:latin typeface="Raleway"/>
                        </a:rPr>
                        <a:t>hasil</a:t>
                      </a:r>
                      <a:r>
                        <a:rPr lang="en-US" sz="900">
                          <a:effectLst/>
                          <a:latin typeface="Raleway"/>
                        </a:rPr>
                        <a:t> Interview user 1 </a:t>
                      </a:r>
                      <a:r>
                        <a:rPr lang="en-US" sz="900" err="1">
                          <a:effectLst/>
                          <a:latin typeface="Raleway"/>
                        </a:rPr>
                        <a:t>ke</a:t>
                      </a:r>
                      <a:r>
                        <a:rPr lang="en-US" sz="900">
                          <a:effectLst/>
                          <a:latin typeface="Raleway"/>
                        </a:rPr>
                        <a:t> user 2 </a:t>
                      </a:r>
                      <a:r>
                        <a:rPr lang="en-US" sz="900" err="1">
                          <a:effectLst/>
                          <a:latin typeface="Raleway"/>
                        </a:rPr>
                        <a:t>tanggal</a:t>
                      </a:r>
                      <a:r>
                        <a:rPr lang="en-US" sz="900">
                          <a:effectLst/>
                          <a:latin typeface="Raleway"/>
                        </a:rPr>
                        <a:t> 18 Agustus 2026 -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3674889888"/>
                  </a:ext>
                </a:extLst>
              </a:tr>
              <a:tr h="620352">
                <a:tc>
                  <a:txBody>
                    <a:bodyPr/>
                    <a:lstStyle/>
                    <a:p>
                      <a:pPr algn="ctr">
                        <a:buNone/>
                      </a:pPr>
                      <a:r>
                        <a:rPr lang="en-US" sz="900">
                          <a:effectLst/>
                          <a:latin typeface="Raleway"/>
                        </a:rPr>
                        <a:t>26-Jun-26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Area Sales Supervisor - </a:t>
                      </a:r>
                      <a:r>
                        <a:rPr lang="en-US" sz="900" err="1">
                          <a:effectLst/>
                          <a:latin typeface="Raleway"/>
                        </a:rPr>
                        <a:t>Pekanbaru</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26-07-2026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Kevin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Progress:</a:t>
                      </a:r>
                      <a:br>
                        <a:rPr lang="en-US" sz="900">
                          <a:effectLst/>
                          <a:latin typeface="Raleway"/>
                        </a:rPr>
                      </a:br>
                      <a:r>
                        <a:rPr lang="en-US" sz="900">
                          <a:effectLst/>
                          <a:latin typeface="Raleway"/>
                        </a:rPr>
                        <a:t>1. Sourcing 15 CV Ke dan send CV Ke user</a:t>
                      </a:r>
                      <a:br>
                        <a:rPr lang="en-US" sz="900">
                          <a:effectLst/>
                          <a:latin typeface="Raleway"/>
                        </a:rPr>
                      </a:br>
                      <a:r>
                        <a:rPr lang="en-US" sz="900">
                          <a:effectLst/>
                          <a:latin typeface="Raleway"/>
                        </a:rPr>
                        <a:t>Next Action:</a:t>
                      </a:r>
                      <a:br>
                        <a:rPr lang="en-US" sz="900">
                          <a:effectLst/>
                          <a:latin typeface="Raleway"/>
                        </a:rPr>
                      </a:br>
                      <a:r>
                        <a:rPr lang="en-US" sz="900">
                          <a:effectLst/>
                          <a:latin typeface="Raleway"/>
                        </a:rPr>
                        <a:t>1. Interview &amp; </a:t>
                      </a:r>
                      <a:r>
                        <a:rPr lang="en-US" sz="900" err="1">
                          <a:effectLst/>
                          <a:latin typeface="Raleway"/>
                        </a:rPr>
                        <a:t>Psikotes</a:t>
                      </a:r>
                      <a:r>
                        <a:rPr lang="en-US" sz="900">
                          <a:effectLst/>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4059954723"/>
                  </a:ext>
                </a:extLst>
              </a:tr>
            </a:tbl>
          </a:graphicData>
        </a:graphic>
      </p:graphicFrame>
      <p:sp>
        <p:nvSpPr>
          <p:cNvPr id="7" name="TextBox 7">
            <a:extLst>
              <a:ext uri="{FF2B5EF4-FFF2-40B4-BE49-F238E27FC236}">
                <a16:creationId xmlns:a16="http://schemas.microsoft.com/office/drawing/2014/main" id="{9A4B55C8-C3A1-D191-1909-68E229657F99}"/>
              </a:ext>
            </a:extLst>
          </p:cNvPr>
          <p:cNvSpPr txBox="1"/>
          <p:nvPr/>
        </p:nvSpPr>
        <p:spPr>
          <a:xfrm>
            <a:off x="89575" y="6408147"/>
            <a:ext cx="10972800" cy="261610"/>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a:latin typeface="Raleway"/>
              </a:rPr>
              <a:t>* </a:t>
            </a:r>
            <a:r>
              <a:rPr lang="en-US" sz="1100" i="1">
                <a:latin typeface="Raleway"/>
              </a:rPr>
              <a:t>Update per </a:t>
            </a:r>
            <a:r>
              <a:rPr lang="en-US" sz="1100" i="1" err="1">
                <a:latin typeface="Raleway"/>
              </a:rPr>
              <a:t>tanggal</a:t>
            </a:r>
            <a:r>
              <a:rPr lang="en-US" sz="1100" i="1">
                <a:latin typeface="Raleway"/>
              </a:rPr>
              <a:t> 14 Agustus 2026</a:t>
            </a:r>
            <a:endParaRPr lang="en-US" sz="1100">
              <a:latin typeface="Raleway"/>
            </a:endParaRPr>
          </a:p>
        </p:txBody>
      </p:sp>
      <p:sp>
        <p:nvSpPr>
          <p:cNvPr id="9" name="Title 1">
            <a:extLst>
              <a:ext uri="{FF2B5EF4-FFF2-40B4-BE49-F238E27FC236}">
                <a16:creationId xmlns:a16="http://schemas.microsoft.com/office/drawing/2014/main" id="{A439FE3F-1C4F-1989-B2B3-E8403D49E1F3}"/>
              </a:ext>
            </a:extLst>
          </p:cNvPr>
          <p:cNvSpPr txBox="1">
            <a:spLocks/>
          </p:cNvSpPr>
          <p:nvPr/>
        </p:nvSpPr>
        <p:spPr>
          <a:xfrm>
            <a:off x="1532795" y="75197"/>
            <a:ext cx="8958197" cy="4799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2400" b="1">
                <a:latin typeface="Raleway" panose="020B0503030101060003"/>
              </a:rPr>
              <a:t>Recruitment Progress – Level 3</a:t>
            </a:r>
            <a:endParaRPr lang="en-US" sz="2400">
              <a:latin typeface="Raleway" panose="020B0503030101060003"/>
            </a:endParaRPr>
          </a:p>
        </p:txBody>
      </p:sp>
    </p:spTree>
    <p:extLst>
      <p:ext uri="{BB962C8B-B14F-4D97-AF65-F5344CB8AC3E}">
        <p14:creationId xmlns:p14="http://schemas.microsoft.com/office/powerpoint/2010/main" val="172262710"/>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B23DAF-B308-8F1B-015A-F6730B817BC8}"/>
            </a:ext>
          </a:extLst>
        </p:cNvPr>
        <p:cNvGrpSpPr/>
        <p:nvPr/>
      </p:nvGrpSpPr>
      <p:grpSpPr>
        <a:xfrm>
          <a:off x="0" y="0"/>
          <a:ext cx="0" cy="0"/>
          <a:chOff x="0" y="0"/>
          <a:chExt cx="0" cy="0"/>
        </a:xfrm>
      </p:grpSpPr>
      <p:graphicFrame>
        <p:nvGraphicFramePr>
          <p:cNvPr id="4" name="Table 3">
            <a:extLst>
              <a:ext uri="{FF2B5EF4-FFF2-40B4-BE49-F238E27FC236}">
                <a16:creationId xmlns:a16="http://schemas.microsoft.com/office/drawing/2014/main" id="{AC3FB931-0E34-9942-4B3F-AA0A4C51416B}"/>
              </a:ext>
            </a:extLst>
          </p:cNvPr>
          <p:cNvGraphicFramePr>
            <a:graphicFrameLocks noGrp="1"/>
          </p:cNvGraphicFramePr>
          <p:nvPr>
            <p:extLst>
              <p:ext uri="{D42A27DB-BD31-4B8C-83A1-F6EECF244321}">
                <p14:modId xmlns:p14="http://schemas.microsoft.com/office/powerpoint/2010/main" val="2865972341"/>
              </p:ext>
            </p:extLst>
          </p:nvPr>
        </p:nvGraphicFramePr>
        <p:xfrm>
          <a:off x="236483" y="1171811"/>
          <a:ext cx="11706339" cy="4510597"/>
        </p:xfrm>
        <a:graphic>
          <a:graphicData uri="http://schemas.openxmlformats.org/drawingml/2006/table">
            <a:tbl>
              <a:tblPr bandRow="1">
                <a:tableStyleId>{5C22544A-7EE6-4342-B048-85BDC9FD1C3A}</a:tableStyleId>
              </a:tblPr>
              <a:tblGrid>
                <a:gridCol w="550886">
                  <a:extLst>
                    <a:ext uri="{9D8B030D-6E8A-4147-A177-3AD203B41FA5}">
                      <a16:colId xmlns:a16="http://schemas.microsoft.com/office/drawing/2014/main" val="4134626851"/>
                    </a:ext>
                  </a:extLst>
                </a:gridCol>
                <a:gridCol w="2088779">
                  <a:extLst>
                    <a:ext uri="{9D8B030D-6E8A-4147-A177-3AD203B41FA5}">
                      <a16:colId xmlns:a16="http://schemas.microsoft.com/office/drawing/2014/main" val="3216869436"/>
                    </a:ext>
                  </a:extLst>
                </a:gridCol>
                <a:gridCol w="550886">
                  <a:extLst>
                    <a:ext uri="{9D8B030D-6E8A-4147-A177-3AD203B41FA5}">
                      <a16:colId xmlns:a16="http://schemas.microsoft.com/office/drawing/2014/main" val="825771089"/>
                    </a:ext>
                  </a:extLst>
                </a:gridCol>
                <a:gridCol w="987005">
                  <a:extLst>
                    <a:ext uri="{9D8B030D-6E8A-4147-A177-3AD203B41FA5}">
                      <a16:colId xmlns:a16="http://schemas.microsoft.com/office/drawing/2014/main" val="2847986852"/>
                    </a:ext>
                  </a:extLst>
                </a:gridCol>
                <a:gridCol w="734515">
                  <a:extLst>
                    <a:ext uri="{9D8B030D-6E8A-4147-A177-3AD203B41FA5}">
                      <a16:colId xmlns:a16="http://schemas.microsoft.com/office/drawing/2014/main" val="2288782021"/>
                    </a:ext>
                  </a:extLst>
                </a:gridCol>
                <a:gridCol w="585316">
                  <a:extLst>
                    <a:ext uri="{9D8B030D-6E8A-4147-A177-3AD203B41FA5}">
                      <a16:colId xmlns:a16="http://schemas.microsoft.com/office/drawing/2014/main" val="1324951167"/>
                    </a:ext>
                  </a:extLst>
                </a:gridCol>
                <a:gridCol w="941098">
                  <a:extLst>
                    <a:ext uri="{9D8B030D-6E8A-4147-A177-3AD203B41FA5}">
                      <a16:colId xmlns:a16="http://schemas.microsoft.com/office/drawing/2014/main" val="763391658"/>
                    </a:ext>
                  </a:extLst>
                </a:gridCol>
                <a:gridCol w="550886">
                  <a:extLst>
                    <a:ext uri="{9D8B030D-6E8A-4147-A177-3AD203B41FA5}">
                      <a16:colId xmlns:a16="http://schemas.microsoft.com/office/drawing/2014/main" val="1070058085"/>
                    </a:ext>
                  </a:extLst>
                </a:gridCol>
                <a:gridCol w="550886">
                  <a:extLst>
                    <a:ext uri="{9D8B030D-6E8A-4147-A177-3AD203B41FA5}">
                      <a16:colId xmlns:a16="http://schemas.microsoft.com/office/drawing/2014/main" val="2660186747"/>
                    </a:ext>
                  </a:extLst>
                </a:gridCol>
                <a:gridCol w="4166082">
                  <a:extLst>
                    <a:ext uri="{9D8B030D-6E8A-4147-A177-3AD203B41FA5}">
                      <a16:colId xmlns:a16="http://schemas.microsoft.com/office/drawing/2014/main" val="496406025"/>
                    </a:ext>
                  </a:extLst>
                </a:gridCol>
              </a:tblGrid>
              <a:tr h="1007136">
                <a:tc>
                  <a:txBody>
                    <a:bodyPr/>
                    <a:lstStyle/>
                    <a:p>
                      <a:pPr algn="ctr">
                        <a:buNone/>
                      </a:pPr>
                      <a:r>
                        <a:rPr lang="en-US" sz="1000" b="1">
                          <a:solidFill>
                            <a:schemeClr val="bg1"/>
                          </a:solidFill>
                          <a:effectLst/>
                          <a:latin typeface="Raleway"/>
                        </a:rPr>
                        <a:t>Tanggal 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Business 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SLA Target </a:t>
                      </a:r>
                      <a:r>
                        <a:rPr lang="en-US" sz="1000" b="1" err="1">
                          <a:solidFill>
                            <a:schemeClr val="bg1"/>
                          </a:solidFill>
                          <a:effectLst/>
                          <a:latin typeface="Raleway"/>
                        </a:rPr>
                        <a:t>Pemenuhan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Jumlah</a:t>
                      </a:r>
                      <a:r>
                        <a:rPr lang="en-US" sz="1000" b="1">
                          <a:solidFill>
                            <a:schemeClr val="bg1"/>
                          </a:solidFill>
                          <a:effectLst/>
                          <a:latin typeface="Raleway"/>
                        </a:rPr>
                        <a:t> </a:t>
                      </a:r>
                      <a:r>
                        <a:rPr lang="en-US" sz="1000" b="1" err="1">
                          <a:solidFill>
                            <a:schemeClr val="bg1"/>
                          </a:solidFill>
                          <a:effectLst/>
                          <a:latin typeface="Raleway"/>
                        </a:rPr>
                        <a:t>Permintaan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Status </a:t>
                      </a:r>
                      <a:r>
                        <a:rPr lang="en-US" sz="1000" b="1" err="1">
                          <a:solidFill>
                            <a:schemeClr val="bg1"/>
                          </a:solidFill>
                          <a:effectLst/>
                          <a:latin typeface="Raleway"/>
                        </a:rPr>
                        <a:t>Rekrutmen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3753648580"/>
                  </a:ext>
                </a:extLst>
              </a:tr>
              <a:tr h="791938">
                <a:tc>
                  <a:txBody>
                    <a:bodyPr/>
                    <a:lstStyle/>
                    <a:p>
                      <a:pPr algn="ctr">
                        <a:buNone/>
                      </a:pPr>
                      <a:r>
                        <a:rPr lang="en-US" sz="1000">
                          <a:effectLst/>
                          <a:latin typeface="Raleway"/>
                        </a:rPr>
                        <a:t>21-May-26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Head of Area - Palangkaraya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20-06-2026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Karin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Next Action:</a:t>
                      </a:r>
                      <a:br>
                        <a:rPr lang="en-US" sz="1000">
                          <a:effectLst/>
                          <a:latin typeface="Raleway"/>
                        </a:rPr>
                      </a:br>
                      <a:r>
                        <a:rPr lang="en-US" sz="1000">
                          <a:effectLst/>
                          <a:latin typeface="Raleway"/>
                        </a:rPr>
                        <a:t>&gt; Proses sourcing 10 CV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3155920022"/>
                  </a:ext>
                </a:extLst>
              </a:tr>
              <a:tr h="1007136">
                <a:tc>
                  <a:txBody>
                    <a:bodyPr/>
                    <a:lstStyle/>
                    <a:p>
                      <a:pPr algn="ctr">
                        <a:buNone/>
                      </a:pPr>
                      <a:r>
                        <a:rPr lang="en-US" sz="1000">
                          <a:effectLst/>
                          <a:latin typeface="Raleway"/>
                        </a:rPr>
                        <a:t>07-Feb-26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Area Sales Supervisor (JESS) - Karawang</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08-Jan-26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Kevin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Progress:</a:t>
                      </a:r>
                      <a:br>
                        <a:rPr lang="en-US" sz="1000">
                          <a:effectLst/>
                          <a:latin typeface="Raleway"/>
                        </a:rPr>
                      </a:br>
                      <a:r>
                        <a:rPr lang="en-US" sz="1000">
                          <a:effectLst/>
                          <a:latin typeface="Raleway"/>
                        </a:rPr>
                        <a:t>1. Sourcing 5 </a:t>
                      </a:r>
                      <a:r>
                        <a:rPr lang="en-US" sz="1000" err="1">
                          <a:effectLst/>
                          <a:latin typeface="Raleway"/>
                        </a:rPr>
                        <a:t>Cv</a:t>
                      </a:r>
                      <a:r>
                        <a:rPr lang="en-US" sz="1000">
                          <a:effectLst/>
                          <a:latin typeface="Raleway"/>
                        </a:rPr>
                        <a:t> ASS Karawang Week 33</a:t>
                      </a: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1. Send </a:t>
                      </a:r>
                      <a:r>
                        <a:rPr lang="en-US" sz="1000" err="1">
                          <a:effectLst/>
                          <a:latin typeface="Raleway"/>
                        </a:rPr>
                        <a:t>Cv</a:t>
                      </a:r>
                      <a:r>
                        <a:rPr lang="en-US" sz="1000">
                          <a:effectLst/>
                          <a:latin typeface="Raleway"/>
                        </a:rPr>
                        <a:t> </a:t>
                      </a:r>
                      <a:r>
                        <a:rPr lang="en-US" sz="1000" err="1">
                          <a:effectLst/>
                          <a:latin typeface="Raleway"/>
                        </a:rPr>
                        <a:t>ke</a:t>
                      </a:r>
                      <a:r>
                        <a:rPr lang="en-US" sz="1000">
                          <a:effectLst/>
                          <a:latin typeface="Raleway"/>
                        </a:rPr>
                        <a:t> User </a:t>
                      </a:r>
                      <a:r>
                        <a:rPr lang="en-US" sz="1000" err="1">
                          <a:effectLst/>
                          <a:latin typeface="Raleway"/>
                        </a:rPr>
                        <a:t>segera</a:t>
                      </a:r>
                      <a:r>
                        <a:rPr lang="en-US" sz="1000">
                          <a:effectLst/>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2128365098"/>
                  </a:ext>
                </a:extLst>
              </a:tr>
              <a:tr h="568129">
                <a:tc>
                  <a:txBody>
                    <a:bodyPr/>
                    <a:lstStyle/>
                    <a:p>
                      <a:pPr algn="ctr">
                        <a:buNone/>
                      </a:pPr>
                      <a:r>
                        <a:rPr lang="en-US" sz="1000">
                          <a:effectLst/>
                          <a:latin typeface="Raleway"/>
                        </a:rPr>
                        <a:t>07-Feb-26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Area Sales Supervisor - </a:t>
                      </a:r>
                      <a:r>
                        <a:rPr lang="en-US" sz="1000" err="1">
                          <a:effectLst/>
                          <a:latin typeface="Raleway"/>
                        </a:rPr>
                        <a:t>Baturaja</a:t>
                      </a:r>
                      <a:r>
                        <a:rPr lang="en-US" sz="1000">
                          <a:effectLst/>
                          <a:latin typeface="Raleway"/>
                        </a:rPr>
                        <a:t> (JES)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08-Jan-26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Kevin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Week 33: Hand Over FPTK </a:t>
                      </a:r>
                      <a:br>
                        <a:rPr lang="en-US" sz="1000">
                          <a:effectLst/>
                          <a:latin typeface="Raleway"/>
                        </a:rPr>
                      </a:br>
                      <a:r>
                        <a:rPr lang="en-US" sz="1000">
                          <a:effectLst/>
                          <a:latin typeface="Raleway"/>
                        </a:rPr>
                        <a:t>Next Week: Sourcing &amp; Shortlist </a:t>
                      </a:r>
                      <a:r>
                        <a:rPr lang="en-US" sz="1000" err="1">
                          <a:effectLst/>
                          <a:latin typeface="Raleway"/>
                        </a:rPr>
                        <a:t>Cv</a:t>
                      </a:r>
                      <a:r>
                        <a:rPr lang="en-US" sz="1000">
                          <a:effectLst/>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3872189716"/>
                  </a:ext>
                </a:extLst>
              </a:tr>
              <a:tr h="568129">
                <a:tc>
                  <a:txBody>
                    <a:bodyPr/>
                    <a:lstStyle/>
                    <a:p>
                      <a:pPr algn="ctr">
                        <a:buNone/>
                      </a:pPr>
                      <a:r>
                        <a:rPr lang="en-US" sz="1000">
                          <a:effectLst/>
                          <a:latin typeface="Raleway"/>
                        </a:rPr>
                        <a:t>07-Feb-26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Area Sales Supervisor - </a:t>
                      </a:r>
                      <a:r>
                        <a:rPr lang="en-US" sz="1000" err="1">
                          <a:effectLst/>
                          <a:latin typeface="Raleway"/>
                        </a:rPr>
                        <a:t>Purwokerto</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08-Jan-26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Kevin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Week 33: Hand Over FPTK </a:t>
                      </a:r>
                      <a:br>
                        <a:rPr lang="en-US" sz="1000">
                          <a:effectLst/>
                          <a:latin typeface="Raleway"/>
                        </a:rPr>
                      </a:br>
                      <a:r>
                        <a:rPr lang="en-US" sz="1000">
                          <a:effectLst/>
                          <a:latin typeface="Raleway"/>
                        </a:rPr>
                        <a:t>Next Week: Sourcing &amp; Shortlist </a:t>
                      </a:r>
                      <a:r>
                        <a:rPr lang="en-US" sz="1000" err="1">
                          <a:effectLst/>
                          <a:latin typeface="Raleway"/>
                        </a:rPr>
                        <a:t>Cv</a:t>
                      </a:r>
                      <a:r>
                        <a:rPr lang="en-US" sz="1000">
                          <a:effectLst/>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739646545"/>
                  </a:ext>
                </a:extLst>
              </a:tr>
              <a:tr h="568129">
                <a:tc>
                  <a:txBody>
                    <a:bodyPr/>
                    <a:lstStyle/>
                    <a:p>
                      <a:pPr algn="ctr">
                        <a:buNone/>
                      </a:pPr>
                      <a:r>
                        <a:rPr lang="en-US" sz="1000">
                          <a:effectLst/>
                          <a:latin typeface="Raleway"/>
                        </a:rPr>
                        <a:t>07-Feb-26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Area Sales Supervisor - Garut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Java Egg </a:t>
                      </a:r>
                      <a:r>
                        <a:rPr lang="en-US" sz="1000" err="1">
                          <a:effectLst/>
                          <a:latin typeface="Raleway"/>
                        </a:rPr>
                        <a:t>Specialities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08-Jan-26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Kevin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Week 33: Hand Over FPTK </a:t>
                      </a:r>
                      <a:br>
                        <a:rPr lang="en-US" sz="1000">
                          <a:effectLst/>
                          <a:latin typeface="Raleway"/>
                        </a:rPr>
                      </a:br>
                      <a:r>
                        <a:rPr lang="en-US" sz="1000">
                          <a:effectLst/>
                          <a:latin typeface="Raleway"/>
                        </a:rPr>
                        <a:t>Next Week: Sourcing &amp; Shortlist </a:t>
                      </a:r>
                      <a:r>
                        <a:rPr lang="en-US" sz="1000" err="1">
                          <a:effectLst/>
                          <a:latin typeface="Raleway"/>
                        </a:rPr>
                        <a:t>Cv</a:t>
                      </a:r>
                      <a:r>
                        <a:rPr lang="en-US" sz="1000">
                          <a:effectLst/>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2557672272"/>
                  </a:ext>
                </a:extLst>
              </a:tr>
            </a:tbl>
          </a:graphicData>
        </a:graphic>
      </p:graphicFrame>
      <p:sp>
        <p:nvSpPr>
          <p:cNvPr id="6" name="TextBox 7">
            <a:extLst>
              <a:ext uri="{FF2B5EF4-FFF2-40B4-BE49-F238E27FC236}">
                <a16:creationId xmlns:a16="http://schemas.microsoft.com/office/drawing/2014/main" id="{C6688661-C39C-C69E-1A24-671BE3EF6572}"/>
              </a:ext>
            </a:extLst>
          </p:cNvPr>
          <p:cNvSpPr txBox="1"/>
          <p:nvPr/>
        </p:nvSpPr>
        <p:spPr>
          <a:xfrm>
            <a:off x="89575" y="6408147"/>
            <a:ext cx="10972800" cy="261610"/>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a:latin typeface="Raleway"/>
              </a:rPr>
              <a:t>* </a:t>
            </a:r>
            <a:r>
              <a:rPr lang="en-US" sz="1100" i="1">
                <a:latin typeface="Raleway"/>
              </a:rPr>
              <a:t>Update per </a:t>
            </a:r>
            <a:r>
              <a:rPr lang="en-US" sz="1100" i="1" err="1">
                <a:latin typeface="Raleway"/>
              </a:rPr>
              <a:t>tanggal</a:t>
            </a:r>
            <a:r>
              <a:rPr lang="en-US" sz="1100" i="1">
                <a:latin typeface="Raleway"/>
              </a:rPr>
              <a:t> 14 Agustus 2026</a:t>
            </a:r>
            <a:endParaRPr lang="en-US" sz="1100">
              <a:latin typeface="Raleway"/>
            </a:endParaRPr>
          </a:p>
        </p:txBody>
      </p:sp>
      <p:sp>
        <p:nvSpPr>
          <p:cNvPr id="8" name="Title 1">
            <a:extLst>
              <a:ext uri="{FF2B5EF4-FFF2-40B4-BE49-F238E27FC236}">
                <a16:creationId xmlns:a16="http://schemas.microsoft.com/office/drawing/2014/main" id="{64B9056E-336A-C2F8-3A90-CBF10B3498B9}"/>
              </a:ext>
            </a:extLst>
          </p:cNvPr>
          <p:cNvSpPr txBox="1">
            <a:spLocks/>
          </p:cNvSpPr>
          <p:nvPr/>
        </p:nvSpPr>
        <p:spPr>
          <a:xfrm>
            <a:off x="1567829" y="416783"/>
            <a:ext cx="8958197" cy="4799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2400" b="1">
                <a:latin typeface="Raleway" panose="020B0503030101060003"/>
              </a:rPr>
              <a:t>Recruitment Progress – Level 3</a:t>
            </a:r>
            <a:endParaRPr lang="en-US" sz="2400">
              <a:latin typeface="Raleway" panose="020B0503030101060003"/>
            </a:endParaRPr>
          </a:p>
        </p:txBody>
      </p:sp>
    </p:spTree>
    <p:extLst>
      <p:ext uri="{BB962C8B-B14F-4D97-AF65-F5344CB8AC3E}">
        <p14:creationId xmlns:p14="http://schemas.microsoft.com/office/powerpoint/2010/main" val="2608294727"/>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074CAB-2E9F-547A-2D69-83A372944EA2}"/>
            </a:ext>
          </a:extLst>
        </p:cNvPr>
        <p:cNvGrpSpPr/>
        <p:nvPr/>
      </p:nvGrpSpPr>
      <p:grpSpPr>
        <a:xfrm>
          <a:off x="0" y="0"/>
          <a:ext cx="0" cy="0"/>
          <a:chOff x="0" y="0"/>
          <a:chExt cx="0" cy="0"/>
        </a:xfrm>
      </p:grpSpPr>
      <p:graphicFrame>
        <p:nvGraphicFramePr>
          <p:cNvPr id="4" name="Table 3">
            <a:extLst>
              <a:ext uri="{FF2B5EF4-FFF2-40B4-BE49-F238E27FC236}">
                <a16:creationId xmlns:a16="http://schemas.microsoft.com/office/drawing/2014/main" id="{B6CFD750-74A9-4A12-CD22-4101E12321A0}"/>
              </a:ext>
            </a:extLst>
          </p:cNvPr>
          <p:cNvGraphicFramePr>
            <a:graphicFrameLocks noGrp="1"/>
          </p:cNvGraphicFramePr>
          <p:nvPr>
            <p:extLst>
              <p:ext uri="{D42A27DB-BD31-4B8C-83A1-F6EECF244321}">
                <p14:modId xmlns:p14="http://schemas.microsoft.com/office/powerpoint/2010/main" val="2243628106"/>
              </p:ext>
            </p:extLst>
          </p:nvPr>
        </p:nvGraphicFramePr>
        <p:xfrm>
          <a:off x="201448" y="758485"/>
          <a:ext cx="11566207" cy="5571163"/>
        </p:xfrm>
        <a:graphic>
          <a:graphicData uri="http://schemas.openxmlformats.org/drawingml/2006/table">
            <a:tbl>
              <a:tblPr bandRow="1">
                <a:tableStyleId>{5C22544A-7EE6-4342-B048-85BDC9FD1C3A}</a:tableStyleId>
              </a:tblPr>
              <a:tblGrid>
                <a:gridCol w="544292">
                  <a:extLst>
                    <a:ext uri="{9D8B030D-6E8A-4147-A177-3AD203B41FA5}">
                      <a16:colId xmlns:a16="http://schemas.microsoft.com/office/drawing/2014/main" val="182939505"/>
                    </a:ext>
                  </a:extLst>
                </a:gridCol>
                <a:gridCol w="2063775">
                  <a:extLst>
                    <a:ext uri="{9D8B030D-6E8A-4147-A177-3AD203B41FA5}">
                      <a16:colId xmlns:a16="http://schemas.microsoft.com/office/drawing/2014/main" val="830788307"/>
                    </a:ext>
                  </a:extLst>
                </a:gridCol>
                <a:gridCol w="544292">
                  <a:extLst>
                    <a:ext uri="{9D8B030D-6E8A-4147-A177-3AD203B41FA5}">
                      <a16:colId xmlns:a16="http://schemas.microsoft.com/office/drawing/2014/main" val="1335973692"/>
                    </a:ext>
                  </a:extLst>
                </a:gridCol>
                <a:gridCol w="975190">
                  <a:extLst>
                    <a:ext uri="{9D8B030D-6E8A-4147-A177-3AD203B41FA5}">
                      <a16:colId xmlns:a16="http://schemas.microsoft.com/office/drawing/2014/main" val="3540722093"/>
                    </a:ext>
                  </a:extLst>
                </a:gridCol>
                <a:gridCol w="725722">
                  <a:extLst>
                    <a:ext uri="{9D8B030D-6E8A-4147-A177-3AD203B41FA5}">
                      <a16:colId xmlns:a16="http://schemas.microsoft.com/office/drawing/2014/main" val="4095484540"/>
                    </a:ext>
                  </a:extLst>
                </a:gridCol>
                <a:gridCol w="578310">
                  <a:extLst>
                    <a:ext uri="{9D8B030D-6E8A-4147-A177-3AD203B41FA5}">
                      <a16:colId xmlns:a16="http://schemas.microsoft.com/office/drawing/2014/main" val="3703668063"/>
                    </a:ext>
                  </a:extLst>
                </a:gridCol>
                <a:gridCol w="929832">
                  <a:extLst>
                    <a:ext uri="{9D8B030D-6E8A-4147-A177-3AD203B41FA5}">
                      <a16:colId xmlns:a16="http://schemas.microsoft.com/office/drawing/2014/main" val="3678077760"/>
                    </a:ext>
                  </a:extLst>
                </a:gridCol>
                <a:gridCol w="544292">
                  <a:extLst>
                    <a:ext uri="{9D8B030D-6E8A-4147-A177-3AD203B41FA5}">
                      <a16:colId xmlns:a16="http://schemas.microsoft.com/office/drawing/2014/main" val="1568330892"/>
                    </a:ext>
                  </a:extLst>
                </a:gridCol>
                <a:gridCol w="544292">
                  <a:extLst>
                    <a:ext uri="{9D8B030D-6E8A-4147-A177-3AD203B41FA5}">
                      <a16:colId xmlns:a16="http://schemas.microsoft.com/office/drawing/2014/main" val="1220901131"/>
                    </a:ext>
                  </a:extLst>
                </a:gridCol>
                <a:gridCol w="4116210">
                  <a:extLst>
                    <a:ext uri="{9D8B030D-6E8A-4147-A177-3AD203B41FA5}">
                      <a16:colId xmlns:a16="http://schemas.microsoft.com/office/drawing/2014/main" val="686472021"/>
                    </a:ext>
                  </a:extLst>
                </a:gridCol>
              </a:tblGrid>
              <a:tr h="764135">
                <a:tc>
                  <a:txBody>
                    <a:bodyPr/>
                    <a:lstStyle/>
                    <a:p>
                      <a:pPr algn="ctr">
                        <a:buNone/>
                      </a:pPr>
                      <a:r>
                        <a:rPr lang="en-US" sz="1000" b="1">
                          <a:solidFill>
                            <a:schemeClr val="bg1"/>
                          </a:solidFill>
                          <a:effectLst/>
                          <a:latin typeface="Raleway"/>
                        </a:rPr>
                        <a:t>Tanggal 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Business 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SLA Target </a:t>
                      </a:r>
                      <a:r>
                        <a:rPr lang="en-US" sz="1000" b="1" err="1">
                          <a:solidFill>
                            <a:schemeClr val="bg1"/>
                          </a:solidFill>
                          <a:effectLst/>
                          <a:latin typeface="Raleway"/>
                        </a:rPr>
                        <a:t>Pemenuhan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Jumlah</a:t>
                      </a:r>
                      <a:r>
                        <a:rPr lang="en-US" sz="1000" b="1">
                          <a:solidFill>
                            <a:schemeClr val="bg1"/>
                          </a:solidFill>
                          <a:effectLst/>
                          <a:latin typeface="Raleway"/>
                        </a:rPr>
                        <a:t> </a:t>
                      </a:r>
                      <a:r>
                        <a:rPr lang="en-US" sz="1000" b="1" err="1">
                          <a:solidFill>
                            <a:schemeClr val="bg1"/>
                          </a:solidFill>
                          <a:effectLst/>
                          <a:latin typeface="Raleway"/>
                        </a:rPr>
                        <a:t>Permintaan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Status </a:t>
                      </a:r>
                      <a:r>
                        <a:rPr lang="en-US" sz="1000" b="1" err="1">
                          <a:solidFill>
                            <a:schemeClr val="bg1"/>
                          </a:solidFill>
                          <a:effectLst/>
                          <a:latin typeface="Raleway"/>
                        </a:rPr>
                        <a:t>Rekrutmen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2521468172"/>
                  </a:ext>
                </a:extLst>
              </a:tr>
              <a:tr h="764135">
                <a:tc>
                  <a:txBody>
                    <a:bodyPr/>
                    <a:lstStyle/>
                    <a:p>
                      <a:pPr algn="ctr">
                        <a:buNone/>
                      </a:pPr>
                      <a:r>
                        <a:rPr lang="en-US" sz="1000">
                          <a:effectLst/>
                          <a:latin typeface="Raleway"/>
                        </a:rPr>
                        <a:t>18-Mar-26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1000">
                          <a:effectLst/>
                          <a:latin typeface="Raleway"/>
                        </a:rPr>
                        <a:t>Area Sales Supervisor (Chilled) - Semarang</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17-04-2026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Valen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Progress: </a:t>
                      </a:r>
                      <a:br>
                        <a:rPr lang="en-US" sz="1000">
                          <a:effectLst/>
                          <a:latin typeface="Raleway"/>
                        </a:rPr>
                      </a:br>
                      <a:r>
                        <a:rPr lang="en-US" sz="1000">
                          <a:effectLst/>
                          <a:latin typeface="Raleway"/>
                        </a:rPr>
                        <a:t>1. sourcing 17 cv + </a:t>
                      </a:r>
                      <a:r>
                        <a:rPr lang="en-US" sz="1000" err="1">
                          <a:effectLst/>
                          <a:latin typeface="Raleway"/>
                        </a:rPr>
                        <a:t>sudah</a:t>
                      </a:r>
                      <a:r>
                        <a:rPr lang="en-US" sz="1000">
                          <a:effectLst/>
                          <a:latin typeface="Raleway"/>
                        </a:rPr>
                        <a:t> send </a:t>
                      </a:r>
                      <a:r>
                        <a:rPr lang="en-US" sz="1000" err="1">
                          <a:effectLst/>
                          <a:latin typeface="Raleway"/>
                        </a:rPr>
                        <a:t>ke</a:t>
                      </a:r>
                      <a:r>
                        <a:rPr lang="en-US" sz="1000">
                          <a:effectLst/>
                          <a:latin typeface="Raleway"/>
                        </a:rPr>
                        <a:t> user</a:t>
                      </a: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 shortlist cv </a:t>
                      </a:r>
                      <a:r>
                        <a:rPr lang="en-US" sz="1000" err="1">
                          <a:effectLst/>
                          <a:latin typeface="Raleway"/>
                        </a:rPr>
                        <a:t>dari</a:t>
                      </a:r>
                      <a:r>
                        <a:rPr lang="en-US" sz="1000">
                          <a:effectLst/>
                          <a:latin typeface="Raleway"/>
                        </a:rPr>
                        <a:t> user dan blast </a:t>
                      </a:r>
                      <a:r>
                        <a:rPr lang="en-US" sz="1000" err="1">
                          <a:effectLst/>
                          <a:latin typeface="Raleway"/>
                        </a:rPr>
                        <a:t>psikotest</a:t>
                      </a:r>
                      <a:r>
                        <a:rPr lang="en-US" sz="1000">
                          <a:effectLst/>
                          <a:latin typeface="Raleway"/>
                        </a:rPr>
                        <a:t> </a:t>
                      </a:r>
                      <a:r>
                        <a:rPr lang="en-US" sz="1000" err="1">
                          <a:effectLst/>
                          <a:latin typeface="Raleway"/>
                        </a:rPr>
                        <a:t>ke</a:t>
                      </a:r>
                      <a:r>
                        <a:rPr lang="en-US" sz="1000">
                          <a:effectLst/>
                          <a:latin typeface="Raleway"/>
                        </a:rPr>
                        <a:t> </a:t>
                      </a:r>
                      <a:r>
                        <a:rPr lang="en-US" sz="1000" err="1">
                          <a:effectLst/>
                          <a:latin typeface="Raleway"/>
                        </a:rPr>
                        <a:t>kandidat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4189085465"/>
                  </a:ext>
                </a:extLst>
              </a:tr>
              <a:tr h="1270376">
                <a:tc>
                  <a:txBody>
                    <a:bodyPr/>
                    <a:lstStyle/>
                    <a:p>
                      <a:pPr algn="ctr">
                        <a:buNone/>
                      </a:pPr>
                      <a:r>
                        <a:rPr lang="en-US" sz="1000">
                          <a:effectLst/>
                          <a:latin typeface="Raleway"/>
                        </a:rPr>
                        <a:t>09-Nov-25</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1000">
                          <a:effectLst/>
                          <a:latin typeface="Raleway"/>
                        </a:rPr>
                        <a:t>Finance Supervisor - GT MP &amp; JESS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10-Nov-25</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Karin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&gt; Send 19 CV di 6 Agustus 2026 - </a:t>
                      </a:r>
                      <a:r>
                        <a:rPr lang="en-US" sz="1000" err="1">
                          <a:effectLst/>
                          <a:latin typeface="Raleway"/>
                        </a:rPr>
                        <a:t>sudah</a:t>
                      </a:r>
                      <a:r>
                        <a:rPr lang="en-US" sz="1000">
                          <a:effectLst/>
                          <a:latin typeface="Raleway"/>
                        </a:rPr>
                        <a:t> follow up di 13 Agustus 2026 </a:t>
                      </a:r>
                      <a:br>
                        <a:rPr lang="en-US" sz="1000">
                          <a:effectLst/>
                          <a:latin typeface="Raleway"/>
                        </a:rPr>
                      </a:br>
                      <a:r>
                        <a:rPr lang="en-US" sz="1000">
                          <a:effectLst/>
                          <a:latin typeface="Raleway"/>
                        </a:rPr>
                        <a:t>&gt; Send 7 CV di 13 Agustus 2026 - </a:t>
                      </a:r>
                      <a:r>
                        <a:rPr lang="en-US" sz="1000" err="1">
                          <a:effectLst/>
                          <a:latin typeface="Raleway"/>
                        </a:rPr>
                        <a:t>Menunggu</a:t>
                      </a:r>
                      <a:r>
                        <a:rPr lang="en-US" sz="1000">
                          <a:effectLst/>
                          <a:latin typeface="Raleway"/>
                        </a:rPr>
                        <a:t> feedback user </a:t>
                      </a:r>
                      <a:br>
                        <a:rPr lang="en-US" sz="1000">
                          <a:effectLst/>
                          <a:latin typeface="Raleway"/>
                        </a:rPr>
                      </a:br>
                      <a:r>
                        <a:rPr lang="en-US" sz="1000">
                          <a:effectLst/>
                          <a:latin typeface="Raleway"/>
                        </a:rPr>
                        <a:t>&gt; 1 </a:t>
                      </a:r>
                      <a:r>
                        <a:rPr lang="en-US" sz="1000" err="1">
                          <a:effectLst/>
                          <a:latin typeface="Raleway"/>
                        </a:rPr>
                        <a:t>kandidat</a:t>
                      </a:r>
                      <a:r>
                        <a:rPr lang="en-US" sz="1000">
                          <a:effectLst/>
                          <a:latin typeface="Raleway"/>
                        </a:rPr>
                        <a:t> an Faris </a:t>
                      </a:r>
                      <a:r>
                        <a:rPr lang="en-US" sz="1000" err="1">
                          <a:effectLst/>
                          <a:latin typeface="Raleway"/>
                        </a:rPr>
                        <a:t>Syauqi</a:t>
                      </a:r>
                      <a:r>
                        <a:rPr lang="en-US" sz="1000">
                          <a:effectLst/>
                          <a:latin typeface="Raleway"/>
                        </a:rPr>
                        <a:t> - user interview di 14 Agustus 2026 (</a:t>
                      </a:r>
                      <a:r>
                        <a:rPr lang="en-US" sz="1000" err="1">
                          <a:effectLst/>
                          <a:latin typeface="Raleway"/>
                        </a:rPr>
                        <a:t>Menunggu</a:t>
                      </a:r>
                      <a:r>
                        <a:rPr lang="en-US" sz="1000">
                          <a:effectLst/>
                          <a:latin typeface="Raleway"/>
                        </a:rPr>
                        <a:t> </a:t>
                      </a:r>
                      <a:r>
                        <a:rPr lang="en-US" sz="1000" err="1">
                          <a:effectLst/>
                          <a:latin typeface="Raleway"/>
                        </a:rPr>
                        <a:t>hasil</a:t>
                      </a:r>
                      <a:r>
                        <a:rPr lang="en-US" sz="1000">
                          <a:effectLst/>
                          <a:latin typeface="Raleway"/>
                        </a:rPr>
                        <a:t>)</a:t>
                      </a:r>
                      <a:br>
                        <a:rPr lang="en-US" sz="1000">
                          <a:effectLst/>
                          <a:latin typeface="Raleway"/>
                        </a:rPr>
                      </a:br>
                      <a:r>
                        <a:rPr lang="en-US" sz="1000">
                          <a:effectLst/>
                          <a:latin typeface="Raleway"/>
                        </a:rPr>
                        <a:t>Next Action: </a:t>
                      </a:r>
                      <a:br>
                        <a:rPr lang="en-US" sz="1000">
                          <a:effectLst/>
                          <a:latin typeface="Raleway"/>
                        </a:rPr>
                      </a:br>
                      <a:r>
                        <a:rPr lang="en-US" sz="1000">
                          <a:effectLst/>
                          <a:latin typeface="Raleway"/>
                        </a:rPr>
                        <a:t>&gt; Follow up User 26 CV - di Week 34</a:t>
                      </a:r>
                      <a:br>
                        <a:rPr lang="en-US" sz="1000">
                          <a:effectLst/>
                          <a:latin typeface="Raleway"/>
                        </a:rPr>
                      </a:br>
                      <a:r>
                        <a:rPr lang="en-US" sz="1000">
                          <a:effectLst/>
                          <a:latin typeface="Raleway"/>
                        </a:rPr>
                        <a:t>&gt; Send 5 CV </a:t>
                      </a:r>
                      <a:r>
                        <a:rPr lang="en-US" sz="1000" err="1">
                          <a:effectLst/>
                          <a:latin typeface="Raleway"/>
                        </a:rPr>
                        <a:t>lainnya</a:t>
                      </a:r>
                      <a:r>
                        <a:rPr lang="en-US" sz="1000">
                          <a:effectLst/>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793512113"/>
                  </a:ext>
                </a:extLst>
              </a:tr>
              <a:tr h="764135">
                <a:tc>
                  <a:txBody>
                    <a:bodyPr/>
                    <a:lstStyle/>
                    <a:p>
                      <a:pPr algn="ctr">
                        <a:buNone/>
                      </a:pPr>
                      <a:r>
                        <a:rPr lang="en-US" sz="1000">
                          <a:effectLst/>
                          <a:latin typeface="Raleway"/>
                        </a:rPr>
                        <a:t>17-04-2026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1000">
                          <a:effectLst/>
                          <a:latin typeface="Raleway"/>
                        </a:rPr>
                        <a:t>Area Sales Supervisor (Chilled) - </a:t>
                      </a:r>
                      <a:r>
                        <a:rPr lang="en-US" sz="1000" err="1">
                          <a:effectLst/>
                          <a:latin typeface="Raleway"/>
                        </a:rPr>
                        <a:t>Samarinda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17-05-2026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Salsa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&gt; Sent CV to user week 33</a:t>
                      </a:r>
                      <a:br>
                        <a:rPr lang="en-US" sz="1000">
                          <a:effectLst/>
                          <a:latin typeface="Raleway"/>
                        </a:rPr>
                      </a:b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&gt; HR Interview &amp; </a:t>
                      </a:r>
                      <a:r>
                        <a:rPr lang="en-US" sz="1000" err="1">
                          <a:effectLst/>
                          <a:latin typeface="Raleway"/>
                        </a:rPr>
                        <a:t>psikotes</a:t>
                      </a:r>
                      <a:r>
                        <a:rPr lang="en-US" sz="1000">
                          <a:effectLst/>
                          <a:latin typeface="Raleway"/>
                        </a:rPr>
                        <a:t>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069837421"/>
                  </a:ext>
                </a:extLst>
              </a:tr>
              <a:tr h="936068">
                <a:tc>
                  <a:txBody>
                    <a:bodyPr/>
                    <a:lstStyle/>
                    <a:p>
                      <a:pPr algn="ctr">
                        <a:buNone/>
                      </a:pPr>
                      <a:r>
                        <a:rPr lang="en-US" sz="1000">
                          <a:effectLst/>
                          <a:latin typeface="Raleway"/>
                        </a:rPr>
                        <a:t>05-May-26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1000">
                          <a:effectLst/>
                          <a:latin typeface="Raleway"/>
                        </a:rPr>
                        <a:t>Head of Area Kediri</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06-Apr-26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err="1">
                          <a:effectLst/>
                          <a:latin typeface="Raleway"/>
                        </a:rPr>
                        <a:t>Kenthansen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err="1">
                          <a:effectLst/>
                          <a:latin typeface="Raleway"/>
                        </a:rPr>
                        <a:t>Kandidat</a:t>
                      </a:r>
                      <a:r>
                        <a:rPr lang="en-US" sz="1000">
                          <a:effectLst/>
                          <a:latin typeface="Raleway"/>
                        </a:rPr>
                        <a:t> </a:t>
                      </a:r>
                      <a:r>
                        <a:rPr lang="en-US" sz="1000" err="1">
                          <a:effectLst/>
                          <a:latin typeface="Raleway"/>
                        </a:rPr>
                        <a:t>a.n</a:t>
                      </a:r>
                      <a:r>
                        <a:rPr lang="en-US" sz="1000">
                          <a:effectLst/>
                          <a:latin typeface="Raleway"/>
                        </a:rPr>
                        <a:t> Ade Agung -&gt; Rejected User</a:t>
                      </a:r>
                      <a:br>
                        <a:rPr lang="en-US" sz="1000">
                          <a:effectLst/>
                          <a:latin typeface="Raleway"/>
                        </a:rPr>
                      </a:br>
                      <a:r>
                        <a:rPr lang="en-US" sz="1000" err="1">
                          <a:effectLst/>
                          <a:latin typeface="Raleway"/>
                        </a:rPr>
                        <a:t>Kandidat</a:t>
                      </a:r>
                      <a:r>
                        <a:rPr lang="en-US" sz="1000">
                          <a:effectLst/>
                          <a:latin typeface="Raleway"/>
                        </a:rPr>
                        <a:t> </a:t>
                      </a:r>
                      <a:r>
                        <a:rPr lang="en-US" sz="1000" err="1">
                          <a:effectLst/>
                          <a:latin typeface="Raleway"/>
                        </a:rPr>
                        <a:t>a.n</a:t>
                      </a:r>
                      <a:r>
                        <a:rPr lang="en-US" sz="1000">
                          <a:effectLst/>
                          <a:latin typeface="Raleway"/>
                        </a:rPr>
                        <a:t> Rizki Nur Kumalasari -&gt; Tolak Offer</a:t>
                      </a:r>
                      <a:br>
                        <a:rPr lang="en-US" sz="1000">
                          <a:effectLst/>
                          <a:latin typeface="Raleway"/>
                        </a:rPr>
                      </a:br>
                      <a:r>
                        <a:rPr lang="en-US" sz="1000">
                          <a:effectLst/>
                          <a:latin typeface="Raleway"/>
                        </a:rPr>
                        <a:t>Sent CV to user week 33</a:t>
                      </a: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Confirm </a:t>
                      </a:r>
                      <a:r>
                        <a:rPr lang="en-US" sz="1000" err="1">
                          <a:effectLst/>
                          <a:latin typeface="Raleway"/>
                        </a:rPr>
                        <a:t>kebutuhan</a:t>
                      </a:r>
                      <a:r>
                        <a:rPr lang="en-US" sz="1000">
                          <a:effectLst/>
                          <a:latin typeface="Raleway"/>
                        </a:rPr>
                        <a:t> FPTK </a:t>
                      </a:r>
                      <a:r>
                        <a:rPr lang="en-US" sz="1000" err="1">
                          <a:effectLst/>
                          <a:latin typeface="Raleway"/>
                        </a:rPr>
                        <a:t>ke</a:t>
                      </a:r>
                      <a:r>
                        <a:rPr lang="en-US" sz="1000">
                          <a:effectLst/>
                          <a:latin typeface="Raleway"/>
                        </a:rPr>
                        <a:t> User dan send 10 CVs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858274143"/>
                  </a:ext>
                </a:extLst>
              </a:tr>
              <a:tr h="764135">
                <a:tc>
                  <a:txBody>
                    <a:bodyPr/>
                    <a:lstStyle/>
                    <a:p>
                      <a:pPr algn="ctr">
                        <a:buNone/>
                      </a:pPr>
                      <a:r>
                        <a:rPr lang="en-US" sz="1000">
                          <a:effectLst/>
                          <a:latin typeface="Raleway"/>
                        </a:rPr>
                        <a:t>11-Oct-25</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1000">
                          <a:effectLst/>
                          <a:latin typeface="Raleway"/>
                        </a:rPr>
                        <a:t>Head of Area Ketapang</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12-Oct-25</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err="1">
                          <a:effectLst/>
                          <a:latin typeface="Raleway"/>
                        </a:rPr>
                        <a:t>Kenthansen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err="1">
                          <a:effectLst/>
                          <a:latin typeface="Raleway"/>
                        </a:rPr>
                        <a:t>Kandidat</a:t>
                      </a:r>
                      <a:r>
                        <a:rPr lang="en-US" sz="1000">
                          <a:effectLst/>
                          <a:latin typeface="Raleway"/>
                        </a:rPr>
                        <a:t> </a:t>
                      </a:r>
                      <a:r>
                        <a:rPr lang="en-US" sz="1000" err="1">
                          <a:effectLst/>
                          <a:latin typeface="Raleway"/>
                        </a:rPr>
                        <a:t>a.n</a:t>
                      </a:r>
                      <a:r>
                        <a:rPr lang="en-US" sz="1000">
                          <a:effectLst/>
                          <a:latin typeface="Raleway"/>
                        </a:rPr>
                        <a:t> Tri Sutrisno </a:t>
                      </a:r>
                      <a:r>
                        <a:rPr lang="en-US" sz="1000" err="1">
                          <a:effectLst/>
                          <a:latin typeface="Raleway"/>
                        </a:rPr>
                        <a:t>dalam</a:t>
                      </a:r>
                      <a:r>
                        <a:rPr lang="en-US" sz="1000">
                          <a:effectLst/>
                          <a:latin typeface="Raleway"/>
                        </a:rPr>
                        <a:t> proses assessment</a:t>
                      </a:r>
                      <a:br>
                        <a:rPr lang="en-US" sz="1000">
                          <a:effectLst/>
                          <a:latin typeface="Raleway"/>
                        </a:rPr>
                      </a:br>
                      <a:r>
                        <a:rPr lang="en-US" sz="1000">
                          <a:effectLst/>
                          <a:latin typeface="Raleway"/>
                        </a:rPr>
                        <a:t>Sent CV to user week 33</a:t>
                      </a: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Send 10 CVs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887299401"/>
                  </a:ext>
                </a:extLst>
              </a:tr>
            </a:tbl>
          </a:graphicData>
        </a:graphic>
      </p:graphicFrame>
      <p:sp>
        <p:nvSpPr>
          <p:cNvPr id="6" name="TextBox 7">
            <a:extLst>
              <a:ext uri="{FF2B5EF4-FFF2-40B4-BE49-F238E27FC236}">
                <a16:creationId xmlns:a16="http://schemas.microsoft.com/office/drawing/2014/main" id="{898FDFB5-4CB8-314A-0A15-0B5DE70BF77C}"/>
              </a:ext>
            </a:extLst>
          </p:cNvPr>
          <p:cNvSpPr txBox="1"/>
          <p:nvPr/>
        </p:nvSpPr>
        <p:spPr>
          <a:xfrm>
            <a:off x="89575" y="6408147"/>
            <a:ext cx="10972800" cy="261610"/>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a:latin typeface="Raleway"/>
              </a:rPr>
              <a:t>* </a:t>
            </a:r>
            <a:r>
              <a:rPr lang="en-US" sz="1100" i="1">
                <a:latin typeface="Raleway"/>
              </a:rPr>
              <a:t>Update per </a:t>
            </a:r>
            <a:r>
              <a:rPr lang="en-US" sz="1100" i="1" err="1">
                <a:latin typeface="Raleway"/>
              </a:rPr>
              <a:t>tanggal</a:t>
            </a:r>
            <a:r>
              <a:rPr lang="en-US" sz="1100" i="1">
                <a:latin typeface="Raleway"/>
              </a:rPr>
              <a:t> 14 Agustus 2026</a:t>
            </a:r>
            <a:endParaRPr lang="en-US" sz="1100">
              <a:latin typeface="Raleway"/>
            </a:endParaRPr>
          </a:p>
        </p:txBody>
      </p:sp>
      <p:sp>
        <p:nvSpPr>
          <p:cNvPr id="8" name="Title 1">
            <a:extLst>
              <a:ext uri="{FF2B5EF4-FFF2-40B4-BE49-F238E27FC236}">
                <a16:creationId xmlns:a16="http://schemas.microsoft.com/office/drawing/2014/main" id="{C96D6C63-1492-73F8-7930-6188F72B6AC3}"/>
              </a:ext>
            </a:extLst>
          </p:cNvPr>
          <p:cNvSpPr txBox="1">
            <a:spLocks/>
          </p:cNvSpPr>
          <p:nvPr/>
        </p:nvSpPr>
        <p:spPr>
          <a:xfrm>
            <a:off x="1506519" y="206576"/>
            <a:ext cx="8958197" cy="4799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2400" b="1">
                <a:latin typeface="Raleway" panose="020B0503030101060003"/>
              </a:rPr>
              <a:t>Recruitment Progress – Level 3</a:t>
            </a:r>
            <a:endParaRPr lang="en-US" sz="2400">
              <a:latin typeface="Raleway" panose="020B0503030101060003"/>
            </a:endParaRPr>
          </a:p>
        </p:txBody>
      </p:sp>
    </p:spTree>
    <p:extLst>
      <p:ext uri="{BB962C8B-B14F-4D97-AF65-F5344CB8AC3E}">
        <p14:creationId xmlns:p14="http://schemas.microsoft.com/office/powerpoint/2010/main" val="3952925451"/>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E64CF4-E15D-F122-C508-135FAECB58E0}"/>
            </a:ext>
          </a:extLst>
        </p:cNvPr>
        <p:cNvGrpSpPr/>
        <p:nvPr/>
      </p:nvGrpSpPr>
      <p:grpSpPr>
        <a:xfrm>
          <a:off x="0" y="0"/>
          <a:ext cx="0" cy="0"/>
          <a:chOff x="0" y="0"/>
          <a:chExt cx="0" cy="0"/>
        </a:xfrm>
      </p:grpSpPr>
      <p:graphicFrame>
        <p:nvGraphicFramePr>
          <p:cNvPr id="6" name="Table 5">
            <a:extLst>
              <a:ext uri="{FF2B5EF4-FFF2-40B4-BE49-F238E27FC236}">
                <a16:creationId xmlns:a16="http://schemas.microsoft.com/office/drawing/2014/main" id="{615F7B25-F1B5-2EC3-D88D-788EFE35DA18}"/>
              </a:ext>
            </a:extLst>
          </p:cNvPr>
          <p:cNvGraphicFramePr>
            <a:graphicFrameLocks noGrp="1"/>
          </p:cNvGraphicFramePr>
          <p:nvPr>
            <p:extLst>
              <p:ext uri="{D42A27DB-BD31-4B8C-83A1-F6EECF244321}">
                <p14:modId xmlns:p14="http://schemas.microsoft.com/office/powerpoint/2010/main" val="1630648603"/>
              </p:ext>
            </p:extLst>
          </p:nvPr>
        </p:nvGraphicFramePr>
        <p:xfrm>
          <a:off x="201448" y="822791"/>
          <a:ext cx="11680064" cy="5095801"/>
        </p:xfrm>
        <a:graphic>
          <a:graphicData uri="http://schemas.openxmlformats.org/drawingml/2006/table">
            <a:tbl>
              <a:tblPr bandRow="1">
                <a:tableStyleId>{5C22544A-7EE6-4342-B048-85BDC9FD1C3A}</a:tableStyleId>
              </a:tblPr>
              <a:tblGrid>
                <a:gridCol w="549650">
                  <a:extLst>
                    <a:ext uri="{9D8B030D-6E8A-4147-A177-3AD203B41FA5}">
                      <a16:colId xmlns:a16="http://schemas.microsoft.com/office/drawing/2014/main" val="1664832501"/>
                    </a:ext>
                  </a:extLst>
                </a:gridCol>
                <a:gridCol w="2084090">
                  <a:extLst>
                    <a:ext uri="{9D8B030D-6E8A-4147-A177-3AD203B41FA5}">
                      <a16:colId xmlns:a16="http://schemas.microsoft.com/office/drawing/2014/main" val="328986640"/>
                    </a:ext>
                  </a:extLst>
                </a:gridCol>
                <a:gridCol w="549650">
                  <a:extLst>
                    <a:ext uri="{9D8B030D-6E8A-4147-A177-3AD203B41FA5}">
                      <a16:colId xmlns:a16="http://schemas.microsoft.com/office/drawing/2014/main" val="1086940284"/>
                    </a:ext>
                  </a:extLst>
                </a:gridCol>
                <a:gridCol w="984789">
                  <a:extLst>
                    <a:ext uri="{9D8B030D-6E8A-4147-A177-3AD203B41FA5}">
                      <a16:colId xmlns:a16="http://schemas.microsoft.com/office/drawing/2014/main" val="1768091779"/>
                    </a:ext>
                  </a:extLst>
                </a:gridCol>
                <a:gridCol w="732866">
                  <a:extLst>
                    <a:ext uri="{9D8B030D-6E8A-4147-A177-3AD203B41FA5}">
                      <a16:colId xmlns:a16="http://schemas.microsoft.com/office/drawing/2014/main" val="3621769466"/>
                    </a:ext>
                  </a:extLst>
                </a:gridCol>
                <a:gridCol w="584003">
                  <a:extLst>
                    <a:ext uri="{9D8B030D-6E8A-4147-A177-3AD203B41FA5}">
                      <a16:colId xmlns:a16="http://schemas.microsoft.com/office/drawing/2014/main" val="2057955471"/>
                    </a:ext>
                  </a:extLst>
                </a:gridCol>
                <a:gridCol w="938986">
                  <a:extLst>
                    <a:ext uri="{9D8B030D-6E8A-4147-A177-3AD203B41FA5}">
                      <a16:colId xmlns:a16="http://schemas.microsoft.com/office/drawing/2014/main" val="2342832350"/>
                    </a:ext>
                  </a:extLst>
                </a:gridCol>
                <a:gridCol w="549650">
                  <a:extLst>
                    <a:ext uri="{9D8B030D-6E8A-4147-A177-3AD203B41FA5}">
                      <a16:colId xmlns:a16="http://schemas.microsoft.com/office/drawing/2014/main" val="2843464683"/>
                    </a:ext>
                  </a:extLst>
                </a:gridCol>
                <a:gridCol w="549650">
                  <a:extLst>
                    <a:ext uri="{9D8B030D-6E8A-4147-A177-3AD203B41FA5}">
                      <a16:colId xmlns:a16="http://schemas.microsoft.com/office/drawing/2014/main" val="528800739"/>
                    </a:ext>
                  </a:extLst>
                </a:gridCol>
                <a:gridCol w="4156730">
                  <a:extLst>
                    <a:ext uri="{9D8B030D-6E8A-4147-A177-3AD203B41FA5}">
                      <a16:colId xmlns:a16="http://schemas.microsoft.com/office/drawing/2014/main" val="1702561126"/>
                    </a:ext>
                  </a:extLst>
                </a:gridCol>
              </a:tblGrid>
              <a:tr h="828657">
                <a:tc>
                  <a:txBody>
                    <a:bodyPr/>
                    <a:lstStyle/>
                    <a:p>
                      <a:pPr algn="ctr">
                        <a:buNone/>
                      </a:pPr>
                      <a:r>
                        <a:rPr lang="en-US" sz="1000" b="1">
                          <a:solidFill>
                            <a:schemeClr val="bg1"/>
                          </a:solidFill>
                          <a:effectLst/>
                          <a:latin typeface="Raleway"/>
                        </a:rPr>
                        <a:t>Tanggal 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Business 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SLA Target </a:t>
                      </a:r>
                      <a:r>
                        <a:rPr lang="en-US" sz="1000" b="1" err="1">
                          <a:solidFill>
                            <a:schemeClr val="bg1"/>
                          </a:solidFill>
                          <a:effectLst/>
                          <a:latin typeface="Raleway"/>
                        </a:rPr>
                        <a:t>Pemenuhan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Jumlah</a:t>
                      </a:r>
                      <a:r>
                        <a:rPr lang="en-US" sz="1000" b="1">
                          <a:solidFill>
                            <a:schemeClr val="bg1"/>
                          </a:solidFill>
                          <a:effectLst/>
                          <a:latin typeface="Raleway"/>
                        </a:rPr>
                        <a:t> </a:t>
                      </a:r>
                      <a:r>
                        <a:rPr lang="en-US" sz="1000" b="1" err="1">
                          <a:solidFill>
                            <a:schemeClr val="bg1"/>
                          </a:solidFill>
                          <a:effectLst/>
                          <a:latin typeface="Raleway"/>
                        </a:rPr>
                        <a:t>Permintaan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Status </a:t>
                      </a:r>
                      <a:r>
                        <a:rPr lang="en-US" sz="1000" b="1" err="1">
                          <a:solidFill>
                            <a:schemeClr val="bg1"/>
                          </a:solidFill>
                          <a:effectLst/>
                          <a:latin typeface="Raleway"/>
                        </a:rPr>
                        <a:t>Rekrutmen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3190289376"/>
                  </a:ext>
                </a:extLst>
              </a:tr>
              <a:tr h="1017804">
                <a:tc>
                  <a:txBody>
                    <a:bodyPr/>
                    <a:lstStyle/>
                    <a:p>
                      <a:pPr algn="ctr">
                        <a:buNone/>
                      </a:pPr>
                      <a:r>
                        <a:rPr lang="en-US" sz="1000">
                          <a:effectLst/>
                          <a:latin typeface="Raleway"/>
                        </a:rPr>
                        <a:t>06-Dec-26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Area Sales Supervisor - Surabaya Barat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07-Dec-26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err="1">
                          <a:effectLst/>
                          <a:latin typeface="Raleway"/>
                        </a:rPr>
                        <a:t>Kenthansen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err="1">
                          <a:effectLst/>
                          <a:latin typeface="Raleway"/>
                        </a:rPr>
                        <a:t>Kandidat</a:t>
                      </a:r>
                      <a:r>
                        <a:rPr lang="en-US" sz="1000">
                          <a:effectLst/>
                          <a:latin typeface="Raleway"/>
                        </a:rPr>
                        <a:t> </a:t>
                      </a:r>
                      <a:r>
                        <a:rPr lang="en-US" sz="1000" err="1">
                          <a:effectLst/>
                          <a:latin typeface="Raleway"/>
                        </a:rPr>
                        <a:t>a.n</a:t>
                      </a:r>
                      <a:r>
                        <a:rPr lang="en-US" sz="1000">
                          <a:effectLst/>
                          <a:latin typeface="Raleway"/>
                        </a:rPr>
                        <a:t> Monica Leticia -&gt; </a:t>
                      </a:r>
                      <a:r>
                        <a:rPr lang="en-US" sz="1000" err="1">
                          <a:effectLst/>
                          <a:latin typeface="Raleway"/>
                        </a:rPr>
                        <a:t>Menolak</a:t>
                      </a:r>
                      <a:r>
                        <a:rPr lang="en-US" sz="1000">
                          <a:effectLst/>
                          <a:latin typeface="Raleway"/>
                        </a:rPr>
                        <a:t> offer</a:t>
                      </a:r>
                      <a:br>
                        <a:rPr lang="en-US" sz="1000">
                          <a:effectLst/>
                          <a:latin typeface="Raleway"/>
                        </a:rPr>
                      </a:br>
                      <a:r>
                        <a:rPr lang="en-US" sz="1000" err="1">
                          <a:effectLst/>
                          <a:latin typeface="Raleway"/>
                        </a:rPr>
                        <a:t>Kandidat</a:t>
                      </a:r>
                      <a:r>
                        <a:rPr lang="en-US" sz="1000">
                          <a:effectLst/>
                          <a:latin typeface="Raleway"/>
                        </a:rPr>
                        <a:t> </a:t>
                      </a:r>
                      <a:r>
                        <a:rPr lang="en-US" sz="1000" err="1">
                          <a:effectLst/>
                          <a:latin typeface="Raleway"/>
                        </a:rPr>
                        <a:t>a.n</a:t>
                      </a:r>
                      <a:r>
                        <a:rPr lang="en-US" sz="1000">
                          <a:effectLst/>
                          <a:latin typeface="Raleway"/>
                        </a:rPr>
                        <a:t> Affan </a:t>
                      </a:r>
                      <a:r>
                        <a:rPr lang="en-US" sz="1000" err="1">
                          <a:effectLst/>
                          <a:latin typeface="Raleway"/>
                        </a:rPr>
                        <a:t>dalam</a:t>
                      </a:r>
                      <a:r>
                        <a:rPr lang="en-US" sz="1000">
                          <a:effectLst/>
                          <a:latin typeface="Raleway"/>
                        </a:rPr>
                        <a:t> proses assessment</a:t>
                      </a:r>
                      <a:br>
                        <a:rPr lang="en-US" sz="1000">
                          <a:effectLst/>
                          <a:latin typeface="Raleway"/>
                        </a:rPr>
                      </a:br>
                      <a:r>
                        <a:rPr lang="en-US" sz="1000">
                          <a:effectLst/>
                          <a:latin typeface="Raleway"/>
                        </a:rPr>
                        <a:t>Sent CV to user week 33</a:t>
                      </a: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Send 10 CVs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3277191998"/>
                  </a:ext>
                </a:extLst>
              </a:tr>
              <a:tr h="648514">
                <a:tc>
                  <a:txBody>
                    <a:bodyPr/>
                    <a:lstStyle/>
                    <a:p>
                      <a:pPr algn="ctr">
                        <a:buNone/>
                      </a:pPr>
                      <a:r>
                        <a:rPr lang="en-US" sz="1000">
                          <a:effectLst/>
                          <a:latin typeface="Raleway"/>
                        </a:rPr>
                        <a:t>07-Sep-26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Area Sales Supervisor - Surabaya Timur</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08-Aug-26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Kevin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Closed</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Week 33: Hand Over FPTK </a:t>
                      </a:r>
                      <a:br>
                        <a:rPr lang="en-US" sz="1000">
                          <a:effectLst/>
                          <a:latin typeface="Raleway"/>
                        </a:rPr>
                      </a:br>
                      <a:r>
                        <a:rPr lang="en-US" sz="1000">
                          <a:effectLst/>
                          <a:latin typeface="Raleway"/>
                        </a:rPr>
                        <a:t>Next Week: Sourcing &amp; Shortlist </a:t>
                      </a:r>
                      <a:r>
                        <a:rPr lang="en-US" sz="1000" err="1">
                          <a:effectLst/>
                          <a:latin typeface="Raleway"/>
                        </a:rPr>
                        <a:t>Cv</a:t>
                      </a:r>
                      <a:r>
                        <a:rPr lang="en-US" sz="1000">
                          <a:effectLst/>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2974922040"/>
                  </a:ext>
                </a:extLst>
              </a:tr>
              <a:tr h="873693">
                <a:tc>
                  <a:txBody>
                    <a:bodyPr/>
                    <a:lstStyle/>
                    <a:p>
                      <a:pPr algn="ctr">
                        <a:buNone/>
                      </a:pPr>
                      <a:r>
                        <a:rPr lang="en-US" sz="1000">
                          <a:effectLst/>
                          <a:latin typeface="Raleway"/>
                        </a:rPr>
                        <a:t>07-Feb-26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Area Sales Supervisor (Chilled) - Banjarmasin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08-Jan-26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err="1">
                          <a:effectLst/>
                          <a:latin typeface="Raleway"/>
                        </a:rPr>
                        <a:t>Kenthansen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err="1">
                          <a:effectLst/>
                          <a:latin typeface="Raleway"/>
                        </a:rPr>
                        <a:t>Kandidat</a:t>
                      </a:r>
                      <a:r>
                        <a:rPr lang="en-US" sz="1000">
                          <a:effectLst/>
                          <a:latin typeface="Raleway"/>
                        </a:rPr>
                        <a:t> </a:t>
                      </a:r>
                      <a:r>
                        <a:rPr lang="en-US" sz="1000" err="1">
                          <a:effectLst/>
                          <a:latin typeface="Raleway"/>
                        </a:rPr>
                        <a:t>a.n</a:t>
                      </a:r>
                      <a:r>
                        <a:rPr lang="en-US" sz="1000">
                          <a:effectLst/>
                          <a:latin typeface="Raleway"/>
                        </a:rPr>
                        <a:t> </a:t>
                      </a:r>
                      <a:r>
                        <a:rPr lang="en-US" sz="1000" err="1">
                          <a:effectLst/>
                          <a:latin typeface="Raleway"/>
                        </a:rPr>
                        <a:t>Solihin</a:t>
                      </a:r>
                      <a:r>
                        <a:rPr lang="en-US" sz="1000">
                          <a:effectLst/>
                          <a:latin typeface="Raleway"/>
                        </a:rPr>
                        <a:t> </a:t>
                      </a:r>
                      <a:r>
                        <a:rPr lang="en-US" sz="1000" err="1">
                          <a:effectLst/>
                          <a:latin typeface="Raleway"/>
                        </a:rPr>
                        <a:t>akan</a:t>
                      </a:r>
                      <a:r>
                        <a:rPr lang="en-US" sz="1000">
                          <a:effectLst/>
                          <a:latin typeface="Raleway"/>
                        </a:rPr>
                        <a:t> Market Visit</a:t>
                      </a:r>
                      <a:br>
                        <a:rPr lang="en-US" sz="1000">
                          <a:effectLst/>
                          <a:latin typeface="Raleway"/>
                        </a:rPr>
                      </a:br>
                      <a:r>
                        <a:rPr lang="en-US" sz="1000">
                          <a:effectLst/>
                          <a:latin typeface="Raleway"/>
                        </a:rPr>
                        <a:t>Sent CV to user week 33</a:t>
                      </a: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Confirm </a:t>
                      </a:r>
                      <a:r>
                        <a:rPr lang="en-US" sz="1000" err="1">
                          <a:effectLst/>
                          <a:latin typeface="Raleway"/>
                        </a:rPr>
                        <a:t>kebutuhan</a:t>
                      </a:r>
                      <a:r>
                        <a:rPr lang="en-US" sz="1000">
                          <a:effectLst/>
                          <a:latin typeface="Raleway"/>
                        </a:rPr>
                        <a:t> FPTK </a:t>
                      </a:r>
                      <a:r>
                        <a:rPr lang="en-US" sz="1000" err="1">
                          <a:effectLst/>
                          <a:latin typeface="Raleway"/>
                        </a:rPr>
                        <a:t>ke</a:t>
                      </a:r>
                      <a:r>
                        <a:rPr lang="en-US" sz="1000">
                          <a:effectLst/>
                          <a:latin typeface="Raleway"/>
                        </a:rPr>
                        <a:t> User dan send 10 CVs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4147464167"/>
                  </a:ext>
                </a:extLst>
              </a:tr>
              <a:tr h="873693">
                <a:tc>
                  <a:txBody>
                    <a:bodyPr/>
                    <a:lstStyle/>
                    <a:p>
                      <a:pPr algn="ctr">
                        <a:buNone/>
                      </a:pPr>
                      <a:r>
                        <a:rPr lang="en-US" sz="1000">
                          <a:effectLst/>
                          <a:latin typeface="Raleway"/>
                        </a:rPr>
                        <a:t>07-Feb-26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Area Sales Supervisor (Chilled) - Pontianak</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08-Jan-26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Salsa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&gt; Sent CV to user week 33</a:t>
                      </a: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&gt; HR Interview &amp; </a:t>
                      </a:r>
                      <a:r>
                        <a:rPr lang="en-US" sz="1000" err="1">
                          <a:effectLst/>
                          <a:latin typeface="Raleway"/>
                        </a:rPr>
                        <a:t>psikotes</a:t>
                      </a:r>
                      <a:r>
                        <a:rPr lang="en-US" sz="1000">
                          <a:effectLst/>
                          <a:latin typeface="Raleway"/>
                        </a:rPr>
                        <a:t>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2683271385"/>
                  </a:ext>
                </a:extLst>
              </a:tr>
              <a:tr h="828657">
                <a:tc>
                  <a:txBody>
                    <a:bodyPr/>
                    <a:lstStyle/>
                    <a:p>
                      <a:pPr algn="ctr">
                        <a:buNone/>
                      </a:pPr>
                      <a:r>
                        <a:rPr lang="en-US" sz="1000">
                          <a:effectLst/>
                          <a:latin typeface="Raleway"/>
                        </a:rPr>
                        <a:t>22-Jun-26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Head of Area </a:t>
                      </a:r>
                      <a:r>
                        <a:rPr lang="en-US" sz="1000" err="1">
                          <a:effectLst/>
                          <a:latin typeface="Raleway"/>
                        </a:rPr>
                        <a:t>Jombang</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21-Aug-26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err="1">
                          <a:effectLst/>
                          <a:latin typeface="Raleway"/>
                        </a:rPr>
                        <a:t>Kenthansen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err="1">
                          <a:effectLst/>
                          <a:latin typeface="Raleway"/>
                        </a:rPr>
                        <a:t>Kandidat</a:t>
                      </a:r>
                      <a:r>
                        <a:rPr lang="en-US" sz="1000">
                          <a:effectLst/>
                          <a:latin typeface="Raleway"/>
                        </a:rPr>
                        <a:t> </a:t>
                      </a:r>
                      <a:r>
                        <a:rPr lang="en-US" sz="1000" err="1">
                          <a:effectLst/>
                          <a:latin typeface="Raleway"/>
                        </a:rPr>
                        <a:t>a.n</a:t>
                      </a:r>
                      <a:r>
                        <a:rPr lang="en-US" sz="1000">
                          <a:effectLst/>
                          <a:latin typeface="Raleway"/>
                        </a:rPr>
                        <a:t> Tri Sutrisno </a:t>
                      </a:r>
                      <a:r>
                        <a:rPr lang="en-US" sz="1000" err="1">
                          <a:effectLst/>
                          <a:latin typeface="Raleway"/>
                        </a:rPr>
                        <a:t>dalam</a:t>
                      </a:r>
                      <a:r>
                        <a:rPr lang="en-US" sz="1000">
                          <a:effectLst/>
                          <a:latin typeface="Raleway"/>
                        </a:rPr>
                        <a:t> proses assessment</a:t>
                      </a:r>
                      <a:br>
                        <a:rPr lang="en-US" sz="1000">
                          <a:effectLst/>
                          <a:latin typeface="Raleway"/>
                        </a:rPr>
                      </a:br>
                      <a:r>
                        <a:rPr lang="en-US" sz="1000">
                          <a:effectLst/>
                          <a:latin typeface="Raleway"/>
                        </a:rPr>
                        <a:t>Sent CV to user week 33</a:t>
                      </a: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Send 10 CVs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3773346414"/>
                  </a:ext>
                </a:extLst>
              </a:tr>
            </a:tbl>
          </a:graphicData>
        </a:graphic>
      </p:graphicFrame>
      <p:sp>
        <p:nvSpPr>
          <p:cNvPr id="8" name="TextBox 7">
            <a:extLst>
              <a:ext uri="{FF2B5EF4-FFF2-40B4-BE49-F238E27FC236}">
                <a16:creationId xmlns:a16="http://schemas.microsoft.com/office/drawing/2014/main" id="{58293C3C-F4C3-4586-E5FC-9130198427E6}"/>
              </a:ext>
            </a:extLst>
          </p:cNvPr>
          <p:cNvSpPr txBox="1"/>
          <p:nvPr/>
        </p:nvSpPr>
        <p:spPr>
          <a:xfrm>
            <a:off x="89575" y="6408147"/>
            <a:ext cx="10972800" cy="261610"/>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a:latin typeface="Raleway"/>
              </a:rPr>
              <a:t>* </a:t>
            </a:r>
            <a:r>
              <a:rPr lang="en-US" sz="1100" i="1">
                <a:latin typeface="Raleway"/>
              </a:rPr>
              <a:t>Update per </a:t>
            </a:r>
            <a:r>
              <a:rPr lang="en-US" sz="1100" i="1" err="1">
                <a:latin typeface="Raleway"/>
              </a:rPr>
              <a:t>tanggal</a:t>
            </a:r>
            <a:r>
              <a:rPr lang="en-US" sz="1100" i="1">
                <a:latin typeface="Raleway"/>
              </a:rPr>
              <a:t> 14 Agustus 2026</a:t>
            </a:r>
            <a:endParaRPr lang="en-US" sz="1100">
              <a:latin typeface="Raleway"/>
            </a:endParaRPr>
          </a:p>
        </p:txBody>
      </p:sp>
      <p:sp>
        <p:nvSpPr>
          <p:cNvPr id="10" name="Title 1">
            <a:extLst>
              <a:ext uri="{FF2B5EF4-FFF2-40B4-BE49-F238E27FC236}">
                <a16:creationId xmlns:a16="http://schemas.microsoft.com/office/drawing/2014/main" id="{79E0ADE0-101C-443B-BA4F-0AD9812070E8}"/>
              </a:ext>
            </a:extLst>
          </p:cNvPr>
          <p:cNvSpPr txBox="1">
            <a:spLocks/>
          </p:cNvSpPr>
          <p:nvPr/>
        </p:nvSpPr>
        <p:spPr>
          <a:xfrm>
            <a:off x="1567829" y="416783"/>
            <a:ext cx="8958197" cy="4799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2400" b="1">
                <a:latin typeface="Raleway" panose="020B0503030101060003"/>
              </a:rPr>
              <a:t>Recruitment Progress – Level 3</a:t>
            </a:r>
            <a:endParaRPr lang="en-US" sz="2400">
              <a:latin typeface="Raleway" panose="020B0503030101060003"/>
            </a:endParaRPr>
          </a:p>
        </p:txBody>
      </p:sp>
    </p:spTree>
    <p:extLst>
      <p:ext uri="{BB962C8B-B14F-4D97-AF65-F5344CB8AC3E}">
        <p14:creationId xmlns:p14="http://schemas.microsoft.com/office/powerpoint/2010/main" val="1445476440"/>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C7E9C9-ED3D-0D68-7852-7A2A63E44C2F}"/>
            </a:ext>
          </a:extLst>
        </p:cNvPr>
        <p:cNvGrpSpPr/>
        <p:nvPr/>
      </p:nvGrpSpPr>
      <p:grpSpPr>
        <a:xfrm>
          <a:off x="0" y="0"/>
          <a:ext cx="0" cy="0"/>
          <a:chOff x="0" y="0"/>
          <a:chExt cx="0" cy="0"/>
        </a:xfrm>
      </p:grpSpPr>
      <p:graphicFrame>
        <p:nvGraphicFramePr>
          <p:cNvPr id="4" name="Table 3">
            <a:extLst>
              <a:ext uri="{FF2B5EF4-FFF2-40B4-BE49-F238E27FC236}">
                <a16:creationId xmlns:a16="http://schemas.microsoft.com/office/drawing/2014/main" id="{90B1B378-7362-CDF2-5698-85F44D67F952}"/>
              </a:ext>
            </a:extLst>
          </p:cNvPr>
          <p:cNvGraphicFramePr>
            <a:graphicFrameLocks noGrp="1"/>
          </p:cNvGraphicFramePr>
          <p:nvPr>
            <p:extLst>
              <p:ext uri="{D42A27DB-BD31-4B8C-83A1-F6EECF244321}">
                <p14:modId xmlns:p14="http://schemas.microsoft.com/office/powerpoint/2010/main" val="2083412974"/>
              </p:ext>
            </p:extLst>
          </p:nvPr>
        </p:nvGraphicFramePr>
        <p:xfrm>
          <a:off x="201448" y="739566"/>
          <a:ext cx="11645029" cy="5544222"/>
        </p:xfrm>
        <a:graphic>
          <a:graphicData uri="http://schemas.openxmlformats.org/drawingml/2006/table">
            <a:tbl>
              <a:tblPr bandRow="1">
                <a:tableStyleId>{5C22544A-7EE6-4342-B048-85BDC9FD1C3A}</a:tableStyleId>
              </a:tblPr>
              <a:tblGrid>
                <a:gridCol w="548001">
                  <a:extLst>
                    <a:ext uri="{9D8B030D-6E8A-4147-A177-3AD203B41FA5}">
                      <a16:colId xmlns:a16="http://schemas.microsoft.com/office/drawing/2014/main" val="788174622"/>
                    </a:ext>
                  </a:extLst>
                </a:gridCol>
                <a:gridCol w="2077839">
                  <a:extLst>
                    <a:ext uri="{9D8B030D-6E8A-4147-A177-3AD203B41FA5}">
                      <a16:colId xmlns:a16="http://schemas.microsoft.com/office/drawing/2014/main" val="3454484628"/>
                    </a:ext>
                  </a:extLst>
                </a:gridCol>
                <a:gridCol w="548001">
                  <a:extLst>
                    <a:ext uri="{9D8B030D-6E8A-4147-A177-3AD203B41FA5}">
                      <a16:colId xmlns:a16="http://schemas.microsoft.com/office/drawing/2014/main" val="1209377498"/>
                    </a:ext>
                  </a:extLst>
                </a:gridCol>
                <a:gridCol w="981835">
                  <a:extLst>
                    <a:ext uri="{9D8B030D-6E8A-4147-A177-3AD203B41FA5}">
                      <a16:colId xmlns:a16="http://schemas.microsoft.com/office/drawing/2014/main" val="52115512"/>
                    </a:ext>
                  </a:extLst>
                </a:gridCol>
                <a:gridCol w="730668">
                  <a:extLst>
                    <a:ext uri="{9D8B030D-6E8A-4147-A177-3AD203B41FA5}">
                      <a16:colId xmlns:a16="http://schemas.microsoft.com/office/drawing/2014/main" val="2797814337"/>
                    </a:ext>
                  </a:extLst>
                </a:gridCol>
                <a:gridCol w="582251">
                  <a:extLst>
                    <a:ext uri="{9D8B030D-6E8A-4147-A177-3AD203B41FA5}">
                      <a16:colId xmlns:a16="http://schemas.microsoft.com/office/drawing/2014/main" val="4200925151"/>
                    </a:ext>
                  </a:extLst>
                </a:gridCol>
                <a:gridCol w="936169">
                  <a:extLst>
                    <a:ext uri="{9D8B030D-6E8A-4147-A177-3AD203B41FA5}">
                      <a16:colId xmlns:a16="http://schemas.microsoft.com/office/drawing/2014/main" val="2767604143"/>
                    </a:ext>
                  </a:extLst>
                </a:gridCol>
                <a:gridCol w="548001">
                  <a:extLst>
                    <a:ext uri="{9D8B030D-6E8A-4147-A177-3AD203B41FA5}">
                      <a16:colId xmlns:a16="http://schemas.microsoft.com/office/drawing/2014/main" val="1597079674"/>
                    </a:ext>
                  </a:extLst>
                </a:gridCol>
                <a:gridCol w="548001">
                  <a:extLst>
                    <a:ext uri="{9D8B030D-6E8A-4147-A177-3AD203B41FA5}">
                      <a16:colId xmlns:a16="http://schemas.microsoft.com/office/drawing/2014/main" val="3755576433"/>
                    </a:ext>
                  </a:extLst>
                </a:gridCol>
                <a:gridCol w="4144263">
                  <a:extLst>
                    <a:ext uri="{9D8B030D-6E8A-4147-A177-3AD203B41FA5}">
                      <a16:colId xmlns:a16="http://schemas.microsoft.com/office/drawing/2014/main" val="1665278420"/>
                    </a:ext>
                  </a:extLst>
                </a:gridCol>
              </a:tblGrid>
              <a:tr h="1008835">
                <a:tc>
                  <a:txBody>
                    <a:bodyPr/>
                    <a:lstStyle/>
                    <a:p>
                      <a:pPr>
                        <a:buNone/>
                      </a:pPr>
                      <a:r>
                        <a:rPr lang="en-US" sz="1000" b="1">
                          <a:solidFill>
                            <a:schemeClr val="bg1"/>
                          </a:solidFill>
                          <a:effectLst/>
                          <a:latin typeface="Raleway"/>
                        </a:rPr>
                        <a:t>Tanggal 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Posisi</a:t>
                      </a:r>
                      <a:endParaRPr lang="en-US" sz="1000" b="1" err="1">
                        <a:solidFill>
                          <a:schemeClr val="bg1"/>
                        </a:solidFill>
                        <a:effectLst/>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buNone/>
                      </a:pPr>
                      <a:r>
                        <a:rPr lang="en-US" sz="1000" b="1">
                          <a:solidFill>
                            <a:schemeClr val="bg1"/>
                          </a:solidFill>
                          <a:effectLst/>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buNone/>
                      </a:pPr>
                      <a:r>
                        <a:rPr lang="en-US" sz="1000" b="1">
                          <a:solidFill>
                            <a:schemeClr val="bg1"/>
                          </a:solidFill>
                          <a:effectLst/>
                          <a:latin typeface="Raleway"/>
                        </a:rPr>
                        <a:t>Business 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buNone/>
                      </a:pPr>
                      <a:r>
                        <a:rPr lang="en-US" sz="1000" b="1" err="1">
                          <a:solidFill>
                            <a:schemeClr val="bg1"/>
                          </a:solidFill>
                          <a:effectLst/>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buNone/>
                      </a:pPr>
                      <a:r>
                        <a:rPr lang="en-US" sz="1000" b="1">
                          <a:solidFill>
                            <a:schemeClr val="bg1"/>
                          </a:solidFill>
                          <a:effectLst/>
                          <a:latin typeface="Raleway"/>
                        </a:rPr>
                        <a:t>SLA Target </a:t>
                      </a:r>
                      <a:r>
                        <a:rPr lang="en-US" sz="1000" b="1" err="1">
                          <a:solidFill>
                            <a:schemeClr val="bg1"/>
                          </a:solidFill>
                          <a:effectLst/>
                          <a:latin typeface="Raleway"/>
                        </a:rPr>
                        <a:t>Pemenuhan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buNone/>
                      </a:pPr>
                      <a:r>
                        <a:rPr lang="en-US" sz="1000" b="1">
                          <a:solidFill>
                            <a:schemeClr val="bg1"/>
                          </a:solidFill>
                          <a:effectLst/>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buNone/>
                      </a:pPr>
                      <a:r>
                        <a:rPr lang="en-US" sz="1000" b="1" err="1">
                          <a:solidFill>
                            <a:schemeClr val="bg1"/>
                          </a:solidFill>
                          <a:effectLst/>
                          <a:latin typeface="Raleway"/>
                        </a:rPr>
                        <a:t>Jumlah</a:t>
                      </a:r>
                      <a:r>
                        <a:rPr lang="en-US" sz="1000" b="1">
                          <a:solidFill>
                            <a:schemeClr val="bg1"/>
                          </a:solidFill>
                          <a:effectLst/>
                          <a:latin typeface="Raleway"/>
                        </a:rPr>
                        <a:t> </a:t>
                      </a:r>
                      <a:r>
                        <a:rPr lang="en-US" sz="1000" b="1" err="1">
                          <a:solidFill>
                            <a:schemeClr val="bg1"/>
                          </a:solidFill>
                          <a:effectLst/>
                          <a:latin typeface="Raleway"/>
                        </a:rPr>
                        <a:t>Permintaan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buNone/>
                      </a:pPr>
                      <a:r>
                        <a:rPr lang="en-US" sz="1000" b="1">
                          <a:solidFill>
                            <a:schemeClr val="bg1"/>
                          </a:solidFill>
                          <a:effectLst/>
                          <a:latin typeface="Raleway"/>
                        </a:rPr>
                        <a:t>Status </a:t>
                      </a:r>
                      <a:r>
                        <a:rPr lang="en-US" sz="1000" b="1" err="1">
                          <a:solidFill>
                            <a:schemeClr val="bg1"/>
                          </a:solidFill>
                          <a:effectLst/>
                          <a:latin typeface="Raleway"/>
                        </a:rPr>
                        <a:t>Rekrutmen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buNone/>
                      </a:pPr>
                      <a:r>
                        <a:rPr lang="en-US" sz="1000" b="1">
                          <a:solidFill>
                            <a:schemeClr val="bg1"/>
                          </a:solidFill>
                          <a:effectLst/>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362399691"/>
                  </a:ext>
                </a:extLst>
              </a:tr>
              <a:tr h="771980">
                <a:tc>
                  <a:txBody>
                    <a:bodyPr/>
                    <a:lstStyle/>
                    <a:p>
                      <a:pPr algn="ctr">
                        <a:buNone/>
                      </a:pPr>
                      <a:r>
                        <a:rPr lang="en-US" sz="1000">
                          <a:effectLst/>
                          <a:latin typeface="Raleway"/>
                        </a:rPr>
                        <a:t>16-Dec-25</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Tax Supervisor</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15-Jan-25</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Valen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Progress :</a:t>
                      </a:r>
                      <a:br>
                        <a:rPr lang="en-US" sz="1000">
                          <a:effectLst/>
                          <a:latin typeface="Raleway"/>
                        </a:rPr>
                      </a:br>
                      <a:r>
                        <a:rPr lang="en-US" sz="1000">
                          <a:effectLst/>
                          <a:latin typeface="Raleway"/>
                        </a:rPr>
                        <a:t>1. Sourcing CV</a:t>
                      </a: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1. send cv </a:t>
                      </a:r>
                      <a:r>
                        <a:rPr lang="en-US" sz="1000" err="1">
                          <a:effectLst/>
                          <a:latin typeface="Raleway"/>
                        </a:rPr>
                        <a:t>ke</a:t>
                      </a:r>
                      <a:r>
                        <a:rPr lang="en-US" sz="1000">
                          <a:effectLst/>
                          <a:latin typeface="Raleway"/>
                        </a:rPr>
                        <a:t> user </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2852766080"/>
                  </a:ext>
                </a:extLst>
              </a:tr>
              <a:tr h="771980">
                <a:tc>
                  <a:txBody>
                    <a:bodyPr/>
                    <a:lstStyle/>
                    <a:p>
                      <a:pPr algn="ctr">
                        <a:buNone/>
                      </a:pPr>
                      <a:r>
                        <a:rPr lang="en-US" sz="1000">
                          <a:effectLst/>
                          <a:latin typeface="Raleway"/>
                        </a:rPr>
                        <a:t>07-Apr-26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Sales and Marketing Audit Supervisor</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08-Mar-26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Kevin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Progress:</a:t>
                      </a:r>
                      <a:br>
                        <a:rPr lang="en-US" sz="1000">
                          <a:effectLst/>
                          <a:latin typeface="Raleway"/>
                        </a:rPr>
                      </a:br>
                      <a:r>
                        <a:rPr lang="en-US" sz="1000">
                          <a:effectLst/>
                          <a:latin typeface="Raleway"/>
                        </a:rPr>
                        <a:t>-Briefing Criteria Supervisor di week 33</a:t>
                      </a: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a:t>
                      </a:r>
                      <a:r>
                        <a:rPr lang="en-US" sz="1000" err="1">
                          <a:effectLst/>
                          <a:latin typeface="Raleway"/>
                        </a:rPr>
                        <a:t>Melakukan</a:t>
                      </a:r>
                      <a:r>
                        <a:rPr lang="en-US" sz="1000">
                          <a:effectLst/>
                          <a:latin typeface="Raleway"/>
                        </a:rPr>
                        <a:t> sourcing </a:t>
                      </a:r>
                      <a:r>
                        <a:rPr lang="en-US" sz="1000" err="1">
                          <a:effectLst/>
                          <a:latin typeface="Raleway"/>
                        </a:rPr>
                        <a:t>untuk</a:t>
                      </a:r>
                      <a:r>
                        <a:rPr lang="en-US" sz="1000">
                          <a:effectLst/>
                          <a:latin typeface="Raleway"/>
                        </a:rPr>
                        <a:t> </a:t>
                      </a:r>
                      <a:r>
                        <a:rPr lang="en-US" sz="1000" err="1">
                          <a:effectLst/>
                          <a:latin typeface="Raleway"/>
                        </a:rPr>
                        <a:t>kandidat</a:t>
                      </a:r>
                      <a:r>
                        <a:rPr lang="en-US" sz="1000">
                          <a:effectLst/>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448224060"/>
                  </a:ext>
                </a:extLst>
              </a:tr>
              <a:tr h="1447467">
                <a:tc>
                  <a:txBody>
                    <a:bodyPr/>
                    <a:lstStyle/>
                    <a:p>
                      <a:pPr algn="ctr">
                        <a:buNone/>
                      </a:pPr>
                      <a:r>
                        <a:rPr lang="en-US" sz="1000">
                          <a:effectLst/>
                          <a:latin typeface="Raleway"/>
                        </a:rPr>
                        <a:t>07-Oct-26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Production Supervisor</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08-Sep-26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Karin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&gt; Send 6 </a:t>
                      </a:r>
                      <a:r>
                        <a:rPr lang="en-US" sz="1000" err="1">
                          <a:effectLst/>
                          <a:latin typeface="Raleway"/>
                        </a:rPr>
                        <a:t>kandidat</a:t>
                      </a:r>
                      <a:r>
                        <a:rPr lang="en-US" sz="1000">
                          <a:effectLst/>
                          <a:latin typeface="Raleway"/>
                        </a:rPr>
                        <a:t> LOLOS HR Interview to User per 21 Juli 2026 - HOLD </a:t>
                      </a:r>
                      <a:r>
                        <a:rPr lang="en-US" sz="1000" err="1">
                          <a:effectLst/>
                          <a:latin typeface="Raleway"/>
                        </a:rPr>
                        <a:t>menunggu</a:t>
                      </a:r>
                      <a:r>
                        <a:rPr lang="en-US" sz="1000">
                          <a:effectLst/>
                          <a:latin typeface="Raleway"/>
                        </a:rPr>
                        <a:t> Pak Adi </a:t>
                      </a:r>
                      <a:r>
                        <a:rPr lang="en-US" sz="1000" err="1">
                          <a:effectLst/>
                          <a:latin typeface="Raleway"/>
                        </a:rPr>
                        <a:t>pulang</a:t>
                      </a:r>
                      <a:r>
                        <a:rPr lang="en-US" sz="1000">
                          <a:effectLst/>
                          <a:latin typeface="Raleway"/>
                        </a:rPr>
                        <a:t> </a:t>
                      </a:r>
                      <a:r>
                        <a:rPr lang="en-US" sz="1000" err="1">
                          <a:effectLst/>
                          <a:latin typeface="Raleway"/>
                        </a:rPr>
                        <a:t>perdin</a:t>
                      </a:r>
                      <a:br>
                        <a:rPr lang="en-US" sz="1000">
                          <a:effectLst/>
                          <a:latin typeface="Raleway"/>
                        </a:rPr>
                      </a:br>
                      <a:r>
                        <a:rPr lang="en-US" sz="1000">
                          <a:effectLst/>
                          <a:latin typeface="Raleway"/>
                        </a:rPr>
                        <a:t>&gt; Send </a:t>
                      </a:r>
                      <a:r>
                        <a:rPr lang="en-US" sz="1000" err="1">
                          <a:effectLst/>
                          <a:latin typeface="Raleway"/>
                        </a:rPr>
                        <a:t>tambahan</a:t>
                      </a:r>
                      <a:r>
                        <a:rPr lang="en-US" sz="1000">
                          <a:effectLst/>
                          <a:latin typeface="Raleway"/>
                        </a:rPr>
                        <a:t> 20 CV to User per 30 Juli 2026. Belum </a:t>
                      </a:r>
                      <a:r>
                        <a:rPr lang="en-US" sz="1000" err="1">
                          <a:effectLst/>
                          <a:latin typeface="Raleway"/>
                        </a:rPr>
                        <a:t>ada</a:t>
                      </a:r>
                      <a:r>
                        <a:rPr lang="en-US" sz="1000">
                          <a:effectLst/>
                          <a:latin typeface="Raleway"/>
                        </a:rPr>
                        <a:t> </a:t>
                      </a:r>
                      <a:r>
                        <a:rPr lang="en-US" sz="1000" err="1">
                          <a:effectLst/>
                          <a:latin typeface="Raleway"/>
                        </a:rPr>
                        <a:t>hasil</a:t>
                      </a:r>
                      <a:r>
                        <a:rPr lang="en-US" sz="1000">
                          <a:effectLst/>
                          <a:latin typeface="Raleway"/>
                        </a:rPr>
                        <a:t> screening User</a:t>
                      </a: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&gt; Send 10 CV di Week 34 </a:t>
                      </a:r>
                      <a:br>
                        <a:rPr lang="en-US" sz="1000">
                          <a:effectLst/>
                          <a:latin typeface="Raleway"/>
                        </a:rPr>
                      </a:br>
                      <a:r>
                        <a:rPr lang="en-US" sz="1000">
                          <a:effectLst/>
                          <a:latin typeface="Raleway"/>
                        </a:rPr>
                        <a:t>&gt; User interview 6 </a:t>
                      </a:r>
                      <a:r>
                        <a:rPr lang="en-US" sz="1000" err="1">
                          <a:effectLst/>
                          <a:latin typeface="Raleway"/>
                        </a:rPr>
                        <a:t>kandidat</a:t>
                      </a:r>
                      <a:r>
                        <a:rPr lang="en-US" sz="1000">
                          <a:effectLst/>
                          <a:latin typeface="Raleway"/>
                        </a:rPr>
                        <a:t> </a:t>
                      </a:r>
                      <a:r>
                        <a:rPr lang="en-US" sz="1000" err="1">
                          <a:effectLst/>
                          <a:latin typeface="Raleway"/>
                        </a:rPr>
                        <a:t>maksimal</a:t>
                      </a:r>
                      <a:r>
                        <a:rPr lang="en-US" sz="1000">
                          <a:effectLst/>
                          <a:latin typeface="Raleway"/>
                        </a:rPr>
                        <a:t> di Week 34. </a:t>
                      </a:r>
                      <a:r>
                        <a:rPr lang="en-US" sz="1000" err="1">
                          <a:effectLst/>
                          <a:latin typeface="Raleway"/>
                        </a:rPr>
                        <a:t>Perlu</a:t>
                      </a:r>
                      <a:r>
                        <a:rPr lang="en-US" sz="1000">
                          <a:effectLst/>
                          <a:latin typeface="Raleway"/>
                        </a:rPr>
                        <a:t> follow up </a:t>
                      </a:r>
                      <a:r>
                        <a:rPr lang="en-US" sz="1000" err="1">
                          <a:effectLst/>
                          <a:latin typeface="Raleway"/>
                        </a:rPr>
                        <a:t>jadwal</a:t>
                      </a:r>
                      <a:r>
                        <a:rPr lang="en-US" sz="1000">
                          <a:effectLst/>
                          <a:latin typeface="Raleway"/>
                        </a:rPr>
                        <a:t> </a:t>
                      </a:r>
                      <a:r>
                        <a:rPr lang="en-US" sz="1000" err="1">
                          <a:effectLst/>
                          <a:latin typeface="Raleway"/>
                        </a:rPr>
                        <a:t>dari</a:t>
                      </a:r>
                      <a:r>
                        <a:rPr lang="en-US" sz="1000">
                          <a:effectLst/>
                          <a:latin typeface="Raleway"/>
                        </a:rPr>
                        <a:t> Pak Alif</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459682132"/>
                  </a:ext>
                </a:extLst>
              </a:tr>
              <a:tr h="771980">
                <a:tc>
                  <a:txBody>
                    <a:bodyPr/>
                    <a:lstStyle/>
                    <a:p>
                      <a:pPr algn="ctr">
                        <a:buNone/>
                      </a:pPr>
                      <a:r>
                        <a:rPr lang="en-US" sz="1000">
                          <a:effectLst/>
                          <a:latin typeface="Raleway"/>
                        </a:rPr>
                        <a:t>19-May-26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Brand Executive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18-Jun-26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Valen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Progress :</a:t>
                      </a:r>
                      <a:br>
                        <a:rPr lang="en-US" sz="1000">
                          <a:effectLst/>
                          <a:latin typeface="Raleway"/>
                        </a:rPr>
                      </a:br>
                      <a:r>
                        <a:rPr lang="en-US" sz="1000">
                          <a:effectLst/>
                          <a:latin typeface="Raleway"/>
                        </a:rPr>
                        <a:t>1. Sourcing CV</a:t>
                      </a: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1. send cv </a:t>
                      </a:r>
                      <a:r>
                        <a:rPr lang="en-US" sz="1000" err="1">
                          <a:effectLst/>
                          <a:latin typeface="Raleway"/>
                        </a:rPr>
                        <a:t>ke</a:t>
                      </a:r>
                      <a:r>
                        <a:rPr lang="en-US" sz="1000">
                          <a:effectLst/>
                          <a:latin typeface="Raleway"/>
                        </a:rPr>
                        <a:t> user </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332148139"/>
                  </a:ext>
                </a:extLst>
              </a:tr>
              <a:tr h="771980">
                <a:tc>
                  <a:txBody>
                    <a:bodyPr/>
                    <a:lstStyle/>
                    <a:p>
                      <a:pPr algn="ctr">
                        <a:buNone/>
                      </a:pPr>
                      <a:r>
                        <a:rPr lang="en-US" sz="1000">
                          <a:effectLst/>
                          <a:latin typeface="Raleway"/>
                        </a:rPr>
                        <a:t>20-May-26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Brand Executive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16-Jun-26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Valen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Progress :</a:t>
                      </a:r>
                      <a:br>
                        <a:rPr lang="en-US" sz="1000">
                          <a:effectLst/>
                          <a:latin typeface="Raleway"/>
                        </a:rPr>
                      </a:br>
                      <a:r>
                        <a:rPr lang="en-US" sz="1000">
                          <a:effectLst/>
                          <a:latin typeface="Raleway"/>
                        </a:rPr>
                        <a:t>1. Sourcing CV</a:t>
                      </a: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1. send cv </a:t>
                      </a:r>
                      <a:r>
                        <a:rPr lang="en-US" sz="1000" err="1">
                          <a:effectLst/>
                          <a:latin typeface="Raleway"/>
                        </a:rPr>
                        <a:t>ke</a:t>
                      </a:r>
                      <a:r>
                        <a:rPr lang="en-US" sz="1000">
                          <a:effectLst/>
                          <a:latin typeface="Raleway"/>
                        </a:rPr>
                        <a:t> user </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2808239972"/>
                  </a:ext>
                </a:extLst>
              </a:tr>
            </a:tbl>
          </a:graphicData>
        </a:graphic>
      </p:graphicFrame>
      <p:sp>
        <p:nvSpPr>
          <p:cNvPr id="6" name="TextBox 7">
            <a:extLst>
              <a:ext uri="{FF2B5EF4-FFF2-40B4-BE49-F238E27FC236}">
                <a16:creationId xmlns:a16="http://schemas.microsoft.com/office/drawing/2014/main" id="{DC45AB5C-CB3D-C829-F6C5-52138014B7B0}"/>
              </a:ext>
            </a:extLst>
          </p:cNvPr>
          <p:cNvSpPr txBox="1"/>
          <p:nvPr/>
        </p:nvSpPr>
        <p:spPr>
          <a:xfrm>
            <a:off x="89575" y="6408147"/>
            <a:ext cx="10972800" cy="261610"/>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a:latin typeface="Raleway"/>
              </a:rPr>
              <a:t>* </a:t>
            </a:r>
            <a:r>
              <a:rPr lang="en-US" sz="1100" i="1">
                <a:latin typeface="Raleway"/>
              </a:rPr>
              <a:t>Update per </a:t>
            </a:r>
            <a:r>
              <a:rPr lang="en-US" sz="1100" i="1" err="1">
                <a:latin typeface="Raleway"/>
              </a:rPr>
              <a:t>tanggal</a:t>
            </a:r>
            <a:r>
              <a:rPr lang="en-US" sz="1100" i="1">
                <a:latin typeface="Raleway"/>
              </a:rPr>
              <a:t> 14 Agustus 2026</a:t>
            </a:r>
            <a:endParaRPr lang="en-US" sz="1100">
              <a:latin typeface="Raleway"/>
            </a:endParaRPr>
          </a:p>
        </p:txBody>
      </p:sp>
      <p:sp>
        <p:nvSpPr>
          <p:cNvPr id="8" name="Title 1">
            <a:extLst>
              <a:ext uri="{FF2B5EF4-FFF2-40B4-BE49-F238E27FC236}">
                <a16:creationId xmlns:a16="http://schemas.microsoft.com/office/drawing/2014/main" id="{310BB32E-4512-EB54-ED7E-700545E3C9D6}"/>
              </a:ext>
            </a:extLst>
          </p:cNvPr>
          <p:cNvSpPr txBox="1">
            <a:spLocks/>
          </p:cNvSpPr>
          <p:nvPr/>
        </p:nvSpPr>
        <p:spPr>
          <a:xfrm>
            <a:off x="1541553" y="189059"/>
            <a:ext cx="8958197" cy="4799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2400" b="1">
                <a:latin typeface="Raleway" panose="020B0503030101060003"/>
              </a:rPr>
              <a:t>Recruitment Progress – Level 3</a:t>
            </a:r>
            <a:endParaRPr lang="en-US" sz="2400">
              <a:latin typeface="Raleway" panose="020B0503030101060003"/>
            </a:endParaRPr>
          </a:p>
        </p:txBody>
      </p:sp>
    </p:spTree>
    <p:extLst>
      <p:ext uri="{BB962C8B-B14F-4D97-AF65-F5344CB8AC3E}">
        <p14:creationId xmlns:p14="http://schemas.microsoft.com/office/powerpoint/2010/main" val="3790097384"/>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2F0058-213A-E18C-3483-D70916517829}"/>
            </a:ext>
          </a:extLst>
        </p:cNvPr>
        <p:cNvGrpSpPr/>
        <p:nvPr/>
      </p:nvGrpSpPr>
      <p:grpSpPr>
        <a:xfrm>
          <a:off x="0" y="0"/>
          <a:ext cx="0" cy="0"/>
          <a:chOff x="0" y="0"/>
          <a:chExt cx="0" cy="0"/>
        </a:xfrm>
      </p:grpSpPr>
      <p:graphicFrame>
        <p:nvGraphicFramePr>
          <p:cNvPr id="4" name="Table 3">
            <a:extLst>
              <a:ext uri="{FF2B5EF4-FFF2-40B4-BE49-F238E27FC236}">
                <a16:creationId xmlns:a16="http://schemas.microsoft.com/office/drawing/2014/main" id="{C69E56F1-11D8-6DEF-567A-6DF137062C7F}"/>
              </a:ext>
            </a:extLst>
          </p:cNvPr>
          <p:cNvGraphicFramePr>
            <a:graphicFrameLocks noGrp="1"/>
          </p:cNvGraphicFramePr>
          <p:nvPr>
            <p:extLst>
              <p:ext uri="{D42A27DB-BD31-4B8C-83A1-F6EECF244321}">
                <p14:modId xmlns:p14="http://schemas.microsoft.com/office/powerpoint/2010/main" val="802279001"/>
              </p:ext>
            </p:extLst>
          </p:nvPr>
        </p:nvGraphicFramePr>
        <p:xfrm>
          <a:off x="201449" y="793634"/>
          <a:ext cx="11662548" cy="4655028"/>
        </p:xfrm>
        <a:graphic>
          <a:graphicData uri="http://schemas.openxmlformats.org/drawingml/2006/table">
            <a:tbl>
              <a:tblPr bandRow="1">
                <a:tableStyleId>{5C22544A-7EE6-4342-B048-85BDC9FD1C3A}</a:tableStyleId>
              </a:tblPr>
              <a:tblGrid>
                <a:gridCol w="548825">
                  <a:extLst>
                    <a:ext uri="{9D8B030D-6E8A-4147-A177-3AD203B41FA5}">
                      <a16:colId xmlns:a16="http://schemas.microsoft.com/office/drawing/2014/main" val="1916472043"/>
                    </a:ext>
                  </a:extLst>
                </a:gridCol>
                <a:gridCol w="2080966">
                  <a:extLst>
                    <a:ext uri="{9D8B030D-6E8A-4147-A177-3AD203B41FA5}">
                      <a16:colId xmlns:a16="http://schemas.microsoft.com/office/drawing/2014/main" val="2070290954"/>
                    </a:ext>
                  </a:extLst>
                </a:gridCol>
                <a:gridCol w="548825">
                  <a:extLst>
                    <a:ext uri="{9D8B030D-6E8A-4147-A177-3AD203B41FA5}">
                      <a16:colId xmlns:a16="http://schemas.microsoft.com/office/drawing/2014/main" val="1169619896"/>
                    </a:ext>
                  </a:extLst>
                </a:gridCol>
                <a:gridCol w="983313">
                  <a:extLst>
                    <a:ext uri="{9D8B030D-6E8A-4147-A177-3AD203B41FA5}">
                      <a16:colId xmlns:a16="http://schemas.microsoft.com/office/drawing/2014/main" val="510084723"/>
                    </a:ext>
                  </a:extLst>
                </a:gridCol>
                <a:gridCol w="731768">
                  <a:extLst>
                    <a:ext uri="{9D8B030D-6E8A-4147-A177-3AD203B41FA5}">
                      <a16:colId xmlns:a16="http://schemas.microsoft.com/office/drawing/2014/main" val="4031015506"/>
                    </a:ext>
                  </a:extLst>
                </a:gridCol>
                <a:gridCol w="583127">
                  <a:extLst>
                    <a:ext uri="{9D8B030D-6E8A-4147-A177-3AD203B41FA5}">
                      <a16:colId xmlns:a16="http://schemas.microsoft.com/office/drawing/2014/main" val="3668548363"/>
                    </a:ext>
                  </a:extLst>
                </a:gridCol>
                <a:gridCol w="937577">
                  <a:extLst>
                    <a:ext uri="{9D8B030D-6E8A-4147-A177-3AD203B41FA5}">
                      <a16:colId xmlns:a16="http://schemas.microsoft.com/office/drawing/2014/main" val="3197926111"/>
                    </a:ext>
                  </a:extLst>
                </a:gridCol>
                <a:gridCol w="548825">
                  <a:extLst>
                    <a:ext uri="{9D8B030D-6E8A-4147-A177-3AD203B41FA5}">
                      <a16:colId xmlns:a16="http://schemas.microsoft.com/office/drawing/2014/main" val="2876412620"/>
                    </a:ext>
                  </a:extLst>
                </a:gridCol>
                <a:gridCol w="548825">
                  <a:extLst>
                    <a:ext uri="{9D8B030D-6E8A-4147-A177-3AD203B41FA5}">
                      <a16:colId xmlns:a16="http://schemas.microsoft.com/office/drawing/2014/main" val="2198448196"/>
                    </a:ext>
                  </a:extLst>
                </a:gridCol>
                <a:gridCol w="4150497">
                  <a:extLst>
                    <a:ext uri="{9D8B030D-6E8A-4147-A177-3AD203B41FA5}">
                      <a16:colId xmlns:a16="http://schemas.microsoft.com/office/drawing/2014/main" val="2920380258"/>
                    </a:ext>
                  </a:extLst>
                </a:gridCol>
              </a:tblGrid>
              <a:tr h="889437">
                <a:tc>
                  <a:txBody>
                    <a:bodyPr/>
                    <a:lstStyle/>
                    <a:p>
                      <a:pPr algn="ctr">
                        <a:buNone/>
                      </a:pPr>
                      <a:r>
                        <a:rPr lang="en-US" sz="1000" b="1">
                          <a:solidFill>
                            <a:schemeClr val="bg1"/>
                          </a:solidFill>
                          <a:effectLst/>
                          <a:latin typeface="Raleway"/>
                        </a:rPr>
                        <a:t>Tanggal 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Posisi</a:t>
                      </a:r>
                      <a:endParaRPr lang="en-US" sz="1000" b="1">
                        <a:solidFill>
                          <a:schemeClr val="bg1"/>
                        </a:solidFill>
                        <a:effectLst/>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Business 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Kategori</a:t>
                      </a:r>
                      <a:endParaRPr lang="en-US" sz="1000" b="1">
                        <a:solidFill>
                          <a:schemeClr val="bg1"/>
                        </a:solidFill>
                        <a:effectLst/>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SLA Target </a:t>
                      </a:r>
                      <a:r>
                        <a:rPr lang="en-US" sz="1000" b="1" err="1">
                          <a:solidFill>
                            <a:schemeClr val="bg1"/>
                          </a:solidFill>
                          <a:effectLst/>
                          <a:latin typeface="Raleway"/>
                        </a:rPr>
                        <a:t>Pemenuhan</a:t>
                      </a:r>
                      <a:endParaRPr lang="en-US" sz="1000" b="1">
                        <a:solidFill>
                          <a:schemeClr val="bg1"/>
                        </a:solidFill>
                        <a:effectLst/>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Jumlah</a:t>
                      </a:r>
                      <a:r>
                        <a:rPr lang="en-US" sz="1000" b="1">
                          <a:solidFill>
                            <a:schemeClr val="bg1"/>
                          </a:solidFill>
                          <a:effectLst/>
                          <a:latin typeface="Raleway"/>
                        </a:rPr>
                        <a:t> </a:t>
                      </a:r>
                      <a:r>
                        <a:rPr lang="en-US" sz="1000" b="1" err="1">
                          <a:solidFill>
                            <a:schemeClr val="bg1"/>
                          </a:solidFill>
                          <a:effectLst/>
                          <a:latin typeface="Raleway"/>
                        </a:rPr>
                        <a:t>Permintaan</a:t>
                      </a:r>
                      <a:endParaRPr lang="en-US" sz="1000" b="1">
                        <a:solidFill>
                          <a:schemeClr val="bg1"/>
                        </a:solidFill>
                        <a:effectLst/>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Status </a:t>
                      </a:r>
                      <a:r>
                        <a:rPr lang="en-US" sz="1000" b="1" err="1">
                          <a:solidFill>
                            <a:schemeClr val="bg1"/>
                          </a:solidFill>
                          <a:effectLst/>
                          <a:latin typeface="Raleway"/>
                        </a:rPr>
                        <a:t>Rekrutmen</a:t>
                      </a:r>
                      <a:endParaRPr lang="en-US" sz="1000" b="1">
                        <a:solidFill>
                          <a:schemeClr val="bg1"/>
                        </a:solidFill>
                        <a:effectLst/>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4052336313"/>
                  </a:ext>
                </a:extLst>
              </a:tr>
              <a:tr h="889437">
                <a:tc>
                  <a:txBody>
                    <a:bodyPr/>
                    <a:lstStyle/>
                    <a:p>
                      <a:pPr algn="ctr">
                        <a:buNone/>
                      </a:pPr>
                      <a:r>
                        <a:rPr lang="en-US" sz="1000">
                          <a:effectLst/>
                          <a:latin typeface="Raleway"/>
                        </a:rPr>
                        <a:t>21-Jul-26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1000">
                          <a:effectLst/>
                          <a:latin typeface="Raleway"/>
                        </a:rPr>
                        <a:t>Area Sales Supervisor (Frozen) - Jakarta Selatan </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20-Aug-26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Salsa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1000">
                          <a:effectLst/>
                          <a:latin typeface="Raleway"/>
                        </a:rPr>
                        <a:t>&gt; Sent CV to user week 33</a:t>
                      </a:r>
                      <a:br>
                        <a:rPr lang="en-US" sz="1000">
                          <a:effectLst/>
                          <a:latin typeface="Raleway"/>
                        </a:rPr>
                      </a:b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&gt; HR Interview &amp; </a:t>
                      </a:r>
                      <a:r>
                        <a:rPr lang="en-US" sz="1000" err="1">
                          <a:effectLst/>
                          <a:latin typeface="Raleway"/>
                        </a:rPr>
                        <a:t>psikotes</a:t>
                      </a:r>
                      <a:r>
                        <a:rPr lang="en-US" sz="1000">
                          <a:effectLst/>
                          <a:latin typeface="Raleway"/>
                        </a:rPr>
                        <a:t>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113295439"/>
                  </a:ext>
                </a:extLst>
              </a:tr>
              <a:tr h="500308">
                <a:tc>
                  <a:txBody>
                    <a:bodyPr/>
                    <a:lstStyle/>
                    <a:p>
                      <a:pPr algn="ctr">
                        <a:buNone/>
                      </a:pPr>
                      <a:r>
                        <a:rPr lang="en-US" sz="1000">
                          <a:effectLst/>
                          <a:latin typeface="Raleway"/>
                        </a:rPr>
                        <a:t>03-Mar-26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1000">
                          <a:effectLst/>
                          <a:latin typeface="Raleway"/>
                        </a:rPr>
                        <a:t>Area Sales Supervisor - Jakarta Selatan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04-Feb-26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Kevin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1000">
                          <a:effectLst/>
                          <a:latin typeface="Raleway"/>
                        </a:rPr>
                        <a:t>Week 33: Hand Over FPTK </a:t>
                      </a:r>
                      <a:br>
                        <a:rPr lang="en-US" sz="1000">
                          <a:effectLst/>
                          <a:latin typeface="Raleway"/>
                        </a:rPr>
                      </a:br>
                      <a:r>
                        <a:rPr lang="en-US" sz="1000">
                          <a:effectLst/>
                          <a:latin typeface="Raleway"/>
                        </a:rPr>
                        <a:t>Next Week: Sourcing &amp; Shortlist </a:t>
                      </a:r>
                      <a:r>
                        <a:rPr lang="en-US" sz="1000" err="1">
                          <a:effectLst/>
                          <a:latin typeface="Raleway"/>
                        </a:rPr>
                        <a:t>Cv</a:t>
                      </a:r>
                      <a:r>
                        <a:rPr lang="en-US" sz="1000">
                          <a:effectLst/>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460865723"/>
                  </a:ext>
                </a:extLst>
              </a:tr>
              <a:tr h="500308">
                <a:tc>
                  <a:txBody>
                    <a:bodyPr/>
                    <a:lstStyle/>
                    <a:p>
                      <a:pPr algn="ctr">
                        <a:buNone/>
                      </a:pPr>
                      <a:r>
                        <a:rPr lang="en-US" sz="1000">
                          <a:effectLst/>
                          <a:latin typeface="Raleway"/>
                        </a:rPr>
                        <a:t>20-Mar-26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1000">
                          <a:effectLst/>
                          <a:latin typeface="Raleway"/>
                        </a:rPr>
                        <a:t>Area Sales Supervisor - Tangerang Selatan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19-Apr-26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Kevin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1000">
                          <a:effectLst/>
                          <a:latin typeface="Raleway"/>
                        </a:rPr>
                        <a:t>Week 33: Hand Over FPTK </a:t>
                      </a:r>
                      <a:br>
                        <a:rPr lang="en-US" sz="1000">
                          <a:effectLst/>
                          <a:latin typeface="Raleway"/>
                        </a:rPr>
                      </a:br>
                      <a:r>
                        <a:rPr lang="en-US" sz="1000">
                          <a:effectLst/>
                          <a:latin typeface="Raleway"/>
                        </a:rPr>
                        <a:t>Next Week: Sourcing &amp; Shortlist </a:t>
                      </a:r>
                      <a:r>
                        <a:rPr lang="en-US" sz="1000" err="1">
                          <a:effectLst/>
                          <a:latin typeface="Raleway"/>
                        </a:rPr>
                        <a:t>Cv</a:t>
                      </a:r>
                      <a:r>
                        <a:rPr lang="en-US" sz="1000">
                          <a:effectLst/>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4040424685"/>
                  </a:ext>
                </a:extLst>
              </a:tr>
              <a:tr h="889437">
                <a:tc>
                  <a:txBody>
                    <a:bodyPr/>
                    <a:lstStyle/>
                    <a:p>
                      <a:pPr algn="ctr">
                        <a:buNone/>
                      </a:pPr>
                      <a:r>
                        <a:rPr lang="en-US" sz="1000">
                          <a:effectLst/>
                          <a:latin typeface="Raleway"/>
                        </a:rPr>
                        <a:t>19-May-26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1000">
                          <a:effectLst/>
                          <a:latin typeface="Raleway"/>
                        </a:rPr>
                        <a:t>Area Sales Supervisor (Mix) - Banda Aceh</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18-Jun-26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Salsa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1000">
                          <a:effectLst/>
                          <a:latin typeface="Raleway"/>
                        </a:rPr>
                        <a:t>&gt; 1 </a:t>
                      </a:r>
                      <a:r>
                        <a:rPr lang="en-US" sz="1000" err="1">
                          <a:effectLst/>
                          <a:latin typeface="Raleway"/>
                        </a:rPr>
                        <a:t>kandidat</a:t>
                      </a:r>
                      <a:r>
                        <a:rPr lang="en-US" sz="1000">
                          <a:effectLst/>
                          <a:latin typeface="Raleway"/>
                        </a:rPr>
                        <a:t> </a:t>
                      </a:r>
                      <a:r>
                        <a:rPr lang="en-US" sz="1000" err="1">
                          <a:effectLst/>
                          <a:latin typeface="Raleway"/>
                        </a:rPr>
                        <a:t>sudah</a:t>
                      </a:r>
                      <a:r>
                        <a:rPr lang="en-US" sz="1000">
                          <a:effectLst/>
                          <a:latin typeface="Raleway"/>
                        </a:rPr>
                        <a:t> </a:t>
                      </a:r>
                      <a:r>
                        <a:rPr lang="en-US" sz="1000" err="1">
                          <a:effectLst/>
                          <a:latin typeface="Raleway"/>
                        </a:rPr>
                        <a:t>shortcall</a:t>
                      </a:r>
                      <a:r>
                        <a:rPr lang="en-US" sz="1000">
                          <a:effectLst/>
                          <a:latin typeface="Raleway"/>
                        </a:rPr>
                        <a:t> user, HR Interview, </a:t>
                      </a:r>
                      <a:r>
                        <a:rPr lang="en-US" sz="1000" err="1">
                          <a:effectLst/>
                          <a:latin typeface="Raleway"/>
                        </a:rPr>
                        <a:t>Psikotes</a:t>
                      </a:r>
                      <a:r>
                        <a:rPr lang="en-US" sz="1000">
                          <a:effectLst/>
                          <a:latin typeface="Raleway"/>
                        </a:rPr>
                        <a:t> week 33</a:t>
                      </a:r>
                      <a:br>
                        <a:rPr lang="en-US" sz="1000">
                          <a:effectLst/>
                          <a:latin typeface="Raleway"/>
                        </a:rPr>
                      </a:b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&gt; Jadwal market visit, parallel sourcing </a:t>
                      </a:r>
                      <a:r>
                        <a:rPr lang="en-US" sz="1000" err="1">
                          <a:effectLst/>
                          <a:latin typeface="Raleway"/>
                        </a:rPr>
                        <a:t>kandidat</a:t>
                      </a:r>
                      <a:r>
                        <a:rPr lang="en-US" sz="1000">
                          <a:effectLst/>
                          <a:latin typeface="Raleway"/>
                        </a:rPr>
                        <a:t> backup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3101626572"/>
                  </a:ext>
                </a:extLst>
              </a:tr>
              <a:tr h="889437">
                <a:tc>
                  <a:txBody>
                    <a:bodyPr/>
                    <a:lstStyle/>
                    <a:p>
                      <a:pPr algn="ctr">
                        <a:buNone/>
                      </a:pPr>
                      <a:r>
                        <a:rPr lang="en-US" sz="1000">
                          <a:effectLst/>
                          <a:latin typeface="Raleway"/>
                        </a:rPr>
                        <a:t>19-Jul-26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1000">
                          <a:effectLst/>
                          <a:latin typeface="Raleway"/>
                        </a:rPr>
                        <a:t>Area Sales Supervisor (Chilled) - Jakarta Timur </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15-Aug-26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Salsa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1000">
                          <a:effectLst/>
                          <a:latin typeface="Raleway"/>
                        </a:rPr>
                        <a:t>&gt; Sent CV to user week 33</a:t>
                      </a:r>
                      <a:br>
                        <a:rPr lang="en-US" sz="1000">
                          <a:effectLst/>
                          <a:latin typeface="Raleway"/>
                        </a:rPr>
                      </a:b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&gt; HR Interview &amp; </a:t>
                      </a:r>
                      <a:r>
                        <a:rPr lang="en-US" sz="1000" err="1">
                          <a:effectLst/>
                          <a:latin typeface="Raleway"/>
                        </a:rPr>
                        <a:t>psikotes</a:t>
                      </a:r>
                      <a:r>
                        <a:rPr lang="en-US" sz="1000">
                          <a:effectLst/>
                          <a:latin typeface="Raleway"/>
                        </a:rPr>
                        <a:t>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594625903"/>
                  </a:ext>
                </a:extLst>
              </a:tr>
            </a:tbl>
          </a:graphicData>
        </a:graphic>
      </p:graphicFrame>
      <p:sp>
        <p:nvSpPr>
          <p:cNvPr id="6" name="TextBox 7">
            <a:extLst>
              <a:ext uri="{FF2B5EF4-FFF2-40B4-BE49-F238E27FC236}">
                <a16:creationId xmlns:a16="http://schemas.microsoft.com/office/drawing/2014/main" id="{79FDE9A9-3661-6D0E-4A2D-D3BCEDB8447F}"/>
              </a:ext>
            </a:extLst>
          </p:cNvPr>
          <p:cNvSpPr txBox="1"/>
          <p:nvPr/>
        </p:nvSpPr>
        <p:spPr>
          <a:xfrm>
            <a:off x="89575" y="6408147"/>
            <a:ext cx="10972800" cy="261610"/>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a:latin typeface="Raleway"/>
              </a:rPr>
              <a:t>* </a:t>
            </a:r>
            <a:r>
              <a:rPr lang="en-US" sz="1100" i="1">
                <a:latin typeface="Raleway"/>
              </a:rPr>
              <a:t>Update per </a:t>
            </a:r>
            <a:r>
              <a:rPr lang="en-US" sz="1100" i="1" err="1">
                <a:latin typeface="Raleway"/>
              </a:rPr>
              <a:t>tanggal</a:t>
            </a:r>
            <a:r>
              <a:rPr lang="en-US" sz="1100" i="1">
                <a:latin typeface="Raleway"/>
              </a:rPr>
              <a:t> 14 Agustus 2026</a:t>
            </a:r>
            <a:endParaRPr lang="en-US" sz="1100">
              <a:latin typeface="Raleway"/>
            </a:endParaRPr>
          </a:p>
        </p:txBody>
      </p:sp>
      <p:sp>
        <p:nvSpPr>
          <p:cNvPr id="8" name="Title 1">
            <a:extLst>
              <a:ext uri="{FF2B5EF4-FFF2-40B4-BE49-F238E27FC236}">
                <a16:creationId xmlns:a16="http://schemas.microsoft.com/office/drawing/2014/main" id="{23B3768B-0CCE-D7BA-A805-734683A7E0E5}"/>
              </a:ext>
            </a:extLst>
          </p:cNvPr>
          <p:cNvSpPr txBox="1">
            <a:spLocks/>
          </p:cNvSpPr>
          <p:nvPr/>
        </p:nvSpPr>
        <p:spPr>
          <a:xfrm>
            <a:off x="1550312" y="241611"/>
            <a:ext cx="8958197" cy="4799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2400" b="1">
                <a:latin typeface="Raleway" panose="020B0503030101060003"/>
              </a:rPr>
              <a:t>Recruitment Progress – Level 3</a:t>
            </a:r>
            <a:endParaRPr lang="en-US" sz="2400">
              <a:latin typeface="Raleway" panose="020B0503030101060003"/>
            </a:endParaRPr>
          </a:p>
        </p:txBody>
      </p:sp>
    </p:spTree>
    <p:extLst>
      <p:ext uri="{BB962C8B-B14F-4D97-AF65-F5344CB8AC3E}">
        <p14:creationId xmlns:p14="http://schemas.microsoft.com/office/powerpoint/2010/main" val="3579810275"/>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E012A6-28DA-5548-6F3B-1842031154FD}"/>
            </a:ext>
          </a:extLst>
        </p:cNvPr>
        <p:cNvGrpSpPr/>
        <p:nvPr/>
      </p:nvGrpSpPr>
      <p:grpSpPr>
        <a:xfrm>
          <a:off x="0" y="0"/>
          <a:ext cx="0" cy="0"/>
          <a:chOff x="0" y="0"/>
          <a:chExt cx="0" cy="0"/>
        </a:xfrm>
      </p:grpSpPr>
      <p:graphicFrame>
        <p:nvGraphicFramePr>
          <p:cNvPr id="4" name="Table 3">
            <a:extLst>
              <a:ext uri="{FF2B5EF4-FFF2-40B4-BE49-F238E27FC236}">
                <a16:creationId xmlns:a16="http://schemas.microsoft.com/office/drawing/2014/main" id="{399BD665-4310-CCDD-FBBD-119865CF767B}"/>
              </a:ext>
            </a:extLst>
          </p:cNvPr>
          <p:cNvGraphicFramePr>
            <a:graphicFrameLocks noGrp="1"/>
          </p:cNvGraphicFramePr>
          <p:nvPr>
            <p:extLst>
              <p:ext uri="{D42A27DB-BD31-4B8C-83A1-F6EECF244321}">
                <p14:modId xmlns:p14="http://schemas.microsoft.com/office/powerpoint/2010/main" val="306055157"/>
              </p:ext>
            </p:extLst>
          </p:nvPr>
        </p:nvGraphicFramePr>
        <p:xfrm>
          <a:off x="201448" y="464206"/>
          <a:ext cx="11731088" cy="5997747"/>
        </p:xfrm>
        <a:graphic>
          <a:graphicData uri="http://schemas.openxmlformats.org/drawingml/2006/table">
            <a:tbl>
              <a:tblPr bandRow="1">
                <a:tableStyleId>{5C22544A-7EE6-4342-B048-85BDC9FD1C3A}</a:tableStyleId>
              </a:tblPr>
              <a:tblGrid>
                <a:gridCol w="552050">
                  <a:extLst>
                    <a:ext uri="{9D8B030D-6E8A-4147-A177-3AD203B41FA5}">
                      <a16:colId xmlns:a16="http://schemas.microsoft.com/office/drawing/2014/main" val="1099563783"/>
                    </a:ext>
                  </a:extLst>
                </a:gridCol>
                <a:gridCol w="2093195">
                  <a:extLst>
                    <a:ext uri="{9D8B030D-6E8A-4147-A177-3AD203B41FA5}">
                      <a16:colId xmlns:a16="http://schemas.microsoft.com/office/drawing/2014/main" val="3804478619"/>
                    </a:ext>
                  </a:extLst>
                </a:gridCol>
                <a:gridCol w="552050">
                  <a:extLst>
                    <a:ext uri="{9D8B030D-6E8A-4147-A177-3AD203B41FA5}">
                      <a16:colId xmlns:a16="http://schemas.microsoft.com/office/drawing/2014/main" val="466616083"/>
                    </a:ext>
                  </a:extLst>
                </a:gridCol>
                <a:gridCol w="989091">
                  <a:extLst>
                    <a:ext uri="{9D8B030D-6E8A-4147-A177-3AD203B41FA5}">
                      <a16:colId xmlns:a16="http://schemas.microsoft.com/office/drawing/2014/main" val="1777767065"/>
                    </a:ext>
                  </a:extLst>
                </a:gridCol>
                <a:gridCol w="736068">
                  <a:extLst>
                    <a:ext uri="{9D8B030D-6E8A-4147-A177-3AD203B41FA5}">
                      <a16:colId xmlns:a16="http://schemas.microsoft.com/office/drawing/2014/main" val="3576443328"/>
                    </a:ext>
                  </a:extLst>
                </a:gridCol>
                <a:gridCol w="586554">
                  <a:extLst>
                    <a:ext uri="{9D8B030D-6E8A-4147-A177-3AD203B41FA5}">
                      <a16:colId xmlns:a16="http://schemas.microsoft.com/office/drawing/2014/main" val="527914075"/>
                    </a:ext>
                  </a:extLst>
                </a:gridCol>
                <a:gridCol w="943087">
                  <a:extLst>
                    <a:ext uri="{9D8B030D-6E8A-4147-A177-3AD203B41FA5}">
                      <a16:colId xmlns:a16="http://schemas.microsoft.com/office/drawing/2014/main" val="2827932489"/>
                    </a:ext>
                  </a:extLst>
                </a:gridCol>
                <a:gridCol w="552050">
                  <a:extLst>
                    <a:ext uri="{9D8B030D-6E8A-4147-A177-3AD203B41FA5}">
                      <a16:colId xmlns:a16="http://schemas.microsoft.com/office/drawing/2014/main" val="1598580534"/>
                    </a:ext>
                  </a:extLst>
                </a:gridCol>
                <a:gridCol w="552050">
                  <a:extLst>
                    <a:ext uri="{9D8B030D-6E8A-4147-A177-3AD203B41FA5}">
                      <a16:colId xmlns:a16="http://schemas.microsoft.com/office/drawing/2014/main" val="2474762434"/>
                    </a:ext>
                  </a:extLst>
                </a:gridCol>
                <a:gridCol w="4174893">
                  <a:extLst>
                    <a:ext uri="{9D8B030D-6E8A-4147-A177-3AD203B41FA5}">
                      <a16:colId xmlns:a16="http://schemas.microsoft.com/office/drawing/2014/main" val="478640677"/>
                    </a:ext>
                  </a:extLst>
                </a:gridCol>
              </a:tblGrid>
              <a:tr h="849586">
                <a:tc>
                  <a:txBody>
                    <a:bodyPr/>
                    <a:lstStyle/>
                    <a:p>
                      <a:pPr algn="ctr">
                        <a:buNone/>
                      </a:pPr>
                      <a:r>
                        <a:rPr lang="en-US" sz="1000" b="1">
                          <a:solidFill>
                            <a:schemeClr val="bg1"/>
                          </a:solidFill>
                          <a:effectLst/>
                          <a:latin typeface="Raleway"/>
                        </a:rPr>
                        <a:t>Tanggal 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Business 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SLA Target </a:t>
                      </a:r>
                      <a:r>
                        <a:rPr lang="en-US" sz="1000" b="1" err="1">
                          <a:solidFill>
                            <a:schemeClr val="bg1"/>
                          </a:solidFill>
                          <a:effectLst/>
                          <a:latin typeface="Raleway"/>
                        </a:rPr>
                        <a:t>Pemenuhan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Jumlah</a:t>
                      </a:r>
                      <a:r>
                        <a:rPr lang="en-US" sz="1000" b="1">
                          <a:solidFill>
                            <a:schemeClr val="bg1"/>
                          </a:solidFill>
                          <a:effectLst/>
                          <a:latin typeface="Raleway"/>
                        </a:rPr>
                        <a:t> </a:t>
                      </a:r>
                      <a:r>
                        <a:rPr lang="en-US" sz="1000" b="1" err="1">
                          <a:solidFill>
                            <a:schemeClr val="bg1"/>
                          </a:solidFill>
                          <a:effectLst/>
                          <a:latin typeface="Raleway"/>
                        </a:rPr>
                        <a:t>Permintaan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Status </a:t>
                      </a:r>
                      <a:r>
                        <a:rPr lang="en-US" sz="1000" b="1" err="1">
                          <a:solidFill>
                            <a:schemeClr val="bg1"/>
                          </a:solidFill>
                          <a:effectLst/>
                          <a:latin typeface="Raleway"/>
                        </a:rPr>
                        <a:t>Rekrutmen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566138460"/>
                  </a:ext>
                </a:extLst>
              </a:tr>
              <a:tr h="411170">
                <a:tc>
                  <a:txBody>
                    <a:bodyPr/>
                    <a:lstStyle/>
                    <a:p>
                      <a:pPr algn="ctr">
                        <a:buNone/>
                      </a:pPr>
                      <a:r>
                        <a:rPr lang="en-US" sz="900">
                          <a:effectLst/>
                          <a:latin typeface="Raleway"/>
                        </a:rPr>
                        <a:t>08-May-26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Area Sales Supervisor - Tangerang </a:t>
                      </a:r>
                      <a:r>
                        <a:rPr lang="en-US" sz="900" err="1">
                          <a:effectLst/>
                          <a:latin typeface="Raleway"/>
                        </a:rPr>
                        <a:t>Kabupaten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09-Apr-26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Kevin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Week 33: Hand Over FPTK </a:t>
                      </a:r>
                      <a:br>
                        <a:rPr lang="en-US" sz="900">
                          <a:effectLst/>
                          <a:latin typeface="Raleway"/>
                        </a:rPr>
                      </a:br>
                      <a:r>
                        <a:rPr lang="en-US" sz="900">
                          <a:effectLst/>
                          <a:latin typeface="Raleway"/>
                        </a:rPr>
                        <a:t>Next Week: Sourcing &amp; Shortlist </a:t>
                      </a:r>
                      <a:r>
                        <a:rPr lang="en-US" sz="900" err="1">
                          <a:effectLst/>
                          <a:latin typeface="Raleway"/>
                        </a:rPr>
                        <a:t>Cv</a:t>
                      </a:r>
                      <a:r>
                        <a:rPr lang="en-US" sz="900">
                          <a:effectLst/>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559644721"/>
                  </a:ext>
                </a:extLst>
              </a:tr>
              <a:tr h="526587">
                <a:tc>
                  <a:txBody>
                    <a:bodyPr/>
                    <a:lstStyle/>
                    <a:p>
                      <a:pPr algn="ctr">
                        <a:buNone/>
                      </a:pPr>
                      <a:r>
                        <a:rPr lang="en-US" sz="900">
                          <a:effectLst/>
                          <a:latin typeface="Raleway"/>
                        </a:rPr>
                        <a:t>08-May-26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Area Sales Supervisor (Chilled) - Banda Aceh</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09-Apr-26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Salsa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&gt; 2 </a:t>
                      </a:r>
                      <a:r>
                        <a:rPr lang="en-US" sz="900" err="1">
                          <a:effectLst/>
                          <a:latin typeface="Raleway"/>
                        </a:rPr>
                        <a:t>kandidat</a:t>
                      </a:r>
                      <a:r>
                        <a:rPr lang="en-US" sz="900">
                          <a:effectLst/>
                          <a:latin typeface="Raleway"/>
                        </a:rPr>
                        <a:t> </a:t>
                      </a:r>
                      <a:r>
                        <a:rPr lang="en-US" sz="900" err="1">
                          <a:effectLst/>
                          <a:latin typeface="Raleway"/>
                        </a:rPr>
                        <a:t>sudah</a:t>
                      </a:r>
                      <a:r>
                        <a:rPr lang="en-US" sz="900">
                          <a:effectLst/>
                          <a:latin typeface="Raleway"/>
                        </a:rPr>
                        <a:t> </a:t>
                      </a:r>
                      <a:r>
                        <a:rPr lang="en-US" sz="900" err="1">
                          <a:effectLst/>
                          <a:latin typeface="Raleway"/>
                        </a:rPr>
                        <a:t>shortcall</a:t>
                      </a:r>
                      <a:r>
                        <a:rPr lang="en-US" sz="900">
                          <a:effectLst/>
                          <a:latin typeface="Raleway"/>
                        </a:rPr>
                        <a:t> user, HR Interview, </a:t>
                      </a:r>
                      <a:r>
                        <a:rPr lang="en-US" sz="900" err="1">
                          <a:effectLst/>
                          <a:latin typeface="Raleway"/>
                        </a:rPr>
                        <a:t>Psikotes</a:t>
                      </a:r>
                      <a:r>
                        <a:rPr lang="en-US" sz="900">
                          <a:effectLst/>
                          <a:latin typeface="Raleway"/>
                        </a:rPr>
                        <a:t> week 33</a:t>
                      </a:r>
                      <a:br>
                        <a:rPr lang="en-US" sz="900">
                          <a:effectLst/>
                          <a:latin typeface="Raleway"/>
                        </a:rPr>
                      </a:br>
                      <a:br>
                        <a:rPr lang="en-US" sz="900">
                          <a:effectLst/>
                          <a:latin typeface="Raleway"/>
                        </a:rPr>
                      </a:br>
                      <a:r>
                        <a:rPr lang="en-US" sz="900">
                          <a:effectLst/>
                          <a:latin typeface="Raleway"/>
                        </a:rPr>
                        <a:t>Next Action:</a:t>
                      </a:r>
                      <a:br>
                        <a:rPr lang="en-US" sz="900">
                          <a:effectLst/>
                          <a:latin typeface="Raleway"/>
                        </a:rPr>
                      </a:br>
                      <a:r>
                        <a:rPr lang="en-US" sz="900">
                          <a:effectLst/>
                          <a:latin typeface="Raleway"/>
                        </a:rPr>
                        <a:t>&gt; Jadwal market visit, parallel sourcing </a:t>
                      </a:r>
                      <a:r>
                        <a:rPr lang="en-US" sz="900" err="1">
                          <a:effectLst/>
                          <a:latin typeface="Raleway"/>
                        </a:rPr>
                        <a:t>kandidat</a:t>
                      </a:r>
                      <a:r>
                        <a:rPr lang="en-US" sz="900">
                          <a:effectLst/>
                          <a:latin typeface="Raleway"/>
                        </a:rPr>
                        <a:t> backup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2029497844"/>
                  </a:ext>
                </a:extLst>
              </a:tr>
              <a:tr h="526587">
                <a:tc>
                  <a:txBody>
                    <a:bodyPr/>
                    <a:lstStyle/>
                    <a:p>
                      <a:pPr algn="ctr">
                        <a:buNone/>
                      </a:pPr>
                      <a:r>
                        <a:rPr lang="en-US" sz="900">
                          <a:effectLst/>
                          <a:latin typeface="Raleway"/>
                        </a:rPr>
                        <a:t>27-Feb-25</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Food Service Supervisor</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29-Mar-26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Brittney</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Handover di Week 33</a:t>
                      </a:r>
                      <a:br>
                        <a:rPr lang="en-US" sz="900">
                          <a:effectLst/>
                          <a:latin typeface="Raleway"/>
                        </a:rPr>
                      </a:br>
                      <a:r>
                        <a:rPr lang="en-US" sz="900">
                          <a:effectLst/>
                          <a:latin typeface="Raleway"/>
                        </a:rPr>
                        <a:t>Next Action: Send 5 CVs </a:t>
                      </a:r>
                      <a:r>
                        <a:rPr lang="en-US" sz="900" err="1">
                          <a:effectLst/>
                          <a:latin typeface="Raleway"/>
                        </a:rPr>
                        <a:t>baru</a:t>
                      </a:r>
                      <a:r>
                        <a:rPr lang="en-US" sz="900">
                          <a:effectLst/>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4244547192"/>
                  </a:ext>
                </a:extLst>
              </a:tr>
              <a:tr h="2113560">
                <a:tc>
                  <a:txBody>
                    <a:bodyPr/>
                    <a:lstStyle/>
                    <a:p>
                      <a:pPr algn="ctr">
                        <a:buNone/>
                      </a:pPr>
                      <a:r>
                        <a:rPr lang="en-US" sz="900">
                          <a:effectLst/>
                          <a:latin typeface="Raleway"/>
                        </a:rPr>
                        <a:t>17-Apr-26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Warehouse Supervisor</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17-May-26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Eli</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 Reject Offer </a:t>
                      </a:r>
                      <a:r>
                        <a:rPr lang="en-US" sz="900" err="1">
                          <a:effectLst/>
                          <a:latin typeface="Raleway"/>
                        </a:rPr>
                        <a:t>a.n</a:t>
                      </a:r>
                      <a:r>
                        <a:rPr lang="en-US" sz="900">
                          <a:effectLst/>
                          <a:latin typeface="Raleway"/>
                        </a:rPr>
                        <a:t>. Afif di Week 28. Karena, </a:t>
                      </a:r>
                      <a:r>
                        <a:rPr lang="en-US" sz="900" err="1">
                          <a:effectLst/>
                          <a:latin typeface="Raleway"/>
                        </a:rPr>
                        <a:t>sudah</a:t>
                      </a:r>
                      <a:r>
                        <a:rPr lang="en-US" sz="900">
                          <a:effectLst/>
                          <a:latin typeface="Raleway"/>
                        </a:rPr>
                        <a:t> </a:t>
                      </a:r>
                      <a:r>
                        <a:rPr lang="en-US" sz="900" err="1">
                          <a:effectLst/>
                          <a:latin typeface="Raleway"/>
                        </a:rPr>
                        <a:t>mendapatkan</a:t>
                      </a:r>
                      <a:r>
                        <a:rPr lang="en-US" sz="900">
                          <a:effectLst/>
                          <a:latin typeface="Raleway"/>
                        </a:rPr>
                        <a:t> </a:t>
                      </a:r>
                      <a:r>
                        <a:rPr lang="en-US" sz="900" err="1">
                          <a:effectLst/>
                          <a:latin typeface="Raleway"/>
                        </a:rPr>
                        <a:t>pekerjaan</a:t>
                      </a:r>
                      <a:r>
                        <a:rPr lang="en-US" sz="900">
                          <a:effectLst/>
                          <a:latin typeface="Raleway"/>
                        </a:rPr>
                        <a:t> di </a:t>
                      </a:r>
                      <a:r>
                        <a:rPr lang="en-US" sz="900" err="1">
                          <a:effectLst/>
                          <a:latin typeface="Raleway"/>
                        </a:rPr>
                        <a:t>perusahaan</a:t>
                      </a:r>
                      <a:r>
                        <a:rPr lang="en-US" sz="900">
                          <a:effectLst/>
                          <a:latin typeface="Raleway"/>
                        </a:rPr>
                        <a:t> lain</a:t>
                      </a:r>
                      <a:br>
                        <a:rPr lang="en-US" sz="900">
                          <a:effectLst/>
                          <a:latin typeface="Raleway"/>
                        </a:rPr>
                      </a:br>
                      <a:r>
                        <a:rPr lang="en-US" sz="900">
                          <a:effectLst/>
                          <a:latin typeface="Raleway"/>
                        </a:rPr>
                        <a:t>- HR Interview 5 </a:t>
                      </a:r>
                      <a:r>
                        <a:rPr lang="en-US" sz="900" err="1">
                          <a:effectLst/>
                          <a:latin typeface="Raleway"/>
                        </a:rPr>
                        <a:t>kandidat</a:t>
                      </a:r>
                      <a:r>
                        <a:rPr lang="en-US" sz="900">
                          <a:effectLst/>
                          <a:latin typeface="Raleway"/>
                        </a:rPr>
                        <a:t> di Week 28 </a:t>
                      </a:r>
                      <a:br>
                        <a:rPr lang="en-US" sz="900">
                          <a:effectLst/>
                          <a:latin typeface="Raleway"/>
                        </a:rPr>
                      </a:br>
                      <a:r>
                        <a:rPr lang="en-US" sz="900">
                          <a:effectLst/>
                          <a:latin typeface="Raleway"/>
                        </a:rPr>
                        <a:t>- User Interview OFFLINE </a:t>
                      </a:r>
                      <a:r>
                        <a:rPr lang="en-US" sz="900" err="1">
                          <a:effectLst/>
                          <a:latin typeface="Raleway"/>
                        </a:rPr>
                        <a:t>kandidat</a:t>
                      </a:r>
                      <a:r>
                        <a:rPr lang="en-US" sz="900">
                          <a:effectLst/>
                          <a:latin typeface="Raleway"/>
                        </a:rPr>
                        <a:t> </a:t>
                      </a:r>
                      <a:r>
                        <a:rPr lang="en-US" sz="900" err="1">
                          <a:effectLst/>
                          <a:latin typeface="Raleway"/>
                        </a:rPr>
                        <a:t>a.n</a:t>
                      </a:r>
                      <a:r>
                        <a:rPr lang="en-US" sz="900">
                          <a:effectLst/>
                          <a:latin typeface="Raleway"/>
                        </a:rPr>
                        <a:t> Hadi Purnomo di Week 28 – </a:t>
                      </a:r>
                      <a:br>
                        <a:rPr lang="en-US" sz="900">
                          <a:effectLst/>
                          <a:latin typeface="Raleway"/>
                        </a:rPr>
                      </a:br>
                      <a:r>
                        <a:rPr lang="en-US" sz="900">
                          <a:effectLst/>
                          <a:latin typeface="Raleway"/>
                        </a:rPr>
                        <a:t>- User Interview OFFLINE </a:t>
                      </a:r>
                      <a:r>
                        <a:rPr lang="en-US" sz="900" err="1">
                          <a:effectLst/>
                          <a:latin typeface="Raleway"/>
                        </a:rPr>
                        <a:t>kandidat</a:t>
                      </a:r>
                      <a:r>
                        <a:rPr lang="en-US" sz="900">
                          <a:effectLst/>
                          <a:latin typeface="Raleway"/>
                        </a:rPr>
                        <a:t> </a:t>
                      </a:r>
                      <a:r>
                        <a:rPr lang="en-US" sz="900" err="1">
                          <a:effectLst/>
                          <a:latin typeface="Raleway"/>
                        </a:rPr>
                        <a:t>a.n</a:t>
                      </a:r>
                      <a:r>
                        <a:rPr lang="en-US" sz="900">
                          <a:effectLst/>
                          <a:latin typeface="Raleway"/>
                        </a:rPr>
                        <a:t> Hendry di Week 29. DROP, </a:t>
                      </a:r>
                      <a:r>
                        <a:rPr lang="en-US" sz="900" err="1">
                          <a:effectLst/>
                          <a:latin typeface="Raleway"/>
                        </a:rPr>
                        <a:t>karena</a:t>
                      </a:r>
                      <a:r>
                        <a:rPr lang="en-US" sz="900">
                          <a:effectLst/>
                          <a:latin typeface="Raleway"/>
                        </a:rPr>
                        <a:t> </a:t>
                      </a:r>
                      <a:r>
                        <a:rPr lang="en-US" sz="900" err="1">
                          <a:effectLst/>
                          <a:latin typeface="Raleway"/>
                        </a:rPr>
                        <a:t>analisa</a:t>
                      </a:r>
                      <a:r>
                        <a:rPr lang="en-US" sz="900">
                          <a:effectLst/>
                          <a:latin typeface="Raleway"/>
                        </a:rPr>
                        <a:t> </a:t>
                      </a:r>
                      <a:r>
                        <a:rPr lang="en-US" sz="900" err="1">
                          <a:effectLst/>
                          <a:latin typeface="Raleway"/>
                        </a:rPr>
                        <a:t>belum</a:t>
                      </a:r>
                      <a:r>
                        <a:rPr lang="en-US" sz="900">
                          <a:effectLst/>
                          <a:latin typeface="Raleway"/>
                        </a:rPr>
                        <a:t> </a:t>
                      </a:r>
                      <a:r>
                        <a:rPr lang="en-US" sz="900" err="1">
                          <a:effectLst/>
                          <a:latin typeface="Raleway"/>
                        </a:rPr>
                        <a:t>matang</a:t>
                      </a:r>
                      <a:br>
                        <a:rPr lang="en-US" sz="900">
                          <a:effectLst/>
                          <a:latin typeface="Raleway"/>
                        </a:rPr>
                      </a:br>
                      <a:r>
                        <a:rPr lang="en-US" sz="900">
                          <a:effectLst/>
                          <a:latin typeface="Raleway"/>
                        </a:rPr>
                        <a:t>- </a:t>
                      </a:r>
                      <a:r>
                        <a:rPr lang="en-US" sz="900" err="1">
                          <a:effectLst/>
                          <a:latin typeface="Raleway"/>
                        </a:rPr>
                        <a:t>Psikotest</a:t>
                      </a:r>
                      <a:r>
                        <a:rPr lang="en-US" sz="900">
                          <a:effectLst/>
                          <a:latin typeface="Raleway"/>
                        </a:rPr>
                        <a:t> 10 </a:t>
                      </a:r>
                      <a:r>
                        <a:rPr lang="en-US" sz="900" err="1">
                          <a:effectLst/>
                          <a:latin typeface="Raleway"/>
                        </a:rPr>
                        <a:t>kandidat</a:t>
                      </a:r>
                      <a:r>
                        <a:rPr lang="en-US" sz="900">
                          <a:effectLst/>
                          <a:latin typeface="Raleway"/>
                        </a:rPr>
                        <a:t> di Week 29</a:t>
                      </a:r>
                      <a:br>
                        <a:rPr lang="en-US" sz="900">
                          <a:effectLst/>
                          <a:latin typeface="Raleway"/>
                        </a:rPr>
                      </a:br>
                      <a:r>
                        <a:rPr lang="en-US" sz="900">
                          <a:effectLst/>
                          <a:latin typeface="Raleway"/>
                        </a:rPr>
                        <a:t>- Send 20 CVs to user.  Shortlisted 5 CVs di Week 30 – Tidak </a:t>
                      </a:r>
                      <a:r>
                        <a:rPr lang="en-US" sz="900" err="1">
                          <a:effectLst/>
                          <a:latin typeface="Raleway"/>
                        </a:rPr>
                        <a:t>ada</a:t>
                      </a:r>
                      <a:r>
                        <a:rPr lang="en-US" sz="900">
                          <a:effectLst/>
                          <a:latin typeface="Raleway"/>
                        </a:rPr>
                        <a:t> yang LOLOS </a:t>
                      </a:r>
                      <a:r>
                        <a:rPr lang="en-US" sz="900" err="1">
                          <a:effectLst/>
                          <a:latin typeface="Raleway"/>
                        </a:rPr>
                        <a:t>Psikotest</a:t>
                      </a:r>
                      <a:r>
                        <a:rPr lang="en-US" sz="900">
                          <a:effectLst/>
                          <a:latin typeface="Raleway"/>
                        </a:rPr>
                        <a:t> dan HR Interview. </a:t>
                      </a:r>
                      <a:br>
                        <a:rPr lang="en-US" sz="900">
                          <a:effectLst/>
                          <a:latin typeface="Raleway"/>
                        </a:rPr>
                      </a:br>
                      <a:r>
                        <a:rPr lang="en-US" sz="900">
                          <a:effectLst/>
                          <a:latin typeface="Raleway"/>
                        </a:rPr>
                        <a:t>- Send 16 CVs to user di 30 Juli 2026. Shortlisted by user 14 CVs di 30 Juli 2026</a:t>
                      </a:r>
                      <a:br>
                        <a:rPr lang="en-US" sz="900">
                          <a:effectLst/>
                          <a:latin typeface="Raleway"/>
                        </a:rPr>
                      </a:br>
                      <a:r>
                        <a:rPr lang="en-US" sz="900">
                          <a:effectLst/>
                          <a:latin typeface="Raleway"/>
                        </a:rPr>
                        <a:t>- HR Interview 3 </a:t>
                      </a:r>
                      <a:r>
                        <a:rPr lang="en-US" sz="900" err="1">
                          <a:effectLst/>
                          <a:latin typeface="Raleway"/>
                        </a:rPr>
                        <a:t>kandidat</a:t>
                      </a:r>
                      <a:r>
                        <a:rPr lang="en-US" sz="900">
                          <a:effectLst/>
                          <a:latin typeface="Raleway"/>
                        </a:rPr>
                        <a:t> pada 6 Agustus 2026 : lolos 2 </a:t>
                      </a:r>
                      <a:r>
                        <a:rPr lang="en-US" sz="900" err="1">
                          <a:effectLst/>
                          <a:latin typeface="Raleway"/>
                        </a:rPr>
                        <a:t>kandidat</a:t>
                      </a:r>
                      <a:br>
                        <a:rPr lang="en-US" sz="900">
                          <a:effectLst/>
                          <a:latin typeface="Raleway"/>
                        </a:rPr>
                      </a:br>
                      <a:r>
                        <a:rPr lang="en-US" sz="900">
                          <a:effectLst/>
                          <a:latin typeface="Raleway"/>
                        </a:rPr>
                        <a:t>- User Interview 1 </a:t>
                      </a:r>
                      <a:r>
                        <a:rPr lang="en-US" sz="900" err="1">
                          <a:effectLst/>
                          <a:latin typeface="Raleway"/>
                        </a:rPr>
                        <a:t>kandidat</a:t>
                      </a:r>
                      <a:r>
                        <a:rPr lang="en-US" sz="900">
                          <a:effectLst/>
                          <a:latin typeface="Raleway"/>
                        </a:rPr>
                        <a:t> pada 11 </a:t>
                      </a:r>
                      <a:r>
                        <a:rPr lang="en-US" sz="900" err="1">
                          <a:effectLst/>
                          <a:latin typeface="Raleway"/>
                        </a:rPr>
                        <a:t>Agustsu</a:t>
                      </a:r>
                      <a:r>
                        <a:rPr lang="en-US" sz="900">
                          <a:effectLst/>
                          <a:latin typeface="Raleway"/>
                        </a:rPr>
                        <a:t> 2026: Hold </a:t>
                      </a:r>
                      <a:r>
                        <a:rPr lang="en-US" sz="900" err="1">
                          <a:effectLst/>
                          <a:latin typeface="Raleway"/>
                        </a:rPr>
                        <a:t>menunggu</a:t>
                      </a:r>
                      <a:r>
                        <a:rPr lang="en-US" sz="900">
                          <a:effectLst/>
                          <a:latin typeface="Raleway"/>
                        </a:rPr>
                        <a:t> </a:t>
                      </a:r>
                      <a:r>
                        <a:rPr lang="en-US" sz="900" err="1">
                          <a:effectLst/>
                          <a:latin typeface="Raleway"/>
                        </a:rPr>
                        <a:t>pembanding</a:t>
                      </a:r>
                      <a:br>
                        <a:rPr lang="en-US" sz="900">
                          <a:effectLst/>
                          <a:latin typeface="Raleway"/>
                        </a:rPr>
                      </a:br>
                      <a:r>
                        <a:rPr lang="en-US" sz="900">
                          <a:effectLst/>
                          <a:latin typeface="Raleway"/>
                        </a:rPr>
                        <a:t>Next Action: </a:t>
                      </a:r>
                      <a:br>
                        <a:rPr lang="en-US" sz="900">
                          <a:effectLst/>
                          <a:latin typeface="Raleway"/>
                        </a:rPr>
                      </a:br>
                      <a:r>
                        <a:rPr lang="en-US" sz="900">
                          <a:effectLst/>
                          <a:latin typeface="Raleway"/>
                        </a:rPr>
                        <a:t>- Sourcing minimal 20 CV di week 34</a:t>
                      </a:r>
                      <a:br>
                        <a:rPr lang="en-US" sz="900">
                          <a:effectLst/>
                          <a:latin typeface="Raleway"/>
                        </a:rPr>
                      </a:br>
                      <a:r>
                        <a:rPr lang="en-US" sz="900">
                          <a:effectLst/>
                          <a:latin typeface="Raleway"/>
                        </a:rPr>
                        <a:t>- User Interview 2 </a:t>
                      </a:r>
                      <a:r>
                        <a:rPr lang="en-US" sz="900" err="1">
                          <a:effectLst/>
                          <a:latin typeface="Raleway"/>
                        </a:rPr>
                        <a:t>kandidat</a:t>
                      </a:r>
                      <a:r>
                        <a:rPr lang="en-US" sz="900">
                          <a:effectLst/>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53304810"/>
                  </a:ext>
                </a:extLst>
              </a:tr>
              <a:tr h="865623">
                <a:tc>
                  <a:txBody>
                    <a:bodyPr/>
                    <a:lstStyle/>
                    <a:p>
                      <a:pPr algn="ctr">
                        <a:buNone/>
                      </a:pPr>
                      <a:r>
                        <a:rPr lang="en-US" sz="900">
                          <a:effectLst/>
                          <a:latin typeface="Raleway"/>
                        </a:rPr>
                        <a:t>06-May-26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Head of Area - Timika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07-May-26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Eli</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 HR Interview </a:t>
                      </a:r>
                      <a:r>
                        <a:rPr lang="en-US" sz="900" err="1">
                          <a:effectLst/>
                          <a:latin typeface="Raleway"/>
                        </a:rPr>
                        <a:t>atas</a:t>
                      </a:r>
                      <a:r>
                        <a:rPr lang="en-US" sz="900">
                          <a:effectLst/>
                          <a:latin typeface="Raleway"/>
                        </a:rPr>
                        <a:t> nama Syaldi pada 5 Agustus 2026 : lolos</a:t>
                      </a:r>
                      <a:br>
                        <a:rPr lang="en-US" sz="900">
                          <a:effectLst/>
                          <a:latin typeface="Raleway"/>
                        </a:rPr>
                      </a:br>
                      <a:r>
                        <a:rPr lang="en-US" sz="900">
                          <a:effectLst/>
                          <a:latin typeface="Raleway"/>
                        </a:rPr>
                        <a:t>- </a:t>
                      </a:r>
                      <a:r>
                        <a:rPr lang="en-US" sz="900" err="1">
                          <a:effectLst/>
                          <a:latin typeface="Raleway"/>
                        </a:rPr>
                        <a:t>Psikotes</a:t>
                      </a:r>
                      <a:r>
                        <a:rPr lang="en-US" sz="900">
                          <a:effectLst/>
                          <a:latin typeface="Raleway"/>
                        </a:rPr>
                        <a:t> </a:t>
                      </a:r>
                      <a:r>
                        <a:rPr lang="en-US" sz="900" err="1">
                          <a:effectLst/>
                          <a:latin typeface="Raleway"/>
                        </a:rPr>
                        <a:t>atas</a:t>
                      </a:r>
                      <a:r>
                        <a:rPr lang="en-US" sz="900">
                          <a:effectLst/>
                          <a:latin typeface="Raleway"/>
                        </a:rPr>
                        <a:t> nama Syaldi pada 6 </a:t>
                      </a:r>
                      <a:r>
                        <a:rPr lang="en-US" sz="900" err="1">
                          <a:effectLst/>
                          <a:latin typeface="Raleway"/>
                        </a:rPr>
                        <a:t>agustus</a:t>
                      </a:r>
                      <a:r>
                        <a:rPr lang="en-US" sz="900">
                          <a:effectLst/>
                          <a:latin typeface="Raleway"/>
                        </a:rPr>
                        <a:t> 2026: lolos</a:t>
                      </a:r>
                      <a:br>
                        <a:rPr lang="en-US" sz="900">
                          <a:effectLst/>
                          <a:latin typeface="Raleway"/>
                        </a:rPr>
                      </a:br>
                      <a:r>
                        <a:rPr lang="en-US" sz="900">
                          <a:effectLst/>
                          <a:latin typeface="Raleway"/>
                        </a:rPr>
                        <a:t>- 1 </a:t>
                      </a:r>
                      <a:r>
                        <a:rPr lang="en-US" sz="900" err="1">
                          <a:effectLst/>
                          <a:latin typeface="Raleway"/>
                        </a:rPr>
                        <a:t>kandidat</a:t>
                      </a:r>
                      <a:r>
                        <a:rPr lang="en-US" sz="900">
                          <a:effectLst/>
                          <a:latin typeface="Raleway"/>
                        </a:rPr>
                        <a:t> </a:t>
                      </a:r>
                      <a:r>
                        <a:rPr lang="en-US" sz="900" err="1">
                          <a:effectLst/>
                          <a:latin typeface="Raleway"/>
                        </a:rPr>
                        <a:t>atas</a:t>
                      </a:r>
                      <a:r>
                        <a:rPr lang="en-US" sz="900">
                          <a:effectLst/>
                          <a:latin typeface="Raleway"/>
                        </a:rPr>
                        <a:t> nama Caniggia Jerry </a:t>
                      </a:r>
                      <a:r>
                        <a:rPr lang="en-US" sz="900" err="1">
                          <a:effectLst/>
                          <a:latin typeface="Raleway"/>
                        </a:rPr>
                        <a:t>dalam</a:t>
                      </a:r>
                      <a:r>
                        <a:rPr lang="en-US" sz="900">
                          <a:effectLst/>
                          <a:latin typeface="Raleway"/>
                        </a:rPr>
                        <a:t> proses approval offering to Pak Yadi</a:t>
                      </a:r>
                      <a:br>
                        <a:rPr lang="en-US" sz="900">
                          <a:effectLst/>
                          <a:latin typeface="Raleway"/>
                        </a:rPr>
                      </a:br>
                      <a:r>
                        <a:rPr lang="en-US" sz="900">
                          <a:effectLst/>
                          <a:latin typeface="Raleway"/>
                        </a:rPr>
                        <a:t>Next Action: </a:t>
                      </a:r>
                      <a:br>
                        <a:rPr lang="en-US" sz="900">
                          <a:effectLst/>
                          <a:latin typeface="Raleway"/>
                        </a:rPr>
                      </a:br>
                      <a:r>
                        <a:rPr lang="en-US" sz="900">
                          <a:effectLst/>
                          <a:latin typeface="Raleway"/>
                        </a:rPr>
                        <a:t>- Proses </a:t>
                      </a:r>
                      <a:r>
                        <a:rPr lang="en-US" sz="900" err="1">
                          <a:effectLst/>
                          <a:latin typeface="Raleway"/>
                        </a:rPr>
                        <a:t>approbal</a:t>
                      </a:r>
                      <a:r>
                        <a:rPr lang="en-US" sz="900">
                          <a:effectLst/>
                          <a:latin typeface="Raleway"/>
                        </a:rPr>
                        <a:t> </a:t>
                      </a:r>
                      <a:r>
                        <a:rPr lang="en-US" sz="900" err="1">
                          <a:effectLst/>
                          <a:latin typeface="Raleway"/>
                        </a:rPr>
                        <a:t>offfering</a:t>
                      </a:r>
                      <a:r>
                        <a:rPr lang="en-US" sz="900">
                          <a:effectLst/>
                          <a:latin typeface="Raleway"/>
                        </a:rPr>
                        <a:t> </a:t>
                      </a:r>
                      <a:r>
                        <a:rPr lang="en-US" sz="900" err="1">
                          <a:effectLst/>
                          <a:latin typeface="Raleway"/>
                        </a:rPr>
                        <a:t>kandidat</a:t>
                      </a:r>
                      <a:r>
                        <a:rPr lang="en-US" sz="900">
                          <a:effectLst/>
                          <a:latin typeface="Raleway"/>
                        </a:rPr>
                        <a:t> </a:t>
                      </a:r>
                      <a:r>
                        <a:rPr lang="en-US" sz="900" err="1">
                          <a:effectLst/>
                          <a:latin typeface="Raleway"/>
                        </a:rPr>
                        <a:t>atas</a:t>
                      </a:r>
                      <a:r>
                        <a:rPr lang="en-US" sz="900">
                          <a:effectLst/>
                          <a:latin typeface="Raleway"/>
                        </a:rPr>
                        <a:t> nama Caniggia to Pak </a:t>
                      </a:r>
                      <a:r>
                        <a:rPr lang="en-US" sz="900" err="1">
                          <a:effectLst/>
                          <a:latin typeface="Raleway"/>
                        </a:rPr>
                        <a:t>Arjoso</a:t>
                      </a:r>
                      <a:r>
                        <a:rPr lang="en-US" sz="900">
                          <a:effectLst/>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255162751"/>
                  </a:ext>
                </a:extLst>
              </a:tr>
            </a:tbl>
          </a:graphicData>
        </a:graphic>
      </p:graphicFrame>
      <p:sp>
        <p:nvSpPr>
          <p:cNvPr id="6" name="TextBox 7">
            <a:extLst>
              <a:ext uri="{FF2B5EF4-FFF2-40B4-BE49-F238E27FC236}">
                <a16:creationId xmlns:a16="http://schemas.microsoft.com/office/drawing/2014/main" id="{F1DC7001-4579-FB4C-5633-7266340B083E}"/>
              </a:ext>
            </a:extLst>
          </p:cNvPr>
          <p:cNvSpPr txBox="1"/>
          <p:nvPr/>
        </p:nvSpPr>
        <p:spPr>
          <a:xfrm>
            <a:off x="89575" y="6408147"/>
            <a:ext cx="10972800" cy="261610"/>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a:latin typeface="Raleway"/>
              </a:rPr>
              <a:t>* </a:t>
            </a:r>
            <a:r>
              <a:rPr lang="en-US" sz="1100" i="1">
                <a:latin typeface="Raleway"/>
              </a:rPr>
              <a:t>Update per </a:t>
            </a:r>
            <a:r>
              <a:rPr lang="en-US" sz="1100" i="1" err="1">
                <a:latin typeface="Raleway"/>
              </a:rPr>
              <a:t>tanggal</a:t>
            </a:r>
            <a:r>
              <a:rPr lang="en-US" sz="1100" i="1">
                <a:latin typeface="Raleway"/>
              </a:rPr>
              <a:t> 14 Agustus 2026</a:t>
            </a:r>
            <a:endParaRPr lang="en-US" sz="1100">
              <a:latin typeface="Raleway"/>
            </a:endParaRPr>
          </a:p>
        </p:txBody>
      </p:sp>
      <p:sp>
        <p:nvSpPr>
          <p:cNvPr id="8" name="Title 1">
            <a:extLst>
              <a:ext uri="{FF2B5EF4-FFF2-40B4-BE49-F238E27FC236}">
                <a16:creationId xmlns:a16="http://schemas.microsoft.com/office/drawing/2014/main" id="{B96E26E0-3E29-2470-F349-D7A89F1C39C3}"/>
              </a:ext>
            </a:extLst>
          </p:cNvPr>
          <p:cNvSpPr txBox="1">
            <a:spLocks/>
          </p:cNvSpPr>
          <p:nvPr/>
        </p:nvSpPr>
        <p:spPr>
          <a:xfrm>
            <a:off x="1515277" y="-12389"/>
            <a:ext cx="8958197" cy="4799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2400" b="1">
                <a:latin typeface="Raleway" panose="020B0503030101060003"/>
              </a:rPr>
              <a:t>Recruitment Progress – Level 3</a:t>
            </a:r>
            <a:endParaRPr lang="en-US" sz="2400">
              <a:latin typeface="Raleway" panose="020B0503030101060003"/>
            </a:endParaRPr>
          </a:p>
        </p:txBody>
      </p:sp>
    </p:spTree>
    <p:extLst>
      <p:ext uri="{BB962C8B-B14F-4D97-AF65-F5344CB8AC3E}">
        <p14:creationId xmlns:p14="http://schemas.microsoft.com/office/powerpoint/2010/main" val="308625999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4A0ADA-6E49-5DEA-F629-4609A389C73E}"/>
            </a:ext>
          </a:extLst>
        </p:cNvPr>
        <p:cNvGrpSpPr/>
        <p:nvPr/>
      </p:nvGrpSpPr>
      <p:grpSpPr>
        <a:xfrm>
          <a:off x="0" y="0"/>
          <a:ext cx="0" cy="0"/>
          <a:chOff x="0" y="0"/>
          <a:chExt cx="0" cy="0"/>
        </a:xfrm>
      </p:grpSpPr>
      <p:graphicFrame>
        <p:nvGraphicFramePr>
          <p:cNvPr id="4" name="Table 3">
            <a:extLst>
              <a:ext uri="{FF2B5EF4-FFF2-40B4-BE49-F238E27FC236}">
                <a16:creationId xmlns:a16="http://schemas.microsoft.com/office/drawing/2014/main" id="{B59970F8-AB11-119A-85A2-890D19C1D1FE}"/>
              </a:ext>
            </a:extLst>
          </p:cNvPr>
          <p:cNvGraphicFramePr>
            <a:graphicFrameLocks noGrp="1"/>
          </p:cNvGraphicFramePr>
          <p:nvPr>
            <p:extLst>
              <p:ext uri="{D42A27DB-BD31-4B8C-83A1-F6EECF244321}">
                <p14:modId xmlns:p14="http://schemas.microsoft.com/office/powerpoint/2010/main" val="2092074717"/>
              </p:ext>
            </p:extLst>
          </p:nvPr>
        </p:nvGraphicFramePr>
        <p:xfrm>
          <a:off x="203200" y="551277"/>
          <a:ext cx="11675993" cy="5629795"/>
        </p:xfrm>
        <a:graphic>
          <a:graphicData uri="http://schemas.openxmlformats.org/drawingml/2006/table">
            <a:tbl>
              <a:tblPr bandRow="1">
                <a:tableStyleId>{5C22544A-7EE6-4342-B048-85BDC9FD1C3A}</a:tableStyleId>
              </a:tblPr>
              <a:tblGrid>
                <a:gridCol w="549458">
                  <a:extLst>
                    <a:ext uri="{9D8B030D-6E8A-4147-A177-3AD203B41FA5}">
                      <a16:colId xmlns:a16="http://schemas.microsoft.com/office/drawing/2014/main" val="1439884514"/>
                    </a:ext>
                  </a:extLst>
                </a:gridCol>
                <a:gridCol w="2083365">
                  <a:extLst>
                    <a:ext uri="{9D8B030D-6E8A-4147-A177-3AD203B41FA5}">
                      <a16:colId xmlns:a16="http://schemas.microsoft.com/office/drawing/2014/main" val="700308852"/>
                    </a:ext>
                  </a:extLst>
                </a:gridCol>
                <a:gridCol w="549458">
                  <a:extLst>
                    <a:ext uri="{9D8B030D-6E8A-4147-A177-3AD203B41FA5}">
                      <a16:colId xmlns:a16="http://schemas.microsoft.com/office/drawing/2014/main" val="998795063"/>
                    </a:ext>
                  </a:extLst>
                </a:gridCol>
                <a:gridCol w="984446">
                  <a:extLst>
                    <a:ext uri="{9D8B030D-6E8A-4147-A177-3AD203B41FA5}">
                      <a16:colId xmlns:a16="http://schemas.microsoft.com/office/drawing/2014/main" val="2866984724"/>
                    </a:ext>
                  </a:extLst>
                </a:gridCol>
                <a:gridCol w="732611">
                  <a:extLst>
                    <a:ext uri="{9D8B030D-6E8A-4147-A177-3AD203B41FA5}">
                      <a16:colId xmlns:a16="http://schemas.microsoft.com/office/drawing/2014/main" val="3037602929"/>
                    </a:ext>
                  </a:extLst>
                </a:gridCol>
                <a:gridCol w="583799">
                  <a:extLst>
                    <a:ext uri="{9D8B030D-6E8A-4147-A177-3AD203B41FA5}">
                      <a16:colId xmlns:a16="http://schemas.microsoft.com/office/drawing/2014/main" val="3734010229"/>
                    </a:ext>
                  </a:extLst>
                </a:gridCol>
                <a:gridCol w="938658">
                  <a:extLst>
                    <a:ext uri="{9D8B030D-6E8A-4147-A177-3AD203B41FA5}">
                      <a16:colId xmlns:a16="http://schemas.microsoft.com/office/drawing/2014/main" val="2965620668"/>
                    </a:ext>
                  </a:extLst>
                </a:gridCol>
                <a:gridCol w="549458">
                  <a:extLst>
                    <a:ext uri="{9D8B030D-6E8A-4147-A177-3AD203B41FA5}">
                      <a16:colId xmlns:a16="http://schemas.microsoft.com/office/drawing/2014/main" val="3867339776"/>
                    </a:ext>
                  </a:extLst>
                </a:gridCol>
                <a:gridCol w="549458">
                  <a:extLst>
                    <a:ext uri="{9D8B030D-6E8A-4147-A177-3AD203B41FA5}">
                      <a16:colId xmlns:a16="http://schemas.microsoft.com/office/drawing/2014/main" val="3522731188"/>
                    </a:ext>
                  </a:extLst>
                </a:gridCol>
                <a:gridCol w="4155282">
                  <a:extLst>
                    <a:ext uri="{9D8B030D-6E8A-4147-A177-3AD203B41FA5}">
                      <a16:colId xmlns:a16="http://schemas.microsoft.com/office/drawing/2014/main" val="176303757"/>
                    </a:ext>
                  </a:extLst>
                </a:gridCol>
              </a:tblGrid>
              <a:tr h="887948">
                <a:tc>
                  <a:txBody>
                    <a:bodyPr/>
                    <a:lstStyle/>
                    <a:p>
                      <a:pPr algn="ctr">
                        <a:buNone/>
                      </a:pPr>
                      <a:r>
                        <a:rPr lang="en-US" sz="1000" b="1">
                          <a:solidFill>
                            <a:schemeClr val="bg1"/>
                          </a:solidFill>
                          <a:effectLst/>
                          <a:latin typeface="Raleway"/>
                        </a:rPr>
                        <a:t>Tanggal 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Business 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SLA Target </a:t>
                      </a:r>
                      <a:r>
                        <a:rPr lang="en-US" sz="1000" b="1" err="1">
                          <a:solidFill>
                            <a:schemeClr val="bg1"/>
                          </a:solidFill>
                          <a:effectLst/>
                          <a:latin typeface="Raleway"/>
                        </a:rPr>
                        <a:t>Pemenuhan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Jumlah</a:t>
                      </a:r>
                      <a:r>
                        <a:rPr lang="en-US" sz="1000" b="1">
                          <a:solidFill>
                            <a:schemeClr val="bg1"/>
                          </a:solidFill>
                          <a:effectLst/>
                          <a:latin typeface="Raleway"/>
                        </a:rPr>
                        <a:t> </a:t>
                      </a:r>
                      <a:r>
                        <a:rPr lang="en-US" sz="1000" b="1" err="1">
                          <a:solidFill>
                            <a:schemeClr val="bg1"/>
                          </a:solidFill>
                          <a:effectLst/>
                          <a:latin typeface="Raleway"/>
                        </a:rPr>
                        <a:t>Permintaan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Status </a:t>
                      </a:r>
                      <a:r>
                        <a:rPr lang="en-US" sz="1000" b="1" err="1">
                          <a:solidFill>
                            <a:schemeClr val="bg1"/>
                          </a:solidFill>
                          <a:effectLst/>
                          <a:latin typeface="Raleway"/>
                        </a:rPr>
                        <a:t>Rekrutmen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822632600"/>
                  </a:ext>
                </a:extLst>
              </a:tr>
              <a:tr h="3222261">
                <a:tc>
                  <a:txBody>
                    <a:bodyPr/>
                    <a:lstStyle/>
                    <a:p>
                      <a:pPr algn="ctr">
                        <a:buNone/>
                      </a:pPr>
                      <a:r>
                        <a:rPr lang="en-US" sz="900">
                          <a:effectLst/>
                          <a:latin typeface="Raleway"/>
                        </a:rPr>
                        <a:t>05-Jul-26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Facility &amp; Office Management Supervisor</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06-Jun-26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Kevin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 </a:t>
                      </a:r>
                      <a:r>
                        <a:rPr lang="en-US" sz="900" err="1">
                          <a:effectLst/>
                          <a:latin typeface="Raleway"/>
                        </a:rPr>
                        <a:t>Psikotes</a:t>
                      </a:r>
                      <a:r>
                        <a:rPr lang="en-US" sz="900">
                          <a:effectLst/>
                          <a:latin typeface="Raleway"/>
                        </a:rPr>
                        <a:t> 2 </a:t>
                      </a:r>
                      <a:r>
                        <a:rPr lang="en-US" sz="900" err="1">
                          <a:effectLst/>
                          <a:latin typeface="Raleway"/>
                        </a:rPr>
                        <a:t>kandidat</a:t>
                      </a:r>
                      <a:r>
                        <a:rPr lang="en-US" sz="900">
                          <a:effectLst/>
                          <a:latin typeface="Raleway"/>
                        </a:rPr>
                        <a:t> </a:t>
                      </a:r>
                      <a:r>
                        <a:rPr lang="en-US" sz="900" err="1">
                          <a:effectLst/>
                          <a:latin typeface="Raleway"/>
                        </a:rPr>
                        <a:t>a.n</a:t>
                      </a:r>
                      <a:r>
                        <a:rPr lang="en-US" sz="900">
                          <a:effectLst/>
                          <a:latin typeface="Raleway"/>
                        </a:rPr>
                        <a:t> Andika &amp; Akbar di Week 20</a:t>
                      </a:r>
                      <a:br>
                        <a:rPr lang="en-US" sz="900">
                          <a:effectLst/>
                          <a:latin typeface="Raleway"/>
                        </a:rPr>
                      </a:br>
                      <a:r>
                        <a:rPr lang="en-US" sz="900">
                          <a:effectLst/>
                          <a:latin typeface="Raleway"/>
                        </a:rPr>
                        <a:t>- HR Interview 2 </a:t>
                      </a:r>
                      <a:r>
                        <a:rPr lang="en-US" sz="900" err="1">
                          <a:effectLst/>
                          <a:latin typeface="Raleway"/>
                        </a:rPr>
                        <a:t>kandidat</a:t>
                      </a:r>
                      <a:r>
                        <a:rPr lang="en-US" sz="900">
                          <a:effectLst/>
                          <a:latin typeface="Raleway"/>
                        </a:rPr>
                        <a:t> </a:t>
                      </a:r>
                      <a:r>
                        <a:rPr lang="en-US" sz="900" err="1">
                          <a:effectLst/>
                          <a:latin typeface="Raleway"/>
                        </a:rPr>
                        <a:t>a.n</a:t>
                      </a:r>
                      <a:r>
                        <a:rPr lang="en-US" sz="900">
                          <a:effectLst/>
                          <a:latin typeface="Raleway"/>
                        </a:rPr>
                        <a:t> Andika &amp; Akbar di Week 20</a:t>
                      </a:r>
                      <a:br>
                        <a:rPr lang="en-US" sz="900">
                          <a:effectLst/>
                          <a:latin typeface="Raleway"/>
                        </a:rPr>
                      </a:br>
                      <a:r>
                        <a:rPr lang="en-US" sz="900">
                          <a:effectLst/>
                          <a:latin typeface="Raleway"/>
                        </a:rPr>
                        <a:t>- User interview 2 </a:t>
                      </a:r>
                      <a:r>
                        <a:rPr lang="en-US" sz="900" err="1">
                          <a:effectLst/>
                          <a:latin typeface="Raleway"/>
                        </a:rPr>
                        <a:t>kandidat</a:t>
                      </a:r>
                      <a:r>
                        <a:rPr lang="en-US" sz="900">
                          <a:effectLst/>
                          <a:latin typeface="Raleway"/>
                        </a:rPr>
                        <a:t> </a:t>
                      </a:r>
                      <a:r>
                        <a:rPr lang="en-US" sz="900" err="1">
                          <a:effectLst/>
                          <a:latin typeface="Raleway"/>
                        </a:rPr>
                        <a:t>a.n</a:t>
                      </a:r>
                      <a:r>
                        <a:rPr lang="en-US" sz="900">
                          <a:effectLst/>
                          <a:latin typeface="Raleway"/>
                        </a:rPr>
                        <a:t> Andika &amp; Akbar di Week 21 (Akbar, DROP)</a:t>
                      </a:r>
                      <a:br>
                        <a:rPr lang="en-US" sz="900">
                          <a:effectLst/>
                          <a:latin typeface="Raleway"/>
                        </a:rPr>
                      </a:br>
                      <a:r>
                        <a:rPr lang="en-US" sz="900">
                          <a:effectLst/>
                          <a:latin typeface="Raleway"/>
                        </a:rPr>
                        <a:t>- </a:t>
                      </a:r>
                      <a:r>
                        <a:rPr lang="en-US" sz="900" err="1">
                          <a:effectLst/>
                          <a:latin typeface="Raleway"/>
                        </a:rPr>
                        <a:t>Presentasi</a:t>
                      </a:r>
                      <a:r>
                        <a:rPr lang="en-US" sz="900">
                          <a:effectLst/>
                          <a:latin typeface="Raleway"/>
                        </a:rPr>
                        <a:t> Technical Test </a:t>
                      </a:r>
                      <a:r>
                        <a:rPr lang="en-US" sz="900" err="1">
                          <a:effectLst/>
                          <a:latin typeface="Raleway"/>
                        </a:rPr>
                        <a:t>a.n</a:t>
                      </a:r>
                      <a:r>
                        <a:rPr lang="en-US" sz="900">
                          <a:effectLst/>
                          <a:latin typeface="Raleway"/>
                        </a:rPr>
                        <a:t> Andika di Week 22</a:t>
                      </a:r>
                      <a:br>
                        <a:rPr lang="en-US" sz="900">
                          <a:effectLst/>
                          <a:latin typeface="Raleway"/>
                        </a:rPr>
                      </a:br>
                      <a:r>
                        <a:rPr lang="en-US" sz="900">
                          <a:effectLst/>
                          <a:latin typeface="Raleway"/>
                        </a:rPr>
                        <a:t>- Sourcing 10 </a:t>
                      </a:r>
                      <a:r>
                        <a:rPr lang="en-US" sz="900" err="1">
                          <a:effectLst/>
                          <a:latin typeface="Raleway"/>
                        </a:rPr>
                        <a:t>kandidat</a:t>
                      </a:r>
                      <a:r>
                        <a:rPr lang="en-US" sz="900">
                          <a:effectLst/>
                          <a:latin typeface="Raleway"/>
                        </a:rPr>
                        <a:t> </a:t>
                      </a:r>
                      <a:r>
                        <a:rPr lang="en-US" sz="900" err="1">
                          <a:effectLst/>
                          <a:latin typeface="Raleway"/>
                        </a:rPr>
                        <a:t>pembanding</a:t>
                      </a:r>
                      <a:r>
                        <a:rPr lang="en-US" sz="900">
                          <a:effectLst/>
                          <a:latin typeface="Raleway"/>
                        </a:rPr>
                        <a:t> di Week 22</a:t>
                      </a:r>
                      <a:br>
                        <a:rPr lang="en-US" sz="900">
                          <a:effectLst/>
                          <a:latin typeface="Raleway"/>
                        </a:rPr>
                      </a:br>
                      <a:r>
                        <a:rPr lang="en-US" sz="900">
                          <a:effectLst/>
                          <a:latin typeface="Raleway"/>
                        </a:rPr>
                        <a:t>- Sourcing 11 </a:t>
                      </a:r>
                      <a:r>
                        <a:rPr lang="en-US" sz="900" err="1">
                          <a:effectLst/>
                          <a:latin typeface="Raleway"/>
                        </a:rPr>
                        <a:t>kandidat</a:t>
                      </a:r>
                      <a:r>
                        <a:rPr lang="en-US" sz="900">
                          <a:effectLst/>
                          <a:latin typeface="Raleway"/>
                        </a:rPr>
                        <a:t> </a:t>
                      </a:r>
                      <a:r>
                        <a:rPr lang="en-US" sz="900" err="1">
                          <a:effectLst/>
                          <a:latin typeface="Raleway"/>
                        </a:rPr>
                        <a:t>pembanding</a:t>
                      </a:r>
                      <a:r>
                        <a:rPr lang="en-US" sz="900">
                          <a:effectLst/>
                          <a:latin typeface="Raleway"/>
                        </a:rPr>
                        <a:t> di Week 23</a:t>
                      </a:r>
                      <a:br>
                        <a:rPr lang="en-US" sz="900">
                          <a:effectLst/>
                          <a:latin typeface="Raleway"/>
                        </a:rPr>
                      </a:br>
                      <a:r>
                        <a:rPr lang="en-US" sz="900">
                          <a:effectLst/>
                          <a:latin typeface="Raleway"/>
                        </a:rPr>
                        <a:t>- Reference check </a:t>
                      </a:r>
                      <a:r>
                        <a:rPr lang="en-US" sz="900" err="1">
                          <a:effectLst/>
                          <a:latin typeface="Raleway"/>
                        </a:rPr>
                        <a:t>a.n</a:t>
                      </a:r>
                      <a:r>
                        <a:rPr lang="en-US" sz="900">
                          <a:effectLst/>
                          <a:latin typeface="Raleway"/>
                        </a:rPr>
                        <a:t> Andika di Week 23</a:t>
                      </a:r>
                      <a:br>
                        <a:rPr lang="en-US" sz="900">
                          <a:effectLst/>
                          <a:latin typeface="Raleway"/>
                        </a:rPr>
                      </a:br>
                      <a:r>
                        <a:rPr lang="en-US" sz="900">
                          <a:effectLst/>
                          <a:latin typeface="Raleway"/>
                        </a:rPr>
                        <a:t>- Muhammad Zaky Akbar di Week 24 – KEEP</a:t>
                      </a:r>
                      <a:br>
                        <a:rPr lang="en-US" sz="900">
                          <a:effectLst/>
                          <a:latin typeface="Raleway"/>
                        </a:rPr>
                      </a:br>
                      <a:r>
                        <a:rPr lang="en-US" sz="900">
                          <a:effectLst/>
                          <a:latin typeface="Raleway"/>
                        </a:rPr>
                        <a:t>- Stefanus - WITHDRAW. </a:t>
                      </a:r>
                      <a:r>
                        <a:rPr lang="en-US" sz="900" err="1">
                          <a:effectLst/>
                          <a:latin typeface="Raleway"/>
                        </a:rPr>
                        <a:t>Menerima</a:t>
                      </a:r>
                      <a:r>
                        <a:rPr lang="en-US" sz="900">
                          <a:effectLst/>
                          <a:latin typeface="Raleway"/>
                        </a:rPr>
                        <a:t> offering </a:t>
                      </a:r>
                      <a:r>
                        <a:rPr lang="en-US" sz="900" err="1">
                          <a:effectLst/>
                          <a:latin typeface="Raleway"/>
                        </a:rPr>
                        <a:t>dari</a:t>
                      </a:r>
                      <a:r>
                        <a:rPr lang="en-US" sz="900">
                          <a:effectLst/>
                          <a:latin typeface="Raleway"/>
                        </a:rPr>
                        <a:t> </a:t>
                      </a:r>
                      <a:r>
                        <a:rPr lang="en-US" sz="900" err="1">
                          <a:effectLst/>
                          <a:latin typeface="Raleway"/>
                        </a:rPr>
                        <a:t>perusahaan</a:t>
                      </a:r>
                      <a:r>
                        <a:rPr lang="en-US" sz="900">
                          <a:effectLst/>
                          <a:latin typeface="Raleway"/>
                        </a:rPr>
                        <a:t> lain di Week 27</a:t>
                      </a:r>
                      <a:br>
                        <a:rPr lang="en-US" sz="900">
                          <a:effectLst/>
                          <a:latin typeface="Raleway"/>
                        </a:rPr>
                      </a:br>
                      <a:r>
                        <a:rPr lang="en-US" sz="900">
                          <a:effectLst/>
                          <a:latin typeface="Raleway"/>
                        </a:rPr>
                        <a:t>- HR Interview </a:t>
                      </a:r>
                      <a:r>
                        <a:rPr lang="en-US" sz="900" err="1">
                          <a:effectLst/>
                          <a:latin typeface="Raleway"/>
                        </a:rPr>
                        <a:t>a.n</a:t>
                      </a:r>
                      <a:r>
                        <a:rPr lang="en-US" sz="900">
                          <a:effectLst/>
                          <a:latin typeface="Raleway"/>
                        </a:rPr>
                        <a:t> Bayu </a:t>
                      </a:r>
                      <a:r>
                        <a:rPr lang="en-US" sz="900" err="1">
                          <a:effectLst/>
                          <a:latin typeface="Raleway"/>
                        </a:rPr>
                        <a:t>Hastomo</a:t>
                      </a:r>
                      <a:r>
                        <a:rPr lang="en-US" sz="900">
                          <a:effectLst/>
                          <a:latin typeface="Raleway"/>
                        </a:rPr>
                        <a:t> dan Tengku Shabah Raihan di Week 28. </a:t>
                      </a:r>
                      <a:r>
                        <a:rPr lang="en-US" sz="900" err="1">
                          <a:effectLst/>
                          <a:latin typeface="Raleway"/>
                        </a:rPr>
                        <a:t>Menunggu</a:t>
                      </a:r>
                      <a:r>
                        <a:rPr lang="en-US" sz="900">
                          <a:effectLst/>
                          <a:latin typeface="Raleway"/>
                        </a:rPr>
                        <a:t> feedback </a:t>
                      </a:r>
                      <a:r>
                        <a:rPr lang="en-US" sz="900" err="1">
                          <a:effectLst/>
                          <a:latin typeface="Raleway"/>
                        </a:rPr>
                        <a:t>jadwal</a:t>
                      </a:r>
                      <a:r>
                        <a:rPr lang="en-US" sz="900">
                          <a:effectLst/>
                          <a:latin typeface="Raleway"/>
                        </a:rPr>
                        <a:t> user interview. </a:t>
                      </a:r>
                      <a:br>
                        <a:rPr lang="en-US" sz="900">
                          <a:effectLst/>
                          <a:latin typeface="Raleway"/>
                        </a:rPr>
                      </a:br>
                      <a:r>
                        <a:rPr lang="en-US" sz="900">
                          <a:effectLst/>
                          <a:latin typeface="Raleway"/>
                        </a:rPr>
                        <a:t>- Send 30 CVs to user di Week 28. </a:t>
                      </a:r>
                      <a:br>
                        <a:rPr lang="en-US" sz="900">
                          <a:effectLst/>
                          <a:latin typeface="Raleway"/>
                        </a:rPr>
                      </a:br>
                      <a:r>
                        <a:rPr lang="en-US" sz="900">
                          <a:effectLst/>
                          <a:latin typeface="Raleway"/>
                        </a:rPr>
                        <a:t>- </a:t>
                      </a:r>
                      <a:r>
                        <a:rPr lang="en-US" sz="900" err="1">
                          <a:effectLst/>
                          <a:latin typeface="Raleway"/>
                        </a:rPr>
                        <a:t>Psikotest</a:t>
                      </a:r>
                      <a:r>
                        <a:rPr lang="en-US" sz="900">
                          <a:effectLst/>
                          <a:latin typeface="Raleway"/>
                        </a:rPr>
                        <a:t> 9 </a:t>
                      </a:r>
                      <a:r>
                        <a:rPr lang="en-US" sz="900" err="1">
                          <a:effectLst/>
                          <a:latin typeface="Raleway"/>
                        </a:rPr>
                        <a:t>kandidat</a:t>
                      </a:r>
                      <a:r>
                        <a:rPr lang="en-US" sz="900">
                          <a:effectLst/>
                          <a:latin typeface="Raleway"/>
                        </a:rPr>
                        <a:t> di Week 29</a:t>
                      </a:r>
                      <a:br>
                        <a:rPr lang="en-US" sz="900">
                          <a:effectLst/>
                          <a:latin typeface="Raleway"/>
                        </a:rPr>
                      </a:br>
                      <a:r>
                        <a:rPr lang="en-US" sz="900">
                          <a:effectLst/>
                          <a:latin typeface="Raleway"/>
                        </a:rPr>
                        <a:t>- Follow up </a:t>
                      </a:r>
                      <a:r>
                        <a:rPr lang="en-US" sz="900" err="1">
                          <a:effectLst/>
                          <a:latin typeface="Raleway"/>
                        </a:rPr>
                        <a:t>hasil</a:t>
                      </a:r>
                      <a:r>
                        <a:rPr lang="en-US" sz="900">
                          <a:effectLst/>
                          <a:latin typeface="Raleway"/>
                        </a:rPr>
                        <a:t> </a:t>
                      </a:r>
                      <a:r>
                        <a:rPr lang="en-US" sz="900" err="1">
                          <a:effectLst/>
                          <a:latin typeface="Raleway"/>
                        </a:rPr>
                        <a:t>diskusi</a:t>
                      </a:r>
                      <a:r>
                        <a:rPr lang="en-US" sz="900">
                          <a:effectLst/>
                          <a:latin typeface="Raleway"/>
                        </a:rPr>
                        <a:t> </a:t>
                      </a:r>
                      <a:r>
                        <a:rPr lang="en-US" sz="900" err="1">
                          <a:effectLst/>
                          <a:latin typeface="Raleway"/>
                        </a:rPr>
                        <a:t>struktur</a:t>
                      </a:r>
                      <a:r>
                        <a:rPr lang="en-US" sz="900">
                          <a:effectLst/>
                          <a:latin typeface="Raleway"/>
                        </a:rPr>
                        <a:t> </a:t>
                      </a:r>
                      <a:r>
                        <a:rPr lang="en-US" sz="900" err="1">
                          <a:effectLst/>
                          <a:latin typeface="Raleway"/>
                        </a:rPr>
                        <a:t>organisasi</a:t>
                      </a:r>
                      <a:r>
                        <a:rPr lang="en-US" sz="900">
                          <a:effectLst/>
                          <a:latin typeface="Raleway"/>
                        </a:rPr>
                        <a:t> </a:t>
                      </a:r>
                      <a:r>
                        <a:rPr lang="en-US" sz="900" err="1">
                          <a:effectLst/>
                          <a:latin typeface="Raleway"/>
                        </a:rPr>
                        <a:t>posisi</a:t>
                      </a:r>
                      <a:r>
                        <a:rPr lang="en-US" sz="900">
                          <a:effectLst/>
                          <a:latin typeface="Raleway"/>
                        </a:rPr>
                        <a:t> dan level Facility &amp; Office Management Supervisor di Week 31</a:t>
                      </a:r>
                      <a:br>
                        <a:rPr lang="en-US" sz="900">
                          <a:effectLst/>
                          <a:latin typeface="Raleway"/>
                        </a:rPr>
                      </a:br>
                      <a:r>
                        <a:rPr lang="en-US" sz="900">
                          <a:effectLst/>
                          <a:latin typeface="Raleway"/>
                        </a:rPr>
                        <a:t>- FPTK hold </a:t>
                      </a:r>
                      <a:r>
                        <a:rPr lang="en-US" sz="900" err="1">
                          <a:effectLst/>
                          <a:latin typeface="Raleway"/>
                        </a:rPr>
                        <a:t>menunggu</a:t>
                      </a:r>
                      <a:r>
                        <a:rPr lang="en-US" sz="900">
                          <a:effectLst/>
                          <a:latin typeface="Raleway"/>
                        </a:rPr>
                        <a:t> SO dan detail </a:t>
                      </a:r>
                      <a:r>
                        <a:rPr lang="en-US" sz="900" err="1">
                          <a:effectLst/>
                          <a:latin typeface="Raleway"/>
                        </a:rPr>
                        <a:t>karyawan</a:t>
                      </a:r>
                      <a:r>
                        <a:rPr lang="en-US" sz="900">
                          <a:effectLst/>
                          <a:latin typeface="Raleway"/>
                        </a:rPr>
                        <a:t> GA</a:t>
                      </a:r>
                      <a:br>
                        <a:rPr lang="en-US" sz="900">
                          <a:effectLst/>
                          <a:latin typeface="Raleway"/>
                        </a:rPr>
                      </a:br>
                      <a:r>
                        <a:rPr lang="en-US" sz="900">
                          <a:effectLst/>
                          <a:latin typeface="Raleway"/>
                        </a:rPr>
                        <a:t>- User Interview 1 </a:t>
                      </a:r>
                      <a:r>
                        <a:rPr lang="en-US" sz="900" err="1">
                          <a:effectLst/>
                          <a:latin typeface="Raleway"/>
                        </a:rPr>
                        <a:t>kandidat</a:t>
                      </a:r>
                      <a:r>
                        <a:rPr lang="en-US" sz="900">
                          <a:effectLst/>
                          <a:latin typeface="Raleway"/>
                        </a:rPr>
                        <a:t> pada 14 Agustus 2026</a:t>
                      </a:r>
                      <a:br>
                        <a:rPr lang="en-US" sz="900">
                          <a:effectLst/>
                          <a:latin typeface="Raleway"/>
                        </a:rPr>
                      </a:br>
                      <a:r>
                        <a:rPr lang="en-US" sz="900" b="1">
                          <a:effectLst/>
                          <a:latin typeface="Raleway"/>
                        </a:rPr>
                        <a:t>Next Action:</a:t>
                      </a:r>
                      <a:br>
                        <a:rPr lang="en-US" sz="900">
                          <a:effectLst/>
                          <a:latin typeface="Raleway"/>
                        </a:rPr>
                      </a:br>
                      <a:r>
                        <a:rPr lang="en-US" sz="900">
                          <a:effectLst/>
                          <a:latin typeface="Raleway"/>
                        </a:rPr>
                        <a:t>- Send minimal 10 CV to User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79985900"/>
                  </a:ext>
                </a:extLst>
              </a:tr>
              <a:tr h="759793">
                <a:tc>
                  <a:txBody>
                    <a:bodyPr/>
                    <a:lstStyle/>
                    <a:p>
                      <a:pPr algn="ctr">
                        <a:buNone/>
                      </a:pPr>
                      <a:r>
                        <a:rPr lang="en-US" sz="900">
                          <a:effectLst/>
                          <a:latin typeface="Raleway"/>
                        </a:rPr>
                        <a:t>14-Jul-26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R&amp;I Supervisor - Formulation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13-Aug-26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Karin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&gt; Send 17 CV di 16 Juli 2026, need feedback </a:t>
                      </a:r>
                      <a:br>
                        <a:rPr lang="en-US" sz="900">
                          <a:effectLst/>
                          <a:latin typeface="Raleway"/>
                        </a:rPr>
                      </a:br>
                      <a:r>
                        <a:rPr lang="en-US" sz="900">
                          <a:effectLst/>
                          <a:latin typeface="Raleway"/>
                        </a:rPr>
                        <a:t>&gt; Follow up to user di 14 </a:t>
                      </a:r>
                      <a:r>
                        <a:rPr lang="en-US" sz="900" err="1">
                          <a:effectLst/>
                          <a:latin typeface="Raleway"/>
                        </a:rPr>
                        <a:t>Agt</a:t>
                      </a:r>
                      <a:r>
                        <a:rPr lang="en-US" sz="900">
                          <a:effectLst/>
                          <a:latin typeface="Raleway"/>
                        </a:rPr>
                        <a:t> 2026</a:t>
                      </a:r>
                      <a:br>
                        <a:rPr lang="en-US" sz="900">
                          <a:effectLst/>
                          <a:latin typeface="Raleway"/>
                        </a:rPr>
                      </a:br>
                      <a:r>
                        <a:rPr lang="en-US" sz="900">
                          <a:effectLst/>
                          <a:latin typeface="Raleway"/>
                        </a:rPr>
                        <a:t>Next Action</a:t>
                      </a:r>
                      <a:br>
                        <a:rPr lang="en-US" sz="900">
                          <a:effectLst/>
                          <a:latin typeface="Raleway"/>
                        </a:rPr>
                      </a:br>
                      <a:r>
                        <a:rPr lang="en-US" sz="900">
                          <a:effectLst/>
                          <a:latin typeface="Raleway"/>
                        </a:rPr>
                        <a:t>&gt; Send </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2268635041"/>
                  </a:ext>
                </a:extLst>
              </a:tr>
              <a:tr h="759793">
                <a:tc>
                  <a:txBody>
                    <a:bodyPr/>
                    <a:lstStyle/>
                    <a:p>
                      <a:pPr algn="ctr">
                        <a:buNone/>
                      </a:pPr>
                      <a:r>
                        <a:rPr lang="en-US" sz="900">
                          <a:effectLst/>
                          <a:latin typeface="Raleway"/>
                        </a:rPr>
                        <a:t>14-Jul-26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R&amp;I Supervisor - Process Engineering</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13-Aug-26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Karin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&gt; Send 17 CV di 16 Juli 2026, need feedback </a:t>
                      </a:r>
                      <a:br>
                        <a:rPr lang="en-US" sz="900">
                          <a:effectLst/>
                          <a:latin typeface="Raleway"/>
                        </a:rPr>
                      </a:br>
                      <a:r>
                        <a:rPr lang="en-US" sz="900">
                          <a:effectLst/>
                          <a:latin typeface="Raleway"/>
                        </a:rPr>
                        <a:t>&gt; Follow up to user di 14 </a:t>
                      </a:r>
                      <a:r>
                        <a:rPr lang="en-US" sz="900" err="1">
                          <a:effectLst/>
                          <a:latin typeface="Raleway"/>
                        </a:rPr>
                        <a:t>Agt</a:t>
                      </a:r>
                      <a:r>
                        <a:rPr lang="en-US" sz="900">
                          <a:effectLst/>
                          <a:latin typeface="Raleway"/>
                        </a:rPr>
                        <a:t> 2026</a:t>
                      </a:r>
                      <a:br>
                        <a:rPr lang="en-US" sz="900">
                          <a:effectLst/>
                          <a:latin typeface="Raleway"/>
                        </a:rPr>
                      </a:br>
                      <a:r>
                        <a:rPr lang="en-US" sz="900">
                          <a:effectLst/>
                          <a:latin typeface="Raleway"/>
                        </a:rPr>
                        <a:t>Next Action</a:t>
                      </a:r>
                      <a:br>
                        <a:rPr lang="en-US" sz="900">
                          <a:effectLst/>
                          <a:latin typeface="Raleway"/>
                        </a:rPr>
                      </a:br>
                      <a:r>
                        <a:rPr lang="en-US" sz="900">
                          <a:effectLst/>
                          <a:latin typeface="Raleway"/>
                        </a:rPr>
                        <a:t>&gt; Send </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743861811"/>
                  </a:ext>
                </a:extLst>
              </a:tr>
            </a:tbl>
          </a:graphicData>
        </a:graphic>
      </p:graphicFrame>
      <p:sp>
        <p:nvSpPr>
          <p:cNvPr id="6" name="TextBox 7">
            <a:extLst>
              <a:ext uri="{FF2B5EF4-FFF2-40B4-BE49-F238E27FC236}">
                <a16:creationId xmlns:a16="http://schemas.microsoft.com/office/drawing/2014/main" id="{3F2D41A7-AE1A-C3ED-1788-69D900656B79}"/>
              </a:ext>
            </a:extLst>
          </p:cNvPr>
          <p:cNvSpPr txBox="1"/>
          <p:nvPr/>
        </p:nvSpPr>
        <p:spPr>
          <a:xfrm>
            <a:off x="89575" y="6408147"/>
            <a:ext cx="10972800" cy="261610"/>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a:latin typeface="Raleway"/>
              </a:rPr>
              <a:t>* </a:t>
            </a:r>
            <a:r>
              <a:rPr lang="en-US" sz="1100" i="1">
                <a:latin typeface="Raleway"/>
              </a:rPr>
              <a:t>Update per </a:t>
            </a:r>
            <a:r>
              <a:rPr lang="en-US" sz="1100" i="1" err="1">
                <a:latin typeface="Raleway"/>
              </a:rPr>
              <a:t>tanggal</a:t>
            </a:r>
            <a:r>
              <a:rPr lang="en-US" sz="1100" i="1">
                <a:latin typeface="Raleway"/>
              </a:rPr>
              <a:t> 14 Agustus 2026</a:t>
            </a:r>
            <a:endParaRPr lang="en-US" sz="1100">
              <a:latin typeface="Raleway"/>
            </a:endParaRPr>
          </a:p>
        </p:txBody>
      </p:sp>
      <p:sp>
        <p:nvSpPr>
          <p:cNvPr id="8" name="Title 1">
            <a:extLst>
              <a:ext uri="{FF2B5EF4-FFF2-40B4-BE49-F238E27FC236}">
                <a16:creationId xmlns:a16="http://schemas.microsoft.com/office/drawing/2014/main" id="{FC5EC570-3F36-6845-1312-A3C9CAD43D13}"/>
              </a:ext>
            </a:extLst>
          </p:cNvPr>
          <p:cNvSpPr txBox="1">
            <a:spLocks/>
          </p:cNvSpPr>
          <p:nvPr/>
        </p:nvSpPr>
        <p:spPr>
          <a:xfrm>
            <a:off x="1618629" y="223"/>
            <a:ext cx="8958197" cy="4799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2400" b="1">
                <a:latin typeface="Raleway" panose="020B0503030101060003"/>
              </a:rPr>
              <a:t>Recruitment Progress – Level 3</a:t>
            </a:r>
            <a:endParaRPr lang="en-US" sz="2400">
              <a:latin typeface="Raleway" panose="020B0503030101060003"/>
            </a:endParaRPr>
          </a:p>
        </p:txBody>
      </p:sp>
    </p:spTree>
    <p:extLst>
      <p:ext uri="{BB962C8B-B14F-4D97-AF65-F5344CB8AC3E}">
        <p14:creationId xmlns:p14="http://schemas.microsoft.com/office/powerpoint/2010/main" val="2238462332"/>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D2656B-788F-9647-5998-EC4118EB0EFA}"/>
            </a:ext>
          </a:extLst>
        </p:cNvPr>
        <p:cNvGrpSpPr/>
        <p:nvPr/>
      </p:nvGrpSpPr>
      <p:grpSpPr>
        <a:xfrm>
          <a:off x="0" y="0"/>
          <a:ext cx="0" cy="0"/>
          <a:chOff x="0" y="0"/>
          <a:chExt cx="0" cy="0"/>
        </a:xfrm>
      </p:grpSpPr>
      <p:graphicFrame>
        <p:nvGraphicFramePr>
          <p:cNvPr id="4" name="Table 3">
            <a:extLst>
              <a:ext uri="{FF2B5EF4-FFF2-40B4-BE49-F238E27FC236}">
                <a16:creationId xmlns:a16="http://schemas.microsoft.com/office/drawing/2014/main" id="{D2E7710D-3961-7BE1-A191-737B5A8EC661}"/>
              </a:ext>
            </a:extLst>
          </p:cNvPr>
          <p:cNvGraphicFramePr>
            <a:graphicFrameLocks noGrp="1"/>
          </p:cNvGraphicFramePr>
          <p:nvPr>
            <p:extLst>
              <p:ext uri="{D42A27DB-BD31-4B8C-83A1-F6EECF244321}">
                <p14:modId xmlns:p14="http://schemas.microsoft.com/office/powerpoint/2010/main" val="2043906411"/>
              </p:ext>
            </p:extLst>
          </p:nvPr>
        </p:nvGraphicFramePr>
        <p:xfrm>
          <a:off x="182880" y="1148573"/>
          <a:ext cx="11822622" cy="4885311"/>
        </p:xfrm>
        <a:graphic>
          <a:graphicData uri="http://schemas.openxmlformats.org/drawingml/2006/table">
            <a:tbl>
              <a:tblPr bandRow="1">
                <a:tableStyleId>{5C22544A-7EE6-4342-B048-85BDC9FD1C3A}</a:tableStyleId>
              </a:tblPr>
              <a:tblGrid>
                <a:gridCol w="556358">
                  <a:extLst>
                    <a:ext uri="{9D8B030D-6E8A-4147-A177-3AD203B41FA5}">
                      <a16:colId xmlns:a16="http://schemas.microsoft.com/office/drawing/2014/main" val="1356604030"/>
                    </a:ext>
                  </a:extLst>
                </a:gridCol>
                <a:gridCol w="2109528">
                  <a:extLst>
                    <a:ext uri="{9D8B030D-6E8A-4147-A177-3AD203B41FA5}">
                      <a16:colId xmlns:a16="http://schemas.microsoft.com/office/drawing/2014/main" val="1328807704"/>
                    </a:ext>
                  </a:extLst>
                </a:gridCol>
                <a:gridCol w="556358">
                  <a:extLst>
                    <a:ext uri="{9D8B030D-6E8A-4147-A177-3AD203B41FA5}">
                      <a16:colId xmlns:a16="http://schemas.microsoft.com/office/drawing/2014/main" val="1186305996"/>
                    </a:ext>
                  </a:extLst>
                </a:gridCol>
                <a:gridCol w="996809">
                  <a:extLst>
                    <a:ext uri="{9D8B030D-6E8A-4147-A177-3AD203B41FA5}">
                      <a16:colId xmlns:a16="http://schemas.microsoft.com/office/drawing/2014/main" val="504801382"/>
                    </a:ext>
                  </a:extLst>
                </a:gridCol>
                <a:gridCol w="741811">
                  <a:extLst>
                    <a:ext uri="{9D8B030D-6E8A-4147-A177-3AD203B41FA5}">
                      <a16:colId xmlns:a16="http://schemas.microsoft.com/office/drawing/2014/main" val="2706070346"/>
                    </a:ext>
                  </a:extLst>
                </a:gridCol>
                <a:gridCol w="591131">
                  <a:extLst>
                    <a:ext uri="{9D8B030D-6E8A-4147-A177-3AD203B41FA5}">
                      <a16:colId xmlns:a16="http://schemas.microsoft.com/office/drawing/2014/main" val="1176435247"/>
                    </a:ext>
                  </a:extLst>
                </a:gridCol>
                <a:gridCol w="950446">
                  <a:extLst>
                    <a:ext uri="{9D8B030D-6E8A-4147-A177-3AD203B41FA5}">
                      <a16:colId xmlns:a16="http://schemas.microsoft.com/office/drawing/2014/main" val="1105847399"/>
                    </a:ext>
                  </a:extLst>
                </a:gridCol>
                <a:gridCol w="556358">
                  <a:extLst>
                    <a:ext uri="{9D8B030D-6E8A-4147-A177-3AD203B41FA5}">
                      <a16:colId xmlns:a16="http://schemas.microsoft.com/office/drawing/2014/main" val="434035049"/>
                    </a:ext>
                  </a:extLst>
                </a:gridCol>
                <a:gridCol w="556358">
                  <a:extLst>
                    <a:ext uri="{9D8B030D-6E8A-4147-A177-3AD203B41FA5}">
                      <a16:colId xmlns:a16="http://schemas.microsoft.com/office/drawing/2014/main" val="3862477855"/>
                    </a:ext>
                  </a:extLst>
                </a:gridCol>
                <a:gridCol w="4207465">
                  <a:extLst>
                    <a:ext uri="{9D8B030D-6E8A-4147-A177-3AD203B41FA5}">
                      <a16:colId xmlns:a16="http://schemas.microsoft.com/office/drawing/2014/main" val="34357715"/>
                    </a:ext>
                  </a:extLst>
                </a:gridCol>
              </a:tblGrid>
              <a:tr h="770511">
                <a:tc>
                  <a:txBody>
                    <a:bodyPr/>
                    <a:lstStyle/>
                    <a:p>
                      <a:pPr algn="ctr">
                        <a:buNone/>
                      </a:pPr>
                      <a:r>
                        <a:rPr lang="en-US" sz="1000" b="1">
                          <a:solidFill>
                            <a:schemeClr val="bg1"/>
                          </a:solidFill>
                          <a:effectLst/>
                          <a:latin typeface="Raleway"/>
                        </a:rPr>
                        <a:t>Tanggal 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Business 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SLA Target </a:t>
                      </a:r>
                      <a:r>
                        <a:rPr lang="en-US" sz="1000" b="1" err="1">
                          <a:solidFill>
                            <a:schemeClr val="bg1"/>
                          </a:solidFill>
                          <a:effectLst/>
                          <a:latin typeface="Raleway"/>
                        </a:rPr>
                        <a:t>Pemenuhan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Jumlah</a:t>
                      </a:r>
                      <a:r>
                        <a:rPr lang="en-US" sz="1000" b="1">
                          <a:solidFill>
                            <a:schemeClr val="bg1"/>
                          </a:solidFill>
                          <a:effectLst/>
                          <a:latin typeface="Raleway"/>
                        </a:rPr>
                        <a:t> </a:t>
                      </a:r>
                      <a:r>
                        <a:rPr lang="en-US" sz="1000" b="1" err="1">
                          <a:solidFill>
                            <a:schemeClr val="bg1"/>
                          </a:solidFill>
                          <a:effectLst/>
                          <a:latin typeface="Raleway"/>
                        </a:rPr>
                        <a:t>Permintaan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Status </a:t>
                      </a:r>
                      <a:r>
                        <a:rPr lang="en-US" sz="1000" b="1" err="1">
                          <a:solidFill>
                            <a:schemeClr val="bg1"/>
                          </a:solidFill>
                          <a:effectLst/>
                          <a:latin typeface="Raleway"/>
                        </a:rPr>
                        <a:t>Rekrutmen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3024662991"/>
                  </a:ext>
                </a:extLst>
              </a:tr>
              <a:tr h="606777">
                <a:tc>
                  <a:txBody>
                    <a:bodyPr/>
                    <a:lstStyle/>
                    <a:p>
                      <a:pPr algn="ctr">
                        <a:buNone/>
                      </a:pPr>
                      <a:r>
                        <a:rPr lang="en-US" sz="1000">
                          <a:effectLst/>
                          <a:latin typeface="Raleway"/>
                        </a:rPr>
                        <a:t>08-Mar-26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1000">
                          <a:effectLst/>
                          <a:latin typeface="Raleway"/>
                        </a:rPr>
                        <a:t>HR Payroll Supervisor - Head Office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09-Feb-26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Kevin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Week 33: Hand Over FPTK </a:t>
                      </a:r>
                      <a:br>
                        <a:rPr lang="en-US" sz="1000">
                          <a:effectLst/>
                          <a:latin typeface="Raleway"/>
                        </a:rPr>
                      </a:br>
                      <a:r>
                        <a:rPr lang="en-US" sz="1000">
                          <a:effectLst/>
                          <a:latin typeface="Raleway"/>
                        </a:rPr>
                        <a:t>Next Week: Sourcing &amp; Shortlist </a:t>
                      </a:r>
                      <a:r>
                        <a:rPr lang="en-US" sz="1000" err="1">
                          <a:effectLst/>
                          <a:latin typeface="Raleway"/>
                        </a:rPr>
                        <a:t>Cv</a:t>
                      </a:r>
                      <a:r>
                        <a:rPr lang="en-US" sz="1000">
                          <a:effectLst/>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569941595"/>
                  </a:ext>
                </a:extLst>
              </a:tr>
              <a:tr h="770511">
                <a:tc>
                  <a:txBody>
                    <a:bodyPr/>
                    <a:lstStyle/>
                    <a:p>
                      <a:pPr algn="ctr">
                        <a:buNone/>
                      </a:pPr>
                      <a:r>
                        <a:rPr lang="en-US" sz="1000">
                          <a:effectLst/>
                          <a:latin typeface="Raleway"/>
                        </a:rPr>
                        <a:t>17-Apr-26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1000">
                          <a:effectLst/>
                          <a:latin typeface="Raleway"/>
                        </a:rPr>
                        <a:t>Area Sales Supervisor (Frozen) - Bali Utara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15-Jun-26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Valen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Progress :</a:t>
                      </a:r>
                      <a:br>
                        <a:rPr lang="en-US" sz="1000">
                          <a:effectLst/>
                          <a:latin typeface="Raleway"/>
                        </a:rPr>
                      </a:br>
                      <a:r>
                        <a:rPr lang="en-US" sz="1000">
                          <a:effectLst/>
                          <a:latin typeface="Raleway"/>
                        </a:rPr>
                        <a:t>1. Sourcing CV</a:t>
                      </a: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1. send cv </a:t>
                      </a:r>
                      <a:r>
                        <a:rPr lang="en-US" sz="1000" err="1">
                          <a:effectLst/>
                          <a:latin typeface="Raleway"/>
                        </a:rPr>
                        <a:t>ke</a:t>
                      </a:r>
                      <a:r>
                        <a:rPr lang="en-US" sz="1000">
                          <a:effectLst/>
                          <a:latin typeface="Raleway"/>
                        </a:rPr>
                        <a:t> user </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814602977"/>
                  </a:ext>
                </a:extLst>
              </a:tr>
              <a:tr h="770511">
                <a:tc>
                  <a:txBody>
                    <a:bodyPr/>
                    <a:lstStyle/>
                    <a:p>
                      <a:pPr algn="ctr">
                        <a:buNone/>
                      </a:pPr>
                      <a:r>
                        <a:rPr lang="en-US" sz="1000">
                          <a:effectLst/>
                          <a:latin typeface="Raleway"/>
                        </a:rPr>
                        <a:t>08-Aug-26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1000">
                          <a:effectLst/>
                          <a:latin typeface="Raleway"/>
                        </a:rPr>
                        <a:t>Area Sales Supervisor (Mix) - </a:t>
                      </a:r>
                      <a:r>
                        <a:rPr lang="en-US" sz="1000" err="1">
                          <a:effectLst/>
                          <a:latin typeface="Raleway"/>
                        </a:rPr>
                        <a:t>Pekalongan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09-Jul-26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Valen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Progress :</a:t>
                      </a:r>
                      <a:br>
                        <a:rPr lang="en-US" sz="1000">
                          <a:effectLst/>
                          <a:latin typeface="Raleway"/>
                        </a:rPr>
                      </a:br>
                      <a:r>
                        <a:rPr lang="en-US" sz="1000">
                          <a:effectLst/>
                          <a:latin typeface="Raleway"/>
                        </a:rPr>
                        <a:t>1. Sourcing CV</a:t>
                      </a: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1. send cv </a:t>
                      </a:r>
                      <a:r>
                        <a:rPr lang="en-US" sz="1000" err="1">
                          <a:effectLst/>
                          <a:latin typeface="Raleway"/>
                        </a:rPr>
                        <a:t>ke</a:t>
                      </a:r>
                      <a:r>
                        <a:rPr lang="en-US" sz="1000">
                          <a:effectLst/>
                          <a:latin typeface="Raleway"/>
                        </a:rPr>
                        <a:t> user </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87295980"/>
                  </a:ext>
                </a:extLst>
              </a:tr>
              <a:tr h="770511">
                <a:tc>
                  <a:txBody>
                    <a:bodyPr/>
                    <a:lstStyle/>
                    <a:p>
                      <a:pPr algn="ctr">
                        <a:buNone/>
                      </a:pPr>
                      <a:r>
                        <a:rPr lang="en-US" sz="1000">
                          <a:effectLst/>
                          <a:latin typeface="Raleway"/>
                        </a:rPr>
                        <a:t>28-Jul-26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1000">
                          <a:effectLst/>
                          <a:latin typeface="Raleway"/>
                        </a:rPr>
                        <a:t>Area Sales Supervisor (Chilled) - Batam</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27-08-2026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Salsa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&gt; FPTK </a:t>
                      </a:r>
                      <a:r>
                        <a:rPr lang="en-US" sz="1000" err="1">
                          <a:effectLst/>
                          <a:latin typeface="Raleway"/>
                        </a:rPr>
                        <a:t>baru</a:t>
                      </a:r>
                      <a:r>
                        <a:rPr lang="en-US" sz="1000">
                          <a:effectLst/>
                          <a:latin typeface="Raleway"/>
                        </a:rPr>
                        <a:t> di handover week 33</a:t>
                      </a:r>
                      <a:br>
                        <a:rPr lang="en-US" sz="1000">
                          <a:effectLst/>
                          <a:latin typeface="Raleway"/>
                        </a:rPr>
                      </a:b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&gt; Sourcing dan sent user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4084038863"/>
                  </a:ext>
                </a:extLst>
              </a:tr>
              <a:tr h="770511">
                <a:tc>
                  <a:txBody>
                    <a:bodyPr/>
                    <a:lstStyle/>
                    <a:p>
                      <a:pPr algn="ctr">
                        <a:buNone/>
                      </a:pPr>
                      <a:r>
                        <a:rPr lang="en-US" sz="1000">
                          <a:effectLst/>
                          <a:latin typeface="Raleway"/>
                        </a:rPr>
                        <a:t>30-Jul-26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l">
                        <a:buNone/>
                      </a:pPr>
                      <a:r>
                        <a:rPr lang="en-US" sz="1000">
                          <a:effectLst/>
                          <a:latin typeface="Raleway"/>
                        </a:rPr>
                        <a:t>Area Sales Supervisor (Mix) - </a:t>
                      </a:r>
                      <a:r>
                        <a:rPr lang="en-US" sz="1000" err="1">
                          <a:effectLst/>
                          <a:latin typeface="Raleway"/>
                        </a:rPr>
                        <a:t>Kuningan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29-Aug-26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Salsa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&gt; FPTK </a:t>
                      </a:r>
                      <a:r>
                        <a:rPr lang="en-US" sz="1000" err="1">
                          <a:effectLst/>
                          <a:latin typeface="Raleway"/>
                        </a:rPr>
                        <a:t>baru</a:t>
                      </a:r>
                      <a:r>
                        <a:rPr lang="en-US" sz="1000">
                          <a:effectLst/>
                          <a:latin typeface="Raleway"/>
                        </a:rPr>
                        <a:t> di handover week 33</a:t>
                      </a:r>
                      <a:br>
                        <a:rPr lang="en-US" sz="1000">
                          <a:effectLst/>
                          <a:latin typeface="Raleway"/>
                        </a:rPr>
                      </a:b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&gt; Sourcing dan sent user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803389512"/>
                  </a:ext>
                </a:extLst>
              </a:tr>
            </a:tbl>
          </a:graphicData>
        </a:graphic>
      </p:graphicFrame>
      <p:sp>
        <p:nvSpPr>
          <p:cNvPr id="6" name="TextBox 7">
            <a:extLst>
              <a:ext uri="{FF2B5EF4-FFF2-40B4-BE49-F238E27FC236}">
                <a16:creationId xmlns:a16="http://schemas.microsoft.com/office/drawing/2014/main" id="{B08A1C1A-A625-CFC3-4CDF-76D1DE752568}"/>
              </a:ext>
            </a:extLst>
          </p:cNvPr>
          <p:cNvSpPr txBox="1"/>
          <p:nvPr/>
        </p:nvSpPr>
        <p:spPr>
          <a:xfrm>
            <a:off x="89575" y="6408147"/>
            <a:ext cx="10972800" cy="261610"/>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a:latin typeface="Raleway"/>
              </a:rPr>
              <a:t>* </a:t>
            </a:r>
            <a:r>
              <a:rPr lang="en-US" sz="1100" i="1">
                <a:latin typeface="Raleway"/>
              </a:rPr>
              <a:t>Update per </a:t>
            </a:r>
            <a:r>
              <a:rPr lang="en-US" sz="1100" i="1" err="1">
                <a:latin typeface="Raleway"/>
              </a:rPr>
              <a:t>tanggal</a:t>
            </a:r>
            <a:r>
              <a:rPr lang="en-US" sz="1100" i="1">
                <a:latin typeface="Raleway"/>
              </a:rPr>
              <a:t> 14 Agustus 2026</a:t>
            </a:r>
            <a:endParaRPr lang="en-US" sz="1100">
              <a:latin typeface="Raleway"/>
            </a:endParaRPr>
          </a:p>
        </p:txBody>
      </p:sp>
      <p:sp>
        <p:nvSpPr>
          <p:cNvPr id="8" name="Title 1">
            <a:extLst>
              <a:ext uri="{FF2B5EF4-FFF2-40B4-BE49-F238E27FC236}">
                <a16:creationId xmlns:a16="http://schemas.microsoft.com/office/drawing/2014/main" id="{8D7E4112-61A7-1C24-DF36-2FE736E4AEB0}"/>
              </a:ext>
            </a:extLst>
          </p:cNvPr>
          <p:cNvSpPr txBox="1">
            <a:spLocks/>
          </p:cNvSpPr>
          <p:nvPr/>
        </p:nvSpPr>
        <p:spPr>
          <a:xfrm>
            <a:off x="1567829" y="416783"/>
            <a:ext cx="8958197" cy="4799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2400" b="1">
                <a:latin typeface="Raleway" panose="020B0503030101060003"/>
              </a:rPr>
              <a:t>Recruitment Progress – Level 3</a:t>
            </a:r>
            <a:endParaRPr lang="en-US" sz="2400">
              <a:latin typeface="Raleway" panose="020B0503030101060003"/>
            </a:endParaRPr>
          </a:p>
        </p:txBody>
      </p:sp>
    </p:spTree>
    <p:extLst>
      <p:ext uri="{BB962C8B-B14F-4D97-AF65-F5344CB8AC3E}">
        <p14:creationId xmlns:p14="http://schemas.microsoft.com/office/powerpoint/2010/main" val="2441125881"/>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6D2BD2-9C9F-ECDB-CEE1-7B08E2498C82}"/>
            </a:ext>
          </a:extLst>
        </p:cNvPr>
        <p:cNvGrpSpPr/>
        <p:nvPr/>
      </p:nvGrpSpPr>
      <p:grpSpPr>
        <a:xfrm>
          <a:off x="0" y="0"/>
          <a:ext cx="0" cy="0"/>
          <a:chOff x="0" y="0"/>
          <a:chExt cx="0" cy="0"/>
        </a:xfrm>
      </p:grpSpPr>
      <p:graphicFrame>
        <p:nvGraphicFramePr>
          <p:cNvPr id="4" name="Table 3">
            <a:extLst>
              <a:ext uri="{FF2B5EF4-FFF2-40B4-BE49-F238E27FC236}">
                <a16:creationId xmlns:a16="http://schemas.microsoft.com/office/drawing/2014/main" id="{5581CC0B-33A5-8A92-11C9-E8AC44644853}"/>
              </a:ext>
            </a:extLst>
          </p:cNvPr>
          <p:cNvGraphicFramePr>
            <a:graphicFrameLocks noGrp="1"/>
          </p:cNvGraphicFramePr>
          <p:nvPr>
            <p:extLst>
              <p:ext uri="{D42A27DB-BD31-4B8C-83A1-F6EECF244321}">
                <p14:modId xmlns:p14="http://schemas.microsoft.com/office/powerpoint/2010/main" val="1125773696"/>
              </p:ext>
            </p:extLst>
          </p:nvPr>
        </p:nvGraphicFramePr>
        <p:xfrm>
          <a:off x="254000" y="839336"/>
          <a:ext cx="11692924" cy="5273390"/>
        </p:xfrm>
        <a:graphic>
          <a:graphicData uri="http://schemas.openxmlformats.org/drawingml/2006/table">
            <a:tbl>
              <a:tblPr bandRow="1">
                <a:tableStyleId>{5C22544A-7EE6-4342-B048-85BDC9FD1C3A}</a:tableStyleId>
              </a:tblPr>
              <a:tblGrid>
                <a:gridCol w="550255">
                  <a:extLst>
                    <a:ext uri="{9D8B030D-6E8A-4147-A177-3AD203B41FA5}">
                      <a16:colId xmlns:a16="http://schemas.microsoft.com/office/drawing/2014/main" val="359271100"/>
                    </a:ext>
                  </a:extLst>
                </a:gridCol>
                <a:gridCol w="2086385">
                  <a:extLst>
                    <a:ext uri="{9D8B030D-6E8A-4147-A177-3AD203B41FA5}">
                      <a16:colId xmlns:a16="http://schemas.microsoft.com/office/drawing/2014/main" val="914865281"/>
                    </a:ext>
                  </a:extLst>
                </a:gridCol>
                <a:gridCol w="550255">
                  <a:extLst>
                    <a:ext uri="{9D8B030D-6E8A-4147-A177-3AD203B41FA5}">
                      <a16:colId xmlns:a16="http://schemas.microsoft.com/office/drawing/2014/main" val="1341861895"/>
                    </a:ext>
                  </a:extLst>
                </a:gridCol>
                <a:gridCol w="985874">
                  <a:extLst>
                    <a:ext uri="{9D8B030D-6E8A-4147-A177-3AD203B41FA5}">
                      <a16:colId xmlns:a16="http://schemas.microsoft.com/office/drawing/2014/main" val="2034117205"/>
                    </a:ext>
                  </a:extLst>
                </a:gridCol>
                <a:gridCol w="733673">
                  <a:extLst>
                    <a:ext uri="{9D8B030D-6E8A-4147-A177-3AD203B41FA5}">
                      <a16:colId xmlns:a16="http://schemas.microsoft.com/office/drawing/2014/main" val="3109349133"/>
                    </a:ext>
                  </a:extLst>
                </a:gridCol>
                <a:gridCol w="584646">
                  <a:extLst>
                    <a:ext uri="{9D8B030D-6E8A-4147-A177-3AD203B41FA5}">
                      <a16:colId xmlns:a16="http://schemas.microsoft.com/office/drawing/2014/main" val="429431929"/>
                    </a:ext>
                  </a:extLst>
                </a:gridCol>
                <a:gridCol w="940019">
                  <a:extLst>
                    <a:ext uri="{9D8B030D-6E8A-4147-A177-3AD203B41FA5}">
                      <a16:colId xmlns:a16="http://schemas.microsoft.com/office/drawing/2014/main" val="854754944"/>
                    </a:ext>
                  </a:extLst>
                </a:gridCol>
                <a:gridCol w="550255">
                  <a:extLst>
                    <a:ext uri="{9D8B030D-6E8A-4147-A177-3AD203B41FA5}">
                      <a16:colId xmlns:a16="http://schemas.microsoft.com/office/drawing/2014/main" val="550306828"/>
                    </a:ext>
                  </a:extLst>
                </a:gridCol>
                <a:gridCol w="550255">
                  <a:extLst>
                    <a:ext uri="{9D8B030D-6E8A-4147-A177-3AD203B41FA5}">
                      <a16:colId xmlns:a16="http://schemas.microsoft.com/office/drawing/2014/main" val="2909620931"/>
                    </a:ext>
                  </a:extLst>
                </a:gridCol>
                <a:gridCol w="4161307">
                  <a:extLst>
                    <a:ext uri="{9D8B030D-6E8A-4147-A177-3AD203B41FA5}">
                      <a16:colId xmlns:a16="http://schemas.microsoft.com/office/drawing/2014/main" val="1478203006"/>
                    </a:ext>
                  </a:extLst>
                </a:gridCol>
              </a:tblGrid>
              <a:tr h="749585">
                <a:tc>
                  <a:txBody>
                    <a:bodyPr/>
                    <a:lstStyle/>
                    <a:p>
                      <a:pPr algn="ctr">
                        <a:buNone/>
                      </a:pPr>
                      <a:r>
                        <a:rPr lang="en-US" sz="1000" b="1">
                          <a:solidFill>
                            <a:schemeClr val="bg1"/>
                          </a:solidFill>
                          <a:effectLst/>
                          <a:latin typeface="Raleway"/>
                        </a:rPr>
                        <a:t>Tanggal 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Business 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SLA Target </a:t>
                      </a:r>
                      <a:r>
                        <a:rPr lang="en-US" sz="1000" b="1" err="1">
                          <a:solidFill>
                            <a:schemeClr val="bg1"/>
                          </a:solidFill>
                          <a:effectLst/>
                          <a:latin typeface="Raleway"/>
                        </a:rPr>
                        <a:t>Pemenuhan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Jumlah</a:t>
                      </a:r>
                      <a:r>
                        <a:rPr lang="en-US" sz="1000" b="1">
                          <a:solidFill>
                            <a:schemeClr val="bg1"/>
                          </a:solidFill>
                          <a:effectLst/>
                          <a:latin typeface="Raleway"/>
                        </a:rPr>
                        <a:t> </a:t>
                      </a:r>
                      <a:r>
                        <a:rPr lang="en-US" sz="1000" b="1" err="1">
                          <a:solidFill>
                            <a:schemeClr val="bg1"/>
                          </a:solidFill>
                          <a:effectLst/>
                          <a:latin typeface="Raleway"/>
                        </a:rPr>
                        <a:t>Permintaan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Status </a:t>
                      </a:r>
                      <a:r>
                        <a:rPr lang="en-US" sz="1000" b="1" err="1">
                          <a:solidFill>
                            <a:schemeClr val="bg1"/>
                          </a:solidFill>
                          <a:effectLst/>
                          <a:latin typeface="Raleway"/>
                        </a:rPr>
                        <a:t>Rekrutmen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204889681"/>
                  </a:ext>
                </a:extLst>
              </a:tr>
              <a:tr h="749585">
                <a:tc>
                  <a:txBody>
                    <a:bodyPr/>
                    <a:lstStyle/>
                    <a:p>
                      <a:pPr>
                        <a:buNone/>
                      </a:pPr>
                      <a:r>
                        <a:rPr lang="en-US" sz="1000">
                          <a:effectLst/>
                          <a:latin typeface="Raleway"/>
                        </a:rPr>
                        <a:t>08-May-26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Area Sales Supervisor (Mix) - Rantau Prapat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09-Apr-26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Salsa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&gt; FPTK </a:t>
                      </a:r>
                      <a:r>
                        <a:rPr lang="en-US" sz="1000" err="1">
                          <a:effectLst/>
                          <a:latin typeface="Raleway"/>
                        </a:rPr>
                        <a:t>baru</a:t>
                      </a:r>
                      <a:r>
                        <a:rPr lang="en-US" sz="1000">
                          <a:effectLst/>
                          <a:latin typeface="Raleway"/>
                        </a:rPr>
                        <a:t> di handover week 33</a:t>
                      </a:r>
                      <a:br>
                        <a:rPr lang="en-US" sz="1000">
                          <a:effectLst/>
                          <a:latin typeface="Raleway"/>
                        </a:rPr>
                      </a:b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&gt; Sourcing dan sent user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440306397"/>
                  </a:ext>
                </a:extLst>
              </a:tr>
              <a:tr h="749585">
                <a:tc>
                  <a:txBody>
                    <a:bodyPr/>
                    <a:lstStyle/>
                    <a:p>
                      <a:pPr>
                        <a:buNone/>
                      </a:pPr>
                      <a:r>
                        <a:rPr lang="en-US" sz="1000">
                          <a:effectLst/>
                          <a:latin typeface="Raleway"/>
                        </a:rPr>
                        <a:t>08-May-26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Area Sales Supervisor (Chilled) - Padang</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09-Apr-26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Salsa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&gt; FPTK </a:t>
                      </a:r>
                      <a:r>
                        <a:rPr lang="en-US" sz="1000" err="1">
                          <a:effectLst/>
                          <a:latin typeface="Raleway"/>
                        </a:rPr>
                        <a:t>baru</a:t>
                      </a:r>
                      <a:r>
                        <a:rPr lang="en-US" sz="1000">
                          <a:effectLst/>
                          <a:latin typeface="Raleway"/>
                        </a:rPr>
                        <a:t> di handover week 33</a:t>
                      </a:r>
                      <a:br>
                        <a:rPr lang="en-US" sz="1000">
                          <a:effectLst/>
                          <a:latin typeface="Raleway"/>
                        </a:rPr>
                      </a:b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&gt; Sourcing dan sent user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211354585"/>
                  </a:ext>
                </a:extLst>
              </a:tr>
              <a:tr h="421641">
                <a:tc>
                  <a:txBody>
                    <a:bodyPr/>
                    <a:lstStyle/>
                    <a:p>
                      <a:pPr>
                        <a:buNone/>
                      </a:pPr>
                      <a:r>
                        <a:rPr lang="en-US" sz="1000">
                          <a:effectLst/>
                          <a:latin typeface="Raleway"/>
                        </a:rPr>
                        <a:t>15-Jul-26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Maintenance Supervisor</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14-Aug-26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Karin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Next Action:</a:t>
                      </a:r>
                      <a:br>
                        <a:rPr lang="en-US" sz="1000">
                          <a:effectLst/>
                          <a:latin typeface="Raleway"/>
                        </a:rPr>
                      </a:br>
                      <a:r>
                        <a:rPr lang="en-US" sz="1000">
                          <a:effectLst/>
                          <a:latin typeface="Raleway"/>
                        </a:rPr>
                        <a:t>&gt; Proses sourcing 10 CV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2416145192"/>
                  </a:ext>
                </a:extLst>
              </a:tr>
              <a:tr h="918245">
                <a:tc>
                  <a:txBody>
                    <a:bodyPr/>
                    <a:lstStyle/>
                    <a:p>
                      <a:pPr>
                        <a:buNone/>
                      </a:pPr>
                      <a:r>
                        <a:rPr lang="en-US" sz="1000">
                          <a:effectLst/>
                          <a:latin typeface="Raleway"/>
                        </a:rPr>
                        <a:t>16-Jul-26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Quality Management System Supervisor</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17-Jul-26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Eli</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&gt; MCU </a:t>
                      </a:r>
                      <a:r>
                        <a:rPr lang="en-US" sz="1000" err="1">
                          <a:effectLst/>
                          <a:latin typeface="Raleway"/>
                        </a:rPr>
                        <a:t>kandidat</a:t>
                      </a:r>
                      <a:r>
                        <a:rPr lang="en-US" sz="1000">
                          <a:effectLst/>
                          <a:latin typeface="Raleway"/>
                        </a:rPr>
                        <a:t> </a:t>
                      </a:r>
                      <a:r>
                        <a:rPr lang="en-US" sz="1000" err="1">
                          <a:effectLst/>
                          <a:latin typeface="Raleway"/>
                        </a:rPr>
                        <a:t>a.n</a:t>
                      </a:r>
                      <a:r>
                        <a:rPr lang="en-US" sz="1000">
                          <a:effectLst/>
                          <a:latin typeface="Raleway"/>
                        </a:rPr>
                        <a:t> Dian Herawati di Week 33</a:t>
                      </a:r>
                      <a:br>
                        <a:rPr lang="en-US" sz="1000">
                          <a:effectLst/>
                          <a:latin typeface="Raleway"/>
                        </a:rPr>
                      </a:b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&gt; Re-MCU </a:t>
                      </a:r>
                      <a:r>
                        <a:rPr lang="en-US" sz="1000" err="1">
                          <a:effectLst/>
                          <a:latin typeface="Raleway"/>
                        </a:rPr>
                        <a:t>kandidat</a:t>
                      </a:r>
                      <a:r>
                        <a:rPr lang="en-US" sz="1000">
                          <a:effectLst/>
                          <a:latin typeface="Raleway"/>
                        </a:rPr>
                        <a:t> </a:t>
                      </a:r>
                      <a:r>
                        <a:rPr lang="en-US" sz="1000" err="1">
                          <a:effectLst/>
                          <a:latin typeface="Raleway"/>
                        </a:rPr>
                        <a:t>a.n</a:t>
                      </a:r>
                      <a:r>
                        <a:rPr lang="en-US" sz="1000">
                          <a:effectLst/>
                          <a:latin typeface="Raleway"/>
                        </a:rPr>
                        <a:t> Dian Herawati di Week 34. Karena </a:t>
                      </a:r>
                      <a:r>
                        <a:rPr lang="en-US" sz="1000" err="1">
                          <a:effectLst/>
                          <a:latin typeface="Raleway"/>
                        </a:rPr>
                        <a:t>ada</a:t>
                      </a:r>
                      <a:r>
                        <a:rPr lang="en-US" sz="1000">
                          <a:effectLst/>
                          <a:latin typeface="Raleway"/>
                        </a:rPr>
                        <a:t> issue. </a:t>
                      </a:r>
                      <a:br>
                        <a:rPr lang="en-US" sz="1000">
                          <a:effectLst/>
                          <a:latin typeface="Raleway"/>
                        </a:rPr>
                      </a:br>
                      <a:r>
                        <a:rPr lang="en-US" sz="1000">
                          <a:effectLst/>
                          <a:latin typeface="Raleway"/>
                        </a:rPr>
                        <a:t>&gt; Sourcing </a:t>
                      </a:r>
                      <a:r>
                        <a:rPr lang="en-US" sz="1000" err="1">
                          <a:effectLst/>
                          <a:latin typeface="Raleway"/>
                        </a:rPr>
                        <a:t>kandidat</a:t>
                      </a:r>
                      <a:r>
                        <a:rPr lang="en-US" sz="1000">
                          <a:effectLst/>
                          <a:latin typeface="Raleway"/>
                        </a:rPr>
                        <a:t> second layer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2961772181"/>
                  </a:ext>
                </a:extLst>
              </a:tr>
              <a:tr h="1246185">
                <a:tc>
                  <a:txBody>
                    <a:bodyPr/>
                    <a:lstStyle/>
                    <a:p>
                      <a:pPr>
                        <a:buNone/>
                      </a:pPr>
                      <a:r>
                        <a:rPr lang="en-US" sz="1000">
                          <a:effectLst/>
                          <a:latin typeface="Raleway"/>
                        </a:rPr>
                        <a:t>23-Jul-26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Finance &amp; Accounting Supervisor</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23-May-26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Eli</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&gt; Send 15 CVs to user di Week 32</a:t>
                      </a:r>
                      <a:br>
                        <a:rPr lang="en-US" sz="1000">
                          <a:effectLst/>
                          <a:latin typeface="Raleway"/>
                        </a:rPr>
                      </a:br>
                      <a:r>
                        <a:rPr lang="en-US" sz="1000">
                          <a:effectLst/>
                          <a:latin typeface="Raleway"/>
                        </a:rPr>
                        <a:t>&gt; HR interview dan </a:t>
                      </a:r>
                      <a:r>
                        <a:rPr lang="en-US" sz="1000" err="1">
                          <a:effectLst/>
                          <a:latin typeface="Raleway"/>
                        </a:rPr>
                        <a:t>psikotest</a:t>
                      </a:r>
                      <a:r>
                        <a:rPr lang="en-US" sz="1000">
                          <a:effectLst/>
                          <a:latin typeface="Raleway"/>
                        </a:rPr>
                        <a:t> 7 </a:t>
                      </a:r>
                      <a:r>
                        <a:rPr lang="en-US" sz="1000" err="1">
                          <a:effectLst/>
                          <a:latin typeface="Raleway"/>
                        </a:rPr>
                        <a:t>kandidat</a:t>
                      </a:r>
                      <a:r>
                        <a:rPr lang="en-US" sz="1000">
                          <a:effectLst/>
                          <a:latin typeface="Raleway"/>
                        </a:rPr>
                        <a:t> di Week 33 </a:t>
                      </a:r>
                      <a:br>
                        <a:rPr lang="en-US" sz="1000">
                          <a:effectLst/>
                          <a:latin typeface="Raleway"/>
                        </a:rPr>
                      </a:br>
                      <a:r>
                        <a:rPr lang="en-US" sz="1000">
                          <a:effectLst/>
                          <a:latin typeface="Raleway"/>
                        </a:rPr>
                        <a:t>&gt; Send 10 </a:t>
                      </a:r>
                      <a:r>
                        <a:rPr lang="en-US" sz="1000" err="1">
                          <a:effectLst/>
                          <a:latin typeface="Raleway"/>
                        </a:rPr>
                        <a:t>Cvs</a:t>
                      </a:r>
                      <a:r>
                        <a:rPr lang="en-US" sz="1000">
                          <a:effectLst/>
                          <a:latin typeface="Raleway"/>
                        </a:rPr>
                        <a:t> di Week 33. </a:t>
                      </a:r>
                      <a:r>
                        <a:rPr lang="en-US" sz="1000" err="1">
                          <a:effectLst/>
                          <a:latin typeface="Raleway"/>
                        </a:rPr>
                        <a:t>menunggu</a:t>
                      </a:r>
                      <a:r>
                        <a:rPr lang="en-US" sz="1000">
                          <a:effectLst/>
                          <a:latin typeface="Raleway"/>
                        </a:rPr>
                        <a:t> feedback user. </a:t>
                      </a:r>
                      <a:br>
                        <a:rPr lang="en-US" sz="1000">
                          <a:effectLst/>
                          <a:latin typeface="Raleway"/>
                        </a:rPr>
                      </a:b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&gt; User Interview 3 </a:t>
                      </a:r>
                      <a:r>
                        <a:rPr lang="en-US" sz="1000" err="1">
                          <a:effectLst/>
                          <a:latin typeface="Raleway"/>
                        </a:rPr>
                        <a:t>kandidat</a:t>
                      </a:r>
                      <a:r>
                        <a:rPr lang="en-US" sz="1000">
                          <a:effectLst/>
                          <a:latin typeface="Raleway"/>
                        </a:rPr>
                        <a:t> di Week 34 (Rabu, 19 Agustus 2026) </a:t>
                      </a:r>
                      <a:br>
                        <a:rPr lang="en-US" sz="1000">
                          <a:effectLst/>
                          <a:latin typeface="Raleway"/>
                        </a:rPr>
                      </a:br>
                      <a:r>
                        <a:rPr lang="en-US" sz="1000">
                          <a:effectLst/>
                          <a:latin typeface="Raleway"/>
                        </a:rPr>
                        <a:t>&gt; Send 10 CVs </a:t>
                      </a:r>
                      <a:r>
                        <a:rPr lang="en-US" sz="1000" err="1">
                          <a:effectLst/>
                          <a:latin typeface="Raleway"/>
                        </a:rPr>
                        <a:t>pembanding</a:t>
                      </a:r>
                      <a:r>
                        <a:rPr lang="en-US" sz="1000">
                          <a:effectLst/>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612981005"/>
                  </a:ext>
                </a:extLst>
              </a:tr>
            </a:tbl>
          </a:graphicData>
        </a:graphic>
      </p:graphicFrame>
      <p:sp>
        <p:nvSpPr>
          <p:cNvPr id="6" name="TextBox 7">
            <a:extLst>
              <a:ext uri="{FF2B5EF4-FFF2-40B4-BE49-F238E27FC236}">
                <a16:creationId xmlns:a16="http://schemas.microsoft.com/office/drawing/2014/main" id="{3D871442-BAE7-5DA4-5CB9-AC90C24B6E66}"/>
              </a:ext>
            </a:extLst>
          </p:cNvPr>
          <p:cNvSpPr txBox="1"/>
          <p:nvPr/>
        </p:nvSpPr>
        <p:spPr>
          <a:xfrm>
            <a:off x="89575" y="6408147"/>
            <a:ext cx="10972800" cy="261610"/>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a:latin typeface="Raleway"/>
              </a:rPr>
              <a:t>* </a:t>
            </a:r>
            <a:r>
              <a:rPr lang="en-US" sz="1100" i="1">
                <a:latin typeface="Raleway"/>
              </a:rPr>
              <a:t>Update per </a:t>
            </a:r>
            <a:r>
              <a:rPr lang="en-US" sz="1100" i="1" err="1">
                <a:latin typeface="Raleway"/>
              </a:rPr>
              <a:t>tanggal</a:t>
            </a:r>
            <a:r>
              <a:rPr lang="en-US" sz="1100" i="1">
                <a:latin typeface="Raleway"/>
              </a:rPr>
              <a:t> 14 Agustus 2026</a:t>
            </a:r>
            <a:endParaRPr lang="en-US" sz="1100">
              <a:latin typeface="Raleway"/>
            </a:endParaRPr>
          </a:p>
        </p:txBody>
      </p:sp>
      <p:sp>
        <p:nvSpPr>
          <p:cNvPr id="8" name="Title 1">
            <a:extLst>
              <a:ext uri="{FF2B5EF4-FFF2-40B4-BE49-F238E27FC236}">
                <a16:creationId xmlns:a16="http://schemas.microsoft.com/office/drawing/2014/main" id="{E0D81CBF-BEF9-853C-904C-29DA5714BBC1}"/>
              </a:ext>
            </a:extLst>
          </p:cNvPr>
          <p:cNvSpPr txBox="1">
            <a:spLocks/>
          </p:cNvSpPr>
          <p:nvPr/>
        </p:nvSpPr>
        <p:spPr>
          <a:xfrm>
            <a:off x="1567829" y="416783"/>
            <a:ext cx="8958197" cy="4799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2400" b="1">
                <a:latin typeface="Raleway" panose="020B0503030101060003"/>
              </a:rPr>
              <a:t>Recruitment Progress – Level 3</a:t>
            </a:r>
            <a:endParaRPr lang="en-US" sz="2400">
              <a:latin typeface="Raleway" panose="020B0503030101060003"/>
            </a:endParaRPr>
          </a:p>
        </p:txBody>
      </p:sp>
    </p:spTree>
    <p:extLst>
      <p:ext uri="{BB962C8B-B14F-4D97-AF65-F5344CB8AC3E}">
        <p14:creationId xmlns:p14="http://schemas.microsoft.com/office/powerpoint/2010/main" val="3036782469"/>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6F3492-13EC-2994-2618-0AF39C012E7D}"/>
            </a:ext>
          </a:extLst>
        </p:cNvPr>
        <p:cNvGrpSpPr/>
        <p:nvPr/>
      </p:nvGrpSpPr>
      <p:grpSpPr>
        <a:xfrm>
          <a:off x="0" y="0"/>
          <a:ext cx="0" cy="0"/>
          <a:chOff x="0" y="0"/>
          <a:chExt cx="0" cy="0"/>
        </a:xfrm>
      </p:grpSpPr>
      <p:graphicFrame>
        <p:nvGraphicFramePr>
          <p:cNvPr id="4" name="Table 3">
            <a:extLst>
              <a:ext uri="{FF2B5EF4-FFF2-40B4-BE49-F238E27FC236}">
                <a16:creationId xmlns:a16="http://schemas.microsoft.com/office/drawing/2014/main" id="{2A6E9168-2404-B75B-6EB6-BA2E78B5D337}"/>
              </a:ext>
            </a:extLst>
          </p:cNvPr>
          <p:cNvGraphicFramePr>
            <a:graphicFrameLocks noGrp="1"/>
          </p:cNvGraphicFramePr>
          <p:nvPr>
            <p:extLst>
              <p:ext uri="{D42A27DB-BD31-4B8C-83A1-F6EECF244321}">
                <p14:modId xmlns:p14="http://schemas.microsoft.com/office/powerpoint/2010/main" val="2931467518"/>
              </p:ext>
            </p:extLst>
          </p:nvPr>
        </p:nvGraphicFramePr>
        <p:xfrm>
          <a:off x="131368" y="467360"/>
          <a:ext cx="11709104" cy="5760720"/>
        </p:xfrm>
        <a:graphic>
          <a:graphicData uri="http://schemas.openxmlformats.org/drawingml/2006/table">
            <a:tbl>
              <a:tblPr bandRow="1">
                <a:tableStyleId>{5C22544A-7EE6-4342-B048-85BDC9FD1C3A}</a:tableStyleId>
              </a:tblPr>
              <a:tblGrid>
                <a:gridCol w="551016">
                  <a:extLst>
                    <a:ext uri="{9D8B030D-6E8A-4147-A177-3AD203B41FA5}">
                      <a16:colId xmlns:a16="http://schemas.microsoft.com/office/drawing/2014/main" val="3940151058"/>
                    </a:ext>
                  </a:extLst>
                </a:gridCol>
                <a:gridCol w="1620809">
                  <a:extLst>
                    <a:ext uri="{9D8B030D-6E8A-4147-A177-3AD203B41FA5}">
                      <a16:colId xmlns:a16="http://schemas.microsoft.com/office/drawing/2014/main" val="424558814"/>
                    </a:ext>
                  </a:extLst>
                </a:gridCol>
                <a:gridCol w="646599">
                  <a:extLst>
                    <a:ext uri="{9D8B030D-6E8A-4147-A177-3AD203B41FA5}">
                      <a16:colId xmlns:a16="http://schemas.microsoft.com/office/drawing/2014/main" val="4035786531"/>
                    </a:ext>
                  </a:extLst>
                </a:gridCol>
                <a:gridCol w="931103">
                  <a:extLst>
                    <a:ext uri="{9D8B030D-6E8A-4147-A177-3AD203B41FA5}">
                      <a16:colId xmlns:a16="http://schemas.microsoft.com/office/drawing/2014/main" val="4219731250"/>
                    </a:ext>
                  </a:extLst>
                </a:gridCol>
                <a:gridCol w="672462">
                  <a:extLst>
                    <a:ext uri="{9D8B030D-6E8A-4147-A177-3AD203B41FA5}">
                      <a16:colId xmlns:a16="http://schemas.microsoft.com/office/drawing/2014/main" val="1263722546"/>
                    </a:ext>
                  </a:extLst>
                </a:gridCol>
                <a:gridCol w="689705">
                  <a:extLst>
                    <a:ext uri="{9D8B030D-6E8A-4147-A177-3AD203B41FA5}">
                      <a16:colId xmlns:a16="http://schemas.microsoft.com/office/drawing/2014/main" val="191641056"/>
                    </a:ext>
                  </a:extLst>
                </a:gridCol>
                <a:gridCol w="698326">
                  <a:extLst>
                    <a:ext uri="{9D8B030D-6E8A-4147-A177-3AD203B41FA5}">
                      <a16:colId xmlns:a16="http://schemas.microsoft.com/office/drawing/2014/main" val="1961028709"/>
                    </a:ext>
                  </a:extLst>
                </a:gridCol>
                <a:gridCol w="629356">
                  <a:extLst>
                    <a:ext uri="{9D8B030D-6E8A-4147-A177-3AD203B41FA5}">
                      <a16:colId xmlns:a16="http://schemas.microsoft.com/office/drawing/2014/main" val="668984211"/>
                    </a:ext>
                  </a:extLst>
                </a:gridCol>
                <a:gridCol w="603493">
                  <a:extLst>
                    <a:ext uri="{9D8B030D-6E8A-4147-A177-3AD203B41FA5}">
                      <a16:colId xmlns:a16="http://schemas.microsoft.com/office/drawing/2014/main" val="2731199246"/>
                    </a:ext>
                  </a:extLst>
                </a:gridCol>
                <a:gridCol w="4666235">
                  <a:extLst>
                    <a:ext uri="{9D8B030D-6E8A-4147-A177-3AD203B41FA5}">
                      <a16:colId xmlns:a16="http://schemas.microsoft.com/office/drawing/2014/main" val="1707489743"/>
                    </a:ext>
                  </a:extLst>
                </a:gridCol>
              </a:tblGrid>
              <a:tr h="593635">
                <a:tc>
                  <a:txBody>
                    <a:bodyPr/>
                    <a:lstStyle/>
                    <a:p>
                      <a:pPr>
                        <a:buNone/>
                      </a:pPr>
                      <a:r>
                        <a:rPr lang="en-US" sz="900" b="1">
                          <a:solidFill>
                            <a:schemeClr val="bg1"/>
                          </a:solidFill>
                          <a:effectLst/>
                          <a:latin typeface="Raleway"/>
                        </a:rPr>
                        <a:t>Tanggal 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buNone/>
                      </a:pPr>
                      <a:r>
                        <a:rPr lang="en-US" sz="900" b="1" err="1">
                          <a:solidFill>
                            <a:schemeClr val="bg1"/>
                          </a:solidFill>
                          <a:effectLst/>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buNone/>
                      </a:pPr>
                      <a:r>
                        <a:rPr lang="en-US" sz="900" b="1">
                          <a:solidFill>
                            <a:schemeClr val="bg1"/>
                          </a:solidFill>
                          <a:effectLst/>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buNone/>
                      </a:pPr>
                      <a:r>
                        <a:rPr lang="en-US" sz="900" b="1">
                          <a:solidFill>
                            <a:schemeClr val="bg1"/>
                          </a:solidFill>
                          <a:effectLst/>
                          <a:latin typeface="Raleway"/>
                        </a:rPr>
                        <a:t>Business 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buNone/>
                      </a:pPr>
                      <a:r>
                        <a:rPr lang="en-US" sz="900" b="1" err="1">
                          <a:solidFill>
                            <a:schemeClr val="bg1"/>
                          </a:solidFill>
                          <a:effectLst/>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buNone/>
                      </a:pPr>
                      <a:r>
                        <a:rPr lang="en-US" sz="900" b="1">
                          <a:solidFill>
                            <a:schemeClr val="bg1"/>
                          </a:solidFill>
                          <a:effectLst/>
                          <a:latin typeface="Raleway"/>
                        </a:rPr>
                        <a:t>SLA Target </a:t>
                      </a:r>
                      <a:r>
                        <a:rPr lang="en-US" sz="900" b="1" err="1">
                          <a:solidFill>
                            <a:schemeClr val="bg1"/>
                          </a:solidFill>
                          <a:effectLst/>
                          <a:latin typeface="Raleway"/>
                        </a:rPr>
                        <a:t>Pemenuhan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buNone/>
                      </a:pPr>
                      <a:r>
                        <a:rPr lang="en-US" sz="900" b="1">
                          <a:solidFill>
                            <a:schemeClr val="bg1"/>
                          </a:solidFill>
                          <a:effectLst/>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buNone/>
                      </a:pPr>
                      <a:r>
                        <a:rPr lang="en-US" sz="900" b="1" err="1">
                          <a:solidFill>
                            <a:schemeClr val="bg1"/>
                          </a:solidFill>
                          <a:effectLst/>
                          <a:latin typeface="Raleway"/>
                        </a:rPr>
                        <a:t>Jumlah</a:t>
                      </a:r>
                      <a:r>
                        <a:rPr lang="en-US" sz="900" b="1">
                          <a:solidFill>
                            <a:schemeClr val="bg1"/>
                          </a:solidFill>
                          <a:effectLst/>
                          <a:latin typeface="Raleway"/>
                        </a:rPr>
                        <a:t> </a:t>
                      </a:r>
                      <a:r>
                        <a:rPr lang="en-US" sz="900" b="1" err="1">
                          <a:solidFill>
                            <a:schemeClr val="bg1"/>
                          </a:solidFill>
                          <a:effectLst/>
                          <a:latin typeface="Raleway"/>
                        </a:rPr>
                        <a:t>Permintaan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buNone/>
                      </a:pPr>
                      <a:r>
                        <a:rPr lang="en-US" sz="900" b="1">
                          <a:solidFill>
                            <a:schemeClr val="bg1"/>
                          </a:solidFill>
                          <a:effectLst/>
                          <a:latin typeface="Raleway"/>
                        </a:rPr>
                        <a:t>Status </a:t>
                      </a:r>
                      <a:r>
                        <a:rPr lang="en-US" sz="900" b="1" err="1">
                          <a:solidFill>
                            <a:schemeClr val="bg1"/>
                          </a:solidFill>
                          <a:effectLst/>
                          <a:latin typeface="Raleway"/>
                        </a:rPr>
                        <a:t>Rekrutmen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buNone/>
                      </a:pPr>
                      <a:r>
                        <a:rPr lang="en-US" sz="900" b="1">
                          <a:solidFill>
                            <a:schemeClr val="bg1"/>
                          </a:solidFill>
                          <a:effectLst/>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2528400408"/>
                  </a:ext>
                </a:extLst>
              </a:tr>
              <a:tr h="1236060">
                <a:tc>
                  <a:txBody>
                    <a:bodyPr/>
                    <a:lstStyle/>
                    <a:p>
                      <a:pPr>
                        <a:buNone/>
                      </a:pPr>
                      <a:r>
                        <a:rPr lang="en-US" sz="900">
                          <a:effectLst/>
                          <a:latin typeface="Raleway"/>
                        </a:rPr>
                        <a:t>09-Jan-25</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Quality Control Supervisor - Incoming</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10-Jan-25</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Eli</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&gt; User Interview </a:t>
                      </a:r>
                      <a:r>
                        <a:rPr lang="en-US" sz="900" err="1">
                          <a:effectLst/>
                          <a:latin typeface="Raleway"/>
                        </a:rPr>
                        <a:t>a.n</a:t>
                      </a:r>
                      <a:r>
                        <a:rPr lang="en-US" sz="900">
                          <a:effectLst/>
                          <a:latin typeface="Raleway"/>
                        </a:rPr>
                        <a:t> Aisyah (DROP) di Week 32</a:t>
                      </a:r>
                      <a:br>
                        <a:rPr lang="en-US" sz="900">
                          <a:effectLst/>
                          <a:latin typeface="Raleway"/>
                        </a:rPr>
                      </a:br>
                      <a:r>
                        <a:rPr lang="en-US" sz="900">
                          <a:effectLst/>
                          <a:latin typeface="Raleway"/>
                        </a:rPr>
                        <a:t>&gt; Send 15 CVs to user di Week 32</a:t>
                      </a:r>
                      <a:br>
                        <a:rPr lang="en-US" sz="900">
                          <a:effectLst/>
                          <a:latin typeface="Raleway"/>
                        </a:rPr>
                      </a:br>
                      <a:r>
                        <a:rPr lang="en-US" sz="900">
                          <a:effectLst/>
                          <a:latin typeface="Raleway"/>
                        </a:rPr>
                        <a:t>&gt; User interview 4 </a:t>
                      </a:r>
                      <a:r>
                        <a:rPr lang="en-US" sz="900" err="1">
                          <a:effectLst/>
                          <a:latin typeface="Raleway"/>
                        </a:rPr>
                        <a:t>kandidat</a:t>
                      </a:r>
                      <a:r>
                        <a:rPr lang="en-US" sz="900">
                          <a:effectLst/>
                          <a:latin typeface="Raleway"/>
                        </a:rPr>
                        <a:t> </a:t>
                      </a:r>
                      <a:r>
                        <a:rPr lang="en-US" sz="900" err="1">
                          <a:effectLst/>
                          <a:latin typeface="Raleway"/>
                        </a:rPr>
                        <a:t>a.n</a:t>
                      </a:r>
                      <a:r>
                        <a:rPr lang="en-US" sz="900">
                          <a:effectLst/>
                          <a:latin typeface="Raleway"/>
                        </a:rPr>
                        <a:t> Siti Muktianah, Putri Yose, Faizal, Pinki di Week 33 - All DROP dan WITHDRAW</a:t>
                      </a:r>
                      <a:br>
                        <a:rPr lang="en-US" sz="900">
                          <a:effectLst/>
                          <a:latin typeface="Raleway"/>
                        </a:rPr>
                      </a:br>
                      <a:r>
                        <a:rPr lang="en-US" sz="900">
                          <a:effectLst/>
                          <a:latin typeface="Raleway"/>
                        </a:rPr>
                        <a:t>&gt; Send 27 </a:t>
                      </a:r>
                      <a:r>
                        <a:rPr lang="en-US" sz="900" err="1">
                          <a:effectLst/>
                          <a:latin typeface="Raleway"/>
                        </a:rPr>
                        <a:t>kandidat</a:t>
                      </a:r>
                      <a:r>
                        <a:rPr lang="en-US" sz="900">
                          <a:effectLst/>
                          <a:latin typeface="Raleway"/>
                        </a:rPr>
                        <a:t> di Week 33</a:t>
                      </a:r>
                      <a:br>
                        <a:rPr lang="en-US" sz="900">
                          <a:effectLst/>
                          <a:latin typeface="Raleway"/>
                        </a:rPr>
                      </a:br>
                      <a:br>
                        <a:rPr lang="en-US" sz="900">
                          <a:effectLst/>
                          <a:latin typeface="Raleway"/>
                        </a:rPr>
                      </a:br>
                      <a:r>
                        <a:rPr lang="en-US" sz="900">
                          <a:effectLst/>
                          <a:latin typeface="Raleway"/>
                        </a:rPr>
                        <a:t>Next Action:</a:t>
                      </a:r>
                      <a:br>
                        <a:rPr lang="en-US" sz="900">
                          <a:effectLst/>
                          <a:latin typeface="Raleway"/>
                        </a:rPr>
                      </a:br>
                      <a:r>
                        <a:rPr lang="en-US" sz="900">
                          <a:effectLst/>
                          <a:latin typeface="Raleway"/>
                        </a:rPr>
                        <a:t>&gt; </a:t>
                      </a:r>
                      <a:r>
                        <a:rPr lang="en-US" sz="900" err="1">
                          <a:effectLst/>
                          <a:latin typeface="Raleway"/>
                        </a:rPr>
                        <a:t>Menjadwalkan</a:t>
                      </a:r>
                      <a:r>
                        <a:rPr lang="en-US" sz="900">
                          <a:effectLst/>
                          <a:latin typeface="Raleway"/>
                        </a:rPr>
                        <a:t> user interview 1 </a:t>
                      </a:r>
                      <a:r>
                        <a:rPr lang="en-US" sz="900" err="1">
                          <a:effectLst/>
                          <a:latin typeface="Raleway"/>
                        </a:rPr>
                        <a:t>kandidat</a:t>
                      </a:r>
                      <a:r>
                        <a:rPr lang="en-US" sz="900">
                          <a:effectLst/>
                          <a:latin typeface="Raleway"/>
                        </a:rPr>
                        <a:t> </a:t>
                      </a:r>
                      <a:r>
                        <a:rPr lang="en-US" sz="900" err="1">
                          <a:effectLst/>
                          <a:latin typeface="Raleway"/>
                        </a:rPr>
                        <a:t>a.n</a:t>
                      </a:r>
                      <a:r>
                        <a:rPr lang="en-US" sz="900">
                          <a:effectLst/>
                          <a:latin typeface="Raleway"/>
                        </a:rPr>
                        <a:t> Daniel di Week 34</a:t>
                      </a:r>
                      <a:br>
                        <a:rPr lang="en-US" sz="900">
                          <a:effectLst/>
                          <a:latin typeface="Raleway"/>
                        </a:rPr>
                      </a:br>
                      <a:r>
                        <a:rPr lang="en-US" sz="900">
                          <a:effectLst/>
                          <a:latin typeface="Raleway"/>
                        </a:rPr>
                        <a:t>&gt; Send  minimal 10 CVs di Week 334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092828338"/>
                  </a:ext>
                </a:extLst>
              </a:tr>
              <a:tr h="1236060">
                <a:tc>
                  <a:txBody>
                    <a:bodyPr/>
                    <a:lstStyle/>
                    <a:p>
                      <a:pPr>
                        <a:buNone/>
                      </a:pPr>
                      <a:r>
                        <a:rPr lang="en-US" sz="900">
                          <a:effectLst/>
                          <a:latin typeface="Raleway"/>
                        </a:rPr>
                        <a:t>09-Jan-25</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Regulatory Supervisor</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10-Jan-25</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Eli</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&gt; Sourcing </a:t>
                      </a:r>
                      <a:r>
                        <a:rPr lang="en-US" sz="900" err="1">
                          <a:effectLst/>
                          <a:latin typeface="Raleway"/>
                        </a:rPr>
                        <a:t>mendapatkan</a:t>
                      </a:r>
                      <a:r>
                        <a:rPr lang="en-US" sz="900">
                          <a:effectLst/>
                          <a:latin typeface="Raleway"/>
                        </a:rPr>
                        <a:t> 10 CV pada 22 Juli 2026</a:t>
                      </a:r>
                      <a:br>
                        <a:rPr lang="en-US" sz="900">
                          <a:effectLst/>
                          <a:latin typeface="Raleway"/>
                        </a:rPr>
                      </a:br>
                      <a:r>
                        <a:rPr lang="en-US" sz="900">
                          <a:effectLst/>
                          <a:latin typeface="Raleway"/>
                        </a:rPr>
                        <a:t>&gt; Send 3 CV to user pada 24 Juli 2026</a:t>
                      </a:r>
                      <a:br>
                        <a:rPr lang="en-US" sz="900">
                          <a:effectLst/>
                          <a:latin typeface="Raleway"/>
                        </a:rPr>
                      </a:br>
                      <a:r>
                        <a:rPr lang="en-US" sz="900">
                          <a:effectLst/>
                          <a:latin typeface="Raleway"/>
                        </a:rPr>
                        <a:t>&gt; HR Interview </a:t>
                      </a:r>
                      <a:r>
                        <a:rPr lang="en-US" sz="900" err="1">
                          <a:effectLst/>
                          <a:latin typeface="Raleway"/>
                        </a:rPr>
                        <a:t>kandidat</a:t>
                      </a:r>
                      <a:r>
                        <a:rPr lang="en-US" sz="900">
                          <a:effectLst/>
                          <a:latin typeface="Raleway"/>
                        </a:rPr>
                        <a:t> </a:t>
                      </a:r>
                      <a:r>
                        <a:rPr lang="en-US" sz="900" err="1">
                          <a:effectLst/>
                          <a:latin typeface="Raleway"/>
                        </a:rPr>
                        <a:t>a.n</a:t>
                      </a:r>
                      <a:r>
                        <a:rPr lang="en-US" sz="900">
                          <a:effectLst/>
                          <a:latin typeface="Raleway"/>
                        </a:rPr>
                        <a:t> Adinda, Andriani, dan </a:t>
                      </a:r>
                      <a:r>
                        <a:rPr lang="en-US" sz="900" err="1">
                          <a:effectLst/>
                          <a:latin typeface="Raleway"/>
                        </a:rPr>
                        <a:t>Zaenal</a:t>
                      </a:r>
                      <a:r>
                        <a:rPr lang="en-US" sz="900">
                          <a:effectLst/>
                          <a:latin typeface="Raleway"/>
                        </a:rPr>
                        <a:t> di Week 31</a:t>
                      </a:r>
                      <a:br>
                        <a:rPr lang="en-US" sz="900">
                          <a:effectLst/>
                          <a:latin typeface="Raleway"/>
                        </a:rPr>
                      </a:br>
                      <a:r>
                        <a:rPr lang="en-US" sz="900">
                          <a:effectLst/>
                          <a:latin typeface="Raleway"/>
                        </a:rPr>
                        <a:t>&gt; Send 27 </a:t>
                      </a:r>
                      <a:r>
                        <a:rPr lang="en-US" sz="900" err="1">
                          <a:effectLst/>
                          <a:latin typeface="Raleway"/>
                        </a:rPr>
                        <a:t>Cvs</a:t>
                      </a:r>
                      <a:r>
                        <a:rPr lang="en-US" sz="900">
                          <a:effectLst/>
                          <a:latin typeface="Raleway"/>
                        </a:rPr>
                        <a:t> di Week 33 - All DROP.. Filter </a:t>
                      </a:r>
                      <a:r>
                        <a:rPr lang="en-US" sz="900" err="1">
                          <a:effectLst/>
                          <a:latin typeface="Raleway"/>
                        </a:rPr>
                        <a:t>kandidat</a:t>
                      </a:r>
                      <a:r>
                        <a:rPr lang="en-US" sz="900">
                          <a:effectLst/>
                          <a:latin typeface="Raleway"/>
                        </a:rPr>
                        <a:t> </a:t>
                      </a:r>
                      <a:r>
                        <a:rPr lang="en-US" sz="900" err="1">
                          <a:effectLst/>
                          <a:latin typeface="Raleway"/>
                        </a:rPr>
                        <a:t>spefisik</a:t>
                      </a:r>
                      <a:r>
                        <a:rPr lang="en-US" sz="900">
                          <a:effectLst/>
                          <a:latin typeface="Raleway"/>
                        </a:rPr>
                        <a:t>: Food Tech (Graduated) dan </a:t>
                      </a:r>
                      <a:r>
                        <a:rPr lang="en-US" sz="900" err="1">
                          <a:effectLst/>
                          <a:latin typeface="Raleway"/>
                        </a:rPr>
                        <a:t>memiliki</a:t>
                      </a:r>
                      <a:r>
                        <a:rPr lang="en-US" sz="900">
                          <a:effectLst/>
                          <a:latin typeface="Raleway"/>
                        </a:rPr>
                        <a:t> </a:t>
                      </a:r>
                      <a:r>
                        <a:rPr lang="en-US" sz="900" err="1">
                          <a:effectLst/>
                          <a:latin typeface="Raleway"/>
                        </a:rPr>
                        <a:t>pengalaman</a:t>
                      </a:r>
                      <a:r>
                        <a:rPr lang="en-US" sz="900">
                          <a:effectLst/>
                          <a:latin typeface="Raleway"/>
                        </a:rPr>
                        <a:t> di FMCG Food.</a:t>
                      </a:r>
                      <a:br>
                        <a:rPr lang="en-US" sz="900">
                          <a:effectLst/>
                          <a:latin typeface="Raleway"/>
                        </a:rPr>
                      </a:br>
                      <a:r>
                        <a:rPr lang="en-US" sz="900">
                          <a:effectLst/>
                          <a:latin typeface="Raleway"/>
                        </a:rPr>
                        <a:t>&gt; Send 10 </a:t>
                      </a:r>
                      <a:r>
                        <a:rPr lang="en-US" sz="900" err="1">
                          <a:effectLst/>
                          <a:latin typeface="Raleway"/>
                        </a:rPr>
                        <a:t>Cvs</a:t>
                      </a:r>
                      <a:r>
                        <a:rPr lang="en-US" sz="900">
                          <a:effectLst/>
                          <a:latin typeface="Raleway"/>
                        </a:rPr>
                        <a:t> di Week 33 (Jumat, 14 Agustus 2026) </a:t>
                      </a:r>
                      <a:br>
                        <a:rPr lang="en-US" sz="900">
                          <a:effectLst/>
                          <a:latin typeface="Raleway"/>
                        </a:rPr>
                      </a:br>
                      <a:br>
                        <a:rPr lang="en-US" sz="900">
                          <a:effectLst/>
                          <a:latin typeface="Raleway"/>
                        </a:rPr>
                      </a:br>
                      <a:r>
                        <a:rPr lang="en-US" sz="900">
                          <a:effectLst/>
                          <a:latin typeface="Raleway"/>
                        </a:rPr>
                        <a:t>Next Action:</a:t>
                      </a:r>
                      <a:br>
                        <a:rPr lang="en-US" sz="900">
                          <a:effectLst/>
                          <a:latin typeface="Raleway"/>
                        </a:rPr>
                      </a:br>
                      <a:r>
                        <a:rPr lang="en-US" sz="900">
                          <a:effectLst/>
                          <a:latin typeface="Raleway"/>
                        </a:rPr>
                        <a:t>&gt; Sourcing 10 CVs - </a:t>
                      </a:r>
                      <a:r>
                        <a:rPr lang="en-US" sz="900" err="1">
                          <a:effectLst/>
                          <a:latin typeface="Raleway"/>
                        </a:rPr>
                        <a:t>kandidat</a:t>
                      </a:r>
                      <a:r>
                        <a:rPr lang="en-US" sz="900">
                          <a:effectLst/>
                          <a:latin typeface="Raleway"/>
                        </a:rPr>
                        <a:t> </a:t>
                      </a:r>
                      <a:r>
                        <a:rPr lang="en-US" sz="900" err="1">
                          <a:effectLst/>
                          <a:latin typeface="Raleway"/>
                        </a:rPr>
                        <a:t>pembanding</a:t>
                      </a:r>
                      <a:r>
                        <a:rPr lang="en-US" sz="900">
                          <a:effectLst/>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3988768592"/>
                  </a:ext>
                </a:extLst>
              </a:tr>
              <a:tr h="853859">
                <a:tc>
                  <a:txBody>
                    <a:bodyPr/>
                    <a:lstStyle/>
                    <a:p>
                      <a:pPr>
                        <a:buNone/>
                      </a:pPr>
                      <a:r>
                        <a:rPr lang="en-US" sz="900">
                          <a:effectLst/>
                          <a:latin typeface="Raleway"/>
                        </a:rPr>
                        <a:t>28-Apr-26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Continuous Improvement Specialist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28-May-26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err="1">
                          <a:effectLst/>
                          <a:latin typeface="Raleway"/>
                        </a:rPr>
                        <a:t>Kasanah</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&gt; 1 </a:t>
                      </a:r>
                      <a:r>
                        <a:rPr lang="en-US" sz="900" err="1">
                          <a:effectLst/>
                          <a:latin typeface="Raleway"/>
                        </a:rPr>
                        <a:t>Kandidat</a:t>
                      </a:r>
                      <a:r>
                        <a:rPr lang="en-US" sz="900">
                          <a:effectLst/>
                          <a:latin typeface="Raleway"/>
                        </a:rPr>
                        <a:t> an Yassin Lolos User Interview I dan </a:t>
                      </a:r>
                      <a:r>
                        <a:rPr lang="en-US" sz="900" err="1">
                          <a:effectLst/>
                          <a:latin typeface="Raleway"/>
                        </a:rPr>
                        <a:t>sedang</a:t>
                      </a:r>
                      <a:r>
                        <a:rPr lang="en-US" sz="900">
                          <a:effectLst/>
                          <a:latin typeface="Raleway"/>
                        </a:rPr>
                        <a:t> </a:t>
                      </a:r>
                      <a:r>
                        <a:rPr lang="en-US" sz="900" err="1">
                          <a:effectLst/>
                          <a:latin typeface="Raleway"/>
                        </a:rPr>
                        <a:t>penjadwalan</a:t>
                      </a:r>
                      <a:r>
                        <a:rPr lang="en-US" sz="900">
                          <a:effectLst/>
                          <a:latin typeface="Raleway"/>
                        </a:rPr>
                        <a:t> User Interview II </a:t>
                      </a:r>
                      <a:r>
                        <a:rPr lang="en-US" sz="900" err="1">
                          <a:effectLst/>
                          <a:latin typeface="Raleway"/>
                        </a:rPr>
                        <a:t>dengan</a:t>
                      </a:r>
                      <a:r>
                        <a:rPr lang="en-US" sz="900">
                          <a:effectLst/>
                          <a:latin typeface="Raleway"/>
                        </a:rPr>
                        <a:t> Operation General Manager </a:t>
                      </a:r>
                      <a:br>
                        <a:rPr lang="en-US" sz="900">
                          <a:effectLst/>
                          <a:latin typeface="Raleway"/>
                        </a:rPr>
                      </a:br>
                      <a:r>
                        <a:rPr lang="en-US" sz="900">
                          <a:effectLst/>
                          <a:latin typeface="Raleway"/>
                        </a:rPr>
                        <a:t>&gt; 11 </a:t>
                      </a:r>
                      <a:r>
                        <a:rPr lang="en-US" sz="900" err="1">
                          <a:effectLst/>
                          <a:latin typeface="Raleway"/>
                        </a:rPr>
                        <a:t>Cvs</a:t>
                      </a:r>
                      <a:r>
                        <a:rPr lang="en-US" sz="900">
                          <a:effectLst/>
                          <a:latin typeface="Raleway"/>
                        </a:rPr>
                        <a:t> </a:t>
                      </a:r>
                      <a:r>
                        <a:rPr lang="en-US" sz="900" err="1">
                          <a:effectLst/>
                          <a:latin typeface="Raleway"/>
                        </a:rPr>
                        <a:t>sudah</a:t>
                      </a:r>
                      <a:r>
                        <a:rPr lang="en-US" sz="900">
                          <a:effectLst/>
                          <a:latin typeface="Raleway"/>
                        </a:rPr>
                        <a:t> </a:t>
                      </a:r>
                      <a:r>
                        <a:rPr lang="en-US" sz="900" err="1">
                          <a:effectLst/>
                          <a:latin typeface="Raleway"/>
                        </a:rPr>
                        <a:t>dikirimkan</a:t>
                      </a:r>
                      <a:r>
                        <a:rPr lang="en-US" sz="900">
                          <a:effectLst/>
                          <a:latin typeface="Raleway"/>
                        </a:rPr>
                        <a:t> </a:t>
                      </a:r>
                      <a:r>
                        <a:rPr lang="en-US" sz="900" err="1">
                          <a:effectLst/>
                          <a:latin typeface="Raleway"/>
                        </a:rPr>
                        <a:t>untuk</a:t>
                      </a:r>
                      <a:r>
                        <a:rPr lang="en-US" sz="900">
                          <a:effectLst/>
                          <a:latin typeface="Raleway"/>
                        </a:rPr>
                        <a:t> di shortlist User di 12 Agustus 2026</a:t>
                      </a:r>
                      <a:br>
                        <a:rPr lang="en-US" sz="900">
                          <a:effectLst/>
                          <a:latin typeface="Raleway"/>
                        </a:rPr>
                      </a:br>
                      <a:r>
                        <a:rPr lang="en-US" sz="900">
                          <a:effectLst/>
                          <a:latin typeface="Raleway"/>
                        </a:rPr>
                        <a:t>Next Action: </a:t>
                      </a:r>
                      <a:br>
                        <a:rPr lang="en-US" sz="900">
                          <a:effectLst/>
                          <a:latin typeface="Raleway"/>
                        </a:rPr>
                      </a:br>
                      <a:r>
                        <a:rPr lang="en-US" sz="900">
                          <a:effectLst/>
                          <a:latin typeface="Raleway"/>
                        </a:rPr>
                        <a:t>&gt; </a:t>
                      </a:r>
                      <a:r>
                        <a:rPr lang="en-US" sz="900" err="1">
                          <a:effectLst/>
                          <a:latin typeface="Raleway"/>
                        </a:rPr>
                        <a:t>Agendakan</a:t>
                      </a:r>
                      <a:r>
                        <a:rPr lang="en-US" sz="900">
                          <a:effectLst/>
                          <a:latin typeface="Raleway"/>
                        </a:rPr>
                        <a:t> User Interview II </a:t>
                      </a:r>
                      <a:r>
                        <a:rPr lang="en-US" sz="900" err="1">
                          <a:effectLst/>
                          <a:latin typeface="Raleway"/>
                        </a:rPr>
                        <a:t>kandidat</a:t>
                      </a:r>
                      <a:r>
                        <a:rPr lang="en-US" sz="900">
                          <a:effectLst/>
                          <a:latin typeface="Raleway"/>
                        </a:rPr>
                        <a:t> an Yassin di Week 34</a:t>
                      </a:r>
                      <a:br>
                        <a:rPr lang="en-US" sz="900">
                          <a:effectLst/>
                          <a:latin typeface="Raleway"/>
                        </a:rPr>
                      </a:br>
                      <a:r>
                        <a:rPr lang="en-US" sz="900">
                          <a:effectLst/>
                          <a:latin typeface="Raleway"/>
                        </a:rPr>
                        <a:t>&gt; Follow up feedback shortlisted </a:t>
                      </a:r>
                      <a:r>
                        <a:rPr lang="en-US" sz="900" err="1">
                          <a:effectLst/>
                          <a:latin typeface="Raleway"/>
                        </a:rPr>
                        <a:t>kandidat</a:t>
                      </a:r>
                      <a:r>
                        <a:rPr lang="en-US" sz="900">
                          <a:effectLst/>
                          <a:latin typeface="Raleway"/>
                        </a:rPr>
                        <a:t> to user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219631107"/>
                  </a:ext>
                </a:extLst>
              </a:tr>
              <a:tr h="723747">
                <a:tc>
                  <a:txBody>
                    <a:bodyPr/>
                    <a:lstStyle/>
                    <a:p>
                      <a:pPr>
                        <a:buNone/>
                      </a:pPr>
                      <a:r>
                        <a:rPr lang="en-US" sz="900">
                          <a:effectLst/>
                          <a:latin typeface="Raleway"/>
                        </a:rPr>
                        <a:t>09-Jan-25</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Quality Control Supervisor - Laboratory</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10-Jan-25</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err="1">
                          <a:effectLst/>
                          <a:latin typeface="Raleway"/>
                        </a:rPr>
                        <a:t>Kasanah</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&gt; 2 </a:t>
                      </a:r>
                      <a:r>
                        <a:rPr lang="en-US" sz="900" err="1">
                          <a:effectLst/>
                          <a:latin typeface="Raleway"/>
                        </a:rPr>
                        <a:t>Kandidat</a:t>
                      </a:r>
                      <a:r>
                        <a:rPr lang="en-US" sz="900">
                          <a:effectLst/>
                          <a:latin typeface="Raleway"/>
                        </a:rPr>
                        <a:t> an </a:t>
                      </a:r>
                      <a:r>
                        <a:rPr lang="en-US" sz="900" err="1">
                          <a:effectLst/>
                          <a:latin typeface="Raleway"/>
                        </a:rPr>
                        <a:t>Syifa</a:t>
                      </a:r>
                      <a:r>
                        <a:rPr lang="en-US" sz="900">
                          <a:effectLst/>
                          <a:latin typeface="Raleway"/>
                        </a:rPr>
                        <a:t> dan Diki DROP User Interview di 14 Agustus 2026 </a:t>
                      </a:r>
                      <a:br>
                        <a:rPr lang="en-US" sz="900">
                          <a:effectLst/>
                          <a:latin typeface="Raleway"/>
                        </a:rPr>
                      </a:br>
                      <a:r>
                        <a:rPr lang="en-US" sz="900">
                          <a:effectLst/>
                          <a:latin typeface="Raleway"/>
                        </a:rPr>
                        <a:t>&gt; 5 </a:t>
                      </a:r>
                      <a:r>
                        <a:rPr lang="en-US" sz="900" err="1">
                          <a:effectLst/>
                          <a:latin typeface="Raleway"/>
                        </a:rPr>
                        <a:t>Cvs</a:t>
                      </a:r>
                      <a:r>
                        <a:rPr lang="en-US" sz="900">
                          <a:effectLst/>
                          <a:latin typeface="Raleway"/>
                        </a:rPr>
                        <a:t> </a:t>
                      </a:r>
                      <a:r>
                        <a:rPr lang="en-US" sz="900" err="1">
                          <a:effectLst/>
                          <a:latin typeface="Raleway"/>
                        </a:rPr>
                        <a:t>sudah</a:t>
                      </a:r>
                      <a:r>
                        <a:rPr lang="en-US" sz="900">
                          <a:effectLst/>
                          <a:latin typeface="Raleway"/>
                        </a:rPr>
                        <a:t> </a:t>
                      </a:r>
                      <a:r>
                        <a:rPr lang="en-US" sz="900" err="1">
                          <a:effectLst/>
                          <a:latin typeface="Raleway"/>
                        </a:rPr>
                        <a:t>dikirimkan</a:t>
                      </a:r>
                      <a:r>
                        <a:rPr lang="en-US" sz="900">
                          <a:effectLst/>
                          <a:latin typeface="Raleway"/>
                        </a:rPr>
                        <a:t> di 14 Agustus 2026</a:t>
                      </a:r>
                      <a:br>
                        <a:rPr lang="en-US" sz="900">
                          <a:effectLst/>
                          <a:latin typeface="Raleway"/>
                        </a:rPr>
                      </a:br>
                      <a:r>
                        <a:rPr lang="en-US" sz="900">
                          <a:effectLst/>
                          <a:latin typeface="Raleway"/>
                        </a:rPr>
                        <a:t>Next Action: </a:t>
                      </a:r>
                      <a:br>
                        <a:rPr lang="en-US" sz="900">
                          <a:effectLst/>
                          <a:latin typeface="Raleway"/>
                        </a:rPr>
                      </a:br>
                      <a:r>
                        <a:rPr lang="en-US" sz="900">
                          <a:effectLst/>
                          <a:latin typeface="Raleway"/>
                        </a:rPr>
                        <a:t>&gt; Follow up </a:t>
                      </a:r>
                      <a:r>
                        <a:rPr lang="en-US" sz="900" err="1">
                          <a:effectLst/>
                          <a:latin typeface="Raleway"/>
                        </a:rPr>
                        <a:t>hasil</a:t>
                      </a:r>
                      <a:r>
                        <a:rPr lang="en-US" sz="900">
                          <a:effectLst/>
                          <a:latin typeface="Raleway"/>
                        </a:rPr>
                        <a:t> shortlisted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185968348"/>
                  </a:ext>
                </a:extLst>
              </a:tr>
              <a:tr h="723747">
                <a:tc>
                  <a:txBody>
                    <a:bodyPr/>
                    <a:lstStyle/>
                    <a:p>
                      <a:pPr>
                        <a:buNone/>
                      </a:pPr>
                      <a:r>
                        <a:rPr lang="en-US" sz="900">
                          <a:effectLst/>
                          <a:latin typeface="Raleway"/>
                        </a:rPr>
                        <a:t>21-May-26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Head of Area - Jakarta Barat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20-Jun-26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Omega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Offering call </a:t>
                      </a:r>
                      <a:r>
                        <a:rPr lang="en-US" sz="900" err="1">
                          <a:effectLst/>
                          <a:latin typeface="Raleway"/>
                        </a:rPr>
                        <a:t>a.n</a:t>
                      </a:r>
                      <a:r>
                        <a:rPr lang="en-US" sz="900">
                          <a:effectLst/>
                          <a:latin typeface="Raleway"/>
                        </a:rPr>
                        <a:t> </a:t>
                      </a:r>
                      <a:r>
                        <a:rPr lang="en-US" sz="900" err="1">
                          <a:effectLst/>
                          <a:latin typeface="Raleway"/>
                        </a:rPr>
                        <a:t>Febifitriyanti</a:t>
                      </a:r>
                      <a:r>
                        <a:rPr lang="en-US" sz="900">
                          <a:effectLst/>
                          <a:latin typeface="Raleway"/>
                        </a:rPr>
                        <a:t> di Week 27, Reject Offer</a:t>
                      </a:r>
                      <a:br>
                        <a:rPr lang="en-US" sz="900">
                          <a:effectLst/>
                          <a:latin typeface="Raleway"/>
                        </a:rPr>
                      </a:br>
                      <a:r>
                        <a:rPr lang="en-US" sz="900">
                          <a:effectLst/>
                          <a:latin typeface="Raleway"/>
                        </a:rPr>
                        <a:t>Approval offering </a:t>
                      </a:r>
                      <a:r>
                        <a:rPr lang="en-US" sz="900" err="1">
                          <a:effectLst/>
                          <a:latin typeface="Raleway"/>
                        </a:rPr>
                        <a:t>a.n</a:t>
                      </a:r>
                      <a:r>
                        <a:rPr lang="en-US" sz="900">
                          <a:effectLst/>
                          <a:latin typeface="Raleway"/>
                        </a:rPr>
                        <a:t> Geo </a:t>
                      </a:r>
                      <a:r>
                        <a:rPr lang="en-US" sz="900" err="1">
                          <a:effectLst/>
                          <a:latin typeface="Raleway"/>
                        </a:rPr>
                        <a:t>Vegy</a:t>
                      </a:r>
                      <a:r>
                        <a:rPr lang="en-US" sz="900">
                          <a:effectLst/>
                          <a:latin typeface="Raleway"/>
                        </a:rPr>
                        <a:t> di Week 33</a:t>
                      </a:r>
                      <a:br>
                        <a:rPr lang="en-US" sz="900">
                          <a:effectLst/>
                          <a:latin typeface="Raleway"/>
                        </a:rPr>
                      </a:br>
                      <a:r>
                        <a:rPr lang="en-US" sz="900">
                          <a:effectLst/>
                          <a:latin typeface="Raleway"/>
                        </a:rPr>
                        <a:t>Next Action: </a:t>
                      </a:r>
                      <a:br>
                        <a:rPr lang="en-US" sz="900">
                          <a:effectLst/>
                          <a:latin typeface="Raleway"/>
                        </a:rPr>
                      </a:br>
                      <a:r>
                        <a:rPr lang="en-US" sz="900">
                          <a:effectLst/>
                          <a:latin typeface="Raleway"/>
                        </a:rPr>
                        <a:t>Offering </a:t>
                      </a:r>
                      <a:r>
                        <a:rPr lang="en-US" sz="900" err="1">
                          <a:effectLst/>
                          <a:latin typeface="Raleway"/>
                        </a:rPr>
                        <a:t>a.n</a:t>
                      </a:r>
                      <a:r>
                        <a:rPr lang="en-US" sz="900">
                          <a:effectLst/>
                          <a:latin typeface="Raleway"/>
                        </a:rPr>
                        <a:t> Geo </a:t>
                      </a:r>
                      <a:r>
                        <a:rPr lang="en-US" sz="900" err="1">
                          <a:effectLst/>
                          <a:latin typeface="Raleway"/>
                        </a:rPr>
                        <a:t>Vegy</a:t>
                      </a:r>
                      <a:r>
                        <a:rPr lang="en-US" sz="900">
                          <a:effectLst/>
                          <a:latin typeface="Raleway"/>
                        </a:rPr>
                        <a:t> di Week 34</a:t>
                      </a:r>
                      <a:br>
                        <a:rPr lang="en-US" sz="900">
                          <a:effectLst/>
                          <a:latin typeface="Raleway"/>
                        </a:rPr>
                      </a:br>
                      <a:r>
                        <a:rPr lang="en-US" sz="900" err="1">
                          <a:effectLst/>
                          <a:latin typeface="Raleway"/>
                        </a:rPr>
                        <a:t>Psikotes</a:t>
                      </a:r>
                      <a:r>
                        <a:rPr lang="en-US" sz="900">
                          <a:effectLst/>
                          <a:latin typeface="Raleway"/>
                        </a:rPr>
                        <a:t> &amp; HR Interview </a:t>
                      </a:r>
                      <a:r>
                        <a:rPr lang="en-US" sz="900" err="1">
                          <a:effectLst/>
                          <a:latin typeface="Raleway"/>
                        </a:rPr>
                        <a:t>kandidat</a:t>
                      </a:r>
                      <a:r>
                        <a:rPr lang="en-US" sz="900">
                          <a:effectLst/>
                          <a:latin typeface="Raleway"/>
                        </a:rPr>
                        <a:t> feedback user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371192447"/>
                  </a:ext>
                </a:extLst>
              </a:tr>
            </a:tbl>
          </a:graphicData>
        </a:graphic>
      </p:graphicFrame>
      <p:sp>
        <p:nvSpPr>
          <p:cNvPr id="6" name="TextBox 7">
            <a:extLst>
              <a:ext uri="{FF2B5EF4-FFF2-40B4-BE49-F238E27FC236}">
                <a16:creationId xmlns:a16="http://schemas.microsoft.com/office/drawing/2014/main" id="{2D27D93C-6284-2556-6E3B-41B3D7BDAAFB}"/>
              </a:ext>
            </a:extLst>
          </p:cNvPr>
          <p:cNvSpPr txBox="1"/>
          <p:nvPr/>
        </p:nvSpPr>
        <p:spPr>
          <a:xfrm>
            <a:off x="89575" y="6408147"/>
            <a:ext cx="10972800" cy="261610"/>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a:latin typeface="Raleway"/>
              </a:rPr>
              <a:t>* </a:t>
            </a:r>
            <a:r>
              <a:rPr lang="en-US" sz="1100" i="1">
                <a:latin typeface="Raleway"/>
              </a:rPr>
              <a:t>Update per </a:t>
            </a:r>
            <a:r>
              <a:rPr lang="en-US" sz="1100" i="1" err="1">
                <a:latin typeface="Raleway"/>
              </a:rPr>
              <a:t>tanggal</a:t>
            </a:r>
            <a:r>
              <a:rPr lang="en-US" sz="1100" i="1">
                <a:latin typeface="Raleway"/>
              </a:rPr>
              <a:t> 14 Agustus 2026</a:t>
            </a:r>
            <a:endParaRPr lang="en-US" sz="1100">
              <a:latin typeface="Raleway"/>
            </a:endParaRPr>
          </a:p>
        </p:txBody>
      </p:sp>
      <p:sp>
        <p:nvSpPr>
          <p:cNvPr id="8" name="Title 1">
            <a:extLst>
              <a:ext uri="{FF2B5EF4-FFF2-40B4-BE49-F238E27FC236}">
                <a16:creationId xmlns:a16="http://schemas.microsoft.com/office/drawing/2014/main" id="{511D022F-478A-169F-1CF5-49CC253BD3C1}"/>
              </a:ext>
            </a:extLst>
          </p:cNvPr>
          <p:cNvSpPr txBox="1">
            <a:spLocks/>
          </p:cNvSpPr>
          <p:nvPr/>
        </p:nvSpPr>
        <p:spPr>
          <a:xfrm>
            <a:off x="1618629" y="223"/>
            <a:ext cx="8958197" cy="4799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2400" b="1">
                <a:latin typeface="Raleway" panose="020B0503030101060003"/>
              </a:rPr>
              <a:t>Recruitment Progress – Level 3</a:t>
            </a:r>
            <a:endParaRPr lang="en-US" sz="2400">
              <a:latin typeface="Raleway" panose="020B0503030101060003"/>
            </a:endParaRPr>
          </a:p>
        </p:txBody>
      </p:sp>
    </p:spTree>
    <p:extLst>
      <p:ext uri="{BB962C8B-B14F-4D97-AF65-F5344CB8AC3E}">
        <p14:creationId xmlns:p14="http://schemas.microsoft.com/office/powerpoint/2010/main" val="3533695059"/>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C55DE1-79B5-EF1E-8D90-5DD39694F169}"/>
            </a:ext>
          </a:extLst>
        </p:cNvPr>
        <p:cNvGrpSpPr/>
        <p:nvPr/>
      </p:nvGrpSpPr>
      <p:grpSpPr>
        <a:xfrm>
          <a:off x="0" y="0"/>
          <a:ext cx="0" cy="0"/>
          <a:chOff x="0" y="0"/>
          <a:chExt cx="0" cy="0"/>
        </a:xfrm>
      </p:grpSpPr>
      <p:graphicFrame>
        <p:nvGraphicFramePr>
          <p:cNvPr id="4" name="Table 3">
            <a:extLst>
              <a:ext uri="{FF2B5EF4-FFF2-40B4-BE49-F238E27FC236}">
                <a16:creationId xmlns:a16="http://schemas.microsoft.com/office/drawing/2014/main" id="{3364CDA6-E98E-382E-FA32-564BF272D055}"/>
              </a:ext>
            </a:extLst>
          </p:cNvPr>
          <p:cNvGraphicFramePr>
            <a:graphicFrameLocks noGrp="1"/>
          </p:cNvGraphicFramePr>
          <p:nvPr>
            <p:extLst>
              <p:ext uri="{D42A27DB-BD31-4B8C-83A1-F6EECF244321}">
                <p14:modId xmlns:p14="http://schemas.microsoft.com/office/powerpoint/2010/main" val="2369785895"/>
              </p:ext>
            </p:extLst>
          </p:nvPr>
        </p:nvGraphicFramePr>
        <p:xfrm>
          <a:off x="203200" y="1239520"/>
          <a:ext cx="11530810" cy="3596617"/>
        </p:xfrm>
        <a:graphic>
          <a:graphicData uri="http://schemas.openxmlformats.org/drawingml/2006/table">
            <a:tbl>
              <a:tblPr bandRow="1">
                <a:tableStyleId>{5C22544A-7EE6-4342-B048-85BDC9FD1C3A}</a:tableStyleId>
              </a:tblPr>
              <a:tblGrid>
                <a:gridCol w="542625">
                  <a:extLst>
                    <a:ext uri="{9D8B030D-6E8A-4147-A177-3AD203B41FA5}">
                      <a16:colId xmlns:a16="http://schemas.microsoft.com/office/drawing/2014/main" val="1557153026"/>
                    </a:ext>
                  </a:extLst>
                </a:gridCol>
                <a:gridCol w="2057460">
                  <a:extLst>
                    <a:ext uri="{9D8B030D-6E8A-4147-A177-3AD203B41FA5}">
                      <a16:colId xmlns:a16="http://schemas.microsoft.com/office/drawing/2014/main" val="1535381836"/>
                    </a:ext>
                  </a:extLst>
                </a:gridCol>
                <a:gridCol w="542625">
                  <a:extLst>
                    <a:ext uri="{9D8B030D-6E8A-4147-A177-3AD203B41FA5}">
                      <a16:colId xmlns:a16="http://schemas.microsoft.com/office/drawing/2014/main" val="3386875817"/>
                    </a:ext>
                  </a:extLst>
                </a:gridCol>
                <a:gridCol w="972206">
                  <a:extLst>
                    <a:ext uri="{9D8B030D-6E8A-4147-A177-3AD203B41FA5}">
                      <a16:colId xmlns:a16="http://schemas.microsoft.com/office/drawing/2014/main" val="4075891952"/>
                    </a:ext>
                  </a:extLst>
                </a:gridCol>
                <a:gridCol w="723502">
                  <a:extLst>
                    <a:ext uri="{9D8B030D-6E8A-4147-A177-3AD203B41FA5}">
                      <a16:colId xmlns:a16="http://schemas.microsoft.com/office/drawing/2014/main" val="3406672907"/>
                    </a:ext>
                  </a:extLst>
                </a:gridCol>
                <a:gridCol w="576539">
                  <a:extLst>
                    <a:ext uri="{9D8B030D-6E8A-4147-A177-3AD203B41FA5}">
                      <a16:colId xmlns:a16="http://schemas.microsoft.com/office/drawing/2014/main" val="1950047701"/>
                    </a:ext>
                  </a:extLst>
                </a:gridCol>
                <a:gridCol w="926986">
                  <a:extLst>
                    <a:ext uri="{9D8B030D-6E8A-4147-A177-3AD203B41FA5}">
                      <a16:colId xmlns:a16="http://schemas.microsoft.com/office/drawing/2014/main" val="2310715925"/>
                    </a:ext>
                  </a:extLst>
                </a:gridCol>
                <a:gridCol w="542625">
                  <a:extLst>
                    <a:ext uri="{9D8B030D-6E8A-4147-A177-3AD203B41FA5}">
                      <a16:colId xmlns:a16="http://schemas.microsoft.com/office/drawing/2014/main" val="3002826944"/>
                    </a:ext>
                  </a:extLst>
                </a:gridCol>
                <a:gridCol w="542625">
                  <a:extLst>
                    <a:ext uri="{9D8B030D-6E8A-4147-A177-3AD203B41FA5}">
                      <a16:colId xmlns:a16="http://schemas.microsoft.com/office/drawing/2014/main" val="4026250361"/>
                    </a:ext>
                  </a:extLst>
                </a:gridCol>
                <a:gridCol w="4103617">
                  <a:extLst>
                    <a:ext uri="{9D8B030D-6E8A-4147-A177-3AD203B41FA5}">
                      <a16:colId xmlns:a16="http://schemas.microsoft.com/office/drawing/2014/main" val="3862220414"/>
                    </a:ext>
                  </a:extLst>
                </a:gridCol>
              </a:tblGrid>
              <a:tr h="1063042">
                <a:tc>
                  <a:txBody>
                    <a:bodyPr/>
                    <a:lstStyle/>
                    <a:p>
                      <a:pPr algn="ctr">
                        <a:buNone/>
                      </a:pPr>
                      <a:r>
                        <a:rPr lang="en-US" sz="1000" b="1">
                          <a:solidFill>
                            <a:schemeClr val="bg1"/>
                          </a:solidFill>
                          <a:effectLst/>
                          <a:latin typeface="Raleway"/>
                        </a:rPr>
                        <a:t>Tanggal 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Business 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SLA Target </a:t>
                      </a:r>
                      <a:r>
                        <a:rPr lang="en-US" sz="1000" b="1" err="1">
                          <a:solidFill>
                            <a:schemeClr val="bg1"/>
                          </a:solidFill>
                          <a:effectLst/>
                          <a:latin typeface="Raleway"/>
                        </a:rPr>
                        <a:t>Pemenuhan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err="1">
                          <a:solidFill>
                            <a:schemeClr val="bg1"/>
                          </a:solidFill>
                          <a:effectLst/>
                          <a:latin typeface="Raleway"/>
                        </a:rPr>
                        <a:t>Jumlah</a:t>
                      </a:r>
                      <a:r>
                        <a:rPr lang="en-US" sz="1000" b="1">
                          <a:solidFill>
                            <a:schemeClr val="bg1"/>
                          </a:solidFill>
                          <a:effectLst/>
                          <a:latin typeface="Raleway"/>
                        </a:rPr>
                        <a:t> </a:t>
                      </a:r>
                      <a:r>
                        <a:rPr lang="en-US" sz="1000" b="1" err="1">
                          <a:solidFill>
                            <a:schemeClr val="bg1"/>
                          </a:solidFill>
                          <a:effectLst/>
                          <a:latin typeface="Raleway"/>
                        </a:rPr>
                        <a:t>Permintaan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Status </a:t>
                      </a:r>
                      <a:r>
                        <a:rPr lang="en-US" sz="1000" b="1" err="1">
                          <a:solidFill>
                            <a:schemeClr val="bg1"/>
                          </a:solidFill>
                          <a:effectLst/>
                          <a:latin typeface="Raleway"/>
                        </a:rPr>
                        <a:t>Rekrutmen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1000" b="1">
                          <a:solidFill>
                            <a:schemeClr val="bg1"/>
                          </a:solidFill>
                          <a:effectLst/>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399186613"/>
                  </a:ext>
                </a:extLst>
              </a:tr>
              <a:tr h="903583">
                <a:tc>
                  <a:txBody>
                    <a:bodyPr/>
                    <a:lstStyle/>
                    <a:p>
                      <a:pPr>
                        <a:buNone/>
                      </a:pPr>
                      <a:r>
                        <a:rPr lang="en-US" sz="1000">
                          <a:effectLst/>
                          <a:latin typeface="Raleway"/>
                        </a:rPr>
                        <a:t>06-May-26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Area Sales Supervisor (Chilled) - Banten </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07-May-26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Omega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err="1">
                          <a:effectLst/>
                          <a:latin typeface="Raleway"/>
                        </a:rPr>
                        <a:t>Presentasi</a:t>
                      </a:r>
                      <a:r>
                        <a:rPr lang="en-US" sz="1000">
                          <a:effectLst/>
                          <a:latin typeface="Raleway"/>
                        </a:rPr>
                        <a:t> &amp; User interview </a:t>
                      </a:r>
                      <a:r>
                        <a:rPr lang="en-US" sz="1000" err="1">
                          <a:effectLst/>
                          <a:latin typeface="Raleway"/>
                        </a:rPr>
                        <a:t>a.n</a:t>
                      </a:r>
                      <a:r>
                        <a:rPr lang="en-US" sz="1000">
                          <a:effectLst/>
                          <a:latin typeface="Raleway"/>
                        </a:rPr>
                        <a:t> </a:t>
                      </a:r>
                      <a:r>
                        <a:rPr lang="en-US" sz="1000" err="1">
                          <a:effectLst/>
                          <a:latin typeface="Raleway"/>
                        </a:rPr>
                        <a:t>Roynal</a:t>
                      </a:r>
                      <a:r>
                        <a:rPr lang="en-US" sz="1000">
                          <a:effectLst/>
                          <a:latin typeface="Raleway"/>
                        </a:rPr>
                        <a:t> di Week 33</a:t>
                      </a: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FU Hasil User interview di week 34</a:t>
                      </a:r>
                      <a:br>
                        <a:rPr lang="en-US" sz="1000">
                          <a:effectLst/>
                          <a:latin typeface="Raleway"/>
                        </a:rPr>
                      </a:br>
                      <a:r>
                        <a:rPr lang="en-US" sz="1000">
                          <a:effectLst/>
                          <a:latin typeface="Raleway"/>
                        </a:rPr>
                        <a:t>Sourcing min 5 CVs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3179394074"/>
                  </a:ext>
                </a:extLst>
              </a:tr>
              <a:tr h="744128">
                <a:tc>
                  <a:txBody>
                    <a:bodyPr/>
                    <a:lstStyle/>
                    <a:p>
                      <a:pPr>
                        <a:buNone/>
                      </a:pPr>
                      <a:r>
                        <a:rPr lang="en-US" sz="1000">
                          <a:effectLst/>
                          <a:latin typeface="Raleway"/>
                        </a:rPr>
                        <a:t>08-Apr-26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Head of Area - Tangerang </a:t>
                      </a:r>
                      <a:r>
                        <a:rPr lang="en-US" sz="1000" err="1">
                          <a:effectLst/>
                          <a:latin typeface="Raleway"/>
                        </a:rPr>
                        <a:t>Kabupaten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09-Mar-26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Omega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Handover to PIC Recruiter Baru </a:t>
                      </a:r>
                      <a:r>
                        <a:rPr lang="en-US" sz="1000" err="1">
                          <a:effectLst/>
                          <a:latin typeface="Raleway"/>
                        </a:rPr>
                        <a:t>yaitu</a:t>
                      </a:r>
                      <a:r>
                        <a:rPr lang="en-US" sz="1000">
                          <a:effectLst/>
                          <a:latin typeface="Raleway"/>
                        </a:rPr>
                        <a:t> </a:t>
                      </a:r>
                      <a:r>
                        <a:rPr lang="en-US" sz="1000" err="1">
                          <a:effectLst/>
                          <a:latin typeface="Raleway"/>
                        </a:rPr>
                        <a:t>Fiqra</a:t>
                      </a:r>
                      <a:r>
                        <a:rPr lang="en-US" sz="1000">
                          <a:effectLst/>
                          <a:latin typeface="Raleway"/>
                        </a:rPr>
                        <a:t> di Week 33</a:t>
                      </a:r>
                      <a:br>
                        <a:rPr lang="en-US" sz="1000">
                          <a:effectLst/>
                          <a:latin typeface="Raleway"/>
                        </a:rPr>
                      </a:br>
                      <a:r>
                        <a:rPr lang="en-US" sz="1000">
                          <a:effectLst/>
                          <a:latin typeface="Raleway"/>
                        </a:rPr>
                        <a:t>Next Action:</a:t>
                      </a:r>
                      <a:br>
                        <a:rPr lang="en-US" sz="1000">
                          <a:effectLst/>
                          <a:latin typeface="Raleway"/>
                        </a:rPr>
                      </a:br>
                      <a:r>
                        <a:rPr lang="en-US" sz="1000">
                          <a:effectLst/>
                          <a:latin typeface="Raleway"/>
                        </a:rPr>
                        <a:t>Sourcing min 5 CVs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874687847"/>
                  </a:ext>
                </a:extLst>
              </a:tr>
              <a:tr h="885864">
                <a:tc>
                  <a:txBody>
                    <a:bodyPr/>
                    <a:lstStyle/>
                    <a:p>
                      <a:pPr>
                        <a:buNone/>
                      </a:pPr>
                      <a:r>
                        <a:rPr lang="en-US" sz="1000">
                          <a:effectLst/>
                          <a:latin typeface="Raleway"/>
                        </a:rPr>
                        <a:t>08-May-26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Area Sales Supervisor - Tangerang </a:t>
                      </a:r>
                      <a:r>
                        <a:rPr lang="en-US" sz="1000" err="1">
                          <a:effectLst/>
                          <a:latin typeface="Raleway"/>
                        </a:rPr>
                        <a:t>Kabupaten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3A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09-Apr-26</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Omega</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1000">
                          <a:effectLst/>
                          <a:latin typeface="Raleway"/>
                        </a:rPr>
                        <a:t>Reference check &amp; </a:t>
                      </a:r>
                      <a:r>
                        <a:rPr lang="en-US" sz="1000" err="1">
                          <a:effectLst/>
                          <a:latin typeface="Raleway"/>
                        </a:rPr>
                        <a:t>pemberkasan</a:t>
                      </a:r>
                      <a:r>
                        <a:rPr lang="en-US" sz="1000">
                          <a:effectLst/>
                          <a:latin typeface="Raleway"/>
                        </a:rPr>
                        <a:t> </a:t>
                      </a:r>
                      <a:r>
                        <a:rPr lang="en-US" sz="1000" err="1">
                          <a:effectLst/>
                          <a:latin typeface="Raleway"/>
                        </a:rPr>
                        <a:t>a.n</a:t>
                      </a:r>
                      <a:r>
                        <a:rPr lang="en-US" sz="1000">
                          <a:effectLst/>
                          <a:latin typeface="Raleway"/>
                        </a:rPr>
                        <a:t> Arnold di Week 33</a:t>
                      </a:r>
                      <a:br>
                        <a:rPr lang="en-US" sz="1000">
                          <a:effectLst/>
                          <a:latin typeface="Raleway"/>
                        </a:rPr>
                      </a:br>
                      <a:r>
                        <a:rPr lang="en-US" sz="1000">
                          <a:effectLst/>
                          <a:latin typeface="Raleway"/>
                        </a:rPr>
                        <a:t>Next Action: </a:t>
                      </a:r>
                      <a:br>
                        <a:rPr lang="en-US" sz="1000">
                          <a:effectLst/>
                          <a:latin typeface="Raleway"/>
                        </a:rPr>
                      </a:br>
                      <a:r>
                        <a:rPr lang="en-US" sz="1000">
                          <a:effectLst/>
                          <a:latin typeface="Raleway"/>
                        </a:rPr>
                        <a:t>Approval 0ffering </a:t>
                      </a:r>
                      <a:r>
                        <a:rPr lang="en-US" sz="1000" err="1">
                          <a:effectLst/>
                          <a:latin typeface="Raleway"/>
                        </a:rPr>
                        <a:t>a.n</a:t>
                      </a:r>
                      <a:r>
                        <a:rPr lang="en-US" sz="1000">
                          <a:effectLst/>
                          <a:latin typeface="Raleway"/>
                        </a:rPr>
                        <a:t> Arnold di Week 34</a:t>
                      </a:r>
                      <a:br>
                        <a:rPr lang="en-US" sz="1000">
                          <a:effectLst/>
                          <a:latin typeface="Raleway"/>
                        </a:rPr>
                      </a:br>
                      <a:r>
                        <a:rPr lang="en-US" sz="1000">
                          <a:effectLst/>
                          <a:latin typeface="Raleway"/>
                        </a:rPr>
                        <a:t>Sourcing min 5 </a:t>
                      </a:r>
                      <a:r>
                        <a:rPr lang="en-US" sz="1000" err="1">
                          <a:effectLst/>
                          <a:latin typeface="Raleway"/>
                        </a:rPr>
                        <a:t>Cvs</a:t>
                      </a:r>
                      <a:r>
                        <a:rPr lang="en-US" sz="1000">
                          <a:effectLst/>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219258204"/>
                  </a:ext>
                </a:extLst>
              </a:tr>
            </a:tbl>
          </a:graphicData>
        </a:graphic>
      </p:graphicFrame>
      <p:sp>
        <p:nvSpPr>
          <p:cNvPr id="7" name="TextBox 7">
            <a:extLst>
              <a:ext uri="{FF2B5EF4-FFF2-40B4-BE49-F238E27FC236}">
                <a16:creationId xmlns:a16="http://schemas.microsoft.com/office/drawing/2014/main" id="{2BCCC74D-5F85-28D2-4E2F-449940601604}"/>
              </a:ext>
            </a:extLst>
          </p:cNvPr>
          <p:cNvSpPr txBox="1"/>
          <p:nvPr/>
        </p:nvSpPr>
        <p:spPr>
          <a:xfrm>
            <a:off x="89575" y="6408147"/>
            <a:ext cx="10972800" cy="261610"/>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a:latin typeface="Raleway"/>
              </a:rPr>
              <a:t>* </a:t>
            </a:r>
            <a:r>
              <a:rPr lang="en-US" sz="1100" i="1">
                <a:latin typeface="Raleway"/>
              </a:rPr>
              <a:t>Update per </a:t>
            </a:r>
            <a:r>
              <a:rPr lang="en-US" sz="1100" i="1" err="1">
                <a:latin typeface="Raleway"/>
              </a:rPr>
              <a:t>tanggal</a:t>
            </a:r>
            <a:r>
              <a:rPr lang="en-US" sz="1100" i="1">
                <a:latin typeface="Raleway"/>
              </a:rPr>
              <a:t> 14 Agustus 2026</a:t>
            </a:r>
            <a:endParaRPr lang="en-US" sz="1100">
              <a:latin typeface="Raleway"/>
            </a:endParaRPr>
          </a:p>
        </p:txBody>
      </p:sp>
      <p:sp>
        <p:nvSpPr>
          <p:cNvPr id="9" name="Title 1">
            <a:extLst>
              <a:ext uri="{FF2B5EF4-FFF2-40B4-BE49-F238E27FC236}">
                <a16:creationId xmlns:a16="http://schemas.microsoft.com/office/drawing/2014/main" id="{FC7E9940-0017-992D-1DD4-52CC0489B3B3}"/>
              </a:ext>
            </a:extLst>
          </p:cNvPr>
          <p:cNvSpPr txBox="1">
            <a:spLocks/>
          </p:cNvSpPr>
          <p:nvPr/>
        </p:nvSpPr>
        <p:spPr>
          <a:xfrm>
            <a:off x="1567829" y="416783"/>
            <a:ext cx="8958197" cy="4799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2400" b="1">
                <a:latin typeface="Raleway" panose="020B0503030101060003"/>
              </a:rPr>
              <a:t>Recruitment Progress – Level 3</a:t>
            </a:r>
            <a:endParaRPr lang="en-US" sz="2400">
              <a:latin typeface="Raleway" panose="020B0503030101060003"/>
            </a:endParaRPr>
          </a:p>
        </p:txBody>
      </p:sp>
    </p:spTree>
    <p:extLst>
      <p:ext uri="{BB962C8B-B14F-4D97-AF65-F5344CB8AC3E}">
        <p14:creationId xmlns:p14="http://schemas.microsoft.com/office/powerpoint/2010/main" val="733060428"/>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1A6C3A-0AEC-77A3-51CF-8F7791BFC470}"/>
            </a:ext>
          </a:extLst>
        </p:cNvPr>
        <p:cNvGrpSpPr/>
        <p:nvPr/>
      </p:nvGrpSpPr>
      <p:grpSpPr>
        <a:xfrm>
          <a:off x="0" y="0"/>
          <a:ext cx="0" cy="0"/>
          <a:chOff x="0" y="0"/>
          <a:chExt cx="0" cy="0"/>
        </a:xfrm>
      </p:grpSpPr>
      <p:sp>
        <p:nvSpPr>
          <p:cNvPr id="4" name="TextBox 3">
            <a:extLst>
              <a:ext uri="{FF2B5EF4-FFF2-40B4-BE49-F238E27FC236}">
                <a16:creationId xmlns:a16="http://schemas.microsoft.com/office/drawing/2014/main" id="{F2A9E1A0-790B-028D-6011-6E0F44FEAB79}"/>
              </a:ext>
            </a:extLst>
          </p:cNvPr>
          <p:cNvSpPr txBox="1"/>
          <p:nvPr/>
        </p:nvSpPr>
        <p:spPr>
          <a:xfrm>
            <a:off x="2544521" y="2765452"/>
            <a:ext cx="7102957" cy="1327095"/>
          </a:xfrm>
          <a:prstGeom prst="rect">
            <a:avLst/>
          </a:prstGeom>
          <a:noFill/>
        </p:spPr>
        <p:txBody>
          <a:bodyPr wrap="square" lIns="91440" tIns="45720" rIns="91440" bIns="45720" rtlCol="0" anchor="t">
            <a:spAutoFit/>
          </a:bodyPr>
          <a:lstStyle/>
          <a:p>
            <a:pPr algn="ctr">
              <a:lnSpc>
                <a:spcPct val="70000"/>
              </a:lnSpc>
              <a:defRPr/>
            </a:pPr>
            <a:r>
              <a:rPr lang="en-US" sz="4800" b="1" err="1">
                <a:solidFill>
                  <a:srgbClr val="002060"/>
                </a:solidFill>
                <a:latin typeface="Raleway"/>
              </a:rPr>
              <a:t>Rekrutmen</a:t>
            </a:r>
            <a:endParaRPr lang="en-US" sz="4800" b="1">
              <a:solidFill>
                <a:srgbClr val="002060"/>
              </a:solidFill>
              <a:latin typeface="Raleway"/>
            </a:endParaRPr>
          </a:p>
          <a:p>
            <a:pPr algn="ctr">
              <a:lnSpc>
                <a:spcPct val="70000"/>
              </a:lnSpc>
              <a:defRPr/>
            </a:pPr>
            <a:r>
              <a:rPr lang="en-US" sz="4800" b="1">
                <a:solidFill>
                  <a:srgbClr val="002060"/>
                </a:solidFill>
                <a:latin typeface="Raleway"/>
              </a:rPr>
              <a:t>Level 2</a:t>
            </a:r>
          </a:p>
          <a:p>
            <a:pPr algn="ctr">
              <a:lnSpc>
                <a:spcPct val="70000"/>
              </a:lnSpc>
              <a:defRPr/>
            </a:pPr>
            <a:r>
              <a:rPr lang="en-US" b="1">
                <a:latin typeface="Raleway"/>
              </a:rPr>
              <a:t>LEVEL 2A - 2C</a:t>
            </a:r>
          </a:p>
        </p:txBody>
      </p:sp>
    </p:spTree>
    <p:extLst>
      <p:ext uri="{BB962C8B-B14F-4D97-AF65-F5344CB8AC3E}">
        <p14:creationId xmlns:p14="http://schemas.microsoft.com/office/powerpoint/2010/main" val="4197591786"/>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661F96-3E41-6013-F42D-35217F9175AD}"/>
            </a:ext>
          </a:extLst>
        </p:cNvPr>
        <p:cNvGrpSpPr/>
        <p:nvPr/>
      </p:nvGrpSpPr>
      <p:grpSpPr>
        <a:xfrm>
          <a:off x="0" y="0"/>
          <a:ext cx="0" cy="0"/>
          <a:chOff x="0" y="0"/>
          <a:chExt cx="0" cy="0"/>
        </a:xfrm>
      </p:grpSpPr>
      <p:sp>
        <p:nvSpPr>
          <p:cNvPr id="2" name="Text 0">
            <a:extLst>
              <a:ext uri="{FF2B5EF4-FFF2-40B4-BE49-F238E27FC236}">
                <a16:creationId xmlns:a16="http://schemas.microsoft.com/office/drawing/2014/main" id="{9175C789-F4BB-981B-9819-A6A37F5E271C}"/>
              </a:ext>
            </a:extLst>
          </p:cNvPr>
          <p:cNvSpPr/>
          <p:nvPr/>
        </p:nvSpPr>
        <p:spPr>
          <a:xfrm>
            <a:off x="365760" y="228600"/>
            <a:ext cx="6858000" cy="502920"/>
          </a:xfrm>
          <a:prstGeom prst="rect">
            <a:avLst/>
          </a:prstGeom>
          <a:noFill/>
          <a:ln/>
        </p:spPr>
        <p:txBody>
          <a:bodyPr wrap="square" lIns="0" tIns="0" rIns="0" bIns="0" rtlCol="0" anchor="ctr"/>
          <a:lstStyle/>
          <a:p>
            <a:pPr marL="0" indent="0">
              <a:buNone/>
            </a:pPr>
            <a:r>
              <a:rPr lang="en-US" sz="2800" b="1">
                <a:solidFill>
                  <a:srgbClr val="1A1A1A"/>
                </a:solidFill>
                <a:latin typeface="Raleway"/>
                <a:ea typeface="Calibri" pitchFamily="34" charset="-122"/>
                <a:cs typeface="Calibri" pitchFamily="34" charset="-120"/>
              </a:rPr>
              <a:t>Executive Summary — Level 2</a:t>
            </a:r>
            <a:endParaRPr lang="en-US" sz="2800">
              <a:latin typeface="Raleway"/>
            </a:endParaRPr>
          </a:p>
        </p:txBody>
      </p:sp>
      <p:sp>
        <p:nvSpPr>
          <p:cNvPr id="4" name="Text 2">
            <a:extLst>
              <a:ext uri="{FF2B5EF4-FFF2-40B4-BE49-F238E27FC236}">
                <a16:creationId xmlns:a16="http://schemas.microsoft.com/office/drawing/2014/main" id="{40BA04A8-A6AC-6712-8B29-06EA7F23A1FC}"/>
              </a:ext>
            </a:extLst>
          </p:cNvPr>
          <p:cNvSpPr/>
          <p:nvPr/>
        </p:nvSpPr>
        <p:spPr>
          <a:xfrm>
            <a:off x="7909560" y="219456"/>
            <a:ext cx="3200400" cy="530352"/>
          </a:xfrm>
          <a:prstGeom prst="rect">
            <a:avLst/>
          </a:prstGeom>
          <a:noFill/>
          <a:ln/>
        </p:spPr>
        <p:txBody>
          <a:bodyPr wrap="square" lIns="0" tIns="0" rIns="0" bIns="0" rtlCol="0" anchor="ctr"/>
          <a:lstStyle/>
          <a:p>
            <a:pPr marL="0" indent="0" algn="ctr">
              <a:buNone/>
            </a:pPr>
            <a:endParaRPr lang="en-US" sz="1200" b="1">
              <a:solidFill>
                <a:srgbClr val="FFFFFF"/>
              </a:solidFill>
              <a:latin typeface="Raleway"/>
              <a:ea typeface="Calibri"/>
              <a:cs typeface="Calibri"/>
            </a:endParaRPr>
          </a:p>
        </p:txBody>
      </p:sp>
      <p:sp>
        <p:nvSpPr>
          <p:cNvPr id="7" name="Shape 5">
            <a:extLst>
              <a:ext uri="{FF2B5EF4-FFF2-40B4-BE49-F238E27FC236}">
                <a16:creationId xmlns:a16="http://schemas.microsoft.com/office/drawing/2014/main" id="{A7DF4D73-BC74-1747-430A-82AC7D3A6D0A}"/>
              </a:ext>
            </a:extLst>
          </p:cNvPr>
          <p:cNvSpPr/>
          <p:nvPr/>
        </p:nvSpPr>
        <p:spPr>
          <a:xfrm>
            <a:off x="365760" y="1188720"/>
            <a:ext cx="1767840" cy="960120"/>
          </a:xfrm>
          <a:prstGeom prst="rect">
            <a:avLst/>
          </a:prstGeom>
          <a:solidFill>
            <a:srgbClr val="0070C0"/>
          </a:solidFill>
          <a:ln w="12700">
            <a:solidFill>
              <a:srgbClr val="1F6FB2"/>
            </a:solidFill>
            <a:prstDash val="solid"/>
          </a:ln>
        </p:spPr>
        <p:txBody>
          <a:bodyPr/>
          <a:lstStyle/>
          <a:p>
            <a:endParaRPr lang="en-US">
              <a:latin typeface="Raleway"/>
            </a:endParaRPr>
          </a:p>
        </p:txBody>
      </p:sp>
      <p:sp>
        <p:nvSpPr>
          <p:cNvPr id="8" name="fptklvl3">
            <a:extLst>
              <a:ext uri="{FF2B5EF4-FFF2-40B4-BE49-F238E27FC236}">
                <a16:creationId xmlns:a16="http://schemas.microsoft.com/office/drawing/2014/main" id="{58362A3B-43FF-8882-D6AD-AC4C38A1D717}"/>
              </a:ext>
            </a:extLst>
          </p:cNvPr>
          <p:cNvSpPr/>
          <p:nvPr/>
        </p:nvSpPr>
        <p:spPr>
          <a:xfrm>
            <a:off x="365760" y="1305359"/>
            <a:ext cx="1767840" cy="461665"/>
          </a:xfrm>
          <a:prstGeom prst="rect">
            <a:avLst/>
          </a:prstGeom>
          <a:noFill/>
          <a:ln/>
        </p:spPr>
        <p:txBody>
          <a:bodyPr wrap="square" lIns="0" tIns="0" rIns="0" bIns="0" rtlCol="0" anchor="ctr">
            <a:spAutoFit/>
          </a:bodyPr>
          <a:lstStyle/>
          <a:p>
            <a:pPr marL="0" indent="0" algn="ctr">
              <a:buNone/>
            </a:pPr>
            <a:r>
              <a:rPr lang="en-US" sz="3000" b="1">
                <a:solidFill>
                  <a:srgbClr val="FFFFFF"/>
                </a:solidFill>
                <a:latin typeface="Raleway"/>
                <a:ea typeface="Calibri"/>
                <a:cs typeface="Calibri"/>
              </a:rPr>
              <a:t>1386</a:t>
            </a:r>
            <a:endParaRPr lang="en-US" sz="3000">
              <a:latin typeface="Raleway"/>
            </a:endParaRPr>
          </a:p>
        </p:txBody>
      </p:sp>
      <p:sp>
        <p:nvSpPr>
          <p:cNvPr id="9" name="Text 7">
            <a:extLst>
              <a:ext uri="{FF2B5EF4-FFF2-40B4-BE49-F238E27FC236}">
                <a16:creationId xmlns:a16="http://schemas.microsoft.com/office/drawing/2014/main" id="{C9AF82E7-EAA7-E313-D22A-6875C72DB074}"/>
              </a:ext>
            </a:extLst>
          </p:cNvPr>
          <p:cNvSpPr/>
          <p:nvPr/>
        </p:nvSpPr>
        <p:spPr>
          <a:xfrm>
            <a:off x="365760"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FPTK</a:t>
            </a:r>
            <a:endParaRPr lang="en-US" sz="1100">
              <a:latin typeface="Raleway"/>
            </a:endParaRPr>
          </a:p>
        </p:txBody>
      </p:sp>
      <p:sp>
        <p:nvSpPr>
          <p:cNvPr id="10" name="Shape 8">
            <a:extLst>
              <a:ext uri="{FF2B5EF4-FFF2-40B4-BE49-F238E27FC236}">
                <a16:creationId xmlns:a16="http://schemas.microsoft.com/office/drawing/2014/main" id="{358257FF-C0D9-6857-7D39-BFAA86AD4925}"/>
              </a:ext>
            </a:extLst>
          </p:cNvPr>
          <p:cNvSpPr/>
          <p:nvPr/>
        </p:nvSpPr>
        <p:spPr>
          <a:xfrm>
            <a:off x="2298192" y="1188720"/>
            <a:ext cx="1767840" cy="960120"/>
          </a:xfrm>
          <a:prstGeom prst="rect">
            <a:avLst/>
          </a:prstGeom>
          <a:solidFill>
            <a:srgbClr val="0070C0"/>
          </a:solidFill>
          <a:ln w="12700">
            <a:solidFill>
              <a:srgbClr val="1F6FB2"/>
            </a:solidFill>
            <a:prstDash val="solid"/>
          </a:ln>
        </p:spPr>
        <p:txBody>
          <a:bodyPr/>
          <a:lstStyle/>
          <a:p>
            <a:endParaRPr lang="en-US">
              <a:latin typeface="Raleway"/>
            </a:endParaRPr>
          </a:p>
        </p:txBody>
      </p:sp>
      <p:sp>
        <p:nvSpPr>
          <p:cNvPr id="11" name="openlvl3">
            <a:extLst>
              <a:ext uri="{FF2B5EF4-FFF2-40B4-BE49-F238E27FC236}">
                <a16:creationId xmlns:a16="http://schemas.microsoft.com/office/drawing/2014/main" id="{ABB99B6F-16B7-CD6E-4382-C97D1F4616F7}"/>
              </a:ext>
            </a:extLst>
          </p:cNvPr>
          <p:cNvSpPr/>
          <p:nvPr/>
        </p:nvSpPr>
        <p:spPr>
          <a:xfrm>
            <a:off x="2298192" y="1305359"/>
            <a:ext cx="1767840" cy="461665"/>
          </a:xfrm>
          <a:prstGeom prst="rect">
            <a:avLst/>
          </a:prstGeom>
          <a:noFill/>
          <a:ln/>
        </p:spPr>
        <p:txBody>
          <a:bodyPr wrap="square" lIns="0" tIns="0" rIns="0" bIns="0" rtlCol="0" anchor="ctr">
            <a:spAutoFit/>
          </a:bodyPr>
          <a:lstStyle/>
          <a:p>
            <a:pPr marL="0" indent="0" algn="ctr">
              <a:buNone/>
            </a:pPr>
            <a:r>
              <a:rPr lang="en-US" sz="3000" b="1" dirty="0">
                <a:solidFill>
                  <a:srgbClr val="FFFFFF"/>
                </a:solidFill>
                <a:latin typeface="Raleway"/>
                <a:ea typeface="Calibri"/>
                <a:cs typeface="Calibri"/>
              </a:rPr>
              <a:t>351</a:t>
            </a:r>
          </a:p>
        </p:txBody>
      </p:sp>
      <p:sp>
        <p:nvSpPr>
          <p:cNvPr id="12" name="Text 10">
            <a:extLst>
              <a:ext uri="{FF2B5EF4-FFF2-40B4-BE49-F238E27FC236}">
                <a16:creationId xmlns:a16="http://schemas.microsoft.com/office/drawing/2014/main" id="{20CD59BC-B7D1-E275-93B7-C2997822136D}"/>
              </a:ext>
            </a:extLst>
          </p:cNvPr>
          <p:cNvSpPr/>
          <p:nvPr/>
        </p:nvSpPr>
        <p:spPr>
          <a:xfrm>
            <a:off x="2298192"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OPEN</a:t>
            </a:r>
            <a:endParaRPr lang="en-US" sz="1100">
              <a:latin typeface="Raleway"/>
            </a:endParaRPr>
          </a:p>
        </p:txBody>
      </p:sp>
      <p:sp>
        <p:nvSpPr>
          <p:cNvPr id="13" name="Shape 11">
            <a:extLst>
              <a:ext uri="{FF2B5EF4-FFF2-40B4-BE49-F238E27FC236}">
                <a16:creationId xmlns:a16="http://schemas.microsoft.com/office/drawing/2014/main" id="{57A5A293-8C71-9898-2055-9E249B39529F}"/>
              </a:ext>
            </a:extLst>
          </p:cNvPr>
          <p:cNvSpPr/>
          <p:nvPr/>
        </p:nvSpPr>
        <p:spPr>
          <a:xfrm>
            <a:off x="4230624" y="1188720"/>
            <a:ext cx="1767840" cy="960120"/>
          </a:xfrm>
          <a:prstGeom prst="rect">
            <a:avLst/>
          </a:prstGeom>
          <a:solidFill>
            <a:srgbClr val="0070C0"/>
          </a:solidFill>
          <a:ln w="12700">
            <a:solidFill>
              <a:srgbClr val="1F6FB2"/>
            </a:solidFill>
            <a:prstDash val="solid"/>
          </a:ln>
        </p:spPr>
        <p:txBody>
          <a:bodyPr/>
          <a:lstStyle/>
          <a:p>
            <a:endParaRPr lang="en-US">
              <a:latin typeface="Raleway"/>
            </a:endParaRPr>
          </a:p>
        </p:txBody>
      </p:sp>
      <p:sp>
        <p:nvSpPr>
          <p:cNvPr id="14" name="closedlvl3">
            <a:extLst>
              <a:ext uri="{FF2B5EF4-FFF2-40B4-BE49-F238E27FC236}">
                <a16:creationId xmlns:a16="http://schemas.microsoft.com/office/drawing/2014/main" id="{9442FD3E-C060-CBBF-D79E-6D7A6B3A6DD9}"/>
              </a:ext>
            </a:extLst>
          </p:cNvPr>
          <p:cNvSpPr/>
          <p:nvPr/>
        </p:nvSpPr>
        <p:spPr>
          <a:xfrm>
            <a:off x="4230624" y="1305359"/>
            <a:ext cx="1767840" cy="461665"/>
          </a:xfrm>
          <a:prstGeom prst="rect">
            <a:avLst/>
          </a:prstGeom>
          <a:noFill/>
          <a:ln/>
        </p:spPr>
        <p:txBody>
          <a:bodyPr wrap="square" lIns="0" tIns="0" rIns="0" bIns="0" rtlCol="0" anchor="ctr">
            <a:spAutoFit/>
          </a:bodyPr>
          <a:lstStyle/>
          <a:p>
            <a:pPr marL="0" indent="0" algn="ctr">
              <a:buNone/>
            </a:pPr>
            <a:r>
              <a:rPr lang="en-US" sz="3000" b="1">
                <a:solidFill>
                  <a:srgbClr val="FFFFFF"/>
                </a:solidFill>
                <a:latin typeface="Raleway"/>
                <a:ea typeface="Calibri"/>
                <a:cs typeface="Calibri"/>
              </a:rPr>
              <a:t>807</a:t>
            </a:r>
          </a:p>
        </p:txBody>
      </p:sp>
      <p:sp>
        <p:nvSpPr>
          <p:cNvPr id="15" name="Text 13">
            <a:extLst>
              <a:ext uri="{FF2B5EF4-FFF2-40B4-BE49-F238E27FC236}">
                <a16:creationId xmlns:a16="http://schemas.microsoft.com/office/drawing/2014/main" id="{22E2638B-8F2A-E542-738B-7B0EEDA53A0F}"/>
              </a:ext>
            </a:extLst>
          </p:cNvPr>
          <p:cNvSpPr/>
          <p:nvPr/>
        </p:nvSpPr>
        <p:spPr>
          <a:xfrm>
            <a:off x="4230624"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CLOSED</a:t>
            </a:r>
            <a:endParaRPr lang="en-US" sz="1100">
              <a:latin typeface="Raleway"/>
            </a:endParaRPr>
          </a:p>
        </p:txBody>
      </p:sp>
      <p:sp>
        <p:nvSpPr>
          <p:cNvPr id="16" name="Shape 14">
            <a:extLst>
              <a:ext uri="{FF2B5EF4-FFF2-40B4-BE49-F238E27FC236}">
                <a16:creationId xmlns:a16="http://schemas.microsoft.com/office/drawing/2014/main" id="{59E2BBF0-38F7-6C67-C9A9-115D5FDACCA5}"/>
              </a:ext>
            </a:extLst>
          </p:cNvPr>
          <p:cNvSpPr/>
          <p:nvPr/>
        </p:nvSpPr>
        <p:spPr>
          <a:xfrm>
            <a:off x="6163056" y="1188720"/>
            <a:ext cx="1767840" cy="960120"/>
          </a:xfrm>
          <a:prstGeom prst="rect">
            <a:avLst/>
          </a:prstGeom>
          <a:solidFill>
            <a:srgbClr val="0070C0"/>
          </a:solidFill>
          <a:ln w="12700">
            <a:solidFill>
              <a:srgbClr val="1F6FB2"/>
            </a:solidFill>
            <a:prstDash val="solid"/>
          </a:ln>
        </p:spPr>
        <p:txBody>
          <a:bodyPr/>
          <a:lstStyle/>
          <a:p>
            <a:endParaRPr lang="en-US">
              <a:latin typeface="Raleway"/>
            </a:endParaRPr>
          </a:p>
        </p:txBody>
      </p:sp>
      <p:sp>
        <p:nvSpPr>
          <p:cNvPr id="17" name="cancellvl3">
            <a:extLst>
              <a:ext uri="{FF2B5EF4-FFF2-40B4-BE49-F238E27FC236}">
                <a16:creationId xmlns:a16="http://schemas.microsoft.com/office/drawing/2014/main" id="{901F8074-BBEA-50F5-FE8F-10E778393340}"/>
              </a:ext>
            </a:extLst>
          </p:cNvPr>
          <p:cNvSpPr/>
          <p:nvPr/>
        </p:nvSpPr>
        <p:spPr>
          <a:xfrm>
            <a:off x="6163056" y="1305359"/>
            <a:ext cx="1767840" cy="461665"/>
          </a:xfrm>
          <a:prstGeom prst="rect">
            <a:avLst/>
          </a:prstGeom>
          <a:noFill/>
          <a:ln/>
        </p:spPr>
        <p:txBody>
          <a:bodyPr wrap="square" lIns="0" tIns="0" rIns="0" bIns="0" rtlCol="0" anchor="ctr">
            <a:spAutoFit/>
          </a:bodyPr>
          <a:lstStyle/>
          <a:p>
            <a:pPr marL="0" indent="0" algn="ctr">
              <a:buNone/>
            </a:pPr>
            <a:r>
              <a:rPr lang="en-US" sz="3000" b="1" dirty="0">
                <a:solidFill>
                  <a:srgbClr val="FFFFFF"/>
                </a:solidFill>
                <a:latin typeface="Raleway"/>
                <a:ea typeface="Calibri"/>
                <a:cs typeface="Calibri"/>
              </a:rPr>
              <a:t>228</a:t>
            </a:r>
          </a:p>
        </p:txBody>
      </p:sp>
      <p:sp>
        <p:nvSpPr>
          <p:cNvPr id="18" name="Text 16">
            <a:extLst>
              <a:ext uri="{FF2B5EF4-FFF2-40B4-BE49-F238E27FC236}">
                <a16:creationId xmlns:a16="http://schemas.microsoft.com/office/drawing/2014/main" id="{676E2BB9-C048-FB4A-55DB-CB988A02D666}"/>
              </a:ext>
            </a:extLst>
          </p:cNvPr>
          <p:cNvSpPr/>
          <p:nvPr/>
        </p:nvSpPr>
        <p:spPr>
          <a:xfrm>
            <a:off x="6163056"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CANCEL</a:t>
            </a:r>
            <a:endParaRPr lang="en-US" sz="1100">
              <a:latin typeface="Raleway"/>
            </a:endParaRPr>
          </a:p>
        </p:txBody>
      </p:sp>
      <p:sp>
        <p:nvSpPr>
          <p:cNvPr id="19" name="Shape 17">
            <a:extLst>
              <a:ext uri="{FF2B5EF4-FFF2-40B4-BE49-F238E27FC236}">
                <a16:creationId xmlns:a16="http://schemas.microsoft.com/office/drawing/2014/main" id="{1891A6C6-CA34-00EE-15C1-ADD7E3571EC3}"/>
              </a:ext>
            </a:extLst>
          </p:cNvPr>
          <p:cNvSpPr/>
          <p:nvPr/>
        </p:nvSpPr>
        <p:spPr>
          <a:xfrm>
            <a:off x="8095488" y="1188720"/>
            <a:ext cx="1767840" cy="960120"/>
          </a:xfrm>
          <a:prstGeom prst="rect">
            <a:avLst/>
          </a:prstGeom>
          <a:solidFill>
            <a:srgbClr val="0070C0"/>
          </a:solidFill>
          <a:ln w="12700">
            <a:solidFill>
              <a:srgbClr val="1F6FB2"/>
            </a:solidFill>
            <a:prstDash val="solid"/>
          </a:ln>
        </p:spPr>
        <p:txBody>
          <a:bodyPr/>
          <a:lstStyle/>
          <a:p>
            <a:endParaRPr lang="en-US">
              <a:latin typeface="Raleway"/>
            </a:endParaRPr>
          </a:p>
        </p:txBody>
      </p:sp>
      <p:sp>
        <p:nvSpPr>
          <p:cNvPr id="20" name="fillratelvl3">
            <a:extLst>
              <a:ext uri="{FF2B5EF4-FFF2-40B4-BE49-F238E27FC236}">
                <a16:creationId xmlns:a16="http://schemas.microsoft.com/office/drawing/2014/main" id="{C304F942-DC2D-67A2-19CF-9002553F03C9}"/>
              </a:ext>
            </a:extLst>
          </p:cNvPr>
          <p:cNvSpPr/>
          <p:nvPr/>
        </p:nvSpPr>
        <p:spPr>
          <a:xfrm>
            <a:off x="8095488" y="1327661"/>
            <a:ext cx="1767840" cy="461665"/>
          </a:xfrm>
          <a:prstGeom prst="rect">
            <a:avLst/>
          </a:prstGeom>
          <a:noFill/>
          <a:ln/>
        </p:spPr>
        <p:txBody>
          <a:bodyPr wrap="square" lIns="0" tIns="0" rIns="0" bIns="0" rtlCol="0" anchor="ctr">
            <a:spAutoFit/>
          </a:bodyPr>
          <a:lstStyle/>
          <a:p>
            <a:pPr marL="0" indent="0" algn="ctr">
              <a:buNone/>
            </a:pPr>
            <a:r>
              <a:rPr lang="en-US" sz="3000" b="1">
                <a:solidFill>
                  <a:schemeClr val="bg1"/>
                </a:solidFill>
                <a:latin typeface="Raleway"/>
                <a:ea typeface="Calibri"/>
                <a:cs typeface="Calibri"/>
              </a:rPr>
              <a:t>30.31%</a:t>
            </a:r>
            <a:endParaRPr lang="en-US" sz="3000">
              <a:solidFill>
                <a:schemeClr val="bg1"/>
              </a:solidFill>
              <a:latin typeface="Raleway"/>
              <a:ea typeface="Calibri"/>
              <a:cs typeface="Calibri"/>
            </a:endParaRPr>
          </a:p>
        </p:txBody>
      </p:sp>
      <p:sp>
        <p:nvSpPr>
          <p:cNvPr id="21" name="Text 19">
            <a:extLst>
              <a:ext uri="{FF2B5EF4-FFF2-40B4-BE49-F238E27FC236}">
                <a16:creationId xmlns:a16="http://schemas.microsoft.com/office/drawing/2014/main" id="{7B08C5C7-AC17-2C5C-64DD-BD59D507B2D5}"/>
              </a:ext>
            </a:extLst>
          </p:cNvPr>
          <p:cNvSpPr/>
          <p:nvPr/>
        </p:nvSpPr>
        <p:spPr>
          <a:xfrm>
            <a:off x="8095488"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FILL RATE</a:t>
            </a:r>
            <a:endParaRPr lang="en-US" sz="1100">
              <a:latin typeface="Raleway"/>
            </a:endParaRPr>
          </a:p>
        </p:txBody>
      </p:sp>
      <p:sp>
        <p:nvSpPr>
          <p:cNvPr id="22" name="Shape 20">
            <a:extLst>
              <a:ext uri="{FF2B5EF4-FFF2-40B4-BE49-F238E27FC236}">
                <a16:creationId xmlns:a16="http://schemas.microsoft.com/office/drawing/2014/main" id="{94BCAF34-F299-A943-89E1-6B69F214C483}"/>
              </a:ext>
            </a:extLst>
          </p:cNvPr>
          <p:cNvSpPr/>
          <p:nvPr/>
        </p:nvSpPr>
        <p:spPr>
          <a:xfrm>
            <a:off x="10027920" y="1188720"/>
            <a:ext cx="1767840" cy="960120"/>
          </a:xfrm>
          <a:prstGeom prst="rect">
            <a:avLst/>
          </a:prstGeom>
          <a:solidFill>
            <a:srgbClr val="0070C0"/>
          </a:solidFill>
          <a:ln w="12700">
            <a:solidFill>
              <a:srgbClr val="1F6FB2"/>
            </a:solidFill>
            <a:prstDash val="solid"/>
          </a:ln>
        </p:spPr>
        <p:txBody>
          <a:bodyPr/>
          <a:lstStyle/>
          <a:p>
            <a:endParaRPr lang="en-US">
              <a:latin typeface="Raleway"/>
            </a:endParaRPr>
          </a:p>
        </p:txBody>
      </p:sp>
      <p:sp>
        <p:nvSpPr>
          <p:cNvPr id="24" name="Text 22">
            <a:extLst>
              <a:ext uri="{FF2B5EF4-FFF2-40B4-BE49-F238E27FC236}">
                <a16:creationId xmlns:a16="http://schemas.microsoft.com/office/drawing/2014/main" id="{024B7340-2E91-EE75-9615-43DD67A6455B}"/>
              </a:ext>
            </a:extLst>
          </p:cNvPr>
          <p:cNvSpPr/>
          <p:nvPr/>
        </p:nvSpPr>
        <p:spPr>
          <a:xfrm>
            <a:off x="10027920"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 SESUAI SLA</a:t>
            </a:r>
            <a:endParaRPr lang="en-US" sz="1100">
              <a:latin typeface="Raleway"/>
            </a:endParaRPr>
          </a:p>
        </p:txBody>
      </p:sp>
      <p:sp>
        <p:nvSpPr>
          <p:cNvPr id="35" name="TextBox 34">
            <a:extLst>
              <a:ext uri="{FF2B5EF4-FFF2-40B4-BE49-F238E27FC236}">
                <a16:creationId xmlns:a16="http://schemas.microsoft.com/office/drawing/2014/main" id="{93D69A11-4E3F-A716-E6FE-76A6DFC9F0F7}"/>
              </a:ext>
            </a:extLst>
          </p:cNvPr>
          <p:cNvSpPr txBox="1"/>
          <p:nvPr/>
        </p:nvSpPr>
        <p:spPr>
          <a:xfrm>
            <a:off x="534194" y="3089797"/>
            <a:ext cx="1865548" cy="707886"/>
          </a:xfrm>
          <a:prstGeom prst="rect">
            <a:avLst/>
          </a:prstGeom>
          <a:noFill/>
        </p:spPr>
        <p:txBody>
          <a:bodyPr wrap="square" lIns="91440" tIns="45720" rIns="91440" bIns="45720" rtlCol="0" anchor="t">
            <a:spAutoFit/>
          </a:bodyPr>
          <a:lstStyle/>
          <a:p>
            <a:r>
              <a:rPr lang="en-US" sz="800" b="1">
                <a:solidFill>
                  <a:srgbClr val="3333FF"/>
                </a:solidFill>
                <a:latin typeface="Raleway"/>
              </a:rPr>
              <a:t>Note:</a:t>
            </a:r>
          </a:p>
          <a:p>
            <a:r>
              <a:rPr lang="en-US" sz="800" err="1">
                <a:solidFill>
                  <a:srgbClr val="3333FF"/>
                </a:solidFill>
                <a:latin typeface="Raleway"/>
              </a:rPr>
              <a:t>Sebanyak</a:t>
            </a:r>
            <a:r>
              <a:rPr lang="en-US" sz="800">
                <a:solidFill>
                  <a:srgbClr val="3333FF"/>
                </a:solidFill>
                <a:latin typeface="Raleway"/>
              </a:rPr>
              <a:t> </a:t>
            </a:r>
            <a:r>
              <a:rPr lang="en-US" sz="800" b="1">
                <a:solidFill>
                  <a:srgbClr val="3333FF"/>
                </a:solidFill>
                <a:latin typeface="Raleway"/>
              </a:rPr>
              <a:t>63</a:t>
            </a:r>
          </a:p>
          <a:p>
            <a:r>
              <a:rPr lang="en-US" sz="800" b="1">
                <a:solidFill>
                  <a:srgbClr val="3333FF"/>
                </a:solidFill>
                <a:latin typeface="Raleway"/>
              </a:rPr>
              <a:t> FPTK</a:t>
            </a:r>
            <a:r>
              <a:rPr lang="en-US" sz="800">
                <a:solidFill>
                  <a:srgbClr val="3333FF"/>
                </a:solidFill>
                <a:latin typeface="Raleway"/>
              </a:rPr>
              <a:t> </a:t>
            </a:r>
            <a:r>
              <a:rPr lang="en-US" sz="800" err="1">
                <a:solidFill>
                  <a:srgbClr val="3333FF"/>
                </a:solidFill>
                <a:latin typeface="Raleway"/>
              </a:rPr>
              <a:t>adalah</a:t>
            </a:r>
            <a:r>
              <a:rPr lang="en-US" sz="800">
                <a:solidFill>
                  <a:srgbClr val="3333FF"/>
                </a:solidFill>
                <a:latin typeface="Raleway"/>
              </a:rPr>
              <a:t> </a:t>
            </a:r>
            <a:r>
              <a:rPr lang="en-US" sz="800" b="1" err="1">
                <a:solidFill>
                  <a:srgbClr val="3333FF"/>
                </a:solidFill>
                <a:latin typeface="Raleway"/>
              </a:rPr>
              <a:t>oustanding</a:t>
            </a:r>
            <a:r>
              <a:rPr lang="en-US" sz="800" b="1">
                <a:solidFill>
                  <a:srgbClr val="3333FF"/>
                </a:solidFill>
                <a:latin typeface="Raleway"/>
              </a:rPr>
              <a:t> 2025</a:t>
            </a:r>
            <a:r>
              <a:rPr lang="en-US" sz="800">
                <a:solidFill>
                  <a:srgbClr val="3333FF"/>
                </a:solidFill>
                <a:latin typeface="Raleway"/>
              </a:rPr>
              <a:t> (</a:t>
            </a:r>
            <a:r>
              <a:rPr lang="en-US" sz="800" err="1">
                <a:solidFill>
                  <a:srgbClr val="3333FF"/>
                </a:solidFill>
                <a:latin typeface="Raleway"/>
              </a:rPr>
              <a:t>sudah</a:t>
            </a:r>
            <a:r>
              <a:rPr lang="en-US" sz="800">
                <a:solidFill>
                  <a:srgbClr val="3333FF"/>
                </a:solidFill>
                <a:latin typeface="Raleway"/>
              </a:rPr>
              <a:t> di exclude </a:t>
            </a:r>
            <a:r>
              <a:rPr lang="en-US" sz="800" err="1">
                <a:solidFill>
                  <a:srgbClr val="3333FF"/>
                </a:solidFill>
                <a:latin typeface="Raleway"/>
              </a:rPr>
              <a:t>dari</a:t>
            </a:r>
            <a:r>
              <a:rPr lang="en-US" sz="800">
                <a:solidFill>
                  <a:srgbClr val="3333FF"/>
                </a:solidFill>
                <a:latin typeface="Raleway"/>
              </a:rPr>
              <a:t> </a:t>
            </a:r>
            <a:r>
              <a:rPr lang="en-US" sz="800" err="1">
                <a:solidFill>
                  <a:srgbClr val="3333FF"/>
                </a:solidFill>
                <a:latin typeface="Raleway"/>
              </a:rPr>
              <a:t>perhitungan</a:t>
            </a:r>
            <a:r>
              <a:rPr lang="en-US" sz="800">
                <a:solidFill>
                  <a:srgbClr val="3333FF"/>
                </a:solidFill>
                <a:latin typeface="Raleway"/>
              </a:rPr>
              <a:t> average)</a:t>
            </a:r>
            <a:endParaRPr lang="en-US" sz="800">
              <a:solidFill>
                <a:srgbClr val="3333FF"/>
              </a:solidFill>
              <a:ea typeface="Calibri"/>
              <a:cs typeface="Calibri"/>
            </a:endParaRPr>
          </a:p>
        </p:txBody>
      </p:sp>
      <p:sp>
        <p:nvSpPr>
          <p:cNvPr id="30" name="TextBox 29">
            <a:extLst>
              <a:ext uri="{FF2B5EF4-FFF2-40B4-BE49-F238E27FC236}">
                <a16:creationId xmlns:a16="http://schemas.microsoft.com/office/drawing/2014/main" id="{DC80633C-9FDC-CB35-B7A1-3C0D714D0D4B}"/>
              </a:ext>
            </a:extLst>
          </p:cNvPr>
          <p:cNvSpPr txBox="1"/>
          <p:nvPr/>
        </p:nvSpPr>
        <p:spPr>
          <a:xfrm>
            <a:off x="367281" y="2306026"/>
            <a:ext cx="3084499" cy="600164"/>
          </a:xfrm>
          <a:prstGeom prst="rect">
            <a:avLst/>
          </a:prstGeom>
          <a:noFill/>
        </p:spPr>
        <p:txBody>
          <a:bodyPr wrap="none" lIns="91440" tIns="45720" rIns="91440" bIns="45720" rtlCol="0" anchor="t">
            <a:spAutoFit/>
          </a:bodyPr>
          <a:lstStyle/>
          <a:p>
            <a:r>
              <a:rPr lang="en-US" sz="1100" b="1">
                <a:latin typeface="Raleway"/>
              </a:rPr>
              <a:t>Q1</a:t>
            </a:r>
          </a:p>
          <a:p>
            <a:r>
              <a:rPr lang="en-US" sz="1100">
                <a:latin typeface="Raleway"/>
              </a:rPr>
              <a:t>Average </a:t>
            </a:r>
            <a:r>
              <a:rPr lang="en-US" sz="1100" b="1">
                <a:latin typeface="Raleway"/>
              </a:rPr>
              <a:t>FPTK </a:t>
            </a:r>
            <a:r>
              <a:rPr lang="en-US" sz="1100" b="1" err="1">
                <a:latin typeface="Raleway"/>
              </a:rPr>
              <a:t>Diterima</a:t>
            </a:r>
            <a:r>
              <a:rPr lang="en-US" sz="1100">
                <a:latin typeface="Raleway"/>
              </a:rPr>
              <a:t> =</a:t>
            </a:r>
            <a:r>
              <a:rPr lang="en-US" sz="1100" b="1">
                <a:latin typeface="Raleway"/>
              </a:rPr>
              <a:t>            </a:t>
            </a:r>
            <a:r>
              <a:rPr lang="en-US" sz="1100">
                <a:latin typeface="Raleway"/>
              </a:rPr>
              <a:t>FPTK/ week</a:t>
            </a:r>
          </a:p>
          <a:p>
            <a:r>
              <a:rPr lang="en-US" sz="1100">
                <a:latin typeface="Raleway"/>
              </a:rPr>
              <a:t>Average </a:t>
            </a:r>
            <a:r>
              <a:rPr lang="en-US" sz="1100" b="1">
                <a:latin typeface="Raleway"/>
              </a:rPr>
              <a:t>FPTK Closed</a:t>
            </a:r>
            <a:r>
              <a:rPr lang="en-US" sz="1100">
                <a:latin typeface="Raleway"/>
              </a:rPr>
              <a:t> =           FPTK/ week</a:t>
            </a:r>
          </a:p>
        </p:txBody>
      </p:sp>
      <p:sp>
        <p:nvSpPr>
          <p:cNvPr id="32" name="TextBox 31">
            <a:extLst>
              <a:ext uri="{FF2B5EF4-FFF2-40B4-BE49-F238E27FC236}">
                <a16:creationId xmlns:a16="http://schemas.microsoft.com/office/drawing/2014/main" id="{5DED9084-D0C1-9570-97EF-AED5FF51D0C7}"/>
              </a:ext>
            </a:extLst>
          </p:cNvPr>
          <p:cNvSpPr txBox="1"/>
          <p:nvPr/>
        </p:nvSpPr>
        <p:spPr>
          <a:xfrm>
            <a:off x="8916197" y="2306027"/>
            <a:ext cx="3018775" cy="600164"/>
          </a:xfrm>
          <a:prstGeom prst="rect">
            <a:avLst/>
          </a:prstGeom>
          <a:noFill/>
        </p:spPr>
        <p:txBody>
          <a:bodyPr wrap="none" lIns="91440" tIns="45720" rIns="91440" bIns="45720" rtlCol="0" anchor="t">
            <a:spAutoFit/>
          </a:bodyPr>
          <a:lstStyle/>
          <a:p>
            <a:r>
              <a:rPr lang="en-US" sz="1100" b="1">
                <a:latin typeface="Raleway"/>
              </a:rPr>
              <a:t>Q2</a:t>
            </a:r>
          </a:p>
          <a:p>
            <a:r>
              <a:rPr lang="en-US" sz="1100">
                <a:latin typeface="Raleway"/>
              </a:rPr>
              <a:t>Average </a:t>
            </a:r>
            <a:r>
              <a:rPr lang="en-US" sz="1100" b="1">
                <a:latin typeface="Raleway"/>
              </a:rPr>
              <a:t>FPTK </a:t>
            </a:r>
            <a:r>
              <a:rPr lang="en-US" sz="1100" b="1" err="1">
                <a:latin typeface="Raleway"/>
              </a:rPr>
              <a:t>Diterima</a:t>
            </a:r>
            <a:r>
              <a:rPr lang="en-US" sz="1100">
                <a:latin typeface="Raleway"/>
              </a:rPr>
              <a:t> =         FPTK/ week</a:t>
            </a:r>
          </a:p>
          <a:p>
            <a:r>
              <a:rPr lang="en-US" sz="1100">
                <a:latin typeface="Raleway"/>
              </a:rPr>
              <a:t>Average </a:t>
            </a:r>
            <a:r>
              <a:rPr lang="en-US" sz="1100" b="1">
                <a:latin typeface="Raleway"/>
              </a:rPr>
              <a:t>FPTK Closed</a:t>
            </a:r>
            <a:r>
              <a:rPr lang="en-US" sz="1100">
                <a:latin typeface="Raleway"/>
              </a:rPr>
              <a:t> =            FPTK/ week</a:t>
            </a:r>
            <a:endParaRPr lang="en-US" sz="1100" b="1">
              <a:latin typeface="Raleway"/>
            </a:endParaRPr>
          </a:p>
        </p:txBody>
      </p:sp>
      <p:cxnSp>
        <p:nvCxnSpPr>
          <p:cNvPr id="6" name="Straight Connector 5">
            <a:extLst>
              <a:ext uri="{FF2B5EF4-FFF2-40B4-BE49-F238E27FC236}">
                <a16:creationId xmlns:a16="http://schemas.microsoft.com/office/drawing/2014/main" id="{D787ED0B-E59B-37C5-9659-DFB2B4FED20F}"/>
              </a:ext>
            </a:extLst>
          </p:cNvPr>
          <p:cNvCxnSpPr>
            <a:cxnSpLocks/>
          </p:cNvCxnSpPr>
          <p:nvPr/>
        </p:nvCxnSpPr>
        <p:spPr>
          <a:xfrm>
            <a:off x="5727948" y="3588160"/>
            <a:ext cx="0" cy="2541391"/>
          </a:xfrm>
          <a:prstGeom prst="line">
            <a:avLst/>
          </a:prstGeom>
        </p:spPr>
        <p:style>
          <a:lnRef idx="2">
            <a:schemeClr val="accent1"/>
          </a:lnRef>
          <a:fillRef idx="0">
            <a:schemeClr val="accent1"/>
          </a:fillRef>
          <a:effectRef idx="1">
            <a:schemeClr val="accent1"/>
          </a:effectRef>
          <a:fontRef idx="minor">
            <a:schemeClr val="tx1"/>
          </a:fontRef>
        </p:style>
      </p:cxnSp>
      <p:sp>
        <p:nvSpPr>
          <p:cNvPr id="33" name="Qbeforediterima">
            <a:extLst>
              <a:ext uri="{FF2B5EF4-FFF2-40B4-BE49-F238E27FC236}">
                <a16:creationId xmlns:a16="http://schemas.microsoft.com/office/drawing/2014/main" id="{9222023D-9580-4B8B-8D2D-3D4268DDD505}"/>
              </a:ext>
            </a:extLst>
          </p:cNvPr>
          <p:cNvSpPr txBox="1"/>
          <p:nvPr/>
        </p:nvSpPr>
        <p:spPr>
          <a:xfrm>
            <a:off x="2011290" y="2463832"/>
            <a:ext cx="585401" cy="261610"/>
          </a:xfrm>
          <a:prstGeom prst="rect">
            <a:avLst/>
          </a:prstGeom>
          <a:noFill/>
        </p:spPr>
        <p:txBody>
          <a:bodyPr wrap="square" lIns="91440" tIns="45720" rIns="91440" bIns="45720" rtlCol="0" anchor="t">
            <a:spAutoFit/>
          </a:bodyPr>
          <a:lstStyle/>
          <a:p>
            <a:r>
              <a:rPr lang="en-US" sz="1100" b="1">
                <a:latin typeface="Raleway"/>
              </a:rPr>
              <a:t>85.64</a:t>
            </a:r>
          </a:p>
        </p:txBody>
      </p:sp>
      <p:sp>
        <p:nvSpPr>
          <p:cNvPr id="36" name="Qbeforeclosed">
            <a:extLst>
              <a:ext uri="{FF2B5EF4-FFF2-40B4-BE49-F238E27FC236}">
                <a16:creationId xmlns:a16="http://schemas.microsoft.com/office/drawing/2014/main" id="{C2C0B506-C8EA-DE01-F78C-DF6B8F88D8F3}"/>
              </a:ext>
            </a:extLst>
          </p:cNvPr>
          <p:cNvSpPr txBox="1"/>
          <p:nvPr/>
        </p:nvSpPr>
        <p:spPr>
          <a:xfrm>
            <a:off x="1896490" y="2627292"/>
            <a:ext cx="585401" cy="261610"/>
          </a:xfrm>
          <a:prstGeom prst="rect">
            <a:avLst/>
          </a:prstGeom>
          <a:noFill/>
        </p:spPr>
        <p:txBody>
          <a:bodyPr wrap="square" lIns="91440" tIns="45720" rIns="91440" bIns="45720" rtlCol="0" anchor="t">
            <a:spAutoFit/>
          </a:bodyPr>
          <a:lstStyle/>
          <a:p>
            <a:r>
              <a:rPr lang="en-US" sz="1100" b="1">
                <a:latin typeface="Raleway"/>
              </a:rPr>
              <a:t>26.14</a:t>
            </a:r>
          </a:p>
        </p:txBody>
      </p:sp>
      <p:sp>
        <p:nvSpPr>
          <p:cNvPr id="38" name="Qafterditerima">
            <a:extLst>
              <a:ext uri="{FF2B5EF4-FFF2-40B4-BE49-F238E27FC236}">
                <a16:creationId xmlns:a16="http://schemas.microsoft.com/office/drawing/2014/main" id="{2593FA45-51AE-6512-6D0E-4E3F96037AD2}"/>
              </a:ext>
            </a:extLst>
          </p:cNvPr>
          <p:cNvSpPr txBox="1"/>
          <p:nvPr/>
        </p:nvSpPr>
        <p:spPr>
          <a:xfrm>
            <a:off x="10563606" y="2466300"/>
            <a:ext cx="459994" cy="261610"/>
          </a:xfrm>
          <a:prstGeom prst="rect">
            <a:avLst/>
          </a:prstGeom>
          <a:noFill/>
        </p:spPr>
        <p:txBody>
          <a:bodyPr wrap="square" lIns="91440" tIns="45720" rIns="91440" bIns="45720" rtlCol="0" anchor="t">
            <a:spAutoFit/>
          </a:bodyPr>
          <a:lstStyle/>
          <a:p>
            <a:r>
              <a:rPr lang="en-US" sz="1100" b="1">
                <a:latin typeface="Raleway"/>
              </a:rPr>
              <a:t>28.5</a:t>
            </a:r>
          </a:p>
        </p:txBody>
      </p:sp>
      <p:sp>
        <p:nvSpPr>
          <p:cNvPr id="40" name="Qafterclosed">
            <a:extLst>
              <a:ext uri="{FF2B5EF4-FFF2-40B4-BE49-F238E27FC236}">
                <a16:creationId xmlns:a16="http://schemas.microsoft.com/office/drawing/2014/main" id="{6BE26136-1F3A-114D-98BB-99A771AEEF9E}"/>
              </a:ext>
            </a:extLst>
          </p:cNvPr>
          <p:cNvSpPr txBox="1"/>
          <p:nvPr/>
        </p:nvSpPr>
        <p:spPr>
          <a:xfrm>
            <a:off x="10474206" y="2619179"/>
            <a:ext cx="549393" cy="261610"/>
          </a:xfrm>
          <a:prstGeom prst="rect">
            <a:avLst/>
          </a:prstGeom>
          <a:noFill/>
        </p:spPr>
        <p:txBody>
          <a:bodyPr wrap="square" lIns="91440" tIns="45720" rIns="91440" bIns="45720" rtlCol="0" anchor="t">
            <a:spAutoFit/>
          </a:bodyPr>
          <a:lstStyle/>
          <a:p>
            <a:r>
              <a:rPr lang="en-US" sz="1100" b="1">
                <a:latin typeface="Raleway"/>
              </a:rPr>
              <a:t>24.57</a:t>
            </a:r>
          </a:p>
        </p:txBody>
      </p:sp>
      <p:graphicFrame>
        <p:nvGraphicFramePr>
          <p:cNvPr id="25" name="Pemenuhan SDM 2026 per Level">
            <a:extLst>
              <a:ext uri="{FF2B5EF4-FFF2-40B4-BE49-F238E27FC236}">
                <a16:creationId xmlns:a16="http://schemas.microsoft.com/office/drawing/2014/main" id="{D27550C3-D6BE-4F13-8F94-4B714FFE92B1}"/>
              </a:ext>
              <a:ext uri="{147F2762-F138-4A5C-976F-8EAC2B608ADB}">
                <a16:predDERef xmlns:a16="http://schemas.microsoft.com/office/drawing/2014/main" pred="{1972B499-7CBF-4CCA-A4BC-B2FA20BBABF4}"/>
              </a:ext>
            </a:extLst>
          </p:cNvPr>
          <p:cNvGraphicFramePr>
            <a:graphicFrameLocks/>
          </p:cNvGraphicFramePr>
          <p:nvPr>
            <p:extLst>
              <p:ext uri="{D42A27DB-BD31-4B8C-83A1-F6EECF244321}">
                <p14:modId xmlns:p14="http://schemas.microsoft.com/office/powerpoint/2010/main" val="1645483634"/>
              </p:ext>
            </p:extLst>
          </p:nvPr>
        </p:nvGraphicFramePr>
        <p:xfrm>
          <a:off x="627673" y="2743200"/>
          <a:ext cx="10395927" cy="3752850"/>
        </p:xfrm>
        <a:graphic>
          <a:graphicData uri="http://schemas.openxmlformats.org/drawingml/2006/chart">
            <c:chart xmlns:c="http://schemas.openxmlformats.org/drawingml/2006/chart" xmlns:r="http://schemas.openxmlformats.org/officeDocument/2006/relationships" r:id="rId3"/>
          </a:graphicData>
        </a:graphic>
      </p:graphicFrame>
      <p:sp>
        <p:nvSpPr>
          <p:cNvPr id="27" name="fillratelvl3">
            <a:extLst>
              <a:ext uri="{FF2B5EF4-FFF2-40B4-BE49-F238E27FC236}">
                <a16:creationId xmlns:a16="http://schemas.microsoft.com/office/drawing/2014/main" id="{7868A0B2-519C-79E8-B755-710CA789CBFA}"/>
              </a:ext>
            </a:extLst>
          </p:cNvPr>
          <p:cNvSpPr/>
          <p:nvPr/>
        </p:nvSpPr>
        <p:spPr>
          <a:xfrm>
            <a:off x="10058400" y="1344168"/>
            <a:ext cx="1767840" cy="461665"/>
          </a:xfrm>
          <a:prstGeom prst="rect">
            <a:avLst/>
          </a:prstGeom>
          <a:noFill/>
          <a:ln/>
        </p:spPr>
        <p:txBody>
          <a:bodyPr wrap="square" lIns="0" tIns="0" rIns="0" bIns="0" rtlCol="0" anchor="ctr">
            <a:spAutoFit/>
          </a:bodyPr>
          <a:lstStyle/>
          <a:p>
            <a:pPr marL="0" indent="0" algn="ctr">
              <a:buNone/>
            </a:pPr>
            <a:r>
              <a:rPr lang="en-US" sz="3000" b="1" dirty="0">
                <a:solidFill>
                  <a:schemeClr val="bg1"/>
                </a:solidFill>
                <a:latin typeface="Raleway"/>
                <a:ea typeface="Calibri"/>
                <a:cs typeface="Calibri"/>
              </a:rPr>
              <a:t>36.75%</a:t>
            </a:r>
            <a:endParaRPr lang="en-US" sz="3000" dirty="0">
              <a:solidFill>
                <a:schemeClr val="bg1"/>
              </a:solidFill>
              <a:latin typeface="Raleway"/>
              <a:ea typeface="Calibri"/>
              <a:cs typeface="Calibri"/>
            </a:endParaRPr>
          </a:p>
        </p:txBody>
      </p:sp>
    </p:spTree>
    <p:extLst>
      <p:ext uri="{BB962C8B-B14F-4D97-AF65-F5344CB8AC3E}">
        <p14:creationId xmlns:p14="http://schemas.microsoft.com/office/powerpoint/2010/main" val="2252310130"/>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81C8FB-601A-4DA1-FDE1-A6B26AF5D8AF}"/>
            </a:ext>
          </a:extLst>
        </p:cNvPr>
        <p:cNvGrpSpPr/>
        <p:nvPr/>
      </p:nvGrpSpPr>
      <p:grpSpPr>
        <a:xfrm>
          <a:off x="0" y="0"/>
          <a:ext cx="0" cy="0"/>
          <a:chOff x="0" y="0"/>
          <a:chExt cx="0" cy="0"/>
        </a:xfrm>
      </p:grpSpPr>
      <p:sp>
        <p:nvSpPr>
          <p:cNvPr id="40" name="Text 19">
            <a:extLst>
              <a:ext uri="{FF2B5EF4-FFF2-40B4-BE49-F238E27FC236}">
                <a16:creationId xmlns:a16="http://schemas.microsoft.com/office/drawing/2014/main" id="{FB0964CA-0FD2-B925-0C69-06669A5FAA16}"/>
              </a:ext>
            </a:extLst>
          </p:cNvPr>
          <p:cNvSpPr/>
          <p:nvPr/>
        </p:nvSpPr>
        <p:spPr>
          <a:xfrm>
            <a:off x="8095488"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FILL RATE</a:t>
            </a:r>
            <a:endParaRPr lang="en-US" sz="1100">
              <a:latin typeface="Raleway"/>
            </a:endParaRPr>
          </a:p>
        </p:txBody>
      </p:sp>
      <p:sp>
        <p:nvSpPr>
          <p:cNvPr id="43" name="Text 22">
            <a:extLst>
              <a:ext uri="{FF2B5EF4-FFF2-40B4-BE49-F238E27FC236}">
                <a16:creationId xmlns:a16="http://schemas.microsoft.com/office/drawing/2014/main" id="{3130EB57-C0C0-E5D0-42A0-252A98BD3D92}"/>
              </a:ext>
            </a:extLst>
          </p:cNvPr>
          <p:cNvSpPr/>
          <p:nvPr/>
        </p:nvSpPr>
        <p:spPr>
          <a:xfrm>
            <a:off x="10027920"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 SESUAI SLA</a:t>
            </a:r>
            <a:endParaRPr lang="en-US" sz="1100">
              <a:latin typeface="Raleway"/>
            </a:endParaRPr>
          </a:p>
        </p:txBody>
      </p:sp>
      <p:sp>
        <p:nvSpPr>
          <p:cNvPr id="6" name="Text 0">
            <a:extLst>
              <a:ext uri="{FF2B5EF4-FFF2-40B4-BE49-F238E27FC236}">
                <a16:creationId xmlns:a16="http://schemas.microsoft.com/office/drawing/2014/main" id="{E606713A-E1E6-05DF-D27D-3BE97D47F7A3}"/>
              </a:ext>
            </a:extLst>
          </p:cNvPr>
          <p:cNvSpPr/>
          <p:nvPr/>
        </p:nvSpPr>
        <p:spPr>
          <a:xfrm>
            <a:off x="354124" y="164592"/>
            <a:ext cx="6858000" cy="502920"/>
          </a:xfrm>
          <a:prstGeom prst="rect">
            <a:avLst/>
          </a:prstGeom>
          <a:noFill/>
          <a:ln/>
        </p:spPr>
        <p:txBody>
          <a:bodyPr wrap="square" lIns="0" tIns="0" rIns="0" bIns="0" rtlCol="0" anchor="ctr"/>
          <a:lstStyle/>
          <a:p>
            <a:r>
              <a:rPr lang="en-US" sz="2800" b="1">
                <a:solidFill>
                  <a:srgbClr val="12284C"/>
                </a:solidFill>
                <a:latin typeface="Raleway"/>
                <a:ea typeface="Georgia" pitchFamily="34" charset="-122"/>
                <a:cs typeface="Georgia" pitchFamily="34" charset="-120"/>
              </a:rPr>
              <a:t> FPTK Open — Level 2</a:t>
            </a:r>
            <a:endParaRPr lang="en-US" sz="2800" b="1">
              <a:solidFill>
                <a:srgbClr val="C00000"/>
              </a:solidFill>
              <a:latin typeface="Raleway"/>
            </a:endParaRPr>
          </a:p>
        </p:txBody>
      </p:sp>
      <p:graphicFrame>
        <p:nvGraphicFramePr>
          <p:cNvPr id="5" name="Table 4">
            <a:extLst>
              <a:ext uri="{FF2B5EF4-FFF2-40B4-BE49-F238E27FC236}">
                <a16:creationId xmlns:a16="http://schemas.microsoft.com/office/drawing/2014/main" id="{9C61C81F-29CD-49E5-5B87-47501F3B1AAE}"/>
              </a:ext>
            </a:extLst>
          </p:cNvPr>
          <p:cNvGraphicFramePr>
            <a:graphicFrameLocks noGrp="1"/>
          </p:cNvGraphicFramePr>
          <p:nvPr>
            <p:extLst>
              <p:ext uri="{D42A27DB-BD31-4B8C-83A1-F6EECF244321}">
                <p14:modId xmlns:p14="http://schemas.microsoft.com/office/powerpoint/2010/main" val="2970915402"/>
              </p:ext>
            </p:extLst>
          </p:nvPr>
        </p:nvGraphicFramePr>
        <p:xfrm>
          <a:off x="354124" y="667512"/>
          <a:ext cx="11441637" cy="5745954"/>
        </p:xfrm>
        <a:graphic>
          <a:graphicData uri="http://schemas.openxmlformats.org/drawingml/2006/table">
            <a:tbl>
              <a:tblPr bandRow="1">
                <a:tableStyleId>{5C22544A-7EE6-4342-B048-85BDC9FD1C3A}</a:tableStyleId>
              </a:tblPr>
              <a:tblGrid>
                <a:gridCol w="691088">
                  <a:extLst>
                    <a:ext uri="{9D8B030D-6E8A-4147-A177-3AD203B41FA5}">
                      <a16:colId xmlns:a16="http://schemas.microsoft.com/office/drawing/2014/main" val="964775141"/>
                    </a:ext>
                  </a:extLst>
                </a:gridCol>
                <a:gridCol w="1774643">
                  <a:extLst>
                    <a:ext uri="{9D8B030D-6E8A-4147-A177-3AD203B41FA5}">
                      <a16:colId xmlns:a16="http://schemas.microsoft.com/office/drawing/2014/main" val="3818843332"/>
                    </a:ext>
                  </a:extLst>
                </a:gridCol>
                <a:gridCol w="1365111">
                  <a:extLst>
                    <a:ext uri="{9D8B030D-6E8A-4147-A177-3AD203B41FA5}">
                      <a16:colId xmlns:a16="http://schemas.microsoft.com/office/drawing/2014/main" val="3805053784"/>
                    </a:ext>
                  </a:extLst>
                </a:gridCol>
                <a:gridCol w="1003821">
                  <a:extLst>
                    <a:ext uri="{9D8B030D-6E8A-4147-A177-3AD203B41FA5}">
                      <a16:colId xmlns:a16="http://schemas.microsoft.com/office/drawing/2014/main" val="873694035"/>
                    </a:ext>
                  </a:extLst>
                </a:gridCol>
                <a:gridCol w="426326">
                  <a:extLst>
                    <a:ext uri="{9D8B030D-6E8A-4147-A177-3AD203B41FA5}">
                      <a16:colId xmlns:a16="http://schemas.microsoft.com/office/drawing/2014/main" val="2118302063"/>
                    </a:ext>
                  </a:extLst>
                </a:gridCol>
                <a:gridCol w="546571">
                  <a:extLst>
                    <a:ext uri="{9D8B030D-6E8A-4147-A177-3AD203B41FA5}">
                      <a16:colId xmlns:a16="http://schemas.microsoft.com/office/drawing/2014/main" val="347069574"/>
                    </a:ext>
                  </a:extLst>
                </a:gridCol>
                <a:gridCol w="601228">
                  <a:extLst>
                    <a:ext uri="{9D8B030D-6E8A-4147-A177-3AD203B41FA5}">
                      <a16:colId xmlns:a16="http://schemas.microsoft.com/office/drawing/2014/main" val="2517663509"/>
                    </a:ext>
                  </a:extLst>
                </a:gridCol>
                <a:gridCol w="557503">
                  <a:extLst>
                    <a:ext uri="{9D8B030D-6E8A-4147-A177-3AD203B41FA5}">
                      <a16:colId xmlns:a16="http://schemas.microsoft.com/office/drawing/2014/main" val="4256926922"/>
                    </a:ext>
                  </a:extLst>
                </a:gridCol>
                <a:gridCol w="699610">
                  <a:extLst>
                    <a:ext uri="{9D8B030D-6E8A-4147-A177-3AD203B41FA5}">
                      <a16:colId xmlns:a16="http://schemas.microsoft.com/office/drawing/2014/main" val="103401002"/>
                    </a:ext>
                  </a:extLst>
                </a:gridCol>
                <a:gridCol w="623091">
                  <a:extLst>
                    <a:ext uri="{9D8B030D-6E8A-4147-A177-3AD203B41FA5}">
                      <a16:colId xmlns:a16="http://schemas.microsoft.com/office/drawing/2014/main" val="1508212738"/>
                    </a:ext>
                  </a:extLst>
                </a:gridCol>
                <a:gridCol w="557503">
                  <a:extLst>
                    <a:ext uri="{9D8B030D-6E8A-4147-A177-3AD203B41FA5}">
                      <a16:colId xmlns:a16="http://schemas.microsoft.com/office/drawing/2014/main" val="2156794149"/>
                    </a:ext>
                  </a:extLst>
                </a:gridCol>
                <a:gridCol w="590297">
                  <a:extLst>
                    <a:ext uri="{9D8B030D-6E8A-4147-A177-3AD203B41FA5}">
                      <a16:colId xmlns:a16="http://schemas.microsoft.com/office/drawing/2014/main" val="225074111"/>
                    </a:ext>
                  </a:extLst>
                </a:gridCol>
                <a:gridCol w="460562">
                  <a:extLst>
                    <a:ext uri="{9D8B030D-6E8A-4147-A177-3AD203B41FA5}">
                      <a16:colId xmlns:a16="http://schemas.microsoft.com/office/drawing/2014/main" val="461221745"/>
                    </a:ext>
                  </a:extLst>
                </a:gridCol>
                <a:gridCol w="503385">
                  <a:extLst>
                    <a:ext uri="{9D8B030D-6E8A-4147-A177-3AD203B41FA5}">
                      <a16:colId xmlns:a16="http://schemas.microsoft.com/office/drawing/2014/main" val="1428405946"/>
                    </a:ext>
                  </a:extLst>
                </a:gridCol>
                <a:gridCol w="341278">
                  <a:extLst>
                    <a:ext uri="{9D8B030D-6E8A-4147-A177-3AD203B41FA5}">
                      <a16:colId xmlns:a16="http://schemas.microsoft.com/office/drawing/2014/main" val="1005622174"/>
                    </a:ext>
                  </a:extLst>
                </a:gridCol>
                <a:gridCol w="349810">
                  <a:extLst>
                    <a:ext uri="{9D8B030D-6E8A-4147-A177-3AD203B41FA5}">
                      <a16:colId xmlns:a16="http://schemas.microsoft.com/office/drawing/2014/main" val="4214742890"/>
                    </a:ext>
                  </a:extLst>
                </a:gridCol>
                <a:gridCol w="349810">
                  <a:extLst>
                    <a:ext uri="{9D8B030D-6E8A-4147-A177-3AD203B41FA5}">
                      <a16:colId xmlns:a16="http://schemas.microsoft.com/office/drawing/2014/main" val="3877463835"/>
                    </a:ext>
                  </a:extLst>
                </a:gridCol>
              </a:tblGrid>
              <a:tr h="442868">
                <a:tc>
                  <a:txBody>
                    <a:bodyPr/>
                    <a:lstStyle/>
                    <a:p>
                      <a:pPr algn="ctr" rtl="0" fontAlgn="ctr">
                        <a:buNone/>
                      </a:pPr>
                      <a:r>
                        <a:rPr lang="en-US" sz="800" b="1" i="0" u="none" strike="noStrike">
                          <a:solidFill>
                            <a:srgbClr val="FFFFFF"/>
                          </a:solidFill>
                          <a:effectLst/>
                          <a:latin typeface="Aptos Narrow" panose="020B0004020202020204" pitchFamily="34" charset="0"/>
                        </a:rPr>
                        <a:t>FPTK Date Real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Posisi</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Business Unit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PIC Recruiter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Sourcing FL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Sourcing HR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Shortlisted User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Psikotes</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HR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Technical Case</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Market Visit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User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Panel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Reference Check</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MCU</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Offering</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Day One</a:t>
                      </a:r>
                    </a:p>
                  </a:txBody>
                  <a:tcPr marL="0" marR="0" marT="0" marB="0" anchor="ctr">
                    <a:lnL>
                      <a:noFill/>
                    </a:lnL>
                    <a:lnR>
                      <a:noFill/>
                    </a:lnR>
                    <a:lnT>
                      <a:noFill/>
                    </a:lnT>
                    <a:lnB>
                      <a:noFill/>
                    </a:lnB>
                    <a:solidFill>
                      <a:srgbClr val="2C3E50"/>
                    </a:solidFill>
                  </a:tcPr>
                </a:tc>
                <a:extLst>
                  <a:ext uri="{0D108BD9-81ED-4DB2-BD59-A6C34878D82A}">
                    <a16:rowId xmlns:a16="http://schemas.microsoft.com/office/drawing/2014/main" val="276996153"/>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Batching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22271737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Batching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808569414"/>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Batching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95290552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Batching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25770375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Batching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88035826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Continuous Improvement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113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192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103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981100202"/>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Cooking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376468157"/>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Cutting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1085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2122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655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186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a:t>
                      </a:r>
                    </a:p>
                  </a:txBody>
                  <a:tcPr marL="0" marR="0" marT="0" marB="0" anchor="b">
                    <a:lnL>
                      <a:noFill/>
                    </a:lnL>
                    <a:lnR>
                      <a:noFill/>
                    </a:lnR>
                    <a:lnT>
                      <a:noFill/>
                    </a:lnT>
                    <a:lnB>
                      <a:noFill/>
                    </a:lnB>
                    <a:noFill/>
                  </a:tcPr>
                </a:tc>
                <a:extLst>
                  <a:ext uri="{0D108BD9-81ED-4DB2-BD59-A6C34878D82A}">
                    <a16:rowId xmlns:a16="http://schemas.microsoft.com/office/drawing/2014/main" val="203488664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Cutting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160727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Cutting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238096821"/>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Cutting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83467016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Cutting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61425895"/>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Filling Foreman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Internal </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127</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3536401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Filling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94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94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4234110072"/>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Filling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23729169"/>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Filling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29065694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Filling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28095855"/>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Filling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19477437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Forming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06633629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Forming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783835084"/>
                  </a:ext>
                </a:extLst>
              </a:tr>
            </a:tbl>
          </a:graphicData>
        </a:graphic>
      </p:graphicFrame>
    </p:spTree>
    <p:extLst>
      <p:ext uri="{BB962C8B-B14F-4D97-AF65-F5344CB8AC3E}">
        <p14:creationId xmlns:p14="http://schemas.microsoft.com/office/powerpoint/2010/main" val="2544938985"/>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45D14C-05B7-4606-3956-D9944C731604}"/>
            </a:ext>
          </a:extLst>
        </p:cNvPr>
        <p:cNvGrpSpPr/>
        <p:nvPr/>
      </p:nvGrpSpPr>
      <p:grpSpPr>
        <a:xfrm>
          <a:off x="0" y="0"/>
          <a:ext cx="0" cy="0"/>
          <a:chOff x="0" y="0"/>
          <a:chExt cx="0" cy="0"/>
        </a:xfrm>
      </p:grpSpPr>
      <p:sp>
        <p:nvSpPr>
          <p:cNvPr id="40" name="Text 19">
            <a:extLst>
              <a:ext uri="{FF2B5EF4-FFF2-40B4-BE49-F238E27FC236}">
                <a16:creationId xmlns:a16="http://schemas.microsoft.com/office/drawing/2014/main" id="{7552CF07-AC5C-26D8-CD9A-10A28DE4DED8}"/>
              </a:ext>
            </a:extLst>
          </p:cNvPr>
          <p:cNvSpPr/>
          <p:nvPr/>
        </p:nvSpPr>
        <p:spPr>
          <a:xfrm>
            <a:off x="8095488"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FILL RATE</a:t>
            </a:r>
            <a:endParaRPr lang="en-US" sz="1100">
              <a:latin typeface="Raleway"/>
            </a:endParaRPr>
          </a:p>
        </p:txBody>
      </p:sp>
      <p:sp>
        <p:nvSpPr>
          <p:cNvPr id="43" name="Text 22">
            <a:extLst>
              <a:ext uri="{FF2B5EF4-FFF2-40B4-BE49-F238E27FC236}">
                <a16:creationId xmlns:a16="http://schemas.microsoft.com/office/drawing/2014/main" id="{D0A0C495-192F-C89E-622D-0DFE4C3D288C}"/>
              </a:ext>
            </a:extLst>
          </p:cNvPr>
          <p:cNvSpPr/>
          <p:nvPr/>
        </p:nvSpPr>
        <p:spPr>
          <a:xfrm>
            <a:off x="10027920"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 SESUAI SLA</a:t>
            </a:r>
            <a:endParaRPr lang="en-US" sz="1100">
              <a:latin typeface="Raleway"/>
            </a:endParaRPr>
          </a:p>
        </p:txBody>
      </p:sp>
      <p:sp>
        <p:nvSpPr>
          <p:cNvPr id="6" name="Text 0">
            <a:extLst>
              <a:ext uri="{FF2B5EF4-FFF2-40B4-BE49-F238E27FC236}">
                <a16:creationId xmlns:a16="http://schemas.microsoft.com/office/drawing/2014/main" id="{9CF3BCC2-B218-3FED-0CE1-5D73035EE366}"/>
              </a:ext>
            </a:extLst>
          </p:cNvPr>
          <p:cNvSpPr/>
          <p:nvPr/>
        </p:nvSpPr>
        <p:spPr>
          <a:xfrm>
            <a:off x="354124" y="164592"/>
            <a:ext cx="6858000" cy="502920"/>
          </a:xfrm>
          <a:prstGeom prst="rect">
            <a:avLst/>
          </a:prstGeom>
          <a:noFill/>
          <a:ln/>
        </p:spPr>
        <p:txBody>
          <a:bodyPr wrap="square" lIns="0" tIns="0" rIns="0" bIns="0" rtlCol="0" anchor="ctr"/>
          <a:lstStyle/>
          <a:p>
            <a:r>
              <a:rPr lang="en-US" sz="2800" b="1">
                <a:solidFill>
                  <a:srgbClr val="12284C"/>
                </a:solidFill>
                <a:latin typeface="Raleway"/>
                <a:ea typeface="Georgia" pitchFamily="34" charset="-122"/>
                <a:cs typeface="Georgia" pitchFamily="34" charset="-120"/>
              </a:rPr>
              <a:t> FPTK Open — Level 2</a:t>
            </a:r>
            <a:endParaRPr lang="en-US" sz="2800" b="1">
              <a:solidFill>
                <a:srgbClr val="C00000"/>
              </a:solidFill>
              <a:latin typeface="Raleway"/>
            </a:endParaRPr>
          </a:p>
        </p:txBody>
      </p:sp>
      <p:graphicFrame>
        <p:nvGraphicFramePr>
          <p:cNvPr id="5" name="Table 4">
            <a:extLst>
              <a:ext uri="{FF2B5EF4-FFF2-40B4-BE49-F238E27FC236}">
                <a16:creationId xmlns:a16="http://schemas.microsoft.com/office/drawing/2014/main" id="{4905E0A4-4614-B420-4C49-CAA614EED076}"/>
              </a:ext>
            </a:extLst>
          </p:cNvPr>
          <p:cNvGraphicFramePr>
            <a:graphicFrameLocks noGrp="1"/>
          </p:cNvGraphicFramePr>
          <p:nvPr>
            <p:extLst>
              <p:ext uri="{D42A27DB-BD31-4B8C-83A1-F6EECF244321}">
                <p14:modId xmlns:p14="http://schemas.microsoft.com/office/powerpoint/2010/main" val="1309060867"/>
              </p:ext>
            </p:extLst>
          </p:nvPr>
        </p:nvGraphicFramePr>
        <p:xfrm>
          <a:off x="354124" y="667512"/>
          <a:ext cx="11441637" cy="5899394"/>
        </p:xfrm>
        <a:graphic>
          <a:graphicData uri="http://schemas.openxmlformats.org/drawingml/2006/table">
            <a:tbl>
              <a:tblPr bandRow="1">
                <a:tableStyleId>{5C22544A-7EE6-4342-B048-85BDC9FD1C3A}</a:tableStyleId>
              </a:tblPr>
              <a:tblGrid>
                <a:gridCol w="691088">
                  <a:extLst>
                    <a:ext uri="{9D8B030D-6E8A-4147-A177-3AD203B41FA5}">
                      <a16:colId xmlns:a16="http://schemas.microsoft.com/office/drawing/2014/main" val="964775141"/>
                    </a:ext>
                  </a:extLst>
                </a:gridCol>
                <a:gridCol w="1774643">
                  <a:extLst>
                    <a:ext uri="{9D8B030D-6E8A-4147-A177-3AD203B41FA5}">
                      <a16:colId xmlns:a16="http://schemas.microsoft.com/office/drawing/2014/main" val="3818843332"/>
                    </a:ext>
                  </a:extLst>
                </a:gridCol>
                <a:gridCol w="1365111">
                  <a:extLst>
                    <a:ext uri="{9D8B030D-6E8A-4147-A177-3AD203B41FA5}">
                      <a16:colId xmlns:a16="http://schemas.microsoft.com/office/drawing/2014/main" val="3805053784"/>
                    </a:ext>
                  </a:extLst>
                </a:gridCol>
                <a:gridCol w="1003821">
                  <a:extLst>
                    <a:ext uri="{9D8B030D-6E8A-4147-A177-3AD203B41FA5}">
                      <a16:colId xmlns:a16="http://schemas.microsoft.com/office/drawing/2014/main" val="873694035"/>
                    </a:ext>
                  </a:extLst>
                </a:gridCol>
                <a:gridCol w="426326">
                  <a:extLst>
                    <a:ext uri="{9D8B030D-6E8A-4147-A177-3AD203B41FA5}">
                      <a16:colId xmlns:a16="http://schemas.microsoft.com/office/drawing/2014/main" val="2118302063"/>
                    </a:ext>
                  </a:extLst>
                </a:gridCol>
                <a:gridCol w="546571">
                  <a:extLst>
                    <a:ext uri="{9D8B030D-6E8A-4147-A177-3AD203B41FA5}">
                      <a16:colId xmlns:a16="http://schemas.microsoft.com/office/drawing/2014/main" val="347069574"/>
                    </a:ext>
                  </a:extLst>
                </a:gridCol>
                <a:gridCol w="601228">
                  <a:extLst>
                    <a:ext uri="{9D8B030D-6E8A-4147-A177-3AD203B41FA5}">
                      <a16:colId xmlns:a16="http://schemas.microsoft.com/office/drawing/2014/main" val="2517663509"/>
                    </a:ext>
                  </a:extLst>
                </a:gridCol>
                <a:gridCol w="557503">
                  <a:extLst>
                    <a:ext uri="{9D8B030D-6E8A-4147-A177-3AD203B41FA5}">
                      <a16:colId xmlns:a16="http://schemas.microsoft.com/office/drawing/2014/main" val="4256926922"/>
                    </a:ext>
                  </a:extLst>
                </a:gridCol>
                <a:gridCol w="699610">
                  <a:extLst>
                    <a:ext uri="{9D8B030D-6E8A-4147-A177-3AD203B41FA5}">
                      <a16:colId xmlns:a16="http://schemas.microsoft.com/office/drawing/2014/main" val="103401002"/>
                    </a:ext>
                  </a:extLst>
                </a:gridCol>
                <a:gridCol w="623091">
                  <a:extLst>
                    <a:ext uri="{9D8B030D-6E8A-4147-A177-3AD203B41FA5}">
                      <a16:colId xmlns:a16="http://schemas.microsoft.com/office/drawing/2014/main" val="1508212738"/>
                    </a:ext>
                  </a:extLst>
                </a:gridCol>
                <a:gridCol w="557503">
                  <a:extLst>
                    <a:ext uri="{9D8B030D-6E8A-4147-A177-3AD203B41FA5}">
                      <a16:colId xmlns:a16="http://schemas.microsoft.com/office/drawing/2014/main" val="2156794149"/>
                    </a:ext>
                  </a:extLst>
                </a:gridCol>
                <a:gridCol w="590297">
                  <a:extLst>
                    <a:ext uri="{9D8B030D-6E8A-4147-A177-3AD203B41FA5}">
                      <a16:colId xmlns:a16="http://schemas.microsoft.com/office/drawing/2014/main" val="225074111"/>
                    </a:ext>
                  </a:extLst>
                </a:gridCol>
                <a:gridCol w="460562">
                  <a:extLst>
                    <a:ext uri="{9D8B030D-6E8A-4147-A177-3AD203B41FA5}">
                      <a16:colId xmlns:a16="http://schemas.microsoft.com/office/drawing/2014/main" val="461221745"/>
                    </a:ext>
                  </a:extLst>
                </a:gridCol>
                <a:gridCol w="503385">
                  <a:extLst>
                    <a:ext uri="{9D8B030D-6E8A-4147-A177-3AD203B41FA5}">
                      <a16:colId xmlns:a16="http://schemas.microsoft.com/office/drawing/2014/main" val="1428405946"/>
                    </a:ext>
                  </a:extLst>
                </a:gridCol>
                <a:gridCol w="341278">
                  <a:extLst>
                    <a:ext uri="{9D8B030D-6E8A-4147-A177-3AD203B41FA5}">
                      <a16:colId xmlns:a16="http://schemas.microsoft.com/office/drawing/2014/main" val="1005622174"/>
                    </a:ext>
                  </a:extLst>
                </a:gridCol>
                <a:gridCol w="349810">
                  <a:extLst>
                    <a:ext uri="{9D8B030D-6E8A-4147-A177-3AD203B41FA5}">
                      <a16:colId xmlns:a16="http://schemas.microsoft.com/office/drawing/2014/main" val="4214742890"/>
                    </a:ext>
                  </a:extLst>
                </a:gridCol>
                <a:gridCol w="349810">
                  <a:extLst>
                    <a:ext uri="{9D8B030D-6E8A-4147-A177-3AD203B41FA5}">
                      <a16:colId xmlns:a16="http://schemas.microsoft.com/office/drawing/2014/main" val="3877463835"/>
                    </a:ext>
                  </a:extLst>
                </a:gridCol>
              </a:tblGrid>
              <a:tr h="442868">
                <a:tc>
                  <a:txBody>
                    <a:bodyPr/>
                    <a:lstStyle/>
                    <a:p>
                      <a:pPr algn="ctr" rtl="0" fontAlgn="ctr">
                        <a:buNone/>
                      </a:pPr>
                      <a:r>
                        <a:rPr lang="en-US" sz="800" b="1" i="0" u="none" strike="noStrike">
                          <a:solidFill>
                            <a:srgbClr val="FFFFFF"/>
                          </a:solidFill>
                          <a:effectLst/>
                          <a:latin typeface="Aptos Narrow" panose="020B0004020202020204" pitchFamily="34" charset="0"/>
                        </a:rPr>
                        <a:t>FPTK Date Real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Posisi</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Business Unit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PIC Recruiter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Sourcing FL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Sourcing HR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Shortlisted User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Psikotes</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HR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Technical Case</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Market Visit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User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Panel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Reference Check</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MCU</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Offering</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Day One</a:t>
                      </a:r>
                    </a:p>
                  </a:txBody>
                  <a:tcPr marL="0" marR="0" marT="0" marB="0" anchor="ctr">
                    <a:lnL>
                      <a:noFill/>
                    </a:lnL>
                    <a:lnR>
                      <a:noFill/>
                    </a:lnR>
                    <a:lnT>
                      <a:noFill/>
                    </a:lnT>
                    <a:lnB>
                      <a:noFill/>
                    </a:lnB>
                    <a:solidFill>
                      <a:srgbClr val="2C3E50"/>
                    </a:solidFill>
                  </a:tcPr>
                </a:tc>
                <a:extLst>
                  <a:ext uri="{0D108BD9-81ED-4DB2-BD59-A6C34878D82A}">
                    <a16:rowId xmlns:a16="http://schemas.microsoft.com/office/drawing/2014/main" val="276996153"/>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Forming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22271737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Grinding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302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302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808569414"/>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Grinding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95290552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Grinding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25770375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Grinding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88035826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Grinding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981100202"/>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Grinding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376468157"/>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Grinding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03488664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HSE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127</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129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4160727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HSE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238096821"/>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Inventory Foreman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210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851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221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extLst>
                  <a:ext uri="{0D108BD9-81ED-4DB2-BD59-A6C34878D82A}">
                    <a16:rowId xmlns:a16="http://schemas.microsoft.com/office/drawing/2014/main" val="83467016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Inventory Foreman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61425895"/>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Inventory Stock Keeping Worker - Dry Material</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74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1212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274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8</a:t>
                      </a:r>
                    </a:p>
                  </a:txBody>
                  <a:tcPr marL="0" marR="0" marT="0" marB="0" anchor="b">
                    <a:lnL>
                      <a:noFill/>
                    </a:lnL>
                    <a:lnR>
                      <a:noFill/>
                    </a:lnR>
                    <a:lnT>
                      <a:noFill/>
                    </a:lnT>
                    <a:lnB>
                      <a:noFill/>
                    </a:lnB>
                    <a:noFill/>
                  </a:tcPr>
                </a:tc>
                <a:extLst>
                  <a:ext uri="{0D108BD9-81ED-4DB2-BD59-A6C34878D82A}">
                    <a16:rowId xmlns:a16="http://schemas.microsoft.com/office/drawing/2014/main" val="23536401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Inventory Stock Keeping Worker - Dry Material</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4234110072"/>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Inventory Stock Keeping Worker - Dry Material</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23729169"/>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Inventory Stock Keeping Worker - Dry Material</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29065694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Inventory Stock Keeping Worker - Dry Material</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28095855"/>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Inventory Stock Keeping Worker - Finished Goods</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585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186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19477437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Inventory Stock Keeping Worker - Finished Goods</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06633629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Inventory Stock Keeping Worker - Finished Goods</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783835084"/>
                  </a:ext>
                </a:extLst>
              </a:tr>
            </a:tbl>
          </a:graphicData>
        </a:graphic>
      </p:graphicFrame>
    </p:spTree>
    <p:extLst>
      <p:ext uri="{BB962C8B-B14F-4D97-AF65-F5344CB8AC3E}">
        <p14:creationId xmlns:p14="http://schemas.microsoft.com/office/powerpoint/2010/main" val="13649632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60FD02-46D2-3B53-6014-5A346A175B32}"/>
            </a:ext>
          </a:extLst>
        </p:cNvPr>
        <p:cNvGrpSpPr/>
        <p:nvPr/>
      </p:nvGrpSpPr>
      <p:grpSpPr>
        <a:xfrm>
          <a:off x="0" y="0"/>
          <a:ext cx="0" cy="0"/>
          <a:chOff x="0" y="0"/>
          <a:chExt cx="0" cy="0"/>
        </a:xfrm>
      </p:grpSpPr>
      <p:sp>
        <p:nvSpPr>
          <p:cNvPr id="40" name="Text 19">
            <a:extLst>
              <a:ext uri="{FF2B5EF4-FFF2-40B4-BE49-F238E27FC236}">
                <a16:creationId xmlns:a16="http://schemas.microsoft.com/office/drawing/2014/main" id="{2D1197C6-F823-FD85-21DA-45A85C8EFFF3}"/>
              </a:ext>
            </a:extLst>
          </p:cNvPr>
          <p:cNvSpPr/>
          <p:nvPr/>
        </p:nvSpPr>
        <p:spPr>
          <a:xfrm>
            <a:off x="8095488"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FILL RATE</a:t>
            </a:r>
            <a:endParaRPr lang="en-US" sz="1100">
              <a:latin typeface="Raleway"/>
            </a:endParaRPr>
          </a:p>
        </p:txBody>
      </p:sp>
      <p:sp>
        <p:nvSpPr>
          <p:cNvPr id="43" name="Text 22">
            <a:extLst>
              <a:ext uri="{FF2B5EF4-FFF2-40B4-BE49-F238E27FC236}">
                <a16:creationId xmlns:a16="http://schemas.microsoft.com/office/drawing/2014/main" id="{60AEEE18-A29C-8BE3-CEA5-CD3E58FF702B}"/>
              </a:ext>
            </a:extLst>
          </p:cNvPr>
          <p:cNvSpPr/>
          <p:nvPr/>
        </p:nvSpPr>
        <p:spPr>
          <a:xfrm>
            <a:off x="10027920"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 SESUAI SLA</a:t>
            </a:r>
            <a:endParaRPr lang="en-US" sz="1100">
              <a:latin typeface="Raleway"/>
            </a:endParaRPr>
          </a:p>
        </p:txBody>
      </p:sp>
      <p:sp>
        <p:nvSpPr>
          <p:cNvPr id="6" name="Text 0">
            <a:extLst>
              <a:ext uri="{FF2B5EF4-FFF2-40B4-BE49-F238E27FC236}">
                <a16:creationId xmlns:a16="http://schemas.microsoft.com/office/drawing/2014/main" id="{A04B81A3-EF0F-EDDE-EB77-C0148383DD72}"/>
              </a:ext>
            </a:extLst>
          </p:cNvPr>
          <p:cNvSpPr/>
          <p:nvPr/>
        </p:nvSpPr>
        <p:spPr>
          <a:xfrm>
            <a:off x="354124" y="164592"/>
            <a:ext cx="6858000" cy="502920"/>
          </a:xfrm>
          <a:prstGeom prst="rect">
            <a:avLst/>
          </a:prstGeom>
          <a:noFill/>
          <a:ln/>
        </p:spPr>
        <p:txBody>
          <a:bodyPr wrap="square" lIns="0" tIns="0" rIns="0" bIns="0" rtlCol="0" anchor="ctr"/>
          <a:lstStyle/>
          <a:p>
            <a:r>
              <a:rPr lang="en-US" sz="2800" b="1">
                <a:solidFill>
                  <a:srgbClr val="12284C"/>
                </a:solidFill>
                <a:latin typeface="Raleway"/>
                <a:ea typeface="Georgia" pitchFamily="34" charset="-122"/>
                <a:cs typeface="Georgia" pitchFamily="34" charset="-120"/>
              </a:rPr>
              <a:t> FPTK Open — Level 2</a:t>
            </a:r>
            <a:endParaRPr lang="en-US" sz="2800" b="1">
              <a:solidFill>
                <a:srgbClr val="C00000"/>
              </a:solidFill>
              <a:latin typeface="Raleway"/>
            </a:endParaRPr>
          </a:p>
        </p:txBody>
      </p:sp>
      <p:graphicFrame>
        <p:nvGraphicFramePr>
          <p:cNvPr id="5" name="Table 4">
            <a:extLst>
              <a:ext uri="{FF2B5EF4-FFF2-40B4-BE49-F238E27FC236}">
                <a16:creationId xmlns:a16="http://schemas.microsoft.com/office/drawing/2014/main" id="{D490409A-520C-C448-01D5-29B5BC6B1B7F}"/>
              </a:ext>
            </a:extLst>
          </p:cNvPr>
          <p:cNvGraphicFramePr>
            <a:graphicFrameLocks noGrp="1"/>
          </p:cNvGraphicFramePr>
          <p:nvPr>
            <p:extLst>
              <p:ext uri="{D42A27DB-BD31-4B8C-83A1-F6EECF244321}">
                <p14:modId xmlns:p14="http://schemas.microsoft.com/office/powerpoint/2010/main" val="3865415357"/>
              </p:ext>
            </p:extLst>
          </p:nvPr>
        </p:nvGraphicFramePr>
        <p:xfrm>
          <a:off x="354124" y="667512"/>
          <a:ext cx="11441637" cy="5745954"/>
        </p:xfrm>
        <a:graphic>
          <a:graphicData uri="http://schemas.openxmlformats.org/drawingml/2006/table">
            <a:tbl>
              <a:tblPr bandRow="1">
                <a:tableStyleId>{5C22544A-7EE6-4342-B048-85BDC9FD1C3A}</a:tableStyleId>
              </a:tblPr>
              <a:tblGrid>
                <a:gridCol w="691088">
                  <a:extLst>
                    <a:ext uri="{9D8B030D-6E8A-4147-A177-3AD203B41FA5}">
                      <a16:colId xmlns:a16="http://schemas.microsoft.com/office/drawing/2014/main" val="964775141"/>
                    </a:ext>
                  </a:extLst>
                </a:gridCol>
                <a:gridCol w="1774643">
                  <a:extLst>
                    <a:ext uri="{9D8B030D-6E8A-4147-A177-3AD203B41FA5}">
                      <a16:colId xmlns:a16="http://schemas.microsoft.com/office/drawing/2014/main" val="3818843332"/>
                    </a:ext>
                  </a:extLst>
                </a:gridCol>
                <a:gridCol w="1365111">
                  <a:extLst>
                    <a:ext uri="{9D8B030D-6E8A-4147-A177-3AD203B41FA5}">
                      <a16:colId xmlns:a16="http://schemas.microsoft.com/office/drawing/2014/main" val="3805053784"/>
                    </a:ext>
                  </a:extLst>
                </a:gridCol>
                <a:gridCol w="1003821">
                  <a:extLst>
                    <a:ext uri="{9D8B030D-6E8A-4147-A177-3AD203B41FA5}">
                      <a16:colId xmlns:a16="http://schemas.microsoft.com/office/drawing/2014/main" val="873694035"/>
                    </a:ext>
                  </a:extLst>
                </a:gridCol>
                <a:gridCol w="426326">
                  <a:extLst>
                    <a:ext uri="{9D8B030D-6E8A-4147-A177-3AD203B41FA5}">
                      <a16:colId xmlns:a16="http://schemas.microsoft.com/office/drawing/2014/main" val="2118302063"/>
                    </a:ext>
                  </a:extLst>
                </a:gridCol>
                <a:gridCol w="546571">
                  <a:extLst>
                    <a:ext uri="{9D8B030D-6E8A-4147-A177-3AD203B41FA5}">
                      <a16:colId xmlns:a16="http://schemas.microsoft.com/office/drawing/2014/main" val="347069574"/>
                    </a:ext>
                  </a:extLst>
                </a:gridCol>
                <a:gridCol w="601228">
                  <a:extLst>
                    <a:ext uri="{9D8B030D-6E8A-4147-A177-3AD203B41FA5}">
                      <a16:colId xmlns:a16="http://schemas.microsoft.com/office/drawing/2014/main" val="2517663509"/>
                    </a:ext>
                  </a:extLst>
                </a:gridCol>
                <a:gridCol w="557503">
                  <a:extLst>
                    <a:ext uri="{9D8B030D-6E8A-4147-A177-3AD203B41FA5}">
                      <a16:colId xmlns:a16="http://schemas.microsoft.com/office/drawing/2014/main" val="4256926922"/>
                    </a:ext>
                  </a:extLst>
                </a:gridCol>
                <a:gridCol w="699610">
                  <a:extLst>
                    <a:ext uri="{9D8B030D-6E8A-4147-A177-3AD203B41FA5}">
                      <a16:colId xmlns:a16="http://schemas.microsoft.com/office/drawing/2014/main" val="103401002"/>
                    </a:ext>
                  </a:extLst>
                </a:gridCol>
                <a:gridCol w="623091">
                  <a:extLst>
                    <a:ext uri="{9D8B030D-6E8A-4147-A177-3AD203B41FA5}">
                      <a16:colId xmlns:a16="http://schemas.microsoft.com/office/drawing/2014/main" val="1508212738"/>
                    </a:ext>
                  </a:extLst>
                </a:gridCol>
                <a:gridCol w="557503">
                  <a:extLst>
                    <a:ext uri="{9D8B030D-6E8A-4147-A177-3AD203B41FA5}">
                      <a16:colId xmlns:a16="http://schemas.microsoft.com/office/drawing/2014/main" val="2156794149"/>
                    </a:ext>
                  </a:extLst>
                </a:gridCol>
                <a:gridCol w="590297">
                  <a:extLst>
                    <a:ext uri="{9D8B030D-6E8A-4147-A177-3AD203B41FA5}">
                      <a16:colId xmlns:a16="http://schemas.microsoft.com/office/drawing/2014/main" val="225074111"/>
                    </a:ext>
                  </a:extLst>
                </a:gridCol>
                <a:gridCol w="460562">
                  <a:extLst>
                    <a:ext uri="{9D8B030D-6E8A-4147-A177-3AD203B41FA5}">
                      <a16:colId xmlns:a16="http://schemas.microsoft.com/office/drawing/2014/main" val="461221745"/>
                    </a:ext>
                  </a:extLst>
                </a:gridCol>
                <a:gridCol w="503385">
                  <a:extLst>
                    <a:ext uri="{9D8B030D-6E8A-4147-A177-3AD203B41FA5}">
                      <a16:colId xmlns:a16="http://schemas.microsoft.com/office/drawing/2014/main" val="1428405946"/>
                    </a:ext>
                  </a:extLst>
                </a:gridCol>
                <a:gridCol w="341278">
                  <a:extLst>
                    <a:ext uri="{9D8B030D-6E8A-4147-A177-3AD203B41FA5}">
                      <a16:colId xmlns:a16="http://schemas.microsoft.com/office/drawing/2014/main" val="1005622174"/>
                    </a:ext>
                  </a:extLst>
                </a:gridCol>
                <a:gridCol w="349810">
                  <a:extLst>
                    <a:ext uri="{9D8B030D-6E8A-4147-A177-3AD203B41FA5}">
                      <a16:colId xmlns:a16="http://schemas.microsoft.com/office/drawing/2014/main" val="4214742890"/>
                    </a:ext>
                  </a:extLst>
                </a:gridCol>
                <a:gridCol w="349810">
                  <a:extLst>
                    <a:ext uri="{9D8B030D-6E8A-4147-A177-3AD203B41FA5}">
                      <a16:colId xmlns:a16="http://schemas.microsoft.com/office/drawing/2014/main" val="3877463835"/>
                    </a:ext>
                  </a:extLst>
                </a:gridCol>
              </a:tblGrid>
              <a:tr h="442868">
                <a:tc>
                  <a:txBody>
                    <a:bodyPr/>
                    <a:lstStyle/>
                    <a:p>
                      <a:pPr algn="ctr" rtl="0" fontAlgn="ctr">
                        <a:buNone/>
                      </a:pPr>
                      <a:r>
                        <a:rPr lang="en-US" sz="800" b="1" i="0" u="none" strike="noStrike">
                          <a:solidFill>
                            <a:srgbClr val="FFFFFF"/>
                          </a:solidFill>
                          <a:effectLst/>
                          <a:latin typeface="Aptos Narrow" panose="020B0004020202020204" pitchFamily="34" charset="0"/>
                        </a:rPr>
                        <a:t>FPTK Date Real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Posisi</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Business Unit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PIC Recruiter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Sourcing FL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Sourcing HR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Shortlisted User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Psikotes</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HR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Technical Case</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Market Visit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User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Panel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Reference Check</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MCU</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Offering</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Day One</a:t>
                      </a:r>
                    </a:p>
                  </a:txBody>
                  <a:tcPr marL="0" marR="0" marT="0" marB="0" anchor="ctr">
                    <a:lnL>
                      <a:noFill/>
                    </a:lnL>
                    <a:lnR>
                      <a:noFill/>
                    </a:lnR>
                    <a:lnT>
                      <a:noFill/>
                    </a:lnT>
                    <a:lnB>
                      <a:noFill/>
                    </a:lnB>
                    <a:solidFill>
                      <a:srgbClr val="2C3E50"/>
                    </a:solidFill>
                  </a:tcPr>
                </a:tc>
                <a:extLst>
                  <a:ext uri="{0D108BD9-81ED-4DB2-BD59-A6C34878D82A}">
                    <a16:rowId xmlns:a16="http://schemas.microsoft.com/office/drawing/2014/main" val="276996153"/>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Inventory Stock Keeping Worker - Finished Goods</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22271737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Inventory Stock Keeping Worker - Frozen Material</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extLst>
                  <a:ext uri="{0D108BD9-81ED-4DB2-BD59-A6C34878D82A}">
                    <a16:rowId xmlns:a16="http://schemas.microsoft.com/office/drawing/2014/main" val="1808569414"/>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Kneading Foreman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550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17</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95290552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Kneading Foreman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25770375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Maintenance Foreman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88035826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Maintenance Foreman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981100202"/>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Maintenance Foreman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376468157"/>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Maintenance Foreman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03488664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Maintenance Foreman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160727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Maintenance Technician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238096821"/>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Maintenance Technician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83467016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Maintenance Technician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Kenthansen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61425895"/>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Maintenance Technician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Kenthansen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3536401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Maintenance Technician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Kenthansen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4234110072"/>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Maintenance Technician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Kenthansen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23729169"/>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Maintenance Technician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Kenthansen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29065694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Maintenance Technician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Kenthansen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28095855"/>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Maintenance Technician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Kenthansen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19477437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Maintenance Technician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Kenthansen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06633629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Maintenance Technician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Kenthansen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783835084"/>
                  </a:ext>
                </a:extLst>
              </a:tr>
            </a:tbl>
          </a:graphicData>
        </a:graphic>
      </p:graphicFrame>
    </p:spTree>
    <p:extLst>
      <p:ext uri="{BB962C8B-B14F-4D97-AF65-F5344CB8AC3E}">
        <p14:creationId xmlns:p14="http://schemas.microsoft.com/office/powerpoint/2010/main" val="1477539718"/>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EEC462-8D6F-F0E0-F58F-6D6F0FF9BD25}"/>
            </a:ext>
          </a:extLst>
        </p:cNvPr>
        <p:cNvGrpSpPr/>
        <p:nvPr/>
      </p:nvGrpSpPr>
      <p:grpSpPr>
        <a:xfrm>
          <a:off x="0" y="0"/>
          <a:ext cx="0" cy="0"/>
          <a:chOff x="0" y="0"/>
          <a:chExt cx="0" cy="0"/>
        </a:xfrm>
      </p:grpSpPr>
      <p:sp>
        <p:nvSpPr>
          <p:cNvPr id="40" name="Text 19">
            <a:extLst>
              <a:ext uri="{FF2B5EF4-FFF2-40B4-BE49-F238E27FC236}">
                <a16:creationId xmlns:a16="http://schemas.microsoft.com/office/drawing/2014/main" id="{262D607A-A6B6-14B4-25CD-9AE2AAF4858A}"/>
              </a:ext>
            </a:extLst>
          </p:cNvPr>
          <p:cNvSpPr/>
          <p:nvPr/>
        </p:nvSpPr>
        <p:spPr>
          <a:xfrm>
            <a:off x="8095488"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FILL RATE</a:t>
            </a:r>
            <a:endParaRPr lang="en-US" sz="1100">
              <a:latin typeface="Raleway"/>
            </a:endParaRPr>
          </a:p>
        </p:txBody>
      </p:sp>
      <p:sp>
        <p:nvSpPr>
          <p:cNvPr id="43" name="Text 22">
            <a:extLst>
              <a:ext uri="{FF2B5EF4-FFF2-40B4-BE49-F238E27FC236}">
                <a16:creationId xmlns:a16="http://schemas.microsoft.com/office/drawing/2014/main" id="{35F91DB3-B6C6-D555-D649-D887A7CFA650}"/>
              </a:ext>
            </a:extLst>
          </p:cNvPr>
          <p:cNvSpPr/>
          <p:nvPr/>
        </p:nvSpPr>
        <p:spPr>
          <a:xfrm>
            <a:off x="10027920"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 SESUAI SLA</a:t>
            </a:r>
            <a:endParaRPr lang="en-US" sz="1100">
              <a:latin typeface="Raleway"/>
            </a:endParaRPr>
          </a:p>
        </p:txBody>
      </p:sp>
      <p:sp>
        <p:nvSpPr>
          <p:cNvPr id="6" name="Text 0">
            <a:extLst>
              <a:ext uri="{FF2B5EF4-FFF2-40B4-BE49-F238E27FC236}">
                <a16:creationId xmlns:a16="http://schemas.microsoft.com/office/drawing/2014/main" id="{413B7F88-1F37-009D-C018-7E373D443BA7}"/>
              </a:ext>
            </a:extLst>
          </p:cNvPr>
          <p:cNvSpPr/>
          <p:nvPr/>
        </p:nvSpPr>
        <p:spPr>
          <a:xfrm>
            <a:off x="354124" y="164592"/>
            <a:ext cx="6858000" cy="502920"/>
          </a:xfrm>
          <a:prstGeom prst="rect">
            <a:avLst/>
          </a:prstGeom>
          <a:noFill/>
          <a:ln/>
        </p:spPr>
        <p:txBody>
          <a:bodyPr wrap="square" lIns="0" tIns="0" rIns="0" bIns="0" rtlCol="0" anchor="ctr"/>
          <a:lstStyle/>
          <a:p>
            <a:r>
              <a:rPr lang="en-US" sz="2800" b="1">
                <a:solidFill>
                  <a:srgbClr val="12284C"/>
                </a:solidFill>
                <a:latin typeface="Raleway"/>
                <a:ea typeface="Georgia" pitchFamily="34" charset="-122"/>
                <a:cs typeface="Georgia" pitchFamily="34" charset="-120"/>
              </a:rPr>
              <a:t> FPTK Open — Level 2</a:t>
            </a:r>
            <a:endParaRPr lang="en-US" sz="2800" b="1">
              <a:solidFill>
                <a:srgbClr val="C00000"/>
              </a:solidFill>
              <a:latin typeface="Raleway"/>
            </a:endParaRPr>
          </a:p>
        </p:txBody>
      </p:sp>
      <p:graphicFrame>
        <p:nvGraphicFramePr>
          <p:cNvPr id="5" name="Table 4">
            <a:extLst>
              <a:ext uri="{FF2B5EF4-FFF2-40B4-BE49-F238E27FC236}">
                <a16:creationId xmlns:a16="http://schemas.microsoft.com/office/drawing/2014/main" id="{7B5A3B23-C2CA-AB65-C6EC-C19D5FD2CDD2}"/>
              </a:ext>
            </a:extLst>
          </p:cNvPr>
          <p:cNvGraphicFramePr>
            <a:graphicFrameLocks noGrp="1"/>
          </p:cNvGraphicFramePr>
          <p:nvPr>
            <p:extLst>
              <p:ext uri="{D42A27DB-BD31-4B8C-83A1-F6EECF244321}">
                <p14:modId xmlns:p14="http://schemas.microsoft.com/office/powerpoint/2010/main" val="3756657819"/>
              </p:ext>
            </p:extLst>
          </p:nvPr>
        </p:nvGraphicFramePr>
        <p:xfrm>
          <a:off x="354124" y="667512"/>
          <a:ext cx="11441637" cy="5745954"/>
        </p:xfrm>
        <a:graphic>
          <a:graphicData uri="http://schemas.openxmlformats.org/drawingml/2006/table">
            <a:tbl>
              <a:tblPr bandRow="1">
                <a:tableStyleId>{5C22544A-7EE6-4342-B048-85BDC9FD1C3A}</a:tableStyleId>
              </a:tblPr>
              <a:tblGrid>
                <a:gridCol w="691088">
                  <a:extLst>
                    <a:ext uri="{9D8B030D-6E8A-4147-A177-3AD203B41FA5}">
                      <a16:colId xmlns:a16="http://schemas.microsoft.com/office/drawing/2014/main" val="964775141"/>
                    </a:ext>
                  </a:extLst>
                </a:gridCol>
                <a:gridCol w="1774643">
                  <a:extLst>
                    <a:ext uri="{9D8B030D-6E8A-4147-A177-3AD203B41FA5}">
                      <a16:colId xmlns:a16="http://schemas.microsoft.com/office/drawing/2014/main" val="3818843332"/>
                    </a:ext>
                  </a:extLst>
                </a:gridCol>
                <a:gridCol w="1365111">
                  <a:extLst>
                    <a:ext uri="{9D8B030D-6E8A-4147-A177-3AD203B41FA5}">
                      <a16:colId xmlns:a16="http://schemas.microsoft.com/office/drawing/2014/main" val="3805053784"/>
                    </a:ext>
                  </a:extLst>
                </a:gridCol>
                <a:gridCol w="1003821">
                  <a:extLst>
                    <a:ext uri="{9D8B030D-6E8A-4147-A177-3AD203B41FA5}">
                      <a16:colId xmlns:a16="http://schemas.microsoft.com/office/drawing/2014/main" val="873694035"/>
                    </a:ext>
                  </a:extLst>
                </a:gridCol>
                <a:gridCol w="426326">
                  <a:extLst>
                    <a:ext uri="{9D8B030D-6E8A-4147-A177-3AD203B41FA5}">
                      <a16:colId xmlns:a16="http://schemas.microsoft.com/office/drawing/2014/main" val="2118302063"/>
                    </a:ext>
                  </a:extLst>
                </a:gridCol>
                <a:gridCol w="546571">
                  <a:extLst>
                    <a:ext uri="{9D8B030D-6E8A-4147-A177-3AD203B41FA5}">
                      <a16:colId xmlns:a16="http://schemas.microsoft.com/office/drawing/2014/main" val="347069574"/>
                    </a:ext>
                  </a:extLst>
                </a:gridCol>
                <a:gridCol w="601228">
                  <a:extLst>
                    <a:ext uri="{9D8B030D-6E8A-4147-A177-3AD203B41FA5}">
                      <a16:colId xmlns:a16="http://schemas.microsoft.com/office/drawing/2014/main" val="2517663509"/>
                    </a:ext>
                  </a:extLst>
                </a:gridCol>
                <a:gridCol w="557503">
                  <a:extLst>
                    <a:ext uri="{9D8B030D-6E8A-4147-A177-3AD203B41FA5}">
                      <a16:colId xmlns:a16="http://schemas.microsoft.com/office/drawing/2014/main" val="4256926922"/>
                    </a:ext>
                  </a:extLst>
                </a:gridCol>
                <a:gridCol w="699610">
                  <a:extLst>
                    <a:ext uri="{9D8B030D-6E8A-4147-A177-3AD203B41FA5}">
                      <a16:colId xmlns:a16="http://schemas.microsoft.com/office/drawing/2014/main" val="103401002"/>
                    </a:ext>
                  </a:extLst>
                </a:gridCol>
                <a:gridCol w="623091">
                  <a:extLst>
                    <a:ext uri="{9D8B030D-6E8A-4147-A177-3AD203B41FA5}">
                      <a16:colId xmlns:a16="http://schemas.microsoft.com/office/drawing/2014/main" val="1508212738"/>
                    </a:ext>
                  </a:extLst>
                </a:gridCol>
                <a:gridCol w="557503">
                  <a:extLst>
                    <a:ext uri="{9D8B030D-6E8A-4147-A177-3AD203B41FA5}">
                      <a16:colId xmlns:a16="http://schemas.microsoft.com/office/drawing/2014/main" val="2156794149"/>
                    </a:ext>
                  </a:extLst>
                </a:gridCol>
                <a:gridCol w="590297">
                  <a:extLst>
                    <a:ext uri="{9D8B030D-6E8A-4147-A177-3AD203B41FA5}">
                      <a16:colId xmlns:a16="http://schemas.microsoft.com/office/drawing/2014/main" val="225074111"/>
                    </a:ext>
                  </a:extLst>
                </a:gridCol>
                <a:gridCol w="460562">
                  <a:extLst>
                    <a:ext uri="{9D8B030D-6E8A-4147-A177-3AD203B41FA5}">
                      <a16:colId xmlns:a16="http://schemas.microsoft.com/office/drawing/2014/main" val="461221745"/>
                    </a:ext>
                  </a:extLst>
                </a:gridCol>
                <a:gridCol w="503385">
                  <a:extLst>
                    <a:ext uri="{9D8B030D-6E8A-4147-A177-3AD203B41FA5}">
                      <a16:colId xmlns:a16="http://schemas.microsoft.com/office/drawing/2014/main" val="1428405946"/>
                    </a:ext>
                  </a:extLst>
                </a:gridCol>
                <a:gridCol w="341278">
                  <a:extLst>
                    <a:ext uri="{9D8B030D-6E8A-4147-A177-3AD203B41FA5}">
                      <a16:colId xmlns:a16="http://schemas.microsoft.com/office/drawing/2014/main" val="1005622174"/>
                    </a:ext>
                  </a:extLst>
                </a:gridCol>
                <a:gridCol w="349810">
                  <a:extLst>
                    <a:ext uri="{9D8B030D-6E8A-4147-A177-3AD203B41FA5}">
                      <a16:colId xmlns:a16="http://schemas.microsoft.com/office/drawing/2014/main" val="4214742890"/>
                    </a:ext>
                  </a:extLst>
                </a:gridCol>
                <a:gridCol w="349810">
                  <a:extLst>
                    <a:ext uri="{9D8B030D-6E8A-4147-A177-3AD203B41FA5}">
                      <a16:colId xmlns:a16="http://schemas.microsoft.com/office/drawing/2014/main" val="3877463835"/>
                    </a:ext>
                  </a:extLst>
                </a:gridCol>
              </a:tblGrid>
              <a:tr h="442868">
                <a:tc>
                  <a:txBody>
                    <a:bodyPr/>
                    <a:lstStyle/>
                    <a:p>
                      <a:pPr algn="ctr" rtl="0" fontAlgn="ctr">
                        <a:buNone/>
                      </a:pPr>
                      <a:r>
                        <a:rPr lang="en-US" sz="800" b="1" i="0" u="none" strike="noStrike">
                          <a:solidFill>
                            <a:srgbClr val="FFFFFF"/>
                          </a:solidFill>
                          <a:effectLst/>
                          <a:latin typeface="Aptos Narrow" panose="020B0004020202020204" pitchFamily="34" charset="0"/>
                        </a:rPr>
                        <a:t>FPTK Date Real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Posisi</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Business Unit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PIC Recruiter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Sourcing FL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Sourcing HR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Shortlisted User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Psikotes</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HR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Technical Case</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Market Visit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User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Panel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Reference Check</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MCU</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Offering</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Day One</a:t>
                      </a:r>
                    </a:p>
                  </a:txBody>
                  <a:tcPr marL="0" marR="0" marT="0" marB="0" anchor="ctr">
                    <a:lnL>
                      <a:noFill/>
                    </a:lnL>
                    <a:lnR>
                      <a:noFill/>
                    </a:lnR>
                    <a:lnT>
                      <a:noFill/>
                    </a:lnT>
                    <a:lnB>
                      <a:noFill/>
                    </a:lnB>
                    <a:solidFill>
                      <a:srgbClr val="2C3E50"/>
                    </a:solidFill>
                  </a:tcPr>
                </a:tc>
                <a:extLst>
                  <a:ext uri="{0D108BD9-81ED-4DB2-BD59-A6C34878D82A}">
                    <a16:rowId xmlns:a16="http://schemas.microsoft.com/office/drawing/2014/main" val="276996153"/>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Maintenance Technician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Kenthansen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22271737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Material Handling Equipment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170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1895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183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extLst>
                  <a:ext uri="{0D108BD9-81ED-4DB2-BD59-A6C34878D82A}">
                    <a16:rowId xmlns:a16="http://schemas.microsoft.com/office/drawing/2014/main" val="1808569414"/>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Material Handling Equipment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95290552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Material Handling Equipment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25770375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Material Handling Equipment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88035826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Material Handling Equipment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981100202"/>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Material Handling Equipment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376468157"/>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Material Handling Equipment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03488664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Material Handling Equipment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160727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Material Handling Equipment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238096821"/>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Material Handling Equipment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83467016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Material Handling Equipment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61425895"/>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Material Handling Equipment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3536401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Mixing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4234110072"/>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Mixing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23729169"/>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Mixing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29065694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Mixing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28095855"/>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Mixing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19477437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Mixing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06633629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Mixing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783835084"/>
                  </a:ext>
                </a:extLst>
              </a:tr>
            </a:tbl>
          </a:graphicData>
        </a:graphic>
      </p:graphicFrame>
    </p:spTree>
    <p:extLst>
      <p:ext uri="{BB962C8B-B14F-4D97-AF65-F5344CB8AC3E}">
        <p14:creationId xmlns:p14="http://schemas.microsoft.com/office/powerpoint/2010/main" val="1481291428"/>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C8ACDCF-D1F1-B1A5-C0AC-7E4911C8ECC2}"/>
            </a:ext>
          </a:extLst>
        </p:cNvPr>
        <p:cNvGrpSpPr/>
        <p:nvPr/>
      </p:nvGrpSpPr>
      <p:grpSpPr>
        <a:xfrm>
          <a:off x="0" y="0"/>
          <a:ext cx="0" cy="0"/>
          <a:chOff x="0" y="0"/>
          <a:chExt cx="0" cy="0"/>
        </a:xfrm>
      </p:grpSpPr>
      <p:sp>
        <p:nvSpPr>
          <p:cNvPr id="40" name="Text 19">
            <a:extLst>
              <a:ext uri="{FF2B5EF4-FFF2-40B4-BE49-F238E27FC236}">
                <a16:creationId xmlns:a16="http://schemas.microsoft.com/office/drawing/2014/main" id="{ACF868BF-6FF3-79F6-FE09-BA68C5C17036}"/>
              </a:ext>
            </a:extLst>
          </p:cNvPr>
          <p:cNvSpPr/>
          <p:nvPr/>
        </p:nvSpPr>
        <p:spPr>
          <a:xfrm>
            <a:off x="8095488"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FILL RATE</a:t>
            </a:r>
            <a:endParaRPr lang="en-US" sz="1100">
              <a:latin typeface="Raleway"/>
            </a:endParaRPr>
          </a:p>
        </p:txBody>
      </p:sp>
      <p:sp>
        <p:nvSpPr>
          <p:cNvPr id="43" name="Text 22">
            <a:extLst>
              <a:ext uri="{FF2B5EF4-FFF2-40B4-BE49-F238E27FC236}">
                <a16:creationId xmlns:a16="http://schemas.microsoft.com/office/drawing/2014/main" id="{8FA4E338-3506-551A-201D-F60548116C40}"/>
              </a:ext>
            </a:extLst>
          </p:cNvPr>
          <p:cNvSpPr/>
          <p:nvPr/>
        </p:nvSpPr>
        <p:spPr>
          <a:xfrm>
            <a:off x="10027920"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 SESUAI SLA</a:t>
            </a:r>
            <a:endParaRPr lang="en-US" sz="1100">
              <a:latin typeface="Raleway"/>
            </a:endParaRPr>
          </a:p>
        </p:txBody>
      </p:sp>
      <p:sp>
        <p:nvSpPr>
          <p:cNvPr id="6" name="Text 0">
            <a:extLst>
              <a:ext uri="{FF2B5EF4-FFF2-40B4-BE49-F238E27FC236}">
                <a16:creationId xmlns:a16="http://schemas.microsoft.com/office/drawing/2014/main" id="{C0F55F1A-A971-691E-D73F-E06735F1E9F7}"/>
              </a:ext>
            </a:extLst>
          </p:cNvPr>
          <p:cNvSpPr/>
          <p:nvPr/>
        </p:nvSpPr>
        <p:spPr>
          <a:xfrm>
            <a:off x="354124" y="164592"/>
            <a:ext cx="6858000" cy="502920"/>
          </a:xfrm>
          <a:prstGeom prst="rect">
            <a:avLst/>
          </a:prstGeom>
          <a:noFill/>
          <a:ln/>
        </p:spPr>
        <p:txBody>
          <a:bodyPr wrap="square" lIns="0" tIns="0" rIns="0" bIns="0" rtlCol="0" anchor="ctr"/>
          <a:lstStyle/>
          <a:p>
            <a:r>
              <a:rPr lang="en-US" sz="2800" b="1">
                <a:solidFill>
                  <a:srgbClr val="12284C"/>
                </a:solidFill>
                <a:latin typeface="Raleway"/>
                <a:ea typeface="Georgia" pitchFamily="34" charset="-122"/>
                <a:cs typeface="Georgia" pitchFamily="34" charset="-120"/>
              </a:rPr>
              <a:t> FPTK Open — Level 2</a:t>
            </a:r>
            <a:endParaRPr lang="en-US" sz="2800" b="1">
              <a:solidFill>
                <a:srgbClr val="C00000"/>
              </a:solidFill>
              <a:latin typeface="Raleway"/>
            </a:endParaRPr>
          </a:p>
        </p:txBody>
      </p:sp>
      <p:graphicFrame>
        <p:nvGraphicFramePr>
          <p:cNvPr id="5" name="Table 4">
            <a:extLst>
              <a:ext uri="{FF2B5EF4-FFF2-40B4-BE49-F238E27FC236}">
                <a16:creationId xmlns:a16="http://schemas.microsoft.com/office/drawing/2014/main" id="{2B3C3CF2-991D-4338-21DA-7773763BC12F}"/>
              </a:ext>
            </a:extLst>
          </p:cNvPr>
          <p:cNvGraphicFramePr>
            <a:graphicFrameLocks noGrp="1"/>
          </p:cNvGraphicFramePr>
          <p:nvPr>
            <p:extLst>
              <p:ext uri="{D42A27DB-BD31-4B8C-83A1-F6EECF244321}">
                <p14:modId xmlns:p14="http://schemas.microsoft.com/office/powerpoint/2010/main" val="1538021249"/>
              </p:ext>
            </p:extLst>
          </p:nvPr>
        </p:nvGraphicFramePr>
        <p:xfrm>
          <a:off x="354124" y="667512"/>
          <a:ext cx="11441637" cy="5745954"/>
        </p:xfrm>
        <a:graphic>
          <a:graphicData uri="http://schemas.openxmlformats.org/drawingml/2006/table">
            <a:tbl>
              <a:tblPr bandRow="1">
                <a:tableStyleId>{5C22544A-7EE6-4342-B048-85BDC9FD1C3A}</a:tableStyleId>
              </a:tblPr>
              <a:tblGrid>
                <a:gridCol w="691088">
                  <a:extLst>
                    <a:ext uri="{9D8B030D-6E8A-4147-A177-3AD203B41FA5}">
                      <a16:colId xmlns:a16="http://schemas.microsoft.com/office/drawing/2014/main" val="964775141"/>
                    </a:ext>
                  </a:extLst>
                </a:gridCol>
                <a:gridCol w="1774643">
                  <a:extLst>
                    <a:ext uri="{9D8B030D-6E8A-4147-A177-3AD203B41FA5}">
                      <a16:colId xmlns:a16="http://schemas.microsoft.com/office/drawing/2014/main" val="3818843332"/>
                    </a:ext>
                  </a:extLst>
                </a:gridCol>
                <a:gridCol w="1365111">
                  <a:extLst>
                    <a:ext uri="{9D8B030D-6E8A-4147-A177-3AD203B41FA5}">
                      <a16:colId xmlns:a16="http://schemas.microsoft.com/office/drawing/2014/main" val="3805053784"/>
                    </a:ext>
                  </a:extLst>
                </a:gridCol>
                <a:gridCol w="1003821">
                  <a:extLst>
                    <a:ext uri="{9D8B030D-6E8A-4147-A177-3AD203B41FA5}">
                      <a16:colId xmlns:a16="http://schemas.microsoft.com/office/drawing/2014/main" val="873694035"/>
                    </a:ext>
                  </a:extLst>
                </a:gridCol>
                <a:gridCol w="426326">
                  <a:extLst>
                    <a:ext uri="{9D8B030D-6E8A-4147-A177-3AD203B41FA5}">
                      <a16:colId xmlns:a16="http://schemas.microsoft.com/office/drawing/2014/main" val="2118302063"/>
                    </a:ext>
                  </a:extLst>
                </a:gridCol>
                <a:gridCol w="546571">
                  <a:extLst>
                    <a:ext uri="{9D8B030D-6E8A-4147-A177-3AD203B41FA5}">
                      <a16:colId xmlns:a16="http://schemas.microsoft.com/office/drawing/2014/main" val="347069574"/>
                    </a:ext>
                  </a:extLst>
                </a:gridCol>
                <a:gridCol w="601228">
                  <a:extLst>
                    <a:ext uri="{9D8B030D-6E8A-4147-A177-3AD203B41FA5}">
                      <a16:colId xmlns:a16="http://schemas.microsoft.com/office/drawing/2014/main" val="2517663509"/>
                    </a:ext>
                  </a:extLst>
                </a:gridCol>
                <a:gridCol w="557503">
                  <a:extLst>
                    <a:ext uri="{9D8B030D-6E8A-4147-A177-3AD203B41FA5}">
                      <a16:colId xmlns:a16="http://schemas.microsoft.com/office/drawing/2014/main" val="4256926922"/>
                    </a:ext>
                  </a:extLst>
                </a:gridCol>
                <a:gridCol w="699610">
                  <a:extLst>
                    <a:ext uri="{9D8B030D-6E8A-4147-A177-3AD203B41FA5}">
                      <a16:colId xmlns:a16="http://schemas.microsoft.com/office/drawing/2014/main" val="103401002"/>
                    </a:ext>
                  </a:extLst>
                </a:gridCol>
                <a:gridCol w="623091">
                  <a:extLst>
                    <a:ext uri="{9D8B030D-6E8A-4147-A177-3AD203B41FA5}">
                      <a16:colId xmlns:a16="http://schemas.microsoft.com/office/drawing/2014/main" val="1508212738"/>
                    </a:ext>
                  </a:extLst>
                </a:gridCol>
                <a:gridCol w="557503">
                  <a:extLst>
                    <a:ext uri="{9D8B030D-6E8A-4147-A177-3AD203B41FA5}">
                      <a16:colId xmlns:a16="http://schemas.microsoft.com/office/drawing/2014/main" val="2156794149"/>
                    </a:ext>
                  </a:extLst>
                </a:gridCol>
                <a:gridCol w="590297">
                  <a:extLst>
                    <a:ext uri="{9D8B030D-6E8A-4147-A177-3AD203B41FA5}">
                      <a16:colId xmlns:a16="http://schemas.microsoft.com/office/drawing/2014/main" val="225074111"/>
                    </a:ext>
                  </a:extLst>
                </a:gridCol>
                <a:gridCol w="460562">
                  <a:extLst>
                    <a:ext uri="{9D8B030D-6E8A-4147-A177-3AD203B41FA5}">
                      <a16:colId xmlns:a16="http://schemas.microsoft.com/office/drawing/2014/main" val="461221745"/>
                    </a:ext>
                  </a:extLst>
                </a:gridCol>
                <a:gridCol w="503385">
                  <a:extLst>
                    <a:ext uri="{9D8B030D-6E8A-4147-A177-3AD203B41FA5}">
                      <a16:colId xmlns:a16="http://schemas.microsoft.com/office/drawing/2014/main" val="1428405946"/>
                    </a:ext>
                  </a:extLst>
                </a:gridCol>
                <a:gridCol w="341278">
                  <a:extLst>
                    <a:ext uri="{9D8B030D-6E8A-4147-A177-3AD203B41FA5}">
                      <a16:colId xmlns:a16="http://schemas.microsoft.com/office/drawing/2014/main" val="1005622174"/>
                    </a:ext>
                  </a:extLst>
                </a:gridCol>
                <a:gridCol w="349810">
                  <a:extLst>
                    <a:ext uri="{9D8B030D-6E8A-4147-A177-3AD203B41FA5}">
                      <a16:colId xmlns:a16="http://schemas.microsoft.com/office/drawing/2014/main" val="4214742890"/>
                    </a:ext>
                  </a:extLst>
                </a:gridCol>
                <a:gridCol w="349810">
                  <a:extLst>
                    <a:ext uri="{9D8B030D-6E8A-4147-A177-3AD203B41FA5}">
                      <a16:colId xmlns:a16="http://schemas.microsoft.com/office/drawing/2014/main" val="3877463835"/>
                    </a:ext>
                  </a:extLst>
                </a:gridCol>
              </a:tblGrid>
              <a:tr h="442868">
                <a:tc>
                  <a:txBody>
                    <a:bodyPr/>
                    <a:lstStyle/>
                    <a:p>
                      <a:pPr algn="ctr" rtl="0" fontAlgn="ctr">
                        <a:buNone/>
                      </a:pPr>
                      <a:r>
                        <a:rPr lang="en-US" sz="800" b="1" i="0" u="none" strike="noStrike">
                          <a:solidFill>
                            <a:srgbClr val="FFFFFF"/>
                          </a:solidFill>
                          <a:effectLst/>
                          <a:latin typeface="Aptos Narrow" panose="020B0004020202020204" pitchFamily="34" charset="0"/>
                        </a:rPr>
                        <a:t>FPTK Date Real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Posisi</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Business Unit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PIC Recruiter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Sourcing FL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Sourcing HR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Shortlisted User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Psikotes</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HR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Technical Case</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Market Visit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User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Panel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Reference Check</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MCU</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Offering</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Day One</a:t>
                      </a:r>
                    </a:p>
                  </a:txBody>
                  <a:tcPr marL="0" marR="0" marT="0" marB="0" anchor="ctr">
                    <a:lnL>
                      <a:noFill/>
                    </a:lnL>
                    <a:lnR>
                      <a:noFill/>
                    </a:lnR>
                    <a:lnT>
                      <a:noFill/>
                    </a:lnT>
                    <a:lnB>
                      <a:noFill/>
                    </a:lnB>
                    <a:solidFill>
                      <a:srgbClr val="2C3E50"/>
                    </a:solidFill>
                  </a:tcPr>
                </a:tc>
                <a:extLst>
                  <a:ext uri="{0D108BD9-81ED-4DB2-BD59-A6C34878D82A}">
                    <a16:rowId xmlns:a16="http://schemas.microsoft.com/office/drawing/2014/main" val="276996153"/>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Mixing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22271737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Multivac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808569414"/>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Multivac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95290552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Multivac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25770375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Multivac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88035826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Multivac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981100202"/>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Multivac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376468157"/>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Multivac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03488664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Multivac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160727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Multivac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238096821"/>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Multivac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83467016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Packing Foreman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431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200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a:t>
                      </a:r>
                    </a:p>
                  </a:txBody>
                  <a:tcPr marL="0" marR="0" marT="0" marB="0" anchor="b">
                    <a:lnL>
                      <a:noFill/>
                    </a:lnL>
                    <a:lnR>
                      <a:noFill/>
                    </a:lnR>
                    <a:lnT>
                      <a:noFill/>
                    </a:lnT>
                    <a:lnB>
                      <a:noFill/>
                    </a:lnB>
                    <a:noFill/>
                  </a:tcPr>
                </a:tc>
                <a:extLst>
                  <a:ext uri="{0D108BD9-81ED-4DB2-BD59-A6C34878D82A}">
                    <a16:rowId xmlns:a16="http://schemas.microsoft.com/office/drawing/2014/main" val="3461425895"/>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Packing Foreman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3536401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Packing Foreman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4234110072"/>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Pasteurization Foreman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23729169"/>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Pasteurization Foreman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29065694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Pasteurization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28095855"/>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Pasteurization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19477437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Precooling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06633629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Control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783835084"/>
                  </a:ext>
                </a:extLst>
              </a:tr>
            </a:tbl>
          </a:graphicData>
        </a:graphic>
      </p:graphicFrame>
    </p:spTree>
    <p:extLst>
      <p:ext uri="{BB962C8B-B14F-4D97-AF65-F5344CB8AC3E}">
        <p14:creationId xmlns:p14="http://schemas.microsoft.com/office/powerpoint/2010/main" val="803373850"/>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58BC4B-3644-12FB-9DF2-E33DF2C1D3A2}"/>
            </a:ext>
          </a:extLst>
        </p:cNvPr>
        <p:cNvGrpSpPr/>
        <p:nvPr/>
      </p:nvGrpSpPr>
      <p:grpSpPr>
        <a:xfrm>
          <a:off x="0" y="0"/>
          <a:ext cx="0" cy="0"/>
          <a:chOff x="0" y="0"/>
          <a:chExt cx="0" cy="0"/>
        </a:xfrm>
      </p:grpSpPr>
      <p:sp>
        <p:nvSpPr>
          <p:cNvPr id="40" name="Text 19">
            <a:extLst>
              <a:ext uri="{FF2B5EF4-FFF2-40B4-BE49-F238E27FC236}">
                <a16:creationId xmlns:a16="http://schemas.microsoft.com/office/drawing/2014/main" id="{EA826838-F136-0815-D30D-0CB35E2AF455}"/>
              </a:ext>
            </a:extLst>
          </p:cNvPr>
          <p:cNvSpPr/>
          <p:nvPr/>
        </p:nvSpPr>
        <p:spPr>
          <a:xfrm>
            <a:off x="8095488"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FILL RATE</a:t>
            </a:r>
            <a:endParaRPr lang="en-US" sz="1100">
              <a:latin typeface="Raleway"/>
            </a:endParaRPr>
          </a:p>
        </p:txBody>
      </p:sp>
      <p:sp>
        <p:nvSpPr>
          <p:cNvPr id="43" name="Text 22">
            <a:extLst>
              <a:ext uri="{FF2B5EF4-FFF2-40B4-BE49-F238E27FC236}">
                <a16:creationId xmlns:a16="http://schemas.microsoft.com/office/drawing/2014/main" id="{168DF57A-9D13-D414-B89D-C5BC1EEEC520}"/>
              </a:ext>
            </a:extLst>
          </p:cNvPr>
          <p:cNvSpPr/>
          <p:nvPr/>
        </p:nvSpPr>
        <p:spPr>
          <a:xfrm>
            <a:off x="10027920"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 SESUAI SLA</a:t>
            </a:r>
            <a:endParaRPr lang="en-US" sz="1100">
              <a:latin typeface="Raleway"/>
            </a:endParaRPr>
          </a:p>
        </p:txBody>
      </p:sp>
      <p:sp>
        <p:nvSpPr>
          <p:cNvPr id="6" name="Text 0">
            <a:extLst>
              <a:ext uri="{FF2B5EF4-FFF2-40B4-BE49-F238E27FC236}">
                <a16:creationId xmlns:a16="http://schemas.microsoft.com/office/drawing/2014/main" id="{B8120E59-342B-C17D-81D5-80425032A384}"/>
              </a:ext>
            </a:extLst>
          </p:cNvPr>
          <p:cNvSpPr/>
          <p:nvPr/>
        </p:nvSpPr>
        <p:spPr>
          <a:xfrm>
            <a:off x="354124" y="164592"/>
            <a:ext cx="6858000" cy="502920"/>
          </a:xfrm>
          <a:prstGeom prst="rect">
            <a:avLst/>
          </a:prstGeom>
          <a:noFill/>
          <a:ln/>
        </p:spPr>
        <p:txBody>
          <a:bodyPr wrap="square" lIns="0" tIns="0" rIns="0" bIns="0" rtlCol="0" anchor="ctr"/>
          <a:lstStyle/>
          <a:p>
            <a:r>
              <a:rPr lang="en-US" sz="2800" b="1">
                <a:solidFill>
                  <a:srgbClr val="12284C"/>
                </a:solidFill>
                <a:latin typeface="Raleway"/>
                <a:ea typeface="Georgia" pitchFamily="34" charset="-122"/>
                <a:cs typeface="Georgia" pitchFamily="34" charset="-120"/>
              </a:rPr>
              <a:t> FPTK Open — Level 2</a:t>
            </a:r>
            <a:endParaRPr lang="en-US" sz="2800" b="1">
              <a:solidFill>
                <a:srgbClr val="C00000"/>
              </a:solidFill>
              <a:latin typeface="Raleway"/>
            </a:endParaRPr>
          </a:p>
        </p:txBody>
      </p:sp>
      <p:graphicFrame>
        <p:nvGraphicFramePr>
          <p:cNvPr id="5" name="Table 4">
            <a:extLst>
              <a:ext uri="{FF2B5EF4-FFF2-40B4-BE49-F238E27FC236}">
                <a16:creationId xmlns:a16="http://schemas.microsoft.com/office/drawing/2014/main" id="{1DD7F9AF-FBB5-3325-E46F-39A9F8368B12}"/>
              </a:ext>
            </a:extLst>
          </p:cNvPr>
          <p:cNvGraphicFramePr>
            <a:graphicFrameLocks noGrp="1"/>
          </p:cNvGraphicFramePr>
          <p:nvPr>
            <p:extLst>
              <p:ext uri="{D42A27DB-BD31-4B8C-83A1-F6EECF244321}">
                <p14:modId xmlns:p14="http://schemas.microsoft.com/office/powerpoint/2010/main" val="2481633202"/>
              </p:ext>
            </p:extLst>
          </p:nvPr>
        </p:nvGraphicFramePr>
        <p:xfrm>
          <a:off x="354124" y="667512"/>
          <a:ext cx="11441637" cy="5745954"/>
        </p:xfrm>
        <a:graphic>
          <a:graphicData uri="http://schemas.openxmlformats.org/drawingml/2006/table">
            <a:tbl>
              <a:tblPr bandRow="1">
                <a:tableStyleId>{5C22544A-7EE6-4342-B048-85BDC9FD1C3A}</a:tableStyleId>
              </a:tblPr>
              <a:tblGrid>
                <a:gridCol w="691088">
                  <a:extLst>
                    <a:ext uri="{9D8B030D-6E8A-4147-A177-3AD203B41FA5}">
                      <a16:colId xmlns:a16="http://schemas.microsoft.com/office/drawing/2014/main" val="964775141"/>
                    </a:ext>
                  </a:extLst>
                </a:gridCol>
                <a:gridCol w="1774643">
                  <a:extLst>
                    <a:ext uri="{9D8B030D-6E8A-4147-A177-3AD203B41FA5}">
                      <a16:colId xmlns:a16="http://schemas.microsoft.com/office/drawing/2014/main" val="3818843332"/>
                    </a:ext>
                  </a:extLst>
                </a:gridCol>
                <a:gridCol w="1365111">
                  <a:extLst>
                    <a:ext uri="{9D8B030D-6E8A-4147-A177-3AD203B41FA5}">
                      <a16:colId xmlns:a16="http://schemas.microsoft.com/office/drawing/2014/main" val="3805053784"/>
                    </a:ext>
                  </a:extLst>
                </a:gridCol>
                <a:gridCol w="1003821">
                  <a:extLst>
                    <a:ext uri="{9D8B030D-6E8A-4147-A177-3AD203B41FA5}">
                      <a16:colId xmlns:a16="http://schemas.microsoft.com/office/drawing/2014/main" val="873694035"/>
                    </a:ext>
                  </a:extLst>
                </a:gridCol>
                <a:gridCol w="426326">
                  <a:extLst>
                    <a:ext uri="{9D8B030D-6E8A-4147-A177-3AD203B41FA5}">
                      <a16:colId xmlns:a16="http://schemas.microsoft.com/office/drawing/2014/main" val="2118302063"/>
                    </a:ext>
                  </a:extLst>
                </a:gridCol>
                <a:gridCol w="546571">
                  <a:extLst>
                    <a:ext uri="{9D8B030D-6E8A-4147-A177-3AD203B41FA5}">
                      <a16:colId xmlns:a16="http://schemas.microsoft.com/office/drawing/2014/main" val="347069574"/>
                    </a:ext>
                  </a:extLst>
                </a:gridCol>
                <a:gridCol w="601228">
                  <a:extLst>
                    <a:ext uri="{9D8B030D-6E8A-4147-A177-3AD203B41FA5}">
                      <a16:colId xmlns:a16="http://schemas.microsoft.com/office/drawing/2014/main" val="2517663509"/>
                    </a:ext>
                  </a:extLst>
                </a:gridCol>
                <a:gridCol w="557503">
                  <a:extLst>
                    <a:ext uri="{9D8B030D-6E8A-4147-A177-3AD203B41FA5}">
                      <a16:colId xmlns:a16="http://schemas.microsoft.com/office/drawing/2014/main" val="4256926922"/>
                    </a:ext>
                  </a:extLst>
                </a:gridCol>
                <a:gridCol w="699610">
                  <a:extLst>
                    <a:ext uri="{9D8B030D-6E8A-4147-A177-3AD203B41FA5}">
                      <a16:colId xmlns:a16="http://schemas.microsoft.com/office/drawing/2014/main" val="103401002"/>
                    </a:ext>
                  </a:extLst>
                </a:gridCol>
                <a:gridCol w="623091">
                  <a:extLst>
                    <a:ext uri="{9D8B030D-6E8A-4147-A177-3AD203B41FA5}">
                      <a16:colId xmlns:a16="http://schemas.microsoft.com/office/drawing/2014/main" val="1508212738"/>
                    </a:ext>
                  </a:extLst>
                </a:gridCol>
                <a:gridCol w="557503">
                  <a:extLst>
                    <a:ext uri="{9D8B030D-6E8A-4147-A177-3AD203B41FA5}">
                      <a16:colId xmlns:a16="http://schemas.microsoft.com/office/drawing/2014/main" val="2156794149"/>
                    </a:ext>
                  </a:extLst>
                </a:gridCol>
                <a:gridCol w="590297">
                  <a:extLst>
                    <a:ext uri="{9D8B030D-6E8A-4147-A177-3AD203B41FA5}">
                      <a16:colId xmlns:a16="http://schemas.microsoft.com/office/drawing/2014/main" val="225074111"/>
                    </a:ext>
                  </a:extLst>
                </a:gridCol>
                <a:gridCol w="460562">
                  <a:extLst>
                    <a:ext uri="{9D8B030D-6E8A-4147-A177-3AD203B41FA5}">
                      <a16:colId xmlns:a16="http://schemas.microsoft.com/office/drawing/2014/main" val="461221745"/>
                    </a:ext>
                  </a:extLst>
                </a:gridCol>
                <a:gridCol w="503385">
                  <a:extLst>
                    <a:ext uri="{9D8B030D-6E8A-4147-A177-3AD203B41FA5}">
                      <a16:colId xmlns:a16="http://schemas.microsoft.com/office/drawing/2014/main" val="1428405946"/>
                    </a:ext>
                  </a:extLst>
                </a:gridCol>
                <a:gridCol w="341278">
                  <a:extLst>
                    <a:ext uri="{9D8B030D-6E8A-4147-A177-3AD203B41FA5}">
                      <a16:colId xmlns:a16="http://schemas.microsoft.com/office/drawing/2014/main" val="1005622174"/>
                    </a:ext>
                  </a:extLst>
                </a:gridCol>
                <a:gridCol w="349810">
                  <a:extLst>
                    <a:ext uri="{9D8B030D-6E8A-4147-A177-3AD203B41FA5}">
                      <a16:colId xmlns:a16="http://schemas.microsoft.com/office/drawing/2014/main" val="4214742890"/>
                    </a:ext>
                  </a:extLst>
                </a:gridCol>
                <a:gridCol w="349810">
                  <a:extLst>
                    <a:ext uri="{9D8B030D-6E8A-4147-A177-3AD203B41FA5}">
                      <a16:colId xmlns:a16="http://schemas.microsoft.com/office/drawing/2014/main" val="3877463835"/>
                    </a:ext>
                  </a:extLst>
                </a:gridCol>
              </a:tblGrid>
              <a:tr h="442868">
                <a:tc>
                  <a:txBody>
                    <a:bodyPr/>
                    <a:lstStyle/>
                    <a:p>
                      <a:pPr algn="ctr" rtl="0" fontAlgn="ctr">
                        <a:buNone/>
                      </a:pPr>
                      <a:r>
                        <a:rPr lang="en-US" sz="800" b="1" i="0" u="none" strike="noStrike">
                          <a:solidFill>
                            <a:srgbClr val="FFFFFF"/>
                          </a:solidFill>
                          <a:effectLst/>
                          <a:latin typeface="Aptos Narrow" panose="020B0004020202020204" pitchFamily="34" charset="0"/>
                        </a:rPr>
                        <a:t>FPTK Date Real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Posisi</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Business Unit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PIC Recruiter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Sourcing FL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Sourcing HR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Shortlisted User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Psikotes</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HR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Technical Case</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Market Visit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User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Panel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Reference Check</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MCU</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Offering</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Day One</a:t>
                      </a:r>
                    </a:p>
                  </a:txBody>
                  <a:tcPr marL="0" marR="0" marT="0" marB="0" anchor="ctr">
                    <a:lnL>
                      <a:noFill/>
                    </a:lnL>
                    <a:lnR>
                      <a:noFill/>
                    </a:lnR>
                    <a:lnT>
                      <a:noFill/>
                    </a:lnT>
                    <a:lnB>
                      <a:noFill/>
                    </a:lnB>
                    <a:solidFill>
                      <a:srgbClr val="2C3E50"/>
                    </a:solidFill>
                  </a:tcPr>
                </a:tc>
                <a:extLst>
                  <a:ext uri="{0D108BD9-81ED-4DB2-BD59-A6C34878D82A}">
                    <a16:rowId xmlns:a16="http://schemas.microsoft.com/office/drawing/2014/main" val="276996153"/>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Control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22271737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Control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808569414"/>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Control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95290552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Control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25770375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Control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88035826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Control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981100202"/>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Control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376468157"/>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Control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03488664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Smoke Shower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160727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Sparepart Worker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238096821"/>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Sparepart Worker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83467016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Utility Foreman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340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118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extLst>
                  <a:ext uri="{0D108BD9-81ED-4DB2-BD59-A6C34878D82A}">
                    <a16:rowId xmlns:a16="http://schemas.microsoft.com/office/drawing/2014/main" val="3461425895"/>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Utility Technician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3536401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Utility Technician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4234110072"/>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Utility Technician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23729169"/>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Utility Technician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Kenthansen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29065694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Utility Technician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Kenthansen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28095855"/>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Waste Water Treatment Plant Technician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19477437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Waste Water Treatment Plant Technician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06633629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01-Sep-25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Waste Water Treatment Plant Technician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783835084"/>
                  </a:ext>
                </a:extLst>
              </a:tr>
            </a:tbl>
          </a:graphicData>
        </a:graphic>
      </p:graphicFrame>
    </p:spTree>
    <p:extLst>
      <p:ext uri="{BB962C8B-B14F-4D97-AF65-F5344CB8AC3E}">
        <p14:creationId xmlns:p14="http://schemas.microsoft.com/office/powerpoint/2010/main" val="687448187"/>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9D1A12-7159-3C29-09AD-09CDC1891415}"/>
            </a:ext>
          </a:extLst>
        </p:cNvPr>
        <p:cNvGrpSpPr/>
        <p:nvPr/>
      </p:nvGrpSpPr>
      <p:grpSpPr>
        <a:xfrm>
          <a:off x="0" y="0"/>
          <a:ext cx="0" cy="0"/>
          <a:chOff x="0" y="0"/>
          <a:chExt cx="0" cy="0"/>
        </a:xfrm>
      </p:grpSpPr>
      <p:sp>
        <p:nvSpPr>
          <p:cNvPr id="40" name="Text 19">
            <a:extLst>
              <a:ext uri="{FF2B5EF4-FFF2-40B4-BE49-F238E27FC236}">
                <a16:creationId xmlns:a16="http://schemas.microsoft.com/office/drawing/2014/main" id="{45DF7E39-2FEE-6880-2D05-DE8F973E2741}"/>
              </a:ext>
            </a:extLst>
          </p:cNvPr>
          <p:cNvSpPr/>
          <p:nvPr/>
        </p:nvSpPr>
        <p:spPr>
          <a:xfrm>
            <a:off x="8095488"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FILL RATE</a:t>
            </a:r>
            <a:endParaRPr lang="en-US" sz="1100">
              <a:latin typeface="Raleway"/>
            </a:endParaRPr>
          </a:p>
        </p:txBody>
      </p:sp>
      <p:sp>
        <p:nvSpPr>
          <p:cNvPr id="43" name="Text 22">
            <a:extLst>
              <a:ext uri="{FF2B5EF4-FFF2-40B4-BE49-F238E27FC236}">
                <a16:creationId xmlns:a16="http://schemas.microsoft.com/office/drawing/2014/main" id="{6D45267F-FF9F-47E0-397F-E78BC8213FAD}"/>
              </a:ext>
            </a:extLst>
          </p:cNvPr>
          <p:cNvSpPr/>
          <p:nvPr/>
        </p:nvSpPr>
        <p:spPr>
          <a:xfrm>
            <a:off x="10027920"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 SESUAI SLA</a:t>
            </a:r>
            <a:endParaRPr lang="en-US" sz="1100">
              <a:latin typeface="Raleway"/>
            </a:endParaRPr>
          </a:p>
        </p:txBody>
      </p:sp>
      <p:sp>
        <p:nvSpPr>
          <p:cNvPr id="6" name="Text 0">
            <a:extLst>
              <a:ext uri="{FF2B5EF4-FFF2-40B4-BE49-F238E27FC236}">
                <a16:creationId xmlns:a16="http://schemas.microsoft.com/office/drawing/2014/main" id="{DA177825-4375-CFC4-94E4-112EB70D6318}"/>
              </a:ext>
            </a:extLst>
          </p:cNvPr>
          <p:cNvSpPr/>
          <p:nvPr/>
        </p:nvSpPr>
        <p:spPr>
          <a:xfrm>
            <a:off x="354124" y="164592"/>
            <a:ext cx="6858000" cy="502920"/>
          </a:xfrm>
          <a:prstGeom prst="rect">
            <a:avLst/>
          </a:prstGeom>
          <a:noFill/>
          <a:ln/>
        </p:spPr>
        <p:txBody>
          <a:bodyPr wrap="square" lIns="0" tIns="0" rIns="0" bIns="0" rtlCol="0" anchor="ctr"/>
          <a:lstStyle/>
          <a:p>
            <a:r>
              <a:rPr lang="en-US" sz="2800" b="1">
                <a:solidFill>
                  <a:srgbClr val="12284C"/>
                </a:solidFill>
                <a:latin typeface="Raleway"/>
                <a:ea typeface="Georgia" pitchFamily="34" charset="-122"/>
                <a:cs typeface="Georgia" pitchFamily="34" charset="-120"/>
              </a:rPr>
              <a:t> FPTK Open — Level 2</a:t>
            </a:r>
            <a:endParaRPr lang="en-US" sz="2800" b="1">
              <a:solidFill>
                <a:srgbClr val="C00000"/>
              </a:solidFill>
              <a:latin typeface="Raleway"/>
            </a:endParaRPr>
          </a:p>
        </p:txBody>
      </p:sp>
      <p:graphicFrame>
        <p:nvGraphicFramePr>
          <p:cNvPr id="5" name="Table 4">
            <a:extLst>
              <a:ext uri="{FF2B5EF4-FFF2-40B4-BE49-F238E27FC236}">
                <a16:creationId xmlns:a16="http://schemas.microsoft.com/office/drawing/2014/main" id="{B8517EFB-BC89-89B9-31B7-37E039F7B6C9}"/>
              </a:ext>
            </a:extLst>
          </p:cNvPr>
          <p:cNvGraphicFramePr>
            <a:graphicFrameLocks noGrp="1"/>
          </p:cNvGraphicFramePr>
          <p:nvPr>
            <p:extLst>
              <p:ext uri="{D42A27DB-BD31-4B8C-83A1-F6EECF244321}">
                <p14:modId xmlns:p14="http://schemas.microsoft.com/office/powerpoint/2010/main" val="1011069540"/>
              </p:ext>
            </p:extLst>
          </p:nvPr>
        </p:nvGraphicFramePr>
        <p:xfrm>
          <a:off x="354124" y="667512"/>
          <a:ext cx="11441637" cy="5745954"/>
        </p:xfrm>
        <a:graphic>
          <a:graphicData uri="http://schemas.openxmlformats.org/drawingml/2006/table">
            <a:tbl>
              <a:tblPr bandRow="1">
                <a:tableStyleId>{5C22544A-7EE6-4342-B048-85BDC9FD1C3A}</a:tableStyleId>
              </a:tblPr>
              <a:tblGrid>
                <a:gridCol w="691088">
                  <a:extLst>
                    <a:ext uri="{9D8B030D-6E8A-4147-A177-3AD203B41FA5}">
                      <a16:colId xmlns:a16="http://schemas.microsoft.com/office/drawing/2014/main" val="964775141"/>
                    </a:ext>
                  </a:extLst>
                </a:gridCol>
                <a:gridCol w="1774643">
                  <a:extLst>
                    <a:ext uri="{9D8B030D-6E8A-4147-A177-3AD203B41FA5}">
                      <a16:colId xmlns:a16="http://schemas.microsoft.com/office/drawing/2014/main" val="3818843332"/>
                    </a:ext>
                  </a:extLst>
                </a:gridCol>
                <a:gridCol w="1365111">
                  <a:extLst>
                    <a:ext uri="{9D8B030D-6E8A-4147-A177-3AD203B41FA5}">
                      <a16:colId xmlns:a16="http://schemas.microsoft.com/office/drawing/2014/main" val="3805053784"/>
                    </a:ext>
                  </a:extLst>
                </a:gridCol>
                <a:gridCol w="1003821">
                  <a:extLst>
                    <a:ext uri="{9D8B030D-6E8A-4147-A177-3AD203B41FA5}">
                      <a16:colId xmlns:a16="http://schemas.microsoft.com/office/drawing/2014/main" val="873694035"/>
                    </a:ext>
                  </a:extLst>
                </a:gridCol>
                <a:gridCol w="426326">
                  <a:extLst>
                    <a:ext uri="{9D8B030D-6E8A-4147-A177-3AD203B41FA5}">
                      <a16:colId xmlns:a16="http://schemas.microsoft.com/office/drawing/2014/main" val="2118302063"/>
                    </a:ext>
                  </a:extLst>
                </a:gridCol>
                <a:gridCol w="546571">
                  <a:extLst>
                    <a:ext uri="{9D8B030D-6E8A-4147-A177-3AD203B41FA5}">
                      <a16:colId xmlns:a16="http://schemas.microsoft.com/office/drawing/2014/main" val="347069574"/>
                    </a:ext>
                  </a:extLst>
                </a:gridCol>
                <a:gridCol w="601228">
                  <a:extLst>
                    <a:ext uri="{9D8B030D-6E8A-4147-A177-3AD203B41FA5}">
                      <a16:colId xmlns:a16="http://schemas.microsoft.com/office/drawing/2014/main" val="2517663509"/>
                    </a:ext>
                  </a:extLst>
                </a:gridCol>
                <a:gridCol w="557503">
                  <a:extLst>
                    <a:ext uri="{9D8B030D-6E8A-4147-A177-3AD203B41FA5}">
                      <a16:colId xmlns:a16="http://schemas.microsoft.com/office/drawing/2014/main" val="4256926922"/>
                    </a:ext>
                  </a:extLst>
                </a:gridCol>
                <a:gridCol w="699610">
                  <a:extLst>
                    <a:ext uri="{9D8B030D-6E8A-4147-A177-3AD203B41FA5}">
                      <a16:colId xmlns:a16="http://schemas.microsoft.com/office/drawing/2014/main" val="103401002"/>
                    </a:ext>
                  </a:extLst>
                </a:gridCol>
                <a:gridCol w="623091">
                  <a:extLst>
                    <a:ext uri="{9D8B030D-6E8A-4147-A177-3AD203B41FA5}">
                      <a16:colId xmlns:a16="http://schemas.microsoft.com/office/drawing/2014/main" val="1508212738"/>
                    </a:ext>
                  </a:extLst>
                </a:gridCol>
                <a:gridCol w="557503">
                  <a:extLst>
                    <a:ext uri="{9D8B030D-6E8A-4147-A177-3AD203B41FA5}">
                      <a16:colId xmlns:a16="http://schemas.microsoft.com/office/drawing/2014/main" val="2156794149"/>
                    </a:ext>
                  </a:extLst>
                </a:gridCol>
                <a:gridCol w="590297">
                  <a:extLst>
                    <a:ext uri="{9D8B030D-6E8A-4147-A177-3AD203B41FA5}">
                      <a16:colId xmlns:a16="http://schemas.microsoft.com/office/drawing/2014/main" val="225074111"/>
                    </a:ext>
                  </a:extLst>
                </a:gridCol>
                <a:gridCol w="460562">
                  <a:extLst>
                    <a:ext uri="{9D8B030D-6E8A-4147-A177-3AD203B41FA5}">
                      <a16:colId xmlns:a16="http://schemas.microsoft.com/office/drawing/2014/main" val="461221745"/>
                    </a:ext>
                  </a:extLst>
                </a:gridCol>
                <a:gridCol w="503385">
                  <a:extLst>
                    <a:ext uri="{9D8B030D-6E8A-4147-A177-3AD203B41FA5}">
                      <a16:colId xmlns:a16="http://schemas.microsoft.com/office/drawing/2014/main" val="1428405946"/>
                    </a:ext>
                  </a:extLst>
                </a:gridCol>
                <a:gridCol w="341278">
                  <a:extLst>
                    <a:ext uri="{9D8B030D-6E8A-4147-A177-3AD203B41FA5}">
                      <a16:colId xmlns:a16="http://schemas.microsoft.com/office/drawing/2014/main" val="1005622174"/>
                    </a:ext>
                  </a:extLst>
                </a:gridCol>
                <a:gridCol w="349810">
                  <a:extLst>
                    <a:ext uri="{9D8B030D-6E8A-4147-A177-3AD203B41FA5}">
                      <a16:colId xmlns:a16="http://schemas.microsoft.com/office/drawing/2014/main" val="4214742890"/>
                    </a:ext>
                  </a:extLst>
                </a:gridCol>
                <a:gridCol w="349810">
                  <a:extLst>
                    <a:ext uri="{9D8B030D-6E8A-4147-A177-3AD203B41FA5}">
                      <a16:colId xmlns:a16="http://schemas.microsoft.com/office/drawing/2014/main" val="3877463835"/>
                    </a:ext>
                  </a:extLst>
                </a:gridCol>
              </a:tblGrid>
              <a:tr h="442868">
                <a:tc>
                  <a:txBody>
                    <a:bodyPr/>
                    <a:lstStyle/>
                    <a:p>
                      <a:pPr algn="ctr" rtl="0" fontAlgn="ctr">
                        <a:buNone/>
                      </a:pPr>
                      <a:r>
                        <a:rPr lang="en-US" sz="800" b="1" i="0" u="none" strike="noStrike">
                          <a:solidFill>
                            <a:srgbClr val="FFFFFF"/>
                          </a:solidFill>
                          <a:effectLst/>
                          <a:latin typeface="Aptos Narrow" panose="020B0004020202020204" pitchFamily="34" charset="0"/>
                        </a:rPr>
                        <a:t>FPTK Date Real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Posisi</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Business Unit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PIC Recruiter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Sourcing FL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Sourcing HR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Shortlisted User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Psikotes</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HR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Technical Case</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Market Visit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User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Panel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Reference Check</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MCU</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Offering</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Day One</a:t>
                      </a:r>
                    </a:p>
                  </a:txBody>
                  <a:tcPr marL="0" marR="0" marT="0" marB="0" anchor="ctr">
                    <a:lnL>
                      <a:noFill/>
                    </a:lnL>
                    <a:lnR>
                      <a:noFill/>
                    </a:lnR>
                    <a:lnT>
                      <a:noFill/>
                    </a:lnT>
                    <a:lnB>
                      <a:noFill/>
                    </a:lnB>
                    <a:solidFill>
                      <a:srgbClr val="2C3E50"/>
                    </a:solidFill>
                  </a:tcPr>
                </a:tc>
                <a:extLst>
                  <a:ext uri="{0D108BD9-81ED-4DB2-BD59-A6C34878D82A}">
                    <a16:rowId xmlns:a16="http://schemas.microsoft.com/office/drawing/2014/main" val="276996153"/>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22-Oct-25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Stock Keeping Worker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22271737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22-Oct-25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Stock Keeping Worker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808569414"/>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22-Oct-25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Stock Keeping Worker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95290552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13-Nov-25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WWTP Technician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25770375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12-Dec-25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Filling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Fiscall</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88035826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12-Dec-25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Filling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Fiscall</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981100202"/>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12-Dec-25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Filling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Fiscall</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376468157"/>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12-Dec-25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Filling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Fiscall</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03488664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12-Dec-25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Mixing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160727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12-Dec-25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Stock Keeping Worker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238096821"/>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12-Dec-25</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Stock Keeping Worker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83467016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06-Jan-26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Formulation Worker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61425895"/>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06-Feb-26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Project Foreman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Fiscall</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3536401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06-Feb-26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WWTP Technician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4234110072"/>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08-Feb-26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Utility Technician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23729169"/>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09-Feb-26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Utility Technician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29065694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04-Mar-26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Maintenance Technician 3 - Shift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Salwa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181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57</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28095855"/>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10-Mar-26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Maintenance Technician 2 - Shift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Salwa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19477437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13-Mar-26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Formulation Worker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06633629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13-Mar-26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Formulation Worker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783835084"/>
                  </a:ext>
                </a:extLst>
              </a:tr>
            </a:tbl>
          </a:graphicData>
        </a:graphic>
      </p:graphicFrame>
    </p:spTree>
    <p:extLst>
      <p:ext uri="{BB962C8B-B14F-4D97-AF65-F5344CB8AC3E}">
        <p14:creationId xmlns:p14="http://schemas.microsoft.com/office/powerpoint/2010/main" val="705609384"/>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37F9D5-9D4B-6844-0B82-1DE673290DE5}"/>
            </a:ext>
          </a:extLst>
        </p:cNvPr>
        <p:cNvGrpSpPr/>
        <p:nvPr/>
      </p:nvGrpSpPr>
      <p:grpSpPr>
        <a:xfrm>
          <a:off x="0" y="0"/>
          <a:ext cx="0" cy="0"/>
          <a:chOff x="0" y="0"/>
          <a:chExt cx="0" cy="0"/>
        </a:xfrm>
      </p:grpSpPr>
      <p:sp>
        <p:nvSpPr>
          <p:cNvPr id="40" name="Text 19">
            <a:extLst>
              <a:ext uri="{FF2B5EF4-FFF2-40B4-BE49-F238E27FC236}">
                <a16:creationId xmlns:a16="http://schemas.microsoft.com/office/drawing/2014/main" id="{BA09DEC3-41E1-9B80-0DB3-5DF1F9D47EE6}"/>
              </a:ext>
            </a:extLst>
          </p:cNvPr>
          <p:cNvSpPr/>
          <p:nvPr/>
        </p:nvSpPr>
        <p:spPr>
          <a:xfrm>
            <a:off x="8095488"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FILL RATE</a:t>
            </a:r>
            <a:endParaRPr lang="en-US" sz="1100">
              <a:latin typeface="Raleway"/>
            </a:endParaRPr>
          </a:p>
        </p:txBody>
      </p:sp>
      <p:sp>
        <p:nvSpPr>
          <p:cNvPr id="43" name="Text 22">
            <a:extLst>
              <a:ext uri="{FF2B5EF4-FFF2-40B4-BE49-F238E27FC236}">
                <a16:creationId xmlns:a16="http://schemas.microsoft.com/office/drawing/2014/main" id="{93A9848C-1312-42AD-46A8-615B1C851B2C}"/>
              </a:ext>
            </a:extLst>
          </p:cNvPr>
          <p:cNvSpPr/>
          <p:nvPr/>
        </p:nvSpPr>
        <p:spPr>
          <a:xfrm>
            <a:off x="10027920"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 SESUAI SLA</a:t>
            </a:r>
            <a:endParaRPr lang="en-US" sz="1100">
              <a:latin typeface="Raleway"/>
            </a:endParaRPr>
          </a:p>
        </p:txBody>
      </p:sp>
      <p:sp>
        <p:nvSpPr>
          <p:cNvPr id="6" name="Text 0">
            <a:extLst>
              <a:ext uri="{FF2B5EF4-FFF2-40B4-BE49-F238E27FC236}">
                <a16:creationId xmlns:a16="http://schemas.microsoft.com/office/drawing/2014/main" id="{E56F1507-FEE6-E220-76A7-43D731CB71F3}"/>
              </a:ext>
            </a:extLst>
          </p:cNvPr>
          <p:cNvSpPr/>
          <p:nvPr/>
        </p:nvSpPr>
        <p:spPr>
          <a:xfrm>
            <a:off x="354124" y="164592"/>
            <a:ext cx="6858000" cy="502920"/>
          </a:xfrm>
          <a:prstGeom prst="rect">
            <a:avLst/>
          </a:prstGeom>
          <a:noFill/>
          <a:ln/>
        </p:spPr>
        <p:txBody>
          <a:bodyPr wrap="square" lIns="0" tIns="0" rIns="0" bIns="0" rtlCol="0" anchor="ctr"/>
          <a:lstStyle/>
          <a:p>
            <a:r>
              <a:rPr lang="en-US" sz="2800" b="1">
                <a:solidFill>
                  <a:srgbClr val="12284C"/>
                </a:solidFill>
                <a:latin typeface="Raleway"/>
                <a:ea typeface="Georgia" pitchFamily="34" charset="-122"/>
                <a:cs typeface="Georgia" pitchFamily="34" charset="-120"/>
              </a:rPr>
              <a:t> FPTK Open — Level 2</a:t>
            </a:r>
            <a:endParaRPr lang="en-US" sz="2800" b="1">
              <a:solidFill>
                <a:srgbClr val="C00000"/>
              </a:solidFill>
              <a:latin typeface="Raleway"/>
            </a:endParaRPr>
          </a:p>
        </p:txBody>
      </p:sp>
      <p:graphicFrame>
        <p:nvGraphicFramePr>
          <p:cNvPr id="5" name="Table 4">
            <a:extLst>
              <a:ext uri="{FF2B5EF4-FFF2-40B4-BE49-F238E27FC236}">
                <a16:creationId xmlns:a16="http://schemas.microsoft.com/office/drawing/2014/main" id="{955BA5B6-7495-B363-8BA0-3C6B2EEBA1D0}"/>
              </a:ext>
            </a:extLst>
          </p:cNvPr>
          <p:cNvGraphicFramePr>
            <a:graphicFrameLocks noGrp="1"/>
          </p:cNvGraphicFramePr>
          <p:nvPr>
            <p:extLst>
              <p:ext uri="{D42A27DB-BD31-4B8C-83A1-F6EECF244321}">
                <p14:modId xmlns:p14="http://schemas.microsoft.com/office/powerpoint/2010/main" val="1746946406"/>
              </p:ext>
            </p:extLst>
          </p:nvPr>
        </p:nvGraphicFramePr>
        <p:xfrm>
          <a:off x="354124" y="667512"/>
          <a:ext cx="11441637" cy="5745954"/>
        </p:xfrm>
        <a:graphic>
          <a:graphicData uri="http://schemas.openxmlformats.org/drawingml/2006/table">
            <a:tbl>
              <a:tblPr bandRow="1">
                <a:tableStyleId>{5C22544A-7EE6-4342-B048-85BDC9FD1C3A}</a:tableStyleId>
              </a:tblPr>
              <a:tblGrid>
                <a:gridCol w="691088">
                  <a:extLst>
                    <a:ext uri="{9D8B030D-6E8A-4147-A177-3AD203B41FA5}">
                      <a16:colId xmlns:a16="http://schemas.microsoft.com/office/drawing/2014/main" val="964775141"/>
                    </a:ext>
                  </a:extLst>
                </a:gridCol>
                <a:gridCol w="1774643">
                  <a:extLst>
                    <a:ext uri="{9D8B030D-6E8A-4147-A177-3AD203B41FA5}">
                      <a16:colId xmlns:a16="http://schemas.microsoft.com/office/drawing/2014/main" val="3818843332"/>
                    </a:ext>
                  </a:extLst>
                </a:gridCol>
                <a:gridCol w="1365111">
                  <a:extLst>
                    <a:ext uri="{9D8B030D-6E8A-4147-A177-3AD203B41FA5}">
                      <a16:colId xmlns:a16="http://schemas.microsoft.com/office/drawing/2014/main" val="3805053784"/>
                    </a:ext>
                  </a:extLst>
                </a:gridCol>
                <a:gridCol w="1003821">
                  <a:extLst>
                    <a:ext uri="{9D8B030D-6E8A-4147-A177-3AD203B41FA5}">
                      <a16:colId xmlns:a16="http://schemas.microsoft.com/office/drawing/2014/main" val="873694035"/>
                    </a:ext>
                  </a:extLst>
                </a:gridCol>
                <a:gridCol w="426326">
                  <a:extLst>
                    <a:ext uri="{9D8B030D-6E8A-4147-A177-3AD203B41FA5}">
                      <a16:colId xmlns:a16="http://schemas.microsoft.com/office/drawing/2014/main" val="2118302063"/>
                    </a:ext>
                  </a:extLst>
                </a:gridCol>
                <a:gridCol w="546571">
                  <a:extLst>
                    <a:ext uri="{9D8B030D-6E8A-4147-A177-3AD203B41FA5}">
                      <a16:colId xmlns:a16="http://schemas.microsoft.com/office/drawing/2014/main" val="347069574"/>
                    </a:ext>
                  </a:extLst>
                </a:gridCol>
                <a:gridCol w="601228">
                  <a:extLst>
                    <a:ext uri="{9D8B030D-6E8A-4147-A177-3AD203B41FA5}">
                      <a16:colId xmlns:a16="http://schemas.microsoft.com/office/drawing/2014/main" val="2517663509"/>
                    </a:ext>
                  </a:extLst>
                </a:gridCol>
                <a:gridCol w="557503">
                  <a:extLst>
                    <a:ext uri="{9D8B030D-6E8A-4147-A177-3AD203B41FA5}">
                      <a16:colId xmlns:a16="http://schemas.microsoft.com/office/drawing/2014/main" val="4256926922"/>
                    </a:ext>
                  </a:extLst>
                </a:gridCol>
                <a:gridCol w="699610">
                  <a:extLst>
                    <a:ext uri="{9D8B030D-6E8A-4147-A177-3AD203B41FA5}">
                      <a16:colId xmlns:a16="http://schemas.microsoft.com/office/drawing/2014/main" val="103401002"/>
                    </a:ext>
                  </a:extLst>
                </a:gridCol>
                <a:gridCol w="623091">
                  <a:extLst>
                    <a:ext uri="{9D8B030D-6E8A-4147-A177-3AD203B41FA5}">
                      <a16:colId xmlns:a16="http://schemas.microsoft.com/office/drawing/2014/main" val="1508212738"/>
                    </a:ext>
                  </a:extLst>
                </a:gridCol>
                <a:gridCol w="557503">
                  <a:extLst>
                    <a:ext uri="{9D8B030D-6E8A-4147-A177-3AD203B41FA5}">
                      <a16:colId xmlns:a16="http://schemas.microsoft.com/office/drawing/2014/main" val="2156794149"/>
                    </a:ext>
                  </a:extLst>
                </a:gridCol>
                <a:gridCol w="590297">
                  <a:extLst>
                    <a:ext uri="{9D8B030D-6E8A-4147-A177-3AD203B41FA5}">
                      <a16:colId xmlns:a16="http://schemas.microsoft.com/office/drawing/2014/main" val="225074111"/>
                    </a:ext>
                  </a:extLst>
                </a:gridCol>
                <a:gridCol w="460562">
                  <a:extLst>
                    <a:ext uri="{9D8B030D-6E8A-4147-A177-3AD203B41FA5}">
                      <a16:colId xmlns:a16="http://schemas.microsoft.com/office/drawing/2014/main" val="461221745"/>
                    </a:ext>
                  </a:extLst>
                </a:gridCol>
                <a:gridCol w="503385">
                  <a:extLst>
                    <a:ext uri="{9D8B030D-6E8A-4147-A177-3AD203B41FA5}">
                      <a16:colId xmlns:a16="http://schemas.microsoft.com/office/drawing/2014/main" val="1428405946"/>
                    </a:ext>
                  </a:extLst>
                </a:gridCol>
                <a:gridCol w="341278">
                  <a:extLst>
                    <a:ext uri="{9D8B030D-6E8A-4147-A177-3AD203B41FA5}">
                      <a16:colId xmlns:a16="http://schemas.microsoft.com/office/drawing/2014/main" val="1005622174"/>
                    </a:ext>
                  </a:extLst>
                </a:gridCol>
                <a:gridCol w="349810">
                  <a:extLst>
                    <a:ext uri="{9D8B030D-6E8A-4147-A177-3AD203B41FA5}">
                      <a16:colId xmlns:a16="http://schemas.microsoft.com/office/drawing/2014/main" val="4214742890"/>
                    </a:ext>
                  </a:extLst>
                </a:gridCol>
                <a:gridCol w="349810">
                  <a:extLst>
                    <a:ext uri="{9D8B030D-6E8A-4147-A177-3AD203B41FA5}">
                      <a16:colId xmlns:a16="http://schemas.microsoft.com/office/drawing/2014/main" val="3877463835"/>
                    </a:ext>
                  </a:extLst>
                </a:gridCol>
              </a:tblGrid>
              <a:tr h="442868">
                <a:tc>
                  <a:txBody>
                    <a:bodyPr/>
                    <a:lstStyle/>
                    <a:p>
                      <a:pPr algn="ctr" rtl="0" fontAlgn="ctr">
                        <a:buNone/>
                      </a:pPr>
                      <a:r>
                        <a:rPr lang="en-US" sz="800" b="1" i="0" u="none" strike="noStrike">
                          <a:solidFill>
                            <a:srgbClr val="FFFFFF"/>
                          </a:solidFill>
                          <a:effectLst/>
                          <a:latin typeface="Aptos Narrow" panose="020B0004020202020204" pitchFamily="34" charset="0"/>
                        </a:rPr>
                        <a:t>FPTK Date Real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Posisi</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Business Unit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PIC Recruiter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Sourcing FL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Sourcing HR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Shortlisted User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Psikotes</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HR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Technical Case</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Market Visit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User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Panel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Reference Check</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MCU</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Offering</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Day One</a:t>
                      </a:r>
                    </a:p>
                  </a:txBody>
                  <a:tcPr marL="0" marR="0" marT="0" marB="0" anchor="ctr">
                    <a:lnL>
                      <a:noFill/>
                    </a:lnL>
                    <a:lnR>
                      <a:noFill/>
                    </a:lnR>
                    <a:lnT>
                      <a:noFill/>
                    </a:lnT>
                    <a:lnB>
                      <a:noFill/>
                    </a:lnB>
                    <a:solidFill>
                      <a:srgbClr val="2C3E50"/>
                    </a:solidFill>
                  </a:tcPr>
                </a:tc>
                <a:extLst>
                  <a:ext uri="{0D108BD9-81ED-4DB2-BD59-A6C34878D82A}">
                    <a16:rowId xmlns:a16="http://schemas.microsoft.com/office/drawing/2014/main" val="276996153"/>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13-Mar-26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Formulation Stock Keeping Worker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22271737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13-Mar-26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Formulation Worker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808569414"/>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23-Mar-26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Influencer Marketing Intern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Salsa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95290552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23-Mar-26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Influencer Marketing Intern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Salsa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25770375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30-Mar-26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Control Staff - Singles</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380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275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7</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8</a:t>
                      </a:r>
                    </a:p>
                  </a:txBody>
                  <a:tcPr marL="0" marR="0" marT="0" marB="0" anchor="b">
                    <a:lnL>
                      <a:noFill/>
                    </a:lnL>
                    <a:lnR>
                      <a:noFill/>
                    </a:lnR>
                    <a:lnT>
                      <a:noFill/>
                    </a:lnT>
                    <a:lnB>
                      <a:noFill/>
                    </a:lnB>
                    <a:noFill/>
                  </a:tcPr>
                </a:tc>
                <a:extLst>
                  <a:ext uri="{0D108BD9-81ED-4DB2-BD59-A6C34878D82A}">
                    <a16:rowId xmlns:a16="http://schemas.microsoft.com/office/drawing/2014/main" val="388035826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31-Mar-26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Forming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78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981100202"/>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Frying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164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90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376468157"/>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Metal Detector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172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79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extLst>
                  <a:ext uri="{0D108BD9-81ED-4DB2-BD59-A6C34878D82A}">
                    <a16:rowId xmlns:a16="http://schemas.microsoft.com/office/drawing/2014/main" val="203488664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Metal Detector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4160727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Metal Detector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238096821"/>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Metal Detector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83467016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Metal Detector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461425895"/>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02-Apr-26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Metal Detector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3536401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Metal Detector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4234110072"/>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02-Apr-26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RCBK Extruding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423729169"/>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RCBK Extruding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29065694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RCBK Extruding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28095855"/>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RCBK Extruding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19477437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RCBK Extruding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06633629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RCBK Extruding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783835084"/>
                  </a:ext>
                </a:extLst>
              </a:tr>
            </a:tbl>
          </a:graphicData>
        </a:graphic>
      </p:graphicFrame>
    </p:spTree>
    <p:extLst>
      <p:ext uri="{BB962C8B-B14F-4D97-AF65-F5344CB8AC3E}">
        <p14:creationId xmlns:p14="http://schemas.microsoft.com/office/powerpoint/2010/main" val="2153423743"/>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1EBEE9-AC37-F65A-4A08-152E02BE93DB}"/>
            </a:ext>
          </a:extLst>
        </p:cNvPr>
        <p:cNvGrpSpPr/>
        <p:nvPr/>
      </p:nvGrpSpPr>
      <p:grpSpPr>
        <a:xfrm>
          <a:off x="0" y="0"/>
          <a:ext cx="0" cy="0"/>
          <a:chOff x="0" y="0"/>
          <a:chExt cx="0" cy="0"/>
        </a:xfrm>
      </p:grpSpPr>
      <p:sp>
        <p:nvSpPr>
          <p:cNvPr id="40" name="Text 19">
            <a:extLst>
              <a:ext uri="{FF2B5EF4-FFF2-40B4-BE49-F238E27FC236}">
                <a16:creationId xmlns:a16="http://schemas.microsoft.com/office/drawing/2014/main" id="{69DF7DAD-13FC-391A-44E2-D05D9DEECF4E}"/>
              </a:ext>
            </a:extLst>
          </p:cNvPr>
          <p:cNvSpPr/>
          <p:nvPr/>
        </p:nvSpPr>
        <p:spPr>
          <a:xfrm>
            <a:off x="8095488"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FILL RATE</a:t>
            </a:r>
            <a:endParaRPr lang="en-US" sz="1100">
              <a:latin typeface="Raleway"/>
            </a:endParaRPr>
          </a:p>
        </p:txBody>
      </p:sp>
      <p:sp>
        <p:nvSpPr>
          <p:cNvPr id="43" name="Text 22">
            <a:extLst>
              <a:ext uri="{FF2B5EF4-FFF2-40B4-BE49-F238E27FC236}">
                <a16:creationId xmlns:a16="http://schemas.microsoft.com/office/drawing/2014/main" id="{D291ED4B-9E85-EEED-5175-3BBDEF500749}"/>
              </a:ext>
            </a:extLst>
          </p:cNvPr>
          <p:cNvSpPr/>
          <p:nvPr/>
        </p:nvSpPr>
        <p:spPr>
          <a:xfrm>
            <a:off x="10027920"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 SESUAI SLA</a:t>
            </a:r>
            <a:endParaRPr lang="en-US" sz="1100">
              <a:latin typeface="Raleway"/>
            </a:endParaRPr>
          </a:p>
        </p:txBody>
      </p:sp>
      <p:sp>
        <p:nvSpPr>
          <p:cNvPr id="6" name="Text 0">
            <a:extLst>
              <a:ext uri="{FF2B5EF4-FFF2-40B4-BE49-F238E27FC236}">
                <a16:creationId xmlns:a16="http://schemas.microsoft.com/office/drawing/2014/main" id="{A7531A7C-F843-FFCF-9B03-7C1FB1DC7944}"/>
              </a:ext>
            </a:extLst>
          </p:cNvPr>
          <p:cNvSpPr/>
          <p:nvPr/>
        </p:nvSpPr>
        <p:spPr>
          <a:xfrm>
            <a:off x="354124" y="164592"/>
            <a:ext cx="6858000" cy="502920"/>
          </a:xfrm>
          <a:prstGeom prst="rect">
            <a:avLst/>
          </a:prstGeom>
          <a:noFill/>
          <a:ln/>
        </p:spPr>
        <p:txBody>
          <a:bodyPr wrap="square" lIns="0" tIns="0" rIns="0" bIns="0" rtlCol="0" anchor="ctr"/>
          <a:lstStyle/>
          <a:p>
            <a:r>
              <a:rPr lang="en-US" sz="2800" b="1">
                <a:solidFill>
                  <a:srgbClr val="12284C"/>
                </a:solidFill>
                <a:latin typeface="Raleway"/>
                <a:ea typeface="Georgia" pitchFamily="34" charset="-122"/>
                <a:cs typeface="Georgia" pitchFamily="34" charset="-120"/>
              </a:rPr>
              <a:t> FPTK Open — Level 2</a:t>
            </a:r>
            <a:endParaRPr lang="en-US" sz="2800" b="1">
              <a:solidFill>
                <a:srgbClr val="C00000"/>
              </a:solidFill>
              <a:latin typeface="Raleway"/>
            </a:endParaRPr>
          </a:p>
        </p:txBody>
      </p:sp>
      <p:graphicFrame>
        <p:nvGraphicFramePr>
          <p:cNvPr id="5" name="Table 4">
            <a:extLst>
              <a:ext uri="{FF2B5EF4-FFF2-40B4-BE49-F238E27FC236}">
                <a16:creationId xmlns:a16="http://schemas.microsoft.com/office/drawing/2014/main" id="{7F771C9E-FC87-F2F7-FC76-8E81A3D95376}"/>
              </a:ext>
            </a:extLst>
          </p:cNvPr>
          <p:cNvGraphicFramePr>
            <a:graphicFrameLocks noGrp="1"/>
          </p:cNvGraphicFramePr>
          <p:nvPr>
            <p:extLst>
              <p:ext uri="{D42A27DB-BD31-4B8C-83A1-F6EECF244321}">
                <p14:modId xmlns:p14="http://schemas.microsoft.com/office/powerpoint/2010/main" val="1997990216"/>
              </p:ext>
            </p:extLst>
          </p:nvPr>
        </p:nvGraphicFramePr>
        <p:xfrm>
          <a:off x="354124" y="667512"/>
          <a:ext cx="11441637" cy="5745954"/>
        </p:xfrm>
        <a:graphic>
          <a:graphicData uri="http://schemas.openxmlformats.org/drawingml/2006/table">
            <a:tbl>
              <a:tblPr bandRow="1">
                <a:tableStyleId>{5C22544A-7EE6-4342-B048-85BDC9FD1C3A}</a:tableStyleId>
              </a:tblPr>
              <a:tblGrid>
                <a:gridCol w="691088">
                  <a:extLst>
                    <a:ext uri="{9D8B030D-6E8A-4147-A177-3AD203B41FA5}">
                      <a16:colId xmlns:a16="http://schemas.microsoft.com/office/drawing/2014/main" val="964775141"/>
                    </a:ext>
                  </a:extLst>
                </a:gridCol>
                <a:gridCol w="1774643">
                  <a:extLst>
                    <a:ext uri="{9D8B030D-6E8A-4147-A177-3AD203B41FA5}">
                      <a16:colId xmlns:a16="http://schemas.microsoft.com/office/drawing/2014/main" val="3818843332"/>
                    </a:ext>
                  </a:extLst>
                </a:gridCol>
                <a:gridCol w="1365111">
                  <a:extLst>
                    <a:ext uri="{9D8B030D-6E8A-4147-A177-3AD203B41FA5}">
                      <a16:colId xmlns:a16="http://schemas.microsoft.com/office/drawing/2014/main" val="3805053784"/>
                    </a:ext>
                  </a:extLst>
                </a:gridCol>
                <a:gridCol w="1003821">
                  <a:extLst>
                    <a:ext uri="{9D8B030D-6E8A-4147-A177-3AD203B41FA5}">
                      <a16:colId xmlns:a16="http://schemas.microsoft.com/office/drawing/2014/main" val="873694035"/>
                    </a:ext>
                  </a:extLst>
                </a:gridCol>
                <a:gridCol w="426326">
                  <a:extLst>
                    <a:ext uri="{9D8B030D-6E8A-4147-A177-3AD203B41FA5}">
                      <a16:colId xmlns:a16="http://schemas.microsoft.com/office/drawing/2014/main" val="2118302063"/>
                    </a:ext>
                  </a:extLst>
                </a:gridCol>
                <a:gridCol w="546571">
                  <a:extLst>
                    <a:ext uri="{9D8B030D-6E8A-4147-A177-3AD203B41FA5}">
                      <a16:colId xmlns:a16="http://schemas.microsoft.com/office/drawing/2014/main" val="347069574"/>
                    </a:ext>
                  </a:extLst>
                </a:gridCol>
                <a:gridCol w="601228">
                  <a:extLst>
                    <a:ext uri="{9D8B030D-6E8A-4147-A177-3AD203B41FA5}">
                      <a16:colId xmlns:a16="http://schemas.microsoft.com/office/drawing/2014/main" val="2517663509"/>
                    </a:ext>
                  </a:extLst>
                </a:gridCol>
                <a:gridCol w="557503">
                  <a:extLst>
                    <a:ext uri="{9D8B030D-6E8A-4147-A177-3AD203B41FA5}">
                      <a16:colId xmlns:a16="http://schemas.microsoft.com/office/drawing/2014/main" val="4256926922"/>
                    </a:ext>
                  </a:extLst>
                </a:gridCol>
                <a:gridCol w="699610">
                  <a:extLst>
                    <a:ext uri="{9D8B030D-6E8A-4147-A177-3AD203B41FA5}">
                      <a16:colId xmlns:a16="http://schemas.microsoft.com/office/drawing/2014/main" val="103401002"/>
                    </a:ext>
                  </a:extLst>
                </a:gridCol>
                <a:gridCol w="623091">
                  <a:extLst>
                    <a:ext uri="{9D8B030D-6E8A-4147-A177-3AD203B41FA5}">
                      <a16:colId xmlns:a16="http://schemas.microsoft.com/office/drawing/2014/main" val="1508212738"/>
                    </a:ext>
                  </a:extLst>
                </a:gridCol>
                <a:gridCol w="557503">
                  <a:extLst>
                    <a:ext uri="{9D8B030D-6E8A-4147-A177-3AD203B41FA5}">
                      <a16:colId xmlns:a16="http://schemas.microsoft.com/office/drawing/2014/main" val="2156794149"/>
                    </a:ext>
                  </a:extLst>
                </a:gridCol>
                <a:gridCol w="590297">
                  <a:extLst>
                    <a:ext uri="{9D8B030D-6E8A-4147-A177-3AD203B41FA5}">
                      <a16:colId xmlns:a16="http://schemas.microsoft.com/office/drawing/2014/main" val="225074111"/>
                    </a:ext>
                  </a:extLst>
                </a:gridCol>
                <a:gridCol w="460562">
                  <a:extLst>
                    <a:ext uri="{9D8B030D-6E8A-4147-A177-3AD203B41FA5}">
                      <a16:colId xmlns:a16="http://schemas.microsoft.com/office/drawing/2014/main" val="461221745"/>
                    </a:ext>
                  </a:extLst>
                </a:gridCol>
                <a:gridCol w="503385">
                  <a:extLst>
                    <a:ext uri="{9D8B030D-6E8A-4147-A177-3AD203B41FA5}">
                      <a16:colId xmlns:a16="http://schemas.microsoft.com/office/drawing/2014/main" val="1428405946"/>
                    </a:ext>
                  </a:extLst>
                </a:gridCol>
                <a:gridCol w="341278">
                  <a:extLst>
                    <a:ext uri="{9D8B030D-6E8A-4147-A177-3AD203B41FA5}">
                      <a16:colId xmlns:a16="http://schemas.microsoft.com/office/drawing/2014/main" val="1005622174"/>
                    </a:ext>
                  </a:extLst>
                </a:gridCol>
                <a:gridCol w="349810">
                  <a:extLst>
                    <a:ext uri="{9D8B030D-6E8A-4147-A177-3AD203B41FA5}">
                      <a16:colId xmlns:a16="http://schemas.microsoft.com/office/drawing/2014/main" val="4214742890"/>
                    </a:ext>
                  </a:extLst>
                </a:gridCol>
                <a:gridCol w="349810">
                  <a:extLst>
                    <a:ext uri="{9D8B030D-6E8A-4147-A177-3AD203B41FA5}">
                      <a16:colId xmlns:a16="http://schemas.microsoft.com/office/drawing/2014/main" val="3877463835"/>
                    </a:ext>
                  </a:extLst>
                </a:gridCol>
              </a:tblGrid>
              <a:tr h="442868">
                <a:tc>
                  <a:txBody>
                    <a:bodyPr/>
                    <a:lstStyle/>
                    <a:p>
                      <a:pPr algn="ctr" rtl="0" fontAlgn="ctr">
                        <a:buNone/>
                      </a:pPr>
                      <a:r>
                        <a:rPr lang="en-US" sz="800" b="1" i="0" u="none" strike="noStrike">
                          <a:solidFill>
                            <a:srgbClr val="FFFFFF"/>
                          </a:solidFill>
                          <a:effectLst/>
                          <a:latin typeface="Aptos Narrow" panose="020B0004020202020204" pitchFamily="34" charset="0"/>
                        </a:rPr>
                        <a:t>FPTK Date Real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Posisi</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Business Unit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PIC Recruiter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Sourcing FL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Sourcing HR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Shortlisted User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Psikotes</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HR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Technical Case</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Market Visit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User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Panel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Reference Check</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MCU</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Offering</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Day One</a:t>
                      </a:r>
                    </a:p>
                  </a:txBody>
                  <a:tcPr marL="0" marR="0" marT="0" marB="0" anchor="ctr">
                    <a:lnL>
                      <a:noFill/>
                    </a:lnL>
                    <a:lnR>
                      <a:noFill/>
                    </a:lnR>
                    <a:lnT>
                      <a:noFill/>
                    </a:lnT>
                    <a:lnB>
                      <a:noFill/>
                    </a:lnB>
                    <a:solidFill>
                      <a:srgbClr val="2C3E50"/>
                    </a:solidFill>
                  </a:tcPr>
                </a:tc>
                <a:extLst>
                  <a:ext uri="{0D108BD9-81ED-4DB2-BD59-A6C34878D82A}">
                    <a16:rowId xmlns:a16="http://schemas.microsoft.com/office/drawing/2014/main" val="276996153"/>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RCBK Mixing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27</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22271737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RCBK Mixing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808569414"/>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RCBK Mixing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95290552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Stock Keeping Worker - RCBK</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25770375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03-Apr-26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Grinding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88035826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05-Apr-26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Packing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Gabbie</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981100202"/>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06-Apr-26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Packing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Achmad</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376468157"/>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10-Apr-26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Logistic Monitoring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17</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03488664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15-Apr-26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Filling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Fiscall</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160727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16-Apr-26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Filling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Fiscall</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238096821"/>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17-Apr-26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Filling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Fiscall</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83467016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17-Apr-26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Production Foreman- Mayonnaise</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Fiscall</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extLst>
                  <a:ext uri="{0D108BD9-81ED-4DB2-BD59-A6C34878D82A}">
                    <a16:rowId xmlns:a16="http://schemas.microsoft.com/office/drawing/2014/main" val="3461425895"/>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17-Apr-26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Control Staff - Incoming</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Gabbie</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3536401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18-Apr-26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Filling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Fiscall</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4234110072"/>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18-Apr-26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Production Foreman- Mayonnaise</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Fiscall</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23729169"/>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19-Apr-26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Production Foreman- Mayonnaise</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Fiscall</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29065694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20-Apr-26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Production Foreman - Production 2</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Salwa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240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100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67</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28095855"/>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20-Apr-26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Production Foreman- Mayonnaise</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Fiscall</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19477437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28-Apr-26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Control Inspector - In Line</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06633629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28-Apr-26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Control Inspector - In Line</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783835084"/>
                  </a:ext>
                </a:extLst>
              </a:tr>
            </a:tbl>
          </a:graphicData>
        </a:graphic>
      </p:graphicFrame>
    </p:spTree>
    <p:extLst>
      <p:ext uri="{BB962C8B-B14F-4D97-AF65-F5344CB8AC3E}">
        <p14:creationId xmlns:p14="http://schemas.microsoft.com/office/powerpoint/2010/main" val="1299856875"/>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813259-B892-4F16-3600-C64194575B73}"/>
            </a:ext>
          </a:extLst>
        </p:cNvPr>
        <p:cNvGrpSpPr/>
        <p:nvPr/>
      </p:nvGrpSpPr>
      <p:grpSpPr>
        <a:xfrm>
          <a:off x="0" y="0"/>
          <a:ext cx="0" cy="0"/>
          <a:chOff x="0" y="0"/>
          <a:chExt cx="0" cy="0"/>
        </a:xfrm>
      </p:grpSpPr>
      <p:sp>
        <p:nvSpPr>
          <p:cNvPr id="40" name="Text 19">
            <a:extLst>
              <a:ext uri="{FF2B5EF4-FFF2-40B4-BE49-F238E27FC236}">
                <a16:creationId xmlns:a16="http://schemas.microsoft.com/office/drawing/2014/main" id="{29225C54-F38D-0BC6-C29F-B6C38A54BD60}"/>
              </a:ext>
            </a:extLst>
          </p:cNvPr>
          <p:cNvSpPr/>
          <p:nvPr/>
        </p:nvSpPr>
        <p:spPr>
          <a:xfrm>
            <a:off x="8095488"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FILL RATE</a:t>
            </a:r>
            <a:endParaRPr lang="en-US" sz="1100">
              <a:latin typeface="Raleway"/>
            </a:endParaRPr>
          </a:p>
        </p:txBody>
      </p:sp>
      <p:sp>
        <p:nvSpPr>
          <p:cNvPr id="43" name="Text 22">
            <a:extLst>
              <a:ext uri="{FF2B5EF4-FFF2-40B4-BE49-F238E27FC236}">
                <a16:creationId xmlns:a16="http://schemas.microsoft.com/office/drawing/2014/main" id="{DA8BE360-7129-AEE7-AEBB-79680A749D49}"/>
              </a:ext>
            </a:extLst>
          </p:cNvPr>
          <p:cNvSpPr/>
          <p:nvPr/>
        </p:nvSpPr>
        <p:spPr>
          <a:xfrm>
            <a:off x="10027920"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 SESUAI SLA</a:t>
            </a:r>
            <a:endParaRPr lang="en-US" sz="1100">
              <a:latin typeface="Raleway"/>
            </a:endParaRPr>
          </a:p>
        </p:txBody>
      </p:sp>
      <p:sp>
        <p:nvSpPr>
          <p:cNvPr id="6" name="Text 0">
            <a:extLst>
              <a:ext uri="{FF2B5EF4-FFF2-40B4-BE49-F238E27FC236}">
                <a16:creationId xmlns:a16="http://schemas.microsoft.com/office/drawing/2014/main" id="{1928EE60-31FD-6598-B57D-090E3D3845C5}"/>
              </a:ext>
            </a:extLst>
          </p:cNvPr>
          <p:cNvSpPr/>
          <p:nvPr/>
        </p:nvSpPr>
        <p:spPr>
          <a:xfrm>
            <a:off x="354124" y="164592"/>
            <a:ext cx="6858000" cy="502920"/>
          </a:xfrm>
          <a:prstGeom prst="rect">
            <a:avLst/>
          </a:prstGeom>
          <a:noFill/>
          <a:ln/>
        </p:spPr>
        <p:txBody>
          <a:bodyPr wrap="square" lIns="0" tIns="0" rIns="0" bIns="0" rtlCol="0" anchor="ctr"/>
          <a:lstStyle/>
          <a:p>
            <a:r>
              <a:rPr lang="en-US" sz="2800" b="1">
                <a:solidFill>
                  <a:srgbClr val="12284C"/>
                </a:solidFill>
                <a:latin typeface="Raleway"/>
                <a:ea typeface="Georgia" pitchFamily="34" charset="-122"/>
                <a:cs typeface="Georgia" pitchFamily="34" charset="-120"/>
              </a:rPr>
              <a:t> FPTK Open — Level 2</a:t>
            </a:r>
            <a:endParaRPr lang="en-US" sz="2800" b="1">
              <a:solidFill>
                <a:srgbClr val="C00000"/>
              </a:solidFill>
              <a:latin typeface="Raleway"/>
            </a:endParaRPr>
          </a:p>
        </p:txBody>
      </p:sp>
      <p:graphicFrame>
        <p:nvGraphicFramePr>
          <p:cNvPr id="5" name="Table 4">
            <a:extLst>
              <a:ext uri="{FF2B5EF4-FFF2-40B4-BE49-F238E27FC236}">
                <a16:creationId xmlns:a16="http://schemas.microsoft.com/office/drawing/2014/main" id="{F0FA5956-3AE9-07D8-DD7C-783BE6EE98AB}"/>
              </a:ext>
            </a:extLst>
          </p:cNvPr>
          <p:cNvGraphicFramePr>
            <a:graphicFrameLocks noGrp="1"/>
          </p:cNvGraphicFramePr>
          <p:nvPr>
            <p:extLst>
              <p:ext uri="{D42A27DB-BD31-4B8C-83A1-F6EECF244321}">
                <p14:modId xmlns:p14="http://schemas.microsoft.com/office/powerpoint/2010/main" val="657521761"/>
              </p:ext>
            </p:extLst>
          </p:nvPr>
        </p:nvGraphicFramePr>
        <p:xfrm>
          <a:off x="354124" y="667512"/>
          <a:ext cx="11441637" cy="5745954"/>
        </p:xfrm>
        <a:graphic>
          <a:graphicData uri="http://schemas.openxmlformats.org/drawingml/2006/table">
            <a:tbl>
              <a:tblPr bandRow="1">
                <a:tableStyleId>{5C22544A-7EE6-4342-B048-85BDC9FD1C3A}</a:tableStyleId>
              </a:tblPr>
              <a:tblGrid>
                <a:gridCol w="691088">
                  <a:extLst>
                    <a:ext uri="{9D8B030D-6E8A-4147-A177-3AD203B41FA5}">
                      <a16:colId xmlns:a16="http://schemas.microsoft.com/office/drawing/2014/main" val="964775141"/>
                    </a:ext>
                  </a:extLst>
                </a:gridCol>
                <a:gridCol w="1774643">
                  <a:extLst>
                    <a:ext uri="{9D8B030D-6E8A-4147-A177-3AD203B41FA5}">
                      <a16:colId xmlns:a16="http://schemas.microsoft.com/office/drawing/2014/main" val="3818843332"/>
                    </a:ext>
                  </a:extLst>
                </a:gridCol>
                <a:gridCol w="1365111">
                  <a:extLst>
                    <a:ext uri="{9D8B030D-6E8A-4147-A177-3AD203B41FA5}">
                      <a16:colId xmlns:a16="http://schemas.microsoft.com/office/drawing/2014/main" val="3805053784"/>
                    </a:ext>
                  </a:extLst>
                </a:gridCol>
                <a:gridCol w="1003821">
                  <a:extLst>
                    <a:ext uri="{9D8B030D-6E8A-4147-A177-3AD203B41FA5}">
                      <a16:colId xmlns:a16="http://schemas.microsoft.com/office/drawing/2014/main" val="873694035"/>
                    </a:ext>
                  </a:extLst>
                </a:gridCol>
                <a:gridCol w="426326">
                  <a:extLst>
                    <a:ext uri="{9D8B030D-6E8A-4147-A177-3AD203B41FA5}">
                      <a16:colId xmlns:a16="http://schemas.microsoft.com/office/drawing/2014/main" val="2118302063"/>
                    </a:ext>
                  </a:extLst>
                </a:gridCol>
                <a:gridCol w="546571">
                  <a:extLst>
                    <a:ext uri="{9D8B030D-6E8A-4147-A177-3AD203B41FA5}">
                      <a16:colId xmlns:a16="http://schemas.microsoft.com/office/drawing/2014/main" val="347069574"/>
                    </a:ext>
                  </a:extLst>
                </a:gridCol>
                <a:gridCol w="601228">
                  <a:extLst>
                    <a:ext uri="{9D8B030D-6E8A-4147-A177-3AD203B41FA5}">
                      <a16:colId xmlns:a16="http://schemas.microsoft.com/office/drawing/2014/main" val="2517663509"/>
                    </a:ext>
                  </a:extLst>
                </a:gridCol>
                <a:gridCol w="557503">
                  <a:extLst>
                    <a:ext uri="{9D8B030D-6E8A-4147-A177-3AD203B41FA5}">
                      <a16:colId xmlns:a16="http://schemas.microsoft.com/office/drawing/2014/main" val="4256926922"/>
                    </a:ext>
                  </a:extLst>
                </a:gridCol>
                <a:gridCol w="699610">
                  <a:extLst>
                    <a:ext uri="{9D8B030D-6E8A-4147-A177-3AD203B41FA5}">
                      <a16:colId xmlns:a16="http://schemas.microsoft.com/office/drawing/2014/main" val="103401002"/>
                    </a:ext>
                  </a:extLst>
                </a:gridCol>
                <a:gridCol w="623091">
                  <a:extLst>
                    <a:ext uri="{9D8B030D-6E8A-4147-A177-3AD203B41FA5}">
                      <a16:colId xmlns:a16="http://schemas.microsoft.com/office/drawing/2014/main" val="1508212738"/>
                    </a:ext>
                  </a:extLst>
                </a:gridCol>
                <a:gridCol w="557503">
                  <a:extLst>
                    <a:ext uri="{9D8B030D-6E8A-4147-A177-3AD203B41FA5}">
                      <a16:colId xmlns:a16="http://schemas.microsoft.com/office/drawing/2014/main" val="2156794149"/>
                    </a:ext>
                  </a:extLst>
                </a:gridCol>
                <a:gridCol w="590297">
                  <a:extLst>
                    <a:ext uri="{9D8B030D-6E8A-4147-A177-3AD203B41FA5}">
                      <a16:colId xmlns:a16="http://schemas.microsoft.com/office/drawing/2014/main" val="225074111"/>
                    </a:ext>
                  </a:extLst>
                </a:gridCol>
                <a:gridCol w="460562">
                  <a:extLst>
                    <a:ext uri="{9D8B030D-6E8A-4147-A177-3AD203B41FA5}">
                      <a16:colId xmlns:a16="http://schemas.microsoft.com/office/drawing/2014/main" val="461221745"/>
                    </a:ext>
                  </a:extLst>
                </a:gridCol>
                <a:gridCol w="503385">
                  <a:extLst>
                    <a:ext uri="{9D8B030D-6E8A-4147-A177-3AD203B41FA5}">
                      <a16:colId xmlns:a16="http://schemas.microsoft.com/office/drawing/2014/main" val="1428405946"/>
                    </a:ext>
                  </a:extLst>
                </a:gridCol>
                <a:gridCol w="341278">
                  <a:extLst>
                    <a:ext uri="{9D8B030D-6E8A-4147-A177-3AD203B41FA5}">
                      <a16:colId xmlns:a16="http://schemas.microsoft.com/office/drawing/2014/main" val="1005622174"/>
                    </a:ext>
                  </a:extLst>
                </a:gridCol>
                <a:gridCol w="349810">
                  <a:extLst>
                    <a:ext uri="{9D8B030D-6E8A-4147-A177-3AD203B41FA5}">
                      <a16:colId xmlns:a16="http://schemas.microsoft.com/office/drawing/2014/main" val="4214742890"/>
                    </a:ext>
                  </a:extLst>
                </a:gridCol>
                <a:gridCol w="349810">
                  <a:extLst>
                    <a:ext uri="{9D8B030D-6E8A-4147-A177-3AD203B41FA5}">
                      <a16:colId xmlns:a16="http://schemas.microsoft.com/office/drawing/2014/main" val="3877463835"/>
                    </a:ext>
                  </a:extLst>
                </a:gridCol>
              </a:tblGrid>
              <a:tr h="442868">
                <a:tc>
                  <a:txBody>
                    <a:bodyPr/>
                    <a:lstStyle/>
                    <a:p>
                      <a:pPr algn="ctr" rtl="0" fontAlgn="ctr">
                        <a:buNone/>
                      </a:pPr>
                      <a:r>
                        <a:rPr lang="en-US" sz="800" b="1" i="0" u="none" strike="noStrike">
                          <a:solidFill>
                            <a:srgbClr val="FFFFFF"/>
                          </a:solidFill>
                          <a:effectLst/>
                          <a:latin typeface="Aptos Narrow" panose="020B0004020202020204" pitchFamily="34" charset="0"/>
                        </a:rPr>
                        <a:t>FPTK Date Real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Posisi</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Business Unit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PIC Recruiter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Sourcing FL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Sourcing HR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Shortlisted User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Psikotes</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HR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Technical Case</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Market Visit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User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Panel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Reference Check</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MCU</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Offering</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Day One</a:t>
                      </a:r>
                    </a:p>
                  </a:txBody>
                  <a:tcPr marL="0" marR="0" marT="0" marB="0" anchor="ctr">
                    <a:lnL>
                      <a:noFill/>
                    </a:lnL>
                    <a:lnR>
                      <a:noFill/>
                    </a:lnR>
                    <a:lnT>
                      <a:noFill/>
                    </a:lnT>
                    <a:lnB>
                      <a:noFill/>
                    </a:lnB>
                    <a:solidFill>
                      <a:srgbClr val="2C3E50"/>
                    </a:solidFill>
                  </a:tcPr>
                </a:tc>
                <a:extLst>
                  <a:ext uri="{0D108BD9-81ED-4DB2-BD59-A6C34878D82A}">
                    <a16:rowId xmlns:a16="http://schemas.microsoft.com/office/drawing/2014/main" val="276996153"/>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08-May-26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Manufacturing Excellence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Fiscall</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22271737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12-May-26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Merchandiser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808569414"/>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12-May-26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Merchandiser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95290552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13-May-26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Production Foreman - Egg</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Fiscall</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25770375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13-May-26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Production Foreman - Egg</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Fiscall</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88035826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13-May-26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WWTP Technician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981100202"/>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19-May-26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Control Analysis Staff - Chemical/Physics</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376468157"/>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19-May-26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Control Analysis Staff - Chemical/Physics</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03488664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20-May-26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Influencer Marketing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Valen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4160727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21-May-26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Good Manufacturing Patrol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Gabbie</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238096821"/>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25-May-26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Continuous Improvement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83467016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29-May-26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Team Leader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461425895"/>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30-May-26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Warehouse Helper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3536401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Business Development Marketing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4234110072"/>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02-Jun-26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Project Foreman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423729169"/>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09-Jun-26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Control Inspector - In Line</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29065694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09-Jun-26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Assurance Inspector – Food Safety</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28095855"/>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09-Jun-26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Assurance Inspector – Food Safety</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19477437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11-Jun-26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Premix Batching Operator </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06633629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11-Jun-26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Premix Batching Operator </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783835084"/>
                  </a:ext>
                </a:extLst>
              </a:tr>
            </a:tbl>
          </a:graphicData>
        </a:graphic>
      </p:graphicFrame>
    </p:spTree>
    <p:extLst>
      <p:ext uri="{BB962C8B-B14F-4D97-AF65-F5344CB8AC3E}">
        <p14:creationId xmlns:p14="http://schemas.microsoft.com/office/powerpoint/2010/main" val="1641451355"/>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BE6C2D-7B2B-BC18-7E42-B2B757D7038A}"/>
            </a:ext>
          </a:extLst>
        </p:cNvPr>
        <p:cNvGrpSpPr/>
        <p:nvPr/>
      </p:nvGrpSpPr>
      <p:grpSpPr>
        <a:xfrm>
          <a:off x="0" y="0"/>
          <a:ext cx="0" cy="0"/>
          <a:chOff x="0" y="0"/>
          <a:chExt cx="0" cy="0"/>
        </a:xfrm>
      </p:grpSpPr>
      <p:sp>
        <p:nvSpPr>
          <p:cNvPr id="40" name="Text 19">
            <a:extLst>
              <a:ext uri="{FF2B5EF4-FFF2-40B4-BE49-F238E27FC236}">
                <a16:creationId xmlns:a16="http://schemas.microsoft.com/office/drawing/2014/main" id="{8E91F256-28CC-B25C-DC57-3D6246BE209F}"/>
              </a:ext>
            </a:extLst>
          </p:cNvPr>
          <p:cNvSpPr/>
          <p:nvPr/>
        </p:nvSpPr>
        <p:spPr>
          <a:xfrm>
            <a:off x="8095488"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FILL RATE</a:t>
            </a:r>
            <a:endParaRPr lang="en-US" sz="1100">
              <a:latin typeface="Raleway"/>
            </a:endParaRPr>
          </a:p>
        </p:txBody>
      </p:sp>
      <p:sp>
        <p:nvSpPr>
          <p:cNvPr id="43" name="Text 22">
            <a:extLst>
              <a:ext uri="{FF2B5EF4-FFF2-40B4-BE49-F238E27FC236}">
                <a16:creationId xmlns:a16="http://schemas.microsoft.com/office/drawing/2014/main" id="{72EF4882-1571-7D5D-583E-823927750652}"/>
              </a:ext>
            </a:extLst>
          </p:cNvPr>
          <p:cNvSpPr/>
          <p:nvPr/>
        </p:nvSpPr>
        <p:spPr>
          <a:xfrm>
            <a:off x="10027920"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 SESUAI SLA</a:t>
            </a:r>
            <a:endParaRPr lang="en-US" sz="1100">
              <a:latin typeface="Raleway"/>
            </a:endParaRPr>
          </a:p>
        </p:txBody>
      </p:sp>
      <p:sp>
        <p:nvSpPr>
          <p:cNvPr id="6" name="Text 0">
            <a:extLst>
              <a:ext uri="{FF2B5EF4-FFF2-40B4-BE49-F238E27FC236}">
                <a16:creationId xmlns:a16="http://schemas.microsoft.com/office/drawing/2014/main" id="{1187A678-C6D3-A72C-0937-A74CE6BE2772}"/>
              </a:ext>
            </a:extLst>
          </p:cNvPr>
          <p:cNvSpPr/>
          <p:nvPr/>
        </p:nvSpPr>
        <p:spPr>
          <a:xfrm>
            <a:off x="354124" y="164592"/>
            <a:ext cx="6858000" cy="502920"/>
          </a:xfrm>
          <a:prstGeom prst="rect">
            <a:avLst/>
          </a:prstGeom>
          <a:noFill/>
          <a:ln/>
        </p:spPr>
        <p:txBody>
          <a:bodyPr wrap="square" lIns="0" tIns="0" rIns="0" bIns="0" rtlCol="0" anchor="ctr"/>
          <a:lstStyle/>
          <a:p>
            <a:r>
              <a:rPr lang="en-US" sz="2800" b="1">
                <a:solidFill>
                  <a:srgbClr val="12284C"/>
                </a:solidFill>
                <a:latin typeface="Raleway"/>
                <a:ea typeface="Georgia" pitchFamily="34" charset="-122"/>
                <a:cs typeface="Georgia" pitchFamily="34" charset="-120"/>
              </a:rPr>
              <a:t> FPTK Open — Level 2</a:t>
            </a:r>
            <a:endParaRPr lang="en-US" sz="2800" b="1">
              <a:solidFill>
                <a:srgbClr val="C00000"/>
              </a:solidFill>
              <a:latin typeface="Raleway"/>
            </a:endParaRPr>
          </a:p>
        </p:txBody>
      </p:sp>
      <p:graphicFrame>
        <p:nvGraphicFramePr>
          <p:cNvPr id="5" name="Table 4">
            <a:extLst>
              <a:ext uri="{FF2B5EF4-FFF2-40B4-BE49-F238E27FC236}">
                <a16:creationId xmlns:a16="http://schemas.microsoft.com/office/drawing/2014/main" id="{E0F6FE93-4ADA-AE59-D9E2-936247C4C07B}"/>
              </a:ext>
            </a:extLst>
          </p:cNvPr>
          <p:cNvGraphicFramePr>
            <a:graphicFrameLocks noGrp="1"/>
          </p:cNvGraphicFramePr>
          <p:nvPr>
            <p:extLst>
              <p:ext uri="{D42A27DB-BD31-4B8C-83A1-F6EECF244321}">
                <p14:modId xmlns:p14="http://schemas.microsoft.com/office/powerpoint/2010/main" val="783856004"/>
              </p:ext>
            </p:extLst>
          </p:nvPr>
        </p:nvGraphicFramePr>
        <p:xfrm>
          <a:off x="354124" y="667512"/>
          <a:ext cx="11441637" cy="5745954"/>
        </p:xfrm>
        <a:graphic>
          <a:graphicData uri="http://schemas.openxmlformats.org/drawingml/2006/table">
            <a:tbl>
              <a:tblPr bandRow="1">
                <a:tableStyleId>{5C22544A-7EE6-4342-B048-85BDC9FD1C3A}</a:tableStyleId>
              </a:tblPr>
              <a:tblGrid>
                <a:gridCol w="691088">
                  <a:extLst>
                    <a:ext uri="{9D8B030D-6E8A-4147-A177-3AD203B41FA5}">
                      <a16:colId xmlns:a16="http://schemas.microsoft.com/office/drawing/2014/main" val="964775141"/>
                    </a:ext>
                  </a:extLst>
                </a:gridCol>
                <a:gridCol w="1774643">
                  <a:extLst>
                    <a:ext uri="{9D8B030D-6E8A-4147-A177-3AD203B41FA5}">
                      <a16:colId xmlns:a16="http://schemas.microsoft.com/office/drawing/2014/main" val="3818843332"/>
                    </a:ext>
                  </a:extLst>
                </a:gridCol>
                <a:gridCol w="1365111">
                  <a:extLst>
                    <a:ext uri="{9D8B030D-6E8A-4147-A177-3AD203B41FA5}">
                      <a16:colId xmlns:a16="http://schemas.microsoft.com/office/drawing/2014/main" val="3805053784"/>
                    </a:ext>
                  </a:extLst>
                </a:gridCol>
                <a:gridCol w="1003821">
                  <a:extLst>
                    <a:ext uri="{9D8B030D-6E8A-4147-A177-3AD203B41FA5}">
                      <a16:colId xmlns:a16="http://schemas.microsoft.com/office/drawing/2014/main" val="873694035"/>
                    </a:ext>
                  </a:extLst>
                </a:gridCol>
                <a:gridCol w="426326">
                  <a:extLst>
                    <a:ext uri="{9D8B030D-6E8A-4147-A177-3AD203B41FA5}">
                      <a16:colId xmlns:a16="http://schemas.microsoft.com/office/drawing/2014/main" val="2118302063"/>
                    </a:ext>
                  </a:extLst>
                </a:gridCol>
                <a:gridCol w="546571">
                  <a:extLst>
                    <a:ext uri="{9D8B030D-6E8A-4147-A177-3AD203B41FA5}">
                      <a16:colId xmlns:a16="http://schemas.microsoft.com/office/drawing/2014/main" val="347069574"/>
                    </a:ext>
                  </a:extLst>
                </a:gridCol>
                <a:gridCol w="601228">
                  <a:extLst>
                    <a:ext uri="{9D8B030D-6E8A-4147-A177-3AD203B41FA5}">
                      <a16:colId xmlns:a16="http://schemas.microsoft.com/office/drawing/2014/main" val="2517663509"/>
                    </a:ext>
                  </a:extLst>
                </a:gridCol>
                <a:gridCol w="557503">
                  <a:extLst>
                    <a:ext uri="{9D8B030D-6E8A-4147-A177-3AD203B41FA5}">
                      <a16:colId xmlns:a16="http://schemas.microsoft.com/office/drawing/2014/main" val="4256926922"/>
                    </a:ext>
                  </a:extLst>
                </a:gridCol>
                <a:gridCol w="699610">
                  <a:extLst>
                    <a:ext uri="{9D8B030D-6E8A-4147-A177-3AD203B41FA5}">
                      <a16:colId xmlns:a16="http://schemas.microsoft.com/office/drawing/2014/main" val="103401002"/>
                    </a:ext>
                  </a:extLst>
                </a:gridCol>
                <a:gridCol w="623091">
                  <a:extLst>
                    <a:ext uri="{9D8B030D-6E8A-4147-A177-3AD203B41FA5}">
                      <a16:colId xmlns:a16="http://schemas.microsoft.com/office/drawing/2014/main" val="1508212738"/>
                    </a:ext>
                  </a:extLst>
                </a:gridCol>
                <a:gridCol w="557503">
                  <a:extLst>
                    <a:ext uri="{9D8B030D-6E8A-4147-A177-3AD203B41FA5}">
                      <a16:colId xmlns:a16="http://schemas.microsoft.com/office/drawing/2014/main" val="2156794149"/>
                    </a:ext>
                  </a:extLst>
                </a:gridCol>
                <a:gridCol w="590297">
                  <a:extLst>
                    <a:ext uri="{9D8B030D-6E8A-4147-A177-3AD203B41FA5}">
                      <a16:colId xmlns:a16="http://schemas.microsoft.com/office/drawing/2014/main" val="225074111"/>
                    </a:ext>
                  </a:extLst>
                </a:gridCol>
                <a:gridCol w="460562">
                  <a:extLst>
                    <a:ext uri="{9D8B030D-6E8A-4147-A177-3AD203B41FA5}">
                      <a16:colId xmlns:a16="http://schemas.microsoft.com/office/drawing/2014/main" val="461221745"/>
                    </a:ext>
                  </a:extLst>
                </a:gridCol>
                <a:gridCol w="503385">
                  <a:extLst>
                    <a:ext uri="{9D8B030D-6E8A-4147-A177-3AD203B41FA5}">
                      <a16:colId xmlns:a16="http://schemas.microsoft.com/office/drawing/2014/main" val="1428405946"/>
                    </a:ext>
                  </a:extLst>
                </a:gridCol>
                <a:gridCol w="341278">
                  <a:extLst>
                    <a:ext uri="{9D8B030D-6E8A-4147-A177-3AD203B41FA5}">
                      <a16:colId xmlns:a16="http://schemas.microsoft.com/office/drawing/2014/main" val="1005622174"/>
                    </a:ext>
                  </a:extLst>
                </a:gridCol>
                <a:gridCol w="349810">
                  <a:extLst>
                    <a:ext uri="{9D8B030D-6E8A-4147-A177-3AD203B41FA5}">
                      <a16:colId xmlns:a16="http://schemas.microsoft.com/office/drawing/2014/main" val="4214742890"/>
                    </a:ext>
                  </a:extLst>
                </a:gridCol>
                <a:gridCol w="349810">
                  <a:extLst>
                    <a:ext uri="{9D8B030D-6E8A-4147-A177-3AD203B41FA5}">
                      <a16:colId xmlns:a16="http://schemas.microsoft.com/office/drawing/2014/main" val="3877463835"/>
                    </a:ext>
                  </a:extLst>
                </a:gridCol>
              </a:tblGrid>
              <a:tr h="442868">
                <a:tc>
                  <a:txBody>
                    <a:bodyPr/>
                    <a:lstStyle/>
                    <a:p>
                      <a:pPr algn="ctr" rtl="0" fontAlgn="ctr">
                        <a:buNone/>
                      </a:pPr>
                      <a:r>
                        <a:rPr lang="en-US" sz="800" b="1" i="0" u="none" strike="noStrike">
                          <a:solidFill>
                            <a:srgbClr val="FFFFFF"/>
                          </a:solidFill>
                          <a:effectLst/>
                          <a:latin typeface="Aptos Narrow" panose="020B0004020202020204" pitchFamily="34" charset="0"/>
                        </a:rPr>
                        <a:t>FPTK Date Real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Posisi</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Business Unit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PIC Recruiter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Sourcing FL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Sourcing HR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Shortlisted User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Psikotes</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HR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Technical Case</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Market Visit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User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Panel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Reference Check</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MCU</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Offering</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Day One</a:t>
                      </a:r>
                    </a:p>
                  </a:txBody>
                  <a:tcPr marL="0" marR="0" marT="0" marB="0" anchor="ctr">
                    <a:lnL>
                      <a:noFill/>
                    </a:lnL>
                    <a:lnR>
                      <a:noFill/>
                    </a:lnR>
                    <a:lnT>
                      <a:noFill/>
                    </a:lnT>
                    <a:lnB>
                      <a:noFill/>
                    </a:lnB>
                    <a:solidFill>
                      <a:srgbClr val="2C3E50"/>
                    </a:solidFill>
                  </a:tcPr>
                </a:tc>
                <a:extLst>
                  <a:ext uri="{0D108BD9-81ED-4DB2-BD59-A6C34878D82A}">
                    <a16:rowId xmlns:a16="http://schemas.microsoft.com/office/drawing/2014/main" val="276996153"/>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12-Jun-26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 Jakarta</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Omega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95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22271737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15-Jun-26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Design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Karin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808569414"/>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17-Jun-26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Good Manufacturing Practice Patrol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Gabbie</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95290552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20-Jun-26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Trade Marketing Data Analysis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Fiscall</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25770375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20-Jun-26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Trade Marketing Data Analyst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88035826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23-Jun-26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Crew Store - Mall Kota kasablanka</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981100202"/>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23-Jun-26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Crew Store - Mall Kota kasablanka</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376468157"/>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23-Jun-26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Probolinggo</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Omega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extLst>
                  <a:ext uri="{0D108BD9-81ED-4DB2-BD59-A6C34878D82A}">
                    <a16:rowId xmlns:a16="http://schemas.microsoft.com/office/drawing/2014/main" val="203488664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23-Jun-26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Brand Intern - Yogurt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Karin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4160727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23-Jun-26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Formulation Leader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Fiscall</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238096821"/>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23-Jun-26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Formulation Stock Keeping Worker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Fiscall</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83467016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23-Jun-26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Formulation Leader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61425895"/>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23-Jun-26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Warehouse Driver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3536401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24-Jun-26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Store Leader - Mall Kota Kasablanka</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ARTHA RASA CIMORY</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4234110072"/>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24-Jun-26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Store Leader - Pakuwon Mall Bekasi</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ARTHA RASA CIMORY</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23729169"/>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24-Jun-26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Control Staff - Laboratory</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Gabbie</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29065694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24-Jun-26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Influencer Marketing Specialist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Brittney</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28095855"/>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Crew Store - Blok M</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19477437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Brand Intern - Yogurt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Karin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06633629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(Frozen) - Kabanjahe</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Zwei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783835084"/>
                  </a:ext>
                </a:extLst>
              </a:tr>
            </a:tbl>
          </a:graphicData>
        </a:graphic>
      </p:graphicFrame>
    </p:spTree>
    <p:extLst>
      <p:ext uri="{BB962C8B-B14F-4D97-AF65-F5344CB8AC3E}">
        <p14:creationId xmlns:p14="http://schemas.microsoft.com/office/powerpoint/2010/main" val="2023255735"/>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F46A69-8ADC-C883-DB17-8176DF0607A3}"/>
            </a:ext>
          </a:extLst>
        </p:cNvPr>
        <p:cNvGrpSpPr/>
        <p:nvPr/>
      </p:nvGrpSpPr>
      <p:grpSpPr>
        <a:xfrm>
          <a:off x="0" y="0"/>
          <a:ext cx="0" cy="0"/>
          <a:chOff x="0" y="0"/>
          <a:chExt cx="0" cy="0"/>
        </a:xfrm>
      </p:grpSpPr>
      <p:sp>
        <p:nvSpPr>
          <p:cNvPr id="40" name="Text 19">
            <a:extLst>
              <a:ext uri="{FF2B5EF4-FFF2-40B4-BE49-F238E27FC236}">
                <a16:creationId xmlns:a16="http://schemas.microsoft.com/office/drawing/2014/main" id="{339AD133-4DED-7A2A-927D-038F31DEF4EF}"/>
              </a:ext>
            </a:extLst>
          </p:cNvPr>
          <p:cNvSpPr/>
          <p:nvPr/>
        </p:nvSpPr>
        <p:spPr>
          <a:xfrm>
            <a:off x="8095488"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FILL RATE</a:t>
            </a:r>
            <a:endParaRPr lang="en-US" sz="1100">
              <a:latin typeface="Raleway"/>
            </a:endParaRPr>
          </a:p>
        </p:txBody>
      </p:sp>
      <p:sp>
        <p:nvSpPr>
          <p:cNvPr id="43" name="Text 22">
            <a:extLst>
              <a:ext uri="{FF2B5EF4-FFF2-40B4-BE49-F238E27FC236}">
                <a16:creationId xmlns:a16="http://schemas.microsoft.com/office/drawing/2014/main" id="{BA629F74-0DF1-6A8D-C7DB-735C8F3474AE}"/>
              </a:ext>
            </a:extLst>
          </p:cNvPr>
          <p:cNvSpPr/>
          <p:nvPr/>
        </p:nvSpPr>
        <p:spPr>
          <a:xfrm>
            <a:off x="10027920"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 SESUAI SLA</a:t>
            </a:r>
            <a:endParaRPr lang="en-US" sz="1100">
              <a:latin typeface="Raleway"/>
            </a:endParaRPr>
          </a:p>
        </p:txBody>
      </p:sp>
      <p:sp>
        <p:nvSpPr>
          <p:cNvPr id="6" name="Text 0">
            <a:extLst>
              <a:ext uri="{FF2B5EF4-FFF2-40B4-BE49-F238E27FC236}">
                <a16:creationId xmlns:a16="http://schemas.microsoft.com/office/drawing/2014/main" id="{61FA6478-80A5-A662-EB60-D4148FF89A4A}"/>
              </a:ext>
            </a:extLst>
          </p:cNvPr>
          <p:cNvSpPr/>
          <p:nvPr/>
        </p:nvSpPr>
        <p:spPr>
          <a:xfrm>
            <a:off x="354124" y="164592"/>
            <a:ext cx="6858000" cy="502920"/>
          </a:xfrm>
          <a:prstGeom prst="rect">
            <a:avLst/>
          </a:prstGeom>
          <a:noFill/>
          <a:ln/>
        </p:spPr>
        <p:txBody>
          <a:bodyPr wrap="square" lIns="0" tIns="0" rIns="0" bIns="0" rtlCol="0" anchor="ctr"/>
          <a:lstStyle/>
          <a:p>
            <a:r>
              <a:rPr lang="en-US" sz="2800" b="1">
                <a:solidFill>
                  <a:srgbClr val="12284C"/>
                </a:solidFill>
                <a:latin typeface="Raleway"/>
                <a:ea typeface="Georgia" pitchFamily="34" charset="-122"/>
                <a:cs typeface="Georgia" pitchFamily="34" charset="-120"/>
              </a:rPr>
              <a:t> FPTK Open — Level 2</a:t>
            </a:r>
            <a:endParaRPr lang="en-US" sz="2800" b="1">
              <a:solidFill>
                <a:srgbClr val="C00000"/>
              </a:solidFill>
              <a:latin typeface="Raleway"/>
            </a:endParaRPr>
          </a:p>
        </p:txBody>
      </p:sp>
      <p:graphicFrame>
        <p:nvGraphicFramePr>
          <p:cNvPr id="5" name="Table 4">
            <a:extLst>
              <a:ext uri="{FF2B5EF4-FFF2-40B4-BE49-F238E27FC236}">
                <a16:creationId xmlns:a16="http://schemas.microsoft.com/office/drawing/2014/main" id="{3F02C7F4-4EBC-0A7F-4C5E-D7CC1CF6A8C8}"/>
              </a:ext>
            </a:extLst>
          </p:cNvPr>
          <p:cNvGraphicFramePr>
            <a:graphicFrameLocks noGrp="1"/>
          </p:cNvGraphicFramePr>
          <p:nvPr>
            <p:extLst>
              <p:ext uri="{D42A27DB-BD31-4B8C-83A1-F6EECF244321}">
                <p14:modId xmlns:p14="http://schemas.microsoft.com/office/powerpoint/2010/main" val="3261932122"/>
              </p:ext>
            </p:extLst>
          </p:nvPr>
        </p:nvGraphicFramePr>
        <p:xfrm>
          <a:off x="354124" y="667512"/>
          <a:ext cx="11441637" cy="5822674"/>
        </p:xfrm>
        <a:graphic>
          <a:graphicData uri="http://schemas.openxmlformats.org/drawingml/2006/table">
            <a:tbl>
              <a:tblPr bandRow="1">
                <a:tableStyleId>{5C22544A-7EE6-4342-B048-85BDC9FD1C3A}</a:tableStyleId>
              </a:tblPr>
              <a:tblGrid>
                <a:gridCol w="691088">
                  <a:extLst>
                    <a:ext uri="{9D8B030D-6E8A-4147-A177-3AD203B41FA5}">
                      <a16:colId xmlns:a16="http://schemas.microsoft.com/office/drawing/2014/main" val="964775141"/>
                    </a:ext>
                  </a:extLst>
                </a:gridCol>
                <a:gridCol w="1774643">
                  <a:extLst>
                    <a:ext uri="{9D8B030D-6E8A-4147-A177-3AD203B41FA5}">
                      <a16:colId xmlns:a16="http://schemas.microsoft.com/office/drawing/2014/main" val="3818843332"/>
                    </a:ext>
                  </a:extLst>
                </a:gridCol>
                <a:gridCol w="1365111">
                  <a:extLst>
                    <a:ext uri="{9D8B030D-6E8A-4147-A177-3AD203B41FA5}">
                      <a16:colId xmlns:a16="http://schemas.microsoft.com/office/drawing/2014/main" val="3805053784"/>
                    </a:ext>
                  </a:extLst>
                </a:gridCol>
                <a:gridCol w="1003821">
                  <a:extLst>
                    <a:ext uri="{9D8B030D-6E8A-4147-A177-3AD203B41FA5}">
                      <a16:colId xmlns:a16="http://schemas.microsoft.com/office/drawing/2014/main" val="873694035"/>
                    </a:ext>
                  </a:extLst>
                </a:gridCol>
                <a:gridCol w="426326">
                  <a:extLst>
                    <a:ext uri="{9D8B030D-6E8A-4147-A177-3AD203B41FA5}">
                      <a16:colId xmlns:a16="http://schemas.microsoft.com/office/drawing/2014/main" val="2118302063"/>
                    </a:ext>
                  </a:extLst>
                </a:gridCol>
                <a:gridCol w="546571">
                  <a:extLst>
                    <a:ext uri="{9D8B030D-6E8A-4147-A177-3AD203B41FA5}">
                      <a16:colId xmlns:a16="http://schemas.microsoft.com/office/drawing/2014/main" val="347069574"/>
                    </a:ext>
                  </a:extLst>
                </a:gridCol>
                <a:gridCol w="601228">
                  <a:extLst>
                    <a:ext uri="{9D8B030D-6E8A-4147-A177-3AD203B41FA5}">
                      <a16:colId xmlns:a16="http://schemas.microsoft.com/office/drawing/2014/main" val="2517663509"/>
                    </a:ext>
                  </a:extLst>
                </a:gridCol>
                <a:gridCol w="557503">
                  <a:extLst>
                    <a:ext uri="{9D8B030D-6E8A-4147-A177-3AD203B41FA5}">
                      <a16:colId xmlns:a16="http://schemas.microsoft.com/office/drawing/2014/main" val="4256926922"/>
                    </a:ext>
                  </a:extLst>
                </a:gridCol>
                <a:gridCol w="699610">
                  <a:extLst>
                    <a:ext uri="{9D8B030D-6E8A-4147-A177-3AD203B41FA5}">
                      <a16:colId xmlns:a16="http://schemas.microsoft.com/office/drawing/2014/main" val="103401002"/>
                    </a:ext>
                  </a:extLst>
                </a:gridCol>
                <a:gridCol w="623091">
                  <a:extLst>
                    <a:ext uri="{9D8B030D-6E8A-4147-A177-3AD203B41FA5}">
                      <a16:colId xmlns:a16="http://schemas.microsoft.com/office/drawing/2014/main" val="1508212738"/>
                    </a:ext>
                  </a:extLst>
                </a:gridCol>
                <a:gridCol w="557503">
                  <a:extLst>
                    <a:ext uri="{9D8B030D-6E8A-4147-A177-3AD203B41FA5}">
                      <a16:colId xmlns:a16="http://schemas.microsoft.com/office/drawing/2014/main" val="2156794149"/>
                    </a:ext>
                  </a:extLst>
                </a:gridCol>
                <a:gridCol w="590297">
                  <a:extLst>
                    <a:ext uri="{9D8B030D-6E8A-4147-A177-3AD203B41FA5}">
                      <a16:colId xmlns:a16="http://schemas.microsoft.com/office/drawing/2014/main" val="225074111"/>
                    </a:ext>
                  </a:extLst>
                </a:gridCol>
                <a:gridCol w="460562">
                  <a:extLst>
                    <a:ext uri="{9D8B030D-6E8A-4147-A177-3AD203B41FA5}">
                      <a16:colId xmlns:a16="http://schemas.microsoft.com/office/drawing/2014/main" val="461221745"/>
                    </a:ext>
                  </a:extLst>
                </a:gridCol>
                <a:gridCol w="503385">
                  <a:extLst>
                    <a:ext uri="{9D8B030D-6E8A-4147-A177-3AD203B41FA5}">
                      <a16:colId xmlns:a16="http://schemas.microsoft.com/office/drawing/2014/main" val="1428405946"/>
                    </a:ext>
                  </a:extLst>
                </a:gridCol>
                <a:gridCol w="341278">
                  <a:extLst>
                    <a:ext uri="{9D8B030D-6E8A-4147-A177-3AD203B41FA5}">
                      <a16:colId xmlns:a16="http://schemas.microsoft.com/office/drawing/2014/main" val="1005622174"/>
                    </a:ext>
                  </a:extLst>
                </a:gridCol>
                <a:gridCol w="349810">
                  <a:extLst>
                    <a:ext uri="{9D8B030D-6E8A-4147-A177-3AD203B41FA5}">
                      <a16:colId xmlns:a16="http://schemas.microsoft.com/office/drawing/2014/main" val="4214742890"/>
                    </a:ext>
                  </a:extLst>
                </a:gridCol>
                <a:gridCol w="349810">
                  <a:extLst>
                    <a:ext uri="{9D8B030D-6E8A-4147-A177-3AD203B41FA5}">
                      <a16:colId xmlns:a16="http://schemas.microsoft.com/office/drawing/2014/main" val="3877463835"/>
                    </a:ext>
                  </a:extLst>
                </a:gridCol>
              </a:tblGrid>
              <a:tr h="442868">
                <a:tc>
                  <a:txBody>
                    <a:bodyPr/>
                    <a:lstStyle/>
                    <a:p>
                      <a:pPr algn="ctr" rtl="0" fontAlgn="ctr">
                        <a:buNone/>
                      </a:pPr>
                      <a:r>
                        <a:rPr lang="en-US" sz="800" b="1" i="0" u="none" strike="noStrike">
                          <a:solidFill>
                            <a:srgbClr val="FFFFFF"/>
                          </a:solidFill>
                          <a:effectLst/>
                          <a:latin typeface="Aptos Narrow" panose="020B0004020202020204" pitchFamily="34" charset="0"/>
                        </a:rPr>
                        <a:t>FPTK Date Real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Posisi</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Business Unit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PIC Recruiter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Sourcing FL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Sourcing HR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Shortlisted User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Psikotes</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HR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Technical Case</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Market Visit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User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Panel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Reference Check</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MCU</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Offering</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Day One</a:t>
                      </a:r>
                    </a:p>
                  </a:txBody>
                  <a:tcPr marL="0" marR="0" marT="0" marB="0" anchor="ctr">
                    <a:lnL>
                      <a:noFill/>
                    </a:lnL>
                    <a:lnR>
                      <a:noFill/>
                    </a:lnR>
                    <a:lnT>
                      <a:noFill/>
                    </a:lnT>
                    <a:lnB>
                      <a:noFill/>
                    </a:lnB>
                    <a:solidFill>
                      <a:srgbClr val="2C3E50"/>
                    </a:solidFill>
                  </a:tcPr>
                </a:tc>
                <a:extLst>
                  <a:ext uri="{0D108BD9-81ED-4DB2-BD59-A6C34878D82A}">
                    <a16:rowId xmlns:a16="http://schemas.microsoft.com/office/drawing/2014/main" val="276996153"/>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Support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Valen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22271737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Plant Performance Analyst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Salwa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71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808569414"/>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Assurance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Salwa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73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199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95290552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Assurance Staff - Halal &amp; Incoming</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Salwa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80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25770375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Production Planning &amp; Inventory Control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Fiscall</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88035826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Production Planning &amp; Inventory Control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981100202"/>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Project Foreman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376468157"/>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IT DEVELOPMENT (INTERN)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Gabbie</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03488664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Control Staff - Nugget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160727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Control Staff - Nugget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238096821"/>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Transportation Helper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83467016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Inventory Control Foreman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Wahyu</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461425895"/>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02-Jul-26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Assurance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Wahyu</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3536401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03-Jul-26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Indirect Procurement Staff - Capex</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Kevin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4234110072"/>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09-Jul-26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Good Manufacturing Practices Patrol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423729169"/>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09-Jul-26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CI Intern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29065694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09-Jul-26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Control Staff - Incoming</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Gabbie</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28095855"/>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09-Jul-26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19477437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14-Jul-26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Support Staff - Analyst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7</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06633629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14-Jul-26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Jakarta Timur </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Omega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80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783835084"/>
                  </a:ext>
                </a:extLst>
              </a:tr>
            </a:tbl>
          </a:graphicData>
        </a:graphic>
      </p:graphicFrame>
    </p:spTree>
    <p:extLst>
      <p:ext uri="{BB962C8B-B14F-4D97-AF65-F5344CB8AC3E}">
        <p14:creationId xmlns:p14="http://schemas.microsoft.com/office/powerpoint/2010/main" val="515112471"/>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8A8106-A7DE-0AE1-B3D9-94A72F97CB0A}"/>
            </a:ext>
          </a:extLst>
        </p:cNvPr>
        <p:cNvGrpSpPr/>
        <p:nvPr/>
      </p:nvGrpSpPr>
      <p:grpSpPr>
        <a:xfrm>
          <a:off x="0" y="0"/>
          <a:ext cx="0" cy="0"/>
          <a:chOff x="0" y="0"/>
          <a:chExt cx="0" cy="0"/>
        </a:xfrm>
      </p:grpSpPr>
      <p:sp>
        <p:nvSpPr>
          <p:cNvPr id="40" name="Text 19">
            <a:extLst>
              <a:ext uri="{FF2B5EF4-FFF2-40B4-BE49-F238E27FC236}">
                <a16:creationId xmlns:a16="http://schemas.microsoft.com/office/drawing/2014/main" id="{C41405D2-FCC5-E79D-E4F7-CCEECCAAD471}"/>
              </a:ext>
            </a:extLst>
          </p:cNvPr>
          <p:cNvSpPr/>
          <p:nvPr/>
        </p:nvSpPr>
        <p:spPr>
          <a:xfrm>
            <a:off x="8095488"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FILL RATE</a:t>
            </a:r>
            <a:endParaRPr lang="en-US" sz="1100">
              <a:latin typeface="Raleway"/>
            </a:endParaRPr>
          </a:p>
        </p:txBody>
      </p:sp>
      <p:sp>
        <p:nvSpPr>
          <p:cNvPr id="43" name="Text 22">
            <a:extLst>
              <a:ext uri="{FF2B5EF4-FFF2-40B4-BE49-F238E27FC236}">
                <a16:creationId xmlns:a16="http://schemas.microsoft.com/office/drawing/2014/main" id="{DF0339CA-FDB3-A678-76E0-6DD6CFAF98DD}"/>
              </a:ext>
            </a:extLst>
          </p:cNvPr>
          <p:cNvSpPr/>
          <p:nvPr/>
        </p:nvSpPr>
        <p:spPr>
          <a:xfrm>
            <a:off x="10027920"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 SESUAI SLA</a:t>
            </a:r>
            <a:endParaRPr lang="en-US" sz="1100">
              <a:latin typeface="Raleway"/>
            </a:endParaRPr>
          </a:p>
        </p:txBody>
      </p:sp>
      <p:sp>
        <p:nvSpPr>
          <p:cNvPr id="6" name="Text 0">
            <a:extLst>
              <a:ext uri="{FF2B5EF4-FFF2-40B4-BE49-F238E27FC236}">
                <a16:creationId xmlns:a16="http://schemas.microsoft.com/office/drawing/2014/main" id="{BDF9596D-2F32-91D5-078F-56F9E4789EDA}"/>
              </a:ext>
            </a:extLst>
          </p:cNvPr>
          <p:cNvSpPr/>
          <p:nvPr/>
        </p:nvSpPr>
        <p:spPr>
          <a:xfrm>
            <a:off x="354124" y="164592"/>
            <a:ext cx="6858000" cy="502920"/>
          </a:xfrm>
          <a:prstGeom prst="rect">
            <a:avLst/>
          </a:prstGeom>
          <a:noFill/>
          <a:ln/>
        </p:spPr>
        <p:txBody>
          <a:bodyPr wrap="square" lIns="0" tIns="0" rIns="0" bIns="0" rtlCol="0" anchor="ctr"/>
          <a:lstStyle/>
          <a:p>
            <a:r>
              <a:rPr lang="en-US" sz="2800" b="1">
                <a:solidFill>
                  <a:srgbClr val="12284C"/>
                </a:solidFill>
                <a:latin typeface="Raleway"/>
                <a:ea typeface="Georgia" pitchFamily="34" charset="-122"/>
                <a:cs typeface="Georgia" pitchFamily="34" charset="-120"/>
              </a:rPr>
              <a:t> FPTK Open — Level 2</a:t>
            </a:r>
            <a:endParaRPr lang="en-US" sz="2800" b="1">
              <a:solidFill>
                <a:srgbClr val="C00000"/>
              </a:solidFill>
              <a:latin typeface="Raleway"/>
            </a:endParaRPr>
          </a:p>
        </p:txBody>
      </p:sp>
      <p:graphicFrame>
        <p:nvGraphicFramePr>
          <p:cNvPr id="5" name="Table 4">
            <a:extLst>
              <a:ext uri="{FF2B5EF4-FFF2-40B4-BE49-F238E27FC236}">
                <a16:creationId xmlns:a16="http://schemas.microsoft.com/office/drawing/2014/main" id="{B79F800E-57C5-64A2-9AE6-28DDD74E94F1}"/>
              </a:ext>
            </a:extLst>
          </p:cNvPr>
          <p:cNvGraphicFramePr>
            <a:graphicFrameLocks noGrp="1"/>
          </p:cNvGraphicFramePr>
          <p:nvPr>
            <p:extLst>
              <p:ext uri="{D42A27DB-BD31-4B8C-83A1-F6EECF244321}">
                <p14:modId xmlns:p14="http://schemas.microsoft.com/office/powerpoint/2010/main" val="3282872225"/>
              </p:ext>
            </p:extLst>
          </p:nvPr>
        </p:nvGraphicFramePr>
        <p:xfrm>
          <a:off x="354124" y="667512"/>
          <a:ext cx="11441637" cy="5822674"/>
        </p:xfrm>
        <a:graphic>
          <a:graphicData uri="http://schemas.openxmlformats.org/drawingml/2006/table">
            <a:tbl>
              <a:tblPr bandRow="1">
                <a:tableStyleId>{5C22544A-7EE6-4342-B048-85BDC9FD1C3A}</a:tableStyleId>
              </a:tblPr>
              <a:tblGrid>
                <a:gridCol w="691088">
                  <a:extLst>
                    <a:ext uri="{9D8B030D-6E8A-4147-A177-3AD203B41FA5}">
                      <a16:colId xmlns:a16="http://schemas.microsoft.com/office/drawing/2014/main" val="964775141"/>
                    </a:ext>
                  </a:extLst>
                </a:gridCol>
                <a:gridCol w="1774643">
                  <a:extLst>
                    <a:ext uri="{9D8B030D-6E8A-4147-A177-3AD203B41FA5}">
                      <a16:colId xmlns:a16="http://schemas.microsoft.com/office/drawing/2014/main" val="3818843332"/>
                    </a:ext>
                  </a:extLst>
                </a:gridCol>
                <a:gridCol w="1365111">
                  <a:extLst>
                    <a:ext uri="{9D8B030D-6E8A-4147-A177-3AD203B41FA5}">
                      <a16:colId xmlns:a16="http://schemas.microsoft.com/office/drawing/2014/main" val="3805053784"/>
                    </a:ext>
                  </a:extLst>
                </a:gridCol>
                <a:gridCol w="1003821">
                  <a:extLst>
                    <a:ext uri="{9D8B030D-6E8A-4147-A177-3AD203B41FA5}">
                      <a16:colId xmlns:a16="http://schemas.microsoft.com/office/drawing/2014/main" val="873694035"/>
                    </a:ext>
                  </a:extLst>
                </a:gridCol>
                <a:gridCol w="426326">
                  <a:extLst>
                    <a:ext uri="{9D8B030D-6E8A-4147-A177-3AD203B41FA5}">
                      <a16:colId xmlns:a16="http://schemas.microsoft.com/office/drawing/2014/main" val="2118302063"/>
                    </a:ext>
                  </a:extLst>
                </a:gridCol>
                <a:gridCol w="546571">
                  <a:extLst>
                    <a:ext uri="{9D8B030D-6E8A-4147-A177-3AD203B41FA5}">
                      <a16:colId xmlns:a16="http://schemas.microsoft.com/office/drawing/2014/main" val="347069574"/>
                    </a:ext>
                  </a:extLst>
                </a:gridCol>
                <a:gridCol w="601228">
                  <a:extLst>
                    <a:ext uri="{9D8B030D-6E8A-4147-A177-3AD203B41FA5}">
                      <a16:colId xmlns:a16="http://schemas.microsoft.com/office/drawing/2014/main" val="2517663509"/>
                    </a:ext>
                  </a:extLst>
                </a:gridCol>
                <a:gridCol w="557503">
                  <a:extLst>
                    <a:ext uri="{9D8B030D-6E8A-4147-A177-3AD203B41FA5}">
                      <a16:colId xmlns:a16="http://schemas.microsoft.com/office/drawing/2014/main" val="4256926922"/>
                    </a:ext>
                  </a:extLst>
                </a:gridCol>
                <a:gridCol w="699610">
                  <a:extLst>
                    <a:ext uri="{9D8B030D-6E8A-4147-A177-3AD203B41FA5}">
                      <a16:colId xmlns:a16="http://schemas.microsoft.com/office/drawing/2014/main" val="103401002"/>
                    </a:ext>
                  </a:extLst>
                </a:gridCol>
                <a:gridCol w="623091">
                  <a:extLst>
                    <a:ext uri="{9D8B030D-6E8A-4147-A177-3AD203B41FA5}">
                      <a16:colId xmlns:a16="http://schemas.microsoft.com/office/drawing/2014/main" val="1508212738"/>
                    </a:ext>
                  </a:extLst>
                </a:gridCol>
                <a:gridCol w="557503">
                  <a:extLst>
                    <a:ext uri="{9D8B030D-6E8A-4147-A177-3AD203B41FA5}">
                      <a16:colId xmlns:a16="http://schemas.microsoft.com/office/drawing/2014/main" val="2156794149"/>
                    </a:ext>
                  </a:extLst>
                </a:gridCol>
                <a:gridCol w="590297">
                  <a:extLst>
                    <a:ext uri="{9D8B030D-6E8A-4147-A177-3AD203B41FA5}">
                      <a16:colId xmlns:a16="http://schemas.microsoft.com/office/drawing/2014/main" val="225074111"/>
                    </a:ext>
                  </a:extLst>
                </a:gridCol>
                <a:gridCol w="460562">
                  <a:extLst>
                    <a:ext uri="{9D8B030D-6E8A-4147-A177-3AD203B41FA5}">
                      <a16:colId xmlns:a16="http://schemas.microsoft.com/office/drawing/2014/main" val="461221745"/>
                    </a:ext>
                  </a:extLst>
                </a:gridCol>
                <a:gridCol w="503385">
                  <a:extLst>
                    <a:ext uri="{9D8B030D-6E8A-4147-A177-3AD203B41FA5}">
                      <a16:colId xmlns:a16="http://schemas.microsoft.com/office/drawing/2014/main" val="1428405946"/>
                    </a:ext>
                  </a:extLst>
                </a:gridCol>
                <a:gridCol w="341278">
                  <a:extLst>
                    <a:ext uri="{9D8B030D-6E8A-4147-A177-3AD203B41FA5}">
                      <a16:colId xmlns:a16="http://schemas.microsoft.com/office/drawing/2014/main" val="1005622174"/>
                    </a:ext>
                  </a:extLst>
                </a:gridCol>
                <a:gridCol w="349810">
                  <a:extLst>
                    <a:ext uri="{9D8B030D-6E8A-4147-A177-3AD203B41FA5}">
                      <a16:colId xmlns:a16="http://schemas.microsoft.com/office/drawing/2014/main" val="4214742890"/>
                    </a:ext>
                  </a:extLst>
                </a:gridCol>
                <a:gridCol w="349810">
                  <a:extLst>
                    <a:ext uri="{9D8B030D-6E8A-4147-A177-3AD203B41FA5}">
                      <a16:colId xmlns:a16="http://schemas.microsoft.com/office/drawing/2014/main" val="3877463835"/>
                    </a:ext>
                  </a:extLst>
                </a:gridCol>
              </a:tblGrid>
              <a:tr h="442868">
                <a:tc>
                  <a:txBody>
                    <a:bodyPr/>
                    <a:lstStyle/>
                    <a:p>
                      <a:pPr algn="ctr" rtl="0" fontAlgn="ctr">
                        <a:buNone/>
                      </a:pPr>
                      <a:r>
                        <a:rPr lang="en-US" sz="800" b="1" i="0" u="none" strike="noStrike">
                          <a:solidFill>
                            <a:srgbClr val="FFFFFF"/>
                          </a:solidFill>
                          <a:effectLst/>
                          <a:latin typeface="Aptos Narrow" panose="020B0004020202020204" pitchFamily="34" charset="0"/>
                        </a:rPr>
                        <a:t>FPTK Date Real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Posisi</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Business Unit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PIC Recruiter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Sourcing FL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Sourcing HR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Shortlisted User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Psikotes</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HR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Technical Case</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Market Visit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User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Panel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Reference Check</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MCU</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Offering</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Day One</a:t>
                      </a:r>
                    </a:p>
                  </a:txBody>
                  <a:tcPr marL="0" marR="0" marT="0" marB="0" anchor="ctr">
                    <a:lnL>
                      <a:noFill/>
                    </a:lnL>
                    <a:lnR>
                      <a:noFill/>
                    </a:lnR>
                    <a:lnT>
                      <a:noFill/>
                    </a:lnT>
                    <a:lnB>
                      <a:noFill/>
                    </a:lnB>
                    <a:solidFill>
                      <a:srgbClr val="2C3E50"/>
                    </a:solidFill>
                  </a:tcPr>
                </a:tc>
                <a:extLst>
                  <a:ext uri="{0D108BD9-81ED-4DB2-BD59-A6C34878D82A}">
                    <a16:rowId xmlns:a16="http://schemas.microsoft.com/office/drawing/2014/main" val="276996153"/>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14-Jul-26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Palopo </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Omega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22271737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14-Jul-26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Tangerang Kota</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Zwei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808569414"/>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14-Jul-26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Lubuk Linggau</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Zwei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17</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95290552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15-Jul-26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Brand Support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Valen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25770375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15-Jul-26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Air Molek</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Zwei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88035826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15-Jul-26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(Mix) - Air Molek</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Zwei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981100202"/>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16-Jul-26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R&amp;I Worker - Formulation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Fiscall</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376468157"/>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16-Jul-26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R&amp;I Worker - Formulation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Fiscall</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03488664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16-Jul-26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Operation Administration Worker - Regulatory</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Fiscall</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160727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16-Jul-26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Supply Chain &amp; Warehouse Staff - PPIC</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Fiscall</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238096821"/>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16-Jul-26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R&amp;I Worker - Formulation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83467016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16-Jul-26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R&amp;I Worker - Formulation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61425895"/>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16-Jul-26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Operation Administration Worker - Regulatory</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3536401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16-Jul-26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Maintenance Technician -  Nugget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120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17</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extLst>
                  <a:ext uri="{0D108BD9-81ED-4DB2-BD59-A6C34878D82A}">
                    <a16:rowId xmlns:a16="http://schemas.microsoft.com/office/drawing/2014/main" val="4234110072"/>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16-Jul-26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Maintenance Technician -  Singles</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extLst>
                  <a:ext uri="{0D108BD9-81ED-4DB2-BD59-A6C34878D82A}">
                    <a16:rowId xmlns:a16="http://schemas.microsoft.com/office/drawing/2014/main" val="3423729169"/>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16-Jul-26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Maintenance Technician -  Singles</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29065694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17-Jul-26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Marketing Staff - Activation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Karin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28095855"/>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20-Jul-26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Facility &amp; Office Managament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19477437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20-Jul-26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(Frozen) - Serang</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Omega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06633629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20-Jul-26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HRGA Operation Staff - Engineering</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Kevin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783835084"/>
                  </a:ext>
                </a:extLst>
              </a:tr>
            </a:tbl>
          </a:graphicData>
        </a:graphic>
      </p:graphicFrame>
    </p:spTree>
    <p:extLst>
      <p:ext uri="{BB962C8B-B14F-4D97-AF65-F5344CB8AC3E}">
        <p14:creationId xmlns:p14="http://schemas.microsoft.com/office/powerpoint/2010/main" val="4236588903"/>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C0D8D9-A128-B44D-68FD-1A5B663896E1}"/>
            </a:ext>
          </a:extLst>
        </p:cNvPr>
        <p:cNvGrpSpPr/>
        <p:nvPr/>
      </p:nvGrpSpPr>
      <p:grpSpPr>
        <a:xfrm>
          <a:off x="0" y="0"/>
          <a:ext cx="0" cy="0"/>
          <a:chOff x="0" y="0"/>
          <a:chExt cx="0" cy="0"/>
        </a:xfrm>
      </p:grpSpPr>
      <p:sp>
        <p:nvSpPr>
          <p:cNvPr id="40" name="Text 19">
            <a:extLst>
              <a:ext uri="{FF2B5EF4-FFF2-40B4-BE49-F238E27FC236}">
                <a16:creationId xmlns:a16="http://schemas.microsoft.com/office/drawing/2014/main" id="{FD2B2F2B-6F80-CE22-BD03-E8E84222D41B}"/>
              </a:ext>
            </a:extLst>
          </p:cNvPr>
          <p:cNvSpPr/>
          <p:nvPr/>
        </p:nvSpPr>
        <p:spPr>
          <a:xfrm>
            <a:off x="8095488"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FILL RATE</a:t>
            </a:r>
            <a:endParaRPr lang="en-US" sz="1100">
              <a:latin typeface="Raleway"/>
            </a:endParaRPr>
          </a:p>
        </p:txBody>
      </p:sp>
      <p:sp>
        <p:nvSpPr>
          <p:cNvPr id="43" name="Text 22">
            <a:extLst>
              <a:ext uri="{FF2B5EF4-FFF2-40B4-BE49-F238E27FC236}">
                <a16:creationId xmlns:a16="http://schemas.microsoft.com/office/drawing/2014/main" id="{5E207D68-2351-DCDA-2A26-BFEDE5784BE9}"/>
              </a:ext>
            </a:extLst>
          </p:cNvPr>
          <p:cNvSpPr/>
          <p:nvPr/>
        </p:nvSpPr>
        <p:spPr>
          <a:xfrm>
            <a:off x="10027920"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 SESUAI SLA</a:t>
            </a:r>
            <a:endParaRPr lang="en-US" sz="1100">
              <a:latin typeface="Raleway"/>
            </a:endParaRPr>
          </a:p>
        </p:txBody>
      </p:sp>
      <p:sp>
        <p:nvSpPr>
          <p:cNvPr id="6" name="Text 0">
            <a:extLst>
              <a:ext uri="{FF2B5EF4-FFF2-40B4-BE49-F238E27FC236}">
                <a16:creationId xmlns:a16="http://schemas.microsoft.com/office/drawing/2014/main" id="{2EF8FEC3-6634-9BA5-4828-54477E285AE7}"/>
              </a:ext>
            </a:extLst>
          </p:cNvPr>
          <p:cNvSpPr/>
          <p:nvPr/>
        </p:nvSpPr>
        <p:spPr>
          <a:xfrm>
            <a:off x="354124" y="164592"/>
            <a:ext cx="6858000" cy="502920"/>
          </a:xfrm>
          <a:prstGeom prst="rect">
            <a:avLst/>
          </a:prstGeom>
          <a:noFill/>
          <a:ln/>
        </p:spPr>
        <p:txBody>
          <a:bodyPr wrap="square" lIns="0" tIns="0" rIns="0" bIns="0" rtlCol="0" anchor="ctr"/>
          <a:lstStyle/>
          <a:p>
            <a:r>
              <a:rPr lang="en-US" sz="2800" b="1">
                <a:solidFill>
                  <a:srgbClr val="12284C"/>
                </a:solidFill>
                <a:latin typeface="Raleway"/>
                <a:ea typeface="Georgia" pitchFamily="34" charset="-122"/>
                <a:cs typeface="Georgia" pitchFamily="34" charset="-120"/>
              </a:rPr>
              <a:t> FPTK Open — Level 2</a:t>
            </a:r>
            <a:endParaRPr lang="en-US" sz="2800" b="1">
              <a:solidFill>
                <a:srgbClr val="C00000"/>
              </a:solidFill>
              <a:latin typeface="Raleway"/>
            </a:endParaRPr>
          </a:p>
        </p:txBody>
      </p:sp>
      <p:graphicFrame>
        <p:nvGraphicFramePr>
          <p:cNvPr id="5" name="Table 4">
            <a:extLst>
              <a:ext uri="{FF2B5EF4-FFF2-40B4-BE49-F238E27FC236}">
                <a16:creationId xmlns:a16="http://schemas.microsoft.com/office/drawing/2014/main" id="{EB931FE6-EC78-3E30-4A97-DE7441539F3F}"/>
              </a:ext>
            </a:extLst>
          </p:cNvPr>
          <p:cNvGraphicFramePr>
            <a:graphicFrameLocks noGrp="1"/>
          </p:cNvGraphicFramePr>
          <p:nvPr>
            <p:extLst>
              <p:ext uri="{D42A27DB-BD31-4B8C-83A1-F6EECF244321}">
                <p14:modId xmlns:p14="http://schemas.microsoft.com/office/powerpoint/2010/main" val="1728610656"/>
              </p:ext>
            </p:extLst>
          </p:nvPr>
        </p:nvGraphicFramePr>
        <p:xfrm>
          <a:off x="354124" y="667512"/>
          <a:ext cx="11441637" cy="5745954"/>
        </p:xfrm>
        <a:graphic>
          <a:graphicData uri="http://schemas.openxmlformats.org/drawingml/2006/table">
            <a:tbl>
              <a:tblPr bandRow="1">
                <a:tableStyleId>{5C22544A-7EE6-4342-B048-85BDC9FD1C3A}</a:tableStyleId>
              </a:tblPr>
              <a:tblGrid>
                <a:gridCol w="691088">
                  <a:extLst>
                    <a:ext uri="{9D8B030D-6E8A-4147-A177-3AD203B41FA5}">
                      <a16:colId xmlns:a16="http://schemas.microsoft.com/office/drawing/2014/main" val="964775141"/>
                    </a:ext>
                  </a:extLst>
                </a:gridCol>
                <a:gridCol w="1774643">
                  <a:extLst>
                    <a:ext uri="{9D8B030D-6E8A-4147-A177-3AD203B41FA5}">
                      <a16:colId xmlns:a16="http://schemas.microsoft.com/office/drawing/2014/main" val="3818843332"/>
                    </a:ext>
                  </a:extLst>
                </a:gridCol>
                <a:gridCol w="1365111">
                  <a:extLst>
                    <a:ext uri="{9D8B030D-6E8A-4147-A177-3AD203B41FA5}">
                      <a16:colId xmlns:a16="http://schemas.microsoft.com/office/drawing/2014/main" val="3805053784"/>
                    </a:ext>
                  </a:extLst>
                </a:gridCol>
                <a:gridCol w="1003821">
                  <a:extLst>
                    <a:ext uri="{9D8B030D-6E8A-4147-A177-3AD203B41FA5}">
                      <a16:colId xmlns:a16="http://schemas.microsoft.com/office/drawing/2014/main" val="873694035"/>
                    </a:ext>
                  </a:extLst>
                </a:gridCol>
                <a:gridCol w="426326">
                  <a:extLst>
                    <a:ext uri="{9D8B030D-6E8A-4147-A177-3AD203B41FA5}">
                      <a16:colId xmlns:a16="http://schemas.microsoft.com/office/drawing/2014/main" val="2118302063"/>
                    </a:ext>
                  </a:extLst>
                </a:gridCol>
                <a:gridCol w="546571">
                  <a:extLst>
                    <a:ext uri="{9D8B030D-6E8A-4147-A177-3AD203B41FA5}">
                      <a16:colId xmlns:a16="http://schemas.microsoft.com/office/drawing/2014/main" val="347069574"/>
                    </a:ext>
                  </a:extLst>
                </a:gridCol>
                <a:gridCol w="601228">
                  <a:extLst>
                    <a:ext uri="{9D8B030D-6E8A-4147-A177-3AD203B41FA5}">
                      <a16:colId xmlns:a16="http://schemas.microsoft.com/office/drawing/2014/main" val="2517663509"/>
                    </a:ext>
                  </a:extLst>
                </a:gridCol>
                <a:gridCol w="557503">
                  <a:extLst>
                    <a:ext uri="{9D8B030D-6E8A-4147-A177-3AD203B41FA5}">
                      <a16:colId xmlns:a16="http://schemas.microsoft.com/office/drawing/2014/main" val="4256926922"/>
                    </a:ext>
                  </a:extLst>
                </a:gridCol>
                <a:gridCol w="699610">
                  <a:extLst>
                    <a:ext uri="{9D8B030D-6E8A-4147-A177-3AD203B41FA5}">
                      <a16:colId xmlns:a16="http://schemas.microsoft.com/office/drawing/2014/main" val="103401002"/>
                    </a:ext>
                  </a:extLst>
                </a:gridCol>
                <a:gridCol w="623091">
                  <a:extLst>
                    <a:ext uri="{9D8B030D-6E8A-4147-A177-3AD203B41FA5}">
                      <a16:colId xmlns:a16="http://schemas.microsoft.com/office/drawing/2014/main" val="1508212738"/>
                    </a:ext>
                  </a:extLst>
                </a:gridCol>
                <a:gridCol w="557503">
                  <a:extLst>
                    <a:ext uri="{9D8B030D-6E8A-4147-A177-3AD203B41FA5}">
                      <a16:colId xmlns:a16="http://schemas.microsoft.com/office/drawing/2014/main" val="2156794149"/>
                    </a:ext>
                  </a:extLst>
                </a:gridCol>
                <a:gridCol w="590297">
                  <a:extLst>
                    <a:ext uri="{9D8B030D-6E8A-4147-A177-3AD203B41FA5}">
                      <a16:colId xmlns:a16="http://schemas.microsoft.com/office/drawing/2014/main" val="225074111"/>
                    </a:ext>
                  </a:extLst>
                </a:gridCol>
                <a:gridCol w="460562">
                  <a:extLst>
                    <a:ext uri="{9D8B030D-6E8A-4147-A177-3AD203B41FA5}">
                      <a16:colId xmlns:a16="http://schemas.microsoft.com/office/drawing/2014/main" val="461221745"/>
                    </a:ext>
                  </a:extLst>
                </a:gridCol>
                <a:gridCol w="503385">
                  <a:extLst>
                    <a:ext uri="{9D8B030D-6E8A-4147-A177-3AD203B41FA5}">
                      <a16:colId xmlns:a16="http://schemas.microsoft.com/office/drawing/2014/main" val="1428405946"/>
                    </a:ext>
                  </a:extLst>
                </a:gridCol>
                <a:gridCol w="341278">
                  <a:extLst>
                    <a:ext uri="{9D8B030D-6E8A-4147-A177-3AD203B41FA5}">
                      <a16:colId xmlns:a16="http://schemas.microsoft.com/office/drawing/2014/main" val="1005622174"/>
                    </a:ext>
                  </a:extLst>
                </a:gridCol>
                <a:gridCol w="349810">
                  <a:extLst>
                    <a:ext uri="{9D8B030D-6E8A-4147-A177-3AD203B41FA5}">
                      <a16:colId xmlns:a16="http://schemas.microsoft.com/office/drawing/2014/main" val="4214742890"/>
                    </a:ext>
                  </a:extLst>
                </a:gridCol>
                <a:gridCol w="349810">
                  <a:extLst>
                    <a:ext uri="{9D8B030D-6E8A-4147-A177-3AD203B41FA5}">
                      <a16:colId xmlns:a16="http://schemas.microsoft.com/office/drawing/2014/main" val="3877463835"/>
                    </a:ext>
                  </a:extLst>
                </a:gridCol>
              </a:tblGrid>
              <a:tr h="442868">
                <a:tc>
                  <a:txBody>
                    <a:bodyPr/>
                    <a:lstStyle/>
                    <a:p>
                      <a:pPr algn="ctr" rtl="0" fontAlgn="ctr">
                        <a:buNone/>
                      </a:pPr>
                      <a:r>
                        <a:rPr lang="en-US" sz="800" b="1" i="0" u="none" strike="noStrike">
                          <a:solidFill>
                            <a:srgbClr val="FFFFFF"/>
                          </a:solidFill>
                          <a:effectLst/>
                          <a:latin typeface="Aptos Narrow" panose="020B0004020202020204" pitchFamily="34" charset="0"/>
                        </a:rPr>
                        <a:t>FPTK Date Real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Posisi</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Business Unit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PIC Recruiter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Sourcing FL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Sourcing HR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Shortlisted User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Psikotes</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HR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Technical Case</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Market Visit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User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Panel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Reference Check</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MCU</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Offering</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Day One</a:t>
                      </a:r>
                    </a:p>
                  </a:txBody>
                  <a:tcPr marL="0" marR="0" marT="0" marB="0" anchor="ctr">
                    <a:lnL>
                      <a:noFill/>
                    </a:lnL>
                    <a:lnR>
                      <a:noFill/>
                    </a:lnR>
                    <a:lnT>
                      <a:noFill/>
                    </a:lnT>
                    <a:lnB>
                      <a:noFill/>
                    </a:lnB>
                    <a:solidFill>
                      <a:srgbClr val="2C3E50"/>
                    </a:solidFill>
                  </a:tcPr>
                </a:tc>
                <a:extLst>
                  <a:ext uri="{0D108BD9-81ED-4DB2-BD59-A6C34878D82A}">
                    <a16:rowId xmlns:a16="http://schemas.microsoft.com/office/drawing/2014/main" val="276996153"/>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20-Jul-26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HRGA Operation Staff - Engineering</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Kevin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22271737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20-Jul-26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HRGA Operation Staff - Engineering</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Kevin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808569414"/>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20-Jul-26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Benefit Administration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Salwa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95290552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20-Jul-26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Supply Chain &amp; Warehouse Staff - PPIC</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25770375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20-Jul-26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Warehouse Administration Worker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97</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88035826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20-Jul-26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Warehouse Helper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375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981100202"/>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20-Jul-26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Finance Staff - Fakturis</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376468157"/>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21-Jul-26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(Frozen) - Tangerang Kabupaten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Zwei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03488664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21-Jul-26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Assurance Analysis Staff - Microbiology</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160727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Pekanbaru</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Zwei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238096821"/>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Truck Operator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Salwa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83467016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Production Foreman - Sauce</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61425895"/>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22-Jul-26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Facility &amp; Office Management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17</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3536401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24-Jul-26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Influencer Marketing - Head Office</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Salsa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4234110072"/>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24-Jul-26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Maintenance Technician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423729169"/>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24-Jul-26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Maintenance Technician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29065694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24-Jul-26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People &amp; Organization Development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28095855"/>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28-Jul-26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(Frozen) - Rantau Prapat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Zwei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19477437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28-Jul-26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Rantau Prapat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Zwei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06633629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28-Jul-26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Rantau Prapat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Zwei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783835084"/>
                  </a:ext>
                </a:extLst>
              </a:tr>
            </a:tbl>
          </a:graphicData>
        </a:graphic>
      </p:graphicFrame>
    </p:spTree>
    <p:extLst>
      <p:ext uri="{BB962C8B-B14F-4D97-AF65-F5344CB8AC3E}">
        <p14:creationId xmlns:p14="http://schemas.microsoft.com/office/powerpoint/2010/main" val="708751000"/>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7608A7-FB22-60C1-B12A-53A566372B8D}"/>
            </a:ext>
          </a:extLst>
        </p:cNvPr>
        <p:cNvGrpSpPr/>
        <p:nvPr/>
      </p:nvGrpSpPr>
      <p:grpSpPr>
        <a:xfrm>
          <a:off x="0" y="0"/>
          <a:ext cx="0" cy="0"/>
          <a:chOff x="0" y="0"/>
          <a:chExt cx="0" cy="0"/>
        </a:xfrm>
      </p:grpSpPr>
      <p:sp>
        <p:nvSpPr>
          <p:cNvPr id="40" name="Text 19">
            <a:extLst>
              <a:ext uri="{FF2B5EF4-FFF2-40B4-BE49-F238E27FC236}">
                <a16:creationId xmlns:a16="http://schemas.microsoft.com/office/drawing/2014/main" id="{C99BB42C-CE87-BAEC-ADD4-EDCDB58CBDCF}"/>
              </a:ext>
            </a:extLst>
          </p:cNvPr>
          <p:cNvSpPr/>
          <p:nvPr/>
        </p:nvSpPr>
        <p:spPr>
          <a:xfrm>
            <a:off x="8095488"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FILL RATE</a:t>
            </a:r>
            <a:endParaRPr lang="en-US" sz="1100">
              <a:latin typeface="Raleway"/>
            </a:endParaRPr>
          </a:p>
        </p:txBody>
      </p:sp>
      <p:sp>
        <p:nvSpPr>
          <p:cNvPr id="43" name="Text 22">
            <a:extLst>
              <a:ext uri="{FF2B5EF4-FFF2-40B4-BE49-F238E27FC236}">
                <a16:creationId xmlns:a16="http://schemas.microsoft.com/office/drawing/2014/main" id="{AB4AEF2A-02BC-0BCE-C5C1-4C24DE839B03}"/>
              </a:ext>
            </a:extLst>
          </p:cNvPr>
          <p:cNvSpPr/>
          <p:nvPr/>
        </p:nvSpPr>
        <p:spPr>
          <a:xfrm>
            <a:off x="10027920"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 SESUAI SLA</a:t>
            </a:r>
            <a:endParaRPr lang="en-US" sz="1100">
              <a:latin typeface="Raleway"/>
            </a:endParaRPr>
          </a:p>
        </p:txBody>
      </p:sp>
      <p:sp>
        <p:nvSpPr>
          <p:cNvPr id="6" name="Text 0">
            <a:extLst>
              <a:ext uri="{FF2B5EF4-FFF2-40B4-BE49-F238E27FC236}">
                <a16:creationId xmlns:a16="http://schemas.microsoft.com/office/drawing/2014/main" id="{737CED30-775A-4224-5EE9-88C09F93D755}"/>
              </a:ext>
            </a:extLst>
          </p:cNvPr>
          <p:cNvSpPr/>
          <p:nvPr/>
        </p:nvSpPr>
        <p:spPr>
          <a:xfrm>
            <a:off x="354124" y="164592"/>
            <a:ext cx="6858000" cy="502920"/>
          </a:xfrm>
          <a:prstGeom prst="rect">
            <a:avLst/>
          </a:prstGeom>
          <a:noFill/>
          <a:ln/>
        </p:spPr>
        <p:txBody>
          <a:bodyPr wrap="square" lIns="0" tIns="0" rIns="0" bIns="0" rtlCol="0" anchor="ctr"/>
          <a:lstStyle/>
          <a:p>
            <a:r>
              <a:rPr lang="en-US" sz="2800" b="1">
                <a:solidFill>
                  <a:srgbClr val="12284C"/>
                </a:solidFill>
                <a:latin typeface="Raleway"/>
                <a:ea typeface="Georgia" pitchFamily="34" charset="-122"/>
                <a:cs typeface="Georgia" pitchFamily="34" charset="-120"/>
              </a:rPr>
              <a:t> FPTK Open — Level 2</a:t>
            </a:r>
            <a:endParaRPr lang="en-US" sz="2800" b="1">
              <a:solidFill>
                <a:srgbClr val="C00000"/>
              </a:solidFill>
              <a:latin typeface="Raleway"/>
            </a:endParaRPr>
          </a:p>
        </p:txBody>
      </p:sp>
      <p:graphicFrame>
        <p:nvGraphicFramePr>
          <p:cNvPr id="5" name="Table 4">
            <a:extLst>
              <a:ext uri="{FF2B5EF4-FFF2-40B4-BE49-F238E27FC236}">
                <a16:creationId xmlns:a16="http://schemas.microsoft.com/office/drawing/2014/main" id="{83074452-90E5-3D47-9AAF-C518864EB409}"/>
              </a:ext>
            </a:extLst>
          </p:cNvPr>
          <p:cNvGraphicFramePr>
            <a:graphicFrameLocks noGrp="1"/>
          </p:cNvGraphicFramePr>
          <p:nvPr>
            <p:extLst>
              <p:ext uri="{D42A27DB-BD31-4B8C-83A1-F6EECF244321}">
                <p14:modId xmlns:p14="http://schemas.microsoft.com/office/powerpoint/2010/main" val="527200379"/>
              </p:ext>
            </p:extLst>
          </p:nvPr>
        </p:nvGraphicFramePr>
        <p:xfrm>
          <a:off x="354124" y="667512"/>
          <a:ext cx="11441637" cy="5822674"/>
        </p:xfrm>
        <a:graphic>
          <a:graphicData uri="http://schemas.openxmlformats.org/drawingml/2006/table">
            <a:tbl>
              <a:tblPr bandRow="1">
                <a:tableStyleId>{5C22544A-7EE6-4342-B048-85BDC9FD1C3A}</a:tableStyleId>
              </a:tblPr>
              <a:tblGrid>
                <a:gridCol w="691088">
                  <a:extLst>
                    <a:ext uri="{9D8B030D-6E8A-4147-A177-3AD203B41FA5}">
                      <a16:colId xmlns:a16="http://schemas.microsoft.com/office/drawing/2014/main" val="964775141"/>
                    </a:ext>
                  </a:extLst>
                </a:gridCol>
                <a:gridCol w="1774643">
                  <a:extLst>
                    <a:ext uri="{9D8B030D-6E8A-4147-A177-3AD203B41FA5}">
                      <a16:colId xmlns:a16="http://schemas.microsoft.com/office/drawing/2014/main" val="3818843332"/>
                    </a:ext>
                  </a:extLst>
                </a:gridCol>
                <a:gridCol w="1365111">
                  <a:extLst>
                    <a:ext uri="{9D8B030D-6E8A-4147-A177-3AD203B41FA5}">
                      <a16:colId xmlns:a16="http://schemas.microsoft.com/office/drawing/2014/main" val="3805053784"/>
                    </a:ext>
                  </a:extLst>
                </a:gridCol>
                <a:gridCol w="1003821">
                  <a:extLst>
                    <a:ext uri="{9D8B030D-6E8A-4147-A177-3AD203B41FA5}">
                      <a16:colId xmlns:a16="http://schemas.microsoft.com/office/drawing/2014/main" val="873694035"/>
                    </a:ext>
                  </a:extLst>
                </a:gridCol>
                <a:gridCol w="426326">
                  <a:extLst>
                    <a:ext uri="{9D8B030D-6E8A-4147-A177-3AD203B41FA5}">
                      <a16:colId xmlns:a16="http://schemas.microsoft.com/office/drawing/2014/main" val="2118302063"/>
                    </a:ext>
                  </a:extLst>
                </a:gridCol>
                <a:gridCol w="546571">
                  <a:extLst>
                    <a:ext uri="{9D8B030D-6E8A-4147-A177-3AD203B41FA5}">
                      <a16:colId xmlns:a16="http://schemas.microsoft.com/office/drawing/2014/main" val="347069574"/>
                    </a:ext>
                  </a:extLst>
                </a:gridCol>
                <a:gridCol w="601228">
                  <a:extLst>
                    <a:ext uri="{9D8B030D-6E8A-4147-A177-3AD203B41FA5}">
                      <a16:colId xmlns:a16="http://schemas.microsoft.com/office/drawing/2014/main" val="2517663509"/>
                    </a:ext>
                  </a:extLst>
                </a:gridCol>
                <a:gridCol w="557503">
                  <a:extLst>
                    <a:ext uri="{9D8B030D-6E8A-4147-A177-3AD203B41FA5}">
                      <a16:colId xmlns:a16="http://schemas.microsoft.com/office/drawing/2014/main" val="4256926922"/>
                    </a:ext>
                  </a:extLst>
                </a:gridCol>
                <a:gridCol w="699610">
                  <a:extLst>
                    <a:ext uri="{9D8B030D-6E8A-4147-A177-3AD203B41FA5}">
                      <a16:colId xmlns:a16="http://schemas.microsoft.com/office/drawing/2014/main" val="103401002"/>
                    </a:ext>
                  </a:extLst>
                </a:gridCol>
                <a:gridCol w="623091">
                  <a:extLst>
                    <a:ext uri="{9D8B030D-6E8A-4147-A177-3AD203B41FA5}">
                      <a16:colId xmlns:a16="http://schemas.microsoft.com/office/drawing/2014/main" val="1508212738"/>
                    </a:ext>
                  </a:extLst>
                </a:gridCol>
                <a:gridCol w="557503">
                  <a:extLst>
                    <a:ext uri="{9D8B030D-6E8A-4147-A177-3AD203B41FA5}">
                      <a16:colId xmlns:a16="http://schemas.microsoft.com/office/drawing/2014/main" val="2156794149"/>
                    </a:ext>
                  </a:extLst>
                </a:gridCol>
                <a:gridCol w="590297">
                  <a:extLst>
                    <a:ext uri="{9D8B030D-6E8A-4147-A177-3AD203B41FA5}">
                      <a16:colId xmlns:a16="http://schemas.microsoft.com/office/drawing/2014/main" val="225074111"/>
                    </a:ext>
                  </a:extLst>
                </a:gridCol>
                <a:gridCol w="460562">
                  <a:extLst>
                    <a:ext uri="{9D8B030D-6E8A-4147-A177-3AD203B41FA5}">
                      <a16:colId xmlns:a16="http://schemas.microsoft.com/office/drawing/2014/main" val="461221745"/>
                    </a:ext>
                  </a:extLst>
                </a:gridCol>
                <a:gridCol w="503385">
                  <a:extLst>
                    <a:ext uri="{9D8B030D-6E8A-4147-A177-3AD203B41FA5}">
                      <a16:colId xmlns:a16="http://schemas.microsoft.com/office/drawing/2014/main" val="1428405946"/>
                    </a:ext>
                  </a:extLst>
                </a:gridCol>
                <a:gridCol w="341278">
                  <a:extLst>
                    <a:ext uri="{9D8B030D-6E8A-4147-A177-3AD203B41FA5}">
                      <a16:colId xmlns:a16="http://schemas.microsoft.com/office/drawing/2014/main" val="1005622174"/>
                    </a:ext>
                  </a:extLst>
                </a:gridCol>
                <a:gridCol w="349810">
                  <a:extLst>
                    <a:ext uri="{9D8B030D-6E8A-4147-A177-3AD203B41FA5}">
                      <a16:colId xmlns:a16="http://schemas.microsoft.com/office/drawing/2014/main" val="4214742890"/>
                    </a:ext>
                  </a:extLst>
                </a:gridCol>
                <a:gridCol w="349810">
                  <a:extLst>
                    <a:ext uri="{9D8B030D-6E8A-4147-A177-3AD203B41FA5}">
                      <a16:colId xmlns:a16="http://schemas.microsoft.com/office/drawing/2014/main" val="3877463835"/>
                    </a:ext>
                  </a:extLst>
                </a:gridCol>
              </a:tblGrid>
              <a:tr h="442868">
                <a:tc>
                  <a:txBody>
                    <a:bodyPr/>
                    <a:lstStyle/>
                    <a:p>
                      <a:pPr algn="ctr" rtl="0" fontAlgn="ctr">
                        <a:buNone/>
                      </a:pPr>
                      <a:r>
                        <a:rPr lang="en-US" sz="800" b="1" i="0" u="none" strike="noStrike">
                          <a:solidFill>
                            <a:srgbClr val="FFFFFF"/>
                          </a:solidFill>
                          <a:effectLst/>
                          <a:latin typeface="Aptos Narrow" panose="020B0004020202020204" pitchFamily="34" charset="0"/>
                        </a:rPr>
                        <a:t>FPTK Date Real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Posisi</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Business Unit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PIC Recruiter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Sourcing FL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Sourcing HR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Shortlisted User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Psikotes</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HR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Technical Case</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Market Visit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User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Panel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Reference Check</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MCU</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Offering</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Day One</a:t>
                      </a:r>
                    </a:p>
                  </a:txBody>
                  <a:tcPr marL="0" marR="0" marT="0" marB="0" anchor="ctr">
                    <a:lnL>
                      <a:noFill/>
                    </a:lnL>
                    <a:lnR>
                      <a:noFill/>
                    </a:lnR>
                    <a:lnT>
                      <a:noFill/>
                    </a:lnT>
                    <a:lnB>
                      <a:noFill/>
                    </a:lnB>
                    <a:solidFill>
                      <a:srgbClr val="2C3E50"/>
                    </a:solidFill>
                  </a:tcPr>
                </a:tc>
                <a:extLst>
                  <a:ext uri="{0D108BD9-81ED-4DB2-BD59-A6C34878D82A}">
                    <a16:rowId xmlns:a16="http://schemas.microsoft.com/office/drawing/2014/main" val="276996153"/>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28-Jul-26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Bekasi Kabupaten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Zwei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22271737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28-Jul-26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Bekasi Kabupaten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Zwei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808569414"/>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28-Jul-26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Bekasi Kabupaten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Zwei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95290552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28-Jul-26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Control Staff - Microbiology</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Salwa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70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25770375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28-Jul-26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Control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Salwa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80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88035826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28-Jul-26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Packing Foreman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Gabbie</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981100202"/>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28-Jul-26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Internship Project Building</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376468157"/>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28-Jul-26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Merchandiser Jambi</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03488664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28-Jul-26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Merchandiser Manado</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9</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4160727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28-Jul-26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Merchandiser Semarang</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238096821"/>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28-Jul-26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Merchandiser Medan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83467016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30-Jul-26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Subang</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Zwei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61425895"/>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30-Jul-26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Maintenance Technician 2 - Shift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Salwa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128</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3536401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30-Jul-26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Operation Administration Worker - Formulation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4234110072"/>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30-Jul-26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Formulation Administration Worker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Riska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23729169"/>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30-Jul-26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Merchandiser Jakarta</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29065694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30-Jul-26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Merchandiser Gorontalo</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28095855"/>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30-Jul-26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Merchandiser Kupang</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19477437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30-Jul-26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Merchandiser Kendari</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06633629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30-Jul-26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Merchandiser Bekasi</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12</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783835084"/>
                  </a:ext>
                </a:extLst>
              </a:tr>
            </a:tbl>
          </a:graphicData>
        </a:graphic>
      </p:graphicFrame>
    </p:spTree>
    <p:extLst>
      <p:ext uri="{BB962C8B-B14F-4D97-AF65-F5344CB8AC3E}">
        <p14:creationId xmlns:p14="http://schemas.microsoft.com/office/powerpoint/2010/main" val="2591459701"/>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2559A9-D073-7A3F-072F-19D610811A8E}"/>
            </a:ext>
          </a:extLst>
        </p:cNvPr>
        <p:cNvGrpSpPr/>
        <p:nvPr/>
      </p:nvGrpSpPr>
      <p:grpSpPr>
        <a:xfrm>
          <a:off x="0" y="0"/>
          <a:ext cx="0" cy="0"/>
          <a:chOff x="0" y="0"/>
          <a:chExt cx="0" cy="0"/>
        </a:xfrm>
      </p:grpSpPr>
      <p:sp>
        <p:nvSpPr>
          <p:cNvPr id="40" name="Text 19">
            <a:extLst>
              <a:ext uri="{FF2B5EF4-FFF2-40B4-BE49-F238E27FC236}">
                <a16:creationId xmlns:a16="http://schemas.microsoft.com/office/drawing/2014/main" id="{0AEF05CC-8BD9-8243-7725-9A7B9FD032CD}"/>
              </a:ext>
            </a:extLst>
          </p:cNvPr>
          <p:cNvSpPr/>
          <p:nvPr/>
        </p:nvSpPr>
        <p:spPr>
          <a:xfrm>
            <a:off x="8095488"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FILL RATE</a:t>
            </a:r>
            <a:endParaRPr lang="en-US" sz="1100">
              <a:latin typeface="Raleway"/>
            </a:endParaRPr>
          </a:p>
        </p:txBody>
      </p:sp>
      <p:sp>
        <p:nvSpPr>
          <p:cNvPr id="43" name="Text 22">
            <a:extLst>
              <a:ext uri="{FF2B5EF4-FFF2-40B4-BE49-F238E27FC236}">
                <a16:creationId xmlns:a16="http://schemas.microsoft.com/office/drawing/2014/main" id="{E838DD4C-79EC-A745-71FF-DCFB1D39F8E5}"/>
              </a:ext>
            </a:extLst>
          </p:cNvPr>
          <p:cNvSpPr/>
          <p:nvPr/>
        </p:nvSpPr>
        <p:spPr>
          <a:xfrm>
            <a:off x="10027920"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 SESUAI SLA</a:t>
            </a:r>
            <a:endParaRPr lang="en-US" sz="1100">
              <a:latin typeface="Raleway"/>
            </a:endParaRPr>
          </a:p>
        </p:txBody>
      </p:sp>
      <p:sp>
        <p:nvSpPr>
          <p:cNvPr id="6" name="Text 0">
            <a:extLst>
              <a:ext uri="{FF2B5EF4-FFF2-40B4-BE49-F238E27FC236}">
                <a16:creationId xmlns:a16="http://schemas.microsoft.com/office/drawing/2014/main" id="{F9196F5A-383F-5DFA-4994-8275FE7FECA3}"/>
              </a:ext>
            </a:extLst>
          </p:cNvPr>
          <p:cNvSpPr/>
          <p:nvPr/>
        </p:nvSpPr>
        <p:spPr>
          <a:xfrm>
            <a:off x="354124" y="164592"/>
            <a:ext cx="6858000" cy="502920"/>
          </a:xfrm>
          <a:prstGeom prst="rect">
            <a:avLst/>
          </a:prstGeom>
          <a:noFill/>
          <a:ln/>
        </p:spPr>
        <p:txBody>
          <a:bodyPr wrap="square" lIns="0" tIns="0" rIns="0" bIns="0" rtlCol="0" anchor="ctr"/>
          <a:lstStyle/>
          <a:p>
            <a:r>
              <a:rPr lang="en-US" sz="2800" b="1">
                <a:solidFill>
                  <a:srgbClr val="12284C"/>
                </a:solidFill>
                <a:latin typeface="Raleway"/>
                <a:ea typeface="Georgia" pitchFamily="34" charset="-122"/>
                <a:cs typeface="Georgia" pitchFamily="34" charset="-120"/>
              </a:rPr>
              <a:t> FPTK Open — Level 2</a:t>
            </a:r>
            <a:endParaRPr lang="en-US" sz="2800" b="1">
              <a:solidFill>
                <a:srgbClr val="C00000"/>
              </a:solidFill>
              <a:latin typeface="Raleway"/>
            </a:endParaRPr>
          </a:p>
        </p:txBody>
      </p:sp>
      <p:graphicFrame>
        <p:nvGraphicFramePr>
          <p:cNvPr id="5" name="Table 4">
            <a:extLst>
              <a:ext uri="{FF2B5EF4-FFF2-40B4-BE49-F238E27FC236}">
                <a16:creationId xmlns:a16="http://schemas.microsoft.com/office/drawing/2014/main" id="{F2C5A80F-9284-DE0E-8501-11249B483E41}"/>
              </a:ext>
            </a:extLst>
          </p:cNvPr>
          <p:cNvGraphicFramePr>
            <a:graphicFrameLocks noGrp="1"/>
          </p:cNvGraphicFramePr>
          <p:nvPr>
            <p:extLst>
              <p:ext uri="{D42A27DB-BD31-4B8C-83A1-F6EECF244321}">
                <p14:modId xmlns:p14="http://schemas.microsoft.com/office/powerpoint/2010/main" val="2033272406"/>
              </p:ext>
            </p:extLst>
          </p:nvPr>
        </p:nvGraphicFramePr>
        <p:xfrm>
          <a:off x="354124" y="667512"/>
          <a:ext cx="11441637" cy="5899394"/>
        </p:xfrm>
        <a:graphic>
          <a:graphicData uri="http://schemas.openxmlformats.org/drawingml/2006/table">
            <a:tbl>
              <a:tblPr bandRow="1">
                <a:tableStyleId>{5C22544A-7EE6-4342-B048-85BDC9FD1C3A}</a:tableStyleId>
              </a:tblPr>
              <a:tblGrid>
                <a:gridCol w="691088">
                  <a:extLst>
                    <a:ext uri="{9D8B030D-6E8A-4147-A177-3AD203B41FA5}">
                      <a16:colId xmlns:a16="http://schemas.microsoft.com/office/drawing/2014/main" val="964775141"/>
                    </a:ext>
                  </a:extLst>
                </a:gridCol>
                <a:gridCol w="1774643">
                  <a:extLst>
                    <a:ext uri="{9D8B030D-6E8A-4147-A177-3AD203B41FA5}">
                      <a16:colId xmlns:a16="http://schemas.microsoft.com/office/drawing/2014/main" val="3818843332"/>
                    </a:ext>
                  </a:extLst>
                </a:gridCol>
                <a:gridCol w="1365111">
                  <a:extLst>
                    <a:ext uri="{9D8B030D-6E8A-4147-A177-3AD203B41FA5}">
                      <a16:colId xmlns:a16="http://schemas.microsoft.com/office/drawing/2014/main" val="3805053784"/>
                    </a:ext>
                  </a:extLst>
                </a:gridCol>
                <a:gridCol w="1003821">
                  <a:extLst>
                    <a:ext uri="{9D8B030D-6E8A-4147-A177-3AD203B41FA5}">
                      <a16:colId xmlns:a16="http://schemas.microsoft.com/office/drawing/2014/main" val="873694035"/>
                    </a:ext>
                  </a:extLst>
                </a:gridCol>
                <a:gridCol w="426326">
                  <a:extLst>
                    <a:ext uri="{9D8B030D-6E8A-4147-A177-3AD203B41FA5}">
                      <a16:colId xmlns:a16="http://schemas.microsoft.com/office/drawing/2014/main" val="2118302063"/>
                    </a:ext>
                  </a:extLst>
                </a:gridCol>
                <a:gridCol w="546571">
                  <a:extLst>
                    <a:ext uri="{9D8B030D-6E8A-4147-A177-3AD203B41FA5}">
                      <a16:colId xmlns:a16="http://schemas.microsoft.com/office/drawing/2014/main" val="347069574"/>
                    </a:ext>
                  </a:extLst>
                </a:gridCol>
                <a:gridCol w="601228">
                  <a:extLst>
                    <a:ext uri="{9D8B030D-6E8A-4147-A177-3AD203B41FA5}">
                      <a16:colId xmlns:a16="http://schemas.microsoft.com/office/drawing/2014/main" val="2517663509"/>
                    </a:ext>
                  </a:extLst>
                </a:gridCol>
                <a:gridCol w="557503">
                  <a:extLst>
                    <a:ext uri="{9D8B030D-6E8A-4147-A177-3AD203B41FA5}">
                      <a16:colId xmlns:a16="http://schemas.microsoft.com/office/drawing/2014/main" val="4256926922"/>
                    </a:ext>
                  </a:extLst>
                </a:gridCol>
                <a:gridCol w="699610">
                  <a:extLst>
                    <a:ext uri="{9D8B030D-6E8A-4147-A177-3AD203B41FA5}">
                      <a16:colId xmlns:a16="http://schemas.microsoft.com/office/drawing/2014/main" val="103401002"/>
                    </a:ext>
                  </a:extLst>
                </a:gridCol>
                <a:gridCol w="623091">
                  <a:extLst>
                    <a:ext uri="{9D8B030D-6E8A-4147-A177-3AD203B41FA5}">
                      <a16:colId xmlns:a16="http://schemas.microsoft.com/office/drawing/2014/main" val="1508212738"/>
                    </a:ext>
                  </a:extLst>
                </a:gridCol>
                <a:gridCol w="557503">
                  <a:extLst>
                    <a:ext uri="{9D8B030D-6E8A-4147-A177-3AD203B41FA5}">
                      <a16:colId xmlns:a16="http://schemas.microsoft.com/office/drawing/2014/main" val="2156794149"/>
                    </a:ext>
                  </a:extLst>
                </a:gridCol>
                <a:gridCol w="590297">
                  <a:extLst>
                    <a:ext uri="{9D8B030D-6E8A-4147-A177-3AD203B41FA5}">
                      <a16:colId xmlns:a16="http://schemas.microsoft.com/office/drawing/2014/main" val="225074111"/>
                    </a:ext>
                  </a:extLst>
                </a:gridCol>
                <a:gridCol w="460562">
                  <a:extLst>
                    <a:ext uri="{9D8B030D-6E8A-4147-A177-3AD203B41FA5}">
                      <a16:colId xmlns:a16="http://schemas.microsoft.com/office/drawing/2014/main" val="461221745"/>
                    </a:ext>
                  </a:extLst>
                </a:gridCol>
                <a:gridCol w="503385">
                  <a:extLst>
                    <a:ext uri="{9D8B030D-6E8A-4147-A177-3AD203B41FA5}">
                      <a16:colId xmlns:a16="http://schemas.microsoft.com/office/drawing/2014/main" val="1428405946"/>
                    </a:ext>
                  </a:extLst>
                </a:gridCol>
                <a:gridCol w="341278">
                  <a:extLst>
                    <a:ext uri="{9D8B030D-6E8A-4147-A177-3AD203B41FA5}">
                      <a16:colId xmlns:a16="http://schemas.microsoft.com/office/drawing/2014/main" val="1005622174"/>
                    </a:ext>
                  </a:extLst>
                </a:gridCol>
                <a:gridCol w="349810">
                  <a:extLst>
                    <a:ext uri="{9D8B030D-6E8A-4147-A177-3AD203B41FA5}">
                      <a16:colId xmlns:a16="http://schemas.microsoft.com/office/drawing/2014/main" val="4214742890"/>
                    </a:ext>
                  </a:extLst>
                </a:gridCol>
                <a:gridCol w="349810">
                  <a:extLst>
                    <a:ext uri="{9D8B030D-6E8A-4147-A177-3AD203B41FA5}">
                      <a16:colId xmlns:a16="http://schemas.microsoft.com/office/drawing/2014/main" val="3877463835"/>
                    </a:ext>
                  </a:extLst>
                </a:gridCol>
              </a:tblGrid>
              <a:tr h="442868">
                <a:tc>
                  <a:txBody>
                    <a:bodyPr/>
                    <a:lstStyle/>
                    <a:p>
                      <a:pPr algn="ctr" rtl="0" fontAlgn="ctr">
                        <a:buNone/>
                      </a:pPr>
                      <a:r>
                        <a:rPr lang="en-US" sz="800" b="1" i="0" u="none" strike="noStrike">
                          <a:solidFill>
                            <a:srgbClr val="FFFFFF"/>
                          </a:solidFill>
                          <a:effectLst/>
                          <a:latin typeface="Aptos Narrow" panose="020B0004020202020204" pitchFamily="34" charset="0"/>
                        </a:rPr>
                        <a:t>FPTK Date Real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Posisi</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Business Unit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PIC Recruiter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Sourcing FL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Sourcing HR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Shortlisted User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Psikotes</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HR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Technical Case</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Market Visit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User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Panel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Reference Check</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MCU</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Offering</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Day One</a:t>
                      </a:r>
                    </a:p>
                  </a:txBody>
                  <a:tcPr marL="0" marR="0" marT="0" marB="0" anchor="ctr">
                    <a:lnL>
                      <a:noFill/>
                    </a:lnL>
                    <a:lnR>
                      <a:noFill/>
                    </a:lnR>
                    <a:lnT>
                      <a:noFill/>
                    </a:lnT>
                    <a:lnB>
                      <a:noFill/>
                    </a:lnB>
                    <a:solidFill>
                      <a:srgbClr val="2C3E50"/>
                    </a:solidFill>
                  </a:tcPr>
                </a:tc>
                <a:extLst>
                  <a:ext uri="{0D108BD9-81ED-4DB2-BD59-A6C34878D82A}">
                    <a16:rowId xmlns:a16="http://schemas.microsoft.com/office/drawing/2014/main" val="276996153"/>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30-Jul-26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Warehouse Inventory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22271737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31-Jul-26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People &amp; Organization Development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Eli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808569414"/>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31-Jul-26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Solo</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Fiqra </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95290552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31-Jul-26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Bima</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Kenthansen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25770375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31-Jul-26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Samarinda</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Kenthansen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88035826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31-Jul-26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Nganjuk</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Kenthansen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981100202"/>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31-Jul-26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Good Manufacturing Practices Patrol Staff</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376468157"/>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03-Aug-26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HR Payroll Supervisor - Head Office</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Kevin</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03488664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04-Aug-26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Bandung Barat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Zwei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160727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04-Aug-26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Bandung Barat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Zwei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238096821"/>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04-Aug-26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Bandung Barat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Zwei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83467016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04-Aug-26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Bandung Timur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Zwei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61425895"/>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04-Aug-26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Bandung Timur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Zwei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3536401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04-Aug-26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Influencer Marketing Specialist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Brittney</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4234110072"/>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05-Aug-26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Bogor Timur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Omega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423729169"/>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05-Aug-26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Jakarta Selatan </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Omega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25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29065694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05-Aug-26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Bogor Barat </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Omega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13</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28095855"/>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05-Aug-26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 Jakarta</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JAVA EGG SPECIALITIES</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Omega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15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19477437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05-Aug-26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Langkat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Zwei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06633629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05-Aug-26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(Frozen) - Lhokseumawe</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Zwei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783835084"/>
                  </a:ext>
                </a:extLst>
              </a:tr>
            </a:tbl>
          </a:graphicData>
        </a:graphic>
      </p:graphicFrame>
    </p:spTree>
    <p:extLst>
      <p:ext uri="{BB962C8B-B14F-4D97-AF65-F5344CB8AC3E}">
        <p14:creationId xmlns:p14="http://schemas.microsoft.com/office/powerpoint/2010/main" val="4022409517"/>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29122D-838A-38F8-7A65-136E49EDFE14}"/>
            </a:ext>
          </a:extLst>
        </p:cNvPr>
        <p:cNvGrpSpPr/>
        <p:nvPr/>
      </p:nvGrpSpPr>
      <p:grpSpPr>
        <a:xfrm>
          <a:off x="0" y="0"/>
          <a:ext cx="0" cy="0"/>
          <a:chOff x="0" y="0"/>
          <a:chExt cx="0" cy="0"/>
        </a:xfrm>
      </p:grpSpPr>
      <p:sp>
        <p:nvSpPr>
          <p:cNvPr id="40" name="Text 19">
            <a:extLst>
              <a:ext uri="{FF2B5EF4-FFF2-40B4-BE49-F238E27FC236}">
                <a16:creationId xmlns:a16="http://schemas.microsoft.com/office/drawing/2014/main" id="{59CD4396-0BE6-C6F1-7B10-BC3BD7F40F65}"/>
              </a:ext>
            </a:extLst>
          </p:cNvPr>
          <p:cNvSpPr/>
          <p:nvPr/>
        </p:nvSpPr>
        <p:spPr>
          <a:xfrm>
            <a:off x="8095488"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FILL RATE</a:t>
            </a:r>
            <a:endParaRPr lang="en-US" sz="1100">
              <a:latin typeface="Raleway"/>
            </a:endParaRPr>
          </a:p>
        </p:txBody>
      </p:sp>
      <p:sp>
        <p:nvSpPr>
          <p:cNvPr id="43" name="Text 22">
            <a:extLst>
              <a:ext uri="{FF2B5EF4-FFF2-40B4-BE49-F238E27FC236}">
                <a16:creationId xmlns:a16="http://schemas.microsoft.com/office/drawing/2014/main" id="{45112916-394F-7D64-3B6E-D23103851A1D}"/>
              </a:ext>
            </a:extLst>
          </p:cNvPr>
          <p:cNvSpPr/>
          <p:nvPr/>
        </p:nvSpPr>
        <p:spPr>
          <a:xfrm>
            <a:off x="10027920"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 SESUAI SLA</a:t>
            </a:r>
            <a:endParaRPr lang="en-US" sz="1100">
              <a:latin typeface="Raleway"/>
            </a:endParaRPr>
          </a:p>
        </p:txBody>
      </p:sp>
      <p:sp>
        <p:nvSpPr>
          <p:cNvPr id="6" name="Text 0">
            <a:extLst>
              <a:ext uri="{FF2B5EF4-FFF2-40B4-BE49-F238E27FC236}">
                <a16:creationId xmlns:a16="http://schemas.microsoft.com/office/drawing/2014/main" id="{2BEC4F3E-435A-E7EE-F074-C10D958F1C8C}"/>
              </a:ext>
            </a:extLst>
          </p:cNvPr>
          <p:cNvSpPr/>
          <p:nvPr/>
        </p:nvSpPr>
        <p:spPr>
          <a:xfrm>
            <a:off x="354124" y="164592"/>
            <a:ext cx="6858000" cy="502920"/>
          </a:xfrm>
          <a:prstGeom prst="rect">
            <a:avLst/>
          </a:prstGeom>
          <a:noFill/>
          <a:ln/>
        </p:spPr>
        <p:txBody>
          <a:bodyPr wrap="square" lIns="0" tIns="0" rIns="0" bIns="0" rtlCol="0" anchor="ctr"/>
          <a:lstStyle/>
          <a:p>
            <a:r>
              <a:rPr lang="en-US" sz="2800" b="1">
                <a:solidFill>
                  <a:srgbClr val="12284C"/>
                </a:solidFill>
                <a:latin typeface="Raleway"/>
                <a:ea typeface="Georgia" pitchFamily="34" charset="-122"/>
                <a:cs typeface="Georgia" pitchFamily="34" charset="-120"/>
              </a:rPr>
              <a:t> FPTK Open — Level 2</a:t>
            </a:r>
            <a:endParaRPr lang="en-US" sz="2800" b="1">
              <a:solidFill>
                <a:srgbClr val="C00000"/>
              </a:solidFill>
              <a:latin typeface="Raleway"/>
            </a:endParaRPr>
          </a:p>
        </p:txBody>
      </p:sp>
      <p:graphicFrame>
        <p:nvGraphicFramePr>
          <p:cNvPr id="5" name="Table 4">
            <a:extLst>
              <a:ext uri="{FF2B5EF4-FFF2-40B4-BE49-F238E27FC236}">
                <a16:creationId xmlns:a16="http://schemas.microsoft.com/office/drawing/2014/main" id="{9452D156-3B47-9AD2-8B19-377D1C79AA29}"/>
              </a:ext>
            </a:extLst>
          </p:cNvPr>
          <p:cNvGraphicFramePr>
            <a:graphicFrameLocks noGrp="1"/>
          </p:cNvGraphicFramePr>
          <p:nvPr>
            <p:extLst>
              <p:ext uri="{D42A27DB-BD31-4B8C-83A1-F6EECF244321}">
                <p14:modId xmlns:p14="http://schemas.microsoft.com/office/powerpoint/2010/main" val="3803694177"/>
              </p:ext>
            </p:extLst>
          </p:nvPr>
        </p:nvGraphicFramePr>
        <p:xfrm>
          <a:off x="354124" y="667512"/>
          <a:ext cx="11441637" cy="5745954"/>
        </p:xfrm>
        <a:graphic>
          <a:graphicData uri="http://schemas.openxmlformats.org/drawingml/2006/table">
            <a:tbl>
              <a:tblPr bandRow="1">
                <a:tableStyleId>{5C22544A-7EE6-4342-B048-85BDC9FD1C3A}</a:tableStyleId>
              </a:tblPr>
              <a:tblGrid>
                <a:gridCol w="691088">
                  <a:extLst>
                    <a:ext uri="{9D8B030D-6E8A-4147-A177-3AD203B41FA5}">
                      <a16:colId xmlns:a16="http://schemas.microsoft.com/office/drawing/2014/main" val="964775141"/>
                    </a:ext>
                  </a:extLst>
                </a:gridCol>
                <a:gridCol w="1774643">
                  <a:extLst>
                    <a:ext uri="{9D8B030D-6E8A-4147-A177-3AD203B41FA5}">
                      <a16:colId xmlns:a16="http://schemas.microsoft.com/office/drawing/2014/main" val="3818843332"/>
                    </a:ext>
                  </a:extLst>
                </a:gridCol>
                <a:gridCol w="1365111">
                  <a:extLst>
                    <a:ext uri="{9D8B030D-6E8A-4147-A177-3AD203B41FA5}">
                      <a16:colId xmlns:a16="http://schemas.microsoft.com/office/drawing/2014/main" val="3805053784"/>
                    </a:ext>
                  </a:extLst>
                </a:gridCol>
                <a:gridCol w="1003821">
                  <a:extLst>
                    <a:ext uri="{9D8B030D-6E8A-4147-A177-3AD203B41FA5}">
                      <a16:colId xmlns:a16="http://schemas.microsoft.com/office/drawing/2014/main" val="873694035"/>
                    </a:ext>
                  </a:extLst>
                </a:gridCol>
                <a:gridCol w="426326">
                  <a:extLst>
                    <a:ext uri="{9D8B030D-6E8A-4147-A177-3AD203B41FA5}">
                      <a16:colId xmlns:a16="http://schemas.microsoft.com/office/drawing/2014/main" val="2118302063"/>
                    </a:ext>
                  </a:extLst>
                </a:gridCol>
                <a:gridCol w="546571">
                  <a:extLst>
                    <a:ext uri="{9D8B030D-6E8A-4147-A177-3AD203B41FA5}">
                      <a16:colId xmlns:a16="http://schemas.microsoft.com/office/drawing/2014/main" val="347069574"/>
                    </a:ext>
                  </a:extLst>
                </a:gridCol>
                <a:gridCol w="601228">
                  <a:extLst>
                    <a:ext uri="{9D8B030D-6E8A-4147-A177-3AD203B41FA5}">
                      <a16:colId xmlns:a16="http://schemas.microsoft.com/office/drawing/2014/main" val="2517663509"/>
                    </a:ext>
                  </a:extLst>
                </a:gridCol>
                <a:gridCol w="557503">
                  <a:extLst>
                    <a:ext uri="{9D8B030D-6E8A-4147-A177-3AD203B41FA5}">
                      <a16:colId xmlns:a16="http://schemas.microsoft.com/office/drawing/2014/main" val="4256926922"/>
                    </a:ext>
                  </a:extLst>
                </a:gridCol>
                <a:gridCol w="699610">
                  <a:extLst>
                    <a:ext uri="{9D8B030D-6E8A-4147-A177-3AD203B41FA5}">
                      <a16:colId xmlns:a16="http://schemas.microsoft.com/office/drawing/2014/main" val="103401002"/>
                    </a:ext>
                  </a:extLst>
                </a:gridCol>
                <a:gridCol w="623091">
                  <a:extLst>
                    <a:ext uri="{9D8B030D-6E8A-4147-A177-3AD203B41FA5}">
                      <a16:colId xmlns:a16="http://schemas.microsoft.com/office/drawing/2014/main" val="1508212738"/>
                    </a:ext>
                  </a:extLst>
                </a:gridCol>
                <a:gridCol w="557503">
                  <a:extLst>
                    <a:ext uri="{9D8B030D-6E8A-4147-A177-3AD203B41FA5}">
                      <a16:colId xmlns:a16="http://schemas.microsoft.com/office/drawing/2014/main" val="2156794149"/>
                    </a:ext>
                  </a:extLst>
                </a:gridCol>
                <a:gridCol w="590297">
                  <a:extLst>
                    <a:ext uri="{9D8B030D-6E8A-4147-A177-3AD203B41FA5}">
                      <a16:colId xmlns:a16="http://schemas.microsoft.com/office/drawing/2014/main" val="225074111"/>
                    </a:ext>
                  </a:extLst>
                </a:gridCol>
                <a:gridCol w="460562">
                  <a:extLst>
                    <a:ext uri="{9D8B030D-6E8A-4147-A177-3AD203B41FA5}">
                      <a16:colId xmlns:a16="http://schemas.microsoft.com/office/drawing/2014/main" val="461221745"/>
                    </a:ext>
                  </a:extLst>
                </a:gridCol>
                <a:gridCol w="503385">
                  <a:extLst>
                    <a:ext uri="{9D8B030D-6E8A-4147-A177-3AD203B41FA5}">
                      <a16:colId xmlns:a16="http://schemas.microsoft.com/office/drawing/2014/main" val="1428405946"/>
                    </a:ext>
                  </a:extLst>
                </a:gridCol>
                <a:gridCol w="341278">
                  <a:extLst>
                    <a:ext uri="{9D8B030D-6E8A-4147-A177-3AD203B41FA5}">
                      <a16:colId xmlns:a16="http://schemas.microsoft.com/office/drawing/2014/main" val="1005622174"/>
                    </a:ext>
                  </a:extLst>
                </a:gridCol>
                <a:gridCol w="349810">
                  <a:extLst>
                    <a:ext uri="{9D8B030D-6E8A-4147-A177-3AD203B41FA5}">
                      <a16:colId xmlns:a16="http://schemas.microsoft.com/office/drawing/2014/main" val="4214742890"/>
                    </a:ext>
                  </a:extLst>
                </a:gridCol>
                <a:gridCol w="349810">
                  <a:extLst>
                    <a:ext uri="{9D8B030D-6E8A-4147-A177-3AD203B41FA5}">
                      <a16:colId xmlns:a16="http://schemas.microsoft.com/office/drawing/2014/main" val="3877463835"/>
                    </a:ext>
                  </a:extLst>
                </a:gridCol>
              </a:tblGrid>
              <a:tr h="442868">
                <a:tc>
                  <a:txBody>
                    <a:bodyPr/>
                    <a:lstStyle/>
                    <a:p>
                      <a:pPr algn="ctr" rtl="0" fontAlgn="ctr">
                        <a:buNone/>
                      </a:pPr>
                      <a:r>
                        <a:rPr lang="en-US" sz="800" b="1" i="0" u="none" strike="noStrike">
                          <a:solidFill>
                            <a:srgbClr val="FFFFFF"/>
                          </a:solidFill>
                          <a:effectLst/>
                          <a:latin typeface="Aptos Narrow" panose="020B0004020202020204" pitchFamily="34" charset="0"/>
                        </a:rPr>
                        <a:t>FPTK Date Real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Posisi</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Business Unit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PIC Recruiter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Sourcing FL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Sourcing HR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Shortlisted User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Psikotes</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HR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Technical Case</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Market Visit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User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Panel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Reference Check</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MCU</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Offering</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Day One</a:t>
                      </a:r>
                    </a:p>
                  </a:txBody>
                  <a:tcPr marL="0" marR="0" marT="0" marB="0" anchor="ctr">
                    <a:lnL>
                      <a:noFill/>
                    </a:lnL>
                    <a:lnR>
                      <a:noFill/>
                    </a:lnR>
                    <a:lnT>
                      <a:noFill/>
                    </a:lnT>
                    <a:lnB>
                      <a:noFill/>
                    </a:lnB>
                    <a:solidFill>
                      <a:srgbClr val="2C3E50"/>
                    </a:solidFill>
                  </a:tcPr>
                </a:tc>
                <a:extLst>
                  <a:ext uri="{0D108BD9-81ED-4DB2-BD59-A6C34878D82A}">
                    <a16:rowId xmlns:a16="http://schemas.microsoft.com/office/drawing/2014/main" val="276996153"/>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05-Aug-26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Tangerang Selatan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Zwei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6</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222271737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05-Aug-26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Bekasi Kabupaten</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Zwei</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1808569414"/>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11-Aug-26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Semarang Atas</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Fiqra </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95290552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11-Aug-26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Solo</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Fiqra </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25770375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11-Aug-26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Yogyakarta</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Fiqra </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88035826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11-Aug-26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Bali</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Kenthansen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981100202"/>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11-Aug-26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Bali</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Kenthansen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376468157"/>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11-Aug-26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Lombok Barat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Kenthansen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03488664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11-Aug-26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Lombok Timur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Kenthansen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160727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11-Aug-26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(Frozen) - Lombok Barat</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Kenthansen</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238096821"/>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11-Aug-26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(Chilled) - Makassar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Omega</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5</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83467016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11-Aug-26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Design Estimator</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CISARUA MOUNTAIN DAIRY, TBK</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Salwa</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61425895"/>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11-Aug-26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Control Staff </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3536401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11-Aug-26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Quality Control Staff - Laboratory</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Kasanah</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4234110072"/>
                  </a:ext>
                </a:extLst>
              </a:tr>
              <a:tr h="167120">
                <a:tc>
                  <a:txBody>
                    <a:bodyPr/>
                    <a:lstStyle/>
                    <a:p>
                      <a:pPr algn="ctr" rtl="0" fontAlgn="b">
                        <a:buNone/>
                      </a:pPr>
                      <a:r>
                        <a:rPr lang="en-US" sz="800" b="0" i="0" u="none" strike="noStrike">
                          <a:solidFill>
                            <a:srgbClr val="000000"/>
                          </a:solidFill>
                          <a:effectLst/>
                          <a:latin typeface="Aptos Narrow" panose="020B0004020202020204" pitchFamily="34" charset="0"/>
                        </a:rPr>
                        <a:t>11-Aug-26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Promotion Girl</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4</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tc>
                  <a:txBody>
                    <a:bodyPr/>
                    <a:lstStyle/>
                    <a:p>
                      <a:pPr algn="r" rtl="0" fontAlgn="b">
                        <a:buNone/>
                      </a:pPr>
                      <a:r>
                        <a:rPr lang="en-US" sz="800" b="0" i="0" u="none" strike="noStrike">
                          <a:solidFill>
                            <a:srgbClr val="000000"/>
                          </a:solidFill>
                          <a:effectLst/>
                          <a:latin typeface="Aptos Narrow" panose="020B0004020202020204" pitchFamily="34" charset="0"/>
                        </a:rPr>
                        <a:t>0</a:t>
                      </a:r>
                    </a:p>
                  </a:txBody>
                  <a:tcPr marL="0" marR="0" marT="0" marB="0" anchor="b">
                    <a:lnL>
                      <a:noFill/>
                    </a:lnL>
                    <a:lnR>
                      <a:noFill/>
                    </a:lnR>
                    <a:lnT>
                      <a:noFill/>
                    </a:lnT>
                    <a:lnB>
                      <a:noFill/>
                    </a:lnB>
                    <a:noFill/>
                  </a:tcPr>
                </a:tc>
                <a:extLst>
                  <a:ext uri="{0D108BD9-81ED-4DB2-BD59-A6C34878D82A}">
                    <a16:rowId xmlns:a16="http://schemas.microsoft.com/office/drawing/2014/main" val="3423729169"/>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11-Aug-26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Promotion Girl</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29065694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11-Aug-26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Promotion Girl</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28095855"/>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11-Aug-26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Promotion Girl</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194774370"/>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11-Aug-26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Promotion Girl</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06633629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11-Aug-26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Promotion Girl</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783835084"/>
                  </a:ext>
                </a:extLst>
              </a:tr>
            </a:tbl>
          </a:graphicData>
        </a:graphic>
      </p:graphicFrame>
    </p:spTree>
    <p:extLst>
      <p:ext uri="{BB962C8B-B14F-4D97-AF65-F5344CB8AC3E}">
        <p14:creationId xmlns:p14="http://schemas.microsoft.com/office/powerpoint/2010/main" val="1889945271"/>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24596B-C201-03B5-4D12-44107B9F06D5}"/>
            </a:ext>
          </a:extLst>
        </p:cNvPr>
        <p:cNvGrpSpPr/>
        <p:nvPr/>
      </p:nvGrpSpPr>
      <p:grpSpPr>
        <a:xfrm>
          <a:off x="0" y="0"/>
          <a:ext cx="0" cy="0"/>
          <a:chOff x="0" y="0"/>
          <a:chExt cx="0" cy="0"/>
        </a:xfrm>
      </p:grpSpPr>
      <p:sp>
        <p:nvSpPr>
          <p:cNvPr id="40" name="Text 19">
            <a:extLst>
              <a:ext uri="{FF2B5EF4-FFF2-40B4-BE49-F238E27FC236}">
                <a16:creationId xmlns:a16="http://schemas.microsoft.com/office/drawing/2014/main" id="{76907470-75FF-08A7-4153-8EE09C5E32B2}"/>
              </a:ext>
            </a:extLst>
          </p:cNvPr>
          <p:cNvSpPr/>
          <p:nvPr/>
        </p:nvSpPr>
        <p:spPr>
          <a:xfrm>
            <a:off x="8095488"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FILL RATE</a:t>
            </a:r>
            <a:endParaRPr lang="en-US" sz="1100">
              <a:latin typeface="Raleway"/>
            </a:endParaRPr>
          </a:p>
        </p:txBody>
      </p:sp>
      <p:sp>
        <p:nvSpPr>
          <p:cNvPr id="43" name="Text 22">
            <a:extLst>
              <a:ext uri="{FF2B5EF4-FFF2-40B4-BE49-F238E27FC236}">
                <a16:creationId xmlns:a16="http://schemas.microsoft.com/office/drawing/2014/main" id="{69486A3C-2957-A0A6-4395-1E3C05002B76}"/>
              </a:ext>
            </a:extLst>
          </p:cNvPr>
          <p:cNvSpPr/>
          <p:nvPr/>
        </p:nvSpPr>
        <p:spPr>
          <a:xfrm>
            <a:off x="10027920" y="1828800"/>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 SESUAI SLA</a:t>
            </a:r>
            <a:endParaRPr lang="en-US" sz="1100">
              <a:latin typeface="Raleway"/>
            </a:endParaRPr>
          </a:p>
        </p:txBody>
      </p:sp>
      <p:sp>
        <p:nvSpPr>
          <p:cNvPr id="6" name="Text 0">
            <a:extLst>
              <a:ext uri="{FF2B5EF4-FFF2-40B4-BE49-F238E27FC236}">
                <a16:creationId xmlns:a16="http://schemas.microsoft.com/office/drawing/2014/main" id="{906F0A13-1A1E-C471-D155-A73043412C89}"/>
              </a:ext>
            </a:extLst>
          </p:cNvPr>
          <p:cNvSpPr/>
          <p:nvPr/>
        </p:nvSpPr>
        <p:spPr>
          <a:xfrm>
            <a:off x="354124" y="164592"/>
            <a:ext cx="6858000" cy="502920"/>
          </a:xfrm>
          <a:prstGeom prst="rect">
            <a:avLst/>
          </a:prstGeom>
          <a:noFill/>
          <a:ln/>
        </p:spPr>
        <p:txBody>
          <a:bodyPr wrap="square" lIns="0" tIns="0" rIns="0" bIns="0" rtlCol="0" anchor="ctr"/>
          <a:lstStyle/>
          <a:p>
            <a:r>
              <a:rPr lang="en-US" sz="2800" b="1">
                <a:solidFill>
                  <a:srgbClr val="12284C"/>
                </a:solidFill>
                <a:latin typeface="Raleway"/>
                <a:ea typeface="Georgia" pitchFamily="34" charset="-122"/>
                <a:cs typeface="Georgia" pitchFamily="34" charset="-120"/>
              </a:rPr>
              <a:t> FPTK Open — Level 2</a:t>
            </a:r>
            <a:endParaRPr lang="en-US" sz="2800" b="1">
              <a:solidFill>
                <a:srgbClr val="C00000"/>
              </a:solidFill>
              <a:latin typeface="Raleway"/>
            </a:endParaRPr>
          </a:p>
        </p:txBody>
      </p:sp>
      <p:graphicFrame>
        <p:nvGraphicFramePr>
          <p:cNvPr id="5" name="Table 4">
            <a:extLst>
              <a:ext uri="{FF2B5EF4-FFF2-40B4-BE49-F238E27FC236}">
                <a16:creationId xmlns:a16="http://schemas.microsoft.com/office/drawing/2014/main" id="{B2F2DC8B-0C8A-7FED-CCFF-0C72FA54C5EE}"/>
              </a:ext>
            </a:extLst>
          </p:cNvPr>
          <p:cNvGraphicFramePr>
            <a:graphicFrameLocks noGrp="1"/>
          </p:cNvGraphicFramePr>
          <p:nvPr>
            <p:extLst>
              <p:ext uri="{D42A27DB-BD31-4B8C-83A1-F6EECF244321}">
                <p14:modId xmlns:p14="http://schemas.microsoft.com/office/powerpoint/2010/main" val="963435841"/>
              </p:ext>
            </p:extLst>
          </p:nvPr>
        </p:nvGraphicFramePr>
        <p:xfrm>
          <a:off x="354124" y="667512"/>
          <a:ext cx="11441637" cy="3203338"/>
        </p:xfrm>
        <a:graphic>
          <a:graphicData uri="http://schemas.openxmlformats.org/drawingml/2006/table">
            <a:tbl>
              <a:tblPr bandRow="1">
                <a:tableStyleId>{5C22544A-7EE6-4342-B048-85BDC9FD1C3A}</a:tableStyleId>
              </a:tblPr>
              <a:tblGrid>
                <a:gridCol w="691088">
                  <a:extLst>
                    <a:ext uri="{9D8B030D-6E8A-4147-A177-3AD203B41FA5}">
                      <a16:colId xmlns:a16="http://schemas.microsoft.com/office/drawing/2014/main" val="964775141"/>
                    </a:ext>
                  </a:extLst>
                </a:gridCol>
                <a:gridCol w="1774643">
                  <a:extLst>
                    <a:ext uri="{9D8B030D-6E8A-4147-A177-3AD203B41FA5}">
                      <a16:colId xmlns:a16="http://schemas.microsoft.com/office/drawing/2014/main" val="3818843332"/>
                    </a:ext>
                  </a:extLst>
                </a:gridCol>
                <a:gridCol w="1365111">
                  <a:extLst>
                    <a:ext uri="{9D8B030D-6E8A-4147-A177-3AD203B41FA5}">
                      <a16:colId xmlns:a16="http://schemas.microsoft.com/office/drawing/2014/main" val="3805053784"/>
                    </a:ext>
                  </a:extLst>
                </a:gridCol>
                <a:gridCol w="1003821">
                  <a:extLst>
                    <a:ext uri="{9D8B030D-6E8A-4147-A177-3AD203B41FA5}">
                      <a16:colId xmlns:a16="http://schemas.microsoft.com/office/drawing/2014/main" val="873694035"/>
                    </a:ext>
                  </a:extLst>
                </a:gridCol>
                <a:gridCol w="426326">
                  <a:extLst>
                    <a:ext uri="{9D8B030D-6E8A-4147-A177-3AD203B41FA5}">
                      <a16:colId xmlns:a16="http://schemas.microsoft.com/office/drawing/2014/main" val="2118302063"/>
                    </a:ext>
                  </a:extLst>
                </a:gridCol>
                <a:gridCol w="546571">
                  <a:extLst>
                    <a:ext uri="{9D8B030D-6E8A-4147-A177-3AD203B41FA5}">
                      <a16:colId xmlns:a16="http://schemas.microsoft.com/office/drawing/2014/main" val="347069574"/>
                    </a:ext>
                  </a:extLst>
                </a:gridCol>
                <a:gridCol w="601228">
                  <a:extLst>
                    <a:ext uri="{9D8B030D-6E8A-4147-A177-3AD203B41FA5}">
                      <a16:colId xmlns:a16="http://schemas.microsoft.com/office/drawing/2014/main" val="2517663509"/>
                    </a:ext>
                  </a:extLst>
                </a:gridCol>
                <a:gridCol w="557503">
                  <a:extLst>
                    <a:ext uri="{9D8B030D-6E8A-4147-A177-3AD203B41FA5}">
                      <a16:colId xmlns:a16="http://schemas.microsoft.com/office/drawing/2014/main" val="4256926922"/>
                    </a:ext>
                  </a:extLst>
                </a:gridCol>
                <a:gridCol w="699610">
                  <a:extLst>
                    <a:ext uri="{9D8B030D-6E8A-4147-A177-3AD203B41FA5}">
                      <a16:colId xmlns:a16="http://schemas.microsoft.com/office/drawing/2014/main" val="103401002"/>
                    </a:ext>
                  </a:extLst>
                </a:gridCol>
                <a:gridCol w="623091">
                  <a:extLst>
                    <a:ext uri="{9D8B030D-6E8A-4147-A177-3AD203B41FA5}">
                      <a16:colId xmlns:a16="http://schemas.microsoft.com/office/drawing/2014/main" val="1508212738"/>
                    </a:ext>
                  </a:extLst>
                </a:gridCol>
                <a:gridCol w="557503">
                  <a:extLst>
                    <a:ext uri="{9D8B030D-6E8A-4147-A177-3AD203B41FA5}">
                      <a16:colId xmlns:a16="http://schemas.microsoft.com/office/drawing/2014/main" val="2156794149"/>
                    </a:ext>
                  </a:extLst>
                </a:gridCol>
                <a:gridCol w="590297">
                  <a:extLst>
                    <a:ext uri="{9D8B030D-6E8A-4147-A177-3AD203B41FA5}">
                      <a16:colId xmlns:a16="http://schemas.microsoft.com/office/drawing/2014/main" val="225074111"/>
                    </a:ext>
                  </a:extLst>
                </a:gridCol>
                <a:gridCol w="460562">
                  <a:extLst>
                    <a:ext uri="{9D8B030D-6E8A-4147-A177-3AD203B41FA5}">
                      <a16:colId xmlns:a16="http://schemas.microsoft.com/office/drawing/2014/main" val="461221745"/>
                    </a:ext>
                  </a:extLst>
                </a:gridCol>
                <a:gridCol w="503385">
                  <a:extLst>
                    <a:ext uri="{9D8B030D-6E8A-4147-A177-3AD203B41FA5}">
                      <a16:colId xmlns:a16="http://schemas.microsoft.com/office/drawing/2014/main" val="1428405946"/>
                    </a:ext>
                  </a:extLst>
                </a:gridCol>
                <a:gridCol w="341278">
                  <a:extLst>
                    <a:ext uri="{9D8B030D-6E8A-4147-A177-3AD203B41FA5}">
                      <a16:colId xmlns:a16="http://schemas.microsoft.com/office/drawing/2014/main" val="1005622174"/>
                    </a:ext>
                  </a:extLst>
                </a:gridCol>
                <a:gridCol w="349810">
                  <a:extLst>
                    <a:ext uri="{9D8B030D-6E8A-4147-A177-3AD203B41FA5}">
                      <a16:colId xmlns:a16="http://schemas.microsoft.com/office/drawing/2014/main" val="4214742890"/>
                    </a:ext>
                  </a:extLst>
                </a:gridCol>
                <a:gridCol w="349810">
                  <a:extLst>
                    <a:ext uri="{9D8B030D-6E8A-4147-A177-3AD203B41FA5}">
                      <a16:colId xmlns:a16="http://schemas.microsoft.com/office/drawing/2014/main" val="3877463835"/>
                    </a:ext>
                  </a:extLst>
                </a:gridCol>
              </a:tblGrid>
              <a:tr h="442868">
                <a:tc>
                  <a:txBody>
                    <a:bodyPr/>
                    <a:lstStyle/>
                    <a:p>
                      <a:pPr algn="ctr" rtl="0" fontAlgn="ctr">
                        <a:buNone/>
                      </a:pPr>
                      <a:r>
                        <a:rPr lang="en-US" sz="800" b="1" i="0" u="none" strike="noStrike">
                          <a:solidFill>
                            <a:srgbClr val="FFFFFF"/>
                          </a:solidFill>
                          <a:effectLst/>
                          <a:latin typeface="Aptos Narrow" panose="020B0004020202020204" pitchFamily="34" charset="0"/>
                        </a:rPr>
                        <a:t>FPTK Date Real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Posisi</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Business Unit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PIC Recruiter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Sourcing FL</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Sourcing HR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Shortlisted User</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Psikotes</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HR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Technical Case</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Market Visit</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User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Panel Interview</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Lulus Reference Check</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Lolos MCU</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Offering</a:t>
                      </a:r>
                    </a:p>
                  </a:txBody>
                  <a:tcPr marL="0" marR="0" marT="0" marB="0" anchor="ctr">
                    <a:lnL>
                      <a:noFill/>
                    </a:lnL>
                    <a:lnR>
                      <a:noFill/>
                    </a:lnR>
                    <a:lnT>
                      <a:noFill/>
                    </a:lnT>
                    <a:lnB>
                      <a:noFill/>
                    </a:lnB>
                    <a:solidFill>
                      <a:srgbClr val="2C3E50"/>
                    </a:solidFill>
                  </a:tcPr>
                </a:tc>
                <a:tc>
                  <a:txBody>
                    <a:bodyPr/>
                    <a:lstStyle/>
                    <a:p>
                      <a:pPr algn="ctr" rtl="0" fontAlgn="ctr">
                        <a:buNone/>
                      </a:pPr>
                      <a:r>
                        <a:rPr lang="en-US" sz="800" b="1" i="0" u="none" strike="noStrike">
                          <a:solidFill>
                            <a:srgbClr val="FFFFFF"/>
                          </a:solidFill>
                          <a:effectLst/>
                          <a:latin typeface="Aptos Narrow" panose="020B0004020202020204" pitchFamily="34" charset="0"/>
                        </a:rPr>
                        <a:t>Day One</a:t>
                      </a:r>
                    </a:p>
                  </a:txBody>
                  <a:tcPr marL="0" marR="0" marT="0" marB="0" anchor="ctr">
                    <a:lnL>
                      <a:noFill/>
                    </a:lnL>
                    <a:lnR>
                      <a:noFill/>
                    </a:lnR>
                    <a:lnT>
                      <a:noFill/>
                    </a:lnT>
                    <a:lnB>
                      <a:noFill/>
                    </a:lnB>
                    <a:solidFill>
                      <a:srgbClr val="2C3E50"/>
                    </a:solidFill>
                  </a:tcPr>
                </a:tc>
                <a:extLst>
                  <a:ext uri="{0D108BD9-81ED-4DB2-BD59-A6C34878D82A}">
                    <a16:rowId xmlns:a16="http://schemas.microsoft.com/office/drawing/2014/main" val="276996153"/>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11-Aug-26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Promotion Girl</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22271737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11-Aug-26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Promotion Girl</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808569414"/>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11-Aug-26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Promotion Girl</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95290552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11-Aug-26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Promotion Girl</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MACROSENTRA NIAGABOGA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Leo</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25770375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12-Aug-26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Tanjung Morawa</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Zwei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88035826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12-Aug-26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(Mix) - Tanjung Morawa</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Zwei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981100202"/>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12-Aug-26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Tanjung Morawa</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Zwei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376468157"/>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12-Aug-26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(Mix) - Baturaja</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Zwei</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2034886648"/>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12-Aug-26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Kudus</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Brittney</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3416072706"/>
                  </a:ext>
                </a:extLst>
              </a:tr>
              <a:tr h="276047">
                <a:tc>
                  <a:txBody>
                    <a:bodyPr/>
                    <a:lstStyle/>
                    <a:p>
                      <a:pPr algn="ctr" rtl="0" fontAlgn="b">
                        <a:buNone/>
                      </a:pPr>
                      <a:r>
                        <a:rPr lang="en-US" sz="800" b="0" i="0" u="none" strike="noStrike">
                          <a:solidFill>
                            <a:srgbClr val="000000"/>
                          </a:solidFill>
                          <a:effectLst/>
                          <a:latin typeface="Aptos Narrow" panose="020B0004020202020204" pitchFamily="34" charset="0"/>
                        </a:rPr>
                        <a:t>12-Aug-26</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Sales Taking Order Staff (Chilled) - Sukabumi</a:t>
                      </a:r>
                    </a:p>
                  </a:txBody>
                  <a:tcPr marL="0" marR="0" marT="0" marB="0" anchor="b">
                    <a:lnL>
                      <a:noFill/>
                    </a:lnL>
                    <a:lnR>
                      <a:noFill/>
                    </a:lnR>
                    <a:lnT>
                      <a:noFill/>
                    </a:lnT>
                    <a:lnB>
                      <a:noFill/>
                    </a:lnB>
                    <a:noFill/>
                  </a:tcPr>
                </a:tc>
                <a:tc>
                  <a:txBody>
                    <a:bodyPr/>
                    <a:lstStyle/>
                    <a:p>
                      <a:pPr algn="ctr" rtl="0" fontAlgn="b">
                        <a:buNone/>
                      </a:pPr>
                      <a:r>
                        <a:rPr lang="en-US" sz="800" b="0" i="0" u="none" strike="noStrike">
                          <a:solidFill>
                            <a:srgbClr val="000000"/>
                          </a:solidFill>
                          <a:effectLst/>
                          <a:latin typeface="Aptos Narrow" panose="020B0004020202020204" pitchFamily="34" charset="0"/>
                        </a:rPr>
                        <a:t>PT MACROPRIMA PANGANUTAMA</a:t>
                      </a:r>
                    </a:p>
                  </a:txBody>
                  <a:tcPr marL="0" marR="0" marT="0" marB="0" anchor="b">
                    <a:lnL>
                      <a:noFill/>
                    </a:lnL>
                    <a:lnR>
                      <a:noFill/>
                    </a:lnR>
                    <a:lnT>
                      <a:noFill/>
                    </a:lnT>
                    <a:lnB>
                      <a:noFill/>
                    </a:lnB>
                    <a:noFill/>
                  </a:tcPr>
                </a:tc>
                <a:tc>
                  <a:txBody>
                    <a:bodyPr/>
                    <a:lstStyle/>
                    <a:p>
                      <a:pPr algn="l" rtl="0" fontAlgn="b">
                        <a:buNone/>
                      </a:pPr>
                      <a:r>
                        <a:rPr lang="en-US" sz="800" b="0" i="0" u="none" strike="noStrike">
                          <a:solidFill>
                            <a:srgbClr val="000000"/>
                          </a:solidFill>
                          <a:effectLst/>
                          <a:latin typeface="Aptos Narrow" panose="020B0004020202020204" pitchFamily="34" charset="0"/>
                        </a:rPr>
                        <a:t>Brittney</a:t>
                      </a: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tc>
                  <a:txBody>
                    <a:bodyPr/>
                    <a:lstStyle/>
                    <a:p>
                      <a:pPr algn="r" rtl="0" fontAlgn="b">
                        <a:buNone/>
                      </a:pPr>
                      <a:endParaRPr lang="en-US" sz="800" b="0" i="0" u="none" strike="noStrike">
                        <a:solidFill>
                          <a:srgbClr val="000000"/>
                        </a:solidFill>
                        <a:effectLst/>
                        <a:latin typeface="Aptos Narrow" panose="020B0004020202020204" pitchFamily="34" charset="0"/>
                      </a:endParaRPr>
                    </a:p>
                  </a:txBody>
                  <a:tcPr marL="0" marR="0" marT="0" marB="0" anchor="b">
                    <a:lnL>
                      <a:noFill/>
                    </a:lnL>
                    <a:lnR>
                      <a:noFill/>
                    </a:lnR>
                    <a:lnT>
                      <a:noFill/>
                    </a:lnT>
                    <a:lnB>
                      <a:noFill/>
                    </a:lnB>
                    <a:noFill/>
                  </a:tcPr>
                </a:tc>
                <a:extLst>
                  <a:ext uri="{0D108BD9-81ED-4DB2-BD59-A6C34878D82A}">
                    <a16:rowId xmlns:a16="http://schemas.microsoft.com/office/drawing/2014/main" val="1238096821"/>
                  </a:ext>
                </a:extLst>
              </a:tr>
            </a:tbl>
          </a:graphicData>
        </a:graphic>
      </p:graphicFrame>
    </p:spTree>
    <p:extLst>
      <p:ext uri="{BB962C8B-B14F-4D97-AF65-F5344CB8AC3E}">
        <p14:creationId xmlns:p14="http://schemas.microsoft.com/office/powerpoint/2010/main" val="729457894"/>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137160" y="6419088"/>
            <a:ext cx="2355132" cy="246221"/>
          </a:xfrm>
          <a:prstGeom prst="rect">
            <a:avLst/>
          </a:prstGeom>
          <a:noFill/>
        </p:spPr>
        <p:txBody>
          <a:bodyPr wrap="none">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p>
        </p:txBody>
      </p:sp>
      <p:graphicFrame>
        <p:nvGraphicFramePr>
          <p:cNvPr id="4" name="Table 3"/>
          <p:cNvGraphicFramePr>
            <a:graphicFrameLocks noGrp="1"/>
          </p:cNvGraphicFramePr>
          <p:nvPr/>
        </p:nvGraphicFramePr>
        <p:xfrm>
          <a:off x="182880" y="786384"/>
          <a:ext cx="11786616" cy="4924469"/>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068059">
                <a:tc>
                  <a:txBody>
                    <a:bodyPr/>
                    <a:lstStyle/>
                    <a:p>
                      <a:pPr algn="ctr">
                        <a:lnSpc>
                          <a:spcPct val="90000"/>
                        </a:lnSpc>
                        <a:spcBef>
                          <a:spcPts val="0"/>
                        </a:spcBef>
                        <a:spcAft>
                          <a:spcPts val="0"/>
                        </a:spcAft>
                      </a:pPr>
                      <a:r>
                        <a:rPr sz="1000" b="0">
                          <a:solidFill>
                            <a:srgbClr val="000000"/>
                          </a:solidFill>
                          <a:latin typeface="Raleway"/>
                        </a:rPr>
                        <a:t>20-04-2026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Production Foreman - Production 2</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2C</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20-05-2026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Salwa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14/8/2026:  </a:t>
                      </a:r>
                      <a:r>
                        <a:rPr sz="1000" b="0" err="1">
                          <a:solidFill>
                            <a:srgbClr val="000000"/>
                          </a:solidFill>
                          <a:latin typeface="Raleway"/>
                        </a:rPr>
                        <a:t>Kadidat</a:t>
                      </a:r>
                      <a:r>
                        <a:rPr sz="1000" b="0">
                          <a:solidFill>
                            <a:srgbClr val="000000"/>
                          </a:solidFill>
                          <a:latin typeface="Raleway"/>
                        </a:rPr>
                        <a:t> an. Teuku </a:t>
                      </a:r>
                      <a:r>
                        <a:rPr sz="1000" b="0" err="1">
                          <a:solidFill>
                            <a:srgbClr val="000000"/>
                          </a:solidFill>
                          <a:latin typeface="Raleway"/>
                        </a:rPr>
                        <a:t>sudah</a:t>
                      </a:r>
                      <a:r>
                        <a:rPr sz="1000" b="0">
                          <a:solidFill>
                            <a:srgbClr val="000000"/>
                          </a:solidFill>
                          <a:latin typeface="Raleway"/>
                        </a:rPr>
                        <a:t> </a:t>
                      </a:r>
                      <a:r>
                        <a:rPr sz="1000" b="0" err="1">
                          <a:solidFill>
                            <a:srgbClr val="000000"/>
                          </a:solidFill>
                          <a:latin typeface="Raleway"/>
                        </a:rPr>
                        <a:t>melakukan</a:t>
                      </a:r>
                      <a:r>
                        <a:rPr sz="1000" b="0">
                          <a:solidFill>
                            <a:srgbClr val="000000"/>
                          </a:solidFill>
                          <a:latin typeface="Raleway"/>
                        </a:rPr>
                        <a:t> user interview 1</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 Plan: Follow up </a:t>
                      </a:r>
                      <a:r>
                        <a:rPr sz="1000" b="0" err="1">
                          <a:solidFill>
                            <a:srgbClr val="000000"/>
                          </a:solidFill>
                          <a:latin typeface="Raleway"/>
                        </a:rPr>
                        <a:t>hasil</a:t>
                      </a:r>
                      <a:r>
                        <a:rPr sz="1000" b="0">
                          <a:solidFill>
                            <a:srgbClr val="000000"/>
                          </a:solidFill>
                          <a:latin typeface="Raleway"/>
                        </a:rPr>
                        <a:t> interview 21 pada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079711">
                <a:tc>
                  <a:txBody>
                    <a:bodyPr/>
                    <a:lstStyle/>
                    <a:p>
                      <a:pPr algn="ctr">
                        <a:lnSpc>
                          <a:spcPct val="90000"/>
                        </a:lnSpc>
                        <a:spcBef>
                          <a:spcPts val="0"/>
                        </a:spcBef>
                        <a:spcAft>
                          <a:spcPts val="0"/>
                        </a:spcAft>
                      </a:pPr>
                      <a:r>
                        <a:rPr sz="1000" b="0">
                          <a:solidFill>
                            <a:srgbClr val="000000"/>
                          </a:solidFill>
                          <a:latin typeface="Raleway"/>
                        </a:rPr>
                        <a:t>07-Feb-26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Plant Performance Analyst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2C</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08-Jan-26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Salwa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14/8/2026: 4 </a:t>
                      </a:r>
                      <a:r>
                        <a:rPr sz="1000" b="0" err="1">
                          <a:solidFill>
                            <a:srgbClr val="000000"/>
                          </a:solidFill>
                          <a:latin typeface="Raleway"/>
                        </a:rPr>
                        <a:t>kandidat</a:t>
                      </a:r>
                      <a:r>
                        <a:rPr sz="1000" b="0">
                          <a:solidFill>
                            <a:srgbClr val="000000"/>
                          </a:solidFill>
                          <a:latin typeface="Raleway"/>
                        </a:rPr>
                        <a:t> an. Jason, Sean, Edric, Dimas </a:t>
                      </a:r>
                      <a:r>
                        <a:rPr sz="1000" b="0" err="1">
                          <a:solidFill>
                            <a:srgbClr val="000000"/>
                          </a:solidFill>
                          <a:latin typeface="Raleway"/>
                        </a:rPr>
                        <a:t>sedang</a:t>
                      </a:r>
                      <a:r>
                        <a:rPr sz="1000" b="0">
                          <a:solidFill>
                            <a:srgbClr val="000000"/>
                          </a:solidFill>
                          <a:latin typeface="Raleway"/>
                        </a:rPr>
                        <a:t> </a:t>
                      </a:r>
                      <a:r>
                        <a:rPr sz="1000" b="0" err="1">
                          <a:solidFill>
                            <a:srgbClr val="000000"/>
                          </a:solidFill>
                          <a:latin typeface="Raleway"/>
                        </a:rPr>
                        <a:t>melakukan</a:t>
                      </a:r>
                      <a:r>
                        <a:rPr sz="1000" b="0">
                          <a:solidFill>
                            <a:srgbClr val="000000"/>
                          </a:solidFill>
                          <a:latin typeface="Raleway"/>
                        </a:rPr>
                        <a:t> </a:t>
                      </a:r>
                      <a:r>
                        <a:rPr sz="1000" b="0" err="1">
                          <a:solidFill>
                            <a:srgbClr val="000000"/>
                          </a:solidFill>
                          <a:latin typeface="Raleway"/>
                        </a:rPr>
                        <a:t>psikotes</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 Plan: Follow up </a:t>
                      </a:r>
                      <a:r>
                        <a:rPr sz="1000" b="0" err="1">
                          <a:solidFill>
                            <a:srgbClr val="000000"/>
                          </a:solidFill>
                          <a:latin typeface="Raleway"/>
                        </a:rPr>
                        <a:t>hasil</a:t>
                      </a:r>
                      <a:r>
                        <a:rPr sz="1000" b="0">
                          <a:solidFill>
                            <a:srgbClr val="000000"/>
                          </a:solidFill>
                          <a:latin typeface="Raleway"/>
                        </a:rPr>
                        <a:t> </a:t>
                      </a:r>
                      <a:r>
                        <a:rPr sz="1000" b="0" err="1">
                          <a:solidFill>
                            <a:srgbClr val="000000"/>
                          </a:solidFill>
                          <a:latin typeface="Raleway"/>
                        </a:rPr>
                        <a:t>psikotes</a:t>
                      </a:r>
                      <a:r>
                        <a:rPr sz="1000" b="0">
                          <a:solidFill>
                            <a:srgbClr val="000000"/>
                          </a:solidFill>
                          <a:latin typeface="Raleway"/>
                        </a:rPr>
                        <a:t> pada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862299">
                <a:tc>
                  <a:txBody>
                    <a:bodyPr/>
                    <a:lstStyle/>
                    <a:p>
                      <a:pPr algn="ctr">
                        <a:lnSpc>
                          <a:spcPct val="90000"/>
                        </a:lnSpc>
                        <a:spcBef>
                          <a:spcPts val="0"/>
                        </a:spcBef>
                        <a:spcAft>
                          <a:spcPts val="0"/>
                        </a:spcAft>
                      </a:pPr>
                      <a:r>
                        <a:rPr sz="1000" b="0">
                          <a:solidFill>
                            <a:srgbClr val="000000"/>
                          </a:solidFill>
                          <a:latin typeface="Raleway"/>
                        </a:rPr>
                        <a:t>07-Feb-26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Inventory Control Foreman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2C</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08-Jan-26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Wahyu</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Sourcing 10 CV </a:t>
                      </a:r>
                      <a:r>
                        <a:rPr sz="1000" b="0" err="1">
                          <a:solidFill>
                            <a:srgbClr val="000000"/>
                          </a:solidFill>
                          <a:latin typeface="Raleway"/>
                        </a:rPr>
                        <a:t>tanggal</a:t>
                      </a:r>
                      <a:r>
                        <a:rPr sz="1000" b="0">
                          <a:solidFill>
                            <a:srgbClr val="000000"/>
                          </a:solidFill>
                          <a:latin typeface="Raleway"/>
                        </a:rPr>
                        <a:t> 14 Agustus 2026 dan send CV </a:t>
                      </a:r>
                      <a:r>
                        <a:rPr sz="1000" b="0" err="1">
                          <a:solidFill>
                            <a:srgbClr val="000000"/>
                          </a:solidFill>
                          <a:latin typeface="Raleway"/>
                        </a:rPr>
                        <a:t>ke</a:t>
                      </a:r>
                      <a:r>
                        <a:rPr sz="1000" b="0">
                          <a:solidFill>
                            <a:srgbClr val="000000"/>
                          </a:solidFill>
                          <a:latin typeface="Raleway"/>
                        </a:rPr>
                        <a:t> user</a:t>
                      </a:r>
                    </a:p>
                    <a:p>
                      <a:pPr algn="l">
                        <a:lnSpc>
                          <a:spcPct val="90000"/>
                        </a:lnSpc>
                        <a:spcBef>
                          <a:spcPts val="0"/>
                        </a:spcBef>
                        <a:spcAft>
                          <a:spcPts val="0"/>
                        </a:spcAft>
                      </a:pPr>
                      <a:r>
                        <a:rPr sz="1000" b="0">
                          <a:solidFill>
                            <a:srgbClr val="000000"/>
                          </a:solidFill>
                          <a:latin typeface="Raleway"/>
                        </a:rPr>
                        <a:t>Follow up </a:t>
                      </a:r>
                      <a:r>
                        <a:rPr sz="1000" b="0" err="1">
                          <a:solidFill>
                            <a:srgbClr val="000000"/>
                          </a:solidFill>
                          <a:latin typeface="Raleway"/>
                        </a:rPr>
                        <a:t>jadwal</a:t>
                      </a:r>
                      <a:r>
                        <a:rPr sz="1000" b="0">
                          <a:solidFill>
                            <a:srgbClr val="000000"/>
                          </a:solidFill>
                          <a:latin typeface="Raleway"/>
                        </a:rPr>
                        <a:t> interview user 2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Galan dan Dika </a:t>
                      </a:r>
                      <a:r>
                        <a:rPr sz="1000" b="0" err="1">
                          <a:solidFill>
                            <a:srgbClr val="000000"/>
                          </a:solidFill>
                          <a:latin typeface="Raleway"/>
                        </a:rPr>
                        <a:t>tanggal</a:t>
                      </a:r>
                      <a:r>
                        <a:rPr sz="1000" b="0">
                          <a:solidFill>
                            <a:srgbClr val="000000"/>
                          </a:solidFill>
                          <a:latin typeface="Raleway"/>
                        </a:rPr>
                        <a:t> 14 Agustus 2026</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Kirim </a:t>
                      </a:r>
                      <a:r>
                        <a:rPr sz="1000" b="0" err="1">
                          <a:solidFill>
                            <a:srgbClr val="000000"/>
                          </a:solidFill>
                          <a:latin typeface="Raleway"/>
                        </a:rPr>
                        <a:t>psikotest</a:t>
                      </a:r>
                      <a:r>
                        <a:rPr sz="1000" b="0">
                          <a:solidFill>
                            <a:srgbClr val="000000"/>
                          </a:solidFill>
                          <a:latin typeface="Raleway"/>
                        </a:rPr>
                        <a:t> </a:t>
                      </a:r>
                      <a:r>
                        <a:rPr sz="1000" b="0" err="1">
                          <a:solidFill>
                            <a:srgbClr val="000000"/>
                          </a:solidFill>
                          <a:latin typeface="Raleway"/>
                        </a:rPr>
                        <a:t>tanggal</a:t>
                      </a:r>
                      <a:r>
                        <a:rPr sz="1000" b="0">
                          <a:solidFill>
                            <a:srgbClr val="000000"/>
                          </a:solidFill>
                          <a:latin typeface="Raleway"/>
                        </a:rPr>
                        <a:t> 18 Agustus 2026 – Week 34</a:t>
                      </a:r>
                    </a:p>
                    <a:p>
                      <a:pPr algn="l">
                        <a:lnSpc>
                          <a:spcPct val="90000"/>
                        </a:lnSpc>
                        <a:spcBef>
                          <a:spcPts val="0"/>
                        </a:spcBef>
                        <a:spcAft>
                          <a:spcPts val="0"/>
                        </a:spcAft>
                      </a:pPr>
                      <a:r>
                        <a:rPr sz="1000" b="0" err="1">
                          <a:solidFill>
                            <a:srgbClr val="000000"/>
                          </a:solidFill>
                          <a:latin typeface="Raleway"/>
                        </a:rPr>
                        <a:t>Menjadwalkan</a:t>
                      </a:r>
                      <a:r>
                        <a:rPr sz="1000" b="0">
                          <a:solidFill>
                            <a:srgbClr val="000000"/>
                          </a:solidFill>
                          <a:latin typeface="Raleway"/>
                        </a:rPr>
                        <a:t> Interview user </a:t>
                      </a:r>
                      <a:r>
                        <a:rPr sz="1000" b="0" err="1">
                          <a:solidFill>
                            <a:srgbClr val="000000"/>
                          </a:solidFill>
                          <a:latin typeface="Raleway"/>
                        </a:rPr>
                        <a:t>tanggal</a:t>
                      </a:r>
                      <a:r>
                        <a:rPr sz="1000" b="0">
                          <a:solidFill>
                            <a:srgbClr val="000000"/>
                          </a:solidFill>
                          <a:latin typeface="Raleway"/>
                        </a:rPr>
                        <a:t> 18 Agustus  2026 –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bl>
          </a:graphicData>
        </a:graphic>
      </p:graphicFrame>
      <p:sp>
        <p:nvSpPr>
          <p:cNvPr id="5" name="Title 1">
            <a:extLst>
              <a:ext uri="{FF2B5EF4-FFF2-40B4-BE49-F238E27FC236}">
                <a16:creationId xmlns:a16="http://schemas.microsoft.com/office/drawing/2014/main" id="{FC7E9940-0017-992D-1DD4-52CC0489B3B3}"/>
              </a:ext>
            </a:extLst>
          </p:cNvPr>
          <p:cNvSpPr txBox="1">
            <a:spLocks/>
          </p:cNvSpPr>
          <p:nvPr/>
        </p:nvSpPr>
        <p:spPr>
          <a:xfrm>
            <a:off x="1599579" y="14690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Tree>
    <p:extLst>
      <p:ext uri="{BB962C8B-B14F-4D97-AF65-F5344CB8AC3E}">
        <p14:creationId xmlns:p14="http://schemas.microsoft.com/office/powerpoint/2010/main" val="1583500992"/>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6006094" y="292608"/>
            <a:ext cx="240772" cy="246221"/>
          </a:xfrm>
          <a:prstGeom prst="rect">
            <a:avLst/>
          </a:prstGeom>
          <a:noFill/>
        </p:spPr>
        <p:txBody>
          <a:bodyPr wrap="none" lIns="91440" tIns="45720" rIns="91440" bIns="45720" anchor="t">
            <a:spAutoFit/>
          </a:bodyPr>
          <a:lstStyle/>
          <a:p>
            <a:pPr algn="ctr"/>
            <a:r>
              <a:rPr lang="en-US" sz="1000" b="1">
                <a:solidFill>
                  <a:srgbClr val="000000"/>
                </a:solidFill>
                <a:latin typeface="Raleway"/>
              </a:rPr>
              <a:t>=</a:t>
            </a:r>
            <a:endParaRPr lang="en-US"/>
          </a:p>
        </p:txBody>
      </p:sp>
      <p:graphicFrame>
        <p:nvGraphicFramePr>
          <p:cNvPr id="4" name="Table 3"/>
          <p:cNvGraphicFramePr>
            <a:graphicFrameLocks noGrp="1"/>
          </p:cNvGraphicFramePr>
          <p:nvPr/>
        </p:nvGraphicFramePr>
        <p:xfrm>
          <a:off x="182880" y="786384"/>
          <a:ext cx="11786616" cy="5614413"/>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958450">
                <a:tc>
                  <a:txBody>
                    <a:bodyPr/>
                    <a:lstStyle/>
                    <a:p>
                      <a:pPr algn="ctr">
                        <a:lnSpc>
                          <a:spcPct val="90000"/>
                        </a:lnSpc>
                        <a:spcBef>
                          <a:spcPts val="0"/>
                        </a:spcBef>
                        <a:spcAft>
                          <a:spcPts val="0"/>
                        </a:spcAft>
                      </a:pPr>
                      <a:r>
                        <a:rPr sz="1000" b="0">
                          <a:solidFill>
                            <a:srgbClr val="000000"/>
                          </a:solidFill>
                          <a:latin typeface="Raleway"/>
                        </a:rPr>
                        <a:t>08-Apr-26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Influencer Marketing Specialist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2C</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09-Mar-26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Brittney</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err="1">
                          <a:solidFill>
                            <a:srgbClr val="000000"/>
                          </a:solidFill>
                          <a:latin typeface="Raleway"/>
                        </a:rPr>
                        <a:t>Psikotes</a:t>
                      </a:r>
                      <a:r>
                        <a:rPr sz="1000" b="0">
                          <a:solidFill>
                            <a:srgbClr val="000000"/>
                          </a:solidFill>
                          <a:latin typeface="Raleway"/>
                        </a:rPr>
                        <a:t> 6 </a:t>
                      </a:r>
                      <a:r>
                        <a:rPr sz="1000" b="0" err="1">
                          <a:solidFill>
                            <a:srgbClr val="000000"/>
                          </a:solidFill>
                          <a:latin typeface="Raleway"/>
                        </a:rPr>
                        <a:t>kandidat</a:t>
                      </a:r>
                      <a:r>
                        <a:rPr sz="1000" b="0">
                          <a:solidFill>
                            <a:srgbClr val="000000"/>
                          </a:solidFill>
                          <a:latin typeface="Raleway"/>
                        </a:rPr>
                        <a:t> di Week 33</a:t>
                      </a:r>
                    </a:p>
                    <a:p>
                      <a:pPr algn="l">
                        <a:lnSpc>
                          <a:spcPct val="90000"/>
                        </a:lnSpc>
                        <a:spcBef>
                          <a:spcPts val="0"/>
                        </a:spcBef>
                        <a:spcAft>
                          <a:spcPts val="0"/>
                        </a:spcAft>
                      </a:pPr>
                      <a:r>
                        <a:rPr sz="1000" b="0">
                          <a:solidFill>
                            <a:srgbClr val="000000"/>
                          </a:solidFill>
                          <a:latin typeface="Raleway"/>
                        </a:rPr>
                        <a:t>Next Action: HR Interview dan user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997920">
                <a:tc>
                  <a:txBody>
                    <a:bodyPr/>
                    <a:lstStyle/>
                    <a:p>
                      <a:pPr algn="ctr">
                        <a:lnSpc>
                          <a:spcPct val="90000"/>
                        </a:lnSpc>
                        <a:spcBef>
                          <a:spcPts val="0"/>
                        </a:spcBef>
                        <a:spcAft>
                          <a:spcPts val="0"/>
                        </a:spcAft>
                      </a:pPr>
                      <a:r>
                        <a:rPr sz="1000" b="0">
                          <a:solidFill>
                            <a:srgbClr val="000000"/>
                          </a:solidFill>
                          <a:latin typeface="Raleway"/>
                        </a:rPr>
                        <a:t>07-Mar-26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Indirect Procurement Staff - Capex</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2C</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08-Feb-26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Kevin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Hand Over FPTK</a:t>
                      </a:r>
                    </a:p>
                    <a:p>
                      <a:pPr algn="l">
                        <a:lnSpc>
                          <a:spcPct val="90000"/>
                        </a:lnSpc>
                        <a:spcBef>
                          <a:spcPts val="0"/>
                        </a:spcBef>
                        <a:spcAft>
                          <a:spcPts val="0"/>
                        </a:spcAft>
                      </a:pPr>
                      <a:r>
                        <a:rPr sz="1000" b="0">
                          <a:solidFill>
                            <a:srgbClr val="000000"/>
                          </a:solidFill>
                          <a:latin typeface="Raleway"/>
                        </a:rPr>
                        <a:t>Next Week: Sourcing &amp; Shortlist </a:t>
                      </a:r>
                      <a:r>
                        <a:rPr sz="1000" b="0" err="1">
                          <a:solidFill>
                            <a:srgbClr val="000000"/>
                          </a:solidFill>
                          <a:latin typeface="Raleway"/>
                        </a:rPr>
                        <a:t>Cv</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962174">
                <a:tc>
                  <a:txBody>
                    <a:bodyPr/>
                    <a:lstStyle/>
                    <a:p>
                      <a:pPr algn="ctr">
                        <a:lnSpc>
                          <a:spcPct val="90000"/>
                        </a:lnSpc>
                        <a:spcBef>
                          <a:spcPts val="0"/>
                        </a:spcBef>
                        <a:spcAft>
                          <a:spcPts val="0"/>
                        </a:spcAft>
                      </a:pPr>
                      <a:r>
                        <a:rPr sz="1000" b="0">
                          <a:solidFill>
                            <a:srgbClr val="000000"/>
                          </a:solidFill>
                          <a:latin typeface="Raleway"/>
                        </a:rPr>
                        <a:t>17-07-2026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Marketing Staff - Activation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2C</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16-08-2026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Karin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Proses sourcing 10 CV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1781469">
                <a:tc>
                  <a:txBody>
                    <a:bodyPr/>
                    <a:lstStyle/>
                    <a:p>
                      <a:pPr algn="ctr">
                        <a:lnSpc>
                          <a:spcPct val="90000"/>
                        </a:lnSpc>
                        <a:spcBef>
                          <a:spcPts val="0"/>
                        </a:spcBef>
                        <a:spcAft>
                          <a:spcPts val="0"/>
                        </a:spcAft>
                      </a:pPr>
                      <a:r>
                        <a:rPr sz="1000" b="0">
                          <a:solidFill>
                            <a:srgbClr val="000000"/>
                          </a:solidFill>
                          <a:latin typeface="Raleway"/>
                        </a:rPr>
                        <a:t>06-Feb-26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Project Foreman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2C</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07-Feb-26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Kasanah</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1 </a:t>
                      </a:r>
                      <a:r>
                        <a:rPr sz="1000" b="0" err="1">
                          <a:solidFill>
                            <a:srgbClr val="000000"/>
                          </a:solidFill>
                          <a:latin typeface="Raleway"/>
                        </a:rPr>
                        <a:t>Kandidat</a:t>
                      </a:r>
                      <a:r>
                        <a:rPr sz="1000" b="0">
                          <a:solidFill>
                            <a:srgbClr val="000000"/>
                          </a:solidFill>
                          <a:latin typeface="Raleway"/>
                        </a:rPr>
                        <a:t> an </a:t>
                      </a:r>
                      <a:r>
                        <a:rPr sz="1000" b="0" err="1">
                          <a:solidFill>
                            <a:srgbClr val="000000"/>
                          </a:solidFill>
                          <a:latin typeface="Raleway"/>
                        </a:rPr>
                        <a:t>Choerul</a:t>
                      </a:r>
                      <a:r>
                        <a:rPr sz="1000" b="0">
                          <a:solidFill>
                            <a:srgbClr val="000000"/>
                          </a:solidFill>
                          <a:latin typeface="Raleway"/>
                        </a:rPr>
                        <a:t> lolos User Interview I di 5 Agustus 2026 </a:t>
                      </a:r>
                      <a:r>
                        <a:rPr sz="1000" b="0" err="1">
                          <a:solidFill>
                            <a:srgbClr val="000000"/>
                          </a:solidFill>
                          <a:latin typeface="Raleway"/>
                        </a:rPr>
                        <a:t>tetapi</a:t>
                      </a:r>
                      <a:r>
                        <a:rPr sz="1000" b="0">
                          <a:solidFill>
                            <a:srgbClr val="000000"/>
                          </a:solidFill>
                          <a:latin typeface="Raleway"/>
                        </a:rPr>
                        <a:t> KEEP </a:t>
                      </a:r>
                      <a:r>
                        <a:rPr sz="1000" b="0" err="1">
                          <a:solidFill>
                            <a:srgbClr val="000000"/>
                          </a:solidFill>
                          <a:latin typeface="Raleway"/>
                        </a:rPr>
                        <a:t>mencari</a:t>
                      </a:r>
                      <a:r>
                        <a:rPr sz="1000" b="0">
                          <a:solidFill>
                            <a:srgbClr val="000000"/>
                          </a:solidFill>
                          <a:latin typeface="Raleway"/>
                        </a:rPr>
                        <a:t> </a:t>
                      </a:r>
                      <a:r>
                        <a:rPr sz="1000" b="0" err="1">
                          <a:solidFill>
                            <a:srgbClr val="000000"/>
                          </a:solidFill>
                          <a:latin typeface="Raleway"/>
                        </a:rPr>
                        <a:t>pembanding</a:t>
                      </a:r>
                    </a:p>
                    <a:p>
                      <a:pPr algn="l">
                        <a:lnSpc>
                          <a:spcPct val="90000"/>
                        </a:lnSpc>
                        <a:spcBef>
                          <a:spcPts val="0"/>
                        </a:spcBef>
                        <a:spcAft>
                          <a:spcPts val="0"/>
                        </a:spcAft>
                      </a:pPr>
                      <a:r>
                        <a:rPr sz="1000" b="0">
                          <a:solidFill>
                            <a:srgbClr val="000000"/>
                          </a:solidFill>
                          <a:latin typeface="Raleway"/>
                        </a:rPr>
                        <a:t>&gt; 3 </a:t>
                      </a:r>
                      <a:r>
                        <a:rPr sz="1000" b="0" err="1">
                          <a:solidFill>
                            <a:srgbClr val="000000"/>
                          </a:solidFill>
                          <a:latin typeface="Raleway"/>
                        </a:rPr>
                        <a:t>Kandidat</a:t>
                      </a:r>
                      <a:r>
                        <a:rPr sz="1000" b="0">
                          <a:solidFill>
                            <a:srgbClr val="000000"/>
                          </a:solidFill>
                          <a:latin typeface="Raleway"/>
                        </a:rPr>
                        <a:t> lolos HR Interview an Aris, </a:t>
                      </a:r>
                      <a:r>
                        <a:rPr sz="1000" b="0" err="1">
                          <a:solidFill>
                            <a:srgbClr val="000000"/>
                          </a:solidFill>
                          <a:latin typeface="Raleway"/>
                        </a:rPr>
                        <a:t>Yanwar</a:t>
                      </a:r>
                      <a:r>
                        <a:rPr sz="1000" b="0">
                          <a:solidFill>
                            <a:srgbClr val="000000"/>
                          </a:solidFill>
                          <a:latin typeface="Raleway"/>
                        </a:rPr>
                        <a:t> dan Akhmad – </a:t>
                      </a:r>
                      <a:r>
                        <a:rPr sz="1000" b="0" err="1">
                          <a:solidFill>
                            <a:srgbClr val="000000"/>
                          </a:solidFill>
                          <a:latin typeface="Raleway"/>
                        </a:rPr>
                        <a:t>sedang</a:t>
                      </a:r>
                      <a:r>
                        <a:rPr sz="1000" b="0">
                          <a:solidFill>
                            <a:srgbClr val="000000"/>
                          </a:solidFill>
                          <a:latin typeface="Raleway"/>
                        </a:rPr>
                        <a:t> </a:t>
                      </a:r>
                      <a:r>
                        <a:rPr sz="1000" b="0" err="1">
                          <a:solidFill>
                            <a:srgbClr val="000000"/>
                          </a:solidFill>
                          <a:latin typeface="Raleway"/>
                        </a:rPr>
                        <a:t>penjadwalan</a:t>
                      </a:r>
                      <a:r>
                        <a:rPr sz="1000" b="0">
                          <a:solidFill>
                            <a:srgbClr val="000000"/>
                          </a:solidFill>
                          <a:latin typeface="Raleway"/>
                        </a:rPr>
                        <a:t> User Interview I</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Agendakan</a:t>
                      </a:r>
                      <a:r>
                        <a:rPr sz="1000" b="0">
                          <a:solidFill>
                            <a:srgbClr val="000000"/>
                          </a:solidFill>
                          <a:latin typeface="Raleway"/>
                        </a:rPr>
                        <a:t> User Interview I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bl>
          </a:graphicData>
        </a:graphic>
      </p:graphicFrame>
      <p:sp>
        <p:nvSpPr>
          <p:cNvPr id="6" name="TextBox 5">
            <a:extLst>
              <a:ext uri="{FF2B5EF4-FFF2-40B4-BE49-F238E27FC236}">
                <a16:creationId xmlns:a16="http://schemas.microsoft.com/office/drawing/2014/main" id="{29D442C2-2EE5-D1BA-0B20-4E7BB378F6FB}"/>
              </a:ext>
            </a:extLst>
          </p:cNvPr>
          <p:cNvSpPr txBox="1"/>
          <p:nvPr/>
        </p:nvSpPr>
        <p:spPr>
          <a:xfrm>
            <a:off x="289560" y="6571488"/>
            <a:ext cx="2355132" cy="246221"/>
          </a:xfrm>
          <a:prstGeom prst="rect">
            <a:avLst/>
          </a:prstGeom>
          <a:noFill/>
        </p:spPr>
        <p:txBody>
          <a:bodyPr wrap="none">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p>
        </p:txBody>
      </p:sp>
      <p:sp>
        <p:nvSpPr>
          <p:cNvPr id="8" name="Title 1">
            <a:extLst>
              <a:ext uri="{FF2B5EF4-FFF2-40B4-BE49-F238E27FC236}">
                <a16:creationId xmlns:a16="http://schemas.microsoft.com/office/drawing/2014/main" id="{2D68BFC1-F012-4E4C-0BD8-F0E877C3773D}"/>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Tree>
    <p:extLst>
      <p:ext uri="{BB962C8B-B14F-4D97-AF65-F5344CB8AC3E}">
        <p14:creationId xmlns:p14="http://schemas.microsoft.com/office/powerpoint/2010/main" val="2740408931"/>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4"/>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207708">
                <a:tc>
                  <a:txBody>
                    <a:bodyPr/>
                    <a:lstStyle/>
                    <a:p>
                      <a:pPr algn="ctr">
                        <a:lnSpc>
                          <a:spcPct val="90000"/>
                        </a:lnSpc>
                        <a:spcBef>
                          <a:spcPts val="0"/>
                        </a:spcBef>
                        <a:spcAft>
                          <a:spcPts val="0"/>
                        </a:spcAft>
                      </a:pPr>
                      <a:r>
                        <a:rPr sz="1000" b="0">
                          <a:solidFill>
                            <a:srgbClr val="000000"/>
                          </a:solidFill>
                          <a:latin typeface="Raleway"/>
                        </a:rPr>
                        <a:t>08-Nov-26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Design Estimator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2B</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09-Oct-26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Salwa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14/8/2026:  Upload job posting</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 Plan: sourcing </a:t>
                      </a:r>
                      <a:r>
                        <a:rPr sz="1000" b="0" err="1">
                          <a:solidFill>
                            <a:srgbClr val="000000"/>
                          </a:solidFill>
                          <a:latin typeface="Raleway"/>
                        </a:rPr>
                        <a:t>kanidat</a:t>
                      </a:r>
                      <a:r>
                        <a:rPr sz="1000" b="0">
                          <a:solidFill>
                            <a:srgbClr val="000000"/>
                          </a:solidFill>
                          <a:latin typeface="Raleway"/>
                        </a:rPr>
                        <a:t> pada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2098796">
                <a:tc>
                  <a:txBody>
                    <a:bodyPr/>
                    <a:lstStyle/>
                    <a:p>
                      <a:pPr algn="ctr">
                        <a:lnSpc>
                          <a:spcPct val="90000"/>
                        </a:lnSpc>
                        <a:spcBef>
                          <a:spcPts val="0"/>
                        </a:spcBef>
                        <a:spcAft>
                          <a:spcPts val="0"/>
                        </a:spcAft>
                      </a:pPr>
                      <a:r>
                        <a:rPr sz="1000" b="0">
                          <a:solidFill>
                            <a:srgbClr val="000000"/>
                          </a:solidFill>
                          <a:latin typeface="Raleway"/>
                        </a:rPr>
                        <a:t>07-Feb-26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Quality Assurance Staff</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2B</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08-Jan-26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Wahyu</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Sourcing 10 CV </a:t>
                      </a:r>
                      <a:r>
                        <a:rPr sz="1000" b="0" err="1">
                          <a:solidFill>
                            <a:srgbClr val="000000"/>
                          </a:solidFill>
                          <a:latin typeface="Raleway"/>
                        </a:rPr>
                        <a:t>tanggal</a:t>
                      </a:r>
                      <a:r>
                        <a:rPr sz="1000" b="0">
                          <a:solidFill>
                            <a:srgbClr val="000000"/>
                          </a:solidFill>
                          <a:latin typeface="Raleway"/>
                        </a:rPr>
                        <a:t> 14 Agustus 2026 dan send CV </a:t>
                      </a:r>
                      <a:r>
                        <a:rPr sz="1000" b="0" err="1">
                          <a:solidFill>
                            <a:srgbClr val="000000"/>
                          </a:solidFill>
                          <a:latin typeface="Raleway"/>
                        </a:rPr>
                        <a:t>ke</a:t>
                      </a:r>
                      <a:r>
                        <a:rPr sz="1000" b="0">
                          <a:solidFill>
                            <a:srgbClr val="000000"/>
                          </a:solidFill>
                          <a:latin typeface="Raleway"/>
                        </a:rPr>
                        <a:t> user</a:t>
                      </a:r>
                    </a:p>
                    <a:p>
                      <a:pPr algn="l">
                        <a:lnSpc>
                          <a:spcPct val="90000"/>
                        </a:lnSpc>
                        <a:spcBef>
                          <a:spcPts val="0"/>
                        </a:spcBef>
                        <a:spcAft>
                          <a:spcPts val="0"/>
                        </a:spcAft>
                      </a:pPr>
                      <a:r>
                        <a:rPr sz="1000" b="0">
                          <a:solidFill>
                            <a:srgbClr val="000000"/>
                          </a:solidFill>
                          <a:latin typeface="Raleway"/>
                        </a:rPr>
                        <a:t>Interview user 2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Salman dan Aldi </a:t>
                      </a:r>
                      <a:r>
                        <a:rPr sz="1000" b="0" err="1">
                          <a:solidFill>
                            <a:srgbClr val="000000"/>
                          </a:solidFill>
                          <a:latin typeface="Raleway"/>
                        </a:rPr>
                        <a:t>tanggal</a:t>
                      </a:r>
                      <a:r>
                        <a:rPr sz="1000" b="0">
                          <a:solidFill>
                            <a:srgbClr val="000000"/>
                          </a:solidFill>
                          <a:latin typeface="Raleway"/>
                        </a:rPr>
                        <a:t> 11 Agustus 2026</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Kirim </a:t>
                      </a:r>
                      <a:r>
                        <a:rPr sz="1000" b="0" err="1">
                          <a:solidFill>
                            <a:srgbClr val="000000"/>
                          </a:solidFill>
                          <a:latin typeface="Raleway"/>
                        </a:rPr>
                        <a:t>psikotest</a:t>
                      </a:r>
                      <a:r>
                        <a:rPr sz="1000" b="0">
                          <a:solidFill>
                            <a:srgbClr val="000000"/>
                          </a:solidFill>
                          <a:latin typeface="Raleway"/>
                        </a:rPr>
                        <a:t> </a:t>
                      </a:r>
                      <a:r>
                        <a:rPr sz="1000" b="0" err="1">
                          <a:solidFill>
                            <a:srgbClr val="000000"/>
                          </a:solidFill>
                          <a:latin typeface="Raleway"/>
                        </a:rPr>
                        <a:t>tanggal</a:t>
                      </a:r>
                      <a:r>
                        <a:rPr sz="1000" b="0">
                          <a:solidFill>
                            <a:srgbClr val="000000"/>
                          </a:solidFill>
                          <a:latin typeface="Raleway"/>
                        </a:rPr>
                        <a:t> 18 Agustus 2026 – Week 34</a:t>
                      </a:r>
                    </a:p>
                    <a:p>
                      <a:pPr algn="l">
                        <a:lnSpc>
                          <a:spcPct val="90000"/>
                        </a:lnSpc>
                        <a:spcBef>
                          <a:spcPts val="0"/>
                        </a:spcBef>
                        <a:spcAft>
                          <a:spcPts val="0"/>
                        </a:spcAft>
                      </a:pPr>
                      <a:r>
                        <a:rPr sz="1000" b="0">
                          <a:solidFill>
                            <a:srgbClr val="000000"/>
                          </a:solidFill>
                          <a:latin typeface="Raleway"/>
                        </a:rPr>
                        <a:t>Interview user 3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Fani, Putri, </a:t>
                      </a:r>
                      <a:r>
                        <a:rPr sz="1000" b="0" err="1">
                          <a:solidFill>
                            <a:srgbClr val="000000"/>
                          </a:solidFill>
                          <a:latin typeface="Raleway"/>
                        </a:rPr>
                        <a:t>Rafky</a:t>
                      </a:r>
                      <a:r>
                        <a:rPr sz="1000" b="0">
                          <a:solidFill>
                            <a:srgbClr val="000000"/>
                          </a:solidFill>
                          <a:latin typeface="Raleway"/>
                        </a:rPr>
                        <a:t> –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393510">
                <a:tc>
                  <a:txBody>
                    <a:bodyPr/>
                    <a:lstStyle/>
                    <a:p>
                      <a:pPr algn="ctr">
                        <a:lnSpc>
                          <a:spcPct val="90000"/>
                        </a:lnSpc>
                        <a:spcBef>
                          <a:spcPts val="0"/>
                        </a:spcBef>
                        <a:spcAft>
                          <a:spcPts val="0"/>
                        </a:spcAft>
                      </a:pPr>
                      <a:r>
                        <a:rPr sz="1000" b="0">
                          <a:solidFill>
                            <a:srgbClr val="000000"/>
                          </a:solidFill>
                          <a:latin typeface="Raleway"/>
                        </a:rPr>
                        <a:t>20-05-2026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Influencer Marketing Staff</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2B</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19-06-2026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Valen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 :</a:t>
                      </a:r>
                    </a:p>
                    <a:p>
                      <a:pPr algn="l">
                        <a:lnSpc>
                          <a:spcPct val="90000"/>
                        </a:lnSpc>
                        <a:spcBef>
                          <a:spcPts val="0"/>
                        </a:spcBef>
                        <a:spcAft>
                          <a:spcPts val="0"/>
                        </a:spcAft>
                      </a:pPr>
                      <a:r>
                        <a:rPr sz="1000" b="0">
                          <a:solidFill>
                            <a:srgbClr val="000000"/>
                          </a:solidFill>
                          <a:latin typeface="Raleway"/>
                        </a:rPr>
                        <a:t>1. Sourcing CV</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1. send cv </a:t>
                      </a:r>
                      <a:r>
                        <a:rPr sz="1000" b="0" err="1">
                          <a:solidFill>
                            <a:srgbClr val="000000"/>
                          </a:solidFill>
                          <a:latin typeface="Raleway"/>
                        </a:rPr>
                        <a:t>ke</a:t>
                      </a:r>
                      <a:r>
                        <a:rPr sz="1000" b="0">
                          <a:solidFill>
                            <a:srgbClr val="000000"/>
                          </a:solidFill>
                          <a:latin typeface="Raleway"/>
                        </a:rPr>
                        <a:t> user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bl>
          </a:graphicData>
        </a:graphic>
      </p:graphicFrame>
      <p:sp>
        <p:nvSpPr>
          <p:cNvPr id="6" name="TextBox 5">
            <a:extLst>
              <a:ext uri="{FF2B5EF4-FFF2-40B4-BE49-F238E27FC236}">
                <a16:creationId xmlns:a16="http://schemas.microsoft.com/office/drawing/2014/main" id="{53F2580E-9EBE-E1F3-AAC6-7BEFE2295F45}"/>
              </a:ext>
            </a:extLst>
          </p:cNvPr>
          <p:cNvSpPr txBox="1"/>
          <p:nvPr/>
        </p:nvSpPr>
        <p:spPr>
          <a:xfrm>
            <a:off x="289560" y="6571488"/>
            <a:ext cx="2355132" cy="246221"/>
          </a:xfrm>
          <a:prstGeom prst="rect">
            <a:avLst/>
          </a:prstGeom>
          <a:noFill/>
        </p:spPr>
        <p:txBody>
          <a:bodyPr wrap="none">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p>
        </p:txBody>
      </p:sp>
      <p:sp>
        <p:nvSpPr>
          <p:cNvPr id="8" name="Title 1">
            <a:extLst>
              <a:ext uri="{FF2B5EF4-FFF2-40B4-BE49-F238E27FC236}">
                <a16:creationId xmlns:a16="http://schemas.microsoft.com/office/drawing/2014/main" id="{4864B7CD-0C0F-D69D-6F05-F47A112F355C}"/>
              </a:ext>
            </a:extLst>
          </p:cNvPr>
          <p:cNvSpPr txBox="1">
            <a:spLocks/>
          </p:cNvSpPr>
          <p:nvPr/>
        </p:nvSpPr>
        <p:spPr>
          <a:xfrm>
            <a:off x="1599579" y="313595"/>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Tree>
    <p:extLst>
      <p:ext uri="{BB962C8B-B14F-4D97-AF65-F5344CB8AC3E}">
        <p14:creationId xmlns:p14="http://schemas.microsoft.com/office/powerpoint/2010/main" val="311874058"/>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137160" y="6419088"/>
            <a:ext cx="2355132" cy="246221"/>
          </a:xfrm>
          <a:prstGeom prst="rect">
            <a:avLst/>
          </a:prstGeom>
          <a:noFill/>
        </p:spPr>
        <p:txBody>
          <a:bodyPr wrap="none">
            <a:spAutoFit/>
          </a:bodyPr>
          <a:lstStyle/>
          <a:p>
            <a:r>
              <a:rPr sz="1000" i="1">
                <a:solidFill>
                  <a:srgbClr val="000000"/>
                </a:solidFill>
                <a:latin typeface="Raleway"/>
              </a:rPr>
              <a:t>* Update per tanggal 14 Agustus 2026</a:t>
            </a:r>
          </a:p>
        </p:txBody>
      </p:sp>
      <p:graphicFrame>
        <p:nvGraphicFramePr>
          <p:cNvPr id="4" name="Table 3"/>
          <p:cNvGraphicFramePr>
            <a:graphicFrameLocks noGrp="1"/>
          </p:cNvGraphicFramePr>
          <p:nvPr/>
        </p:nvGraphicFramePr>
        <p:xfrm>
          <a:off x="182880" y="786384"/>
          <a:ext cx="11786611" cy="5358383"/>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59">
                  <a:extLst>
                    <a:ext uri="{9D8B030D-6E8A-4147-A177-3AD203B41FA5}">
                      <a16:colId xmlns:a16="http://schemas.microsoft.com/office/drawing/2014/main" val="20002"/>
                    </a:ext>
                  </a:extLst>
                </a:gridCol>
                <a:gridCol w="1060703">
                  <a:extLst>
                    <a:ext uri="{9D8B030D-6E8A-4147-A177-3AD203B41FA5}">
                      <a16:colId xmlns:a16="http://schemas.microsoft.com/office/drawing/2014/main" val="20003"/>
                    </a:ext>
                  </a:extLst>
                </a:gridCol>
                <a:gridCol w="770758">
                  <a:extLst>
                    <a:ext uri="{9D8B030D-6E8A-4147-A177-3AD203B41FA5}">
                      <a16:colId xmlns:a16="http://schemas.microsoft.com/office/drawing/2014/main" val="20004"/>
                    </a:ext>
                  </a:extLst>
                </a:gridCol>
                <a:gridCol w="683137">
                  <a:extLst>
                    <a:ext uri="{9D8B030D-6E8A-4147-A177-3AD203B41FA5}">
                      <a16:colId xmlns:a16="http://schemas.microsoft.com/office/drawing/2014/main" val="20005"/>
                    </a:ext>
                  </a:extLst>
                </a:gridCol>
                <a:gridCol w="640079">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1">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2586954">
                <a:tc>
                  <a:txBody>
                    <a:bodyPr/>
                    <a:lstStyle/>
                    <a:p>
                      <a:pPr algn="ctr">
                        <a:lnSpc>
                          <a:spcPct val="90000"/>
                        </a:lnSpc>
                        <a:spcBef>
                          <a:spcPts val="0"/>
                        </a:spcBef>
                        <a:spcAft>
                          <a:spcPts val="0"/>
                        </a:spcAft>
                      </a:pPr>
                      <a:r>
                        <a:rPr sz="1000" b="0">
                          <a:solidFill>
                            <a:srgbClr val="000000"/>
                          </a:solidFill>
                          <a:latin typeface="Raleway"/>
                        </a:rPr>
                        <a:t>06-Feb-26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Business Development Marketing Staff</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2B</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07-Feb-26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Eli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 User interview 2 </a:t>
                      </a:r>
                      <a:r>
                        <a:rPr sz="1000" b="0" err="1">
                          <a:solidFill>
                            <a:srgbClr val="000000"/>
                          </a:solidFill>
                          <a:latin typeface="Raleway"/>
                        </a:rPr>
                        <a:t>kandidat</a:t>
                      </a:r>
                      <a:r>
                        <a:rPr sz="1000" b="0">
                          <a:solidFill>
                            <a:srgbClr val="000000"/>
                          </a:solidFill>
                          <a:latin typeface="Raleway"/>
                        </a:rPr>
                        <a:t> di 3 Juli 2026 – DROP</a:t>
                      </a:r>
                    </a:p>
                    <a:p>
                      <a:pPr algn="l">
                        <a:lnSpc>
                          <a:spcPct val="90000"/>
                        </a:lnSpc>
                        <a:spcBef>
                          <a:spcPts val="0"/>
                        </a:spcBef>
                        <a:spcAft>
                          <a:spcPts val="0"/>
                        </a:spcAft>
                      </a:pPr>
                      <a:r>
                        <a:rPr sz="1000" b="0">
                          <a:solidFill>
                            <a:srgbClr val="000000"/>
                          </a:solidFill>
                          <a:latin typeface="Raleway"/>
                        </a:rPr>
                        <a:t>- User interview 1 </a:t>
                      </a:r>
                      <a:r>
                        <a:rPr sz="1000" b="0" err="1">
                          <a:solidFill>
                            <a:srgbClr val="000000"/>
                          </a:solidFill>
                          <a:latin typeface="Raleway"/>
                        </a:rPr>
                        <a:t>kandidat</a:t>
                      </a:r>
                      <a:r>
                        <a:rPr sz="1000" b="0">
                          <a:solidFill>
                            <a:srgbClr val="000000"/>
                          </a:solidFill>
                          <a:latin typeface="Raleway"/>
                        </a:rPr>
                        <a:t> an Samiya di 15 Juli 2026 - DROP</a:t>
                      </a:r>
                    </a:p>
                    <a:p>
                      <a:pPr algn="l">
                        <a:lnSpc>
                          <a:spcPct val="90000"/>
                        </a:lnSpc>
                        <a:spcBef>
                          <a:spcPts val="0"/>
                        </a:spcBef>
                        <a:spcAft>
                          <a:spcPts val="0"/>
                        </a:spcAft>
                      </a:pPr>
                      <a:r>
                        <a:rPr sz="1000" b="0">
                          <a:solidFill>
                            <a:srgbClr val="000000"/>
                          </a:solidFill>
                          <a:latin typeface="Raleway"/>
                        </a:rPr>
                        <a:t>- Arifah User interview w/. Bu Cindy di 7 Agustus 2026</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 Send minimal 10 CV di Week 34</a:t>
                      </a:r>
                    </a:p>
                    <a:p>
                      <a:pPr algn="l">
                        <a:lnSpc>
                          <a:spcPct val="90000"/>
                        </a:lnSpc>
                        <a:spcBef>
                          <a:spcPts val="0"/>
                        </a:spcBef>
                        <a:spcAft>
                          <a:spcPts val="0"/>
                        </a:spcAft>
                      </a:pPr>
                      <a:r>
                        <a:rPr sz="1000" b="0">
                          <a:solidFill>
                            <a:srgbClr val="000000"/>
                          </a:solidFill>
                          <a:latin typeface="Raleway"/>
                        </a:rPr>
                        <a:t>- Follow up </a:t>
                      </a:r>
                      <a:r>
                        <a:rPr sz="1000" b="0" err="1">
                          <a:solidFill>
                            <a:srgbClr val="000000"/>
                          </a:solidFill>
                          <a:latin typeface="Raleway"/>
                        </a:rPr>
                        <a:t>hasil</a:t>
                      </a:r>
                      <a:r>
                        <a:rPr sz="1000" b="0">
                          <a:solidFill>
                            <a:srgbClr val="000000"/>
                          </a:solidFill>
                          <a:latin typeface="Raleway"/>
                        </a:rPr>
                        <a:t> User interview Arifah di 7 Agustus 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2113061">
                <a:tc>
                  <a:txBody>
                    <a:bodyPr/>
                    <a:lstStyle/>
                    <a:p>
                      <a:pPr algn="ctr">
                        <a:lnSpc>
                          <a:spcPct val="90000"/>
                        </a:lnSpc>
                        <a:spcBef>
                          <a:spcPts val="0"/>
                        </a:spcBef>
                        <a:spcAft>
                          <a:spcPts val="0"/>
                        </a:spcAft>
                      </a:pPr>
                      <a:r>
                        <a:rPr sz="1000" b="0">
                          <a:solidFill>
                            <a:srgbClr val="000000"/>
                          </a:solidFill>
                          <a:latin typeface="Raleway"/>
                        </a:rPr>
                        <a:t>14-07-2026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Support Staff - Analyst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2B</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13-08-2026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Eli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 Send </a:t>
                      </a:r>
                      <a:r>
                        <a:rPr sz="1000" b="0" err="1">
                          <a:solidFill>
                            <a:srgbClr val="000000"/>
                          </a:solidFill>
                          <a:latin typeface="Raleway"/>
                        </a:rPr>
                        <a:t>psikotes</a:t>
                      </a:r>
                      <a:r>
                        <a:rPr sz="1000" b="0">
                          <a:solidFill>
                            <a:srgbClr val="000000"/>
                          </a:solidFill>
                          <a:latin typeface="Raleway"/>
                        </a:rPr>
                        <a:t> </a:t>
                      </a:r>
                      <a:r>
                        <a:rPr sz="1000" b="0" err="1">
                          <a:solidFill>
                            <a:srgbClr val="000000"/>
                          </a:solidFill>
                          <a:latin typeface="Raleway"/>
                        </a:rPr>
                        <a:t>kepada</a:t>
                      </a:r>
                      <a:r>
                        <a:rPr sz="1000" b="0">
                          <a:solidFill>
                            <a:srgbClr val="000000"/>
                          </a:solidFill>
                          <a:latin typeface="Raleway"/>
                        </a:rPr>
                        <a:t> 3 </a:t>
                      </a:r>
                      <a:r>
                        <a:rPr sz="1000" b="0" err="1">
                          <a:solidFill>
                            <a:srgbClr val="000000"/>
                          </a:solidFill>
                          <a:latin typeface="Raleway"/>
                        </a:rPr>
                        <a:t>kandidat</a:t>
                      </a:r>
                      <a:r>
                        <a:rPr sz="1000" b="0">
                          <a:solidFill>
                            <a:srgbClr val="000000"/>
                          </a:solidFill>
                          <a:latin typeface="Raleway"/>
                        </a:rPr>
                        <a:t> pada 12 Agustus 2026: </a:t>
                      </a:r>
                      <a:r>
                        <a:rPr sz="1000" b="0" err="1">
                          <a:solidFill>
                            <a:srgbClr val="000000"/>
                          </a:solidFill>
                          <a:latin typeface="Raleway"/>
                        </a:rPr>
                        <a:t>tidak</a:t>
                      </a:r>
                      <a:r>
                        <a:rPr sz="1000" b="0">
                          <a:solidFill>
                            <a:srgbClr val="000000"/>
                          </a:solidFill>
                          <a:latin typeface="Raleway"/>
                        </a:rPr>
                        <a:t> lolos</a:t>
                      </a:r>
                    </a:p>
                    <a:p>
                      <a:pPr algn="l">
                        <a:lnSpc>
                          <a:spcPct val="90000"/>
                        </a:lnSpc>
                        <a:spcBef>
                          <a:spcPts val="0"/>
                        </a:spcBef>
                        <a:spcAft>
                          <a:spcPts val="0"/>
                        </a:spcAft>
                      </a:pPr>
                      <a:r>
                        <a:rPr sz="1000" b="0">
                          <a:solidFill>
                            <a:srgbClr val="000000"/>
                          </a:solidFill>
                          <a:latin typeface="Raleway"/>
                        </a:rPr>
                        <a:t>- Send 7 </a:t>
                      </a:r>
                      <a:r>
                        <a:rPr sz="1000" b="0" err="1">
                          <a:solidFill>
                            <a:srgbClr val="000000"/>
                          </a:solidFill>
                          <a:latin typeface="Raleway"/>
                        </a:rPr>
                        <a:t>kandidat</a:t>
                      </a:r>
                      <a:r>
                        <a:rPr sz="1000" b="0">
                          <a:solidFill>
                            <a:srgbClr val="000000"/>
                          </a:solidFill>
                          <a:latin typeface="Raleway"/>
                        </a:rPr>
                        <a:t> pada 12 Agustus 2026: lolos 3 </a:t>
                      </a:r>
                      <a:r>
                        <a:rPr sz="1000" b="0" err="1">
                          <a:solidFill>
                            <a:srgbClr val="000000"/>
                          </a:solidFill>
                          <a:latin typeface="Raleway"/>
                        </a:rPr>
                        <a:t>kandidat</a:t>
                      </a:r>
                      <a:endParaRPr sz="1000" b="0">
                        <a:solidFill>
                          <a:srgbClr val="000000"/>
                        </a:solidFill>
                        <a:latin typeface="Raleway"/>
                      </a:endParaRP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 HR Interview 3 </a:t>
                      </a:r>
                      <a:r>
                        <a:rPr sz="1000" b="0" err="1">
                          <a:solidFill>
                            <a:srgbClr val="000000"/>
                          </a:solidFill>
                          <a:latin typeface="Raleway"/>
                        </a:rPr>
                        <a:t>kandidat</a:t>
                      </a:r>
                      <a:r>
                        <a:rPr sz="1000" b="0">
                          <a:solidFill>
                            <a:srgbClr val="000000"/>
                          </a:solidFill>
                          <a:latin typeface="Raleway"/>
                        </a:rPr>
                        <a:t> di week 34</a:t>
                      </a:r>
                    </a:p>
                    <a:p>
                      <a:pPr algn="l">
                        <a:lnSpc>
                          <a:spcPct val="90000"/>
                        </a:lnSpc>
                        <a:spcBef>
                          <a:spcPts val="0"/>
                        </a:spcBef>
                        <a:spcAft>
                          <a:spcPts val="0"/>
                        </a:spcAft>
                      </a:pPr>
                      <a:r>
                        <a:rPr sz="1000" b="0">
                          <a:solidFill>
                            <a:srgbClr val="000000"/>
                          </a:solidFill>
                          <a:latin typeface="Raleway"/>
                        </a:rPr>
                        <a:t>- Send minimal 15 </a:t>
                      </a:r>
                      <a:r>
                        <a:rPr sz="1000" b="0" err="1">
                          <a:solidFill>
                            <a:srgbClr val="000000"/>
                          </a:solidFill>
                          <a:latin typeface="Raleway"/>
                        </a:rPr>
                        <a:t>kandidat</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bl>
          </a:graphicData>
        </a:graphic>
      </p:graphicFrame>
      <p:sp>
        <p:nvSpPr>
          <p:cNvPr id="10" name="Title 1">
            <a:extLst>
              <a:ext uri="{FF2B5EF4-FFF2-40B4-BE49-F238E27FC236}">
                <a16:creationId xmlns:a16="http://schemas.microsoft.com/office/drawing/2014/main" id="{17D15B72-C9C5-5E4E-53EC-A2CB0F75E70E}"/>
              </a:ext>
            </a:extLst>
          </p:cNvPr>
          <p:cNvSpPr txBox="1">
            <a:spLocks/>
          </p:cNvSpPr>
          <p:nvPr/>
        </p:nvSpPr>
        <p:spPr>
          <a:xfrm>
            <a:off x="1599579" y="186595"/>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Tree>
    <p:extLst>
      <p:ext uri="{BB962C8B-B14F-4D97-AF65-F5344CB8AC3E}">
        <p14:creationId xmlns:p14="http://schemas.microsoft.com/office/powerpoint/2010/main" val="3401707698"/>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137160" y="6419088"/>
            <a:ext cx="2355132" cy="246221"/>
          </a:xfrm>
          <a:prstGeom prst="rect">
            <a:avLst/>
          </a:prstGeom>
          <a:noFill/>
        </p:spPr>
        <p:txBody>
          <a:bodyPr wrap="none">
            <a:spAutoFit/>
          </a:bodyPr>
          <a:lstStyle/>
          <a:p>
            <a:r>
              <a:rPr sz="1000" i="1">
                <a:solidFill>
                  <a:srgbClr val="000000"/>
                </a:solidFill>
                <a:latin typeface="Raleway"/>
              </a:rPr>
              <a:t>* Update per tanggal 14 Agustus 2026</a:t>
            </a:r>
          </a:p>
        </p:txBody>
      </p:sp>
      <p:graphicFrame>
        <p:nvGraphicFramePr>
          <p:cNvPr id="4" name="Table 3"/>
          <p:cNvGraphicFramePr>
            <a:graphicFrameLocks noGrp="1"/>
          </p:cNvGraphicFramePr>
          <p:nvPr>
            <p:extLst>
              <p:ext uri="{D42A27DB-BD31-4B8C-83A1-F6EECF244321}">
                <p14:modId xmlns:p14="http://schemas.microsoft.com/office/powerpoint/2010/main" val="3386237289"/>
              </p:ext>
            </p:extLst>
          </p:nvPr>
        </p:nvGraphicFramePr>
        <p:xfrm>
          <a:off x="182880" y="786384"/>
          <a:ext cx="11786616" cy="5614415"/>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2543674">
                <a:tc>
                  <a:txBody>
                    <a:bodyPr/>
                    <a:lstStyle/>
                    <a:p>
                      <a:pPr algn="ctr">
                        <a:lnSpc>
                          <a:spcPct val="90000"/>
                        </a:lnSpc>
                        <a:spcBef>
                          <a:spcPts val="0"/>
                        </a:spcBef>
                        <a:spcAft>
                          <a:spcPts val="0"/>
                        </a:spcAft>
                      </a:pPr>
                      <a:r>
                        <a:rPr sz="1000" b="0">
                          <a:solidFill>
                            <a:srgbClr val="000000"/>
                          </a:solidFill>
                          <a:latin typeface="Raleway"/>
                        </a:rPr>
                        <a:t>20-06-2026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Trade Marketing Data Analyst Staff</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2B</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20-07-2026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Send CV to user, </a:t>
                      </a:r>
                      <a:r>
                        <a:rPr sz="1000" b="0" err="1">
                          <a:solidFill>
                            <a:srgbClr val="000000"/>
                          </a:solidFill>
                          <a:latin typeface="Raleway"/>
                        </a:rPr>
                        <a:t>sudah</a:t>
                      </a:r>
                      <a:r>
                        <a:rPr sz="1000" b="0">
                          <a:solidFill>
                            <a:srgbClr val="000000"/>
                          </a:solidFill>
                          <a:latin typeface="Raleway"/>
                        </a:rPr>
                        <a:t> user interview, lolos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Naufal Adib</a:t>
                      </a:r>
                    </a:p>
                    <a:p>
                      <a:pPr algn="l">
                        <a:lnSpc>
                          <a:spcPct val="90000"/>
                        </a:lnSpc>
                        <a:spcBef>
                          <a:spcPts val="0"/>
                        </a:spcBef>
                        <a:spcAft>
                          <a:spcPts val="0"/>
                        </a:spcAft>
                      </a:pPr>
                      <a:r>
                        <a:rPr sz="1000" b="0">
                          <a:solidFill>
                            <a:srgbClr val="000000"/>
                          </a:solidFill>
                          <a:latin typeface="Raleway"/>
                        </a:rPr>
                        <a:t>&gt; Done </a:t>
                      </a:r>
                      <a:r>
                        <a:rPr sz="1000" b="0" err="1">
                          <a:solidFill>
                            <a:srgbClr val="000000"/>
                          </a:solidFill>
                          <a:latin typeface="Raleway"/>
                        </a:rPr>
                        <a:t>Psikotes</a:t>
                      </a: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Menunggu</a:t>
                      </a:r>
                      <a:r>
                        <a:rPr sz="1000" b="0">
                          <a:solidFill>
                            <a:srgbClr val="000000"/>
                          </a:solidFill>
                          <a:latin typeface="Raleway"/>
                        </a:rPr>
                        <a:t> </a:t>
                      </a:r>
                      <a:r>
                        <a:rPr sz="1000" b="0" err="1">
                          <a:solidFill>
                            <a:srgbClr val="000000"/>
                          </a:solidFill>
                          <a:latin typeface="Raleway"/>
                        </a:rPr>
                        <a:t>keputusan</a:t>
                      </a:r>
                      <a:r>
                        <a:rPr sz="1000" b="0">
                          <a:solidFill>
                            <a:srgbClr val="000000"/>
                          </a:solidFill>
                          <a:latin typeface="Raleway"/>
                        </a:rPr>
                        <a:t> </a:t>
                      </a:r>
                      <a:r>
                        <a:rPr sz="1000" b="0" err="1">
                          <a:solidFill>
                            <a:srgbClr val="000000"/>
                          </a:solidFill>
                          <a:latin typeface="Raleway"/>
                        </a:rPr>
                        <a:t>dari</a:t>
                      </a:r>
                      <a:r>
                        <a:rPr sz="1000" b="0">
                          <a:solidFill>
                            <a:srgbClr val="000000"/>
                          </a:solidFill>
                          <a:latin typeface="Raleway"/>
                        </a:rPr>
                        <a:t> User </a:t>
                      </a:r>
                      <a:r>
                        <a:rPr sz="1000" b="0" err="1">
                          <a:solidFill>
                            <a:srgbClr val="000000"/>
                          </a:solidFill>
                          <a:latin typeface="Raleway"/>
                        </a:rPr>
                        <a:t>untuk</a:t>
                      </a:r>
                      <a:r>
                        <a:rPr sz="1000" b="0">
                          <a:solidFill>
                            <a:srgbClr val="000000"/>
                          </a:solidFill>
                          <a:latin typeface="Raleway"/>
                        </a:rPr>
                        <a:t> approval move </a:t>
                      </a:r>
                      <a:r>
                        <a:rPr sz="1000" b="0" err="1">
                          <a:solidFill>
                            <a:srgbClr val="000000"/>
                          </a:solidFill>
                          <a:latin typeface="Raleway"/>
                        </a:rPr>
                        <a:t>ke</a:t>
                      </a:r>
                      <a:r>
                        <a:rPr sz="1000" b="0">
                          <a:solidFill>
                            <a:srgbClr val="000000"/>
                          </a:solidFill>
                          <a:latin typeface="Raleway"/>
                        </a:rPr>
                        <a:t> Jakarta, </a:t>
                      </a:r>
                      <a:r>
                        <a:rPr sz="1000" b="0" err="1">
                          <a:solidFill>
                            <a:srgbClr val="000000"/>
                          </a:solidFill>
                          <a:latin typeface="Raleway"/>
                        </a:rPr>
                        <a:t>atau</a:t>
                      </a:r>
                      <a:r>
                        <a:rPr sz="1000" b="0">
                          <a:solidFill>
                            <a:srgbClr val="000000"/>
                          </a:solidFill>
                          <a:latin typeface="Raleway"/>
                        </a:rPr>
                        <a:t> skip </a:t>
                      </a:r>
                      <a:r>
                        <a:rPr sz="1000" b="0" err="1">
                          <a:solidFill>
                            <a:srgbClr val="000000"/>
                          </a:solidFill>
                          <a:latin typeface="Raleway"/>
                        </a:rPr>
                        <a:t>cari</a:t>
                      </a:r>
                      <a:r>
                        <a:rPr sz="1000" b="0">
                          <a:solidFill>
                            <a:srgbClr val="000000"/>
                          </a:solidFill>
                          <a:latin typeface="Raleway"/>
                        </a:rPr>
                        <a:t> </a:t>
                      </a:r>
                      <a:r>
                        <a:rPr sz="1000" b="0" err="1">
                          <a:solidFill>
                            <a:srgbClr val="000000"/>
                          </a:solidFill>
                          <a:latin typeface="Raleway"/>
                        </a:rPr>
                        <a:t>kandidat</a:t>
                      </a:r>
                      <a:r>
                        <a:rPr sz="1000" b="0">
                          <a:solidFill>
                            <a:srgbClr val="000000"/>
                          </a:solidFill>
                          <a:latin typeface="Raleway"/>
                        </a:rPr>
                        <a:t> Baru</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Follow up</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NOTE : DOUBLE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2156341">
                <a:tc>
                  <a:txBody>
                    <a:bodyPr/>
                    <a:lstStyle/>
                    <a:p>
                      <a:pPr algn="ctr">
                        <a:lnSpc>
                          <a:spcPct val="90000"/>
                        </a:lnSpc>
                        <a:spcBef>
                          <a:spcPts val="0"/>
                        </a:spcBef>
                        <a:spcAft>
                          <a:spcPts val="0"/>
                        </a:spcAft>
                      </a:pPr>
                      <a:r>
                        <a:rPr sz="1000" b="0">
                          <a:solidFill>
                            <a:srgbClr val="000000"/>
                          </a:solidFill>
                          <a:latin typeface="Raleway"/>
                        </a:rPr>
                        <a:t>25-05-2026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Continuous Improvement Staff</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2B</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24-06-2026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Eli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Send 4 </a:t>
                      </a:r>
                      <a:r>
                        <a:rPr sz="1000" b="0" err="1">
                          <a:solidFill>
                            <a:srgbClr val="000000"/>
                          </a:solidFill>
                          <a:latin typeface="Raleway"/>
                        </a:rPr>
                        <a:t>kandidat</a:t>
                      </a:r>
                      <a:r>
                        <a:rPr sz="1000" b="0">
                          <a:solidFill>
                            <a:srgbClr val="000000"/>
                          </a:solidFill>
                          <a:latin typeface="Raleway"/>
                        </a:rPr>
                        <a:t> lolos HR Interview pada 31 Juli 2026</a:t>
                      </a:r>
                    </a:p>
                    <a:p>
                      <a:pPr algn="l">
                        <a:lnSpc>
                          <a:spcPct val="90000"/>
                        </a:lnSpc>
                        <a:spcBef>
                          <a:spcPts val="0"/>
                        </a:spcBef>
                        <a:spcAft>
                          <a:spcPts val="0"/>
                        </a:spcAft>
                      </a:pPr>
                      <a:r>
                        <a:rPr sz="1000" b="0">
                          <a:solidFill>
                            <a:srgbClr val="000000"/>
                          </a:solidFill>
                          <a:latin typeface="Raleway"/>
                        </a:rPr>
                        <a:t>&gt; Send 25 CVs di Week 32</a:t>
                      </a:r>
                    </a:p>
                    <a:p>
                      <a:pPr algn="l">
                        <a:lnSpc>
                          <a:spcPct val="90000"/>
                        </a:lnSpc>
                        <a:spcBef>
                          <a:spcPts val="0"/>
                        </a:spcBef>
                        <a:spcAft>
                          <a:spcPts val="0"/>
                        </a:spcAft>
                      </a:pPr>
                      <a:r>
                        <a:rPr sz="1000" b="0">
                          <a:solidFill>
                            <a:srgbClr val="000000"/>
                          </a:solidFill>
                          <a:latin typeface="Raleway"/>
                        </a:rPr>
                        <a:t>&gt; Send 24 CVs di Week 33 - </a:t>
                      </a:r>
                      <a:r>
                        <a:rPr sz="1000" b="0" err="1">
                          <a:solidFill>
                            <a:srgbClr val="000000"/>
                          </a:solidFill>
                          <a:latin typeface="Raleway"/>
                        </a:rPr>
                        <a:t>Menunggu</a:t>
                      </a:r>
                      <a:r>
                        <a:rPr sz="1000" b="0">
                          <a:solidFill>
                            <a:srgbClr val="000000"/>
                          </a:solidFill>
                          <a:latin typeface="Raleway"/>
                        </a:rPr>
                        <a:t> feedback </a:t>
                      </a:r>
                      <a:r>
                        <a:rPr sz="1000" b="0" err="1">
                          <a:solidFill>
                            <a:srgbClr val="000000"/>
                          </a:solidFill>
                          <a:latin typeface="Raleway"/>
                        </a:rPr>
                        <a:t>dari</a:t>
                      </a:r>
                      <a:r>
                        <a:rPr sz="1000" b="0">
                          <a:solidFill>
                            <a:srgbClr val="000000"/>
                          </a:solidFill>
                          <a:latin typeface="Raleway"/>
                        </a:rPr>
                        <a:t> user.</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User interview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Riko Khairul  di week 34</a:t>
                      </a:r>
                    </a:p>
                    <a:p>
                      <a:pPr algn="l">
                        <a:lnSpc>
                          <a:spcPct val="90000"/>
                        </a:lnSpc>
                        <a:spcBef>
                          <a:spcPts val="0"/>
                        </a:spcBef>
                        <a:spcAft>
                          <a:spcPts val="0"/>
                        </a:spcAft>
                      </a:pPr>
                      <a:r>
                        <a:rPr sz="1000" b="0">
                          <a:solidFill>
                            <a:srgbClr val="000000"/>
                          </a:solidFill>
                          <a:latin typeface="Raleway"/>
                        </a:rPr>
                        <a:t>&gt; Send 10 </a:t>
                      </a:r>
                      <a:r>
                        <a:rPr sz="1000" b="0" err="1">
                          <a:solidFill>
                            <a:srgbClr val="000000"/>
                          </a:solidFill>
                          <a:latin typeface="Raleway"/>
                        </a:rPr>
                        <a:t>Cvs</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bl>
          </a:graphicData>
        </a:graphic>
      </p:graphicFrame>
      <p:sp>
        <p:nvSpPr>
          <p:cNvPr id="6" name="Title 1">
            <a:extLst>
              <a:ext uri="{FF2B5EF4-FFF2-40B4-BE49-F238E27FC236}">
                <a16:creationId xmlns:a16="http://schemas.microsoft.com/office/drawing/2014/main" id="{55CEEECF-613C-5008-B746-AFAB589FAB50}"/>
              </a:ext>
            </a:extLst>
          </p:cNvPr>
          <p:cNvSpPr txBox="1">
            <a:spLocks/>
          </p:cNvSpPr>
          <p:nvPr/>
        </p:nvSpPr>
        <p:spPr>
          <a:xfrm>
            <a:off x="1599579" y="186595"/>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Tree>
    <p:extLst>
      <p:ext uri="{BB962C8B-B14F-4D97-AF65-F5344CB8AC3E}">
        <p14:creationId xmlns:p14="http://schemas.microsoft.com/office/powerpoint/2010/main" val="3982608430"/>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137160" y="6419088"/>
            <a:ext cx="2416046"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graphicFrame>
        <p:nvGraphicFramePr>
          <p:cNvPr id="4" name="Table 3"/>
          <p:cNvGraphicFramePr>
            <a:graphicFrameLocks noGrp="1"/>
          </p:cNvGraphicFramePr>
          <p:nvPr>
            <p:extLst>
              <p:ext uri="{D42A27DB-BD31-4B8C-83A1-F6EECF244321}">
                <p14:modId xmlns:p14="http://schemas.microsoft.com/office/powerpoint/2010/main" val="1605934110"/>
              </p:ext>
            </p:extLst>
          </p:nvPr>
        </p:nvGraphicFramePr>
        <p:xfrm>
          <a:off x="182880" y="786384"/>
          <a:ext cx="11786616" cy="5614415"/>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3065904">
                <a:tc>
                  <a:txBody>
                    <a:bodyPr/>
                    <a:lstStyle/>
                    <a:p>
                      <a:pPr algn="ctr">
                        <a:lnSpc>
                          <a:spcPct val="90000"/>
                        </a:lnSpc>
                        <a:spcBef>
                          <a:spcPts val="0"/>
                        </a:spcBef>
                        <a:spcAft>
                          <a:spcPts val="0"/>
                        </a:spcAft>
                      </a:pPr>
                      <a:r>
                        <a:rPr sz="1000" b="0">
                          <a:solidFill>
                            <a:srgbClr val="000000"/>
                          </a:solidFill>
                          <a:latin typeface="Raleway"/>
                        </a:rPr>
                        <a:t>07-Feb-26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Project Foreman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2B</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08-Jan-26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Kasanah</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1 </a:t>
                      </a:r>
                      <a:r>
                        <a:rPr sz="1000" b="0" err="1">
                          <a:solidFill>
                            <a:srgbClr val="000000"/>
                          </a:solidFill>
                          <a:latin typeface="Raleway"/>
                        </a:rPr>
                        <a:t>Kandidat</a:t>
                      </a:r>
                      <a:r>
                        <a:rPr sz="1000" b="0">
                          <a:solidFill>
                            <a:srgbClr val="000000"/>
                          </a:solidFill>
                          <a:latin typeface="Raleway"/>
                        </a:rPr>
                        <a:t> an </a:t>
                      </a:r>
                      <a:r>
                        <a:rPr sz="1000" b="0" err="1">
                          <a:solidFill>
                            <a:srgbClr val="000000"/>
                          </a:solidFill>
                          <a:latin typeface="Raleway"/>
                        </a:rPr>
                        <a:t>Choerul</a:t>
                      </a:r>
                      <a:r>
                        <a:rPr sz="1000" b="0">
                          <a:solidFill>
                            <a:srgbClr val="000000"/>
                          </a:solidFill>
                          <a:latin typeface="Raleway"/>
                        </a:rPr>
                        <a:t> lolos User Interview I di 5 Agustus 2026 </a:t>
                      </a:r>
                      <a:r>
                        <a:rPr sz="1000" b="0" err="1">
                          <a:solidFill>
                            <a:srgbClr val="000000"/>
                          </a:solidFill>
                          <a:latin typeface="Raleway"/>
                        </a:rPr>
                        <a:t>tetapi</a:t>
                      </a:r>
                      <a:r>
                        <a:rPr sz="1000" b="0">
                          <a:solidFill>
                            <a:srgbClr val="000000"/>
                          </a:solidFill>
                          <a:latin typeface="Raleway"/>
                        </a:rPr>
                        <a:t> KEEP </a:t>
                      </a:r>
                      <a:r>
                        <a:rPr sz="1000" b="0" err="1">
                          <a:solidFill>
                            <a:srgbClr val="000000"/>
                          </a:solidFill>
                          <a:latin typeface="Raleway"/>
                        </a:rPr>
                        <a:t>mencari</a:t>
                      </a:r>
                      <a:r>
                        <a:rPr sz="1000" b="0">
                          <a:solidFill>
                            <a:srgbClr val="000000"/>
                          </a:solidFill>
                          <a:latin typeface="Raleway"/>
                        </a:rPr>
                        <a:t> </a:t>
                      </a:r>
                      <a:r>
                        <a:rPr sz="1000" b="0" err="1">
                          <a:solidFill>
                            <a:srgbClr val="000000"/>
                          </a:solidFill>
                          <a:latin typeface="Raleway"/>
                        </a:rPr>
                        <a:t>pembanding</a:t>
                      </a:r>
                    </a:p>
                    <a:p>
                      <a:pPr algn="l">
                        <a:lnSpc>
                          <a:spcPct val="90000"/>
                        </a:lnSpc>
                        <a:spcBef>
                          <a:spcPts val="0"/>
                        </a:spcBef>
                        <a:spcAft>
                          <a:spcPts val="0"/>
                        </a:spcAft>
                      </a:pPr>
                      <a:r>
                        <a:rPr sz="1000" b="0">
                          <a:solidFill>
                            <a:srgbClr val="000000"/>
                          </a:solidFill>
                          <a:latin typeface="Raleway"/>
                        </a:rPr>
                        <a:t>&gt; 3 </a:t>
                      </a:r>
                      <a:r>
                        <a:rPr sz="1000" b="0" err="1">
                          <a:solidFill>
                            <a:srgbClr val="000000"/>
                          </a:solidFill>
                          <a:latin typeface="Raleway"/>
                        </a:rPr>
                        <a:t>Kandidat</a:t>
                      </a:r>
                      <a:r>
                        <a:rPr sz="1000" b="0">
                          <a:solidFill>
                            <a:srgbClr val="000000"/>
                          </a:solidFill>
                          <a:latin typeface="Raleway"/>
                        </a:rPr>
                        <a:t> lolos HR Interview an Aris, </a:t>
                      </a:r>
                      <a:r>
                        <a:rPr sz="1000" b="0" err="1">
                          <a:solidFill>
                            <a:srgbClr val="000000"/>
                          </a:solidFill>
                          <a:latin typeface="Raleway"/>
                        </a:rPr>
                        <a:t>Yanwar</a:t>
                      </a:r>
                      <a:r>
                        <a:rPr sz="1000" b="0">
                          <a:solidFill>
                            <a:srgbClr val="000000"/>
                          </a:solidFill>
                          <a:latin typeface="Raleway"/>
                        </a:rPr>
                        <a:t> dan Akhmad – </a:t>
                      </a:r>
                      <a:r>
                        <a:rPr sz="1000" b="0" err="1">
                          <a:solidFill>
                            <a:srgbClr val="000000"/>
                          </a:solidFill>
                          <a:latin typeface="Raleway"/>
                        </a:rPr>
                        <a:t>sedang</a:t>
                      </a:r>
                      <a:r>
                        <a:rPr sz="1000" b="0">
                          <a:solidFill>
                            <a:srgbClr val="000000"/>
                          </a:solidFill>
                          <a:latin typeface="Raleway"/>
                        </a:rPr>
                        <a:t> </a:t>
                      </a:r>
                      <a:r>
                        <a:rPr sz="1000" b="0" err="1">
                          <a:solidFill>
                            <a:srgbClr val="000000"/>
                          </a:solidFill>
                          <a:latin typeface="Raleway"/>
                        </a:rPr>
                        <a:t>penjadwalan</a:t>
                      </a:r>
                      <a:r>
                        <a:rPr sz="1000" b="0">
                          <a:solidFill>
                            <a:srgbClr val="000000"/>
                          </a:solidFill>
                          <a:latin typeface="Raleway"/>
                        </a:rPr>
                        <a:t> User Interview I</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Agendakan</a:t>
                      </a:r>
                      <a:r>
                        <a:rPr sz="1000" b="0">
                          <a:solidFill>
                            <a:srgbClr val="000000"/>
                          </a:solidFill>
                          <a:latin typeface="Raleway"/>
                        </a:rPr>
                        <a:t> User Interview I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634111">
                <a:tc>
                  <a:txBody>
                    <a:bodyPr/>
                    <a:lstStyle/>
                    <a:p>
                      <a:pPr algn="ctr">
                        <a:lnSpc>
                          <a:spcPct val="90000"/>
                        </a:lnSpc>
                        <a:spcBef>
                          <a:spcPts val="0"/>
                        </a:spcBef>
                        <a:spcAft>
                          <a:spcPts val="0"/>
                        </a:spcAft>
                      </a:pPr>
                      <a:r>
                        <a:rPr sz="1000" b="0">
                          <a:solidFill>
                            <a:srgbClr val="000000"/>
                          </a:solidFill>
                          <a:latin typeface="Raleway"/>
                        </a:rPr>
                        <a:t>20-07-2026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Finance Staff - </a:t>
                      </a:r>
                      <a:r>
                        <a:rPr sz="1000" b="0" err="1">
                          <a:solidFill>
                            <a:srgbClr val="000000"/>
                          </a:solidFill>
                          <a:latin typeface="Raleway"/>
                        </a:rPr>
                        <a:t>Fakturis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2B</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19-08-2026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Proses approval OL an. Reza Rijkiana Pratama.</a:t>
                      </a:r>
                    </a:p>
                    <a:p>
                      <a:pPr algn="l">
                        <a:lnSpc>
                          <a:spcPct val="90000"/>
                        </a:lnSpc>
                        <a:spcBef>
                          <a:spcPts val="0"/>
                        </a:spcBef>
                        <a:spcAft>
                          <a:spcPts val="0"/>
                        </a:spcAft>
                      </a:pPr>
                      <a:r>
                        <a:rPr sz="1000" b="0">
                          <a:solidFill>
                            <a:srgbClr val="000000"/>
                          </a:solidFill>
                          <a:latin typeface="Raleway"/>
                        </a:rPr>
                        <a:t>Next Week: Proses offer dan </a:t>
                      </a:r>
                      <a:r>
                        <a:rPr sz="1000" b="0" err="1">
                          <a:solidFill>
                            <a:srgbClr val="000000"/>
                          </a:solidFill>
                          <a:latin typeface="Raleway"/>
                        </a:rPr>
                        <a:t>administrasi</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bl>
          </a:graphicData>
        </a:graphic>
      </p:graphicFrame>
      <p:sp>
        <p:nvSpPr>
          <p:cNvPr id="6" name="Title 1">
            <a:extLst>
              <a:ext uri="{FF2B5EF4-FFF2-40B4-BE49-F238E27FC236}">
                <a16:creationId xmlns:a16="http://schemas.microsoft.com/office/drawing/2014/main" id="{90F20EC9-8D66-8880-1F4B-B97CF3AC835D}"/>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Tree>
    <p:extLst>
      <p:ext uri="{BB962C8B-B14F-4D97-AF65-F5344CB8AC3E}">
        <p14:creationId xmlns:p14="http://schemas.microsoft.com/office/powerpoint/2010/main" val="4040131351"/>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graphicFrame>
        <p:nvGraphicFramePr>
          <p:cNvPr id="4" name="Table 3"/>
          <p:cNvGraphicFramePr>
            <a:graphicFrameLocks noGrp="1"/>
          </p:cNvGraphicFramePr>
          <p:nvPr/>
        </p:nvGraphicFramePr>
        <p:xfrm>
          <a:off x="182880" y="786384"/>
          <a:ext cx="11786616" cy="5614413"/>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952366">
                <a:tc>
                  <a:txBody>
                    <a:bodyPr/>
                    <a:lstStyle/>
                    <a:p>
                      <a:pPr algn="ctr">
                        <a:lnSpc>
                          <a:spcPct val="90000"/>
                        </a:lnSpc>
                        <a:spcBef>
                          <a:spcPts val="0"/>
                        </a:spcBef>
                        <a:spcAft>
                          <a:spcPts val="0"/>
                        </a:spcAft>
                      </a:pPr>
                      <a:r>
                        <a:rPr sz="1000" b="0">
                          <a:solidFill>
                            <a:srgbClr val="000000"/>
                          </a:solidFill>
                          <a:latin typeface="Raleway"/>
                        </a:rPr>
                        <a:t>08-Nov-26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Yogyakarta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09-Oct-26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Fiqra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Hand Over FPTK</a:t>
                      </a:r>
                    </a:p>
                    <a:p>
                      <a:pPr algn="l">
                        <a:lnSpc>
                          <a:spcPct val="90000"/>
                        </a:lnSpc>
                        <a:spcBef>
                          <a:spcPts val="0"/>
                        </a:spcBef>
                        <a:spcAft>
                          <a:spcPts val="0"/>
                        </a:spcAft>
                      </a:pPr>
                      <a:r>
                        <a:rPr sz="1000" b="0">
                          <a:solidFill>
                            <a:srgbClr val="000000"/>
                          </a:solidFill>
                          <a:latin typeface="Raleway"/>
                        </a:rPr>
                        <a:t>Next Week: Sourcing &amp; Shortlist </a:t>
                      </a:r>
                      <a:r>
                        <a:rPr sz="1000" b="0" err="1">
                          <a:solidFill>
                            <a:srgbClr val="000000"/>
                          </a:solidFill>
                          <a:latin typeface="Raleway"/>
                        </a:rPr>
                        <a:t>Cv</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952366">
                <a:tc>
                  <a:txBody>
                    <a:bodyPr/>
                    <a:lstStyle/>
                    <a:p>
                      <a:pPr algn="ctr">
                        <a:lnSpc>
                          <a:spcPct val="90000"/>
                        </a:lnSpc>
                        <a:spcBef>
                          <a:spcPts val="0"/>
                        </a:spcBef>
                        <a:spcAft>
                          <a:spcPts val="0"/>
                        </a:spcAft>
                      </a:pPr>
                      <a:r>
                        <a:rPr sz="1000" b="0">
                          <a:solidFill>
                            <a:srgbClr val="000000"/>
                          </a:solidFill>
                          <a:latin typeface="Raleway"/>
                        </a:rPr>
                        <a:t>08-Nov-26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Yogyakarta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09-Oct-26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Fiqra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Hand Over FPTK</a:t>
                      </a:r>
                    </a:p>
                    <a:p>
                      <a:pPr algn="l">
                        <a:lnSpc>
                          <a:spcPct val="90000"/>
                        </a:lnSpc>
                        <a:spcBef>
                          <a:spcPts val="0"/>
                        </a:spcBef>
                        <a:spcAft>
                          <a:spcPts val="0"/>
                        </a:spcAft>
                      </a:pPr>
                      <a:r>
                        <a:rPr sz="1000" b="0">
                          <a:solidFill>
                            <a:srgbClr val="000000"/>
                          </a:solidFill>
                          <a:latin typeface="Raleway"/>
                        </a:rPr>
                        <a:t>Next Week: Sourcing &amp; Shortlist </a:t>
                      </a:r>
                      <a:r>
                        <a:rPr sz="1000" b="0" err="1">
                          <a:solidFill>
                            <a:srgbClr val="000000"/>
                          </a:solidFill>
                          <a:latin typeface="Raleway"/>
                        </a:rPr>
                        <a:t>Cv</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906003">
                <a:tc>
                  <a:txBody>
                    <a:bodyPr/>
                    <a:lstStyle/>
                    <a:p>
                      <a:pPr algn="ctr">
                        <a:lnSpc>
                          <a:spcPct val="90000"/>
                        </a:lnSpc>
                        <a:spcBef>
                          <a:spcPts val="0"/>
                        </a:spcBef>
                        <a:spcAft>
                          <a:spcPts val="0"/>
                        </a:spcAft>
                      </a:pPr>
                      <a:r>
                        <a:rPr sz="1000" b="0">
                          <a:solidFill>
                            <a:srgbClr val="000000"/>
                          </a:solidFill>
                          <a:latin typeface="Raleway"/>
                        </a:rPr>
                        <a:t>31-07-2026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Solo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30-08-2026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Fiqra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Hand Over FPTK</a:t>
                      </a:r>
                    </a:p>
                    <a:p>
                      <a:pPr algn="l">
                        <a:lnSpc>
                          <a:spcPct val="90000"/>
                        </a:lnSpc>
                        <a:spcBef>
                          <a:spcPts val="0"/>
                        </a:spcBef>
                        <a:spcAft>
                          <a:spcPts val="0"/>
                        </a:spcAft>
                      </a:pPr>
                      <a:r>
                        <a:rPr sz="1000" b="0">
                          <a:solidFill>
                            <a:srgbClr val="000000"/>
                          </a:solidFill>
                          <a:latin typeface="Raleway"/>
                        </a:rPr>
                        <a:t>Next Week: Sourcing &amp; Shortlist </a:t>
                      </a:r>
                      <a:r>
                        <a:rPr sz="1000" b="0" err="1">
                          <a:solidFill>
                            <a:srgbClr val="000000"/>
                          </a:solidFill>
                          <a:latin typeface="Raleway"/>
                        </a:rPr>
                        <a:t>Cv</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906003">
                <a:tc>
                  <a:txBody>
                    <a:bodyPr/>
                    <a:lstStyle/>
                    <a:p>
                      <a:pPr algn="ctr">
                        <a:lnSpc>
                          <a:spcPct val="90000"/>
                        </a:lnSpc>
                        <a:spcBef>
                          <a:spcPts val="0"/>
                        </a:spcBef>
                        <a:spcAft>
                          <a:spcPts val="0"/>
                        </a:spcAft>
                      </a:pPr>
                      <a:r>
                        <a:rPr sz="1000" b="0">
                          <a:solidFill>
                            <a:srgbClr val="000000"/>
                          </a:solidFill>
                          <a:latin typeface="Raleway"/>
                        </a:rPr>
                        <a:t>08-Nov-26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Solo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09-Oct-26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Fiqra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Hand Over FPTK</a:t>
                      </a:r>
                    </a:p>
                    <a:p>
                      <a:pPr algn="l">
                        <a:lnSpc>
                          <a:spcPct val="90000"/>
                        </a:lnSpc>
                        <a:spcBef>
                          <a:spcPts val="0"/>
                        </a:spcBef>
                        <a:spcAft>
                          <a:spcPts val="0"/>
                        </a:spcAft>
                      </a:pPr>
                      <a:r>
                        <a:rPr sz="1000" b="0">
                          <a:solidFill>
                            <a:srgbClr val="000000"/>
                          </a:solidFill>
                          <a:latin typeface="Raleway"/>
                        </a:rPr>
                        <a:t>Next Week: Sourcing &amp; Shortlist </a:t>
                      </a:r>
                      <a:r>
                        <a:rPr sz="1000" b="0" err="1">
                          <a:solidFill>
                            <a:srgbClr val="000000"/>
                          </a:solidFill>
                          <a:latin typeface="Raleway"/>
                        </a:rPr>
                        <a:t>Cv</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r h="983275">
                <a:tc>
                  <a:txBody>
                    <a:bodyPr/>
                    <a:lstStyle/>
                    <a:p>
                      <a:pPr algn="ctr">
                        <a:lnSpc>
                          <a:spcPct val="90000"/>
                        </a:lnSpc>
                        <a:spcBef>
                          <a:spcPts val="0"/>
                        </a:spcBef>
                        <a:spcAft>
                          <a:spcPts val="0"/>
                        </a:spcAft>
                      </a:pPr>
                      <a:r>
                        <a:rPr sz="1000" b="0">
                          <a:solidFill>
                            <a:srgbClr val="000000"/>
                          </a:solidFill>
                          <a:latin typeface="Raleway"/>
                        </a:rPr>
                        <a:t>08-Nov-26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Semarang Bawah</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09-Oct-26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Fiqra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Hand Over FPTK &amp; </a:t>
                      </a:r>
                      <a:r>
                        <a:rPr sz="1000" b="0" err="1">
                          <a:solidFill>
                            <a:srgbClr val="000000"/>
                          </a:solidFill>
                          <a:latin typeface="Raleway"/>
                        </a:rPr>
                        <a:t>Melakukan</a:t>
                      </a:r>
                      <a:r>
                        <a:rPr sz="1000" b="0">
                          <a:solidFill>
                            <a:srgbClr val="000000"/>
                          </a:solidFill>
                          <a:latin typeface="Raleway"/>
                        </a:rPr>
                        <a:t> 2 HR interview</a:t>
                      </a:r>
                    </a:p>
                    <a:p>
                      <a:pPr algn="l">
                        <a:lnSpc>
                          <a:spcPct val="90000"/>
                        </a:lnSpc>
                        <a:spcBef>
                          <a:spcPts val="0"/>
                        </a:spcBef>
                        <a:spcAft>
                          <a:spcPts val="0"/>
                        </a:spcAft>
                      </a:pPr>
                      <a:r>
                        <a:rPr sz="1000" b="0">
                          <a:solidFill>
                            <a:srgbClr val="000000"/>
                          </a:solidFill>
                          <a:latin typeface="Raleway"/>
                        </a:rPr>
                        <a:t>Next Week: Sourcing &amp; Shortlist </a:t>
                      </a:r>
                      <a:r>
                        <a:rPr sz="1000" b="0" err="1">
                          <a:solidFill>
                            <a:srgbClr val="000000"/>
                          </a:solidFill>
                          <a:latin typeface="Raleway"/>
                        </a:rPr>
                        <a:t>Cv</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5"/>
                  </a:ext>
                </a:extLst>
              </a:tr>
            </a:tbl>
          </a:graphicData>
        </a:graphic>
      </p:graphicFrame>
      <p:sp>
        <p:nvSpPr>
          <p:cNvPr id="6" name="Title 1">
            <a:extLst>
              <a:ext uri="{FF2B5EF4-FFF2-40B4-BE49-F238E27FC236}">
                <a16:creationId xmlns:a16="http://schemas.microsoft.com/office/drawing/2014/main" id="{AAA9BC5C-DA02-F178-527C-B7DE8F1ACC75}"/>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Tree>
    <p:extLst>
      <p:ext uri="{BB962C8B-B14F-4D97-AF65-F5344CB8AC3E}">
        <p14:creationId xmlns:p14="http://schemas.microsoft.com/office/powerpoint/2010/main" val="3606424472"/>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137160" y="6419088"/>
            <a:ext cx="2355132" cy="246221"/>
          </a:xfrm>
          <a:prstGeom prst="rect">
            <a:avLst/>
          </a:prstGeom>
          <a:noFill/>
        </p:spPr>
        <p:txBody>
          <a:bodyPr wrap="none">
            <a:spAutoFit/>
          </a:bodyPr>
          <a:lstStyle/>
          <a:p>
            <a:r>
              <a:rPr sz="1000" i="1">
                <a:solidFill>
                  <a:srgbClr val="000000"/>
                </a:solidFill>
                <a:latin typeface="Raleway"/>
              </a:rPr>
              <a:t>* Update per tanggal 14 Agustus 2026</a:t>
            </a:r>
          </a:p>
        </p:txBody>
      </p:sp>
      <p:graphicFrame>
        <p:nvGraphicFramePr>
          <p:cNvPr id="4" name="Table 3"/>
          <p:cNvGraphicFramePr>
            <a:graphicFrameLocks noGrp="1"/>
          </p:cNvGraphicFramePr>
          <p:nvPr/>
        </p:nvGraphicFramePr>
        <p:xfrm>
          <a:off x="182880" y="786384"/>
          <a:ext cx="11786616" cy="5614415"/>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887119">
                <a:tc>
                  <a:txBody>
                    <a:bodyPr/>
                    <a:lstStyle/>
                    <a:p>
                      <a:pPr algn="ctr">
                        <a:lnSpc>
                          <a:spcPct val="90000"/>
                        </a:lnSpc>
                        <a:spcBef>
                          <a:spcPts val="0"/>
                        </a:spcBef>
                        <a:spcAft>
                          <a:spcPts val="0"/>
                        </a:spcAft>
                      </a:pPr>
                      <a:r>
                        <a:rPr sz="1000" b="0">
                          <a:solidFill>
                            <a:srgbClr val="000000"/>
                          </a:solidFill>
                          <a:latin typeface="Raleway"/>
                        </a:rPr>
                        <a:t>08-Nov-26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Semarang Bawah</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09-Oct-26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Fiqra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Hand Over FPTK &amp; </a:t>
                      </a:r>
                      <a:r>
                        <a:rPr sz="1000" b="0" err="1">
                          <a:solidFill>
                            <a:srgbClr val="000000"/>
                          </a:solidFill>
                          <a:latin typeface="Raleway"/>
                        </a:rPr>
                        <a:t>Melakukan</a:t>
                      </a:r>
                      <a:r>
                        <a:rPr sz="1000" b="0">
                          <a:solidFill>
                            <a:srgbClr val="000000"/>
                          </a:solidFill>
                          <a:latin typeface="Raleway"/>
                        </a:rPr>
                        <a:t> 2 HR interview</a:t>
                      </a:r>
                    </a:p>
                    <a:p>
                      <a:pPr algn="l">
                        <a:lnSpc>
                          <a:spcPct val="90000"/>
                        </a:lnSpc>
                        <a:spcBef>
                          <a:spcPts val="0"/>
                        </a:spcBef>
                        <a:spcAft>
                          <a:spcPts val="0"/>
                        </a:spcAft>
                      </a:pPr>
                      <a:r>
                        <a:rPr sz="1000" b="0">
                          <a:solidFill>
                            <a:srgbClr val="000000"/>
                          </a:solidFill>
                          <a:latin typeface="Raleway"/>
                        </a:rPr>
                        <a:t>Next Week: Sourcing &amp; Shortlist </a:t>
                      </a:r>
                      <a:r>
                        <a:rPr sz="1000" b="0" err="1">
                          <a:solidFill>
                            <a:srgbClr val="000000"/>
                          </a:solidFill>
                          <a:latin typeface="Raleway"/>
                        </a:rPr>
                        <a:t>Cv</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880148">
                <a:tc>
                  <a:txBody>
                    <a:bodyPr/>
                    <a:lstStyle/>
                    <a:p>
                      <a:pPr algn="ctr">
                        <a:lnSpc>
                          <a:spcPct val="90000"/>
                        </a:lnSpc>
                        <a:spcBef>
                          <a:spcPts val="0"/>
                        </a:spcBef>
                        <a:spcAft>
                          <a:spcPts val="0"/>
                        </a:spcAft>
                      </a:pPr>
                      <a:r>
                        <a:rPr sz="1000" b="0">
                          <a:solidFill>
                            <a:srgbClr val="000000"/>
                          </a:solidFill>
                          <a:latin typeface="Raleway"/>
                        </a:rPr>
                        <a:t>08-Nov-26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Semarang Atas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09-Oct-26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Fiqra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Hand Over FPTK</a:t>
                      </a:r>
                    </a:p>
                    <a:p>
                      <a:pPr algn="l">
                        <a:lnSpc>
                          <a:spcPct val="90000"/>
                        </a:lnSpc>
                        <a:spcBef>
                          <a:spcPts val="0"/>
                        </a:spcBef>
                        <a:spcAft>
                          <a:spcPts val="0"/>
                        </a:spcAft>
                      </a:pPr>
                      <a:r>
                        <a:rPr sz="1000" b="0">
                          <a:solidFill>
                            <a:srgbClr val="000000"/>
                          </a:solidFill>
                          <a:latin typeface="Raleway"/>
                        </a:rPr>
                        <a:t>Next Week: Sourcing &amp; Shortlist </a:t>
                      </a:r>
                      <a:r>
                        <a:rPr sz="1000" b="0" err="1">
                          <a:solidFill>
                            <a:srgbClr val="000000"/>
                          </a:solidFill>
                          <a:latin typeface="Raleway"/>
                        </a:rPr>
                        <a:t>Cv</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960818">
                <a:tc>
                  <a:txBody>
                    <a:bodyPr/>
                    <a:lstStyle/>
                    <a:p>
                      <a:pPr algn="ctr">
                        <a:lnSpc>
                          <a:spcPct val="90000"/>
                        </a:lnSpc>
                        <a:spcBef>
                          <a:spcPts val="0"/>
                        </a:spcBef>
                        <a:spcAft>
                          <a:spcPts val="0"/>
                        </a:spcAft>
                      </a:pPr>
                      <a:r>
                        <a:rPr sz="1000" b="0">
                          <a:solidFill>
                            <a:srgbClr val="000000"/>
                          </a:solidFill>
                          <a:latin typeface="Raleway"/>
                        </a:rPr>
                        <a:t>28-07-2026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Quality Control Staff</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27-08-2026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Salwa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14/8/2026: 4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sedang</a:t>
                      </a:r>
                      <a:r>
                        <a:rPr sz="1000" b="0">
                          <a:solidFill>
                            <a:srgbClr val="000000"/>
                          </a:solidFill>
                          <a:latin typeface="Raleway"/>
                        </a:rPr>
                        <a:t> user interview an. </a:t>
                      </a:r>
                      <a:r>
                        <a:rPr sz="1000" b="0" err="1">
                          <a:solidFill>
                            <a:srgbClr val="000000"/>
                          </a:solidFill>
                          <a:latin typeface="Raleway"/>
                        </a:rPr>
                        <a:t>Punjung</a:t>
                      </a:r>
                      <a:r>
                        <a:rPr sz="1000" b="0">
                          <a:solidFill>
                            <a:srgbClr val="000000"/>
                          </a:solidFill>
                          <a:latin typeface="Raleway"/>
                        </a:rPr>
                        <a:t>, Faisal, Fauzan, &amp; Dani</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 Plan: Follow up </a:t>
                      </a:r>
                      <a:r>
                        <a:rPr sz="1000" b="0" err="1">
                          <a:solidFill>
                            <a:srgbClr val="000000"/>
                          </a:solidFill>
                          <a:latin typeface="Raleway"/>
                        </a:rPr>
                        <a:t>hasil</a:t>
                      </a:r>
                      <a:r>
                        <a:rPr sz="1000" b="0">
                          <a:solidFill>
                            <a:srgbClr val="000000"/>
                          </a:solidFill>
                          <a:latin typeface="Raleway"/>
                        </a:rPr>
                        <a:t> user interview pada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946709">
                <a:tc>
                  <a:txBody>
                    <a:bodyPr/>
                    <a:lstStyle/>
                    <a:p>
                      <a:pPr algn="ctr">
                        <a:lnSpc>
                          <a:spcPct val="90000"/>
                        </a:lnSpc>
                        <a:spcBef>
                          <a:spcPts val="0"/>
                        </a:spcBef>
                        <a:spcAft>
                          <a:spcPts val="0"/>
                        </a:spcAft>
                      </a:pPr>
                      <a:r>
                        <a:rPr sz="1000" b="0">
                          <a:solidFill>
                            <a:srgbClr val="000000"/>
                          </a:solidFill>
                          <a:latin typeface="Raleway"/>
                        </a:rPr>
                        <a:t>07-Feb-26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Quality Assurance Staff</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08-Jan-26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Salwa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14/8/2026: 3 </a:t>
                      </a:r>
                      <a:r>
                        <a:rPr sz="1000" b="0" err="1">
                          <a:solidFill>
                            <a:srgbClr val="000000"/>
                          </a:solidFill>
                          <a:latin typeface="Raleway"/>
                        </a:rPr>
                        <a:t>Kandidat</a:t>
                      </a:r>
                      <a:r>
                        <a:rPr sz="1000" b="0">
                          <a:solidFill>
                            <a:srgbClr val="000000"/>
                          </a:solidFill>
                          <a:latin typeface="Raleway"/>
                        </a:rPr>
                        <a:t> an. Nava, Ajeng, dan Galih </a:t>
                      </a:r>
                      <a:r>
                        <a:rPr sz="1000" b="0" err="1">
                          <a:solidFill>
                            <a:srgbClr val="000000"/>
                          </a:solidFill>
                          <a:latin typeface="Raleway"/>
                        </a:rPr>
                        <a:t>sedang</a:t>
                      </a:r>
                      <a:r>
                        <a:rPr sz="1000" b="0">
                          <a:solidFill>
                            <a:srgbClr val="000000"/>
                          </a:solidFill>
                          <a:latin typeface="Raleway"/>
                        </a:rPr>
                        <a:t> user interview 2</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 Plan: Follow up </a:t>
                      </a:r>
                      <a:r>
                        <a:rPr sz="1000" b="0" err="1">
                          <a:solidFill>
                            <a:srgbClr val="000000"/>
                          </a:solidFill>
                          <a:latin typeface="Raleway"/>
                        </a:rPr>
                        <a:t>hasil</a:t>
                      </a:r>
                      <a:r>
                        <a:rPr sz="1000" b="0">
                          <a:solidFill>
                            <a:srgbClr val="000000"/>
                          </a:solidFill>
                          <a:latin typeface="Raleway"/>
                        </a:rPr>
                        <a:t> user interview 2 pada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r h="1025221">
                <a:tc>
                  <a:txBody>
                    <a:bodyPr/>
                    <a:lstStyle/>
                    <a:p>
                      <a:pPr algn="ctr">
                        <a:lnSpc>
                          <a:spcPct val="90000"/>
                        </a:lnSpc>
                        <a:spcBef>
                          <a:spcPts val="0"/>
                        </a:spcBef>
                        <a:spcAft>
                          <a:spcPts val="0"/>
                        </a:spcAft>
                      </a:pPr>
                      <a:r>
                        <a:rPr sz="1000" b="0">
                          <a:solidFill>
                            <a:srgbClr val="000000"/>
                          </a:solidFill>
                          <a:latin typeface="Raleway"/>
                        </a:rPr>
                        <a:t>28-07-2026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Quality Control Staff - Microbiology</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27-08-2026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Salwa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14/8/2026: Sedang user interview </a:t>
                      </a:r>
                      <a:r>
                        <a:rPr sz="1000" b="0" err="1">
                          <a:solidFill>
                            <a:srgbClr val="000000"/>
                          </a:solidFill>
                          <a:latin typeface="Raleway"/>
                        </a:rPr>
                        <a:t>bersama</a:t>
                      </a:r>
                      <a:r>
                        <a:rPr sz="1000" b="0">
                          <a:solidFill>
                            <a:srgbClr val="000000"/>
                          </a:solidFill>
                          <a:latin typeface="Raleway"/>
                        </a:rPr>
                        <a:t> 5 </a:t>
                      </a:r>
                      <a:r>
                        <a:rPr sz="1000" b="0" err="1">
                          <a:solidFill>
                            <a:srgbClr val="000000"/>
                          </a:solidFill>
                          <a:latin typeface="Raleway"/>
                        </a:rPr>
                        <a:t>kandidat</a:t>
                      </a:r>
                      <a:r>
                        <a:rPr sz="1000" b="0">
                          <a:solidFill>
                            <a:srgbClr val="000000"/>
                          </a:solidFill>
                          <a:latin typeface="Raleway"/>
                        </a:rPr>
                        <a:t> an. Abdul, Ipung, Rafi, Ivan, Zul</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 Plan: Follow up </a:t>
                      </a:r>
                      <a:r>
                        <a:rPr sz="1000" b="0" err="1">
                          <a:solidFill>
                            <a:srgbClr val="000000"/>
                          </a:solidFill>
                          <a:latin typeface="Raleway"/>
                        </a:rPr>
                        <a:t>hasil</a:t>
                      </a:r>
                      <a:r>
                        <a:rPr sz="1000" b="0">
                          <a:solidFill>
                            <a:srgbClr val="000000"/>
                          </a:solidFill>
                          <a:latin typeface="Raleway"/>
                        </a:rPr>
                        <a:t> user interview 2 pada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5"/>
                  </a:ext>
                </a:extLst>
              </a:tr>
            </a:tbl>
          </a:graphicData>
        </a:graphic>
      </p:graphicFrame>
      <p:sp>
        <p:nvSpPr>
          <p:cNvPr id="6" name="Title 1">
            <a:extLst>
              <a:ext uri="{FF2B5EF4-FFF2-40B4-BE49-F238E27FC236}">
                <a16:creationId xmlns:a16="http://schemas.microsoft.com/office/drawing/2014/main" id="{EF9CDD58-DE86-A62A-755E-4BCCFDB87A0D}"/>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Tree>
    <p:extLst>
      <p:ext uri="{BB962C8B-B14F-4D97-AF65-F5344CB8AC3E}">
        <p14:creationId xmlns:p14="http://schemas.microsoft.com/office/powerpoint/2010/main" val="3812250257"/>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graphicFrame>
        <p:nvGraphicFramePr>
          <p:cNvPr id="4" name="Table 3"/>
          <p:cNvGraphicFramePr>
            <a:graphicFrameLocks noGrp="1"/>
          </p:cNvGraphicFramePr>
          <p:nvPr/>
        </p:nvGraphicFramePr>
        <p:xfrm>
          <a:off x="182880" y="786384"/>
          <a:ext cx="11786616" cy="5614414"/>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165161">
                <a:tc>
                  <a:txBody>
                    <a:bodyPr/>
                    <a:lstStyle/>
                    <a:p>
                      <a:pPr algn="ctr">
                        <a:lnSpc>
                          <a:spcPct val="90000"/>
                        </a:lnSpc>
                        <a:spcBef>
                          <a:spcPts val="0"/>
                        </a:spcBef>
                        <a:spcAft>
                          <a:spcPts val="0"/>
                        </a:spcAft>
                      </a:pPr>
                      <a:r>
                        <a:rPr sz="1000" b="0">
                          <a:solidFill>
                            <a:srgbClr val="000000"/>
                          </a:solidFill>
                          <a:latin typeface="Raleway"/>
                        </a:rPr>
                        <a:t>03-Oct-26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Maintenance Technician 2 - Shift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04-Sep-26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Salwa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14/8/2026:  </a:t>
                      </a:r>
                      <a:r>
                        <a:rPr sz="1000" b="0" err="1">
                          <a:solidFill>
                            <a:srgbClr val="000000"/>
                          </a:solidFill>
                          <a:latin typeface="Raleway"/>
                        </a:rPr>
                        <a:t>Kandidat</a:t>
                      </a:r>
                      <a:r>
                        <a:rPr sz="1000" b="0">
                          <a:solidFill>
                            <a:srgbClr val="000000"/>
                          </a:solidFill>
                          <a:latin typeface="Raleway"/>
                        </a:rPr>
                        <a:t> an. </a:t>
                      </a:r>
                      <a:r>
                        <a:rPr sz="1000" b="0" err="1">
                          <a:solidFill>
                            <a:srgbClr val="000000"/>
                          </a:solidFill>
                          <a:latin typeface="Raleway"/>
                        </a:rPr>
                        <a:t>Mershandy</a:t>
                      </a:r>
                      <a:r>
                        <a:rPr sz="1000" b="0">
                          <a:solidFill>
                            <a:srgbClr val="000000"/>
                          </a:solidFill>
                          <a:latin typeface="Raleway"/>
                        </a:rPr>
                        <a:t> &amp; </a:t>
                      </a:r>
                      <a:r>
                        <a:rPr sz="1000" b="0" err="1">
                          <a:solidFill>
                            <a:srgbClr val="000000"/>
                          </a:solidFill>
                          <a:latin typeface="Raleway"/>
                        </a:rPr>
                        <a:t>Fahrul</a:t>
                      </a:r>
                      <a:r>
                        <a:rPr sz="1000" b="0">
                          <a:solidFill>
                            <a:srgbClr val="000000"/>
                          </a:solidFill>
                          <a:latin typeface="Raleway"/>
                        </a:rPr>
                        <a:t> </a:t>
                      </a:r>
                      <a:r>
                        <a:rPr sz="1000" b="0" err="1">
                          <a:solidFill>
                            <a:srgbClr val="000000"/>
                          </a:solidFill>
                          <a:latin typeface="Raleway"/>
                        </a:rPr>
                        <a:t>sedang</a:t>
                      </a:r>
                      <a:r>
                        <a:rPr sz="1000" b="0">
                          <a:solidFill>
                            <a:srgbClr val="000000"/>
                          </a:solidFill>
                          <a:latin typeface="Raleway"/>
                        </a:rPr>
                        <a:t> </a:t>
                      </a:r>
                      <a:r>
                        <a:rPr sz="1000" b="0" err="1">
                          <a:solidFill>
                            <a:srgbClr val="000000"/>
                          </a:solidFill>
                          <a:latin typeface="Raleway"/>
                        </a:rPr>
                        <a:t>pemenuhan</a:t>
                      </a:r>
                      <a:r>
                        <a:rPr sz="1000" b="0">
                          <a:solidFill>
                            <a:srgbClr val="000000"/>
                          </a:solidFill>
                          <a:latin typeface="Raleway"/>
                        </a:rPr>
                        <a:t> </a:t>
                      </a:r>
                      <a:r>
                        <a:rPr sz="1000" b="0" err="1">
                          <a:solidFill>
                            <a:srgbClr val="000000"/>
                          </a:solidFill>
                          <a:latin typeface="Raleway"/>
                        </a:rPr>
                        <a:t>berkas</a:t>
                      </a:r>
                      <a:r>
                        <a:rPr sz="1000" b="0">
                          <a:solidFill>
                            <a:srgbClr val="000000"/>
                          </a:solidFill>
                          <a:latin typeface="Raleway"/>
                        </a:rPr>
                        <a:t> approval salary</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 Plan: </a:t>
                      </a:r>
                      <a:r>
                        <a:rPr sz="1000" b="0" err="1">
                          <a:solidFill>
                            <a:srgbClr val="000000"/>
                          </a:solidFill>
                          <a:latin typeface="Raleway"/>
                        </a:rPr>
                        <a:t>Mengajukan</a:t>
                      </a:r>
                      <a:r>
                        <a:rPr sz="1000" b="0">
                          <a:solidFill>
                            <a:srgbClr val="000000"/>
                          </a:solidFill>
                          <a:latin typeface="Raleway"/>
                        </a:rPr>
                        <a:t> approval salary  pada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165161">
                <a:tc>
                  <a:txBody>
                    <a:bodyPr/>
                    <a:lstStyle/>
                    <a:p>
                      <a:pPr algn="ctr">
                        <a:lnSpc>
                          <a:spcPct val="90000"/>
                        </a:lnSpc>
                        <a:spcBef>
                          <a:spcPts val="0"/>
                        </a:spcBef>
                        <a:spcAft>
                          <a:spcPts val="0"/>
                        </a:spcAft>
                      </a:pPr>
                      <a:r>
                        <a:rPr sz="1000" b="0">
                          <a:solidFill>
                            <a:srgbClr val="000000"/>
                          </a:solidFill>
                          <a:latin typeface="Raleway"/>
                        </a:rPr>
                        <a:t>30-07-2026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Maintenance Technician 2 - Shift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29-08-2026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Salwa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14/8/2026:  </a:t>
                      </a:r>
                      <a:r>
                        <a:rPr sz="1000" b="0" err="1">
                          <a:solidFill>
                            <a:srgbClr val="000000"/>
                          </a:solidFill>
                          <a:latin typeface="Raleway"/>
                        </a:rPr>
                        <a:t>Kandidat</a:t>
                      </a:r>
                      <a:r>
                        <a:rPr sz="1000" b="0">
                          <a:solidFill>
                            <a:srgbClr val="000000"/>
                          </a:solidFill>
                          <a:latin typeface="Raleway"/>
                        </a:rPr>
                        <a:t> an. </a:t>
                      </a:r>
                      <a:r>
                        <a:rPr sz="1000" b="0" err="1">
                          <a:solidFill>
                            <a:srgbClr val="000000"/>
                          </a:solidFill>
                          <a:latin typeface="Raleway"/>
                        </a:rPr>
                        <a:t>Mershandy</a:t>
                      </a:r>
                      <a:r>
                        <a:rPr sz="1000" b="0">
                          <a:solidFill>
                            <a:srgbClr val="000000"/>
                          </a:solidFill>
                          <a:latin typeface="Raleway"/>
                        </a:rPr>
                        <a:t> &amp; </a:t>
                      </a:r>
                      <a:r>
                        <a:rPr sz="1000" b="0" err="1">
                          <a:solidFill>
                            <a:srgbClr val="000000"/>
                          </a:solidFill>
                          <a:latin typeface="Raleway"/>
                        </a:rPr>
                        <a:t>Fahrul</a:t>
                      </a:r>
                      <a:r>
                        <a:rPr sz="1000" b="0">
                          <a:solidFill>
                            <a:srgbClr val="000000"/>
                          </a:solidFill>
                          <a:latin typeface="Raleway"/>
                        </a:rPr>
                        <a:t> </a:t>
                      </a:r>
                      <a:r>
                        <a:rPr sz="1000" b="0" err="1">
                          <a:solidFill>
                            <a:srgbClr val="000000"/>
                          </a:solidFill>
                          <a:latin typeface="Raleway"/>
                        </a:rPr>
                        <a:t>sedang</a:t>
                      </a:r>
                      <a:r>
                        <a:rPr sz="1000" b="0">
                          <a:solidFill>
                            <a:srgbClr val="000000"/>
                          </a:solidFill>
                          <a:latin typeface="Raleway"/>
                        </a:rPr>
                        <a:t> </a:t>
                      </a:r>
                      <a:r>
                        <a:rPr sz="1000" b="0" err="1">
                          <a:solidFill>
                            <a:srgbClr val="000000"/>
                          </a:solidFill>
                          <a:latin typeface="Raleway"/>
                        </a:rPr>
                        <a:t>pemenuhan</a:t>
                      </a:r>
                      <a:r>
                        <a:rPr sz="1000" b="0">
                          <a:solidFill>
                            <a:srgbClr val="000000"/>
                          </a:solidFill>
                          <a:latin typeface="Raleway"/>
                        </a:rPr>
                        <a:t> </a:t>
                      </a:r>
                      <a:r>
                        <a:rPr sz="1000" b="0" err="1">
                          <a:solidFill>
                            <a:srgbClr val="000000"/>
                          </a:solidFill>
                          <a:latin typeface="Raleway"/>
                        </a:rPr>
                        <a:t>berkas</a:t>
                      </a:r>
                      <a:r>
                        <a:rPr sz="1000" b="0">
                          <a:solidFill>
                            <a:srgbClr val="000000"/>
                          </a:solidFill>
                          <a:latin typeface="Raleway"/>
                        </a:rPr>
                        <a:t> approval salary</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 Plan: </a:t>
                      </a:r>
                      <a:r>
                        <a:rPr sz="1000" b="0" err="1">
                          <a:solidFill>
                            <a:srgbClr val="000000"/>
                          </a:solidFill>
                          <a:latin typeface="Raleway"/>
                        </a:rPr>
                        <a:t>Mengajukan</a:t>
                      </a:r>
                      <a:r>
                        <a:rPr sz="1000" b="0">
                          <a:solidFill>
                            <a:srgbClr val="000000"/>
                          </a:solidFill>
                          <a:latin typeface="Raleway"/>
                        </a:rPr>
                        <a:t> approval salary  pada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204531">
                <a:tc>
                  <a:txBody>
                    <a:bodyPr/>
                    <a:lstStyle/>
                    <a:p>
                      <a:pPr algn="ctr">
                        <a:lnSpc>
                          <a:spcPct val="90000"/>
                        </a:lnSpc>
                        <a:spcBef>
                          <a:spcPts val="0"/>
                        </a:spcBef>
                        <a:spcAft>
                          <a:spcPts val="0"/>
                        </a:spcAft>
                      </a:pPr>
                      <a:r>
                        <a:rPr sz="1000" b="0">
                          <a:solidFill>
                            <a:srgbClr val="000000"/>
                          </a:solidFill>
                          <a:latin typeface="Raleway"/>
                        </a:rPr>
                        <a:t>07-Feb-26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Quality Assurance Staff - Halal &amp; Incoming</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08-Jan-26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Salwa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14/8/2026: </a:t>
                      </a:r>
                      <a:r>
                        <a:rPr sz="1000" b="0" err="1">
                          <a:solidFill>
                            <a:srgbClr val="000000"/>
                          </a:solidFill>
                          <a:latin typeface="Raleway"/>
                        </a:rPr>
                        <a:t>Kandidat</a:t>
                      </a:r>
                      <a:r>
                        <a:rPr sz="1000" b="0">
                          <a:solidFill>
                            <a:srgbClr val="000000"/>
                          </a:solidFill>
                          <a:latin typeface="Raleway"/>
                        </a:rPr>
                        <a:t> an. </a:t>
                      </a:r>
                      <a:r>
                        <a:rPr sz="1000" b="0" err="1">
                          <a:solidFill>
                            <a:srgbClr val="000000"/>
                          </a:solidFill>
                          <a:latin typeface="Raleway"/>
                        </a:rPr>
                        <a:t>Adzkiya</a:t>
                      </a:r>
                      <a:r>
                        <a:rPr sz="1000" b="0">
                          <a:solidFill>
                            <a:srgbClr val="000000"/>
                          </a:solidFill>
                          <a:latin typeface="Raleway"/>
                        </a:rPr>
                        <a:t> </a:t>
                      </a:r>
                      <a:r>
                        <a:rPr sz="1000" b="0" err="1">
                          <a:solidFill>
                            <a:srgbClr val="000000"/>
                          </a:solidFill>
                          <a:latin typeface="Raleway"/>
                        </a:rPr>
                        <a:t>sedang</a:t>
                      </a:r>
                      <a:r>
                        <a:rPr sz="1000" b="0">
                          <a:solidFill>
                            <a:srgbClr val="000000"/>
                          </a:solidFill>
                          <a:latin typeface="Raleway"/>
                        </a:rPr>
                        <a:t> </a:t>
                      </a:r>
                      <a:r>
                        <a:rPr sz="1000" b="0" err="1">
                          <a:solidFill>
                            <a:srgbClr val="000000"/>
                          </a:solidFill>
                          <a:latin typeface="Raleway"/>
                        </a:rPr>
                        <a:t>pemenuhan</a:t>
                      </a:r>
                      <a:r>
                        <a:rPr sz="1000" b="0">
                          <a:solidFill>
                            <a:srgbClr val="000000"/>
                          </a:solidFill>
                          <a:latin typeface="Raleway"/>
                        </a:rPr>
                        <a:t> </a:t>
                      </a:r>
                      <a:r>
                        <a:rPr sz="1000" b="0" err="1">
                          <a:solidFill>
                            <a:srgbClr val="000000"/>
                          </a:solidFill>
                          <a:latin typeface="Raleway"/>
                        </a:rPr>
                        <a:t>berkas</a:t>
                      </a:r>
                      <a:r>
                        <a:rPr sz="1000" b="0">
                          <a:solidFill>
                            <a:srgbClr val="000000"/>
                          </a:solidFill>
                          <a:latin typeface="Raleway"/>
                        </a:rPr>
                        <a:t> approval salary</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 Plan: </a:t>
                      </a:r>
                      <a:r>
                        <a:rPr sz="1000" b="0" err="1">
                          <a:solidFill>
                            <a:srgbClr val="000000"/>
                          </a:solidFill>
                          <a:latin typeface="Raleway"/>
                        </a:rPr>
                        <a:t>Mengajukan</a:t>
                      </a:r>
                      <a:r>
                        <a:rPr sz="1000" b="0">
                          <a:solidFill>
                            <a:srgbClr val="000000"/>
                          </a:solidFill>
                          <a:latin typeface="Raleway"/>
                        </a:rPr>
                        <a:t> approval salary pada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1165161">
                <a:tc>
                  <a:txBody>
                    <a:bodyPr/>
                    <a:lstStyle/>
                    <a:p>
                      <a:pPr algn="ctr">
                        <a:lnSpc>
                          <a:spcPct val="90000"/>
                        </a:lnSpc>
                        <a:spcBef>
                          <a:spcPts val="0"/>
                        </a:spcBef>
                        <a:spcAft>
                          <a:spcPts val="0"/>
                        </a:spcAft>
                      </a:pPr>
                      <a:r>
                        <a:rPr sz="1000" b="0">
                          <a:solidFill>
                            <a:srgbClr val="000000"/>
                          </a:solidFill>
                          <a:latin typeface="Raleway"/>
                        </a:rPr>
                        <a:t>03-Apr-26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Maintenance Technician 3 - Shift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04-Mar-26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Salwa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14/8/2026:  </a:t>
                      </a:r>
                      <a:r>
                        <a:rPr sz="1000" b="0" err="1">
                          <a:solidFill>
                            <a:srgbClr val="000000"/>
                          </a:solidFill>
                          <a:latin typeface="Raleway"/>
                        </a:rPr>
                        <a:t>Kandidat</a:t>
                      </a:r>
                      <a:r>
                        <a:rPr sz="1000" b="0">
                          <a:solidFill>
                            <a:srgbClr val="000000"/>
                          </a:solidFill>
                          <a:latin typeface="Raleway"/>
                        </a:rPr>
                        <a:t> an. </a:t>
                      </a:r>
                      <a:r>
                        <a:rPr sz="1000" b="0" err="1">
                          <a:solidFill>
                            <a:srgbClr val="000000"/>
                          </a:solidFill>
                          <a:latin typeface="Raleway"/>
                        </a:rPr>
                        <a:t>Mershandy</a:t>
                      </a:r>
                      <a:r>
                        <a:rPr sz="1000" b="0">
                          <a:solidFill>
                            <a:srgbClr val="000000"/>
                          </a:solidFill>
                          <a:latin typeface="Raleway"/>
                        </a:rPr>
                        <a:t> &amp; </a:t>
                      </a:r>
                      <a:r>
                        <a:rPr sz="1000" b="0" err="1">
                          <a:solidFill>
                            <a:srgbClr val="000000"/>
                          </a:solidFill>
                          <a:latin typeface="Raleway"/>
                        </a:rPr>
                        <a:t>Fahrul</a:t>
                      </a:r>
                      <a:r>
                        <a:rPr sz="1000" b="0">
                          <a:solidFill>
                            <a:srgbClr val="000000"/>
                          </a:solidFill>
                          <a:latin typeface="Raleway"/>
                        </a:rPr>
                        <a:t> </a:t>
                      </a:r>
                      <a:r>
                        <a:rPr sz="1000" b="0" err="1">
                          <a:solidFill>
                            <a:srgbClr val="000000"/>
                          </a:solidFill>
                          <a:latin typeface="Raleway"/>
                        </a:rPr>
                        <a:t>sedang</a:t>
                      </a:r>
                      <a:r>
                        <a:rPr sz="1000" b="0">
                          <a:solidFill>
                            <a:srgbClr val="000000"/>
                          </a:solidFill>
                          <a:latin typeface="Raleway"/>
                        </a:rPr>
                        <a:t> </a:t>
                      </a:r>
                      <a:r>
                        <a:rPr sz="1000" b="0" err="1">
                          <a:solidFill>
                            <a:srgbClr val="000000"/>
                          </a:solidFill>
                          <a:latin typeface="Raleway"/>
                        </a:rPr>
                        <a:t>pemenuhan</a:t>
                      </a:r>
                      <a:r>
                        <a:rPr sz="1000" b="0">
                          <a:solidFill>
                            <a:srgbClr val="000000"/>
                          </a:solidFill>
                          <a:latin typeface="Raleway"/>
                        </a:rPr>
                        <a:t> </a:t>
                      </a:r>
                      <a:r>
                        <a:rPr sz="1000" b="0" err="1">
                          <a:solidFill>
                            <a:srgbClr val="000000"/>
                          </a:solidFill>
                          <a:latin typeface="Raleway"/>
                        </a:rPr>
                        <a:t>berkas</a:t>
                      </a:r>
                      <a:r>
                        <a:rPr sz="1000" b="0">
                          <a:solidFill>
                            <a:srgbClr val="000000"/>
                          </a:solidFill>
                          <a:latin typeface="Raleway"/>
                        </a:rPr>
                        <a:t> approval salary</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 Plan: </a:t>
                      </a:r>
                      <a:r>
                        <a:rPr sz="1000" b="0" err="1">
                          <a:solidFill>
                            <a:srgbClr val="000000"/>
                          </a:solidFill>
                          <a:latin typeface="Raleway"/>
                        </a:rPr>
                        <a:t>Mengajukan</a:t>
                      </a:r>
                      <a:r>
                        <a:rPr sz="1000" b="0">
                          <a:solidFill>
                            <a:srgbClr val="000000"/>
                          </a:solidFill>
                          <a:latin typeface="Raleway"/>
                        </a:rPr>
                        <a:t> approval salary  pada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bl>
          </a:graphicData>
        </a:graphic>
      </p:graphicFrame>
      <p:sp>
        <p:nvSpPr>
          <p:cNvPr id="6" name="Title 1">
            <a:extLst>
              <a:ext uri="{FF2B5EF4-FFF2-40B4-BE49-F238E27FC236}">
                <a16:creationId xmlns:a16="http://schemas.microsoft.com/office/drawing/2014/main" id="{6E53ADB4-2814-20C9-5E49-FCB30B9FA143}"/>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Tree>
    <p:extLst>
      <p:ext uri="{BB962C8B-B14F-4D97-AF65-F5344CB8AC3E}">
        <p14:creationId xmlns:p14="http://schemas.microsoft.com/office/powerpoint/2010/main" val="2008475526"/>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graphicFrame>
        <p:nvGraphicFramePr>
          <p:cNvPr id="4" name="Table 3"/>
          <p:cNvGraphicFramePr>
            <a:graphicFrameLocks noGrp="1"/>
          </p:cNvGraphicFramePr>
          <p:nvPr/>
        </p:nvGraphicFramePr>
        <p:xfrm>
          <a:off x="182880" y="786384"/>
          <a:ext cx="11786616" cy="5614415"/>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065714">
                <a:tc>
                  <a:txBody>
                    <a:bodyPr/>
                    <a:lstStyle/>
                    <a:p>
                      <a:pPr algn="ctr">
                        <a:lnSpc>
                          <a:spcPct val="90000"/>
                        </a:lnSpc>
                        <a:spcBef>
                          <a:spcPts val="0"/>
                        </a:spcBef>
                        <a:spcAft>
                          <a:spcPts val="0"/>
                        </a:spcAft>
                      </a:pPr>
                      <a:r>
                        <a:rPr sz="1000" b="0">
                          <a:solidFill>
                            <a:srgbClr val="000000"/>
                          </a:solidFill>
                          <a:latin typeface="Raleway"/>
                        </a:rPr>
                        <a:t>20-07-2026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Benefit Administration Staff</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19-08-2026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Salwa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14/8/2026: Telah </a:t>
                      </a:r>
                      <a:r>
                        <a:rPr sz="1000" b="0" err="1">
                          <a:solidFill>
                            <a:srgbClr val="000000"/>
                          </a:solidFill>
                          <a:latin typeface="Raleway"/>
                        </a:rPr>
                        <a:t>mengirimkan</a:t>
                      </a:r>
                      <a:r>
                        <a:rPr sz="1000" b="0">
                          <a:solidFill>
                            <a:srgbClr val="000000"/>
                          </a:solidFill>
                          <a:latin typeface="Raleway"/>
                        </a:rPr>
                        <a:t> draft </a:t>
                      </a:r>
                      <a:r>
                        <a:rPr sz="1000" b="0" err="1">
                          <a:solidFill>
                            <a:srgbClr val="000000"/>
                          </a:solidFill>
                          <a:latin typeface="Raleway"/>
                        </a:rPr>
                        <a:t>pengajuan</a:t>
                      </a:r>
                      <a:r>
                        <a:rPr sz="1000" b="0">
                          <a:solidFill>
                            <a:srgbClr val="000000"/>
                          </a:solidFill>
                          <a:latin typeface="Raleway"/>
                        </a:rPr>
                        <a:t> approval salary </a:t>
                      </a:r>
                      <a:r>
                        <a:rPr sz="1000" b="0" err="1">
                          <a:solidFill>
                            <a:srgbClr val="000000"/>
                          </a:solidFill>
                          <a:latin typeface="Raleway"/>
                        </a:rPr>
                        <a:t>untuk</a:t>
                      </a:r>
                      <a:r>
                        <a:rPr sz="1000" b="0">
                          <a:solidFill>
                            <a:srgbClr val="000000"/>
                          </a:solidFill>
                          <a:latin typeface="Raleway"/>
                        </a:rPr>
                        <a:t> Pak </a:t>
                      </a:r>
                      <a:r>
                        <a:rPr sz="1000" b="0" err="1">
                          <a:solidFill>
                            <a:srgbClr val="000000"/>
                          </a:solidFill>
                          <a:latin typeface="Raleway"/>
                        </a:rPr>
                        <a:t>Martua</a:t>
                      </a:r>
                      <a:r>
                        <a:rPr sz="1000" b="0">
                          <a:solidFill>
                            <a:srgbClr val="000000"/>
                          </a:solidFill>
                          <a:latin typeface="Raleway"/>
                        </a:rPr>
                        <a:t> </a:t>
                      </a:r>
                      <a:r>
                        <a:rPr sz="1000" b="0" err="1">
                          <a:solidFill>
                            <a:srgbClr val="000000"/>
                          </a:solidFill>
                          <a:latin typeface="Raleway"/>
                        </a:rPr>
                        <a:t>untuk</a:t>
                      </a:r>
                      <a:r>
                        <a:rPr sz="1000" b="0">
                          <a:solidFill>
                            <a:srgbClr val="000000"/>
                          </a:solidFill>
                          <a:latin typeface="Raleway"/>
                        </a:rPr>
                        <a:t> </a:t>
                      </a:r>
                      <a:r>
                        <a:rPr sz="1000" b="0" err="1">
                          <a:solidFill>
                            <a:srgbClr val="000000"/>
                          </a:solidFill>
                          <a:latin typeface="Raleway"/>
                        </a:rPr>
                        <a:t>kandidat</a:t>
                      </a:r>
                      <a:r>
                        <a:rPr sz="1000" b="0">
                          <a:solidFill>
                            <a:srgbClr val="000000"/>
                          </a:solidFill>
                          <a:latin typeface="Raleway"/>
                        </a:rPr>
                        <a:t> an. Bulan Wiranata </a:t>
                      </a:r>
                      <a:r>
                        <a:rPr sz="1000" b="0" err="1">
                          <a:solidFill>
                            <a:srgbClr val="000000"/>
                          </a:solidFill>
                          <a:latin typeface="Raleway"/>
                        </a:rPr>
                        <a:t>Septiani</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 Plan: Follow up approval salary pada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847926">
                <a:tc>
                  <a:txBody>
                    <a:bodyPr/>
                    <a:lstStyle/>
                    <a:p>
                      <a:pPr algn="ctr">
                        <a:lnSpc>
                          <a:spcPct val="90000"/>
                        </a:lnSpc>
                        <a:spcBef>
                          <a:spcPts val="0"/>
                        </a:spcBef>
                        <a:spcAft>
                          <a:spcPts val="0"/>
                        </a:spcAft>
                      </a:pPr>
                      <a:r>
                        <a:rPr sz="1000" b="0">
                          <a:solidFill>
                            <a:srgbClr val="000000"/>
                          </a:solidFill>
                          <a:latin typeface="Raleway"/>
                        </a:rPr>
                        <a:t>08-Dec-26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a:t>
                      </a:r>
                      <a:r>
                        <a:rPr sz="1000" b="0" err="1">
                          <a:solidFill>
                            <a:srgbClr val="000000"/>
                          </a:solidFill>
                          <a:latin typeface="Raleway"/>
                        </a:rPr>
                        <a:t>Sukabumi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Brittney</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err="1">
                          <a:solidFill>
                            <a:srgbClr val="000000"/>
                          </a:solidFill>
                          <a:latin typeface="Raleway"/>
                        </a:rPr>
                        <a:t>Pemberkasan</a:t>
                      </a:r>
                      <a:r>
                        <a:rPr sz="1000" b="0">
                          <a:solidFill>
                            <a:srgbClr val="000000"/>
                          </a:solidFill>
                          <a:latin typeface="Raleway"/>
                        </a:rPr>
                        <a:t> </a:t>
                      </a:r>
                      <a:r>
                        <a:rPr sz="1000" b="0" err="1">
                          <a:solidFill>
                            <a:srgbClr val="000000"/>
                          </a:solidFill>
                          <a:latin typeface="Raleway"/>
                        </a:rPr>
                        <a:t>kandidat</a:t>
                      </a:r>
                      <a:r>
                        <a:rPr sz="1000" b="0">
                          <a:solidFill>
                            <a:srgbClr val="000000"/>
                          </a:solidFill>
                          <a:latin typeface="Raleway"/>
                        </a:rPr>
                        <a:t> an Aji </a:t>
                      </a:r>
                      <a:r>
                        <a:rPr sz="1000" b="0" err="1">
                          <a:solidFill>
                            <a:srgbClr val="000000"/>
                          </a:solidFill>
                          <a:latin typeface="Raleway"/>
                        </a:rPr>
                        <a:t>Permana</a:t>
                      </a:r>
                      <a:r>
                        <a:rPr sz="1000" b="0">
                          <a:solidFill>
                            <a:srgbClr val="000000"/>
                          </a:solidFill>
                          <a:latin typeface="Raleway"/>
                        </a:rPr>
                        <a:t> di Week 33</a:t>
                      </a:r>
                    </a:p>
                    <a:p>
                      <a:pPr algn="l">
                        <a:lnSpc>
                          <a:spcPct val="90000"/>
                        </a:lnSpc>
                        <a:spcBef>
                          <a:spcPts val="0"/>
                        </a:spcBef>
                        <a:spcAft>
                          <a:spcPts val="0"/>
                        </a:spcAft>
                      </a:pPr>
                      <a:r>
                        <a:rPr sz="1000" b="0">
                          <a:solidFill>
                            <a:srgbClr val="000000"/>
                          </a:solidFill>
                          <a:latin typeface="Raleway"/>
                        </a:rPr>
                        <a:t>Next Action: Approval offering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826946">
                <a:tc>
                  <a:txBody>
                    <a:bodyPr/>
                    <a:lstStyle/>
                    <a:p>
                      <a:pPr algn="ctr">
                        <a:lnSpc>
                          <a:spcPct val="90000"/>
                        </a:lnSpc>
                        <a:spcBef>
                          <a:spcPts val="0"/>
                        </a:spcBef>
                        <a:spcAft>
                          <a:spcPts val="0"/>
                        </a:spcAft>
                      </a:pPr>
                      <a:r>
                        <a:rPr sz="1000" b="0">
                          <a:solidFill>
                            <a:srgbClr val="000000"/>
                          </a:solidFill>
                          <a:latin typeface="Raleway"/>
                        </a:rPr>
                        <a:t>08-Dec-26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Kudus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Brittney</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err="1">
                          <a:solidFill>
                            <a:srgbClr val="000000"/>
                          </a:solidFill>
                          <a:latin typeface="Raleway"/>
                        </a:rPr>
                        <a:t>Pemberkasan</a:t>
                      </a:r>
                      <a:r>
                        <a:rPr sz="1000" b="0">
                          <a:solidFill>
                            <a:srgbClr val="000000"/>
                          </a:solidFill>
                          <a:latin typeface="Raleway"/>
                        </a:rPr>
                        <a:t> </a:t>
                      </a:r>
                      <a:r>
                        <a:rPr sz="1000" b="0" err="1">
                          <a:solidFill>
                            <a:srgbClr val="000000"/>
                          </a:solidFill>
                          <a:latin typeface="Raleway"/>
                        </a:rPr>
                        <a:t>kandidat</a:t>
                      </a:r>
                      <a:r>
                        <a:rPr sz="1000" b="0">
                          <a:solidFill>
                            <a:srgbClr val="000000"/>
                          </a:solidFill>
                          <a:latin typeface="Raleway"/>
                        </a:rPr>
                        <a:t> an Bagus Nur Aji di Week 33</a:t>
                      </a:r>
                    </a:p>
                    <a:p>
                      <a:pPr algn="l">
                        <a:lnSpc>
                          <a:spcPct val="90000"/>
                        </a:lnSpc>
                        <a:spcBef>
                          <a:spcPts val="0"/>
                        </a:spcBef>
                        <a:spcAft>
                          <a:spcPts val="0"/>
                        </a:spcAft>
                      </a:pPr>
                      <a:r>
                        <a:rPr sz="1000" b="0">
                          <a:solidFill>
                            <a:srgbClr val="000000"/>
                          </a:solidFill>
                          <a:latin typeface="Raleway"/>
                        </a:rPr>
                        <a:t>Next Action: Approval offering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1959429">
                <a:tc>
                  <a:txBody>
                    <a:bodyPr/>
                    <a:lstStyle/>
                    <a:p>
                      <a:pPr algn="ctr">
                        <a:lnSpc>
                          <a:spcPct val="90000"/>
                        </a:lnSpc>
                        <a:spcBef>
                          <a:spcPts val="0"/>
                        </a:spcBef>
                        <a:spcAft>
                          <a:spcPts val="0"/>
                        </a:spcAft>
                      </a:pPr>
                      <a:r>
                        <a:rPr sz="1000" b="0">
                          <a:solidFill>
                            <a:srgbClr val="000000"/>
                          </a:solidFill>
                          <a:latin typeface="Raleway"/>
                        </a:rPr>
                        <a:t>31-07-2026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People &amp; Organization Development Staff</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30-08-2026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Eli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 Send DISC 80 CV pada 11 Agustus 2026: 5 </a:t>
                      </a:r>
                      <a:r>
                        <a:rPr sz="1000" b="0" err="1">
                          <a:solidFill>
                            <a:srgbClr val="000000"/>
                          </a:solidFill>
                          <a:latin typeface="Raleway"/>
                        </a:rPr>
                        <a:t>kandiat</a:t>
                      </a:r>
                      <a:r>
                        <a:rPr sz="1000" b="0">
                          <a:solidFill>
                            <a:srgbClr val="000000"/>
                          </a:solidFill>
                          <a:latin typeface="Raleway"/>
                        </a:rPr>
                        <a:t> lolos DISC Test</a:t>
                      </a:r>
                    </a:p>
                    <a:p>
                      <a:pPr algn="l">
                        <a:lnSpc>
                          <a:spcPct val="90000"/>
                        </a:lnSpc>
                        <a:spcBef>
                          <a:spcPts val="0"/>
                        </a:spcBef>
                        <a:spcAft>
                          <a:spcPts val="0"/>
                        </a:spcAft>
                      </a:pPr>
                      <a:r>
                        <a:rPr sz="1000" b="0">
                          <a:solidFill>
                            <a:srgbClr val="000000"/>
                          </a:solidFill>
                          <a:latin typeface="Raleway"/>
                        </a:rPr>
                        <a:t>- HR </a:t>
                      </a:r>
                      <a:r>
                        <a:rPr sz="1000" b="0" err="1">
                          <a:solidFill>
                            <a:srgbClr val="000000"/>
                          </a:solidFill>
                          <a:latin typeface="Raleway"/>
                        </a:rPr>
                        <a:t>INterview</a:t>
                      </a:r>
                      <a:r>
                        <a:rPr sz="1000" b="0">
                          <a:solidFill>
                            <a:srgbClr val="000000"/>
                          </a:solidFill>
                          <a:latin typeface="Raleway"/>
                        </a:rPr>
                        <a:t> 5 </a:t>
                      </a:r>
                      <a:r>
                        <a:rPr sz="1000" b="0" err="1">
                          <a:solidFill>
                            <a:srgbClr val="000000"/>
                          </a:solidFill>
                          <a:latin typeface="Raleway"/>
                        </a:rPr>
                        <a:t>kandidat</a:t>
                      </a:r>
                      <a:r>
                        <a:rPr sz="1000" b="0">
                          <a:solidFill>
                            <a:srgbClr val="000000"/>
                          </a:solidFill>
                          <a:latin typeface="Raleway"/>
                        </a:rPr>
                        <a:t> pada 12 </a:t>
                      </a:r>
                      <a:r>
                        <a:rPr sz="1000" b="0" err="1">
                          <a:solidFill>
                            <a:srgbClr val="000000"/>
                          </a:solidFill>
                          <a:latin typeface="Raleway"/>
                        </a:rPr>
                        <a:t>Agustsu</a:t>
                      </a:r>
                      <a:r>
                        <a:rPr sz="1000" b="0">
                          <a:solidFill>
                            <a:srgbClr val="000000"/>
                          </a:solidFill>
                          <a:latin typeface="Raleway"/>
                        </a:rPr>
                        <a:t> 2026: lolos 3 </a:t>
                      </a:r>
                      <a:r>
                        <a:rPr sz="1000" b="0" err="1">
                          <a:solidFill>
                            <a:srgbClr val="000000"/>
                          </a:solidFill>
                          <a:latin typeface="Raleway"/>
                        </a:rPr>
                        <a:t>kandidat</a:t>
                      </a: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 Send 3 </a:t>
                      </a:r>
                      <a:r>
                        <a:rPr sz="1000" b="0" err="1">
                          <a:solidFill>
                            <a:srgbClr val="000000"/>
                          </a:solidFill>
                          <a:latin typeface="Raleway"/>
                        </a:rPr>
                        <a:t>kandidat</a:t>
                      </a:r>
                      <a:r>
                        <a:rPr sz="1000" b="0">
                          <a:solidFill>
                            <a:srgbClr val="000000"/>
                          </a:solidFill>
                          <a:latin typeface="Raleway"/>
                        </a:rPr>
                        <a:t> to user pada 14 Agustus 2026</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 User Interview 3 </a:t>
                      </a:r>
                      <a:r>
                        <a:rPr sz="1000" b="0" err="1">
                          <a:solidFill>
                            <a:srgbClr val="000000"/>
                          </a:solidFill>
                          <a:latin typeface="Raleway"/>
                        </a:rPr>
                        <a:t>kandidat</a:t>
                      </a:r>
                      <a:r>
                        <a:rPr sz="1000" b="0">
                          <a:solidFill>
                            <a:srgbClr val="000000"/>
                          </a:solidFill>
                          <a:latin typeface="Raleway"/>
                        </a:rPr>
                        <a:t> di week 34</a:t>
                      </a:r>
                    </a:p>
                    <a:p>
                      <a:pPr algn="l">
                        <a:lnSpc>
                          <a:spcPct val="90000"/>
                        </a:lnSpc>
                        <a:spcBef>
                          <a:spcPts val="0"/>
                        </a:spcBef>
                        <a:spcAft>
                          <a:spcPts val="0"/>
                        </a:spcAft>
                      </a:pPr>
                      <a:r>
                        <a:rPr sz="1000" b="0">
                          <a:solidFill>
                            <a:srgbClr val="000000"/>
                          </a:solidFill>
                          <a:latin typeface="Raleway"/>
                        </a:rPr>
                        <a:t>- Sourcing minimal 25 CV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bl>
          </a:graphicData>
        </a:graphic>
      </p:graphicFrame>
      <p:sp>
        <p:nvSpPr>
          <p:cNvPr id="6" name="Title 1">
            <a:extLst>
              <a:ext uri="{FF2B5EF4-FFF2-40B4-BE49-F238E27FC236}">
                <a16:creationId xmlns:a16="http://schemas.microsoft.com/office/drawing/2014/main" id="{06DC310B-4AAF-D2F4-2D06-226C1A1D5CE4}"/>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Tree>
    <p:extLst>
      <p:ext uri="{BB962C8B-B14F-4D97-AF65-F5344CB8AC3E}">
        <p14:creationId xmlns:p14="http://schemas.microsoft.com/office/powerpoint/2010/main" val="2767667466"/>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graphicFrame>
        <p:nvGraphicFramePr>
          <p:cNvPr id="4" name="Table 3"/>
          <p:cNvGraphicFramePr>
            <a:graphicFrameLocks noGrp="1"/>
          </p:cNvGraphicFramePr>
          <p:nvPr/>
        </p:nvGraphicFramePr>
        <p:xfrm>
          <a:off x="182880" y="786384"/>
          <a:ext cx="11786616" cy="5614414"/>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222116">
                <a:tc>
                  <a:txBody>
                    <a:bodyPr/>
                    <a:lstStyle/>
                    <a:p>
                      <a:pPr algn="ctr">
                        <a:lnSpc>
                          <a:spcPct val="90000"/>
                        </a:lnSpc>
                        <a:spcBef>
                          <a:spcPts val="0"/>
                        </a:spcBef>
                        <a:spcAft>
                          <a:spcPts val="0"/>
                        </a:spcAft>
                      </a:pPr>
                      <a:r>
                        <a:rPr sz="1000" b="0">
                          <a:solidFill>
                            <a:srgbClr val="000000"/>
                          </a:solidFill>
                          <a:latin typeface="Raleway"/>
                        </a:rPr>
                        <a:t>08-Dec-26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Karawang</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Eli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 Send 12 CV to User pada 13 Agustus 2026</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 HR Interview dan </a:t>
                      </a:r>
                      <a:r>
                        <a:rPr sz="1000" b="0" err="1">
                          <a:solidFill>
                            <a:srgbClr val="000000"/>
                          </a:solidFill>
                          <a:latin typeface="Raleway"/>
                        </a:rPr>
                        <a:t>pemberkasan</a:t>
                      </a:r>
                      <a:r>
                        <a:rPr sz="1000" b="0">
                          <a:solidFill>
                            <a:srgbClr val="000000"/>
                          </a:solidFill>
                          <a:latin typeface="Raleway"/>
                        </a:rPr>
                        <a:t> minimal 1 </a:t>
                      </a:r>
                      <a:r>
                        <a:rPr sz="1000" b="0" err="1">
                          <a:solidFill>
                            <a:srgbClr val="000000"/>
                          </a:solidFill>
                          <a:latin typeface="Raleway"/>
                        </a:rPr>
                        <a:t>kandidat</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214652">
                <a:tc>
                  <a:txBody>
                    <a:bodyPr/>
                    <a:lstStyle/>
                    <a:p>
                      <a:pPr algn="ctr">
                        <a:lnSpc>
                          <a:spcPct val="90000"/>
                        </a:lnSpc>
                        <a:spcBef>
                          <a:spcPts val="0"/>
                        </a:spcBef>
                        <a:spcAft>
                          <a:spcPts val="0"/>
                        </a:spcAft>
                      </a:pPr>
                      <a:r>
                        <a:rPr sz="1000" b="0">
                          <a:solidFill>
                            <a:srgbClr val="000000"/>
                          </a:solidFill>
                          <a:latin typeface="Raleway"/>
                        </a:rPr>
                        <a:t>31-07-2026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a:t>
                      </a:r>
                      <a:r>
                        <a:rPr sz="1000" b="0" err="1">
                          <a:solidFill>
                            <a:srgbClr val="000000"/>
                          </a:solidFill>
                          <a:latin typeface="Raleway"/>
                        </a:rPr>
                        <a:t>Jombang</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30-08-2026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Kenthansen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M. Sohibul Salam -&gt; Withdraw</a:t>
                      </a:r>
                    </a:p>
                    <a:p>
                      <a:pPr algn="l">
                        <a:lnSpc>
                          <a:spcPct val="90000"/>
                        </a:lnSpc>
                        <a:spcBef>
                          <a:spcPts val="0"/>
                        </a:spcBef>
                        <a:spcAft>
                          <a:spcPts val="0"/>
                        </a:spcAft>
                      </a:pPr>
                      <a:r>
                        <a:rPr sz="1000" b="0">
                          <a:solidFill>
                            <a:srgbClr val="000000"/>
                          </a:solidFill>
                          <a:latin typeface="Raleway"/>
                        </a:rPr>
                        <a:t>Sent 5 CV to user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Send 10 CVs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192262">
                <a:tc>
                  <a:txBody>
                    <a:bodyPr/>
                    <a:lstStyle/>
                    <a:p>
                      <a:pPr algn="ctr">
                        <a:lnSpc>
                          <a:spcPct val="90000"/>
                        </a:lnSpc>
                        <a:spcBef>
                          <a:spcPts val="0"/>
                        </a:spcBef>
                        <a:spcAft>
                          <a:spcPts val="0"/>
                        </a:spcAft>
                      </a:pPr>
                      <a:r>
                        <a:rPr sz="1000" b="0">
                          <a:solidFill>
                            <a:srgbClr val="000000"/>
                          </a:solidFill>
                          <a:latin typeface="Raleway"/>
                        </a:rPr>
                        <a:t>31-07-2026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Bima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30-08-2026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Kenthansen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Ilham Eka -&gt; Withdraw</a:t>
                      </a:r>
                    </a:p>
                    <a:p>
                      <a:pPr algn="l">
                        <a:lnSpc>
                          <a:spcPct val="90000"/>
                        </a:lnSpc>
                        <a:spcBef>
                          <a:spcPts val="0"/>
                        </a:spcBef>
                        <a:spcAft>
                          <a:spcPts val="0"/>
                        </a:spcAft>
                      </a:pPr>
                      <a:r>
                        <a:rPr sz="1000" b="0">
                          <a:solidFill>
                            <a:srgbClr val="000000"/>
                          </a:solidFill>
                          <a:latin typeface="Raleway"/>
                        </a:rPr>
                        <a:t>Sent CV to user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Send 10 CVs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1070984">
                <a:tc>
                  <a:txBody>
                    <a:bodyPr/>
                    <a:lstStyle/>
                    <a:p>
                      <a:pPr algn="ctr">
                        <a:lnSpc>
                          <a:spcPct val="90000"/>
                        </a:lnSpc>
                        <a:spcBef>
                          <a:spcPts val="0"/>
                        </a:spcBef>
                        <a:spcAft>
                          <a:spcPts val="0"/>
                        </a:spcAft>
                      </a:pPr>
                      <a:r>
                        <a:rPr sz="1000" b="0">
                          <a:solidFill>
                            <a:srgbClr val="000000"/>
                          </a:solidFill>
                          <a:latin typeface="Raleway"/>
                        </a:rPr>
                        <a:t>31-07-2026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a:t>
                      </a:r>
                      <a:r>
                        <a:rPr sz="1000" b="0" err="1">
                          <a:solidFill>
                            <a:srgbClr val="000000"/>
                          </a:solidFill>
                          <a:latin typeface="Raleway"/>
                        </a:rPr>
                        <a:t>Samarinda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30-08-2026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Kenthansen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Sent CV to user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Send 10 CVs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bl>
          </a:graphicData>
        </a:graphic>
      </p:graphicFrame>
      <p:sp>
        <p:nvSpPr>
          <p:cNvPr id="6" name="Title 1">
            <a:extLst>
              <a:ext uri="{FF2B5EF4-FFF2-40B4-BE49-F238E27FC236}">
                <a16:creationId xmlns:a16="http://schemas.microsoft.com/office/drawing/2014/main" id="{0CDA0E3A-9D17-FD6C-6805-23D8DFC44859}"/>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Tree>
    <p:extLst>
      <p:ext uri="{BB962C8B-B14F-4D97-AF65-F5344CB8AC3E}">
        <p14:creationId xmlns:p14="http://schemas.microsoft.com/office/powerpoint/2010/main" val="2377923012"/>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graphicFrame>
        <p:nvGraphicFramePr>
          <p:cNvPr id="4" name="Table 3"/>
          <p:cNvGraphicFramePr>
            <a:graphicFrameLocks noGrp="1"/>
          </p:cNvGraphicFramePr>
          <p:nvPr/>
        </p:nvGraphicFramePr>
        <p:xfrm>
          <a:off x="182880" y="786384"/>
          <a:ext cx="11786616" cy="5614415"/>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094736">
                <a:tc>
                  <a:txBody>
                    <a:bodyPr/>
                    <a:lstStyle/>
                    <a:p>
                      <a:pPr algn="ctr">
                        <a:lnSpc>
                          <a:spcPct val="90000"/>
                        </a:lnSpc>
                        <a:spcBef>
                          <a:spcPts val="0"/>
                        </a:spcBef>
                        <a:spcAft>
                          <a:spcPts val="0"/>
                        </a:spcAft>
                      </a:pPr>
                      <a:r>
                        <a:rPr sz="1000" b="0">
                          <a:solidFill>
                            <a:srgbClr val="000000"/>
                          </a:solidFill>
                          <a:latin typeface="Raleway"/>
                        </a:rPr>
                        <a:t>31-07-2026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a:t>
                      </a:r>
                      <a:r>
                        <a:rPr sz="1000" b="0" err="1">
                          <a:solidFill>
                            <a:srgbClr val="000000"/>
                          </a:solidFill>
                          <a:latin typeface="Raleway"/>
                        </a:rPr>
                        <a:t>Nganjuk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30-08-2026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Kenthansen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Sent CV to user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Confirm </a:t>
                      </a:r>
                      <a:r>
                        <a:rPr sz="1000" b="0" err="1">
                          <a:solidFill>
                            <a:srgbClr val="000000"/>
                          </a:solidFill>
                          <a:latin typeface="Raleway"/>
                        </a:rPr>
                        <a:t>kebutuhan</a:t>
                      </a:r>
                      <a:r>
                        <a:rPr sz="1000" b="0">
                          <a:solidFill>
                            <a:srgbClr val="000000"/>
                          </a:solidFill>
                          <a:latin typeface="Raleway"/>
                        </a:rPr>
                        <a:t> FPTK dan Send 10 CVs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235930">
                <a:tc>
                  <a:txBody>
                    <a:bodyPr/>
                    <a:lstStyle/>
                    <a:p>
                      <a:pPr algn="ctr">
                        <a:lnSpc>
                          <a:spcPct val="90000"/>
                        </a:lnSpc>
                        <a:spcBef>
                          <a:spcPts val="0"/>
                        </a:spcBef>
                        <a:spcAft>
                          <a:spcPts val="0"/>
                        </a:spcAft>
                      </a:pPr>
                      <a:r>
                        <a:rPr sz="1000" b="0">
                          <a:solidFill>
                            <a:srgbClr val="000000"/>
                          </a:solidFill>
                          <a:latin typeface="Raleway"/>
                        </a:rPr>
                        <a:t>08-Nov-26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Bali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09-Oct-26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Kenthansen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Paulo </a:t>
                      </a:r>
                      <a:r>
                        <a:rPr sz="1000" b="0" err="1">
                          <a:solidFill>
                            <a:srgbClr val="000000"/>
                          </a:solidFill>
                          <a:latin typeface="Raleway"/>
                        </a:rPr>
                        <a:t>dalam</a:t>
                      </a:r>
                      <a:r>
                        <a:rPr sz="1000" b="0">
                          <a:solidFill>
                            <a:srgbClr val="000000"/>
                          </a:solidFill>
                          <a:latin typeface="Raleway"/>
                        </a:rPr>
                        <a:t> proses </a:t>
                      </a:r>
                      <a:r>
                        <a:rPr sz="1000" b="0" err="1">
                          <a:solidFill>
                            <a:srgbClr val="000000"/>
                          </a:solidFill>
                          <a:latin typeface="Raleway"/>
                        </a:rPr>
                        <a:t>pemberkasan</a:t>
                      </a:r>
                    </a:p>
                    <a:p>
                      <a:pPr algn="l">
                        <a:lnSpc>
                          <a:spcPct val="90000"/>
                        </a:lnSpc>
                        <a:spcBef>
                          <a:spcPts val="0"/>
                        </a:spcBef>
                        <a:spcAft>
                          <a:spcPts val="0"/>
                        </a:spcAft>
                      </a:pPr>
                      <a:r>
                        <a:rPr sz="1000" b="0">
                          <a:solidFill>
                            <a:srgbClr val="000000"/>
                          </a:solidFill>
                          <a:latin typeface="Raleway"/>
                        </a:rPr>
                        <a:t>Sent CV to user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Send 10 CVs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071526">
                <a:tc>
                  <a:txBody>
                    <a:bodyPr/>
                    <a:lstStyle/>
                    <a:p>
                      <a:pPr algn="ctr">
                        <a:lnSpc>
                          <a:spcPct val="90000"/>
                        </a:lnSpc>
                        <a:spcBef>
                          <a:spcPts val="0"/>
                        </a:spcBef>
                        <a:spcAft>
                          <a:spcPts val="0"/>
                        </a:spcAft>
                      </a:pPr>
                      <a:r>
                        <a:rPr sz="1000" b="0">
                          <a:solidFill>
                            <a:srgbClr val="000000"/>
                          </a:solidFill>
                          <a:latin typeface="Raleway"/>
                        </a:rPr>
                        <a:t>08-Nov-26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Bali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09-Oct-26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Kenthansen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Sent CV to user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Send 10 CVs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1297823">
                <a:tc>
                  <a:txBody>
                    <a:bodyPr/>
                    <a:lstStyle/>
                    <a:p>
                      <a:pPr algn="ctr">
                        <a:lnSpc>
                          <a:spcPct val="90000"/>
                        </a:lnSpc>
                        <a:spcBef>
                          <a:spcPts val="0"/>
                        </a:spcBef>
                        <a:spcAft>
                          <a:spcPts val="0"/>
                        </a:spcAft>
                      </a:pPr>
                      <a:r>
                        <a:rPr sz="1000" b="0">
                          <a:solidFill>
                            <a:srgbClr val="000000"/>
                          </a:solidFill>
                          <a:latin typeface="Raleway"/>
                        </a:rPr>
                        <a:t>08-Nov-26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Lombok Barat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09-Oct-26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Kenthansen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Syolaturahmidalam proses </a:t>
                      </a:r>
                      <a:r>
                        <a:rPr sz="1000" b="0" err="1">
                          <a:solidFill>
                            <a:srgbClr val="000000"/>
                          </a:solidFill>
                          <a:latin typeface="Raleway"/>
                        </a:rPr>
                        <a:t>Pemberkasan</a:t>
                      </a:r>
                    </a:p>
                    <a:p>
                      <a:pPr algn="l">
                        <a:lnSpc>
                          <a:spcPct val="90000"/>
                        </a:lnSpc>
                        <a:spcBef>
                          <a:spcPts val="0"/>
                        </a:spcBef>
                        <a:spcAft>
                          <a:spcPts val="0"/>
                        </a:spcAft>
                      </a:pPr>
                      <a:r>
                        <a:rPr sz="1000" b="0">
                          <a:solidFill>
                            <a:srgbClr val="000000"/>
                          </a:solidFill>
                          <a:latin typeface="Raleway"/>
                        </a:rPr>
                        <a:t>Sent CV to user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Send 10 CVs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bl>
          </a:graphicData>
        </a:graphic>
      </p:graphicFrame>
    </p:spTree>
    <p:extLst>
      <p:ext uri="{BB962C8B-B14F-4D97-AF65-F5344CB8AC3E}">
        <p14:creationId xmlns:p14="http://schemas.microsoft.com/office/powerpoint/2010/main" val="2093907382"/>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graphicFrame>
        <p:nvGraphicFramePr>
          <p:cNvPr id="4" name="Table 3"/>
          <p:cNvGraphicFramePr>
            <a:graphicFrameLocks noGrp="1"/>
          </p:cNvGraphicFramePr>
          <p:nvPr/>
        </p:nvGraphicFramePr>
        <p:xfrm>
          <a:off x="182880" y="786384"/>
          <a:ext cx="11786616" cy="5614415"/>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093374">
                <a:tc>
                  <a:txBody>
                    <a:bodyPr/>
                    <a:lstStyle/>
                    <a:p>
                      <a:pPr algn="ctr">
                        <a:lnSpc>
                          <a:spcPct val="90000"/>
                        </a:lnSpc>
                        <a:spcBef>
                          <a:spcPts val="0"/>
                        </a:spcBef>
                        <a:spcAft>
                          <a:spcPts val="0"/>
                        </a:spcAft>
                      </a:pPr>
                      <a:r>
                        <a:rPr sz="1000" b="0">
                          <a:solidFill>
                            <a:srgbClr val="000000"/>
                          </a:solidFill>
                          <a:latin typeface="Raleway"/>
                        </a:rPr>
                        <a:t>08-Nov-26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Lombok Barat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09-Oct-26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Kenthansen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Sent CV to user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Send 10 CVs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251969">
                <a:tc>
                  <a:txBody>
                    <a:bodyPr/>
                    <a:lstStyle/>
                    <a:p>
                      <a:pPr algn="ctr">
                        <a:lnSpc>
                          <a:spcPct val="90000"/>
                        </a:lnSpc>
                        <a:spcBef>
                          <a:spcPts val="0"/>
                        </a:spcBef>
                        <a:spcAft>
                          <a:spcPts val="0"/>
                        </a:spcAft>
                      </a:pPr>
                      <a:r>
                        <a:rPr sz="1000" b="0">
                          <a:solidFill>
                            <a:srgbClr val="000000"/>
                          </a:solidFill>
                          <a:latin typeface="Raleway"/>
                        </a:rPr>
                        <a:t>08-Nov-26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Lombok Timur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09-Oct-26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Kenthansen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Ardi </a:t>
                      </a:r>
                      <a:r>
                        <a:rPr sz="1000" b="0" err="1">
                          <a:solidFill>
                            <a:srgbClr val="000000"/>
                          </a:solidFill>
                          <a:latin typeface="Raleway"/>
                        </a:rPr>
                        <a:t>Prayuda</a:t>
                      </a:r>
                      <a:r>
                        <a:rPr sz="1000" b="0">
                          <a:solidFill>
                            <a:srgbClr val="000000"/>
                          </a:solidFill>
                          <a:latin typeface="Raleway"/>
                        </a:rPr>
                        <a:t> </a:t>
                      </a:r>
                      <a:r>
                        <a:rPr sz="1000" b="0" err="1">
                          <a:solidFill>
                            <a:srgbClr val="000000"/>
                          </a:solidFill>
                          <a:latin typeface="Raleway"/>
                        </a:rPr>
                        <a:t>dalam</a:t>
                      </a:r>
                      <a:r>
                        <a:rPr sz="1000" b="0">
                          <a:solidFill>
                            <a:srgbClr val="000000"/>
                          </a:solidFill>
                          <a:latin typeface="Raleway"/>
                        </a:rPr>
                        <a:t> proses </a:t>
                      </a:r>
                      <a:r>
                        <a:rPr sz="1000" b="0" err="1">
                          <a:solidFill>
                            <a:srgbClr val="000000"/>
                          </a:solidFill>
                          <a:latin typeface="Raleway"/>
                        </a:rPr>
                        <a:t>pemberkasan</a:t>
                      </a:r>
                    </a:p>
                    <a:p>
                      <a:pPr algn="l">
                        <a:lnSpc>
                          <a:spcPct val="90000"/>
                        </a:lnSpc>
                        <a:spcBef>
                          <a:spcPts val="0"/>
                        </a:spcBef>
                        <a:spcAft>
                          <a:spcPts val="0"/>
                        </a:spcAft>
                      </a:pPr>
                      <a:r>
                        <a:rPr sz="1000" b="0">
                          <a:solidFill>
                            <a:srgbClr val="000000"/>
                          </a:solidFill>
                          <a:latin typeface="Raleway"/>
                        </a:rPr>
                        <a:t>Sent CV to user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Send 10 CVs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244506">
                <a:tc>
                  <a:txBody>
                    <a:bodyPr/>
                    <a:lstStyle/>
                    <a:p>
                      <a:pPr algn="ctr">
                        <a:lnSpc>
                          <a:spcPct val="90000"/>
                        </a:lnSpc>
                        <a:spcBef>
                          <a:spcPts val="0"/>
                        </a:spcBef>
                        <a:spcAft>
                          <a:spcPts val="0"/>
                        </a:spcAft>
                      </a:pPr>
                      <a:r>
                        <a:rPr sz="1000" b="0">
                          <a:solidFill>
                            <a:srgbClr val="000000"/>
                          </a:solidFill>
                          <a:latin typeface="Raleway"/>
                        </a:rPr>
                        <a:t>08-Nov-26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(Frozen) - Lombok Barat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09-Oct-26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Kenthansen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Eko Sutiawan </a:t>
                      </a:r>
                      <a:r>
                        <a:rPr sz="1000" b="0" err="1">
                          <a:solidFill>
                            <a:srgbClr val="000000"/>
                          </a:solidFill>
                          <a:latin typeface="Raleway"/>
                        </a:rPr>
                        <a:t>dalam</a:t>
                      </a:r>
                      <a:r>
                        <a:rPr sz="1000" b="0">
                          <a:solidFill>
                            <a:srgbClr val="000000"/>
                          </a:solidFill>
                          <a:latin typeface="Raleway"/>
                        </a:rPr>
                        <a:t> proses </a:t>
                      </a:r>
                      <a:r>
                        <a:rPr sz="1000" b="0" err="1">
                          <a:solidFill>
                            <a:srgbClr val="000000"/>
                          </a:solidFill>
                          <a:latin typeface="Raleway"/>
                        </a:rPr>
                        <a:t>Pemberkasan</a:t>
                      </a:r>
                    </a:p>
                    <a:p>
                      <a:pPr algn="l">
                        <a:lnSpc>
                          <a:spcPct val="90000"/>
                        </a:lnSpc>
                        <a:spcBef>
                          <a:spcPts val="0"/>
                        </a:spcBef>
                        <a:spcAft>
                          <a:spcPts val="0"/>
                        </a:spcAft>
                      </a:pPr>
                      <a:r>
                        <a:rPr sz="1000" b="0">
                          <a:solidFill>
                            <a:srgbClr val="000000"/>
                          </a:solidFill>
                          <a:latin typeface="Raleway"/>
                        </a:rPr>
                        <a:t>Sent CV to user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Send 10 CVs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1110166">
                <a:tc>
                  <a:txBody>
                    <a:bodyPr/>
                    <a:lstStyle/>
                    <a:p>
                      <a:pPr algn="ctr">
                        <a:lnSpc>
                          <a:spcPct val="90000"/>
                        </a:lnSpc>
                        <a:spcBef>
                          <a:spcPts val="0"/>
                        </a:spcBef>
                        <a:spcAft>
                          <a:spcPts val="0"/>
                        </a:spcAft>
                      </a:pPr>
                      <a:r>
                        <a:rPr sz="1000" b="0">
                          <a:solidFill>
                            <a:srgbClr val="000000"/>
                          </a:solidFill>
                          <a:latin typeface="Raleway"/>
                        </a:rPr>
                        <a:t>15-07-2026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Brand Support Staff</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14-08-2026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Valen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 :</a:t>
                      </a:r>
                    </a:p>
                    <a:p>
                      <a:pPr algn="l">
                        <a:lnSpc>
                          <a:spcPct val="90000"/>
                        </a:lnSpc>
                        <a:spcBef>
                          <a:spcPts val="0"/>
                        </a:spcBef>
                        <a:spcAft>
                          <a:spcPts val="0"/>
                        </a:spcAft>
                      </a:pPr>
                      <a:r>
                        <a:rPr sz="1000" b="0">
                          <a:solidFill>
                            <a:srgbClr val="000000"/>
                          </a:solidFill>
                          <a:latin typeface="Raleway"/>
                        </a:rPr>
                        <a:t>1. Sourcing CV</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1. send cv </a:t>
                      </a:r>
                      <a:r>
                        <a:rPr sz="1000" b="0" err="1">
                          <a:solidFill>
                            <a:srgbClr val="000000"/>
                          </a:solidFill>
                          <a:latin typeface="Raleway"/>
                        </a:rPr>
                        <a:t>ke</a:t>
                      </a:r>
                      <a:r>
                        <a:rPr sz="1000" b="0">
                          <a:solidFill>
                            <a:srgbClr val="000000"/>
                          </a:solidFill>
                          <a:latin typeface="Raleway"/>
                        </a:rPr>
                        <a:t> user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bl>
          </a:graphicData>
        </a:graphic>
      </p:graphicFrame>
      <p:sp>
        <p:nvSpPr>
          <p:cNvPr id="10" name="Title 1">
            <a:extLst>
              <a:ext uri="{FF2B5EF4-FFF2-40B4-BE49-F238E27FC236}">
                <a16:creationId xmlns:a16="http://schemas.microsoft.com/office/drawing/2014/main" id="{1060823A-BA42-AAAF-80FE-6826DEF9AC93}"/>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Tree>
    <p:extLst>
      <p:ext uri="{BB962C8B-B14F-4D97-AF65-F5344CB8AC3E}">
        <p14:creationId xmlns:p14="http://schemas.microsoft.com/office/powerpoint/2010/main" val="2234115805"/>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5"/>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2353571">
                <a:tc>
                  <a:txBody>
                    <a:bodyPr/>
                    <a:lstStyle/>
                    <a:p>
                      <a:pPr algn="ctr">
                        <a:lnSpc>
                          <a:spcPct val="90000"/>
                        </a:lnSpc>
                        <a:spcBef>
                          <a:spcPts val="0"/>
                        </a:spcBef>
                        <a:spcAft>
                          <a:spcPts val="0"/>
                        </a:spcAft>
                      </a:pPr>
                      <a:r>
                        <a:rPr sz="1000" b="0">
                          <a:solidFill>
                            <a:srgbClr val="000000"/>
                          </a:solidFill>
                          <a:latin typeface="Raleway"/>
                        </a:rPr>
                        <a:t>24-06-2026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Store Leader - Mall Kota </a:t>
                      </a:r>
                      <a:r>
                        <a:rPr sz="1000" b="0" err="1">
                          <a:solidFill>
                            <a:srgbClr val="000000"/>
                          </a:solidFill>
                          <a:latin typeface="Raleway"/>
                        </a:rPr>
                        <a:t>Kasablanka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ARTHA RASA CIMORY</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24-07-2026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Eli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 Send 11 CV to User di 30 Juni 2026 – DROP</a:t>
                      </a:r>
                    </a:p>
                    <a:p>
                      <a:pPr algn="l">
                        <a:lnSpc>
                          <a:spcPct val="90000"/>
                        </a:lnSpc>
                        <a:spcBef>
                          <a:spcPts val="0"/>
                        </a:spcBef>
                        <a:spcAft>
                          <a:spcPts val="0"/>
                        </a:spcAft>
                      </a:pPr>
                      <a:r>
                        <a:rPr sz="1000" b="0">
                          <a:solidFill>
                            <a:srgbClr val="000000"/>
                          </a:solidFill>
                          <a:latin typeface="Raleway"/>
                        </a:rPr>
                        <a:t>- Send 25 CV to User di Week 28. Shortlisted 3 </a:t>
                      </a:r>
                      <a:r>
                        <a:rPr sz="1000" b="0" err="1">
                          <a:solidFill>
                            <a:srgbClr val="000000"/>
                          </a:solidFill>
                          <a:latin typeface="Raleway"/>
                        </a:rPr>
                        <a:t>kandidat</a:t>
                      </a:r>
                      <a:r>
                        <a:rPr sz="1000" b="0">
                          <a:solidFill>
                            <a:srgbClr val="000000"/>
                          </a:solidFill>
                          <a:latin typeface="Raleway"/>
                        </a:rPr>
                        <a:t>, proses </a:t>
                      </a:r>
                      <a:r>
                        <a:rPr sz="1000" b="0" err="1">
                          <a:solidFill>
                            <a:srgbClr val="000000"/>
                          </a:solidFill>
                          <a:latin typeface="Raleway"/>
                        </a:rPr>
                        <a:t>Psikotes</a:t>
                      </a:r>
                      <a:r>
                        <a:rPr sz="1000" b="0">
                          <a:solidFill>
                            <a:srgbClr val="000000"/>
                          </a:solidFill>
                          <a:latin typeface="Raleway"/>
                        </a:rPr>
                        <a:t> dan HR Interview di Week 30</a:t>
                      </a:r>
                    </a:p>
                    <a:p>
                      <a:pPr algn="l">
                        <a:lnSpc>
                          <a:spcPct val="90000"/>
                        </a:lnSpc>
                        <a:spcBef>
                          <a:spcPts val="0"/>
                        </a:spcBef>
                        <a:spcAft>
                          <a:spcPts val="0"/>
                        </a:spcAft>
                      </a:pPr>
                      <a:r>
                        <a:rPr sz="1000" b="0">
                          <a:solidFill>
                            <a:srgbClr val="000000"/>
                          </a:solidFill>
                          <a:latin typeface="Raleway"/>
                        </a:rPr>
                        <a:t>- Send LIP 15 </a:t>
                      </a:r>
                      <a:r>
                        <a:rPr sz="1000" b="0" err="1">
                          <a:solidFill>
                            <a:srgbClr val="000000"/>
                          </a:solidFill>
                          <a:latin typeface="Raleway"/>
                        </a:rPr>
                        <a:t>kandidat</a:t>
                      </a:r>
                      <a:r>
                        <a:rPr sz="1000" b="0">
                          <a:solidFill>
                            <a:srgbClr val="000000"/>
                          </a:solidFill>
                          <a:latin typeface="Raleway"/>
                        </a:rPr>
                        <a:t> di 31 Juli 2026</a:t>
                      </a:r>
                    </a:p>
                    <a:p>
                      <a:pPr algn="l">
                        <a:lnSpc>
                          <a:spcPct val="90000"/>
                        </a:lnSpc>
                        <a:spcBef>
                          <a:spcPts val="0"/>
                        </a:spcBef>
                        <a:spcAft>
                          <a:spcPts val="0"/>
                        </a:spcAft>
                      </a:pPr>
                      <a:r>
                        <a:rPr sz="1000" b="0">
                          <a:solidFill>
                            <a:srgbClr val="000000"/>
                          </a:solidFill>
                          <a:latin typeface="Raleway"/>
                        </a:rPr>
                        <a:t>- HR Interview 4 </a:t>
                      </a:r>
                      <a:r>
                        <a:rPr sz="1000" b="0" err="1">
                          <a:solidFill>
                            <a:srgbClr val="000000"/>
                          </a:solidFill>
                          <a:latin typeface="Raleway"/>
                        </a:rPr>
                        <a:t>kandidat</a:t>
                      </a:r>
                      <a:r>
                        <a:rPr sz="1000" b="0">
                          <a:solidFill>
                            <a:srgbClr val="000000"/>
                          </a:solidFill>
                          <a:latin typeface="Raleway"/>
                        </a:rPr>
                        <a:t> pada 13 Agustus 2026: lolos 1 </a:t>
                      </a:r>
                      <a:r>
                        <a:rPr sz="1000" b="0" err="1">
                          <a:solidFill>
                            <a:srgbClr val="000000"/>
                          </a:solidFill>
                          <a:latin typeface="Raleway"/>
                        </a:rPr>
                        <a:t>kandidat</a:t>
                      </a:r>
                      <a:endParaRPr sz="1000" b="0">
                        <a:solidFill>
                          <a:srgbClr val="000000"/>
                        </a:solidFill>
                        <a:latin typeface="Raleway"/>
                      </a:endParaRP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 Send minimal 15 </a:t>
                      </a:r>
                      <a:r>
                        <a:rPr sz="1000" b="0" err="1">
                          <a:solidFill>
                            <a:srgbClr val="000000"/>
                          </a:solidFill>
                          <a:latin typeface="Raleway"/>
                        </a:rPr>
                        <a:t>kandidat</a:t>
                      </a:r>
                      <a:r>
                        <a:rPr sz="1000" b="0">
                          <a:solidFill>
                            <a:srgbClr val="000000"/>
                          </a:solidFill>
                          <a:latin typeface="Raleway"/>
                        </a:rPr>
                        <a:t> di week 34</a:t>
                      </a:r>
                    </a:p>
                    <a:p>
                      <a:pPr algn="l">
                        <a:lnSpc>
                          <a:spcPct val="90000"/>
                        </a:lnSpc>
                        <a:spcBef>
                          <a:spcPts val="0"/>
                        </a:spcBef>
                        <a:spcAft>
                          <a:spcPts val="0"/>
                        </a:spcAft>
                      </a:pPr>
                      <a:r>
                        <a:rPr sz="1000" b="0">
                          <a:solidFill>
                            <a:srgbClr val="000000"/>
                          </a:solidFill>
                          <a:latin typeface="Raleway"/>
                        </a:rPr>
                        <a:t>- HR Interview minimal 10 </a:t>
                      </a:r>
                      <a:r>
                        <a:rPr sz="1000" b="0" err="1">
                          <a:solidFill>
                            <a:srgbClr val="000000"/>
                          </a:solidFill>
                          <a:latin typeface="Raleway"/>
                        </a:rPr>
                        <a:t>kandidat</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2346444">
                <a:tc>
                  <a:txBody>
                    <a:bodyPr/>
                    <a:lstStyle/>
                    <a:p>
                      <a:pPr algn="ctr">
                        <a:lnSpc>
                          <a:spcPct val="90000"/>
                        </a:lnSpc>
                        <a:spcBef>
                          <a:spcPts val="0"/>
                        </a:spcBef>
                        <a:spcAft>
                          <a:spcPts val="0"/>
                        </a:spcAft>
                      </a:pPr>
                      <a:r>
                        <a:rPr sz="1000" b="0">
                          <a:solidFill>
                            <a:srgbClr val="000000"/>
                          </a:solidFill>
                          <a:latin typeface="Raleway"/>
                        </a:rPr>
                        <a:t>24-06-2026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Store Leader - </a:t>
                      </a:r>
                      <a:r>
                        <a:rPr sz="1000" b="0" err="1">
                          <a:solidFill>
                            <a:srgbClr val="000000"/>
                          </a:solidFill>
                          <a:latin typeface="Raleway"/>
                        </a:rPr>
                        <a:t>Pakuwon</a:t>
                      </a:r>
                      <a:r>
                        <a:rPr sz="1000" b="0">
                          <a:solidFill>
                            <a:srgbClr val="000000"/>
                          </a:solidFill>
                          <a:latin typeface="Raleway"/>
                        </a:rPr>
                        <a:t> Mall Bekasi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ARTHA RASA CIMORY</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24-07-2026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Eli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 Send 11 CV to User di 30 Juni 2026 – DROP</a:t>
                      </a:r>
                    </a:p>
                    <a:p>
                      <a:pPr algn="l">
                        <a:lnSpc>
                          <a:spcPct val="90000"/>
                        </a:lnSpc>
                        <a:spcBef>
                          <a:spcPts val="0"/>
                        </a:spcBef>
                        <a:spcAft>
                          <a:spcPts val="0"/>
                        </a:spcAft>
                      </a:pPr>
                      <a:r>
                        <a:rPr sz="1000" b="0">
                          <a:solidFill>
                            <a:srgbClr val="000000"/>
                          </a:solidFill>
                          <a:latin typeface="Raleway"/>
                        </a:rPr>
                        <a:t>- Send 25 CV to User di Week 28. Shortlisted 3 </a:t>
                      </a:r>
                      <a:r>
                        <a:rPr sz="1000" b="0" err="1">
                          <a:solidFill>
                            <a:srgbClr val="000000"/>
                          </a:solidFill>
                          <a:latin typeface="Raleway"/>
                        </a:rPr>
                        <a:t>kandidat</a:t>
                      </a:r>
                      <a:r>
                        <a:rPr sz="1000" b="0">
                          <a:solidFill>
                            <a:srgbClr val="000000"/>
                          </a:solidFill>
                          <a:latin typeface="Raleway"/>
                        </a:rPr>
                        <a:t>, proses </a:t>
                      </a:r>
                      <a:r>
                        <a:rPr sz="1000" b="0" err="1">
                          <a:solidFill>
                            <a:srgbClr val="000000"/>
                          </a:solidFill>
                          <a:latin typeface="Raleway"/>
                        </a:rPr>
                        <a:t>Psikotes</a:t>
                      </a:r>
                      <a:r>
                        <a:rPr sz="1000" b="0">
                          <a:solidFill>
                            <a:srgbClr val="000000"/>
                          </a:solidFill>
                          <a:latin typeface="Raleway"/>
                        </a:rPr>
                        <a:t> dan HR Interview di Week 30</a:t>
                      </a:r>
                    </a:p>
                    <a:p>
                      <a:pPr algn="l">
                        <a:lnSpc>
                          <a:spcPct val="90000"/>
                        </a:lnSpc>
                        <a:spcBef>
                          <a:spcPts val="0"/>
                        </a:spcBef>
                        <a:spcAft>
                          <a:spcPts val="0"/>
                        </a:spcAft>
                      </a:pPr>
                      <a:r>
                        <a:rPr sz="1000" b="0">
                          <a:solidFill>
                            <a:srgbClr val="000000"/>
                          </a:solidFill>
                          <a:latin typeface="Raleway"/>
                        </a:rPr>
                        <a:t>- Send LIP 15 </a:t>
                      </a:r>
                      <a:r>
                        <a:rPr sz="1000" b="0" err="1">
                          <a:solidFill>
                            <a:srgbClr val="000000"/>
                          </a:solidFill>
                          <a:latin typeface="Raleway"/>
                        </a:rPr>
                        <a:t>kandidat</a:t>
                      </a:r>
                      <a:r>
                        <a:rPr sz="1000" b="0">
                          <a:solidFill>
                            <a:srgbClr val="000000"/>
                          </a:solidFill>
                          <a:latin typeface="Raleway"/>
                        </a:rPr>
                        <a:t> di 31 Juli 2026</a:t>
                      </a:r>
                    </a:p>
                    <a:p>
                      <a:pPr algn="l">
                        <a:lnSpc>
                          <a:spcPct val="90000"/>
                        </a:lnSpc>
                        <a:spcBef>
                          <a:spcPts val="0"/>
                        </a:spcBef>
                        <a:spcAft>
                          <a:spcPts val="0"/>
                        </a:spcAft>
                      </a:pPr>
                      <a:r>
                        <a:rPr sz="1000" b="0">
                          <a:solidFill>
                            <a:srgbClr val="000000"/>
                          </a:solidFill>
                          <a:latin typeface="Raleway"/>
                        </a:rPr>
                        <a:t>- HR Interview 4 </a:t>
                      </a:r>
                      <a:r>
                        <a:rPr sz="1000" b="0" err="1">
                          <a:solidFill>
                            <a:srgbClr val="000000"/>
                          </a:solidFill>
                          <a:latin typeface="Raleway"/>
                        </a:rPr>
                        <a:t>kandidat</a:t>
                      </a:r>
                      <a:r>
                        <a:rPr sz="1000" b="0">
                          <a:solidFill>
                            <a:srgbClr val="000000"/>
                          </a:solidFill>
                          <a:latin typeface="Raleway"/>
                        </a:rPr>
                        <a:t> pada 13 Agustus 2026: lolos 1 </a:t>
                      </a:r>
                      <a:r>
                        <a:rPr sz="1000" b="0" err="1">
                          <a:solidFill>
                            <a:srgbClr val="000000"/>
                          </a:solidFill>
                          <a:latin typeface="Raleway"/>
                        </a:rPr>
                        <a:t>kandidat</a:t>
                      </a:r>
                      <a:endParaRPr sz="1000" b="0">
                        <a:solidFill>
                          <a:srgbClr val="000000"/>
                        </a:solidFill>
                        <a:latin typeface="Raleway"/>
                      </a:endParaRP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 Send minimal 15 </a:t>
                      </a:r>
                      <a:r>
                        <a:rPr sz="1000" b="0" err="1">
                          <a:solidFill>
                            <a:srgbClr val="000000"/>
                          </a:solidFill>
                          <a:latin typeface="Raleway"/>
                        </a:rPr>
                        <a:t>kandidat</a:t>
                      </a:r>
                      <a:r>
                        <a:rPr sz="1000" b="0">
                          <a:solidFill>
                            <a:srgbClr val="000000"/>
                          </a:solidFill>
                          <a:latin typeface="Raleway"/>
                        </a:rPr>
                        <a:t> di week 34</a:t>
                      </a:r>
                    </a:p>
                    <a:p>
                      <a:pPr algn="l">
                        <a:lnSpc>
                          <a:spcPct val="90000"/>
                        </a:lnSpc>
                        <a:spcBef>
                          <a:spcPts val="0"/>
                        </a:spcBef>
                        <a:spcAft>
                          <a:spcPts val="0"/>
                        </a:spcAft>
                      </a:pPr>
                      <a:r>
                        <a:rPr sz="1000" b="0">
                          <a:solidFill>
                            <a:srgbClr val="000000"/>
                          </a:solidFill>
                          <a:latin typeface="Raleway"/>
                        </a:rPr>
                        <a:t>- HR Interview minimal 10 </a:t>
                      </a:r>
                      <a:r>
                        <a:rPr sz="1000" b="0" err="1">
                          <a:solidFill>
                            <a:srgbClr val="000000"/>
                          </a:solidFill>
                          <a:latin typeface="Raleway"/>
                        </a:rPr>
                        <a:t>kandidat</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bl>
          </a:graphicData>
        </a:graphic>
      </p:graphicFrame>
      <p:sp>
        <p:nvSpPr>
          <p:cNvPr id="6" name="Title 1">
            <a:extLst>
              <a:ext uri="{FF2B5EF4-FFF2-40B4-BE49-F238E27FC236}">
                <a16:creationId xmlns:a16="http://schemas.microsoft.com/office/drawing/2014/main" id="{0FC62210-31FB-79B4-CD3F-2C784CD6914C}"/>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40B7B0EA-AFBF-84DE-DE37-5D1EDBBEEFF1}"/>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781919251"/>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6034114" y="292608"/>
            <a:ext cx="184730" cy="261610"/>
          </a:xfrm>
          <a:prstGeom prst="rect">
            <a:avLst/>
          </a:prstGeom>
          <a:noFill/>
        </p:spPr>
        <p:txBody>
          <a:bodyPr wrap="none" lIns="91440" tIns="45720" rIns="91440" bIns="45720" anchor="t">
            <a:spAutoFit/>
          </a:bodyPr>
          <a:lstStyle/>
          <a:p>
            <a:pPr algn="ctr"/>
            <a:endParaRPr lang="en-US" sz="1100" b="1">
              <a:solidFill>
                <a:srgbClr val="000000"/>
              </a:solidFill>
              <a:latin typeface="Raleway"/>
            </a:endParaRPr>
          </a:p>
        </p:txBody>
      </p:sp>
      <p:graphicFrame>
        <p:nvGraphicFramePr>
          <p:cNvPr id="4" name="Table 3"/>
          <p:cNvGraphicFramePr>
            <a:graphicFrameLocks noGrp="1"/>
          </p:cNvGraphicFramePr>
          <p:nvPr/>
        </p:nvGraphicFramePr>
        <p:xfrm>
          <a:off x="182880" y="786384"/>
          <a:ext cx="11786616" cy="5614414"/>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910133">
                <a:tc>
                  <a:txBody>
                    <a:bodyPr/>
                    <a:lstStyle/>
                    <a:p>
                      <a:pPr algn="ctr">
                        <a:lnSpc>
                          <a:spcPct val="90000"/>
                        </a:lnSpc>
                        <a:spcBef>
                          <a:spcPts val="0"/>
                        </a:spcBef>
                        <a:spcAft>
                          <a:spcPts val="0"/>
                        </a:spcAft>
                      </a:pPr>
                      <a:r>
                        <a:rPr sz="1000" b="0">
                          <a:solidFill>
                            <a:srgbClr val="000000"/>
                          </a:solidFill>
                          <a:latin typeface="Raleway"/>
                        </a:rPr>
                        <a:t>15-06-2026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Design Staff</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15-07-2026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Karin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Kristian Adi Wijaya &amp; Aisyah DROP di 31 Juli 2026</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Send 10 CV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050153">
                <a:tc>
                  <a:txBody>
                    <a:bodyPr/>
                    <a:lstStyle/>
                    <a:p>
                      <a:pPr algn="ctr">
                        <a:lnSpc>
                          <a:spcPct val="90000"/>
                        </a:lnSpc>
                        <a:spcBef>
                          <a:spcPts val="0"/>
                        </a:spcBef>
                        <a:spcAft>
                          <a:spcPts val="0"/>
                        </a:spcAft>
                      </a:pPr>
                      <a:r>
                        <a:rPr sz="1000" b="0">
                          <a:solidFill>
                            <a:srgbClr val="000000"/>
                          </a:solidFill>
                          <a:latin typeface="Raleway"/>
                        </a:rPr>
                        <a:t>07-Feb-26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Support Staff</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08-Jan-26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Valen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 :</a:t>
                      </a:r>
                    </a:p>
                    <a:p>
                      <a:pPr algn="l">
                        <a:lnSpc>
                          <a:spcPct val="90000"/>
                        </a:lnSpc>
                        <a:spcBef>
                          <a:spcPts val="0"/>
                        </a:spcBef>
                        <a:spcAft>
                          <a:spcPts val="0"/>
                        </a:spcAft>
                      </a:pPr>
                      <a:r>
                        <a:rPr sz="1000" b="0">
                          <a:solidFill>
                            <a:srgbClr val="000000"/>
                          </a:solidFill>
                          <a:latin typeface="Raleway"/>
                        </a:rPr>
                        <a:t>1. Sourcing CV</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1. send cv </a:t>
                      </a:r>
                      <a:r>
                        <a:rPr sz="1000" b="0" err="1">
                          <a:solidFill>
                            <a:srgbClr val="000000"/>
                          </a:solidFill>
                          <a:latin typeface="Raleway"/>
                        </a:rPr>
                        <a:t>ke</a:t>
                      </a:r>
                      <a:r>
                        <a:rPr sz="1000" b="0">
                          <a:solidFill>
                            <a:srgbClr val="000000"/>
                          </a:solidFill>
                          <a:latin typeface="Raleway"/>
                        </a:rPr>
                        <a:t> user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661335">
                <a:tc>
                  <a:txBody>
                    <a:bodyPr/>
                    <a:lstStyle/>
                    <a:p>
                      <a:pPr algn="ctr">
                        <a:lnSpc>
                          <a:spcPct val="90000"/>
                        </a:lnSpc>
                        <a:spcBef>
                          <a:spcPts val="0"/>
                        </a:spcBef>
                        <a:spcAft>
                          <a:spcPts val="0"/>
                        </a:spcAft>
                      </a:pPr>
                      <a:r>
                        <a:rPr sz="1000" b="0">
                          <a:solidFill>
                            <a:srgbClr val="000000"/>
                          </a:solidFill>
                          <a:latin typeface="Raleway"/>
                        </a:rPr>
                        <a:t>20-07-2026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Facility &amp; Office </a:t>
                      </a:r>
                      <a:r>
                        <a:rPr sz="1000" b="0" err="1">
                          <a:solidFill>
                            <a:srgbClr val="000000"/>
                          </a:solidFill>
                          <a:latin typeface="Raleway"/>
                        </a:rPr>
                        <a:t>Managament</a:t>
                      </a:r>
                      <a:r>
                        <a:rPr sz="1000" b="0">
                          <a:solidFill>
                            <a:srgbClr val="000000"/>
                          </a:solidFill>
                          <a:latin typeface="Raleway"/>
                        </a:rPr>
                        <a:t> Staff</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19-08-2026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Eli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 HR Interview </a:t>
                      </a:r>
                      <a:r>
                        <a:rPr sz="1000" b="0" err="1">
                          <a:solidFill>
                            <a:srgbClr val="000000"/>
                          </a:solidFill>
                          <a:latin typeface="Raleway"/>
                        </a:rPr>
                        <a:t>a.n</a:t>
                      </a:r>
                      <a:r>
                        <a:rPr sz="1000" b="0">
                          <a:solidFill>
                            <a:srgbClr val="000000"/>
                          </a:solidFill>
                          <a:latin typeface="Raleway"/>
                        </a:rPr>
                        <a:t> Dewi </a:t>
                      </a:r>
                      <a:r>
                        <a:rPr sz="1000" b="0" err="1">
                          <a:solidFill>
                            <a:srgbClr val="000000"/>
                          </a:solidFill>
                          <a:latin typeface="Raleway"/>
                        </a:rPr>
                        <a:t>Nauli</a:t>
                      </a:r>
                      <a:r>
                        <a:rPr sz="1000" b="0">
                          <a:solidFill>
                            <a:srgbClr val="000000"/>
                          </a:solidFill>
                          <a:latin typeface="Raleway"/>
                        </a:rPr>
                        <a:t> di Week 30</a:t>
                      </a:r>
                    </a:p>
                    <a:p>
                      <a:pPr algn="l">
                        <a:lnSpc>
                          <a:spcPct val="90000"/>
                        </a:lnSpc>
                        <a:spcBef>
                          <a:spcPts val="0"/>
                        </a:spcBef>
                        <a:spcAft>
                          <a:spcPts val="0"/>
                        </a:spcAft>
                      </a:pPr>
                      <a:r>
                        <a:rPr sz="1000" b="0">
                          <a:solidFill>
                            <a:srgbClr val="000000"/>
                          </a:solidFill>
                          <a:latin typeface="Raleway"/>
                        </a:rPr>
                        <a:t>- User Interview </a:t>
                      </a:r>
                      <a:r>
                        <a:rPr sz="1000" b="0" err="1">
                          <a:solidFill>
                            <a:srgbClr val="000000"/>
                          </a:solidFill>
                          <a:latin typeface="Raleway"/>
                        </a:rPr>
                        <a:t>a.n</a:t>
                      </a:r>
                      <a:r>
                        <a:rPr sz="1000" b="0">
                          <a:solidFill>
                            <a:srgbClr val="000000"/>
                          </a:solidFill>
                          <a:latin typeface="Raleway"/>
                        </a:rPr>
                        <a:t>. Dewi Nauli pada 7 Agustus 2026: </a:t>
                      </a:r>
                      <a:r>
                        <a:rPr sz="1000" b="0" err="1">
                          <a:solidFill>
                            <a:srgbClr val="000000"/>
                          </a:solidFill>
                          <a:latin typeface="Raleway"/>
                        </a:rPr>
                        <a:t>mencari</a:t>
                      </a:r>
                      <a:r>
                        <a:rPr sz="1000" b="0">
                          <a:solidFill>
                            <a:srgbClr val="000000"/>
                          </a:solidFill>
                          <a:latin typeface="Raleway"/>
                        </a:rPr>
                        <a:t>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pembanidng</a:t>
                      </a: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 Proses approval offering 1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atas</a:t>
                      </a:r>
                      <a:r>
                        <a:rPr sz="1000" b="0">
                          <a:solidFill>
                            <a:srgbClr val="000000"/>
                          </a:solidFill>
                          <a:latin typeface="Raleway"/>
                        </a:rPr>
                        <a:t> nama Dewi </a:t>
                      </a:r>
                      <a:r>
                        <a:rPr sz="1000" b="0" err="1">
                          <a:solidFill>
                            <a:srgbClr val="000000"/>
                          </a:solidFill>
                          <a:latin typeface="Raleway"/>
                        </a:rPr>
                        <a:t>Nauli</a:t>
                      </a:r>
                      <a:endParaRPr sz="1000" b="0">
                        <a:solidFill>
                          <a:srgbClr val="000000"/>
                        </a:solidFill>
                        <a:latin typeface="Raleway"/>
                      </a:endParaRP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 Send 25 CVs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1078393">
                <a:tc>
                  <a:txBody>
                    <a:bodyPr/>
                    <a:lstStyle/>
                    <a:p>
                      <a:pPr algn="ctr">
                        <a:lnSpc>
                          <a:spcPct val="90000"/>
                        </a:lnSpc>
                        <a:spcBef>
                          <a:spcPts val="0"/>
                        </a:spcBef>
                        <a:spcAft>
                          <a:spcPts val="0"/>
                        </a:spcAft>
                      </a:pPr>
                      <a:r>
                        <a:rPr sz="1000" b="0">
                          <a:solidFill>
                            <a:srgbClr val="000000"/>
                          </a:solidFill>
                          <a:latin typeface="Raleway"/>
                        </a:rPr>
                        <a:t>20-07-2026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HRGA Operation Staff - Engineering</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19-08-2026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Kevin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send 8 </a:t>
                      </a:r>
                      <a:r>
                        <a:rPr sz="1000" b="0" err="1">
                          <a:solidFill>
                            <a:srgbClr val="000000"/>
                          </a:solidFill>
                          <a:latin typeface="Raleway"/>
                        </a:rPr>
                        <a:t>Cv</a:t>
                      </a:r>
                      <a:r>
                        <a:rPr sz="1000" b="0">
                          <a:solidFill>
                            <a:srgbClr val="000000"/>
                          </a:solidFill>
                          <a:latin typeface="Raleway"/>
                        </a:rPr>
                        <a:t> to user Week 33</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1. HR Interview + </a:t>
                      </a:r>
                      <a:r>
                        <a:rPr sz="1000" b="0" err="1">
                          <a:solidFill>
                            <a:srgbClr val="000000"/>
                          </a:solidFill>
                          <a:latin typeface="Raleway"/>
                        </a:rPr>
                        <a:t>Psikotes</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bl>
          </a:graphicData>
        </a:graphic>
      </p:graphicFrame>
      <p:sp>
        <p:nvSpPr>
          <p:cNvPr id="6" name="Title 1">
            <a:extLst>
              <a:ext uri="{FF2B5EF4-FFF2-40B4-BE49-F238E27FC236}">
                <a16:creationId xmlns:a16="http://schemas.microsoft.com/office/drawing/2014/main" id="{F5633866-3D56-D820-456A-E95ABA094912}"/>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EE071678-A60D-204F-AE6B-72606D78CA06}"/>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3748161632"/>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137160" y="6419088"/>
            <a:ext cx="10515600" cy="228600"/>
          </a:xfrm>
          <a:prstGeom prst="rect">
            <a:avLst/>
          </a:prstGeom>
          <a:noFill/>
        </p:spPr>
        <p:txBody>
          <a:bodyPr wrap="none">
            <a:spAutoFit/>
          </a:bodyPr>
          <a:lstStyle/>
          <a:p>
            <a:r>
              <a:rPr sz="500" i="1">
                <a:solidFill>
                  <a:srgbClr val="000000"/>
                </a:solidFill>
                <a:latin typeface="Raleway"/>
              </a:rPr>
              <a:t>* Update per tanggal 14 Agustus 2026</a:t>
            </a:r>
          </a:p>
        </p:txBody>
      </p:sp>
      <p:graphicFrame>
        <p:nvGraphicFramePr>
          <p:cNvPr id="4" name="Table 3"/>
          <p:cNvGraphicFramePr>
            <a:graphicFrameLocks noGrp="1"/>
          </p:cNvGraphicFramePr>
          <p:nvPr/>
        </p:nvGraphicFramePr>
        <p:xfrm>
          <a:off x="182880" y="786384"/>
          <a:ext cx="11786616" cy="5614414"/>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201552">
                <a:tc>
                  <a:txBody>
                    <a:bodyPr/>
                    <a:lstStyle/>
                    <a:p>
                      <a:pPr algn="ctr">
                        <a:lnSpc>
                          <a:spcPct val="90000"/>
                        </a:lnSpc>
                        <a:spcBef>
                          <a:spcPts val="0"/>
                        </a:spcBef>
                        <a:spcAft>
                          <a:spcPts val="0"/>
                        </a:spcAft>
                      </a:pPr>
                      <a:r>
                        <a:rPr sz="1000" b="0">
                          <a:solidFill>
                            <a:srgbClr val="000000"/>
                          </a:solidFill>
                          <a:latin typeface="Raleway"/>
                        </a:rPr>
                        <a:t>20-07-2026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HRGA Operation Staff - Engineering</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19-08-2026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Kevin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send 8 </a:t>
                      </a:r>
                      <a:r>
                        <a:rPr sz="1000" b="0" err="1">
                          <a:solidFill>
                            <a:srgbClr val="000000"/>
                          </a:solidFill>
                          <a:latin typeface="Raleway"/>
                        </a:rPr>
                        <a:t>Cv</a:t>
                      </a:r>
                      <a:r>
                        <a:rPr sz="1000" b="0">
                          <a:solidFill>
                            <a:srgbClr val="000000"/>
                          </a:solidFill>
                          <a:latin typeface="Raleway"/>
                        </a:rPr>
                        <a:t> to user Week 33</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1. HR Interview + </a:t>
                      </a:r>
                      <a:r>
                        <a:rPr sz="1000" b="0" err="1">
                          <a:solidFill>
                            <a:srgbClr val="000000"/>
                          </a:solidFill>
                          <a:latin typeface="Raleway"/>
                        </a:rPr>
                        <a:t>Psikotes</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201552">
                <a:tc>
                  <a:txBody>
                    <a:bodyPr/>
                    <a:lstStyle/>
                    <a:p>
                      <a:pPr algn="ctr">
                        <a:lnSpc>
                          <a:spcPct val="90000"/>
                        </a:lnSpc>
                        <a:spcBef>
                          <a:spcPts val="0"/>
                        </a:spcBef>
                        <a:spcAft>
                          <a:spcPts val="0"/>
                        </a:spcAft>
                      </a:pPr>
                      <a:r>
                        <a:rPr sz="1000" b="0">
                          <a:solidFill>
                            <a:srgbClr val="000000"/>
                          </a:solidFill>
                          <a:latin typeface="Raleway"/>
                        </a:rPr>
                        <a:t>20-07-2026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HRGA Operation Staff - Engineering</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19-08-2026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Kevin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send 8 </a:t>
                      </a:r>
                      <a:r>
                        <a:rPr sz="1000" b="0" err="1">
                          <a:solidFill>
                            <a:srgbClr val="000000"/>
                          </a:solidFill>
                          <a:latin typeface="Raleway"/>
                        </a:rPr>
                        <a:t>Cv</a:t>
                      </a:r>
                      <a:r>
                        <a:rPr sz="1000" b="0">
                          <a:solidFill>
                            <a:srgbClr val="000000"/>
                          </a:solidFill>
                          <a:latin typeface="Raleway"/>
                        </a:rPr>
                        <a:t> to user Week 33</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1. HR Interview + </a:t>
                      </a:r>
                      <a:r>
                        <a:rPr sz="1000" b="0" err="1">
                          <a:solidFill>
                            <a:srgbClr val="000000"/>
                          </a:solidFill>
                          <a:latin typeface="Raleway"/>
                        </a:rPr>
                        <a:t>Psikotes</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160254">
                <a:tc>
                  <a:txBody>
                    <a:bodyPr/>
                    <a:lstStyle/>
                    <a:p>
                      <a:pPr algn="ctr">
                        <a:lnSpc>
                          <a:spcPct val="90000"/>
                        </a:lnSpc>
                        <a:spcBef>
                          <a:spcPts val="0"/>
                        </a:spcBef>
                        <a:spcAft>
                          <a:spcPts val="0"/>
                        </a:spcAft>
                      </a:pPr>
                      <a:r>
                        <a:rPr sz="1000" b="0">
                          <a:solidFill>
                            <a:srgbClr val="000000"/>
                          </a:solidFill>
                          <a:latin typeface="Raleway"/>
                        </a:rPr>
                        <a:t>14-07-2026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a:t>
                      </a:r>
                      <a:r>
                        <a:rPr sz="1000" b="0" err="1">
                          <a:solidFill>
                            <a:srgbClr val="000000"/>
                          </a:solidFill>
                          <a:latin typeface="Raleway"/>
                        </a:rPr>
                        <a:t>Lubuk</a:t>
                      </a:r>
                      <a:r>
                        <a:rPr sz="1000" b="0">
                          <a:solidFill>
                            <a:srgbClr val="000000"/>
                          </a:solidFill>
                          <a:latin typeface="Raleway"/>
                        </a:rPr>
                        <a:t> </a:t>
                      </a:r>
                      <a:r>
                        <a:rPr sz="1000" b="0" err="1">
                          <a:solidFill>
                            <a:srgbClr val="000000"/>
                          </a:solidFill>
                          <a:latin typeface="Raleway"/>
                        </a:rPr>
                        <a:t>Linggau</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13-08-2026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Zwei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Approval Offering </a:t>
                      </a:r>
                      <a:r>
                        <a:rPr sz="1000" b="0" err="1">
                          <a:solidFill>
                            <a:srgbClr val="000000"/>
                          </a:solidFill>
                          <a:latin typeface="Raleway"/>
                        </a:rPr>
                        <a:t>a.n</a:t>
                      </a:r>
                      <a:r>
                        <a:rPr sz="1000" b="0">
                          <a:solidFill>
                            <a:srgbClr val="000000"/>
                          </a:solidFill>
                          <a:latin typeface="Raleway"/>
                        </a:rPr>
                        <a:t> </a:t>
                      </a:r>
                      <a:r>
                        <a:rPr sz="1000" b="0" err="1">
                          <a:solidFill>
                            <a:srgbClr val="000000"/>
                          </a:solidFill>
                          <a:latin typeface="Raleway"/>
                        </a:rPr>
                        <a:t>DIcky</a:t>
                      </a:r>
                      <a:r>
                        <a:rPr sz="1000" b="0">
                          <a:solidFill>
                            <a:srgbClr val="000000"/>
                          </a:solidFill>
                          <a:latin typeface="Raleway"/>
                        </a:rPr>
                        <a:t> </a:t>
                      </a:r>
                      <a:r>
                        <a:rPr sz="1000" b="0" err="1">
                          <a:solidFill>
                            <a:srgbClr val="000000"/>
                          </a:solidFill>
                          <a:latin typeface="Raleway"/>
                        </a:rPr>
                        <a:t>Syaputra</a:t>
                      </a:r>
                      <a:r>
                        <a:rPr sz="1000" b="0">
                          <a:solidFill>
                            <a:srgbClr val="000000"/>
                          </a:solidFill>
                          <a:latin typeface="Raleway"/>
                        </a:rPr>
                        <a:t> di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Offering </a:t>
                      </a:r>
                      <a:r>
                        <a:rPr sz="1000" b="0" err="1">
                          <a:solidFill>
                            <a:srgbClr val="000000"/>
                          </a:solidFill>
                          <a:latin typeface="Raleway"/>
                        </a:rPr>
                        <a:t>a.n</a:t>
                      </a:r>
                      <a:r>
                        <a:rPr sz="1000" b="0">
                          <a:solidFill>
                            <a:srgbClr val="000000"/>
                          </a:solidFill>
                          <a:latin typeface="Raleway"/>
                        </a:rPr>
                        <a:t> Dicky Syaputra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1136656">
                <a:tc>
                  <a:txBody>
                    <a:bodyPr/>
                    <a:lstStyle/>
                    <a:p>
                      <a:pPr algn="ctr">
                        <a:lnSpc>
                          <a:spcPct val="90000"/>
                        </a:lnSpc>
                        <a:spcBef>
                          <a:spcPts val="0"/>
                        </a:spcBef>
                        <a:spcAft>
                          <a:spcPts val="0"/>
                        </a:spcAft>
                      </a:pPr>
                      <a:r>
                        <a:rPr sz="1000" b="0">
                          <a:solidFill>
                            <a:srgbClr val="000000"/>
                          </a:solidFill>
                          <a:latin typeface="Raleway"/>
                        </a:rPr>
                        <a:t>08-May-26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(Frozen) - Lhokseumawe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09-Apr-26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Zwei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HR Interview &amp; </a:t>
                      </a:r>
                      <a:r>
                        <a:rPr sz="1000" b="0" err="1">
                          <a:solidFill>
                            <a:srgbClr val="000000"/>
                          </a:solidFill>
                          <a:latin typeface="Raleway"/>
                        </a:rPr>
                        <a:t>Pemberkasan</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bl>
          </a:graphicData>
        </a:graphic>
      </p:graphicFrame>
      <p:sp>
        <p:nvSpPr>
          <p:cNvPr id="6" name="Title 1">
            <a:extLst>
              <a:ext uri="{FF2B5EF4-FFF2-40B4-BE49-F238E27FC236}">
                <a16:creationId xmlns:a16="http://schemas.microsoft.com/office/drawing/2014/main" id="{3068D4E1-CD5C-F33D-B329-AA468E3BBAD1}"/>
              </a:ext>
            </a:extLst>
          </p:cNvPr>
          <p:cNvSpPr txBox="1">
            <a:spLocks/>
          </p:cNvSpPr>
          <p:nvPr/>
        </p:nvSpPr>
        <p:spPr>
          <a:xfrm>
            <a:off x="1599579" y="186595"/>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47876865-74EA-D8A4-2BA3-0B96B4E263AA}"/>
              </a:ext>
            </a:extLst>
          </p:cNvPr>
          <p:cNvSpPr txBox="1"/>
          <p:nvPr/>
        </p:nvSpPr>
        <p:spPr>
          <a:xfrm>
            <a:off x="137160" y="6427026"/>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1219292683"/>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4"/>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219267">
                <a:tc>
                  <a:txBody>
                    <a:bodyPr/>
                    <a:lstStyle/>
                    <a:p>
                      <a:pPr algn="ctr">
                        <a:lnSpc>
                          <a:spcPct val="90000"/>
                        </a:lnSpc>
                        <a:spcBef>
                          <a:spcPts val="0"/>
                        </a:spcBef>
                        <a:spcAft>
                          <a:spcPts val="0"/>
                        </a:spcAft>
                      </a:pPr>
                      <a:r>
                        <a:rPr sz="1000" b="0">
                          <a:solidFill>
                            <a:srgbClr val="000000"/>
                          </a:solidFill>
                          <a:latin typeface="Raleway"/>
                        </a:rPr>
                        <a:t>08-May-26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Tangerang Selatan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09-Apr-26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Zwei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Send CV to User di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195123">
                <a:tc>
                  <a:txBody>
                    <a:bodyPr/>
                    <a:lstStyle/>
                    <a:p>
                      <a:pPr algn="ctr">
                        <a:lnSpc>
                          <a:spcPct val="90000"/>
                        </a:lnSpc>
                        <a:spcBef>
                          <a:spcPts val="0"/>
                        </a:spcBef>
                        <a:spcAft>
                          <a:spcPts val="0"/>
                        </a:spcAft>
                      </a:pPr>
                      <a:r>
                        <a:rPr sz="1000" b="0">
                          <a:solidFill>
                            <a:srgbClr val="000000"/>
                          </a:solidFill>
                          <a:latin typeface="Raleway"/>
                        </a:rPr>
                        <a:t>14-07-2026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Tangerang Kota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13-08-2026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Zwei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Send CV to User di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130740">
                <a:tc>
                  <a:txBody>
                    <a:bodyPr/>
                    <a:lstStyle/>
                    <a:p>
                      <a:pPr algn="ctr">
                        <a:lnSpc>
                          <a:spcPct val="90000"/>
                        </a:lnSpc>
                        <a:spcBef>
                          <a:spcPts val="0"/>
                        </a:spcBef>
                        <a:spcAft>
                          <a:spcPts val="0"/>
                        </a:spcAft>
                      </a:pPr>
                      <a:r>
                        <a:rPr sz="1000" b="0">
                          <a:solidFill>
                            <a:srgbClr val="000000"/>
                          </a:solidFill>
                          <a:latin typeface="Raleway"/>
                        </a:rPr>
                        <a:t>30-07-2026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Subang</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29-08-2026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Zwei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HR Interview &amp; </a:t>
                      </a:r>
                      <a:r>
                        <a:rPr sz="1000" b="0" err="1">
                          <a:solidFill>
                            <a:srgbClr val="000000"/>
                          </a:solidFill>
                          <a:latin typeface="Raleway"/>
                        </a:rPr>
                        <a:t>Pemberkasan</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1154884">
                <a:tc>
                  <a:txBody>
                    <a:bodyPr/>
                    <a:lstStyle/>
                    <a:p>
                      <a:pPr algn="ctr">
                        <a:lnSpc>
                          <a:spcPct val="90000"/>
                        </a:lnSpc>
                        <a:spcBef>
                          <a:spcPts val="0"/>
                        </a:spcBef>
                        <a:spcAft>
                          <a:spcPts val="0"/>
                        </a:spcAft>
                      </a:pPr>
                      <a:r>
                        <a:rPr sz="1000" b="0">
                          <a:solidFill>
                            <a:srgbClr val="000000"/>
                          </a:solidFill>
                          <a:latin typeface="Raleway"/>
                        </a:rPr>
                        <a:t>22-07-2026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a:t>
                      </a:r>
                      <a:r>
                        <a:rPr sz="1000" b="0" err="1">
                          <a:solidFill>
                            <a:srgbClr val="000000"/>
                          </a:solidFill>
                          <a:latin typeface="Raleway"/>
                        </a:rPr>
                        <a:t>Pekanbaru</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21-08-2026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Zwei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HR Interview &amp; </a:t>
                      </a:r>
                      <a:r>
                        <a:rPr sz="1000" b="0" err="1">
                          <a:solidFill>
                            <a:srgbClr val="000000"/>
                          </a:solidFill>
                          <a:latin typeface="Raleway"/>
                        </a:rPr>
                        <a:t>Pemberkasan</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bl>
          </a:graphicData>
        </a:graphic>
      </p:graphicFrame>
      <p:sp>
        <p:nvSpPr>
          <p:cNvPr id="6" name="Title 1">
            <a:extLst>
              <a:ext uri="{FF2B5EF4-FFF2-40B4-BE49-F238E27FC236}">
                <a16:creationId xmlns:a16="http://schemas.microsoft.com/office/drawing/2014/main" id="{181F04E8-D203-AE26-3E43-56B8FE11B68A}"/>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15265EFA-15C9-642B-EC0F-358BB648C5B1}"/>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2883242881"/>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358381"/>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500" b="1" err="1">
                          <a:solidFill>
                            <a:srgbClr val="FFFFFF"/>
                          </a:solidFill>
                          <a:latin typeface="Raleway"/>
                        </a:rPr>
                        <a:t>Tanggal</a:t>
                      </a:r>
                    </a:p>
                    <a:p>
                      <a:pPr algn="ctr">
                        <a:lnSpc>
                          <a:spcPct val="90000"/>
                        </a:lnSpc>
                        <a:spcBef>
                          <a:spcPts val="0"/>
                        </a:spcBef>
                        <a:spcAft>
                          <a:spcPts val="0"/>
                        </a:spcAft>
                      </a:pPr>
                      <a:r>
                        <a:rPr sz="509"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5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509"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509" b="1">
                          <a:solidFill>
                            <a:srgbClr val="FFFFFF"/>
                          </a:solidFill>
                          <a:latin typeface="Raleway"/>
                        </a:rPr>
                        <a:t>Business</a:t>
                      </a:r>
                    </a:p>
                    <a:p>
                      <a:pPr algn="ctr">
                        <a:lnSpc>
                          <a:spcPct val="90000"/>
                        </a:lnSpc>
                        <a:spcBef>
                          <a:spcPts val="0"/>
                        </a:spcBef>
                        <a:spcAft>
                          <a:spcPts val="0"/>
                        </a:spcAft>
                      </a:pPr>
                      <a:r>
                        <a:rPr sz="509"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5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509" b="1">
                          <a:solidFill>
                            <a:srgbClr val="FFFFFF"/>
                          </a:solidFill>
                          <a:latin typeface="Raleway"/>
                        </a:rPr>
                        <a:t>SLA</a:t>
                      </a:r>
                    </a:p>
                    <a:p>
                      <a:pPr algn="ctr">
                        <a:lnSpc>
                          <a:spcPct val="90000"/>
                        </a:lnSpc>
                        <a:spcBef>
                          <a:spcPts val="0"/>
                        </a:spcBef>
                        <a:spcAft>
                          <a:spcPts val="0"/>
                        </a:spcAft>
                      </a:pPr>
                      <a:r>
                        <a:rPr sz="509" b="1">
                          <a:solidFill>
                            <a:srgbClr val="FFFFFF"/>
                          </a:solidFill>
                          <a:latin typeface="Raleway"/>
                        </a:rPr>
                        <a:t>Target</a:t>
                      </a:r>
                    </a:p>
                    <a:p>
                      <a:pPr algn="ctr">
                        <a:lnSpc>
                          <a:spcPct val="90000"/>
                        </a:lnSpc>
                        <a:spcBef>
                          <a:spcPts val="0"/>
                        </a:spcBef>
                        <a:spcAft>
                          <a:spcPts val="0"/>
                        </a:spcAft>
                      </a:pPr>
                      <a:r>
                        <a:rPr sz="500" b="1" err="1">
                          <a:solidFill>
                            <a:srgbClr val="FFFFFF"/>
                          </a:solidFill>
                          <a:latin typeface="Raleway"/>
                        </a:rPr>
                        <a:t>Pemenuhan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509"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500" b="1" err="1">
                          <a:solidFill>
                            <a:srgbClr val="FFFFFF"/>
                          </a:solidFill>
                          <a:latin typeface="Raleway"/>
                        </a:rPr>
                        <a:t>Jumlah</a:t>
                      </a:r>
                    </a:p>
                    <a:p>
                      <a:pPr algn="ctr">
                        <a:lnSpc>
                          <a:spcPct val="90000"/>
                        </a:lnSpc>
                        <a:spcBef>
                          <a:spcPts val="0"/>
                        </a:spcBef>
                        <a:spcAft>
                          <a:spcPts val="0"/>
                        </a:spcAft>
                      </a:pPr>
                      <a:r>
                        <a:rPr sz="500" b="1" err="1">
                          <a:solidFill>
                            <a:srgbClr val="FFFFFF"/>
                          </a:solidFill>
                          <a:latin typeface="Raleway"/>
                        </a:rPr>
                        <a:t>Permintaan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509" b="1">
                          <a:solidFill>
                            <a:srgbClr val="FFFFFF"/>
                          </a:solidFill>
                          <a:latin typeface="Raleway"/>
                        </a:rPr>
                        <a:t>Status</a:t>
                      </a:r>
                    </a:p>
                    <a:p>
                      <a:pPr algn="ctr">
                        <a:lnSpc>
                          <a:spcPct val="90000"/>
                        </a:lnSpc>
                        <a:spcBef>
                          <a:spcPts val="0"/>
                        </a:spcBef>
                        <a:spcAft>
                          <a:spcPts val="0"/>
                        </a:spcAft>
                      </a:pPr>
                      <a:r>
                        <a:rPr sz="500" b="1" err="1">
                          <a:solidFill>
                            <a:srgbClr val="FFFFFF"/>
                          </a:solidFill>
                          <a:latin typeface="Raleway"/>
                        </a:rPr>
                        <a:t>Rekrutmen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509"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127529">
                <a:tc>
                  <a:txBody>
                    <a:bodyPr/>
                    <a:lstStyle/>
                    <a:p>
                      <a:pPr algn="ctr">
                        <a:lnSpc>
                          <a:spcPct val="90000"/>
                        </a:lnSpc>
                        <a:spcBef>
                          <a:spcPts val="0"/>
                        </a:spcBef>
                        <a:spcAft>
                          <a:spcPts val="0"/>
                        </a:spcAft>
                      </a:pPr>
                      <a:r>
                        <a:rPr sz="500" b="0">
                          <a:solidFill>
                            <a:srgbClr val="000000"/>
                          </a:solidFill>
                          <a:latin typeface="Raleway"/>
                        </a:rPr>
                        <a:t>07-Feb-26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450" b="0">
                          <a:solidFill>
                            <a:srgbClr val="000000"/>
                          </a:solidFill>
                          <a:latin typeface="Raleway"/>
                        </a:rPr>
                        <a:t>Sales Taking Order Staff (Frozen) - </a:t>
                      </a:r>
                      <a:r>
                        <a:rPr sz="450" b="0" err="1">
                          <a:solidFill>
                            <a:srgbClr val="000000"/>
                          </a:solidFill>
                          <a:latin typeface="Raleway"/>
                        </a:rPr>
                        <a:t>Kabanjahe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5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5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5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500" b="0">
                          <a:solidFill>
                            <a:srgbClr val="000000"/>
                          </a:solidFill>
                          <a:latin typeface="Raleway"/>
                        </a:rPr>
                        <a:t>08-Jan-26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500" b="0">
                          <a:solidFill>
                            <a:srgbClr val="000000"/>
                          </a:solidFill>
                          <a:latin typeface="Raleway"/>
                        </a:rPr>
                        <a:t>Zwei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5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5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450" b="0">
                          <a:solidFill>
                            <a:srgbClr val="000000"/>
                          </a:solidFill>
                          <a:latin typeface="Raleway"/>
                        </a:rPr>
                        <a:t>&gt; Follow up User </a:t>
                      </a:r>
                      <a:r>
                        <a:rPr sz="450" b="0" err="1">
                          <a:solidFill>
                            <a:srgbClr val="000000"/>
                          </a:solidFill>
                          <a:latin typeface="Raleway"/>
                        </a:rPr>
                        <a:t>terkait</a:t>
                      </a:r>
                      <a:r>
                        <a:rPr sz="450" b="0">
                          <a:solidFill>
                            <a:srgbClr val="000000"/>
                          </a:solidFill>
                          <a:latin typeface="Raleway"/>
                        </a:rPr>
                        <a:t> feedback </a:t>
                      </a:r>
                      <a:r>
                        <a:rPr sz="450" b="0" err="1">
                          <a:solidFill>
                            <a:srgbClr val="000000"/>
                          </a:solidFill>
                          <a:latin typeface="Raleway"/>
                        </a:rPr>
                        <a:t>hasil</a:t>
                      </a:r>
                      <a:r>
                        <a:rPr sz="450" b="0">
                          <a:solidFill>
                            <a:srgbClr val="000000"/>
                          </a:solidFill>
                          <a:latin typeface="Raleway"/>
                        </a:rPr>
                        <a:t> HR Interview di Week 33</a:t>
                      </a:r>
                    </a:p>
                    <a:p>
                      <a:pPr algn="l">
                        <a:lnSpc>
                          <a:spcPct val="90000"/>
                        </a:lnSpc>
                        <a:spcBef>
                          <a:spcPts val="0"/>
                        </a:spcBef>
                        <a:spcAft>
                          <a:spcPts val="0"/>
                        </a:spcAft>
                      </a:pPr>
                      <a:r>
                        <a:rPr sz="490" b="0">
                          <a:solidFill>
                            <a:srgbClr val="000000"/>
                          </a:solidFill>
                          <a:latin typeface="Raleway"/>
                        </a:rPr>
                        <a:t>Next Action:</a:t>
                      </a:r>
                    </a:p>
                    <a:p>
                      <a:pPr algn="l">
                        <a:lnSpc>
                          <a:spcPct val="90000"/>
                        </a:lnSpc>
                        <a:spcBef>
                          <a:spcPts val="0"/>
                        </a:spcBef>
                        <a:spcAft>
                          <a:spcPts val="0"/>
                        </a:spcAft>
                      </a:pPr>
                      <a:r>
                        <a:rPr sz="450" b="0">
                          <a:solidFill>
                            <a:srgbClr val="000000"/>
                          </a:solidFill>
                          <a:latin typeface="Raleway"/>
                        </a:rPr>
                        <a:t>&gt; </a:t>
                      </a:r>
                      <a:r>
                        <a:rPr sz="450" b="0" err="1">
                          <a:solidFill>
                            <a:srgbClr val="000000"/>
                          </a:solidFill>
                          <a:latin typeface="Raleway"/>
                        </a:rPr>
                        <a:t>Pemberkasan</a:t>
                      </a:r>
                      <a:r>
                        <a:rPr sz="450" b="0">
                          <a:solidFill>
                            <a:srgbClr val="000000"/>
                          </a:solidFill>
                          <a:latin typeface="Raleway"/>
                        </a:rPr>
                        <a:t> &amp; Reference Check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190828">
                <a:tc>
                  <a:txBody>
                    <a:bodyPr/>
                    <a:lstStyle/>
                    <a:p>
                      <a:pPr algn="ctr">
                        <a:lnSpc>
                          <a:spcPct val="90000"/>
                        </a:lnSpc>
                        <a:spcBef>
                          <a:spcPts val="0"/>
                        </a:spcBef>
                        <a:spcAft>
                          <a:spcPts val="0"/>
                        </a:spcAft>
                      </a:pPr>
                      <a:r>
                        <a:rPr sz="500" b="0">
                          <a:solidFill>
                            <a:srgbClr val="000000"/>
                          </a:solidFill>
                          <a:latin typeface="Raleway"/>
                        </a:rPr>
                        <a:t>28-07-2026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450" b="0">
                          <a:solidFill>
                            <a:srgbClr val="000000"/>
                          </a:solidFill>
                          <a:latin typeface="Raleway"/>
                        </a:rPr>
                        <a:t>Sales Taking Order Staff (Chilled) - Bekasi </a:t>
                      </a:r>
                      <a:r>
                        <a:rPr sz="450" b="0" err="1">
                          <a:solidFill>
                            <a:srgbClr val="000000"/>
                          </a:solidFill>
                          <a:latin typeface="Raleway"/>
                        </a:rPr>
                        <a:t>Kabupaten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5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5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5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500" b="0">
                          <a:solidFill>
                            <a:srgbClr val="000000"/>
                          </a:solidFill>
                          <a:latin typeface="Raleway"/>
                        </a:rPr>
                        <a:t>27-08-2026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500" b="0">
                          <a:solidFill>
                            <a:srgbClr val="000000"/>
                          </a:solidFill>
                          <a:latin typeface="Raleway"/>
                        </a:rPr>
                        <a:t>Zwei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5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5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490" b="0">
                          <a:solidFill>
                            <a:srgbClr val="000000"/>
                          </a:solidFill>
                          <a:latin typeface="Raleway"/>
                        </a:rPr>
                        <a:t>&gt; Send CV to User di Week 33</a:t>
                      </a:r>
                    </a:p>
                    <a:p>
                      <a:pPr algn="l">
                        <a:lnSpc>
                          <a:spcPct val="90000"/>
                        </a:lnSpc>
                        <a:spcBef>
                          <a:spcPts val="0"/>
                        </a:spcBef>
                        <a:spcAft>
                          <a:spcPts val="0"/>
                        </a:spcAft>
                      </a:pPr>
                      <a:r>
                        <a:rPr sz="490" b="0">
                          <a:solidFill>
                            <a:srgbClr val="000000"/>
                          </a:solidFill>
                          <a:latin typeface="Raleway"/>
                        </a:rPr>
                        <a:t>Next Action:</a:t>
                      </a:r>
                    </a:p>
                    <a:p>
                      <a:pPr algn="l">
                        <a:lnSpc>
                          <a:spcPct val="90000"/>
                        </a:lnSpc>
                        <a:spcBef>
                          <a:spcPts val="0"/>
                        </a:spcBef>
                        <a:spcAft>
                          <a:spcPts val="0"/>
                        </a:spcAft>
                      </a:pPr>
                      <a:r>
                        <a:rPr sz="450" b="0">
                          <a:solidFill>
                            <a:srgbClr val="000000"/>
                          </a:solidFill>
                          <a:latin typeface="Raleway"/>
                        </a:rPr>
                        <a:t>&gt; User </a:t>
                      </a:r>
                      <a:r>
                        <a:rPr sz="450" b="0" err="1">
                          <a:solidFill>
                            <a:srgbClr val="000000"/>
                          </a:solidFill>
                          <a:latin typeface="Raleway"/>
                        </a:rPr>
                        <a:t>Shortcall</a:t>
                      </a:r>
                      <a:r>
                        <a:rPr sz="450" b="0">
                          <a:solidFill>
                            <a:srgbClr val="000000"/>
                          </a:solidFill>
                          <a:latin typeface="Raleway"/>
                        </a:rPr>
                        <a:t> &amp;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190828">
                <a:tc>
                  <a:txBody>
                    <a:bodyPr/>
                    <a:lstStyle/>
                    <a:p>
                      <a:pPr algn="ctr">
                        <a:lnSpc>
                          <a:spcPct val="90000"/>
                        </a:lnSpc>
                        <a:spcBef>
                          <a:spcPts val="0"/>
                        </a:spcBef>
                        <a:spcAft>
                          <a:spcPts val="0"/>
                        </a:spcAft>
                      </a:pPr>
                      <a:r>
                        <a:rPr sz="500" b="0">
                          <a:solidFill>
                            <a:srgbClr val="000000"/>
                          </a:solidFill>
                          <a:latin typeface="Raleway"/>
                        </a:rPr>
                        <a:t>28-07-2026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450" b="0">
                          <a:solidFill>
                            <a:srgbClr val="000000"/>
                          </a:solidFill>
                          <a:latin typeface="Raleway"/>
                        </a:rPr>
                        <a:t>Sales Taking Order Staff (Chilled) - Bekasi </a:t>
                      </a:r>
                      <a:r>
                        <a:rPr sz="450" b="0" err="1">
                          <a:solidFill>
                            <a:srgbClr val="000000"/>
                          </a:solidFill>
                          <a:latin typeface="Raleway"/>
                        </a:rPr>
                        <a:t>Kabupaten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5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5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5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500" b="0">
                          <a:solidFill>
                            <a:srgbClr val="000000"/>
                          </a:solidFill>
                          <a:latin typeface="Raleway"/>
                        </a:rPr>
                        <a:t>27-08-2026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500" b="0">
                          <a:solidFill>
                            <a:srgbClr val="000000"/>
                          </a:solidFill>
                          <a:latin typeface="Raleway"/>
                        </a:rPr>
                        <a:t>Zwei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5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5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490" b="0">
                          <a:solidFill>
                            <a:srgbClr val="000000"/>
                          </a:solidFill>
                          <a:latin typeface="Raleway"/>
                        </a:rPr>
                        <a:t>&gt; Send CV to User di Week 33</a:t>
                      </a:r>
                    </a:p>
                    <a:p>
                      <a:pPr algn="l">
                        <a:lnSpc>
                          <a:spcPct val="90000"/>
                        </a:lnSpc>
                        <a:spcBef>
                          <a:spcPts val="0"/>
                        </a:spcBef>
                        <a:spcAft>
                          <a:spcPts val="0"/>
                        </a:spcAft>
                      </a:pPr>
                      <a:r>
                        <a:rPr sz="490" b="0">
                          <a:solidFill>
                            <a:srgbClr val="000000"/>
                          </a:solidFill>
                          <a:latin typeface="Raleway"/>
                        </a:rPr>
                        <a:t>Next Action:</a:t>
                      </a:r>
                    </a:p>
                    <a:p>
                      <a:pPr algn="l">
                        <a:lnSpc>
                          <a:spcPct val="90000"/>
                        </a:lnSpc>
                        <a:spcBef>
                          <a:spcPts val="0"/>
                        </a:spcBef>
                        <a:spcAft>
                          <a:spcPts val="0"/>
                        </a:spcAft>
                      </a:pPr>
                      <a:r>
                        <a:rPr sz="450" b="0">
                          <a:solidFill>
                            <a:srgbClr val="000000"/>
                          </a:solidFill>
                          <a:latin typeface="Raleway"/>
                        </a:rPr>
                        <a:t>&gt; User </a:t>
                      </a:r>
                      <a:r>
                        <a:rPr sz="450" b="0" err="1">
                          <a:solidFill>
                            <a:srgbClr val="000000"/>
                          </a:solidFill>
                          <a:latin typeface="Raleway"/>
                        </a:rPr>
                        <a:t>Shortcall</a:t>
                      </a:r>
                      <a:r>
                        <a:rPr sz="450" b="0">
                          <a:solidFill>
                            <a:srgbClr val="000000"/>
                          </a:solidFill>
                          <a:latin typeface="Raleway"/>
                        </a:rPr>
                        <a:t> &amp;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1190828">
                <a:tc>
                  <a:txBody>
                    <a:bodyPr/>
                    <a:lstStyle/>
                    <a:p>
                      <a:pPr algn="ctr">
                        <a:lnSpc>
                          <a:spcPct val="90000"/>
                        </a:lnSpc>
                        <a:spcBef>
                          <a:spcPts val="0"/>
                        </a:spcBef>
                        <a:spcAft>
                          <a:spcPts val="0"/>
                        </a:spcAft>
                      </a:pPr>
                      <a:r>
                        <a:rPr sz="500" b="0">
                          <a:solidFill>
                            <a:srgbClr val="000000"/>
                          </a:solidFill>
                          <a:latin typeface="Raleway"/>
                        </a:rPr>
                        <a:t>28-07-2026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450" b="0">
                          <a:solidFill>
                            <a:srgbClr val="000000"/>
                          </a:solidFill>
                          <a:latin typeface="Raleway"/>
                        </a:rPr>
                        <a:t>Sales Taking Order Staff (Chilled) - Bekasi </a:t>
                      </a:r>
                      <a:r>
                        <a:rPr sz="450" b="0" err="1">
                          <a:solidFill>
                            <a:srgbClr val="000000"/>
                          </a:solidFill>
                          <a:latin typeface="Raleway"/>
                        </a:rPr>
                        <a:t>Kabupaten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5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5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5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500" b="0">
                          <a:solidFill>
                            <a:srgbClr val="000000"/>
                          </a:solidFill>
                          <a:latin typeface="Raleway"/>
                        </a:rPr>
                        <a:t>27-08-2026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500" b="0">
                          <a:solidFill>
                            <a:srgbClr val="000000"/>
                          </a:solidFill>
                          <a:latin typeface="Raleway"/>
                        </a:rPr>
                        <a:t>Zwei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5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5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490" b="0">
                          <a:solidFill>
                            <a:srgbClr val="000000"/>
                          </a:solidFill>
                          <a:latin typeface="Raleway"/>
                        </a:rPr>
                        <a:t>&gt; Send CV to User di Week 33</a:t>
                      </a:r>
                    </a:p>
                    <a:p>
                      <a:pPr algn="l">
                        <a:lnSpc>
                          <a:spcPct val="90000"/>
                        </a:lnSpc>
                        <a:spcBef>
                          <a:spcPts val="0"/>
                        </a:spcBef>
                        <a:spcAft>
                          <a:spcPts val="0"/>
                        </a:spcAft>
                      </a:pPr>
                      <a:r>
                        <a:rPr sz="490" b="0">
                          <a:solidFill>
                            <a:srgbClr val="000000"/>
                          </a:solidFill>
                          <a:latin typeface="Raleway"/>
                        </a:rPr>
                        <a:t>Next Action:</a:t>
                      </a:r>
                    </a:p>
                    <a:p>
                      <a:pPr algn="l">
                        <a:lnSpc>
                          <a:spcPct val="90000"/>
                        </a:lnSpc>
                        <a:spcBef>
                          <a:spcPts val="0"/>
                        </a:spcBef>
                        <a:spcAft>
                          <a:spcPts val="0"/>
                        </a:spcAft>
                      </a:pPr>
                      <a:r>
                        <a:rPr sz="450" b="0">
                          <a:solidFill>
                            <a:srgbClr val="000000"/>
                          </a:solidFill>
                          <a:latin typeface="Raleway"/>
                        </a:rPr>
                        <a:t>&gt; User </a:t>
                      </a:r>
                      <a:r>
                        <a:rPr sz="450" b="0" err="1">
                          <a:solidFill>
                            <a:srgbClr val="000000"/>
                          </a:solidFill>
                          <a:latin typeface="Raleway"/>
                        </a:rPr>
                        <a:t>Shortcall</a:t>
                      </a:r>
                      <a:r>
                        <a:rPr sz="450" b="0">
                          <a:solidFill>
                            <a:srgbClr val="000000"/>
                          </a:solidFill>
                          <a:latin typeface="Raleway"/>
                        </a:rPr>
                        <a:t> &amp;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bl>
          </a:graphicData>
        </a:graphic>
      </p:graphicFrame>
      <p:sp>
        <p:nvSpPr>
          <p:cNvPr id="6" name="Title 1">
            <a:extLst>
              <a:ext uri="{FF2B5EF4-FFF2-40B4-BE49-F238E27FC236}">
                <a16:creationId xmlns:a16="http://schemas.microsoft.com/office/drawing/2014/main" id="{AC555E48-8409-40BD-A372-B7A98ABD7F9F}"/>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151B67E7-3FA4-4319-44EB-07129AAB48CC}"/>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1210168906"/>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5"/>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207086">
                <a:tc>
                  <a:txBody>
                    <a:bodyPr/>
                    <a:lstStyle/>
                    <a:p>
                      <a:pPr algn="ctr">
                        <a:lnSpc>
                          <a:spcPct val="90000"/>
                        </a:lnSpc>
                        <a:spcBef>
                          <a:spcPts val="0"/>
                        </a:spcBef>
                        <a:spcAft>
                          <a:spcPts val="0"/>
                        </a:spcAft>
                      </a:pPr>
                      <a:r>
                        <a:rPr sz="1000" b="0">
                          <a:solidFill>
                            <a:srgbClr val="000000"/>
                          </a:solidFill>
                          <a:latin typeface="Raleway"/>
                        </a:rPr>
                        <a:t>08-May-26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Bekasi </a:t>
                      </a:r>
                      <a:r>
                        <a:rPr sz="1000" b="0" err="1">
                          <a:solidFill>
                            <a:srgbClr val="000000"/>
                          </a:solidFill>
                          <a:latin typeface="Raleway"/>
                        </a:rPr>
                        <a:t>Kabupaten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09-Apr-26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Zwei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Send CV to User di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150942">
                <a:tc>
                  <a:txBody>
                    <a:bodyPr/>
                    <a:lstStyle/>
                    <a:p>
                      <a:pPr algn="ctr">
                        <a:lnSpc>
                          <a:spcPct val="90000"/>
                        </a:lnSpc>
                        <a:spcBef>
                          <a:spcPts val="0"/>
                        </a:spcBef>
                        <a:spcAft>
                          <a:spcPts val="0"/>
                        </a:spcAft>
                      </a:pPr>
                      <a:r>
                        <a:rPr sz="1000" b="0">
                          <a:solidFill>
                            <a:srgbClr val="000000"/>
                          </a:solidFill>
                          <a:latin typeface="Raleway"/>
                        </a:rPr>
                        <a:t>15-07-2026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Air Molek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14-08-2026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Zwei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HR Interview &amp; </a:t>
                      </a:r>
                      <a:r>
                        <a:rPr sz="1000" b="0" err="1">
                          <a:solidFill>
                            <a:srgbClr val="000000"/>
                          </a:solidFill>
                          <a:latin typeface="Raleway"/>
                        </a:rPr>
                        <a:t>Pemberkasan</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118860">
                <a:tc>
                  <a:txBody>
                    <a:bodyPr/>
                    <a:lstStyle/>
                    <a:p>
                      <a:pPr algn="ctr">
                        <a:lnSpc>
                          <a:spcPct val="90000"/>
                        </a:lnSpc>
                        <a:spcBef>
                          <a:spcPts val="0"/>
                        </a:spcBef>
                        <a:spcAft>
                          <a:spcPts val="0"/>
                        </a:spcAft>
                      </a:pPr>
                      <a:r>
                        <a:rPr sz="1000" b="0">
                          <a:solidFill>
                            <a:srgbClr val="000000"/>
                          </a:solidFill>
                          <a:latin typeface="Raleway"/>
                        </a:rPr>
                        <a:t>15-07-2026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(Mix) - Air Molek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14-08-2026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Zwei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HR Interview &amp; </a:t>
                      </a:r>
                      <a:r>
                        <a:rPr sz="1000" b="0" err="1">
                          <a:solidFill>
                            <a:srgbClr val="000000"/>
                          </a:solidFill>
                          <a:latin typeface="Raleway"/>
                        </a:rPr>
                        <a:t>Pemberkasan</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1223127">
                <a:tc>
                  <a:txBody>
                    <a:bodyPr/>
                    <a:lstStyle/>
                    <a:p>
                      <a:pPr algn="ctr">
                        <a:lnSpc>
                          <a:spcPct val="90000"/>
                        </a:lnSpc>
                        <a:spcBef>
                          <a:spcPts val="0"/>
                        </a:spcBef>
                        <a:spcAft>
                          <a:spcPts val="0"/>
                        </a:spcAft>
                      </a:pPr>
                      <a:r>
                        <a:rPr sz="1000" b="0">
                          <a:solidFill>
                            <a:srgbClr val="000000"/>
                          </a:solidFill>
                          <a:latin typeface="Raleway"/>
                        </a:rPr>
                        <a:t>21-07-2026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(Frozen) - Tangerang </a:t>
                      </a:r>
                      <a:r>
                        <a:rPr sz="1000" b="0" err="1">
                          <a:solidFill>
                            <a:srgbClr val="000000"/>
                          </a:solidFill>
                          <a:latin typeface="Raleway"/>
                        </a:rPr>
                        <a:t>Kabupaten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20-08-2026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Zwei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Send CV to User di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bl>
          </a:graphicData>
        </a:graphic>
      </p:graphicFrame>
      <p:sp>
        <p:nvSpPr>
          <p:cNvPr id="6" name="Title 1">
            <a:extLst>
              <a:ext uri="{FF2B5EF4-FFF2-40B4-BE49-F238E27FC236}">
                <a16:creationId xmlns:a16="http://schemas.microsoft.com/office/drawing/2014/main" id="{038090EB-8166-32F8-ACD3-8A6B7D6FCC20}"/>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E6A1917E-C1A6-2F3A-AF6D-482160206B28}"/>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2574369458"/>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5"/>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173002">
                <a:tc>
                  <a:txBody>
                    <a:bodyPr/>
                    <a:lstStyle/>
                    <a:p>
                      <a:pPr algn="ctr">
                        <a:lnSpc>
                          <a:spcPct val="90000"/>
                        </a:lnSpc>
                        <a:spcBef>
                          <a:spcPts val="0"/>
                        </a:spcBef>
                        <a:spcAft>
                          <a:spcPts val="0"/>
                        </a:spcAft>
                      </a:pPr>
                      <a:r>
                        <a:rPr sz="1000" b="0">
                          <a:solidFill>
                            <a:srgbClr val="000000"/>
                          </a:solidFill>
                          <a:latin typeface="Raleway"/>
                        </a:rPr>
                        <a:t>28-07-2026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(Frozen) - Rantau Prapat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27-08-2026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Zwei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HR Interview &amp; </a:t>
                      </a:r>
                      <a:r>
                        <a:rPr sz="1000" b="0" err="1">
                          <a:solidFill>
                            <a:srgbClr val="000000"/>
                          </a:solidFill>
                          <a:latin typeface="Raleway"/>
                        </a:rPr>
                        <a:t>Pemberkasan</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181009">
                <a:tc>
                  <a:txBody>
                    <a:bodyPr/>
                    <a:lstStyle/>
                    <a:p>
                      <a:pPr algn="ctr">
                        <a:lnSpc>
                          <a:spcPct val="90000"/>
                        </a:lnSpc>
                        <a:spcBef>
                          <a:spcPts val="0"/>
                        </a:spcBef>
                        <a:spcAft>
                          <a:spcPts val="0"/>
                        </a:spcAft>
                      </a:pPr>
                      <a:r>
                        <a:rPr sz="1000" b="0">
                          <a:solidFill>
                            <a:srgbClr val="000000"/>
                          </a:solidFill>
                          <a:latin typeface="Raleway"/>
                        </a:rPr>
                        <a:t>28-07-2026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Rantau Prapat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27-08-2026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Zwei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HR Interview &amp; </a:t>
                      </a:r>
                      <a:r>
                        <a:rPr sz="1000" b="0" err="1">
                          <a:solidFill>
                            <a:srgbClr val="000000"/>
                          </a:solidFill>
                          <a:latin typeface="Raleway"/>
                        </a:rPr>
                        <a:t>Pemberkasan</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181009">
                <a:tc>
                  <a:txBody>
                    <a:bodyPr/>
                    <a:lstStyle/>
                    <a:p>
                      <a:pPr algn="ctr">
                        <a:lnSpc>
                          <a:spcPct val="90000"/>
                        </a:lnSpc>
                        <a:spcBef>
                          <a:spcPts val="0"/>
                        </a:spcBef>
                        <a:spcAft>
                          <a:spcPts val="0"/>
                        </a:spcAft>
                      </a:pPr>
                      <a:r>
                        <a:rPr sz="1000" b="0">
                          <a:solidFill>
                            <a:srgbClr val="000000"/>
                          </a:solidFill>
                          <a:latin typeface="Raleway"/>
                        </a:rPr>
                        <a:t>28-07-2026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Rantau Prapat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27-08-2026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Zwei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HR Interview &amp; </a:t>
                      </a:r>
                      <a:r>
                        <a:rPr sz="1000" b="0" err="1">
                          <a:solidFill>
                            <a:srgbClr val="000000"/>
                          </a:solidFill>
                          <a:latin typeface="Raleway"/>
                        </a:rPr>
                        <a:t>Pemberkasan</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1164995">
                <a:tc>
                  <a:txBody>
                    <a:bodyPr/>
                    <a:lstStyle/>
                    <a:p>
                      <a:pPr algn="ctr">
                        <a:lnSpc>
                          <a:spcPct val="90000"/>
                        </a:lnSpc>
                        <a:spcBef>
                          <a:spcPts val="0"/>
                        </a:spcBef>
                        <a:spcAft>
                          <a:spcPts val="0"/>
                        </a:spcAft>
                      </a:pPr>
                      <a:r>
                        <a:rPr sz="1000" b="0">
                          <a:solidFill>
                            <a:srgbClr val="000000"/>
                          </a:solidFill>
                          <a:latin typeface="Raleway"/>
                        </a:rPr>
                        <a:t>30-07-2026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a:t>
                      </a:r>
                      <a:r>
                        <a:rPr sz="1000" b="0" err="1">
                          <a:solidFill>
                            <a:srgbClr val="000000"/>
                          </a:solidFill>
                          <a:latin typeface="Raleway"/>
                        </a:rPr>
                        <a:t>Pangandaran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29-08-2026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Zwei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HR Interview &amp; </a:t>
                      </a:r>
                      <a:r>
                        <a:rPr sz="1000" b="0" err="1">
                          <a:solidFill>
                            <a:srgbClr val="000000"/>
                          </a:solidFill>
                          <a:latin typeface="Raleway"/>
                        </a:rPr>
                        <a:t>Pemberkasan</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bl>
          </a:graphicData>
        </a:graphic>
      </p:graphicFrame>
      <p:sp>
        <p:nvSpPr>
          <p:cNvPr id="6" name="Title 1">
            <a:extLst>
              <a:ext uri="{FF2B5EF4-FFF2-40B4-BE49-F238E27FC236}">
                <a16:creationId xmlns:a16="http://schemas.microsoft.com/office/drawing/2014/main" id="{FF590D1D-AD7C-0D86-2F55-8189C5D65B48}"/>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58ED8A0C-7A2D-BC66-3E03-75BC7C4304D0}"/>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2143988633"/>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3"/>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138788">
                <a:tc>
                  <a:txBody>
                    <a:bodyPr/>
                    <a:lstStyle/>
                    <a:p>
                      <a:pPr algn="ctr">
                        <a:lnSpc>
                          <a:spcPct val="90000"/>
                        </a:lnSpc>
                        <a:spcBef>
                          <a:spcPts val="0"/>
                        </a:spcBef>
                        <a:spcAft>
                          <a:spcPts val="0"/>
                        </a:spcAft>
                      </a:pPr>
                      <a:r>
                        <a:rPr sz="1000" b="0">
                          <a:solidFill>
                            <a:srgbClr val="000000"/>
                          </a:solidFill>
                          <a:latin typeface="Raleway"/>
                        </a:rPr>
                        <a:t>08-May-26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a:t>
                      </a:r>
                      <a:r>
                        <a:rPr sz="1000" b="0" err="1">
                          <a:solidFill>
                            <a:srgbClr val="000000"/>
                          </a:solidFill>
                          <a:latin typeface="Raleway"/>
                        </a:rPr>
                        <a:t>Langkat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09-Apr-26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Zwei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HR Interview &amp; </a:t>
                      </a:r>
                      <a:r>
                        <a:rPr sz="1000" b="0" err="1">
                          <a:solidFill>
                            <a:srgbClr val="000000"/>
                          </a:solidFill>
                          <a:latin typeface="Raleway"/>
                        </a:rPr>
                        <a:t>Pemberkasan</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187075">
                <a:tc>
                  <a:txBody>
                    <a:bodyPr/>
                    <a:lstStyle/>
                    <a:p>
                      <a:pPr algn="ctr">
                        <a:lnSpc>
                          <a:spcPct val="90000"/>
                        </a:lnSpc>
                        <a:spcBef>
                          <a:spcPts val="0"/>
                        </a:spcBef>
                        <a:spcAft>
                          <a:spcPts val="0"/>
                        </a:spcAft>
                      </a:pPr>
                      <a:r>
                        <a:rPr sz="1000" b="0">
                          <a:solidFill>
                            <a:srgbClr val="000000"/>
                          </a:solidFill>
                          <a:latin typeface="Raleway"/>
                        </a:rPr>
                        <a:t>08-Apr-26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Bandung Barat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09-Mar-26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Zwei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FPTK </a:t>
                      </a:r>
                      <a:r>
                        <a:rPr sz="1000" b="0" err="1">
                          <a:solidFill>
                            <a:srgbClr val="000000"/>
                          </a:solidFill>
                          <a:latin typeface="Raleway"/>
                        </a:rPr>
                        <a:t>baru</a:t>
                      </a:r>
                      <a:r>
                        <a:rPr sz="1000" b="0">
                          <a:solidFill>
                            <a:srgbClr val="000000"/>
                          </a:solidFill>
                          <a:latin typeface="Raleway"/>
                        </a:rPr>
                        <a:t> handover di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Sourcing CV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187075">
                <a:tc>
                  <a:txBody>
                    <a:bodyPr/>
                    <a:lstStyle/>
                    <a:p>
                      <a:pPr algn="ctr">
                        <a:lnSpc>
                          <a:spcPct val="90000"/>
                        </a:lnSpc>
                        <a:spcBef>
                          <a:spcPts val="0"/>
                        </a:spcBef>
                        <a:spcAft>
                          <a:spcPts val="0"/>
                        </a:spcAft>
                      </a:pPr>
                      <a:r>
                        <a:rPr sz="1000" b="0">
                          <a:solidFill>
                            <a:srgbClr val="000000"/>
                          </a:solidFill>
                          <a:latin typeface="Raleway"/>
                        </a:rPr>
                        <a:t>08-Apr-26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Bandung Barat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09-Mar-26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Zwei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FPTK </a:t>
                      </a:r>
                      <a:r>
                        <a:rPr sz="1000" b="0" err="1">
                          <a:solidFill>
                            <a:srgbClr val="000000"/>
                          </a:solidFill>
                          <a:latin typeface="Raleway"/>
                        </a:rPr>
                        <a:t>baru</a:t>
                      </a:r>
                      <a:r>
                        <a:rPr sz="1000" b="0">
                          <a:solidFill>
                            <a:srgbClr val="000000"/>
                          </a:solidFill>
                          <a:latin typeface="Raleway"/>
                        </a:rPr>
                        <a:t> handover di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Sourcing CV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1187075">
                <a:tc>
                  <a:txBody>
                    <a:bodyPr/>
                    <a:lstStyle/>
                    <a:p>
                      <a:pPr algn="ctr">
                        <a:lnSpc>
                          <a:spcPct val="90000"/>
                        </a:lnSpc>
                        <a:spcBef>
                          <a:spcPts val="0"/>
                        </a:spcBef>
                        <a:spcAft>
                          <a:spcPts val="0"/>
                        </a:spcAft>
                      </a:pPr>
                      <a:r>
                        <a:rPr sz="1000" b="0">
                          <a:solidFill>
                            <a:srgbClr val="000000"/>
                          </a:solidFill>
                          <a:latin typeface="Raleway"/>
                        </a:rPr>
                        <a:t>08-Apr-26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Bandung Barat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09-Mar-26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Zwei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FPTK </a:t>
                      </a:r>
                      <a:r>
                        <a:rPr sz="1000" b="0" err="1">
                          <a:solidFill>
                            <a:srgbClr val="000000"/>
                          </a:solidFill>
                          <a:latin typeface="Raleway"/>
                        </a:rPr>
                        <a:t>baru</a:t>
                      </a:r>
                      <a:r>
                        <a:rPr sz="1000" b="0">
                          <a:solidFill>
                            <a:srgbClr val="000000"/>
                          </a:solidFill>
                          <a:latin typeface="Raleway"/>
                        </a:rPr>
                        <a:t> handover di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Sourcing CV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bl>
          </a:graphicData>
        </a:graphic>
      </p:graphicFrame>
      <p:sp>
        <p:nvSpPr>
          <p:cNvPr id="6" name="Title 1">
            <a:extLst>
              <a:ext uri="{FF2B5EF4-FFF2-40B4-BE49-F238E27FC236}">
                <a16:creationId xmlns:a16="http://schemas.microsoft.com/office/drawing/2014/main" id="{576D3E43-CB75-3205-FBBC-B4A49299B5F8}"/>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3D8EF259-6C1B-61C9-FF9F-50EAC8F32C7F}"/>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4142937592"/>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3"/>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184978">
                <a:tc>
                  <a:txBody>
                    <a:bodyPr/>
                    <a:lstStyle/>
                    <a:p>
                      <a:pPr algn="ctr">
                        <a:lnSpc>
                          <a:spcPct val="90000"/>
                        </a:lnSpc>
                        <a:spcBef>
                          <a:spcPts val="0"/>
                        </a:spcBef>
                        <a:spcAft>
                          <a:spcPts val="0"/>
                        </a:spcAft>
                      </a:pPr>
                      <a:r>
                        <a:rPr sz="1000" b="0">
                          <a:solidFill>
                            <a:srgbClr val="000000"/>
                          </a:solidFill>
                          <a:latin typeface="Raleway"/>
                        </a:rPr>
                        <a:t>08-Dec-26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Tanjung </a:t>
                      </a:r>
                      <a:r>
                        <a:rPr sz="1000" b="0" err="1">
                          <a:solidFill>
                            <a:srgbClr val="000000"/>
                          </a:solidFill>
                          <a:latin typeface="Raleway"/>
                        </a:rPr>
                        <a:t>Morawa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Zwei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FPTK </a:t>
                      </a:r>
                      <a:r>
                        <a:rPr sz="1000" b="0" err="1">
                          <a:solidFill>
                            <a:srgbClr val="000000"/>
                          </a:solidFill>
                          <a:latin typeface="Raleway"/>
                        </a:rPr>
                        <a:t>baru</a:t>
                      </a:r>
                      <a:r>
                        <a:rPr sz="1000" b="0">
                          <a:solidFill>
                            <a:srgbClr val="000000"/>
                          </a:solidFill>
                          <a:latin typeface="Raleway"/>
                        </a:rPr>
                        <a:t> di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Sourcing CV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184978">
                <a:tc>
                  <a:txBody>
                    <a:bodyPr/>
                    <a:lstStyle/>
                    <a:p>
                      <a:pPr algn="ctr">
                        <a:lnSpc>
                          <a:spcPct val="90000"/>
                        </a:lnSpc>
                        <a:spcBef>
                          <a:spcPts val="0"/>
                        </a:spcBef>
                        <a:spcAft>
                          <a:spcPts val="0"/>
                        </a:spcAft>
                      </a:pPr>
                      <a:r>
                        <a:rPr sz="1000" b="0">
                          <a:solidFill>
                            <a:srgbClr val="000000"/>
                          </a:solidFill>
                          <a:latin typeface="Raleway"/>
                        </a:rPr>
                        <a:t>08-Dec-26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Tanjung </a:t>
                      </a:r>
                      <a:r>
                        <a:rPr sz="1000" b="0" err="1">
                          <a:solidFill>
                            <a:srgbClr val="000000"/>
                          </a:solidFill>
                          <a:latin typeface="Raleway"/>
                        </a:rPr>
                        <a:t>Morawa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Zwei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FPTK </a:t>
                      </a:r>
                      <a:r>
                        <a:rPr sz="1000" b="0" err="1">
                          <a:solidFill>
                            <a:srgbClr val="000000"/>
                          </a:solidFill>
                          <a:latin typeface="Raleway"/>
                        </a:rPr>
                        <a:t>baru</a:t>
                      </a:r>
                      <a:r>
                        <a:rPr sz="1000" b="0">
                          <a:solidFill>
                            <a:srgbClr val="000000"/>
                          </a:solidFill>
                          <a:latin typeface="Raleway"/>
                        </a:rPr>
                        <a:t> di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Sourcing CV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153059">
                <a:tc>
                  <a:txBody>
                    <a:bodyPr/>
                    <a:lstStyle/>
                    <a:p>
                      <a:pPr algn="ctr">
                        <a:lnSpc>
                          <a:spcPct val="90000"/>
                        </a:lnSpc>
                        <a:spcBef>
                          <a:spcPts val="0"/>
                        </a:spcBef>
                        <a:spcAft>
                          <a:spcPts val="0"/>
                        </a:spcAft>
                      </a:pPr>
                      <a:r>
                        <a:rPr sz="1000" b="0">
                          <a:solidFill>
                            <a:srgbClr val="000000"/>
                          </a:solidFill>
                          <a:latin typeface="Raleway"/>
                        </a:rPr>
                        <a:t>08-Dec-26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(Mix) - Tanjung </a:t>
                      </a:r>
                      <a:r>
                        <a:rPr sz="1000" b="0" err="1">
                          <a:solidFill>
                            <a:srgbClr val="000000"/>
                          </a:solidFill>
                          <a:latin typeface="Raleway"/>
                        </a:rPr>
                        <a:t>Morawa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Zwei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FPTK </a:t>
                      </a:r>
                      <a:r>
                        <a:rPr sz="1000" b="0" err="1">
                          <a:solidFill>
                            <a:srgbClr val="000000"/>
                          </a:solidFill>
                          <a:latin typeface="Raleway"/>
                        </a:rPr>
                        <a:t>baru</a:t>
                      </a:r>
                      <a:r>
                        <a:rPr sz="1000" b="0">
                          <a:solidFill>
                            <a:srgbClr val="000000"/>
                          </a:solidFill>
                          <a:latin typeface="Raleway"/>
                        </a:rPr>
                        <a:t> di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Sourcing CV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1176998">
                <a:tc>
                  <a:txBody>
                    <a:bodyPr/>
                    <a:lstStyle/>
                    <a:p>
                      <a:pPr algn="ctr">
                        <a:lnSpc>
                          <a:spcPct val="90000"/>
                        </a:lnSpc>
                        <a:spcBef>
                          <a:spcPts val="0"/>
                        </a:spcBef>
                        <a:spcAft>
                          <a:spcPts val="0"/>
                        </a:spcAft>
                      </a:pPr>
                      <a:r>
                        <a:rPr sz="1000" b="0">
                          <a:solidFill>
                            <a:srgbClr val="000000"/>
                          </a:solidFill>
                          <a:latin typeface="Raleway"/>
                        </a:rPr>
                        <a:t>08-Apr-26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Bandung Timur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09-Mar-26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Zwei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FPTK </a:t>
                      </a:r>
                      <a:r>
                        <a:rPr sz="1000" b="0" err="1">
                          <a:solidFill>
                            <a:srgbClr val="000000"/>
                          </a:solidFill>
                          <a:latin typeface="Raleway"/>
                        </a:rPr>
                        <a:t>baru</a:t>
                      </a:r>
                      <a:r>
                        <a:rPr sz="1000" b="0">
                          <a:solidFill>
                            <a:srgbClr val="000000"/>
                          </a:solidFill>
                          <a:latin typeface="Raleway"/>
                        </a:rPr>
                        <a:t> handover di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Sourcing CV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bl>
          </a:graphicData>
        </a:graphic>
      </p:graphicFrame>
      <p:sp>
        <p:nvSpPr>
          <p:cNvPr id="6" name="Title 1">
            <a:extLst>
              <a:ext uri="{FF2B5EF4-FFF2-40B4-BE49-F238E27FC236}">
                <a16:creationId xmlns:a16="http://schemas.microsoft.com/office/drawing/2014/main" id="{12223CFF-54B6-9A8C-79AB-503C9D644CF5}"/>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658C4E56-76AB-4032-7921-573FDF180982}"/>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3481438537"/>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4"/>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122719">
                <a:tc>
                  <a:txBody>
                    <a:bodyPr/>
                    <a:lstStyle/>
                    <a:p>
                      <a:pPr algn="ctr">
                        <a:lnSpc>
                          <a:spcPct val="90000"/>
                        </a:lnSpc>
                        <a:spcBef>
                          <a:spcPts val="0"/>
                        </a:spcBef>
                        <a:spcAft>
                          <a:spcPts val="0"/>
                        </a:spcAft>
                      </a:pPr>
                      <a:r>
                        <a:rPr sz="1000" b="0">
                          <a:solidFill>
                            <a:srgbClr val="000000"/>
                          </a:solidFill>
                          <a:latin typeface="Raleway"/>
                        </a:rPr>
                        <a:t>08-Apr-26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Bandung Timur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09-Mar-26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Zwei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FPTK </a:t>
                      </a:r>
                      <a:r>
                        <a:rPr sz="1000" b="0" err="1">
                          <a:solidFill>
                            <a:srgbClr val="000000"/>
                          </a:solidFill>
                          <a:latin typeface="Raleway"/>
                        </a:rPr>
                        <a:t>baru</a:t>
                      </a:r>
                      <a:r>
                        <a:rPr sz="1000" b="0">
                          <a:solidFill>
                            <a:srgbClr val="000000"/>
                          </a:solidFill>
                          <a:latin typeface="Raleway"/>
                        </a:rPr>
                        <a:t> handover di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Sourcing CV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054214">
                <a:tc>
                  <a:txBody>
                    <a:bodyPr/>
                    <a:lstStyle/>
                    <a:p>
                      <a:pPr algn="ctr">
                        <a:lnSpc>
                          <a:spcPct val="90000"/>
                        </a:lnSpc>
                        <a:spcBef>
                          <a:spcPts val="0"/>
                        </a:spcBef>
                        <a:spcAft>
                          <a:spcPts val="0"/>
                        </a:spcAft>
                      </a:pPr>
                      <a:r>
                        <a:rPr sz="1000" b="0">
                          <a:solidFill>
                            <a:srgbClr val="000000"/>
                          </a:solidFill>
                          <a:latin typeface="Raleway"/>
                        </a:rPr>
                        <a:t>08-Dec-26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(Mix) - </a:t>
                      </a:r>
                      <a:r>
                        <a:rPr sz="1000" b="0" err="1">
                          <a:solidFill>
                            <a:srgbClr val="000000"/>
                          </a:solidFill>
                          <a:latin typeface="Raleway"/>
                        </a:rPr>
                        <a:t>Baturaja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Zwei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FPTK </a:t>
                      </a:r>
                      <a:r>
                        <a:rPr sz="1000" b="0" err="1">
                          <a:solidFill>
                            <a:srgbClr val="000000"/>
                          </a:solidFill>
                          <a:latin typeface="Raleway"/>
                        </a:rPr>
                        <a:t>baru</a:t>
                      </a:r>
                      <a:r>
                        <a:rPr sz="1000" b="0">
                          <a:solidFill>
                            <a:srgbClr val="000000"/>
                          </a:solidFill>
                          <a:latin typeface="Raleway"/>
                        </a:rPr>
                        <a:t> di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Sourcing CV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646990">
                <a:tc>
                  <a:txBody>
                    <a:bodyPr/>
                    <a:lstStyle/>
                    <a:p>
                      <a:pPr algn="ctr">
                        <a:lnSpc>
                          <a:spcPct val="90000"/>
                        </a:lnSpc>
                        <a:spcBef>
                          <a:spcPts val="0"/>
                        </a:spcBef>
                        <a:spcAft>
                          <a:spcPts val="0"/>
                        </a:spcAft>
                      </a:pPr>
                      <a:r>
                        <a:rPr sz="1000" b="0">
                          <a:solidFill>
                            <a:srgbClr val="000000"/>
                          </a:solidFill>
                          <a:latin typeface="Raleway"/>
                        </a:rPr>
                        <a:t>02-Jun-26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Project Foreman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03-Aug-26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Fiscall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NOTE : SALAH TANGGAL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1876091">
                <a:tc>
                  <a:txBody>
                    <a:bodyPr/>
                    <a:lstStyle/>
                    <a:p>
                      <a:pPr algn="ctr">
                        <a:lnSpc>
                          <a:spcPct val="90000"/>
                        </a:lnSpc>
                        <a:spcBef>
                          <a:spcPts val="0"/>
                        </a:spcBef>
                        <a:spcAft>
                          <a:spcPts val="0"/>
                        </a:spcAft>
                      </a:pPr>
                      <a:r>
                        <a:rPr sz="1000" b="0">
                          <a:solidFill>
                            <a:srgbClr val="000000"/>
                          </a:solidFill>
                          <a:latin typeface="Raleway"/>
                        </a:rPr>
                        <a:t>19-05-2026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Quality Control Analysis Staff - Chemical/Physics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18-06-2026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Sedang </a:t>
                      </a:r>
                      <a:r>
                        <a:rPr sz="1000" b="0" err="1">
                          <a:solidFill>
                            <a:srgbClr val="000000"/>
                          </a:solidFill>
                          <a:latin typeface="Raleway"/>
                        </a:rPr>
                        <a:t>dalam</a:t>
                      </a:r>
                      <a:r>
                        <a:rPr sz="1000" b="0">
                          <a:solidFill>
                            <a:srgbClr val="000000"/>
                          </a:solidFill>
                          <a:latin typeface="Raleway"/>
                        </a:rPr>
                        <a:t> proses </a:t>
                      </a:r>
                      <a:r>
                        <a:rPr sz="1000" b="0" err="1">
                          <a:solidFill>
                            <a:srgbClr val="000000"/>
                          </a:solidFill>
                          <a:latin typeface="Raleway"/>
                        </a:rPr>
                        <a:t>diskusi</a:t>
                      </a:r>
                      <a:r>
                        <a:rPr sz="1000" b="0">
                          <a:solidFill>
                            <a:srgbClr val="000000"/>
                          </a:solidFill>
                          <a:latin typeface="Raleway"/>
                        </a:rPr>
                        <a:t> </a:t>
                      </a:r>
                      <a:r>
                        <a:rPr sz="1000" b="0" err="1">
                          <a:solidFill>
                            <a:srgbClr val="000000"/>
                          </a:solidFill>
                          <a:latin typeface="Raleway"/>
                        </a:rPr>
                        <a:t>untuk</a:t>
                      </a:r>
                      <a:r>
                        <a:rPr sz="1000" b="0">
                          <a:solidFill>
                            <a:srgbClr val="000000"/>
                          </a:solidFill>
                          <a:latin typeface="Raleway"/>
                        </a:rPr>
                        <a:t> cancel FPTK, </a:t>
                      </a:r>
                      <a:r>
                        <a:rPr sz="1000" b="0" err="1">
                          <a:solidFill>
                            <a:srgbClr val="000000"/>
                          </a:solidFill>
                          <a:latin typeface="Raleway"/>
                        </a:rPr>
                        <a:t>karena</a:t>
                      </a:r>
                      <a:r>
                        <a:rPr sz="1000" b="0">
                          <a:solidFill>
                            <a:srgbClr val="000000"/>
                          </a:solidFill>
                          <a:latin typeface="Raleway"/>
                        </a:rPr>
                        <a:t> </a:t>
                      </a:r>
                      <a:r>
                        <a:rPr sz="1000" b="0" err="1">
                          <a:solidFill>
                            <a:srgbClr val="000000"/>
                          </a:solidFill>
                          <a:latin typeface="Raleway"/>
                        </a:rPr>
                        <a:t>posisi</a:t>
                      </a:r>
                      <a:r>
                        <a:rPr sz="1000" b="0">
                          <a:solidFill>
                            <a:srgbClr val="000000"/>
                          </a:solidFill>
                          <a:latin typeface="Raleway"/>
                        </a:rPr>
                        <a:t> </a:t>
                      </a:r>
                      <a:r>
                        <a:rPr sz="1000" b="0" err="1">
                          <a:solidFill>
                            <a:srgbClr val="000000"/>
                          </a:solidFill>
                          <a:latin typeface="Raleway"/>
                        </a:rPr>
                        <a:t>ini</a:t>
                      </a:r>
                      <a:r>
                        <a:rPr sz="1000" b="0">
                          <a:solidFill>
                            <a:srgbClr val="000000"/>
                          </a:solidFill>
                          <a:latin typeface="Raleway"/>
                        </a:rPr>
                        <a:t> </a:t>
                      </a:r>
                      <a:r>
                        <a:rPr sz="1000" b="0" err="1">
                          <a:solidFill>
                            <a:srgbClr val="000000"/>
                          </a:solidFill>
                          <a:latin typeface="Raleway"/>
                        </a:rPr>
                        <a:t>sudah</a:t>
                      </a:r>
                      <a:r>
                        <a:rPr sz="1000" b="0">
                          <a:solidFill>
                            <a:srgbClr val="000000"/>
                          </a:solidFill>
                          <a:latin typeface="Raleway"/>
                        </a:rPr>
                        <a:t> </a:t>
                      </a:r>
                      <a:r>
                        <a:rPr sz="1000" b="0" err="1">
                          <a:solidFill>
                            <a:srgbClr val="000000"/>
                          </a:solidFill>
                          <a:latin typeface="Raleway"/>
                        </a:rPr>
                        <a:t>diisi</a:t>
                      </a:r>
                      <a:r>
                        <a:rPr sz="1000" b="0">
                          <a:solidFill>
                            <a:srgbClr val="000000"/>
                          </a:solidFill>
                          <a:latin typeface="Raleway"/>
                        </a:rPr>
                        <a:t> </a:t>
                      </a:r>
                      <a:r>
                        <a:rPr sz="1000" b="0" err="1">
                          <a:solidFill>
                            <a:srgbClr val="000000"/>
                          </a:solidFill>
                          <a:latin typeface="Raleway"/>
                        </a:rPr>
                        <a:t>dari</a:t>
                      </a:r>
                      <a:r>
                        <a:rPr sz="1000" b="0">
                          <a:solidFill>
                            <a:srgbClr val="000000"/>
                          </a:solidFill>
                          <a:latin typeface="Raleway"/>
                        </a:rPr>
                        <a:t> In Line. </a:t>
                      </a:r>
                      <a:r>
                        <a:rPr sz="1000" b="0" err="1">
                          <a:solidFill>
                            <a:srgbClr val="000000"/>
                          </a:solidFill>
                          <a:latin typeface="Raleway"/>
                        </a:rPr>
                        <a:t>Namun</a:t>
                      </a:r>
                      <a:r>
                        <a:rPr sz="1000" b="0">
                          <a:solidFill>
                            <a:srgbClr val="000000"/>
                          </a:solidFill>
                          <a:latin typeface="Raleway"/>
                        </a:rPr>
                        <a:t>, QC Physics/Chemical </a:t>
                      </a:r>
                      <a:r>
                        <a:rPr sz="1000" b="0" err="1">
                          <a:solidFill>
                            <a:srgbClr val="000000"/>
                          </a:solidFill>
                          <a:latin typeface="Raleway"/>
                        </a:rPr>
                        <a:t>belum</a:t>
                      </a:r>
                      <a:r>
                        <a:rPr sz="1000" b="0">
                          <a:solidFill>
                            <a:srgbClr val="000000"/>
                          </a:solidFill>
                          <a:latin typeface="Raleway"/>
                        </a:rPr>
                        <a:t> </a:t>
                      </a:r>
                      <a:r>
                        <a:rPr sz="1000" b="0" err="1">
                          <a:solidFill>
                            <a:srgbClr val="000000"/>
                          </a:solidFill>
                          <a:latin typeface="Raleway"/>
                        </a:rPr>
                        <a:t>ada</a:t>
                      </a:r>
                      <a:r>
                        <a:rPr sz="1000" b="0">
                          <a:solidFill>
                            <a:srgbClr val="000000"/>
                          </a:solidFill>
                          <a:latin typeface="Raleway"/>
                        </a:rPr>
                        <a:t> di SO JESS 2. Masih </a:t>
                      </a:r>
                      <a:r>
                        <a:rPr sz="1000" b="0" err="1">
                          <a:solidFill>
                            <a:srgbClr val="000000"/>
                          </a:solidFill>
                          <a:latin typeface="Raleway"/>
                        </a:rPr>
                        <a:t>menunggu</a:t>
                      </a:r>
                      <a:r>
                        <a:rPr sz="1000" b="0">
                          <a:solidFill>
                            <a:srgbClr val="000000"/>
                          </a:solidFill>
                          <a:latin typeface="Raleway"/>
                        </a:rPr>
                        <a:t> di </a:t>
                      </a:r>
                      <a:r>
                        <a:rPr sz="1000" b="0" err="1">
                          <a:solidFill>
                            <a:srgbClr val="000000"/>
                          </a:solidFill>
                          <a:latin typeface="Raleway"/>
                        </a:rPr>
                        <a:t>hari</a:t>
                      </a:r>
                      <a:r>
                        <a:rPr sz="1000" b="0">
                          <a:solidFill>
                            <a:srgbClr val="000000"/>
                          </a:solidFill>
                          <a:latin typeface="Raleway"/>
                        </a:rPr>
                        <a:t> Senin </a:t>
                      </a:r>
                      <a:r>
                        <a:rPr sz="1000" b="0" err="1">
                          <a:solidFill>
                            <a:srgbClr val="000000"/>
                          </a:solidFill>
                          <a:latin typeface="Raleway"/>
                        </a:rPr>
                        <a:t>untuk</a:t>
                      </a:r>
                      <a:r>
                        <a:rPr sz="1000" b="0">
                          <a:solidFill>
                            <a:srgbClr val="000000"/>
                          </a:solidFill>
                          <a:latin typeface="Raleway"/>
                        </a:rPr>
                        <a:t> </a:t>
                      </a:r>
                      <a:r>
                        <a:rPr sz="1000" b="0" err="1">
                          <a:solidFill>
                            <a:srgbClr val="000000"/>
                          </a:solidFill>
                          <a:latin typeface="Raleway"/>
                        </a:rPr>
                        <a:t>dapat</a:t>
                      </a:r>
                      <a:r>
                        <a:rPr sz="1000" b="0">
                          <a:solidFill>
                            <a:srgbClr val="000000"/>
                          </a:solidFill>
                          <a:latin typeface="Raleway"/>
                        </a:rPr>
                        <a:t> </a:t>
                      </a:r>
                      <a:r>
                        <a:rPr sz="1000" b="0" err="1">
                          <a:solidFill>
                            <a:srgbClr val="000000"/>
                          </a:solidFill>
                          <a:latin typeface="Raleway"/>
                        </a:rPr>
                        <a:t>berdiskusi</a:t>
                      </a:r>
                      <a:r>
                        <a:rPr sz="1000" b="0">
                          <a:solidFill>
                            <a:srgbClr val="000000"/>
                          </a:solidFill>
                          <a:latin typeface="Raleway"/>
                        </a:rPr>
                        <a:t> </a:t>
                      </a:r>
                      <a:r>
                        <a:rPr sz="1000" b="0" err="1">
                          <a:solidFill>
                            <a:srgbClr val="000000"/>
                          </a:solidFill>
                          <a:latin typeface="Raleway"/>
                        </a:rPr>
                        <a:t>dengan</a:t>
                      </a:r>
                      <a:r>
                        <a:rPr sz="1000" b="0">
                          <a:solidFill>
                            <a:srgbClr val="000000"/>
                          </a:solidFill>
                          <a:latin typeface="Raleway"/>
                        </a:rPr>
                        <a:t> User</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Diskusi</a:t>
                      </a:r>
                      <a:r>
                        <a:rPr sz="1000" b="0">
                          <a:solidFill>
                            <a:srgbClr val="000000"/>
                          </a:solidFill>
                          <a:latin typeface="Raleway"/>
                        </a:rPr>
                        <a:t> </a:t>
                      </a:r>
                      <a:r>
                        <a:rPr sz="1000" b="0" err="1">
                          <a:solidFill>
                            <a:srgbClr val="000000"/>
                          </a:solidFill>
                          <a:latin typeface="Raleway"/>
                        </a:rPr>
                        <a:t>dengan</a:t>
                      </a:r>
                      <a:r>
                        <a:rPr sz="1000" b="0">
                          <a:solidFill>
                            <a:srgbClr val="000000"/>
                          </a:solidFill>
                          <a:latin typeface="Raleway"/>
                        </a:rPr>
                        <a:t>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bl>
          </a:graphicData>
        </a:graphic>
      </p:graphicFrame>
      <p:sp>
        <p:nvSpPr>
          <p:cNvPr id="6" name="Title 1">
            <a:extLst>
              <a:ext uri="{FF2B5EF4-FFF2-40B4-BE49-F238E27FC236}">
                <a16:creationId xmlns:a16="http://schemas.microsoft.com/office/drawing/2014/main" id="{500ABFDB-CA05-F1BA-1BAA-682309B3FF5A}"/>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C4AB5794-5996-5191-D578-C9F49D9A0C98}"/>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1307348089"/>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4"/>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2287903">
                <a:tc>
                  <a:txBody>
                    <a:bodyPr/>
                    <a:lstStyle/>
                    <a:p>
                      <a:pPr algn="ctr">
                        <a:lnSpc>
                          <a:spcPct val="90000"/>
                        </a:lnSpc>
                        <a:spcBef>
                          <a:spcPts val="0"/>
                        </a:spcBef>
                        <a:spcAft>
                          <a:spcPts val="0"/>
                        </a:spcAft>
                      </a:pPr>
                      <a:r>
                        <a:rPr sz="1000" b="0">
                          <a:solidFill>
                            <a:srgbClr val="000000"/>
                          </a:solidFill>
                          <a:latin typeface="Raleway"/>
                        </a:rPr>
                        <a:t>19-05-2026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Quality Control Analysis Staff - Chemical/Physics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18-06-2026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Sedang </a:t>
                      </a:r>
                      <a:r>
                        <a:rPr sz="1000" b="0" err="1">
                          <a:solidFill>
                            <a:srgbClr val="000000"/>
                          </a:solidFill>
                          <a:latin typeface="Raleway"/>
                        </a:rPr>
                        <a:t>dalam</a:t>
                      </a:r>
                      <a:r>
                        <a:rPr sz="1000" b="0">
                          <a:solidFill>
                            <a:srgbClr val="000000"/>
                          </a:solidFill>
                          <a:latin typeface="Raleway"/>
                        </a:rPr>
                        <a:t> proses </a:t>
                      </a:r>
                      <a:r>
                        <a:rPr sz="1000" b="0" err="1">
                          <a:solidFill>
                            <a:srgbClr val="000000"/>
                          </a:solidFill>
                          <a:latin typeface="Raleway"/>
                        </a:rPr>
                        <a:t>diskusi</a:t>
                      </a:r>
                      <a:r>
                        <a:rPr sz="1000" b="0">
                          <a:solidFill>
                            <a:srgbClr val="000000"/>
                          </a:solidFill>
                          <a:latin typeface="Raleway"/>
                        </a:rPr>
                        <a:t> </a:t>
                      </a:r>
                      <a:r>
                        <a:rPr sz="1000" b="0" err="1">
                          <a:solidFill>
                            <a:srgbClr val="000000"/>
                          </a:solidFill>
                          <a:latin typeface="Raleway"/>
                        </a:rPr>
                        <a:t>untuk</a:t>
                      </a:r>
                      <a:r>
                        <a:rPr sz="1000" b="0">
                          <a:solidFill>
                            <a:srgbClr val="000000"/>
                          </a:solidFill>
                          <a:latin typeface="Raleway"/>
                        </a:rPr>
                        <a:t> cancel FPTK, </a:t>
                      </a:r>
                      <a:r>
                        <a:rPr sz="1000" b="0" err="1">
                          <a:solidFill>
                            <a:srgbClr val="000000"/>
                          </a:solidFill>
                          <a:latin typeface="Raleway"/>
                        </a:rPr>
                        <a:t>karena</a:t>
                      </a:r>
                      <a:r>
                        <a:rPr sz="1000" b="0">
                          <a:solidFill>
                            <a:srgbClr val="000000"/>
                          </a:solidFill>
                          <a:latin typeface="Raleway"/>
                        </a:rPr>
                        <a:t> </a:t>
                      </a:r>
                      <a:r>
                        <a:rPr sz="1000" b="0" err="1">
                          <a:solidFill>
                            <a:srgbClr val="000000"/>
                          </a:solidFill>
                          <a:latin typeface="Raleway"/>
                        </a:rPr>
                        <a:t>posisi</a:t>
                      </a:r>
                      <a:r>
                        <a:rPr sz="1000" b="0">
                          <a:solidFill>
                            <a:srgbClr val="000000"/>
                          </a:solidFill>
                          <a:latin typeface="Raleway"/>
                        </a:rPr>
                        <a:t> </a:t>
                      </a:r>
                      <a:r>
                        <a:rPr sz="1000" b="0" err="1">
                          <a:solidFill>
                            <a:srgbClr val="000000"/>
                          </a:solidFill>
                          <a:latin typeface="Raleway"/>
                        </a:rPr>
                        <a:t>ini</a:t>
                      </a:r>
                      <a:r>
                        <a:rPr sz="1000" b="0">
                          <a:solidFill>
                            <a:srgbClr val="000000"/>
                          </a:solidFill>
                          <a:latin typeface="Raleway"/>
                        </a:rPr>
                        <a:t> </a:t>
                      </a:r>
                      <a:r>
                        <a:rPr sz="1000" b="0" err="1">
                          <a:solidFill>
                            <a:srgbClr val="000000"/>
                          </a:solidFill>
                          <a:latin typeface="Raleway"/>
                        </a:rPr>
                        <a:t>sudah</a:t>
                      </a:r>
                      <a:r>
                        <a:rPr sz="1000" b="0">
                          <a:solidFill>
                            <a:srgbClr val="000000"/>
                          </a:solidFill>
                          <a:latin typeface="Raleway"/>
                        </a:rPr>
                        <a:t> </a:t>
                      </a:r>
                      <a:r>
                        <a:rPr sz="1000" b="0" err="1">
                          <a:solidFill>
                            <a:srgbClr val="000000"/>
                          </a:solidFill>
                          <a:latin typeface="Raleway"/>
                        </a:rPr>
                        <a:t>diisi</a:t>
                      </a:r>
                      <a:r>
                        <a:rPr sz="1000" b="0">
                          <a:solidFill>
                            <a:srgbClr val="000000"/>
                          </a:solidFill>
                          <a:latin typeface="Raleway"/>
                        </a:rPr>
                        <a:t> </a:t>
                      </a:r>
                      <a:r>
                        <a:rPr sz="1000" b="0" err="1">
                          <a:solidFill>
                            <a:srgbClr val="000000"/>
                          </a:solidFill>
                          <a:latin typeface="Raleway"/>
                        </a:rPr>
                        <a:t>dari</a:t>
                      </a:r>
                      <a:r>
                        <a:rPr sz="1000" b="0">
                          <a:solidFill>
                            <a:srgbClr val="000000"/>
                          </a:solidFill>
                          <a:latin typeface="Raleway"/>
                        </a:rPr>
                        <a:t> In Line. </a:t>
                      </a:r>
                      <a:r>
                        <a:rPr sz="1000" b="0" err="1">
                          <a:solidFill>
                            <a:srgbClr val="000000"/>
                          </a:solidFill>
                          <a:latin typeface="Raleway"/>
                        </a:rPr>
                        <a:t>Namun</a:t>
                      </a:r>
                      <a:r>
                        <a:rPr sz="1000" b="0">
                          <a:solidFill>
                            <a:srgbClr val="000000"/>
                          </a:solidFill>
                          <a:latin typeface="Raleway"/>
                        </a:rPr>
                        <a:t>, QC Physics/Chemical </a:t>
                      </a:r>
                      <a:r>
                        <a:rPr sz="1000" b="0" err="1">
                          <a:solidFill>
                            <a:srgbClr val="000000"/>
                          </a:solidFill>
                          <a:latin typeface="Raleway"/>
                        </a:rPr>
                        <a:t>belum</a:t>
                      </a:r>
                      <a:r>
                        <a:rPr sz="1000" b="0">
                          <a:solidFill>
                            <a:srgbClr val="000000"/>
                          </a:solidFill>
                          <a:latin typeface="Raleway"/>
                        </a:rPr>
                        <a:t> </a:t>
                      </a:r>
                      <a:r>
                        <a:rPr sz="1000" b="0" err="1">
                          <a:solidFill>
                            <a:srgbClr val="000000"/>
                          </a:solidFill>
                          <a:latin typeface="Raleway"/>
                        </a:rPr>
                        <a:t>ada</a:t>
                      </a:r>
                      <a:r>
                        <a:rPr sz="1000" b="0">
                          <a:solidFill>
                            <a:srgbClr val="000000"/>
                          </a:solidFill>
                          <a:latin typeface="Raleway"/>
                        </a:rPr>
                        <a:t> di SO JESS 2. Masih </a:t>
                      </a:r>
                      <a:r>
                        <a:rPr sz="1000" b="0" err="1">
                          <a:solidFill>
                            <a:srgbClr val="000000"/>
                          </a:solidFill>
                          <a:latin typeface="Raleway"/>
                        </a:rPr>
                        <a:t>menunggu</a:t>
                      </a:r>
                      <a:r>
                        <a:rPr sz="1000" b="0">
                          <a:solidFill>
                            <a:srgbClr val="000000"/>
                          </a:solidFill>
                          <a:latin typeface="Raleway"/>
                        </a:rPr>
                        <a:t> di </a:t>
                      </a:r>
                      <a:r>
                        <a:rPr sz="1000" b="0" err="1">
                          <a:solidFill>
                            <a:srgbClr val="000000"/>
                          </a:solidFill>
                          <a:latin typeface="Raleway"/>
                        </a:rPr>
                        <a:t>hari</a:t>
                      </a:r>
                      <a:r>
                        <a:rPr sz="1000" b="0">
                          <a:solidFill>
                            <a:srgbClr val="000000"/>
                          </a:solidFill>
                          <a:latin typeface="Raleway"/>
                        </a:rPr>
                        <a:t> Senin </a:t>
                      </a:r>
                      <a:r>
                        <a:rPr sz="1000" b="0" err="1">
                          <a:solidFill>
                            <a:srgbClr val="000000"/>
                          </a:solidFill>
                          <a:latin typeface="Raleway"/>
                        </a:rPr>
                        <a:t>untuk</a:t>
                      </a:r>
                      <a:r>
                        <a:rPr sz="1000" b="0">
                          <a:solidFill>
                            <a:srgbClr val="000000"/>
                          </a:solidFill>
                          <a:latin typeface="Raleway"/>
                        </a:rPr>
                        <a:t> </a:t>
                      </a:r>
                      <a:r>
                        <a:rPr sz="1000" b="0" err="1">
                          <a:solidFill>
                            <a:srgbClr val="000000"/>
                          </a:solidFill>
                          <a:latin typeface="Raleway"/>
                        </a:rPr>
                        <a:t>dapat</a:t>
                      </a:r>
                      <a:r>
                        <a:rPr sz="1000" b="0">
                          <a:solidFill>
                            <a:srgbClr val="000000"/>
                          </a:solidFill>
                          <a:latin typeface="Raleway"/>
                        </a:rPr>
                        <a:t> </a:t>
                      </a:r>
                      <a:r>
                        <a:rPr sz="1000" b="0" err="1">
                          <a:solidFill>
                            <a:srgbClr val="000000"/>
                          </a:solidFill>
                          <a:latin typeface="Raleway"/>
                        </a:rPr>
                        <a:t>berdiskusi</a:t>
                      </a:r>
                      <a:r>
                        <a:rPr sz="1000" b="0">
                          <a:solidFill>
                            <a:srgbClr val="000000"/>
                          </a:solidFill>
                          <a:latin typeface="Raleway"/>
                        </a:rPr>
                        <a:t> </a:t>
                      </a:r>
                      <a:r>
                        <a:rPr sz="1000" b="0" err="1">
                          <a:solidFill>
                            <a:srgbClr val="000000"/>
                          </a:solidFill>
                          <a:latin typeface="Raleway"/>
                        </a:rPr>
                        <a:t>dengan</a:t>
                      </a:r>
                      <a:r>
                        <a:rPr sz="1000" b="0">
                          <a:solidFill>
                            <a:srgbClr val="000000"/>
                          </a:solidFill>
                          <a:latin typeface="Raleway"/>
                        </a:rPr>
                        <a:t> User</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Diskusi</a:t>
                      </a:r>
                      <a:r>
                        <a:rPr sz="1000" b="0">
                          <a:solidFill>
                            <a:srgbClr val="000000"/>
                          </a:solidFill>
                          <a:latin typeface="Raleway"/>
                        </a:rPr>
                        <a:t> </a:t>
                      </a:r>
                      <a:r>
                        <a:rPr sz="1000" b="0" err="1">
                          <a:solidFill>
                            <a:srgbClr val="000000"/>
                          </a:solidFill>
                          <a:latin typeface="Raleway"/>
                        </a:rPr>
                        <a:t>dengan</a:t>
                      </a:r>
                      <a:r>
                        <a:rPr sz="1000" b="0">
                          <a:solidFill>
                            <a:srgbClr val="000000"/>
                          </a:solidFill>
                          <a:latin typeface="Raleway"/>
                        </a:rPr>
                        <a:t>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789008">
                <a:tc>
                  <a:txBody>
                    <a:bodyPr/>
                    <a:lstStyle/>
                    <a:p>
                      <a:pPr algn="ctr">
                        <a:lnSpc>
                          <a:spcPct val="90000"/>
                        </a:lnSpc>
                        <a:spcBef>
                          <a:spcPts val="0"/>
                        </a:spcBef>
                        <a:spcAft>
                          <a:spcPts val="0"/>
                        </a:spcAft>
                      </a:pPr>
                      <a:r>
                        <a:rPr sz="1000" b="0">
                          <a:solidFill>
                            <a:srgbClr val="000000"/>
                          </a:solidFill>
                          <a:latin typeface="Raleway"/>
                        </a:rPr>
                        <a:t>17-04-2026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Production Foreman- Mayonnaise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17-05-2026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Fiscall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CLOSED</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CLOSED</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623103">
                <a:tc>
                  <a:txBody>
                    <a:bodyPr/>
                    <a:lstStyle/>
                    <a:p>
                      <a:pPr algn="ctr">
                        <a:lnSpc>
                          <a:spcPct val="90000"/>
                        </a:lnSpc>
                        <a:spcBef>
                          <a:spcPts val="0"/>
                        </a:spcBef>
                        <a:spcAft>
                          <a:spcPts val="0"/>
                        </a:spcAft>
                      </a:pPr>
                      <a:r>
                        <a:rPr sz="1000" b="0">
                          <a:solidFill>
                            <a:srgbClr val="000000"/>
                          </a:solidFill>
                          <a:latin typeface="Raleway"/>
                        </a:rPr>
                        <a:t>18-04-2026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Production Foreman- Mayonnaise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18-05-2026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Fiscall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Send CV to user, </a:t>
                      </a:r>
                      <a:r>
                        <a:rPr sz="1000" b="0" err="1">
                          <a:solidFill>
                            <a:srgbClr val="000000"/>
                          </a:solidFill>
                          <a:latin typeface="Raleway"/>
                        </a:rPr>
                        <a:t>sudah</a:t>
                      </a:r>
                      <a:r>
                        <a:rPr sz="1000" b="0">
                          <a:solidFill>
                            <a:srgbClr val="000000"/>
                          </a:solidFill>
                          <a:latin typeface="Raleway"/>
                        </a:rPr>
                        <a:t> user interview, </a:t>
                      </a:r>
                      <a:r>
                        <a:rPr sz="1000" b="0" err="1">
                          <a:solidFill>
                            <a:srgbClr val="000000"/>
                          </a:solidFill>
                          <a:latin typeface="Raleway"/>
                        </a:rPr>
                        <a:t>belum</a:t>
                      </a:r>
                      <a:r>
                        <a:rPr sz="1000" b="0">
                          <a:solidFill>
                            <a:srgbClr val="000000"/>
                          </a:solidFill>
                          <a:latin typeface="Raleway"/>
                        </a:rPr>
                        <a:t> </a:t>
                      </a:r>
                      <a:r>
                        <a:rPr sz="1000" b="0" err="1">
                          <a:solidFill>
                            <a:srgbClr val="000000"/>
                          </a:solidFill>
                          <a:latin typeface="Raleway"/>
                        </a:rPr>
                        <a:t>ada</a:t>
                      </a:r>
                      <a:r>
                        <a:rPr sz="1000" b="0">
                          <a:solidFill>
                            <a:srgbClr val="000000"/>
                          </a:solidFill>
                          <a:latin typeface="Raleway"/>
                        </a:rPr>
                        <a:t> yang lolos Posisi Foreman Mayo</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Send 5 CV Daily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bl>
          </a:graphicData>
        </a:graphic>
      </p:graphicFrame>
      <p:sp>
        <p:nvSpPr>
          <p:cNvPr id="6" name="Title 1">
            <a:extLst>
              <a:ext uri="{FF2B5EF4-FFF2-40B4-BE49-F238E27FC236}">
                <a16:creationId xmlns:a16="http://schemas.microsoft.com/office/drawing/2014/main" id="{36808856-ECBE-C586-C1A5-50921E065D60}"/>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47F067CC-62DC-398C-9F99-C302D3C64A89}"/>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1689496933"/>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4"/>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486932">
                <a:tc>
                  <a:txBody>
                    <a:bodyPr/>
                    <a:lstStyle/>
                    <a:p>
                      <a:pPr algn="ctr">
                        <a:lnSpc>
                          <a:spcPct val="90000"/>
                        </a:lnSpc>
                        <a:spcBef>
                          <a:spcPts val="0"/>
                        </a:spcBef>
                        <a:spcAft>
                          <a:spcPts val="0"/>
                        </a:spcAft>
                      </a:pPr>
                      <a:r>
                        <a:rPr sz="1000" b="0">
                          <a:solidFill>
                            <a:srgbClr val="000000"/>
                          </a:solidFill>
                          <a:latin typeface="Raleway"/>
                        </a:rPr>
                        <a:t>19-04-2026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Production Foreman- Mayonnaise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19-05-2026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Fiscall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Send CV to user, </a:t>
                      </a:r>
                      <a:r>
                        <a:rPr sz="1000" b="0" err="1">
                          <a:solidFill>
                            <a:srgbClr val="000000"/>
                          </a:solidFill>
                          <a:latin typeface="Raleway"/>
                        </a:rPr>
                        <a:t>sudah</a:t>
                      </a:r>
                      <a:r>
                        <a:rPr sz="1000" b="0">
                          <a:solidFill>
                            <a:srgbClr val="000000"/>
                          </a:solidFill>
                          <a:latin typeface="Raleway"/>
                        </a:rPr>
                        <a:t> user interview, </a:t>
                      </a:r>
                      <a:r>
                        <a:rPr sz="1000" b="0" err="1">
                          <a:solidFill>
                            <a:srgbClr val="000000"/>
                          </a:solidFill>
                          <a:latin typeface="Raleway"/>
                        </a:rPr>
                        <a:t>belum</a:t>
                      </a:r>
                      <a:r>
                        <a:rPr sz="1000" b="0">
                          <a:solidFill>
                            <a:srgbClr val="000000"/>
                          </a:solidFill>
                          <a:latin typeface="Raleway"/>
                        </a:rPr>
                        <a:t> </a:t>
                      </a:r>
                      <a:r>
                        <a:rPr sz="1000" b="0" err="1">
                          <a:solidFill>
                            <a:srgbClr val="000000"/>
                          </a:solidFill>
                          <a:latin typeface="Raleway"/>
                        </a:rPr>
                        <a:t>ada</a:t>
                      </a:r>
                      <a:r>
                        <a:rPr sz="1000" b="0">
                          <a:solidFill>
                            <a:srgbClr val="000000"/>
                          </a:solidFill>
                          <a:latin typeface="Raleway"/>
                        </a:rPr>
                        <a:t> yang lolos Posisi Foreman Mayo</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Send 5 CV Daily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486932">
                <a:tc>
                  <a:txBody>
                    <a:bodyPr/>
                    <a:lstStyle/>
                    <a:p>
                      <a:pPr algn="ctr">
                        <a:lnSpc>
                          <a:spcPct val="90000"/>
                        </a:lnSpc>
                        <a:spcBef>
                          <a:spcPts val="0"/>
                        </a:spcBef>
                        <a:spcAft>
                          <a:spcPts val="0"/>
                        </a:spcAft>
                      </a:pPr>
                      <a:r>
                        <a:rPr sz="1000" b="0">
                          <a:solidFill>
                            <a:srgbClr val="000000"/>
                          </a:solidFill>
                          <a:latin typeface="Raleway"/>
                        </a:rPr>
                        <a:t>20-04-2026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Production Foreman- Mayonnaise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20-05-2026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Fiscall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Send CV to user, </a:t>
                      </a:r>
                      <a:r>
                        <a:rPr sz="1000" b="0" err="1">
                          <a:solidFill>
                            <a:srgbClr val="000000"/>
                          </a:solidFill>
                          <a:latin typeface="Raleway"/>
                        </a:rPr>
                        <a:t>sudah</a:t>
                      </a:r>
                      <a:r>
                        <a:rPr sz="1000" b="0">
                          <a:solidFill>
                            <a:srgbClr val="000000"/>
                          </a:solidFill>
                          <a:latin typeface="Raleway"/>
                        </a:rPr>
                        <a:t> user interview, </a:t>
                      </a:r>
                      <a:r>
                        <a:rPr sz="1000" b="0" err="1">
                          <a:solidFill>
                            <a:srgbClr val="000000"/>
                          </a:solidFill>
                          <a:latin typeface="Raleway"/>
                        </a:rPr>
                        <a:t>belum</a:t>
                      </a:r>
                      <a:r>
                        <a:rPr sz="1000" b="0">
                          <a:solidFill>
                            <a:srgbClr val="000000"/>
                          </a:solidFill>
                          <a:latin typeface="Raleway"/>
                        </a:rPr>
                        <a:t> </a:t>
                      </a:r>
                      <a:r>
                        <a:rPr sz="1000" b="0" err="1">
                          <a:solidFill>
                            <a:srgbClr val="000000"/>
                          </a:solidFill>
                          <a:latin typeface="Raleway"/>
                        </a:rPr>
                        <a:t>ada</a:t>
                      </a:r>
                      <a:r>
                        <a:rPr sz="1000" b="0">
                          <a:solidFill>
                            <a:srgbClr val="000000"/>
                          </a:solidFill>
                          <a:latin typeface="Raleway"/>
                        </a:rPr>
                        <a:t> yang lolos Posisi Foreman Mayo</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Send 5 CV Daily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726150">
                <a:tc>
                  <a:txBody>
                    <a:bodyPr/>
                    <a:lstStyle/>
                    <a:p>
                      <a:pPr algn="ctr">
                        <a:lnSpc>
                          <a:spcPct val="90000"/>
                        </a:lnSpc>
                        <a:spcBef>
                          <a:spcPts val="0"/>
                        </a:spcBef>
                        <a:spcAft>
                          <a:spcPts val="0"/>
                        </a:spcAft>
                      </a:pPr>
                      <a:r>
                        <a:rPr sz="1000" b="0">
                          <a:solidFill>
                            <a:srgbClr val="000000"/>
                          </a:solidFill>
                          <a:latin typeface="Raleway"/>
                        </a:rPr>
                        <a:t>05-Aug-26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Manufacturing Excellence Staff</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06-Jul-26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Fiscall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Send CV to user, </a:t>
                      </a:r>
                      <a:r>
                        <a:rPr sz="1000" b="0" err="1">
                          <a:solidFill>
                            <a:srgbClr val="000000"/>
                          </a:solidFill>
                          <a:latin typeface="Raleway"/>
                        </a:rPr>
                        <a:t>sudah</a:t>
                      </a:r>
                      <a:r>
                        <a:rPr sz="1000" b="0">
                          <a:solidFill>
                            <a:srgbClr val="000000"/>
                          </a:solidFill>
                          <a:latin typeface="Raleway"/>
                        </a:rPr>
                        <a:t> user interview, lolos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Moh. Akhyar</a:t>
                      </a:r>
                    </a:p>
                    <a:p>
                      <a:pPr algn="l">
                        <a:lnSpc>
                          <a:spcPct val="90000"/>
                        </a:lnSpc>
                        <a:spcBef>
                          <a:spcPts val="0"/>
                        </a:spcBef>
                        <a:spcAft>
                          <a:spcPts val="0"/>
                        </a:spcAft>
                      </a:pPr>
                      <a:r>
                        <a:rPr sz="1000" b="0">
                          <a:solidFill>
                            <a:srgbClr val="000000"/>
                          </a:solidFill>
                          <a:latin typeface="Raleway"/>
                        </a:rPr>
                        <a:t>&gt; Done offering call, </a:t>
                      </a:r>
                      <a:r>
                        <a:rPr sz="1000" b="0" err="1">
                          <a:solidFill>
                            <a:srgbClr val="000000"/>
                          </a:solidFill>
                          <a:latin typeface="Raleway"/>
                        </a:rPr>
                        <a:t>kandidat</a:t>
                      </a:r>
                      <a:r>
                        <a:rPr sz="1000" b="0">
                          <a:solidFill>
                            <a:srgbClr val="000000"/>
                          </a:solidFill>
                          <a:latin typeface="Raleway"/>
                        </a:rPr>
                        <a:t> accepted</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Follow Up MCU</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bl>
          </a:graphicData>
        </a:graphic>
      </p:graphicFrame>
      <p:sp>
        <p:nvSpPr>
          <p:cNvPr id="6" name="Title 1">
            <a:extLst>
              <a:ext uri="{FF2B5EF4-FFF2-40B4-BE49-F238E27FC236}">
                <a16:creationId xmlns:a16="http://schemas.microsoft.com/office/drawing/2014/main" id="{5566B97A-25C9-37DE-E33D-946C4B1DA951}"/>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D41AFC1D-B501-5DFB-CA1A-3059E153BA72}"/>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698468756"/>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5"/>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2484889">
                <a:tc>
                  <a:txBody>
                    <a:bodyPr/>
                    <a:lstStyle/>
                    <a:p>
                      <a:pPr algn="ctr">
                        <a:lnSpc>
                          <a:spcPct val="90000"/>
                        </a:lnSpc>
                        <a:spcBef>
                          <a:spcPts val="0"/>
                        </a:spcBef>
                        <a:spcAft>
                          <a:spcPts val="0"/>
                        </a:spcAft>
                      </a:pPr>
                      <a:r>
                        <a:rPr sz="1000" b="0">
                          <a:solidFill>
                            <a:srgbClr val="000000"/>
                          </a:solidFill>
                          <a:latin typeface="Raleway"/>
                        </a:rPr>
                        <a:t>20-07-2026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Supply Chain &amp; Warehouse Staff - PPIC</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19-08-2026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Send CV to user, </a:t>
                      </a:r>
                      <a:r>
                        <a:rPr sz="1000" b="0" err="1">
                          <a:solidFill>
                            <a:srgbClr val="000000"/>
                          </a:solidFill>
                          <a:latin typeface="Raleway"/>
                        </a:rPr>
                        <a:t>sudah</a:t>
                      </a:r>
                      <a:r>
                        <a:rPr sz="1000" b="0">
                          <a:solidFill>
                            <a:srgbClr val="000000"/>
                          </a:solidFill>
                          <a:latin typeface="Raleway"/>
                        </a:rPr>
                        <a:t> user interview, lolos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Riska </a:t>
                      </a:r>
                      <a:r>
                        <a:rPr sz="1000" b="0" err="1">
                          <a:solidFill>
                            <a:srgbClr val="000000"/>
                          </a:solidFill>
                          <a:latin typeface="Raleway"/>
                        </a:rPr>
                        <a:t>Apriliany</a:t>
                      </a: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&gt; Done </a:t>
                      </a:r>
                      <a:r>
                        <a:rPr sz="1000" b="0" err="1">
                          <a:solidFill>
                            <a:srgbClr val="000000"/>
                          </a:solidFill>
                          <a:latin typeface="Raleway"/>
                        </a:rPr>
                        <a:t>Psikotes</a:t>
                      </a:r>
                      <a:r>
                        <a:rPr sz="1000" b="0">
                          <a:solidFill>
                            <a:srgbClr val="000000"/>
                          </a:solidFill>
                          <a:latin typeface="Raleway"/>
                        </a:rPr>
                        <a:t>, </a:t>
                      </a:r>
                      <a:r>
                        <a:rPr sz="1000" b="0" err="1">
                          <a:solidFill>
                            <a:srgbClr val="000000"/>
                          </a:solidFill>
                          <a:latin typeface="Raleway"/>
                        </a:rPr>
                        <a:t>sudah</a:t>
                      </a:r>
                      <a:r>
                        <a:rPr sz="1000" b="0">
                          <a:solidFill>
                            <a:srgbClr val="000000"/>
                          </a:solidFill>
                          <a:latin typeface="Raleway"/>
                        </a:rPr>
                        <a:t> </a:t>
                      </a:r>
                      <a:r>
                        <a:rPr sz="1000" b="0" err="1">
                          <a:solidFill>
                            <a:srgbClr val="000000"/>
                          </a:solidFill>
                          <a:latin typeface="Raleway"/>
                        </a:rPr>
                        <a:t>dilakukan</a:t>
                      </a:r>
                      <a:r>
                        <a:rPr sz="1000" b="0">
                          <a:solidFill>
                            <a:srgbClr val="000000"/>
                          </a:solidFill>
                          <a:latin typeface="Raleway"/>
                        </a:rPr>
                        <a:t> offering, </a:t>
                      </a:r>
                      <a:r>
                        <a:rPr sz="1000" b="0" err="1">
                          <a:solidFill>
                            <a:srgbClr val="000000"/>
                          </a:solidFill>
                          <a:latin typeface="Raleway"/>
                        </a:rPr>
                        <a:t>namun</a:t>
                      </a:r>
                      <a:r>
                        <a:rPr sz="1000" b="0">
                          <a:solidFill>
                            <a:srgbClr val="000000"/>
                          </a:solidFill>
                          <a:latin typeface="Raleway"/>
                        </a:rPr>
                        <a:t> </a:t>
                      </a:r>
                      <a:r>
                        <a:rPr sz="1000" b="0" err="1">
                          <a:solidFill>
                            <a:srgbClr val="000000"/>
                          </a:solidFill>
                          <a:latin typeface="Raleway"/>
                        </a:rPr>
                        <a:t>masih</a:t>
                      </a:r>
                      <a:r>
                        <a:rPr sz="1000" b="0">
                          <a:solidFill>
                            <a:srgbClr val="000000"/>
                          </a:solidFill>
                          <a:latin typeface="Raleway"/>
                        </a:rPr>
                        <a:t> </a:t>
                      </a:r>
                      <a:r>
                        <a:rPr sz="1000" b="0" err="1">
                          <a:solidFill>
                            <a:srgbClr val="000000"/>
                          </a:solidFill>
                          <a:latin typeface="Raleway"/>
                        </a:rPr>
                        <a:t>menunggu</a:t>
                      </a:r>
                      <a:r>
                        <a:rPr sz="1000" b="0">
                          <a:solidFill>
                            <a:srgbClr val="000000"/>
                          </a:solidFill>
                          <a:latin typeface="Raleway"/>
                        </a:rPr>
                        <a:t> </a:t>
                      </a:r>
                      <a:r>
                        <a:rPr sz="1000" b="0" err="1">
                          <a:solidFill>
                            <a:srgbClr val="000000"/>
                          </a:solidFill>
                          <a:latin typeface="Raleway"/>
                        </a:rPr>
                        <a:t>jawabannya</a:t>
                      </a:r>
                      <a:r>
                        <a:rPr sz="1000" b="0">
                          <a:solidFill>
                            <a:srgbClr val="000000"/>
                          </a:solidFill>
                          <a:latin typeface="Raleway"/>
                        </a:rPr>
                        <a:t> </a:t>
                      </a:r>
                      <a:r>
                        <a:rPr sz="1000" b="0" err="1">
                          <a:solidFill>
                            <a:srgbClr val="000000"/>
                          </a:solidFill>
                          <a:latin typeface="Raleway"/>
                        </a:rPr>
                        <a:t>besok</a:t>
                      </a:r>
                      <a:r>
                        <a:rPr sz="1000" b="0">
                          <a:solidFill>
                            <a:srgbClr val="000000"/>
                          </a:solidFill>
                          <a:latin typeface="Raleway"/>
                        </a:rPr>
                        <a:t>.</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Follow up</a:t>
                      </a:r>
                    </a:p>
                    <a:p>
                      <a:pPr algn="l">
                        <a:lnSpc>
                          <a:spcPct val="90000"/>
                        </a:lnSpc>
                        <a:spcBef>
                          <a:spcPts val="0"/>
                        </a:spcBef>
                        <a:spcAft>
                          <a:spcPts val="0"/>
                        </a:spcAft>
                      </a:pPr>
                      <a:r>
                        <a:rPr sz="1000" b="0">
                          <a:solidFill>
                            <a:srgbClr val="000000"/>
                          </a:solidFill>
                          <a:latin typeface="Raleway"/>
                        </a:rPr>
                        <a:t>&gt; Send 6=5 Daily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2215126">
                <a:tc>
                  <a:txBody>
                    <a:bodyPr/>
                    <a:lstStyle/>
                    <a:p>
                      <a:pPr algn="ctr">
                        <a:lnSpc>
                          <a:spcPct val="90000"/>
                        </a:lnSpc>
                        <a:spcBef>
                          <a:spcPts val="0"/>
                        </a:spcBef>
                        <a:spcAft>
                          <a:spcPts val="0"/>
                        </a:spcAft>
                      </a:pPr>
                      <a:r>
                        <a:rPr sz="1000" b="0">
                          <a:solidFill>
                            <a:srgbClr val="000000"/>
                          </a:solidFill>
                          <a:latin typeface="Raleway"/>
                        </a:rPr>
                        <a:t>13-05-2026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Production Foreman - Egg</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06-Dec-26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Fiscall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Send CV to user, </a:t>
                      </a:r>
                      <a:r>
                        <a:rPr sz="1000" b="0" err="1">
                          <a:solidFill>
                            <a:srgbClr val="000000"/>
                          </a:solidFill>
                          <a:latin typeface="Raleway"/>
                        </a:rPr>
                        <a:t>sudah</a:t>
                      </a:r>
                      <a:r>
                        <a:rPr sz="1000" b="0">
                          <a:solidFill>
                            <a:srgbClr val="000000"/>
                          </a:solidFill>
                          <a:latin typeface="Raleway"/>
                        </a:rPr>
                        <a:t> user interview, lolos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Rahmat Dwi</a:t>
                      </a:r>
                    </a:p>
                    <a:p>
                      <a:pPr algn="l">
                        <a:lnSpc>
                          <a:spcPct val="90000"/>
                        </a:lnSpc>
                        <a:spcBef>
                          <a:spcPts val="0"/>
                        </a:spcBef>
                        <a:spcAft>
                          <a:spcPts val="0"/>
                        </a:spcAft>
                      </a:pPr>
                      <a:r>
                        <a:rPr sz="1000" b="0">
                          <a:solidFill>
                            <a:srgbClr val="000000"/>
                          </a:solidFill>
                          <a:latin typeface="Raleway"/>
                        </a:rPr>
                        <a:t>&gt; Done </a:t>
                      </a:r>
                      <a:r>
                        <a:rPr sz="1000" b="0" err="1">
                          <a:solidFill>
                            <a:srgbClr val="000000"/>
                          </a:solidFill>
                          <a:latin typeface="Raleway"/>
                        </a:rPr>
                        <a:t>Psikotes</a:t>
                      </a:r>
                      <a:endParaRPr sz="1000" b="0">
                        <a:solidFill>
                          <a:srgbClr val="000000"/>
                        </a:solidFill>
                        <a:latin typeface="Raleway"/>
                      </a:endParaRP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Approval salary </a:t>
                      </a:r>
                      <a:r>
                        <a:rPr sz="1000" b="0" err="1">
                          <a:solidFill>
                            <a:srgbClr val="000000"/>
                          </a:solidFill>
                          <a:latin typeface="Raleway"/>
                        </a:rPr>
                        <a:t>ke</a:t>
                      </a:r>
                      <a:r>
                        <a:rPr sz="1000" b="0">
                          <a:solidFill>
                            <a:srgbClr val="000000"/>
                          </a:solidFill>
                          <a:latin typeface="Raleway"/>
                        </a:rPr>
                        <a:t> Pak  Alif</a:t>
                      </a:r>
                    </a:p>
                    <a:p>
                      <a:pPr algn="l">
                        <a:lnSpc>
                          <a:spcPct val="90000"/>
                        </a:lnSpc>
                        <a:spcBef>
                          <a:spcPts val="0"/>
                        </a:spcBef>
                        <a:spcAft>
                          <a:spcPts val="0"/>
                        </a:spcAft>
                      </a:pPr>
                      <a:r>
                        <a:rPr sz="1000" b="0">
                          <a:solidFill>
                            <a:srgbClr val="000000"/>
                          </a:solidFill>
                          <a:latin typeface="Raleway"/>
                        </a:rPr>
                        <a:t>&gt; Send 6=5 Daily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bl>
          </a:graphicData>
        </a:graphic>
      </p:graphicFrame>
      <p:sp>
        <p:nvSpPr>
          <p:cNvPr id="6" name="Title 1">
            <a:extLst>
              <a:ext uri="{FF2B5EF4-FFF2-40B4-BE49-F238E27FC236}">
                <a16:creationId xmlns:a16="http://schemas.microsoft.com/office/drawing/2014/main" id="{E42DE9E3-2741-2088-4921-984312E91C67}"/>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ED2BC767-1BFA-D121-90EB-862E715F2125}"/>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1546928109"/>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5"/>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2704053">
                <a:tc>
                  <a:txBody>
                    <a:bodyPr/>
                    <a:lstStyle/>
                    <a:p>
                      <a:pPr algn="ctr">
                        <a:lnSpc>
                          <a:spcPct val="90000"/>
                        </a:lnSpc>
                        <a:spcBef>
                          <a:spcPts val="0"/>
                        </a:spcBef>
                        <a:spcAft>
                          <a:spcPts val="0"/>
                        </a:spcAft>
                      </a:pPr>
                      <a:r>
                        <a:rPr sz="1000" b="0">
                          <a:solidFill>
                            <a:srgbClr val="000000"/>
                          </a:solidFill>
                          <a:latin typeface="Raleway"/>
                        </a:rPr>
                        <a:t>13-05-2026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Production Foreman - Egg</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06-Dec-26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Fiscall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Send CV to user, </a:t>
                      </a:r>
                      <a:r>
                        <a:rPr sz="1000" b="0" err="1">
                          <a:solidFill>
                            <a:srgbClr val="000000"/>
                          </a:solidFill>
                          <a:latin typeface="Raleway"/>
                        </a:rPr>
                        <a:t>sudah</a:t>
                      </a:r>
                      <a:r>
                        <a:rPr sz="1000" b="0">
                          <a:solidFill>
                            <a:srgbClr val="000000"/>
                          </a:solidFill>
                          <a:latin typeface="Raleway"/>
                        </a:rPr>
                        <a:t> user interview, lolos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Rahmat Dwi</a:t>
                      </a:r>
                    </a:p>
                    <a:p>
                      <a:pPr algn="l">
                        <a:lnSpc>
                          <a:spcPct val="90000"/>
                        </a:lnSpc>
                        <a:spcBef>
                          <a:spcPts val="0"/>
                        </a:spcBef>
                        <a:spcAft>
                          <a:spcPts val="0"/>
                        </a:spcAft>
                      </a:pPr>
                      <a:r>
                        <a:rPr sz="1000" b="0">
                          <a:solidFill>
                            <a:srgbClr val="000000"/>
                          </a:solidFill>
                          <a:latin typeface="Raleway"/>
                        </a:rPr>
                        <a:t>&gt; Done </a:t>
                      </a:r>
                      <a:r>
                        <a:rPr sz="1000" b="0" err="1">
                          <a:solidFill>
                            <a:srgbClr val="000000"/>
                          </a:solidFill>
                          <a:latin typeface="Raleway"/>
                        </a:rPr>
                        <a:t>Psikotes</a:t>
                      </a:r>
                      <a:endParaRPr sz="1000" b="0">
                        <a:solidFill>
                          <a:srgbClr val="000000"/>
                        </a:solidFill>
                        <a:latin typeface="Raleway"/>
                      </a:endParaRP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Approval salary </a:t>
                      </a:r>
                      <a:r>
                        <a:rPr sz="1000" b="0" err="1">
                          <a:solidFill>
                            <a:srgbClr val="000000"/>
                          </a:solidFill>
                          <a:latin typeface="Raleway"/>
                        </a:rPr>
                        <a:t>ke</a:t>
                      </a:r>
                      <a:r>
                        <a:rPr sz="1000" b="0">
                          <a:solidFill>
                            <a:srgbClr val="000000"/>
                          </a:solidFill>
                          <a:latin typeface="Raleway"/>
                        </a:rPr>
                        <a:t> Pak  Alif</a:t>
                      </a:r>
                    </a:p>
                    <a:p>
                      <a:pPr algn="l">
                        <a:lnSpc>
                          <a:spcPct val="90000"/>
                        </a:lnSpc>
                        <a:spcBef>
                          <a:spcPts val="0"/>
                        </a:spcBef>
                        <a:spcAft>
                          <a:spcPts val="0"/>
                        </a:spcAft>
                      </a:pPr>
                      <a:r>
                        <a:rPr sz="1000" b="0">
                          <a:solidFill>
                            <a:srgbClr val="000000"/>
                          </a:solidFill>
                          <a:latin typeface="Raleway"/>
                        </a:rPr>
                        <a:t>&gt; Send 6=5 Daily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995962">
                <a:tc>
                  <a:txBody>
                    <a:bodyPr/>
                    <a:lstStyle/>
                    <a:p>
                      <a:pPr algn="ctr">
                        <a:lnSpc>
                          <a:spcPct val="90000"/>
                        </a:lnSpc>
                        <a:spcBef>
                          <a:spcPts val="0"/>
                        </a:spcBef>
                        <a:spcAft>
                          <a:spcPts val="0"/>
                        </a:spcAft>
                      </a:pPr>
                      <a:r>
                        <a:rPr sz="1000" b="0">
                          <a:solidFill>
                            <a:srgbClr val="000000"/>
                          </a:solidFill>
                          <a:latin typeface="Raleway"/>
                        </a:rPr>
                        <a:t>23-06-2026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Formulation Leader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23-07-2026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Fiscall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Sudah</a:t>
                      </a:r>
                      <a:r>
                        <a:rPr sz="1000" b="0">
                          <a:solidFill>
                            <a:srgbClr val="000000"/>
                          </a:solidFill>
                          <a:latin typeface="Raleway"/>
                        </a:rPr>
                        <a:t> send 10 CV to user, </a:t>
                      </a:r>
                      <a:r>
                        <a:rPr sz="1000" b="0" err="1">
                          <a:solidFill>
                            <a:srgbClr val="000000"/>
                          </a:solidFill>
                          <a:latin typeface="Raleway"/>
                        </a:rPr>
                        <a:t>belum</a:t>
                      </a:r>
                      <a:r>
                        <a:rPr sz="1000" b="0">
                          <a:solidFill>
                            <a:srgbClr val="000000"/>
                          </a:solidFill>
                          <a:latin typeface="Raleway"/>
                        </a:rPr>
                        <a:t> di feedback</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Follow up CV </a:t>
                      </a:r>
                      <a:r>
                        <a:rPr sz="1000" b="0" err="1">
                          <a:solidFill>
                            <a:srgbClr val="000000"/>
                          </a:solidFill>
                          <a:latin typeface="Raleway"/>
                        </a:rPr>
                        <a:t>terkirim</a:t>
                      </a:r>
                      <a:endParaRPr sz="1000" b="0">
                        <a:solidFill>
                          <a:srgbClr val="000000"/>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bl>
          </a:graphicData>
        </a:graphic>
      </p:graphicFrame>
      <p:sp>
        <p:nvSpPr>
          <p:cNvPr id="6" name="Title 1">
            <a:extLst>
              <a:ext uri="{FF2B5EF4-FFF2-40B4-BE49-F238E27FC236}">
                <a16:creationId xmlns:a16="http://schemas.microsoft.com/office/drawing/2014/main" id="{CC5542F4-F1DC-3751-C80B-981A0AAA22D3}"/>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9A3583F6-0BFF-0576-05B6-53F3597FCBF8}"/>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3869481901"/>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4"/>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2317776">
                <a:tc>
                  <a:txBody>
                    <a:bodyPr/>
                    <a:lstStyle/>
                    <a:p>
                      <a:pPr algn="ctr">
                        <a:lnSpc>
                          <a:spcPct val="90000"/>
                        </a:lnSpc>
                        <a:spcBef>
                          <a:spcPts val="0"/>
                        </a:spcBef>
                        <a:spcAft>
                          <a:spcPts val="0"/>
                        </a:spcAft>
                      </a:pPr>
                      <a:r>
                        <a:rPr sz="1000" b="0">
                          <a:solidFill>
                            <a:srgbClr val="000000"/>
                          </a:solidFill>
                          <a:latin typeface="Raleway"/>
                        </a:rPr>
                        <a:t>21-07-2026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Quality Assurance Analysis Staff - Microbiology</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20-08-2026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Send CV to user, </a:t>
                      </a:r>
                      <a:r>
                        <a:rPr sz="1000" b="0" err="1">
                          <a:solidFill>
                            <a:srgbClr val="000000"/>
                          </a:solidFill>
                          <a:latin typeface="Raleway"/>
                        </a:rPr>
                        <a:t>sudah</a:t>
                      </a:r>
                      <a:r>
                        <a:rPr sz="1000" b="0">
                          <a:solidFill>
                            <a:srgbClr val="000000"/>
                          </a:solidFill>
                          <a:latin typeface="Raleway"/>
                        </a:rPr>
                        <a:t> user interview, lolos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Kresentia Verena</a:t>
                      </a:r>
                    </a:p>
                    <a:p>
                      <a:pPr algn="l">
                        <a:lnSpc>
                          <a:spcPct val="90000"/>
                        </a:lnSpc>
                        <a:spcBef>
                          <a:spcPts val="0"/>
                        </a:spcBef>
                        <a:spcAft>
                          <a:spcPts val="0"/>
                        </a:spcAft>
                      </a:pPr>
                      <a:r>
                        <a:rPr sz="1000" b="0">
                          <a:solidFill>
                            <a:srgbClr val="000000"/>
                          </a:solidFill>
                          <a:latin typeface="Raleway"/>
                        </a:rPr>
                        <a:t>&gt; Done </a:t>
                      </a:r>
                      <a:r>
                        <a:rPr sz="1000" b="0" err="1">
                          <a:solidFill>
                            <a:srgbClr val="000000"/>
                          </a:solidFill>
                          <a:latin typeface="Raleway"/>
                        </a:rPr>
                        <a:t>Psikotes</a:t>
                      </a: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Kandidat</a:t>
                      </a:r>
                      <a:r>
                        <a:rPr sz="1000" b="0">
                          <a:solidFill>
                            <a:srgbClr val="000000"/>
                          </a:solidFill>
                          <a:latin typeface="Raleway"/>
                        </a:rPr>
                        <a:t> accepted offering</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Sudah</a:t>
                      </a:r>
                      <a:r>
                        <a:rPr sz="1000" b="0">
                          <a:solidFill>
                            <a:srgbClr val="000000"/>
                          </a:solidFill>
                          <a:latin typeface="Raleway"/>
                        </a:rPr>
                        <a:t> send </a:t>
                      </a:r>
                      <a:r>
                        <a:rPr sz="1000" b="0" err="1">
                          <a:solidFill>
                            <a:srgbClr val="000000"/>
                          </a:solidFill>
                          <a:latin typeface="Raleway"/>
                        </a:rPr>
                        <a:t>Pemberkasan</a:t>
                      </a:r>
                      <a:r>
                        <a:rPr sz="1000" b="0">
                          <a:solidFill>
                            <a:srgbClr val="000000"/>
                          </a:solidFill>
                          <a:latin typeface="Raleway"/>
                        </a:rPr>
                        <a:t>, Offering Letter, </a:t>
                      </a:r>
                      <a:r>
                        <a:rPr sz="1000" b="0" err="1">
                          <a:solidFill>
                            <a:srgbClr val="000000"/>
                          </a:solidFill>
                          <a:latin typeface="Raleway"/>
                        </a:rPr>
                        <a:t>Perjanjian</a:t>
                      </a:r>
                      <a:r>
                        <a:rPr sz="1000" b="0">
                          <a:solidFill>
                            <a:srgbClr val="000000"/>
                          </a:solidFill>
                          <a:latin typeface="Raleway"/>
                        </a:rPr>
                        <a:t> </a:t>
                      </a:r>
                      <a:r>
                        <a:rPr sz="1000" b="0" err="1">
                          <a:solidFill>
                            <a:srgbClr val="000000"/>
                          </a:solidFill>
                          <a:latin typeface="Raleway"/>
                        </a:rPr>
                        <a:t>Kontrak</a:t>
                      </a:r>
                      <a:r>
                        <a:rPr sz="1000" b="0">
                          <a:solidFill>
                            <a:srgbClr val="000000"/>
                          </a:solidFill>
                          <a:latin typeface="Raleway"/>
                        </a:rPr>
                        <a:t>, dan </a:t>
                      </a:r>
                      <a:r>
                        <a:rPr sz="1000" b="0" err="1">
                          <a:solidFill>
                            <a:srgbClr val="000000"/>
                          </a:solidFill>
                          <a:latin typeface="Raleway"/>
                        </a:rPr>
                        <a:t>Komitmen</a:t>
                      </a:r>
                      <a:r>
                        <a:rPr sz="1000" b="0">
                          <a:solidFill>
                            <a:srgbClr val="000000"/>
                          </a:solidFill>
                          <a:latin typeface="Raleway"/>
                        </a:rPr>
                        <a:t> </a:t>
                      </a:r>
                      <a:r>
                        <a:rPr sz="1000" b="0" err="1">
                          <a:solidFill>
                            <a:srgbClr val="000000"/>
                          </a:solidFill>
                          <a:latin typeface="Raleway"/>
                        </a:rPr>
                        <a:t>Kerahasiaan</a:t>
                      </a:r>
                      <a:endParaRPr sz="1000" b="0">
                        <a:solidFill>
                          <a:srgbClr val="000000"/>
                        </a:solidFill>
                        <a:latin typeface="Raleway"/>
                      </a:endParaRP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Onboarding </a:t>
                      </a:r>
                      <a:r>
                        <a:rPr sz="1000" b="0" err="1">
                          <a:solidFill>
                            <a:srgbClr val="000000"/>
                          </a:solidFill>
                          <a:latin typeface="Raleway"/>
                        </a:rPr>
                        <a:t>a.n</a:t>
                      </a:r>
                      <a:r>
                        <a:rPr sz="1000" b="0">
                          <a:solidFill>
                            <a:srgbClr val="000000"/>
                          </a:solidFill>
                          <a:latin typeface="Raleway"/>
                        </a:rPr>
                        <a:t> </a:t>
                      </a:r>
                      <a:r>
                        <a:rPr sz="1000" b="0" err="1">
                          <a:solidFill>
                            <a:srgbClr val="000000"/>
                          </a:solidFill>
                          <a:latin typeface="Raleway"/>
                        </a:rPr>
                        <a:t>Kresentia</a:t>
                      </a:r>
                      <a:r>
                        <a:rPr sz="1000" b="0">
                          <a:solidFill>
                            <a:srgbClr val="000000"/>
                          </a:solidFill>
                          <a:latin typeface="Raleway"/>
                        </a:rPr>
                        <a:t> Verena per 20 Juli 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693474">
                <a:tc>
                  <a:txBody>
                    <a:bodyPr/>
                    <a:lstStyle/>
                    <a:p>
                      <a:pPr algn="ctr">
                        <a:lnSpc>
                          <a:spcPct val="90000"/>
                        </a:lnSpc>
                        <a:spcBef>
                          <a:spcPts val="0"/>
                        </a:spcBef>
                        <a:spcAft>
                          <a:spcPts val="0"/>
                        </a:spcAft>
                      </a:pPr>
                      <a:r>
                        <a:rPr sz="1000" b="0">
                          <a:solidFill>
                            <a:srgbClr val="000000"/>
                          </a:solidFill>
                          <a:latin typeface="Raleway"/>
                        </a:rPr>
                        <a:t>22-07-2026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Production Foreman - Sauce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21-08-2026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Send CV to user, </a:t>
                      </a:r>
                      <a:r>
                        <a:rPr sz="1000" b="0" err="1">
                          <a:solidFill>
                            <a:srgbClr val="000000"/>
                          </a:solidFill>
                          <a:latin typeface="Raleway"/>
                        </a:rPr>
                        <a:t>sudah</a:t>
                      </a:r>
                      <a:r>
                        <a:rPr sz="1000" b="0">
                          <a:solidFill>
                            <a:srgbClr val="000000"/>
                          </a:solidFill>
                          <a:latin typeface="Raleway"/>
                        </a:rPr>
                        <a:t> user interview, lolos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a:t>
                      </a:r>
                      <a:r>
                        <a:rPr sz="1000" b="0" err="1">
                          <a:solidFill>
                            <a:srgbClr val="000000"/>
                          </a:solidFill>
                          <a:latin typeface="Raleway"/>
                        </a:rPr>
                        <a:t>Barkah</a:t>
                      </a:r>
                      <a:r>
                        <a:rPr sz="1000" b="0">
                          <a:solidFill>
                            <a:srgbClr val="000000"/>
                          </a:solidFill>
                          <a:latin typeface="Raleway"/>
                        </a:rPr>
                        <a:t> </a:t>
                      </a:r>
                      <a:r>
                        <a:rPr sz="1000" b="0" err="1">
                          <a:solidFill>
                            <a:srgbClr val="000000"/>
                          </a:solidFill>
                          <a:latin typeface="Raleway"/>
                        </a:rPr>
                        <a:t>Ageng</a:t>
                      </a: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&gt; Done </a:t>
                      </a:r>
                      <a:r>
                        <a:rPr sz="1000" b="0" err="1">
                          <a:solidFill>
                            <a:srgbClr val="000000"/>
                          </a:solidFill>
                          <a:latin typeface="Raleway"/>
                        </a:rPr>
                        <a:t>Psikotes</a:t>
                      </a:r>
                      <a:endParaRPr sz="1000" b="0">
                        <a:solidFill>
                          <a:srgbClr val="000000"/>
                        </a:solidFill>
                        <a:latin typeface="Raleway"/>
                      </a:endParaRP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Send 5 CV daily Week 34</a:t>
                      </a:r>
                    </a:p>
                    <a:p>
                      <a:pPr algn="l">
                        <a:lnSpc>
                          <a:spcPct val="90000"/>
                        </a:lnSpc>
                        <a:spcBef>
                          <a:spcPts val="0"/>
                        </a:spcBef>
                        <a:spcAft>
                          <a:spcPts val="0"/>
                        </a:spcAft>
                      </a:pPr>
                      <a:r>
                        <a:rPr sz="1000" b="0">
                          <a:solidFill>
                            <a:srgbClr val="000000"/>
                          </a:solidFill>
                          <a:latin typeface="Raleway"/>
                        </a:rPr>
                        <a:t>&gt; Approval Salary </a:t>
                      </a:r>
                      <a:r>
                        <a:rPr sz="1000" b="0" err="1">
                          <a:solidFill>
                            <a:srgbClr val="000000"/>
                          </a:solidFill>
                          <a:latin typeface="Raleway"/>
                        </a:rPr>
                        <a:t>ke</a:t>
                      </a:r>
                      <a:r>
                        <a:rPr sz="1000" b="0">
                          <a:solidFill>
                            <a:srgbClr val="000000"/>
                          </a:solidFill>
                          <a:latin typeface="Raleway"/>
                        </a:rPr>
                        <a:t> Pak Alif</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688764">
                <a:tc>
                  <a:txBody>
                    <a:bodyPr/>
                    <a:lstStyle/>
                    <a:p>
                      <a:pPr algn="ctr">
                        <a:lnSpc>
                          <a:spcPct val="90000"/>
                        </a:lnSpc>
                        <a:spcBef>
                          <a:spcPts val="0"/>
                        </a:spcBef>
                        <a:spcAft>
                          <a:spcPts val="0"/>
                        </a:spcAft>
                      </a:pPr>
                      <a:r>
                        <a:rPr sz="1000" b="0">
                          <a:solidFill>
                            <a:srgbClr val="000000"/>
                          </a:solidFill>
                          <a:latin typeface="Raleway"/>
                        </a:rPr>
                        <a:t>24-07-2026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People &amp; Organization Development Staff</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23-08-2026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Eli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endParaRPr sz="1000"/>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bl>
          </a:graphicData>
        </a:graphic>
      </p:graphicFrame>
      <p:sp>
        <p:nvSpPr>
          <p:cNvPr id="6" name="Title 1">
            <a:extLst>
              <a:ext uri="{FF2B5EF4-FFF2-40B4-BE49-F238E27FC236}">
                <a16:creationId xmlns:a16="http://schemas.microsoft.com/office/drawing/2014/main" id="{EDB0AA6F-2844-A598-7DFF-8E69AD895F8D}"/>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8652A72F-B946-0FE9-3631-F993A0E7D5D0}"/>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1855328961"/>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4"/>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2225573">
                <a:tc>
                  <a:txBody>
                    <a:bodyPr/>
                    <a:lstStyle/>
                    <a:p>
                      <a:pPr algn="ctr">
                        <a:lnSpc>
                          <a:spcPct val="90000"/>
                        </a:lnSpc>
                        <a:spcBef>
                          <a:spcPts val="0"/>
                        </a:spcBef>
                        <a:spcAft>
                          <a:spcPts val="0"/>
                        </a:spcAft>
                      </a:pPr>
                      <a:r>
                        <a:rPr sz="1000" b="0">
                          <a:solidFill>
                            <a:srgbClr val="000000"/>
                          </a:solidFill>
                          <a:latin typeface="Raleway"/>
                        </a:rPr>
                        <a:t>09-Jan-25</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Kneading </a:t>
                      </a:r>
                      <a:r>
                        <a:rPr lang="en-US" sz="1000" b="0" err="1">
                          <a:solidFill>
                            <a:srgbClr val="000000"/>
                          </a:solidFill>
                          <a:latin typeface="Raleway"/>
                        </a:rPr>
                        <a:t>Foremanz</a:t>
                      </a:r>
                      <a:endParaRPr sz="1000" b="0" err="1">
                        <a:solidFill>
                          <a:srgbClr val="000000"/>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10-Jan-25</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Eli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Proses reference check 1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atas</a:t>
                      </a:r>
                      <a:r>
                        <a:rPr sz="1000" b="0">
                          <a:solidFill>
                            <a:srgbClr val="000000"/>
                          </a:solidFill>
                          <a:latin typeface="Raleway"/>
                        </a:rPr>
                        <a:t> nama </a:t>
                      </a:r>
                      <a:r>
                        <a:rPr sz="1000" b="0" err="1">
                          <a:solidFill>
                            <a:srgbClr val="000000"/>
                          </a:solidFill>
                          <a:latin typeface="Raleway"/>
                        </a:rPr>
                        <a:t>Yanidar</a:t>
                      </a:r>
                      <a:r>
                        <a:rPr sz="1000" b="0">
                          <a:solidFill>
                            <a:srgbClr val="000000"/>
                          </a:solidFill>
                          <a:latin typeface="Raleway"/>
                        </a:rPr>
                        <a:t> – WITHDRAW di Week 32</a:t>
                      </a:r>
                    </a:p>
                    <a:p>
                      <a:pPr algn="l">
                        <a:lnSpc>
                          <a:spcPct val="90000"/>
                        </a:lnSpc>
                        <a:spcBef>
                          <a:spcPts val="0"/>
                        </a:spcBef>
                        <a:spcAft>
                          <a:spcPts val="0"/>
                        </a:spcAft>
                      </a:pPr>
                      <a:r>
                        <a:rPr sz="1000" b="0">
                          <a:solidFill>
                            <a:srgbClr val="000000"/>
                          </a:solidFill>
                          <a:latin typeface="Raleway"/>
                        </a:rPr>
                        <a:t>&gt; Send 26 CVs to user. Shortlisted 12 CVs di Week 32</a:t>
                      </a:r>
                    </a:p>
                    <a:p>
                      <a:pPr algn="l">
                        <a:lnSpc>
                          <a:spcPct val="90000"/>
                        </a:lnSpc>
                        <a:spcBef>
                          <a:spcPts val="0"/>
                        </a:spcBef>
                        <a:spcAft>
                          <a:spcPts val="0"/>
                        </a:spcAft>
                      </a:pPr>
                      <a:r>
                        <a:rPr sz="1000" b="0">
                          <a:solidFill>
                            <a:srgbClr val="000000"/>
                          </a:solidFill>
                          <a:latin typeface="Raleway"/>
                        </a:rPr>
                        <a:t>&gt; HR Interview dan </a:t>
                      </a:r>
                      <a:r>
                        <a:rPr sz="1000" b="0" err="1">
                          <a:solidFill>
                            <a:srgbClr val="000000"/>
                          </a:solidFill>
                          <a:latin typeface="Raleway"/>
                        </a:rPr>
                        <a:t>psikotest</a:t>
                      </a:r>
                      <a:r>
                        <a:rPr sz="1000" b="0">
                          <a:solidFill>
                            <a:srgbClr val="000000"/>
                          </a:solidFill>
                          <a:latin typeface="Raleway"/>
                        </a:rPr>
                        <a:t> 2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Joko dan Deky di Week 33</a:t>
                      </a:r>
                    </a:p>
                    <a:p>
                      <a:pPr algn="l">
                        <a:lnSpc>
                          <a:spcPct val="90000"/>
                        </a:lnSpc>
                        <a:spcBef>
                          <a:spcPts val="0"/>
                        </a:spcBef>
                        <a:spcAft>
                          <a:spcPts val="0"/>
                        </a:spcAft>
                      </a:pPr>
                      <a:r>
                        <a:rPr sz="1000" b="0">
                          <a:solidFill>
                            <a:srgbClr val="000000"/>
                          </a:solidFill>
                          <a:latin typeface="Raleway"/>
                        </a:rPr>
                        <a:t>&gt; User Interview with Bp. Irfan 2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Joko dan Deky di Week 33</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Sourcing 10 </a:t>
                      </a:r>
                      <a:r>
                        <a:rPr sz="1000" b="0" err="1">
                          <a:solidFill>
                            <a:srgbClr val="000000"/>
                          </a:solidFill>
                          <a:latin typeface="Raleway"/>
                        </a:rPr>
                        <a:t>Cvs</a:t>
                      </a:r>
                      <a:r>
                        <a:rPr sz="1000" b="0">
                          <a:solidFill>
                            <a:srgbClr val="000000"/>
                          </a:solidFill>
                          <a:latin typeface="Raleway"/>
                        </a:rPr>
                        <a:t> 25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202711">
                <a:tc>
                  <a:txBody>
                    <a:bodyPr/>
                    <a:lstStyle/>
                    <a:p>
                      <a:pPr algn="ctr">
                        <a:lnSpc>
                          <a:spcPct val="90000"/>
                        </a:lnSpc>
                        <a:spcBef>
                          <a:spcPts val="0"/>
                        </a:spcBef>
                        <a:spcAft>
                          <a:spcPts val="0"/>
                        </a:spcAft>
                      </a:pPr>
                      <a:r>
                        <a:rPr sz="1000" b="0">
                          <a:solidFill>
                            <a:srgbClr val="000000"/>
                          </a:solidFill>
                          <a:latin typeface="Raleway"/>
                        </a:rPr>
                        <a:t>21-05-2026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Good Manufacturing Patrol Staff</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20-06-2026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Gabbie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12 CV lolos shortlist </a:t>
                      </a:r>
                      <a:r>
                        <a:rPr sz="1000" b="0" err="1">
                          <a:solidFill>
                            <a:srgbClr val="000000"/>
                          </a:solidFill>
                          <a:latin typeface="Raleway"/>
                        </a:rPr>
                        <a:t>dari</a:t>
                      </a:r>
                      <a:r>
                        <a:rPr sz="1000" b="0">
                          <a:solidFill>
                            <a:srgbClr val="000000"/>
                          </a:solidFill>
                          <a:latin typeface="Raleway"/>
                        </a:rPr>
                        <a:t> User, 9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diagendakan</a:t>
                      </a:r>
                      <a:r>
                        <a:rPr sz="1000" b="0">
                          <a:solidFill>
                            <a:srgbClr val="000000"/>
                          </a:solidFill>
                          <a:latin typeface="Raleway"/>
                        </a:rPr>
                        <a:t> HR Interview (1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tidak</a:t>
                      </a:r>
                      <a:r>
                        <a:rPr sz="1000" b="0">
                          <a:solidFill>
                            <a:srgbClr val="000000"/>
                          </a:solidFill>
                          <a:latin typeface="Raleway"/>
                        </a:rPr>
                        <a:t> </a:t>
                      </a:r>
                      <a:r>
                        <a:rPr sz="1000" b="0" err="1">
                          <a:solidFill>
                            <a:srgbClr val="000000"/>
                          </a:solidFill>
                          <a:latin typeface="Raleway"/>
                        </a:rPr>
                        <a:t>dilanjutkan</a:t>
                      </a:r>
                      <a:r>
                        <a:rPr sz="1000" b="0">
                          <a:solidFill>
                            <a:srgbClr val="000000"/>
                          </a:solidFill>
                          <a:latin typeface="Raleway"/>
                        </a:rPr>
                        <a:t> </a:t>
                      </a:r>
                      <a:r>
                        <a:rPr sz="1000" b="0" err="1">
                          <a:solidFill>
                            <a:srgbClr val="000000"/>
                          </a:solidFill>
                          <a:latin typeface="Raleway"/>
                        </a:rPr>
                        <a:t>karena</a:t>
                      </a:r>
                      <a:r>
                        <a:rPr sz="1000" b="0">
                          <a:solidFill>
                            <a:srgbClr val="000000"/>
                          </a:solidFill>
                          <a:latin typeface="Raleway"/>
                        </a:rPr>
                        <a:t> background </a:t>
                      </a:r>
                      <a:r>
                        <a:rPr sz="1000" b="0" err="1">
                          <a:solidFill>
                            <a:srgbClr val="000000"/>
                          </a:solidFill>
                          <a:latin typeface="Raleway"/>
                        </a:rPr>
                        <a:t>pekerjaan</a:t>
                      </a:r>
                      <a:r>
                        <a:rPr sz="1000" b="0">
                          <a:solidFill>
                            <a:srgbClr val="000000"/>
                          </a:solidFill>
                          <a:latin typeface="Raleway"/>
                        </a:rPr>
                        <a:t> ayah: POLRI)</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Melakukan</a:t>
                      </a:r>
                      <a:r>
                        <a:rPr sz="1000" b="0">
                          <a:solidFill>
                            <a:srgbClr val="000000"/>
                          </a:solidFill>
                          <a:latin typeface="Raleway"/>
                        </a:rPr>
                        <a:t> HR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271730">
                <a:tc>
                  <a:txBody>
                    <a:bodyPr/>
                    <a:lstStyle/>
                    <a:p>
                      <a:pPr algn="ctr">
                        <a:lnSpc>
                          <a:spcPct val="90000"/>
                        </a:lnSpc>
                        <a:spcBef>
                          <a:spcPts val="0"/>
                        </a:spcBef>
                        <a:spcAft>
                          <a:spcPts val="0"/>
                        </a:spcAft>
                      </a:pPr>
                      <a:r>
                        <a:rPr sz="1000" b="0">
                          <a:solidFill>
                            <a:srgbClr val="000000"/>
                          </a:solidFill>
                          <a:latin typeface="Raleway"/>
                        </a:rPr>
                        <a:t>17-06-2026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Good Manufacturing Practice Patrol Staff</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17-07-2026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Gabbie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12 CV lolos shortlist </a:t>
                      </a:r>
                      <a:r>
                        <a:rPr sz="1000" b="0" err="1">
                          <a:solidFill>
                            <a:srgbClr val="000000"/>
                          </a:solidFill>
                          <a:latin typeface="Raleway"/>
                        </a:rPr>
                        <a:t>dari</a:t>
                      </a:r>
                      <a:r>
                        <a:rPr sz="1000" b="0">
                          <a:solidFill>
                            <a:srgbClr val="000000"/>
                          </a:solidFill>
                          <a:latin typeface="Raleway"/>
                        </a:rPr>
                        <a:t> User, 9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diagendakan</a:t>
                      </a:r>
                      <a:r>
                        <a:rPr sz="1000" b="0">
                          <a:solidFill>
                            <a:srgbClr val="000000"/>
                          </a:solidFill>
                          <a:latin typeface="Raleway"/>
                        </a:rPr>
                        <a:t> HR Interview (1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tidak</a:t>
                      </a:r>
                      <a:r>
                        <a:rPr sz="1000" b="0">
                          <a:solidFill>
                            <a:srgbClr val="000000"/>
                          </a:solidFill>
                          <a:latin typeface="Raleway"/>
                        </a:rPr>
                        <a:t> </a:t>
                      </a:r>
                      <a:r>
                        <a:rPr sz="1000" b="0" err="1">
                          <a:solidFill>
                            <a:srgbClr val="000000"/>
                          </a:solidFill>
                          <a:latin typeface="Raleway"/>
                        </a:rPr>
                        <a:t>dilanjutkan</a:t>
                      </a:r>
                      <a:r>
                        <a:rPr sz="1000" b="0">
                          <a:solidFill>
                            <a:srgbClr val="000000"/>
                          </a:solidFill>
                          <a:latin typeface="Raleway"/>
                        </a:rPr>
                        <a:t> </a:t>
                      </a:r>
                      <a:r>
                        <a:rPr sz="1000" b="0" err="1">
                          <a:solidFill>
                            <a:srgbClr val="000000"/>
                          </a:solidFill>
                          <a:latin typeface="Raleway"/>
                        </a:rPr>
                        <a:t>karena</a:t>
                      </a:r>
                      <a:r>
                        <a:rPr sz="1000" b="0">
                          <a:solidFill>
                            <a:srgbClr val="000000"/>
                          </a:solidFill>
                          <a:latin typeface="Raleway"/>
                        </a:rPr>
                        <a:t> background </a:t>
                      </a:r>
                      <a:r>
                        <a:rPr sz="1000" b="0" err="1">
                          <a:solidFill>
                            <a:srgbClr val="000000"/>
                          </a:solidFill>
                          <a:latin typeface="Raleway"/>
                        </a:rPr>
                        <a:t>pekerjaan</a:t>
                      </a:r>
                      <a:r>
                        <a:rPr sz="1000" b="0">
                          <a:solidFill>
                            <a:srgbClr val="000000"/>
                          </a:solidFill>
                          <a:latin typeface="Raleway"/>
                        </a:rPr>
                        <a:t> ayah: POLRI)</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Melakukan</a:t>
                      </a:r>
                      <a:r>
                        <a:rPr sz="1000" b="0">
                          <a:solidFill>
                            <a:srgbClr val="000000"/>
                          </a:solidFill>
                          <a:latin typeface="Raleway"/>
                        </a:rPr>
                        <a:t> HR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bl>
          </a:graphicData>
        </a:graphic>
      </p:graphicFrame>
      <p:sp>
        <p:nvSpPr>
          <p:cNvPr id="6" name="Title 1">
            <a:extLst>
              <a:ext uri="{FF2B5EF4-FFF2-40B4-BE49-F238E27FC236}">
                <a16:creationId xmlns:a16="http://schemas.microsoft.com/office/drawing/2014/main" id="{374909F5-1DA1-E98A-4F70-222B140A77BD}"/>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B8D004B2-E926-5166-557B-7175BDAFE3AD}"/>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2567348925"/>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5"/>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2131715">
                <a:tc>
                  <a:txBody>
                    <a:bodyPr/>
                    <a:lstStyle/>
                    <a:p>
                      <a:pPr algn="ctr">
                        <a:lnSpc>
                          <a:spcPct val="90000"/>
                        </a:lnSpc>
                        <a:spcBef>
                          <a:spcPts val="0"/>
                        </a:spcBef>
                        <a:spcAft>
                          <a:spcPts val="0"/>
                        </a:spcAft>
                      </a:pPr>
                      <a:r>
                        <a:rPr sz="1000" b="0">
                          <a:solidFill>
                            <a:srgbClr val="000000"/>
                          </a:solidFill>
                          <a:latin typeface="Raleway"/>
                        </a:rPr>
                        <a:t>28-07-2026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Packing Foreman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27-08-2026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Gabbie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16 CV </a:t>
                      </a:r>
                      <a:r>
                        <a:rPr sz="1000" b="0" err="1">
                          <a:solidFill>
                            <a:srgbClr val="000000"/>
                          </a:solidFill>
                          <a:latin typeface="Raleway"/>
                        </a:rPr>
                        <a:t>sudah</a:t>
                      </a:r>
                      <a:r>
                        <a:rPr sz="1000" b="0">
                          <a:solidFill>
                            <a:srgbClr val="000000"/>
                          </a:solidFill>
                          <a:latin typeface="Raleway"/>
                        </a:rPr>
                        <a:t> </a:t>
                      </a:r>
                      <a:r>
                        <a:rPr sz="1000" b="0" err="1">
                          <a:solidFill>
                            <a:srgbClr val="000000"/>
                          </a:solidFill>
                          <a:latin typeface="Raleway"/>
                        </a:rPr>
                        <a:t>dikirmkan</a:t>
                      </a:r>
                      <a:r>
                        <a:rPr sz="1000" b="0">
                          <a:solidFill>
                            <a:srgbClr val="000000"/>
                          </a:solidFill>
                          <a:latin typeface="Raleway"/>
                        </a:rPr>
                        <a:t> </a:t>
                      </a:r>
                      <a:r>
                        <a:rPr sz="1000" b="0" err="1">
                          <a:solidFill>
                            <a:srgbClr val="000000"/>
                          </a:solidFill>
                          <a:latin typeface="Raleway"/>
                        </a:rPr>
                        <a:t>ke</a:t>
                      </a:r>
                      <a:r>
                        <a:rPr sz="1000" b="0">
                          <a:solidFill>
                            <a:srgbClr val="000000"/>
                          </a:solidFill>
                          <a:latin typeface="Raleway"/>
                        </a:rPr>
                        <a:t> User, 5 lolos shortlist, 11 </a:t>
                      </a:r>
                      <a:r>
                        <a:rPr sz="1000" b="0" err="1">
                          <a:solidFill>
                            <a:srgbClr val="000000"/>
                          </a:solidFill>
                          <a:latin typeface="Raleway"/>
                        </a:rPr>
                        <a:t>masih</a:t>
                      </a:r>
                      <a:r>
                        <a:rPr sz="1000" b="0">
                          <a:solidFill>
                            <a:srgbClr val="000000"/>
                          </a:solidFill>
                          <a:latin typeface="Raleway"/>
                        </a:rPr>
                        <a:t> </a:t>
                      </a:r>
                      <a:r>
                        <a:rPr sz="1000" b="0" err="1">
                          <a:solidFill>
                            <a:srgbClr val="000000"/>
                          </a:solidFill>
                          <a:latin typeface="Raleway"/>
                        </a:rPr>
                        <a:t>menunggu</a:t>
                      </a:r>
                      <a:r>
                        <a:rPr sz="1000" b="0">
                          <a:solidFill>
                            <a:srgbClr val="000000"/>
                          </a:solidFill>
                          <a:latin typeface="Raleway"/>
                        </a:rPr>
                        <a:t> feedback</a:t>
                      </a:r>
                    </a:p>
                    <a:p>
                      <a:pPr algn="l">
                        <a:lnSpc>
                          <a:spcPct val="90000"/>
                        </a:lnSpc>
                        <a:spcBef>
                          <a:spcPts val="0"/>
                        </a:spcBef>
                        <a:spcAft>
                          <a:spcPts val="0"/>
                        </a:spcAft>
                      </a:pPr>
                      <a:r>
                        <a:rPr sz="1000" b="0">
                          <a:solidFill>
                            <a:srgbClr val="000000"/>
                          </a:solidFill>
                          <a:latin typeface="Raleway"/>
                        </a:rPr>
                        <a:t>&gt; 3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sudah</a:t>
                      </a:r>
                      <a:r>
                        <a:rPr sz="1000" b="0">
                          <a:solidFill>
                            <a:srgbClr val="000000"/>
                          </a:solidFill>
                          <a:latin typeface="Raleway"/>
                        </a:rPr>
                        <a:t> lolos HR Interview, 2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akan</a:t>
                      </a:r>
                      <a:r>
                        <a:rPr sz="1000" b="0">
                          <a:solidFill>
                            <a:srgbClr val="000000"/>
                          </a:solidFill>
                          <a:latin typeface="Raleway"/>
                        </a:rPr>
                        <a:t> HR Interview di Week 34</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Megagendakan</a:t>
                      </a:r>
                      <a:r>
                        <a:rPr sz="1000" b="0">
                          <a:solidFill>
                            <a:srgbClr val="000000"/>
                          </a:solidFill>
                          <a:latin typeface="Raleway"/>
                        </a:rPr>
                        <a:t> User Interview 3 </a:t>
                      </a:r>
                      <a:r>
                        <a:rPr sz="1000" b="0" err="1">
                          <a:solidFill>
                            <a:srgbClr val="000000"/>
                          </a:solidFill>
                          <a:latin typeface="Raleway"/>
                        </a:rPr>
                        <a:t>kandidat</a:t>
                      </a: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Melakukan</a:t>
                      </a:r>
                      <a:r>
                        <a:rPr sz="1000" b="0">
                          <a:solidFill>
                            <a:srgbClr val="000000"/>
                          </a:solidFill>
                          <a:latin typeface="Raleway"/>
                        </a:rPr>
                        <a:t> HR Interview 2 </a:t>
                      </a:r>
                      <a:r>
                        <a:rPr sz="1000" b="0" err="1">
                          <a:solidFill>
                            <a:srgbClr val="000000"/>
                          </a:solidFill>
                          <a:latin typeface="Raleway"/>
                        </a:rPr>
                        <a:t>kandidat</a:t>
                      </a: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&gt; Follow up </a:t>
                      </a:r>
                      <a:r>
                        <a:rPr sz="1000" b="0" err="1">
                          <a:solidFill>
                            <a:srgbClr val="000000"/>
                          </a:solidFill>
                          <a:latin typeface="Raleway"/>
                        </a:rPr>
                        <a:t>hasil</a:t>
                      </a:r>
                      <a:r>
                        <a:rPr sz="1000" b="0">
                          <a:solidFill>
                            <a:srgbClr val="000000"/>
                          </a:solidFill>
                          <a:latin typeface="Raleway"/>
                        </a:rPr>
                        <a:t> shortlist CV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284150">
                <a:tc>
                  <a:txBody>
                    <a:bodyPr/>
                    <a:lstStyle/>
                    <a:p>
                      <a:pPr algn="ctr">
                        <a:lnSpc>
                          <a:spcPct val="90000"/>
                        </a:lnSpc>
                        <a:spcBef>
                          <a:spcPts val="0"/>
                        </a:spcBef>
                        <a:spcAft>
                          <a:spcPts val="0"/>
                        </a:spcAft>
                      </a:pPr>
                      <a:r>
                        <a:rPr sz="1000" b="0">
                          <a:solidFill>
                            <a:srgbClr val="000000"/>
                          </a:solidFill>
                          <a:latin typeface="Raleway"/>
                        </a:rPr>
                        <a:t>17-04-2026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Quality Control Staff - Incoming</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17-05-2026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Gabbie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11 CV </a:t>
                      </a:r>
                      <a:r>
                        <a:rPr sz="1000" b="0" err="1">
                          <a:solidFill>
                            <a:srgbClr val="000000"/>
                          </a:solidFill>
                          <a:latin typeface="Raleway"/>
                        </a:rPr>
                        <a:t>sudah</a:t>
                      </a:r>
                      <a:r>
                        <a:rPr sz="1000" b="0">
                          <a:solidFill>
                            <a:srgbClr val="000000"/>
                          </a:solidFill>
                          <a:latin typeface="Raleway"/>
                        </a:rPr>
                        <a:t> </a:t>
                      </a:r>
                      <a:r>
                        <a:rPr sz="1000" b="0" err="1">
                          <a:solidFill>
                            <a:srgbClr val="000000"/>
                          </a:solidFill>
                          <a:latin typeface="Raleway"/>
                        </a:rPr>
                        <a:t>dikirimkan</a:t>
                      </a:r>
                      <a:r>
                        <a:rPr sz="1000" b="0">
                          <a:solidFill>
                            <a:srgbClr val="000000"/>
                          </a:solidFill>
                          <a:latin typeface="Raleway"/>
                        </a:rPr>
                        <a:t> </a:t>
                      </a:r>
                      <a:r>
                        <a:rPr sz="1000" b="0" err="1">
                          <a:solidFill>
                            <a:srgbClr val="000000"/>
                          </a:solidFill>
                          <a:latin typeface="Raleway"/>
                        </a:rPr>
                        <a:t>ke</a:t>
                      </a:r>
                      <a:r>
                        <a:rPr sz="1000" b="0">
                          <a:solidFill>
                            <a:srgbClr val="000000"/>
                          </a:solidFill>
                          <a:latin typeface="Raleway"/>
                        </a:rPr>
                        <a:t> User, 2 lolos shortlist</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Mengirimkan</a:t>
                      </a:r>
                      <a:r>
                        <a:rPr sz="1000" b="0">
                          <a:solidFill>
                            <a:srgbClr val="000000"/>
                          </a:solidFill>
                          <a:latin typeface="Raleway"/>
                        </a:rPr>
                        <a:t> DISC &amp; form LIP</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Mengagendakan</a:t>
                      </a:r>
                      <a:r>
                        <a:rPr sz="1000" b="0">
                          <a:solidFill>
                            <a:srgbClr val="000000"/>
                          </a:solidFill>
                          <a:latin typeface="Raleway"/>
                        </a:rPr>
                        <a:t> HR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284150">
                <a:tc>
                  <a:txBody>
                    <a:bodyPr/>
                    <a:lstStyle/>
                    <a:p>
                      <a:pPr algn="ctr">
                        <a:lnSpc>
                          <a:spcPct val="90000"/>
                        </a:lnSpc>
                        <a:spcBef>
                          <a:spcPts val="0"/>
                        </a:spcBef>
                        <a:spcAft>
                          <a:spcPts val="0"/>
                        </a:spcAft>
                      </a:pPr>
                      <a:r>
                        <a:rPr sz="1000" b="0">
                          <a:solidFill>
                            <a:srgbClr val="000000"/>
                          </a:solidFill>
                          <a:latin typeface="Raleway"/>
                        </a:rPr>
                        <a:t>07-Sep-26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Quality Control Staff - Incoming</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08-Aug-26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Gabbie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11 CV </a:t>
                      </a:r>
                      <a:r>
                        <a:rPr sz="1000" b="0" err="1">
                          <a:solidFill>
                            <a:srgbClr val="000000"/>
                          </a:solidFill>
                          <a:latin typeface="Raleway"/>
                        </a:rPr>
                        <a:t>sudah</a:t>
                      </a:r>
                      <a:r>
                        <a:rPr sz="1000" b="0">
                          <a:solidFill>
                            <a:srgbClr val="000000"/>
                          </a:solidFill>
                          <a:latin typeface="Raleway"/>
                        </a:rPr>
                        <a:t> </a:t>
                      </a:r>
                      <a:r>
                        <a:rPr sz="1000" b="0" err="1">
                          <a:solidFill>
                            <a:srgbClr val="000000"/>
                          </a:solidFill>
                          <a:latin typeface="Raleway"/>
                        </a:rPr>
                        <a:t>dikirimkan</a:t>
                      </a:r>
                      <a:r>
                        <a:rPr sz="1000" b="0">
                          <a:solidFill>
                            <a:srgbClr val="000000"/>
                          </a:solidFill>
                          <a:latin typeface="Raleway"/>
                        </a:rPr>
                        <a:t> </a:t>
                      </a:r>
                      <a:r>
                        <a:rPr sz="1000" b="0" err="1">
                          <a:solidFill>
                            <a:srgbClr val="000000"/>
                          </a:solidFill>
                          <a:latin typeface="Raleway"/>
                        </a:rPr>
                        <a:t>ke</a:t>
                      </a:r>
                      <a:r>
                        <a:rPr sz="1000" b="0">
                          <a:solidFill>
                            <a:srgbClr val="000000"/>
                          </a:solidFill>
                          <a:latin typeface="Raleway"/>
                        </a:rPr>
                        <a:t> User, 2 lolos shortlist</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Mengirimkan</a:t>
                      </a:r>
                      <a:r>
                        <a:rPr sz="1000" b="0">
                          <a:solidFill>
                            <a:srgbClr val="000000"/>
                          </a:solidFill>
                          <a:latin typeface="Raleway"/>
                        </a:rPr>
                        <a:t> DISC &amp; form LIP</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Mengagendakan</a:t>
                      </a:r>
                      <a:r>
                        <a:rPr sz="1000" b="0">
                          <a:solidFill>
                            <a:srgbClr val="000000"/>
                          </a:solidFill>
                          <a:latin typeface="Raleway"/>
                        </a:rPr>
                        <a:t> HR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bl>
          </a:graphicData>
        </a:graphic>
      </p:graphicFrame>
      <p:sp>
        <p:nvSpPr>
          <p:cNvPr id="6" name="Title 1">
            <a:extLst>
              <a:ext uri="{FF2B5EF4-FFF2-40B4-BE49-F238E27FC236}">
                <a16:creationId xmlns:a16="http://schemas.microsoft.com/office/drawing/2014/main" id="{A402D0E4-C512-4BD1-51F6-A2897A1B3C32}"/>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AC830EC1-29B3-3034-2776-0B58542C3010}"/>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3360587042"/>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5"/>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281227">
                <a:tc>
                  <a:txBody>
                    <a:bodyPr/>
                    <a:lstStyle/>
                    <a:p>
                      <a:pPr algn="ctr">
                        <a:lnSpc>
                          <a:spcPct val="90000"/>
                        </a:lnSpc>
                        <a:spcBef>
                          <a:spcPts val="0"/>
                        </a:spcBef>
                        <a:spcAft>
                          <a:spcPts val="0"/>
                        </a:spcAft>
                      </a:pPr>
                      <a:r>
                        <a:rPr sz="1000" b="0">
                          <a:solidFill>
                            <a:srgbClr val="000000"/>
                          </a:solidFill>
                          <a:latin typeface="Raleway"/>
                        </a:rPr>
                        <a:t>24-06-2026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Quality Control Staff - Laboratory</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24-07-2026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Gabbie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11 CV </a:t>
                      </a:r>
                      <a:r>
                        <a:rPr sz="1000" b="0" err="1">
                          <a:solidFill>
                            <a:srgbClr val="000000"/>
                          </a:solidFill>
                          <a:latin typeface="Raleway"/>
                        </a:rPr>
                        <a:t>sudah</a:t>
                      </a:r>
                      <a:r>
                        <a:rPr sz="1000" b="0">
                          <a:solidFill>
                            <a:srgbClr val="000000"/>
                          </a:solidFill>
                          <a:latin typeface="Raleway"/>
                        </a:rPr>
                        <a:t> </a:t>
                      </a:r>
                      <a:r>
                        <a:rPr sz="1000" b="0" err="1">
                          <a:solidFill>
                            <a:srgbClr val="000000"/>
                          </a:solidFill>
                          <a:latin typeface="Raleway"/>
                        </a:rPr>
                        <a:t>dikirimkan</a:t>
                      </a:r>
                      <a:r>
                        <a:rPr sz="1000" b="0">
                          <a:solidFill>
                            <a:srgbClr val="000000"/>
                          </a:solidFill>
                          <a:latin typeface="Raleway"/>
                        </a:rPr>
                        <a:t> </a:t>
                      </a:r>
                      <a:r>
                        <a:rPr sz="1000" b="0" err="1">
                          <a:solidFill>
                            <a:srgbClr val="000000"/>
                          </a:solidFill>
                          <a:latin typeface="Raleway"/>
                        </a:rPr>
                        <a:t>ke</a:t>
                      </a:r>
                      <a:r>
                        <a:rPr sz="1000" b="0">
                          <a:solidFill>
                            <a:srgbClr val="000000"/>
                          </a:solidFill>
                          <a:latin typeface="Raleway"/>
                        </a:rPr>
                        <a:t> User, 3 lolos shortlist</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Mengirimkan</a:t>
                      </a:r>
                      <a:r>
                        <a:rPr sz="1000" b="0">
                          <a:solidFill>
                            <a:srgbClr val="000000"/>
                          </a:solidFill>
                          <a:latin typeface="Raleway"/>
                        </a:rPr>
                        <a:t> DISC &amp; form LIP</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Mengagendakan</a:t>
                      </a:r>
                      <a:r>
                        <a:rPr sz="1000" b="0">
                          <a:solidFill>
                            <a:srgbClr val="000000"/>
                          </a:solidFill>
                          <a:latin typeface="Raleway"/>
                        </a:rPr>
                        <a:t> HR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709394">
                <a:tc>
                  <a:txBody>
                    <a:bodyPr/>
                    <a:lstStyle/>
                    <a:p>
                      <a:pPr algn="ctr">
                        <a:lnSpc>
                          <a:spcPct val="90000"/>
                        </a:lnSpc>
                        <a:spcBef>
                          <a:spcPts val="0"/>
                        </a:spcBef>
                        <a:spcAft>
                          <a:spcPts val="0"/>
                        </a:spcAft>
                      </a:pPr>
                      <a:r>
                        <a:rPr sz="1000" b="0">
                          <a:solidFill>
                            <a:srgbClr val="000000"/>
                          </a:solidFill>
                          <a:latin typeface="Raleway"/>
                        </a:rPr>
                        <a:t>07-Sep-26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Good Manufacturing Practices Patrol Staff</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08-Aug-26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Kasanah</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23 </a:t>
                      </a:r>
                      <a:r>
                        <a:rPr sz="1000" b="0" err="1">
                          <a:solidFill>
                            <a:srgbClr val="000000"/>
                          </a:solidFill>
                          <a:latin typeface="Raleway"/>
                        </a:rPr>
                        <a:t>Cvs</a:t>
                      </a:r>
                      <a:r>
                        <a:rPr sz="1000" b="0">
                          <a:solidFill>
                            <a:srgbClr val="000000"/>
                          </a:solidFill>
                          <a:latin typeface="Raleway"/>
                        </a:rPr>
                        <a:t> </a:t>
                      </a:r>
                      <a:r>
                        <a:rPr sz="1000" b="0" err="1">
                          <a:solidFill>
                            <a:srgbClr val="000000"/>
                          </a:solidFill>
                          <a:latin typeface="Raleway"/>
                        </a:rPr>
                        <a:t>sudah</a:t>
                      </a:r>
                      <a:r>
                        <a:rPr sz="1000" b="0">
                          <a:solidFill>
                            <a:srgbClr val="000000"/>
                          </a:solidFill>
                          <a:latin typeface="Raleway"/>
                        </a:rPr>
                        <a:t> </a:t>
                      </a:r>
                      <a:r>
                        <a:rPr sz="1000" b="0" err="1">
                          <a:solidFill>
                            <a:srgbClr val="000000"/>
                          </a:solidFill>
                          <a:latin typeface="Raleway"/>
                        </a:rPr>
                        <a:t>dikirimkan</a:t>
                      </a:r>
                      <a:r>
                        <a:rPr sz="1000" b="0">
                          <a:solidFill>
                            <a:srgbClr val="000000"/>
                          </a:solidFill>
                          <a:latin typeface="Raleway"/>
                        </a:rPr>
                        <a:t> pada 13 </a:t>
                      </a:r>
                      <a:r>
                        <a:rPr sz="1000" b="0" err="1">
                          <a:solidFill>
                            <a:srgbClr val="000000"/>
                          </a:solidFill>
                          <a:latin typeface="Raleway"/>
                        </a:rPr>
                        <a:t>Agutsus</a:t>
                      </a:r>
                      <a:r>
                        <a:rPr sz="1000" b="0">
                          <a:solidFill>
                            <a:srgbClr val="000000"/>
                          </a:solidFill>
                          <a:latin typeface="Raleway"/>
                        </a:rPr>
                        <a:t> 2026</a:t>
                      </a:r>
                    </a:p>
                    <a:p>
                      <a:pPr algn="l">
                        <a:lnSpc>
                          <a:spcPct val="90000"/>
                        </a:lnSpc>
                        <a:spcBef>
                          <a:spcPts val="0"/>
                        </a:spcBef>
                        <a:spcAft>
                          <a:spcPts val="0"/>
                        </a:spcAft>
                      </a:pPr>
                      <a:r>
                        <a:rPr sz="1000" b="0">
                          <a:solidFill>
                            <a:srgbClr val="000000"/>
                          </a:solidFill>
                          <a:latin typeface="Raleway"/>
                        </a:rPr>
                        <a:t>&gt; 9 </a:t>
                      </a:r>
                      <a:r>
                        <a:rPr sz="1000" b="0" err="1">
                          <a:solidFill>
                            <a:srgbClr val="000000"/>
                          </a:solidFill>
                          <a:latin typeface="Raleway"/>
                        </a:rPr>
                        <a:t>Cvs</a:t>
                      </a:r>
                      <a:r>
                        <a:rPr sz="1000" b="0">
                          <a:solidFill>
                            <a:srgbClr val="000000"/>
                          </a:solidFill>
                          <a:latin typeface="Raleway"/>
                        </a:rPr>
                        <a:t> lolos shortlisted di 13 Agustus 2026</a:t>
                      </a:r>
                    </a:p>
                    <a:p>
                      <a:pPr algn="l">
                        <a:lnSpc>
                          <a:spcPct val="90000"/>
                        </a:lnSpc>
                        <a:spcBef>
                          <a:spcPts val="0"/>
                        </a:spcBef>
                        <a:spcAft>
                          <a:spcPts val="0"/>
                        </a:spcAft>
                      </a:pPr>
                      <a:r>
                        <a:rPr sz="1000" b="0">
                          <a:solidFill>
                            <a:srgbClr val="000000"/>
                          </a:solidFill>
                          <a:latin typeface="Raleway"/>
                        </a:rPr>
                        <a:t>&gt; 4 </a:t>
                      </a:r>
                      <a:r>
                        <a:rPr sz="1000" b="0" err="1">
                          <a:solidFill>
                            <a:srgbClr val="000000"/>
                          </a:solidFill>
                          <a:latin typeface="Raleway"/>
                        </a:rPr>
                        <a:t>Kandidat</a:t>
                      </a:r>
                      <a:r>
                        <a:rPr sz="1000" b="0">
                          <a:solidFill>
                            <a:srgbClr val="000000"/>
                          </a:solidFill>
                          <a:latin typeface="Raleway"/>
                        </a:rPr>
                        <a:t> lolos HR interview di 13 Agustus 2026</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Agendakan</a:t>
                      </a:r>
                      <a:r>
                        <a:rPr sz="1000" b="0">
                          <a:solidFill>
                            <a:srgbClr val="000000"/>
                          </a:solidFill>
                          <a:latin typeface="Raleway"/>
                        </a:rPr>
                        <a:t> User Interview I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709394">
                <a:tc>
                  <a:txBody>
                    <a:bodyPr/>
                    <a:lstStyle/>
                    <a:p>
                      <a:pPr algn="ctr">
                        <a:lnSpc>
                          <a:spcPct val="90000"/>
                        </a:lnSpc>
                        <a:spcBef>
                          <a:spcPts val="0"/>
                        </a:spcBef>
                        <a:spcAft>
                          <a:spcPts val="0"/>
                        </a:spcAft>
                      </a:pPr>
                      <a:r>
                        <a:rPr sz="1000" b="0">
                          <a:solidFill>
                            <a:srgbClr val="000000"/>
                          </a:solidFill>
                          <a:latin typeface="Raleway"/>
                        </a:rPr>
                        <a:t>31-07-2026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Good Manufacturing Practices Patrol Staff</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30-08-2026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Kasanah</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23 </a:t>
                      </a:r>
                      <a:r>
                        <a:rPr sz="1000" b="0" err="1">
                          <a:solidFill>
                            <a:srgbClr val="000000"/>
                          </a:solidFill>
                          <a:latin typeface="Raleway"/>
                        </a:rPr>
                        <a:t>Cvs</a:t>
                      </a:r>
                      <a:r>
                        <a:rPr sz="1000" b="0">
                          <a:solidFill>
                            <a:srgbClr val="000000"/>
                          </a:solidFill>
                          <a:latin typeface="Raleway"/>
                        </a:rPr>
                        <a:t> </a:t>
                      </a:r>
                      <a:r>
                        <a:rPr sz="1000" b="0" err="1">
                          <a:solidFill>
                            <a:srgbClr val="000000"/>
                          </a:solidFill>
                          <a:latin typeface="Raleway"/>
                        </a:rPr>
                        <a:t>sudah</a:t>
                      </a:r>
                      <a:r>
                        <a:rPr sz="1000" b="0">
                          <a:solidFill>
                            <a:srgbClr val="000000"/>
                          </a:solidFill>
                          <a:latin typeface="Raleway"/>
                        </a:rPr>
                        <a:t> </a:t>
                      </a:r>
                      <a:r>
                        <a:rPr sz="1000" b="0" err="1">
                          <a:solidFill>
                            <a:srgbClr val="000000"/>
                          </a:solidFill>
                          <a:latin typeface="Raleway"/>
                        </a:rPr>
                        <a:t>dikirimkan</a:t>
                      </a:r>
                      <a:r>
                        <a:rPr sz="1000" b="0">
                          <a:solidFill>
                            <a:srgbClr val="000000"/>
                          </a:solidFill>
                          <a:latin typeface="Raleway"/>
                        </a:rPr>
                        <a:t> pada 13 </a:t>
                      </a:r>
                      <a:r>
                        <a:rPr sz="1000" b="0" err="1">
                          <a:solidFill>
                            <a:srgbClr val="000000"/>
                          </a:solidFill>
                          <a:latin typeface="Raleway"/>
                        </a:rPr>
                        <a:t>Agutsus</a:t>
                      </a:r>
                      <a:r>
                        <a:rPr sz="1000" b="0">
                          <a:solidFill>
                            <a:srgbClr val="000000"/>
                          </a:solidFill>
                          <a:latin typeface="Raleway"/>
                        </a:rPr>
                        <a:t> 2026</a:t>
                      </a:r>
                    </a:p>
                    <a:p>
                      <a:pPr algn="l">
                        <a:lnSpc>
                          <a:spcPct val="90000"/>
                        </a:lnSpc>
                        <a:spcBef>
                          <a:spcPts val="0"/>
                        </a:spcBef>
                        <a:spcAft>
                          <a:spcPts val="0"/>
                        </a:spcAft>
                      </a:pPr>
                      <a:r>
                        <a:rPr sz="1000" b="0">
                          <a:solidFill>
                            <a:srgbClr val="000000"/>
                          </a:solidFill>
                          <a:latin typeface="Raleway"/>
                        </a:rPr>
                        <a:t>&gt; 9 </a:t>
                      </a:r>
                      <a:r>
                        <a:rPr sz="1000" b="0" err="1">
                          <a:solidFill>
                            <a:srgbClr val="000000"/>
                          </a:solidFill>
                          <a:latin typeface="Raleway"/>
                        </a:rPr>
                        <a:t>Cvs</a:t>
                      </a:r>
                      <a:r>
                        <a:rPr sz="1000" b="0">
                          <a:solidFill>
                            <a:srgbClr val="000000"/>
                          </a:solidFill>
                          <a:latin typeface="Raleway"/>
                        </a:rPr>
                        <a:t> lolos shortlisted di 13 Agustus 2026</a:t>
                      </a:r>
                    </a:p>
                    <a:p>
                      <a:pPr algn="l">
                        <a:lnSpc>
                          <a:spcPct val="90000"/>
                        </a:lnSpc>
                        <a:spcBef>
                          <a:spcPts val="0"/>
                        </a:spcBef>
                        <a:spcAft>
                          <a:spcPts val="0"/>
                        </a:spcAft>
                      </a:pPr>
                      <a:r>
                        <a:rPr sz="1000" b="0">
                          <a:solidFill>
                            <a:srgbClr val="000000"/>
                          </a:solidFill>
                          <a:latin typeface="Raleway"/>
                        </a:rPr>
                        <a:t>&gt; 4 </a:t>
                      </a:r>
                      <a:r>
                        <a:rPr sz="1000" b="0" err="1">
                          <a:solidFill>
                            <a:srgbClr val="000000"/>
                          </a:solidFill>
                          <a:latin typeface="Raleway"/>
                        </a:rPr>
                        <a:t>Kandidat</a:t>
                      </a:r>
                      <a:r>
                        <a:rPr sz="1000" b="0">
                          <a:solidFill>
                            <a:srgbClr val="000000"/>
                          </a:solidFill>
                          <a:latin typeface="Raleway"/>
                        </a:rPr>
                        <a:t> lolos HR interview di 13 Agustus 2026</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Agendakan</a:t>
                      </a:r>
                      <a:r>
                        <a:rPr sz="1000" b="0">
                          <a:solidFill>
                            <a:srgbClr val="000000"/>
                          </a:solidFill>
                          <a:latin typeface="Raleway"/>
                        </a:rPr>
                        <a:t> User Interview I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bl>
          </a:graphicData>
        </a:graphic>
      </p:graphicFrame>
      <p:sp>
        <p:nvSpPr>
          <p:cNvPr id="6" name="Title 1">
            <a:extLst>
              <a:ext uri="{FF2B5EF4-FFF2-40B4-BE49-F238E27FC236}">
                <a16:creationId xmlns:a16="http://schemas.microsoft.com/office/drawing/2014/main" id="{49F59317-DA1D-3963-3CE2-FB7BCB2F9FE5}"/>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CF4F1A91-230F-82EB-E51E-E5EDBEA578AE}"/>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4091058170"/>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5"/>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2025843">
                <a:tc>
                  <a:txBody>
                    <a:bodyPr/>
                    <a:lstStyle/>
                    <a:p>
                      <a:pPr algn="ctr">
                        <a:lnSpc>
                          <a:spcPct val="90000"/>
                        </a:lnSpc>
                        <a:spcBef>
                          <a:spcPts val="0"/>
                        </a:spcBef>
                        <a:spcAft>
                          <a:spcPts val="0"/>
                        </a:spcAft>
                      </a:pPr>
                      <a:r>
                        <a:rPr sz="1000" b="0">
                          <a:solidFill>
                            <a:srgbClr val="000000"/>
                          </a:solidFill>
                          <a:latin typeface="Raleway"/>
                        </a:rPr>
                        <a:t>09-Jan-25</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Packing Foreman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10-Jan-25</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Kasanah</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2 </a:t>
                      </a:r>
                      <a:r>
                        <a:rPr sz="1000" b="0" err="1">
                          <a:solidFill>
                            <a:srgbClr val="000000"/>
                          </a:solidFill>
                          <a:latin typeface="Raleway"/>
                        </a:rPr>
                        <a:t>Kandidat</a:t>
                      </a:r>
                      <a:r>
                        <a:rPr sz="1000" b="0">
                          <a:solidFill>
                            <a:srgbClr val="000000"/>
                          </a:solidFill>
                          <a:latin typeface="Raleway"/>
                        </a:rPr>
                        <a:t> an </a:t>
                      </a:r>
                      <a:r>
                        <a:rPr sz="1000" b="0" err="1">
                          <a:solidFill>
                            <a:srgbClr val="000000"/>
                          </a:solidFill>
                          <a:latin typeface="Raleway"/>
                        </a:rPr>
                        <a:t>Firda</a:t>
                      </a:r>
                      <a:r>
                        <a:rPr sz="1000" b="0">
                          <a:solidFill>
                            <a:srgbClr val="000000"/>
                          </a:solidFill>
                          <a:latin typeface="Raleway"/>
                        </a:rPr>
                        <a:t> dan Barbie lolos User Interview I di 13 Agustus 2026</a:t>
                      </a:r>
                    </a:p>
                    <a:p>
                      <a:pPr algn="l">
                        <a:lnSpc>
                          <a:spcPct val="90000"/>
                        </a:lnSpc>
                        <a:spcBef>
                          <a:spcPts val="0"/>
                        </a:spcBef>
                        <a:spcAft>
                          <a:spcPts val="0"/>
                        </a:spcAft>
                      </a:pPr>
                      <a:r>
                        <a:rPr sz="1000" b="0">
                          <a:solidFill>
                            <a:srgbClr val="000000"/>
                          </a:solidFill>
                          <a:latin typeface="Raleway"/>
                        </a:rPr>
                        <a:t>&gt; 2 </a:t>
                      </a:r>
                      <a:r>
                        <a:rPr sz="1000" b="0" err="1">
                          <a:solidFill>
                            <a:srgbClr val="000000"/>
                          </a:solidFill>
                          <a:latin typeface="Raleway"/>
                        </a:rPr>
                        <a:t>Kandidat</a:t>
                      </a:r>
                      <a:r>
                        <a:rPr sz="1000" b="0">
                          <a:solidFill>
                            <a:srgbClr val="000000"/>
                          </a:solidFill>
                          <a:latin typeface="Raleway"/>
                        </a:rPr>
                        <a:t> an </a:t>
                      </a:r>
                      <a:r>
                        <a:rPr sz="1000" b="0" err="1">
                          <a:solidFill>
                            <a:srgbClr val="000000"/>
                          </a:solidFill>
                          <a:latin typeface="Raleway"/>
                        </a:rPr>
                        <a:t>Firda</a:t>
                      </a:r>
                      <a:r>
                        <a:rPr sz="1000" b="0">
                          <a:solidFill>
                            <a:srgbClr val="000000"/>
                          </a:solidFill>
                          <a:latin typeface="Raleway"/>
                        </a:rPr>
                        <a:t> dan Barbie </a:t>
                      </a:r>
                      <a:r>
                        <a:rPr sz="1000" b="0" err="1">
                          <a:solidFill>
                            <a:srgbClr val="000000"/>
                          </a:solidFill>
                          <a:latin typeface="Raleway"/>
                        </a:rPr>
                        <a:t>sudah</a:t>
                      </a:r>
                      <a:r>
                        <a:rPr sz="1000" b="0">
                          <a:solidFill>
                            <a:srgbClr val="000000"/>
                          </a:solidFill>
                          <a:latin typeface="Raleway"/>
                        </a:rPr>
                        <a:t> </a:t>
                      </a:r>
                      <a:r>
                        <a:rPr sz="1000" b="0" err="1">
                          <a:solidFill>
                            <a:srgbClr val="000000"/>
                          </a:solidFill>
                          <a:latin typeface="Raleway"/>
                        </a:rPr>
                        <a:t>dikirimkan</a:t>
                      </a:r>
                      <a:r>
                        <a:rPr sz="1000" b="0">
                          <a:solidFill>
                            <a:srgbClr val="000000"/>
                          </a:solidFill>
                          <a:latin typeface="Raleway"/>
                        </a:rPr>
                        <a:t> </a:t>
                      </a:r>
                      <a:r>
                        <a:rPr sz="1000" b="0" err="1">
                          <a:solidFill>
                            <a:srgbClr val="000000"/>
                          </a:solidFill>
                          <a:latin typeface="Raleway"/>
                        </a:rPr>
                        <a:t>Psikotest</a:t>
                      </a:r>
                      <a:r>
                        <a:rPr sz="1000" b="0">
                          <a:solidFill>
                            <a:srgbClr val="000000"/>
                          </a:solidFill>
                          <a:latin typeface="Raleway"/>
                        </a:rPr>
                        <a:t> di 14 Agustus 2026</a:t>
                      </a:r>
                    </a:p>
                    <a:p>
                      <a:pPr algn="l">
                        <a:lnSpc>
                          <a:spcPct val="90000"/>
                        </a:lnSpc>
                        <a:spcBef>
                          <a:spcPts val="0"/>
                        </a:spcBef>
                        <a:spcAft>
                          <a:spcPts val="0"/>
                        </a:spcAft>
                      </a:pPr>
                      <a:r>
                        <a:rPr sz="1000" b="0">
                          <a:solidFill>
                            <a:srgbClr val="000000"/>
                          </a:solidFill>
                          <a:latin typeface="Raleway"/>
                        </a:rPr>
                        <a:t>&gt; 10 </a:t>
                      </a:r>
                      <a:r>
                        <a:rPr sz="1000" b="0" err="1">
                          <a:solidFill>
                            <a:srgbClr val="000000"/>
                          </a:solidFill>
                          <a:latin typeface="Raleway"/>
                        </a:rPr>
                        <a:t>Cvs</a:t>
                      </a:r>
                      <a:r>
                        <a:rPr sz="1000" b="0">
                          <a:solidFill>
                            <a:srgbClr val="000000"/>
                          </a:solidFill>
                          <a:latin typeface="Raleway"/>
                        </a:rPr>
                        <a:t> </a:t>
                      </a:r>
                      <a:r>
                        <a:rPr sz="1000" b="0" err="1">
                          <a:solidFill>
                            <a:srgbClr val="000000"/>
                          </a:solidFill>
                          <a:latin typeface="Raleway"/>
                        </a:rPr>
                        <a:t>sudah</a:t>
                      </a:r>
                      <a:r>
                        <a:rPr sz="1000" b="0">
                          <a:solidFill>
                            <a:srgbClr val="000000"/>
                          </a:solidFill>
                          <a:latin typeface="Raleway"/>
                        </a:rPr>
                        <a:t> </a:t>
                      </a:r>
                      <a:r>
                        <a:rPr sz="1000" b="0" err="1">
                          <a:solidFill>
                            <a:srgbClr val="000000"/>
                          </a:solidFill>
                          <a:latin typeface="Raleway"/>
                        </a:rPr>
                        <a:t>dikirimkan</a:t>
                      </a:r>
                      <a:r>
                        <a:rPr sz="1000" b="0">
                          <a:solidFill>
                            <a:srgbClr val="000000"/>
                          </a:solidFill>
                          <a:latin typeface="Raleway"/>
                        </a:rPr>
                        <a:t> to User </a:t>
                      </a:r>
                      <a:r>
                        <a:rPr sz="1000" b="0" err="1">
                          <a:solidFill>
                            <a:srgbClr val="000000"/>
                          </a:solidFill>
                          <a:latin typeface="Raleway"/>
                        </a:rPr>
                        <a:t>untuk</a:t>
                      </a:r>
                      <a:r>
                        <a:rPr sz="1000" b="0">
                          <a:solidFill>
                            <a:srgbClr val="000000"/>
                          </a:solidFill>
                          <a:latin typeface="Raleway"/>
                        </a:rPr>
                        <a:t> di shortlist di 14 Agustus 2026</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Agendakan</a:t>
                      </a:r>
                      <a:r>
                        <a:rPr sz="1000" b="0">
                          <a:solidFill>
                            <a:srgbClr val="000000"/>
                          </a:solidFill>
                          <a:latin typeface="Raleway"/>
                        </a:rPr>
                        <a:t> User Interview II di Week 34</a:t>
                      </a:r>
                    </a:p>
                    <a:p>
                      <a:pPr algn="l">
                        <a:lnSpc>
                          <a:spcPct val="90000"/>
                        </a:lnSpc>
                        <a:spcBef>
                          <a:spcPts val="0"/>
                        </a:spcBef>
                        <a:spcAft>
                          <a:spcPts val="0"/>
                        </a:spcAft>
                      </a:pPr>
                      <a:r>
                        <a:rPr sz="1000" b="0">
                          <a:solidFill>
                            <a:srgbClr val="000000"/>
                          </a:solidFill>
                          <a:latin typeface="Raleway"/>
                        </a:rPr>
                        <a:t>&gt; Follow up </a:t>
                      </a:r>
                      <a:r>
                        <a:rPr sz="1000" b="0" err="1">
                          <a:solidFill>
                            <a:srgbClr val="000000"/>
                          </a:solidFill>
                          <a:latin typeface="Raleway"/>
                        </a:rPr>
                        <a:t>hasil</a:t>
                      </a:r>
                      <a:r>
                        <a:rPr sz="1000" b="0">
                          <a:solidFill>
                            <a:srgbClr val="000000"/>
                          </a:solidFill>
                          <a:latin typeface="Raleway"/>
                        </a:rPr>
                        <a:t> shortlisted </a:t>
                      </a:r>
                      <a:r>
                        <a:rPr sz="1000" b="0" err="1">
                          <a:solidFill>
                            <a:srgbClr val="000000"/>
                          </a:solidFill>
                          <a:latin typeface="Raleway"/>
                        </a:rPr>
                        <a:t>Cvs</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301151">
                <a:tc>
                  <a:txBody>
                    <a:bodyPr/>
                    <a:lstStyle/>
                    <a:p>
                      <a:pPr algn="ctr">
                        <a:lnSpc>
                          <a:spcPct val="90000"/>
                        </a:lnSpc>
                        <a:spcBef>
                          <a:spcPts val="0"/>
                        </a:spcBef>
                        <a:spcAft>
                          <a:spcPts val="0"/>
                        </a:spcAft>
                      </a:pPr>
                      <a:r>
                        <a:rPr sz="1000" b="0">
                          <a:solidFill>
                            <a:srgbClr val="000000"/>
                          </a:solidFill>
                          <a:latin typeface="Raleway"/>
                        </a:rPr>
                        <a:t>08-Nov-26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Quality Control Staff</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09-Oct-26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Kasanah</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5 CVs </a:t>
                      </a:r>
                      <a:r>
                        <a:rPr sz="1000" b="0" err="1">
                          <a:solidFill>
                            <a:srgbClr val="000000"/>
                          </a:solidFill>
                          <a:latin typeface="Raleway"/>
                        </a:rPr>
                        <a:t>sudah</a:t>
                      </a:r>
                      <a:r>
                        <a:rPr sz="1000" b="0">
                          <a:solidFill>
                            <a:srgbClr val="000000"/>
                          </a:solidFill>
                          <a:latin typeface="Raleway"/>
                        </a:rPr>
                        <a:t> </a:t>
                      </a:r>
                      <a:r>
                        <a:rPr sz="1000" b="0" err="1">
                          <a:solidFill>
                            <a:srgbClr val="000000"/>
                          </a:solidFill>
                          <a:latin typeface="Raleway"/>
                        </a:rPr>
                        <a:t>dikirimkan</a:t>
                      </a:r>
                      <a:r>
                        <a:rPr sz="1000" b="0">
                          <a:solidFill>
                            <a:srgbClr val="000000"/>
                          </a:solidFill>
                          <a:latin typeface="Raleway"/>
                        </a:rPr>
                        <a:t> di 14 Agustus 2026</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Membuat</a:t>
                      </a:r>
                      <a:r>
                        <a:rPr sz="1000" b="0">
                          <a:solidFill>
                            <a:srgbClr val="000000"/>
                          </a:solidFill>
                          <a:latin typeface="Raleway"/>
                        </a:rPr>
                        <a:t> Job Ads di 14 Agustus 2026</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Follow up feedback shortlisted </a:t>
                      </a:r>
                      <a:r>
                        <a:rPr sz="1000" b="0" err="1">
                          <a:solidFill>
                            <a:srgbClr val="000000"/>
                          </a:solidFill>
                          <a:latin typeface="Raleway"/>
                        </a:rPr>
                        <a:t>kandidat</a:t>
                      </a:r>
                      <a:r>
                        <a:rPr sz="1000" b="0">
                          <a:solidFill>
                            <a:srgbClr val="000000"/>
                          </a:solidFill>
                          <a:latin typeface="Raleway"/>
                        </a:rPr>
                        <a:t> to user di Week 34 dan HR Interview Min. 3 </a:t>
                      </a:r>
                      <a:r>
                        <a:rPr sz="1000" b="0" err="1">
                          <a:solidFill>
                            <a:srgbClr val="000000"/>
                          </a:solidFill>
                          <a:latin typeface="Raleway"/>
                        </a:rPr>
                        <a:t>Kandidat</a:t>
                      </a:r>
                      <a:endParaRPr sz="1000" b="0">
                        <a:solidFill>
                          <a:srgbClr val="000000"/>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373021">
                <a:tc>
                  <a:txBody>
                    <a:bodyPr/>
                    <a:lstStyle/>
                    <a:p>
                      <a:pPr algn="ctr">
                        <a:lnSpc>
                          <a:spcPct val="90000"/>
                        </a:lnSpc>
                        <a:spcBef>
                          <a:spcPts val="0"/>
                        </a:spcBef>
                        <a:spcAft>
                          <a:spcPts val="0"/>
                        </a:spcAft>
                      </a:pPr>
                      <a:r>
                        <a:rPr sz="1000" b="0">
                          <a:solidFill>
                            <a:srgbClr val="000000"/>
                          </a:solidFill>
                          <a:latin typeface="Raleway"/>
                        </a:rPr>
                        <a:t>07-Feb-26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Quality Control Staff - Nugget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08-Jan-26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Kasanah</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2 </a:t>
                      </a:r>
                      <a:r>
                        <a:rPr sz="1000" b="0" err="1">
                          <a:solidFill>
                            <a:srgbClr val="000000"/>
                          </a:solidFill>
                          <a:latin typeface="Raleway"/>
                        </a:rPr>
                        <a:t>Kandidat</a:t>
                      </a:r>
                      <a:r>
                        <a:rPr sz="1000" b="0">
                          <a:solidFill>
                            <a:srgbClr val="000000"/>
                          </a:solidFill>
                          <a:latin typeface="Raleway"/>
                        </a:rPr>
                        <a:t> an Farah dan </a:t>
                      </a:r>
                      <a:r>
                        <a:rPr sz="1000" b="0" err="1">
                          <a:solidFill>
                            <a:srgbClr val="000000"/>
                          </a:solidFill>
                          <a:latin typeface="Raleway"/>
                        </a:rPr>
                        <a:t>Piyoe</a:t>
                      </a:r>
                      <a:r>
                        <a:rPr sz="1000" b="0">
                          <a:solidFill>
                            <a:srgbClr val="000000"/>
                          </a:solidFill>
                          <a:latin typeface="Raleway"/>
                        </a:rPr>
                        <a:t> DROP </a:t>
                      </a:r>
                      <a:r>
                        <a:rPr sz="1000" b="0" err="1">
                          <a:solidFill>
                            <a:srgbClr val="000000"/>
                          </a:solidFill>
                          <a:latin typeface="Raleway"/>
                        </a:rPr>
                        <a:t>karena</a:t>
                      </a:r>
                      <a:r>
                        <a:rPr sz="1000" b="0">
                          <a:solidFill>
                            <a:srgbClr val="000000"/>
                          </a:solidFill>
                          <a:latin typeface="Raleway"/>
                        </a:rPr>
                        <a:t> </a:t>
                      </a:r>
                      <a:r>
                        <a:rPr sz="1000" b="0" err="1">
                          <a:solidFill>
                            <a:srgbClr val="000000"/>
                          </a:solidFill>
                          <a:latin typeface="Raleway"/>
                        </a:rPr>
                        <a:t>aktif</a:t>
                      </a:r>
                      <a:r>
                        <a:rPr sz="1000" b="0">
                          <a:solidFill>
                            <a:srgbClr val="000000"/>
                          </a:solidFill>
                          <a:latin typeface="Raleway"/>
                        </a:rPr>
                        <a:t> </a:t>
                      </a:r>
                      <a:r>
                        <a:rPr sz="1000" b="0" err="1">
                          <a:solidFill>
                            <a:srgbClr val="000000"/>
                          </a:solidFill>
                          <a:latin typeface="Raleway"/>
                        </a:rPr>
                        <a:t>salmonela</a:t>
                      </a:r>
                      <a:r>
                        <a:rPr sz="1000" b="0">
                          <a:solidFill>
                            <a:srgbClr val="000000"/>
                          </a:solidFill>
                          <a:latin typeface="Raleway"/>
                        </a:rPr>
                        <a:t> dan </a:t>
                      </a:r>
                      <a:r>
                        <a:rPr sz="1000" b="0" err="1">
                          <a:solidFill>
                            <a:srgbClr val="000000"/>
                          </a:solidFill>
                          <a:latin typeface="Raleway"/>
                        </a:rPr>
                        <a:t>reaktif</a:t>
                      </a:r>
                      <a:r>
                        <a:rPr sz="1000" b="0">
                          <a:solidFill>
                            <a:srgbClr val="000000"/>
                          </a:solidFill>
                          <a:latin typeface="Raleway"/>
                        </a:rPr>
                        <a:t> hepatitis A di 12 Agustus 2026</a:t>
                      </a:r>
                    </a:p>
                    <a:p>
                      <a:pPr algn="l">
                        <a:lnSpc>
                          <a:spcPct val="90000"/>
                        </a:lnSpc>
                        <a:spcBef>
                          <a:spcPts val="0"/>
                        </a:spcBef>
                        <a:spcAft>
                          <a:spcPts val="0"/>
                        </a:spcAft>
                      </a:pPr>
                      <a:r>
                        <a:rPr sz="1000" b="0">
                          <a:solidFill>
                            <a:srgbClr val="000000"/>
                          </a:solidFill>
                          <a:latin typeface="Raleway"/>
                        </a:rPr>
                        <a:t>&gt; 13 </a:t>
                      </a:r>
                      <a:r>
                        <a:rPr sz="1000" b="0" err="1">
                          <a:solidFill>
                            <a:srgbClr val="000000"/>
                          </a:solidFill>
                          <a:latin typeface="Raleway"/>
                        </a:rPr>
                        <a:t>Cvs</a:t>
                      </a:r>
                      <a:r>
                        <a:rPr sz="1000" b="0">
                          <a:solidFill>
                            <a:srgbClr val="000000"/>
                          </a:solidFill>
                          <a:latin typeface="Raleway"/>
                        </a:rPr>
                        <a:t> </a:t>
                      </a:r>
                      <a:r>
                        <a:rPr sz="1000" b="0" err="1">
                          <a:solidFill>
                            <a:srgbClr val="000000"/>
                          </a:solidFill>
                          <a:latin typeface="Raleway"/>
                        </a:rPr>
                        <a:t>sudah</a:t>
                      </a:r>
                      <a:r>
                        <a:rPr sz="1000" b="0">
                          <a:solidFill>
                            <a:srgbClr val="000000"/>
                          </a:solidFill>
                          <a:latin typeface="Raleway"/>
                        </a:rPr>
                        <a:t> </a:t>
                      </a:r>
                      <a:r>
                        <a:rPr sz="1000" b="0" err="1">
                          <a:solidFill>
                            <a:srgbClr val="000000"/>
                          </a:solidFill>
                          <a:latin typeface="Raleway"/>
                        </a:rPr>
                        <a:t>dikirimkan</a:t>
                      </a:r>
                      <a:r>
                        <a:rPr sz="1000" b="0">
                          <a:solidFill>
                            <a:srgbClr val="000000"/>
                          </a:solidFill>
                          <a:latin typeface="Raleway"/>
                        </a:rPr>
                        <a:t> di 13 Agustus 2026</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Agendakan</a:t>
                      </a:r>
                      <a:r>
                        <a:rPr sz="1000" b="0">
                          <a:solidFill>
                            <a:srgbClr val="000000"/>
                          </a:solidFill>
                          <a:latin typeface="Raleway"/>
                        </a:rPr>
                        <a:t> HR Interview Min 3 </a:t>
                      </a:r>
                      <a:r>
                        <a:rPr sz="1000" b="0" err="1">
                          <a:solidFill>
                            <a:srgbClr val="000000"/>
                          </a:solidFill>
                          <a:latin typeface="Raleway"/>
                        </a:rPr>
                        <a:t>Kandidat</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bl>
          </a:graphicData>
        </a:graphic>
      </p:graphicFrame>
      <p:sp>
        <p:nvSpPr>
          <p:cNvPr id="6" name="Title 1">
            <a:extLst>
              <a:ext uri="{FF2B5EF4-FFF2-40B4-BE49-F238E27FC236}">
                <a16:creationId xmlns:a16="http://schemas.microsoft.com/office/drawing/2014/main" id="{1DAD79F7-8D55-AE4B-35D9-71EA50B2B9DF}"/>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D473DD15-1F17-9A6A-3429-B2BD080D966D}"/>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1215448993"/>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4"/>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369224">
                <a:tc>
                  <a:txBody>
                    <a:bodyPr/>
                    <a:lstStyle/>
                    <a:p>
                      <a:pPr algn="ctr">
                        <a:lnSpc>
                          <a:spcPct val="90000"/>
                        </a:lnSpc>
                        <a:spcBef>
                          <a:spcPts val="0"/>
                        </a:spcBef>
                        <a:spcAft>
                          <a:spcPts val="0"/>
                        </a:spcAft>
                      </a:pPr>
                      <a:r>
                        <a:rPr sz="1000" b="0">
                          <a:solidFill>
                            <a:srgbClr val="000000"/>
                          </a:solidFill>
                          <a:latin typeface="Raleway"/>
                        </a:rPr>
                        <a:t>07-Feb-26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Quality Control Staff - Nugget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08-Jan-26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Kasanah</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2 </a:t>
                      </a:r>
                      <a:r>
                        <a:rPr sz="1000" b="0" err="1">
                          <a:solidFill>
                            <a:srgbClr val="000000"/>
                          </a:solidFill>
                          <a:latin typeface="Raleway"/>
                        </a:rPr>
                        <a:t>Kandidat</a:t>
                      </a:r>
                      <a:r>
                        <a:rPr sz="1000" b="0">
                          <a:solidFill>
                            <a:srgbClr val="000000"/>
                          </a:solidFill>
                          <a:latin typeface="Raleway"/>
                        </a:rPr>
                        <a:t> an Farah dan </a:t>
                      </a:r>
                      <a:r>
                        <a:rPr sz="1000" b="0" err="1">
                          <a:solidFill>
                            <a:srgbClr val="000000"/>
                          </a:solidFill>
                          <a:latin typeface="Raleway"/>
                        </a:rPr>
                        <a:t>Piyoe</a:t>
                      </a:r>
                      <a:r>
                        <a:rPr sz="1000" b="0">
                          <a:solidFill>
                            <a:srgbClr val="000000"/>
                          </a:solidFill>
                          <a:latin typeface="Raleway"/>
                        </a:rPr>
                        <a:t> DROP </a:t>
                      </a:r>
                      <a:r>
                        <a:rPr sz="1000" b="0" err="1">
                          <a:solidFill>
                            <a:srgbClr val="000000"/>
                          </a:solidFill>
                          <a:latin typeface="Raleway"/>
                        </a:rPr>
                        <a:t>karena</a:t>
                      </a:r>
                      <a:r>
                        <a:rPr sz="1000" b="0">
                          <a:solidFill>
                            <a:srgbClr val="000000"/>
                          </a:solidFill>
                          <a:latin typeface="Raleway"/>
                        </a:rPr>
                        <a:t> </a:t>
                      </a:r>
                      <a:r>
                        <a:rPr sz="1000" b="0" err="1">
                          <a:solidFill>
                            <a:srgbClr val="000000"/>
                          </a:solidFill>
                          <a:latin typeface="Raleway"/>
                        </a:rPr>
                        <a:t>aktif</a:t>
                      </a:r>
                      <a:r>
                        <a:rPr sz="1000" b="0">
                          <a:solidFill>
                            <a:srgbClr val="000000"/>
                          </a:solidFill>
                          <a:latin typeface="Raleway"/>
                        </a:rPr>
                        <a:t> </a:t>
                      </a:r>
                      <a:r>
                        <a:rPr sz="1000" b="0" err="1">
                          <a:solidFill>
                            <a:srgbClr val="000000"/>
                          </a:solidFill>
                          <a:latin typeface="Raleway"/>
                        </a:rPr>
                        <a:t>salmonela</a:t>
                      </a:r>
                      <a:r>
                        <a:rPr sz="1000" b="0">
                          <a:solidFill>
                            <a:srgbClr val="000000"/>
                          </a:solidFill>
                          <a:latin typeface="Raleway"/>
                        </a:rPr>
                        <a:t> dan </a:t>
                      </a:r>
                      <a:r>
                        <a:rPr sz="1000" b="0" err="1">
                          <a:solidFill>
                            <a:srgbClr val="000000"/>
                          </a:solidFill>
                          <a:latin typeface="Raleway"/>
                        </a:rPr>
                        <a:t>reaktif</a:t>
                      </a:r>
                      <a:r>
                        <a:rPr sz="1000" b="0">
                          <a:solidFill>
                            <a:srgbClr val="000000"/>
                          </a:solidFill>
                          <a:latin typeface="Raleway"/>
                        </a:rPr>
                        <a:t> hepatitis A di 12 Agustus 2026</a:t>
                      </a:r>
                    </a:p>
                    <a:p>
                      <a:pPr algn="l">
                        <a:lnSpc>
                          <a:spcPct val="90000"/>
                        </a:lnSpc>
                        <a:spcBef>
                          <a:spcPts val="0"/>
                        </a:spcBef>
                        <a:spcAft>
                          <a:spcPts val="0"/>
                        </a:spcAft>
                      </a:pPr>
                      <a:r>
                        <a:rPr sz="1000" b="0">
                          <a:solidFill>
                            <a:srgbClr val="000000"/>
                          </a:solidFill>
                          <a:latin typeface="Raleway"/>
                        </a:rPr>
                        <a:t>&gt; 13 </a:t>
                      </a:r>
                      <a:r>
                        <a:rPr sz="1000" b="0" err="1">
                          <a:solidFill>
                            <a:srgbClr val="000000"/>
                          </a:solidFill>
                          <a:latin typeface="Raleway"/>
                        </a:rPr>
                        <a:t>Cvs</a:t>
                      </a:r>
                      <a:r>
                        <a:rPr sz="1000" b="0">
                          <a:solidFill>
                            <a:srgbClr val="000000"/>
                          </a:solidFill>
                          <a:latin typeface="Raleway"/>
                        </a:rPr>
                        <a:t> </a:t>
                      </a:r>
                      <a:r>
                        <a:rPr sz="1000" b="0" err="1">
                          <a:solidFill>
                            <a:srgbClr val="000000"/>
                          </a:solidFill>
                          <a:latin typeface="Raleway"/>
                        </a:rPr>
                        <a:t>sudah</a:t>
                      </a:r>
                      <a:r>
                        <a:rPr sz="1000" b="0">
                          <a:solidFill>
                            <a:srgbClr val="000000"/>
                          </a:solidFill>
                          <a:latin typeface="Raleway"/>
                        </a:rPr>
                        <a:t> </a:t>
                      </a:r>
                      <a:r>
                        <a:rPr sz="1000" b="0" err="1">
                          <a:solidFill>
                            <a:srgbClr val="000000"/>
                          </a:solidFill>
                          <a:latin typeface="Raleway"/>
                        </a:rPr>
                        <a:t>dikirimkan</a:t>
                      </a:r>
                      <a:r>
                        <a:rPr sz="1000" b="0">
                          <a:solidFill>
                            <a:srgbClr val="000000"/>
                          </a:solidFill>
                          <a:latin typeface="Raleway"/>
                        </a:rPr>
                        <a:t> di 13 Agustus 2026</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Agendakan</a:t>
                      </a:r>
                      <a:r>
                        <a:rPr sz="1000" b="0">
                          <a:solidFill>
                            <a:srgbClr val="000000"/>
                          </a:solidFill>
                          <a:latin typeface="Raleway"/>
                        </a:rPr>
                        <a:t> HR Interview Min 3 </a:t>
                      </a:r>
                      <a:r>
                        <a:rPr sz="1000" b="0" err="1">
                          <a:solidFill>
                            <a:srgbClr val="000000"/>
                          </a:solidFill>
                          <a:latin typeface="Raleway"/>
                        </a:rPr>
                        <a:t>Kandidat</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058559">
                <a:tc>
                  <a:txBody>
                    <a:bodyPr/>
                    <a:lstStyle/>
                    <a:p>
                      <a:pPr algn="ctr">
                        <a:lnSpc>
                          <a:spcPct val="90000"/>
                        </a:lnSpc>
                        <a:spcBef>
                          <a:spcPts val="0"/>
                        </a:spcBef>
                        <a:spcAft>
                          <a:spcPts val="0"/>
                        </a:spcAft>
                      </a:pPr>
                      <a:r>
                        <a:rPr sz="1000" b="0">
                          <a:solidFill>
                            <a:srgbClr val="000000"/>
                          </a:solidFill>
                          <a:latin typeface="Raleway"/>
                        </a:rPr>
                        <a:t>30-03-2026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Quality Control Staff - Singles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29-04-2026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Kasanah</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1 </a:t>
                      </a:r>
                      <a:r>
                        <a:rPr sz="1000" b="0" err="1">
                          <a:solidFill>
                            <a:srgbClr val="000000"/>
                          </a:solidFill>
                          <a:latin typeface="Raleway"/>
                        </a:rPr>
                        <a:t>Kandidat</a:t>
                      </a:r>
                      <a:r>
                        <a:rPr sz="1000" b="0">
                          <a:solidFill>
                            <a:srgbClr val="000000"/>
                          </a:solidFill>
                          <a:latin typeface="Raleway"/>
                        </a:rPr>
                        <a:t> an Intan </a:t>
                      </a:r>
                      <a:r>
                        <a:rPr sz="1000" b="0" err="1">
                          <a:solidFill>
                            <a:srgbClr val="000000"/>
                          </a:solidFill>
                          <a:latin typeface="Raleway"/>
                        </a:rPr>
                        <a:t>sudahdi</a:t>
                      </a:r>
                      <a:r>
                        <a:rPr sz="1000" b="0">
                          <a:solidFill>
                            <a:srgbClr val="000000"/>
                          </a:solidFill>
                          <a:latin typeface="Raleway"/>
                        </a:rPr>
                        <a:t> offering call di 14 Agustus 2026 – </a:t>
                      </a:r>
                      <a:r>
                        <a:rPr sz="1000" b="0" err="1">
                          <a:solidFill>
                            <a:srgbClr val="000000"/>
                          </a:solidFill>
                          <a:latin typeface="Raleway"/>
                        </a:rPr>
                        <a:t>menunggu</a:t>
                      </a:r>
                      <a:r>
                        <a:rPr sz="1000" b="0">
                          <a:solidFill>
                            <a:srgbClr val="000000"/>
                          </a:solidFill>
                          <a:latin typeface="Raleway"/>
                        </a:rPr>
                        <a:t> feedback</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Follow Up </a:t>
                      </a:r>
                      <a:r>
                        <a:rPr sz="1000" b="0" err="1">
                          <a:solidFill>
                            <a:srgbClr val="000000"/>
                          </a:solidFill>
                          <a:latin typeface="Raleway"/>
                        </a:rPr>
                        <a:t>keputusan</a:t>
                      </a:r>
                      <a:r>
                        <a:rPr sz="1000" b="0">
                          <a:solidFill>
                            <a:srgbClr val="000000"/>
                          </a:solidFill>
                          <a:latin typeface="Raleway"/>
                        </a:rPr>
                        <a:t> offering </a:t>
                      </a:r>
                      <a:r>
                        <a:rPr sz="1000" b="0" err="1">
                          <a:solidFill>
                            <a:srgbClr val="000000"/>
                          </a:solidFill>
                          <a:latin typeface="Raleway"/>
                        </a:rPr>
                        <a:t>apakah</a:t>
                      </a:r>
                      <a:r>
                        <a:rPr sz="1000" b="0">
                          <a:solidFill>
                            <a:srgbClr val="000000"/>
                          </a:solidFill>
                          <a:latin typeface="Raleway"/>
                        </a:rPr>
                        <a:t> REJECT/TIDAK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330050">
                <a:tc>
                  <a:txBody>
                    <a:bodyPr/>
                    <a:lstStyle/>
                    <a:p>
                      <a:pPr algn="ctr">
                        <a:lnSpc>
                          <a:spcPct val="90000"/>
                        </a:lnSpc>
                        <a:spcBef>
                          <a:spcPts val="0"/>
                        </a:spcBef>
                        <a:spcAft>
                          <a:spcPts val="0"/>
                        </a:spcAft>
                      </a:pPr>
                      <a:r>
                        <a:rPr sz="1000" b="0">
                          <a:solidFill>
                            <a:srgbClr val="000000"/>
                          </a:solidFill>
                          <a:latin typeface="Raleway"/>
                        </a:rPr>
                        <a:t>08-Nov-26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Quality Control Staff - Laboratory</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09-Oct-26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Kasanah</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5 CVs </a:t>
                      </a:r>
                      <a:r>
                        <a:rPr sz="1000" b="0" err="1">
                          <a:solidFill>
                            <a:srgbClr val="000000"/>
                          </a:solidFill>
                          <a:latin typeface="Raleway"/>
                        </a:rPr>
                        <a:t>sudah</a:t>
                      </a:r>
                      <a:r>
                        <a:rPr sz="1000" b="0">
                          <a:solidFill>
                            <a:srgbClr val="000000"/>
                          </a:solidFill>
                          <a:latin typeface="Raleway"/>
                        </a:rPr>
                        <a:t> </a:t>
                      </a:r>
                      <a:r>
                        <a:rPr sz="1000" b="0" err="1">
                          <a:solidFill>
                            <a:srgbClr val="000000"/>
                          </a:solidFill>
                          <a:latin typeface="Raleway"/>
                        </a:rPr>
                        <a:t>dikirimkan</a:t>
                      </a:r>
                      <a:r>
                        <a:rPr sz="1000" b="0">
                          <a:solidFill>
                            <a:srgbClr val="000000"/>
                          </a:solidFill>
                          <a:latin typeface="Raleway"/>
                        </a:rPr>
                        <a:t> di 14 Agustus 2026</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Membuat</a:t>
                      </a:r>
                      <a:r>
                        <a:rPr sz="1000" b="0">
                          <a:solidFill>
                            <a:srgbClr val="000000"/>
                          </a:solidFill>
                          <a:latin typeface="Raleway"/>
                        </a:rPr>
                        <a:t> Job Ads di 14 Agustus 2026</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Follow up feedback shortlisted </a:t>
                      </a:r>
                      <a:r>
                        <a:rPr sz="1000" b="0" err="1">
                          <a:solidFill>
                            <a:srgbClr val="000000"/>
                          </a:solidFill>
                          <a:latin typeface="Raleway"/>
                        </a:rPr>
                        <a:t>kandidat</a:t>
                      </a:r>
                      <a:r>
                        <a:rPr sz="1000" b="0">
                          <a:solidFill>
                            <a:srgbClr val="000000"/>
                          </a:solidFill>
                          <a:latin typeface="Raleway"/>
                        </a:rPr>
                        <a:t> to user di Week 34 dan HR Interview Min. 3 </a:t>
                      </a:r>
                      <a:r>
                        <a:rPr sz="1000" b="0" err="1">
                          <a:solidFill>
                            <a:srgbClr val="000000"/>
                          </a:solidFill>
                          <a:latin typeface="Raleway"/>
                        </a:rPr>
                        <a:t>Kandidat</a:t>
                      </a:r>
                      <a:endParaRPr sz="1000" b="0">
                        <a:solidFill>
                          <a:srgbClr val="000000"/>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942181">
                <a:tc>
                  <a:txBody>
                    <a:bodyPr/>
                    <a:lstStyle/>
                    <a:p>
                      <a:pPr algn="ctr">
                        <a:lnSpc>
                          <a:spcPct val="90000"/>
                        </a:lnSpc>
                        <a:spcBef>
                          <a:spcPts val="0"/>
                        </a:spcBef>
                        <a:spcAft>
                          <a:spcPts val="0"/>
                        </a:spcAft>
                      </a:pPr>
                      <a:r>
                        <a:rPr sz="1000" b="0">
                          <a:solidFill>
                            <a:srgbClr val="000000"/>
                          </a:solidFill>
                          <a:latin typeface="Raleway"/>
                        </a:rPr>
                        <a:t>04-Oct-26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Logistic Monitoring Staff</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05-Oct-26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Follow up </a:t>
                      </a:r>
                      <a:r>
                        <a:rPr sz="1000" b="0" err="1">
                          <a:solidFill>
                            <a:srgbClr val="000000"/>
                          </a:solidFill>
                          <a:latin typeface="Raleway"/>
                        </a:rPr>
                        <a:t>keputusan</a:t>
                      </a:r>
                      <a:r>
                        <a:rPr sz="1000" b="0">
                          <a:solidFill>
                            <a:srgbClr val="000000"/>
                          </a:solidFill>
                          <a:latin typeface="Raleway"/>
                        </a:rPr>
                        <a:t> user, </a:t>
                      </a:r>
                      <a:r>
                        <a:rPr sz="1000" b="0" err="1">
                          <a:solidFill>
                            <a:srgbClr val="000000"/>
                          </a:solidFill>
                          <a:latin typeface="Raleway"/>
                        </a:rPr>
                        <a:t>akan</a:t>
                      </a:r>
                      <a:r>
                        <a:rPr sz="1000" b="0">
                          <a:solidFill>
                            <a:srgbClr val="000000"/>
                          </a:solidFill>
                          <a:latin typeface="Raleway"/>
                        </a:rPr>
                        <a:t> </a:t>
                      </a:r>
                      <a:r>
                        <a:rPr sz="1000" b="0" err="1">
                          <a:solidFill>
                            <a:srgbClr val="000000"/>
                          </a:solidFill>
                          <a:latin typeface="Raleway"/>
                        </a:rPr>
                        <a:t>diskusi</a:t>
                      </a:r>
                      <a:r>
                        <a:rPr sz="1000" b="0">
                          <a:solidFill>
                            <a:srgbClr val="000000"/>
                          </a:solidFill>
                          <a:latin typeface="Raleway"/>
                        </a:rPr>
                        <a:t> </a:t>
                      </a:r>
                      <a:r>
                        <a:rPr sz="1000" b="0" err="1">
                          <a:solidFill>
                            <a:srgbClr val="000000"/>
                          </a:solidFill>
                          <a:latin typeface="Raleway"/>
                        </a:rPr>
                        <a:t>dengan</a:t>
                      </a:r>
                      <a:r>
                        <a:rPr sz="1000" b="0">
                          <a:solidFill>
                            <a:srgbClr val="000000"/>
                          </a:solidFill>
                          <a:latin typeface="Raleway"/>
                        </a:rPr>
                        <a:t> GM </a:t>
                      </a:r>
                      <a:r>
                        <a:rPr sz="1000" b="0" err="1">
                          <a:solidFill>
                            <a:srgbClr val="000000"/>
                          </a:solidFill>
                          <a:latin typeface="Raleway"/>
                        </a:rPr>
                        <a:t>karena</a:t>
                      </a:r>
                      <a:r>
                        <a:rPr sz="1000" b="0">
                          <a:solidFill>
                            <a:srgbClr val="000000"/>
                          </a:solidFill>
                          <a:latin typeface="Raleway"/>
                        </a:rPr>
                        <a:t> </a:t>
                      </a:r>
                      <a:r>
                        <a:rPr sz="1000" b="0" err="1">
                          <a:solidFill>
                            <a:srgbClr val="000000"/>
                          </a:solidFill>
                          <a:latin typeface="Raleway"/>
                        </a:rPr>
                        <a:t>kebutuhan</a:t>
                      </a:r>
                      <a:r>
                        <a:rPr sz="1000" b="0">
                          <a:solidFill>
                            <a:srgbClr val="000000"/>
                          </a:solidFill>
                          <a:latin typeface="Raleway"/>
                        </a:rPr>
                        <a:t> </a:t>
                      </a:r>
                      <a:r>
                        <a:rPr sz="1000" b="0" err="1">
                          <a:solidFill>
                            <a:srgbClr val="000000"/>
                          </a:solidFill>
                          <a:latin typeface="Raleway"/>
                        </a:rPr>
                        <a:t>posisi</a:t>
                      </a:r>
                      <a:r>
                        <a:rPr sz="1000" b="0">
                          <a:solidFill>
                            <a:srgbClr val="000000"/>
                          </a:solidFill>
                          <a:latin typeface="Raleway"/>
                        </a:rPr>
                        <a:t> </a:t>
                      </a:r>
                      <a:r>
                        <a:rPr sz="1000" b="0" err="1">
                          <a:solidFill>
                            <a:srgbClr val="000000"/>
                          </a:solidFill>
                          <a:latin typeface="Raleway"/>
                        </a:rPr>
                        <a:t>ini</a:t>
                      </a:r>
                      <a:r>
                        <a:rPr sz="1000" b="0">
                          <a:solidFill>
                            <a:srgbClr val="000000"/>
                          </a:solidFill>
                          <a:latin typeface="Raleway"/>
                        </a:rPr>
                        <a:t> </a:t>
                      </a:r>
                      <a:r>
                        <a:rPr sz="1000" b="0" err="1">
                          <a:solidFill>
                            <a:srgbClr val="000000"/>
                          </a:solidFill>
                          <a:latin typeface="Raleway"/>
                        </a:rPr>
                        <a:t>sudah</a:t>
                      </a:r>
                      <a:r>
                        <a:rPr sz="1000" b="0">
                          <a:solidFill>
                            <a:srgbClr val="000000"/>
                          </a:solidFill>
                          <a:latin typeface="Raleway"/>
                        </a:rPr>
                        <a:t> </a:t>
                      </a:r>
                      <a:r>
                        <a:rPr sz="1000" b="0" err="1">
                          <a:solidFill>
                            <a:srgbClr val="000000"/>
                          </a:solidFill>
                          <a:latin typeface="Raleway"/>
                        </a:rPr>
                        <a:t>tidak</a:t>
                      </a:r>
                      <a:r>
                        <a:rPr sz="1000" b="0">
                          <a:solidFill>
                            <a:srgbClr val="000000"/>
                          </a:solidFill>
                          <a:latin typeface="Raleway"/>
                        </a:rPr>
                        <a:t> </a:t>
                      </a:r>
                      <a:r>
                        <a:rPr sz="1000" b="0" err="1">
                          <a:solidFill>
                            <a:srgbClr val="000000"/>
                          </a:solidFill>
                          <a:latin typeface="Raleway"/>
                        </a:rPr>
                        <a:t>terlalu</a:t>
                      </a:r>
                      <a:r>
                        <a:rPr sz="1000" b="0">
                          <a:solidFill>
                            <a:srgbClr val="000000"/>
                          </a:solidFill>
                          <a:latin typeface="Raleway"/>
                        </a:rPr>
                        <a:t> </a:t>
                      </a:r>
                      <a:r>
                        <a:rPr sz="1000" b="0" err="1">
                          <a:solidFill>
                            <a:srgbClr val="000000"/>
                          </a:solidFill>
                          <a:latin typeface="Raleway"/>
                        </a:rPr>
                        <a:t>diperlukan</a:t>
                      </a:r>
                      <a:r>
                        <a:rPr sz="1000" b="0">
                          <a:solidFill>
                            <a:srgbClr val="000000"/>
                          </a:solidFill>
                          <a:latin typeface="Raleway"/>
                        </a:rPr>
                        <a:t>.</a:t>
                      </a:r>
                    </a:p>
                    <a:p>
                      <a:pPr algn="l">
                        <a:lnSpc>
                          <a:spcPct val="90000"/>
                        </a:lnSpc>
                        <a:spcBef>
                          <a:spcPts val="0"/>
                        </a:spcBef>
                        <a:spcAft>
                          <a:spcPts val="0"/>
                        </a:spcAft>
                      </a:pPr>
                      <a:r>
                        <a:rPr sz="1000" b="0">
                          <a:solidFill>
                            <a:srgbClr val="000000"/>
                          </a:solidFill>
                          <a:latin typeface="Raleway"/>
                        </a:rPr>
                        <a:t>Next Week: Follow up </a:t>
                      </a:r>
                      <a:r>
                        <a:rPr sz="1000" b="0" err="1">
                          <a:solidFill>
                            <a:srgbClr val="000000"/>
                          </a:solidFill>
                          <a:latin typeface="Raleway"/>
                        </a:rPr>
                        <a:t>keputusan</a:t>
                      </a:r>
                      <a:r>
                        <a:rPr sz="1000" b="0">
                          <a:solidFill>
                            <a:srgbClr val="000000"/>
                          </a:solidFill>
                          <a:latin typeface="Raleway"/>
                        </a:rPr>
                        <a:t> user Kembali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bl>
          </a:graphicData>
        </a:graphic>
      </p:graphicFrame>
      <p:sp>
        <p:nvSpPr>
          <p:cNvPr id="6" name="Title 1">
            <a:extLst>
              <a:ext uri="{FF2B5EF4-FFF2-40B4-BE49-F238E27FC236}">
                <a16:creationId xmlns:a16="http://schemas.microsoft.com/office/drawing/2014/main" id="{0ABB276C-592F-67FA-3200-202DE6E69AE5}"/>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69C4A203-F7F2-E7CE-CB6A-F4F509ECEC74}"/>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2103652964"/>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4"/>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874182">
                <a:tc>
                  <a:txBody>
                    <a:bodyPr/>
                    <a:lstStyle/>
                    <a:p>
                      <a:pPr algn="ctr">
                        <a:lnSpc>
                          <a:spcPct val="90000"/>
                        </a:lnSpc>
                        <a:spcBef>
                          <a:spcPts val="0"/>
                        </a:spcBef>
                        <a:spcAft>
                          <a:spcPts val="0"/>
                        </a:spcAft>
                      </a:pPr>
                      <a:r>
                        <a:rPr sz="1000" b="0">
                          <a:solidFill>
                            <a:srgbClr val="000000"/>
                          </a:solidFill>
                          <a:latin typeface="Raleway"/>
                        </a:rPr>
                        <a:t>07-Sep-26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08-Aug-26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Proses approval OL an. </a:t>
                      </a:r>
                      <a:r>
                        <a:rPr sz="1000" b="0" err="1">
                          <a:solidFill>
                            <a:srgbClr val="000000"/>
                          </a:solidFill>
                          <a:latin typeface="Raleway"/>
                        </a:rPr>
                        <a:t>Rivaldy</a:t>
                      </a:r>
                      <a:r>
                        <a:rPr sz="1000" b="0">
                          <a:solidFill>
                            <a:srgbClr val="000000"/>
                          </a:solidFill>
                          <a:latin typeface="Raleway"/>
                        </a:rPr>
                        <a:t> </a:t>
                      </a:r>
                      <a:r>
                        <a:rPr sz="1000" b="0" err="1">
                          <a:solidFill>
                            <a:srgbClr val="000000"/>
                          </a:solidFill>
                          <a:latin typeface="Raleway"/>
                        </a:rPr>
                        <a:t>Putro</a:t>
                      </a:r>
                    </a:p>
                    <a:p>
                      <a:pPr algn="l">
                        <a:lnSpc>
                          <a:spcPct val="90000"/>
                        </a:lnSpc>
                        <a:spcBef>
                          <a:spcPts val="0"/>
                        </a:spcBef>
                        <a:spcAft>
                          <a:spcPts val="0"/>
                        </a:spcAft>
                      </a:pPr>
                      <a:r>
                        <a:rPr sz="1000" b="0">
                          <a:solidFill>
                            <a:srgbClr val="000000"/>
                          </a:solidFill>
                          <a:latin typeface="Raleway"/>
                        </a:rPr>
                        <a:t>Next Week: Proses offer dan </a:t>
                      </a:r>
                      <a:r>
                        <a:rPr sz="1000" b="0" err="1">
                          <a:solidFill>
                            <a:srgbClr val="000000"/>
                          </a:solidFill>
                          <a:latin typeface="Raleway"/>
                        </a:rPr>
                        <a:t>administrasi</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907092">
                <a:tc>
                  <a:txBody>
                    <a:bodyPr/>
                    <a:lstStyle/>
                    <a:p>
                      <a:pPr algn="ctr">
                        <a:lnSpc>
                          <a:spcPct val="90000"/>
                        </a:lnSpc>
                        <a:spcBef>
                          <a:spcPts val="0"/>
                        </a:spcBef>
                        <a:spcAft>
                          <a:spcPts val="0"/>
                        </a:spcAft>
                      </a:pPr>
                      <a:r>
                        <a:rPr sz="1000" b="0">
                          <a:solidFill>
                            <a:srgbClr val="000000"/>
                          </a:solidFill>
                          <a:latin typeface="Raleway"/>
                        </a:rPr>
                        <a:t>22-07-2026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Facility &amp; Office Management Staff</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21-08-2026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sebelumnya</a:t>
                      </a:r>
                      <a:r>
                        <a:rPr sz="1000" b="0">
                          <a:solidFill>
                            <a:srgbClr val="000000"/>
                          </a:solidFill>
                          <a:latin typeface="Raleway"/>
                        </a:rPr>
                        <a:t> </a:t>
                      </a:r>
                      <a:r>
                        <a:rPr sz="1000" b="0" err="1">
                          <a:solidFill>
                            <a:srgbClr val="000000"/>
                          </a:solidFill>
                          <a:latin typeface="Raleway"/>
                        </a:rPr>
                        <a:t>mundur</a:t>
                      </a:r>
                      <a:r>
                        <a:rPr sz="1000" b="0">
                          <a:solidFill>
                            <a:srgbClr val="000000"/>
                          </a:solidFill>
                          <a:latin typeface="Raleway"/>
                        </a:rPr>
                        <a:t> proses, sourcing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kembali</a:t>
                      </a:r>
                      <a:r>
                        <a:rPr sz="1000" b="0">
                          <a:solidFill>
                            <a:srgbClr val="000000"/>
                          </a:solidFill>
                          <a:latin typeface="Raleway"/>
                        </a:rPr>
                        <a:t>.</a:t>
                      </a:r>
                    </a:p>
                    <a:p>
                      <a:pPr algn="l">
                        <a:lnSpc>
                          <a:spcPct val="90000"/>
                        </a:lnSpc>
                        <a:spcBef>
                          <a:spcPts val="0"/>
                        </a:spcBef>
                        <a:spcAft>
                          <a:spcPts val="0"/>
                        </a:spcAft>
                      </a:pPr>
                      <a:r>
                        <a:rPr sz="1000" b="0">
                          <a:solidFill>
                            <a:srgbClr val="000000"/>
                          </a:solidFill>
                          <a:latin typeface="Raleway"/>
                        </a:rPr>
                        <a:t>Next Week: Interview HR dan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874182">
                <a:tc>
                  <a:txBody>
                    <a:bodyPr/>
                    <a:lstStyle/>
                    <a:p>
                      <a:pPr algn="ctr">
                        <a:lnSpc>
                          <a:spcPct val="90000"/>
                        </a:lnSpc>
                        <a:spcBef>
                          <a:spcPts val="0"/>
                        </a:spcBef>
                        <a:spcAft>
                          <a:spcPts val="0"/>
                        </a:spcAft>
                      </a:pPr>
                      <a:r>
                        <a:rPr sz="1000" b="0">
                          <a:solidFill>
                            <a:srgbClr val="000000"/>
                          </a:solidFill>
                          <a:latin typeface="Raleway"/>
                        </a:rPr>
                        <a:t>30-07-2026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Warehouse Inventory Staff</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29-08-2026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Interview user di </a:t>
                      </a:r>
                      <a:r>
                        <a:rPr sz="1000" b="0" err="1">
                          <a:solidFill>
                            <a:srgbClr val="000000"/>
                          </a:solidFill>
                          <a:latin typeface="Raleway"/>
                        </a:rPr>
                        <a:t>tgl</a:t>
                      </a:r>
                      <a:r>
                        <a:rPr sz="1000" b="0">
                          <a:solidFill>
                            <a:srgbClr val="000000"/>
                          </a:solidFill>
                          <a:latin typeface="Raleway"/>
                        </a:rPr>
                        <a:t> 14 Agustus 2026</a:t>
                      </a:r>
                    </a:p>
                    <a:p>
                      <a:pPr algn="l">
                        <a:lnSpc>
                          <a:spcPct val="90000"/>
                        </a:lnSpc>
                        <a:spcBef>
                          <a:spcPts val="0"/>
                        </a:spcBef>
                        <a:spcAft>
                          <a:spcPts val="0"/>
                        </a:spcAft>
                      </a:pPr>
                      <a:r>
                        <a:rPr sz="1000" b="0">
                          <a:solidFill>
                            <a:srgbClr val="000000"/>
                          </a:solidFill>
                          <a:latin typeface="Raleway"/>
                        </a:rPr>
                        <a:t>Next Week: Follow up </a:t>
                      </a:r>
                      <a:r>
                        <a:rPr sz="1000" b="0" err="1">
                          <a:solidFill>
                            <a:srgbClr val="000000"/>
                          </a:solidFill>
                          <a:latin typeface="Raleway"/>
                        </a:rPr>
                        <a:t>hasil</a:t>
                      </a:r>
                      <a:r>
                        <a:rPr sz="1000" b="0">
                          <a:solidFill>
                            <a:srgbClr val="000000"/>
                          </a:solidFill>
                          <a:latin typeface="Raleway"/>
                        </a:rPr>
                        <a:t> interview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1022279">
                <a:tc>
                  <a:txBody>
                    <a:bodyPr/>
                    <a:lstStyle/>
                    <a:p>
                      <a:pPr algn="ctr">
                        <a:lnSpc>
                          <a:spcPct val="90000"/>
                        </a:lnSpc>
                        <a:spcBef>
                          <a:spcPts val="0"/>
                        </a:spcBef>
                        <a:spcAft>
                          <a:spcPts val="0"/>
                        </a:spcAft>
                      </a:pPr>
                      <a:r>
                        <a:rPr sz="1000" b="0">
                          <a:solidFill>
                            <a:srgbClr val="000000"/>
                          </a:solidFill>
                          <a:latin typeface="Raleway"/>
                        </a:rPr>
                        <a:t>08-May-26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Bogor Barat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09-Apr-26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Omega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Send 15 CVs </a:t>
                      </a:r>
                      <a:r>
                        <a:rPr sz="1000" b="0" err="1">
                          <a:solidFill>
                            <a:srgbClr val="000000"/>
                          </a:solidFill>
                          <a:latin typeface="Raleway"/>
                        </a:rPr>
                        <a:t>ke</a:t>
                      </a:r>
                      <a:r>
                        <a:rPr sz="1000" b="0">
                          <a:solidFill>
                            <a:srgbClr val="000000"/>
                          </a:solidFill>
                          <a:latin typeface="Raleway"/>
                        </a:rPr>
                        <a:t> user di week 33</a:t>
                      </a:r>
                    </a:p>
                    <a:p>
                      <a:pPr algn="l">
                        <a:lnSpc>
                          <a:spcPct val="90000"/>
                        </a:lnSpc>
                        <a:spcBef>
                          <a:spcPts val="0"/>
                        </a:spcBef>
                        <a:spcAft>
                          <a:spcPts val="0"/>
                        </a:spcAft>
                      </a:pPr>
                      <a:r>
                        <a:rPr sz="1000" b="0">
                          <a:solidFill>
                            <a:srgbClr val="000000"/>
                          </a:solidFill>
                          <a:latin typeface="Raleway"/>
                        </a:rPr>
                        <a:t>Next Action: HR Interview </a:t>
                      </a:r>
                      <a:r>
                        <a:rPr sz="1000" b="0" err="1">
                          <a:solidFill>
                            <a:srgbClr val="000000"/>
                          </a:solidFill>
                          <a:latin typeface="Raleway"/>
                        </a:rPr>
                        <a:t>kandidat</a:t>
                      </a:r>
                      <a:r>
                        <a:rPr sz="1000" b="0">
                          <a:solidFill>
                            <a:srgbClr val="000000"/>
                          </a:solidFill>
                          <a:latin typeface="Raleway"/>
                        </a:rPr>
                        <a:t> shortlisted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r h="1022279">
                <a:tc>
                  <a:txBody>
                    <a:bodyPr/>
                    <a:lstStyle/>
                    <a:p>
                      <a:pPr algn="ctr">
                        <a:lnSpc>
                          <a:spcPct val="90000"/>
                        </a:lnSpc>
                        <a:spcBef>
                          <a:spcPts val="0"/>
                        </a:spcBef>
                        <a:spcAft>
                          <a:spcPts val="0"/>
                        </a:spcAft>
                      </a:pPr>
                      <a:r>
                        <a:rPr sz="1000" b="0">
                          <a:solidFill>
                            <a:srgbClr val="000000"/>
                          </a:solidFill>
                          <a:latin typeface="Raleway"/>
                        </a:rPr>
                        <a:t>31-07-2026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Bogor Timur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30-08-2026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Omega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Send 10 CVs </a:t>
                      </a:r>
                      <a:r>
                        <a:rPr sz="1000" b="0" err="1">
                          <a:solidFill>
                            <a:srgbClr val="000000"/>
                          </a:solidFill>
                          <a:latin typeface="Raleway"/>
                        </a:rPr>
                        <a:t>ke</a:t>
                      </a:r>
                      <a:r>
                        <a:rPr sz="1000" b="0">
                          <a:solidFill>
                            <a:srgbClr val="000000"/>
                          </a:solidFill>
                          <a:latin typeface="Raleway"/>
                        </a:rPr>
                        <a:t> user di week 33</a:t>
                      </a:r>
                    </a:p>
                    <a:p>
                      <a:pPr algn="l">
                        <a:lnSpc>
                          <a:spcPct val="90000"/>
                        </a:lnSpc>
                        <a:spcBef>
                          <a:spcPts val="0"/>
                        </a:spcBef>
                        <a:spcAft>
                          <a:spcPts val="0"/>
                        </a:spcAft>
                      </a:pPr>
                      <a:r>
                        <a:rPr sz="1000" b="0">
                          <a:solidFill>
                            <a:srgbClr val="000000"/>
                          </a:solidFill>
                          <a:latin typeface="Raleway"/>
                        </a:rPr>
                        <a:t>Next Action: HR Interview </a:t>
                      </a:r>
                      <a:r>
                        <a:rPr sz="1000" b="0" err="1">
                          <a:solidFill>
                            <a:srgbClr val="000000"/>
                          </a:solidFill>
                          <a:latin typeface="Raleway"/>
                        </a:rPr>
                        <a:t>kandidat</a:t>
                      </a:r>
                      <a:r>
                        <a:rPr sz="1000" b="0">
                          <a:solidFill>
                            <a:srgbClr val="000000"/>
                          </a:solidFill>
                          <a:latin typeface="Raleway"/>
                        </a:rPr>
                        <a:t> shortlisted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5"/>
                  </a:ext>
                </a:extLst>
              </a:tr>
            </a:tbl>
          </a:graphicData>
        </a:graphic>
      </p:graphicFrame>
      <p:sp>
        <p:nvSpPr>
          <p:cNvPr id="6" name="Title 1">
            <a:extLst>
              <a:ext uri="{FF2B5EF4-FFF2-40B4-BE49-F238E27FC236}">
                <a16:creationId xmlns:a16="http://schemas.microsoft.com/office/drawing/2014/main" id="{E7CF6CA8-0451-427E-2D7D-2B51A1DA3A9C}"/>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3C8396C1-988A-4EAB-F217-F4DDBA625D90}"/>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1479562614"/>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4"/>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031913">
                <a:tc>
                  <a:txBody>
                    <a:bodyPr/>
                    <a:lstStyle/>
                    <a:p>
                      <a:pPr algn="ctr">
                        <a:lnSpc>
                          <a:spcPct val="90000"/>
                        </a:lnSpc>
                        <a:spcBef>
                          <a:spcPts val="0"/>
                        </a:spcBef>
                        <a:spcAft>
                          <a:spcPts val="0"/>
                        </a:spcAft>
                      </a:pPr>
                      <a:r>
                        <a:rPr sz="1000" b="0">
                          <a:solidFill>
                            <a:srgbClr val="000000"/>
                          </a:solidFill>
                          <a:latin typeface="Raleway"/>
                        </a:rPr>
                        <a:t>08-May-26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Bogor Timur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09-Apr-26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Omega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Send 5 CVs </a:t>
                      </a:r>
                      <a:r>
                        <a:rPr sz="1000" b="0" err="1">
                          <a:solidFill>
                            <a:srgbClr val="000000"/>
                          </a:solidFill>
                          <a:latin typeface="Raleway"/>
                        </a:rPr>
                        <a:t>ke</a:t>
                      </a:r>
                      <a:r>
                        <a:rPr sz="1000" b="0">
                          <a:solidFill>
                            <a:srgbClr val="000000"/>
                          </a:solidFill>
                          <a:latin typeface="Raleway"/>
                        </a:rPr>
                        <a:t> user di week 33</a:t>
                      </a:r>
                    </a:p>
                    <a:p>
                      <a:pPr algn="l">
                        <a:lnSpc>
                          <a:spcPct val="90000"/>
                        </a:lnSpc>
                        <a:spcBef>
                          <a:spcPts val="0"/>
                        </a:spcBef>
                        <a:spcAft>
                          <a:spcPts val="0"/>
                        </a:spcAft>
                      </a:pPr>
                      <a:r>
                        <a:rPr sz="1000" b="0">
                          <a:solidFill>
                            <a:srgbClr val="000000"/>
                          </a:solidFill>
                          <a:latin typeface="Raleway"/>
                        </a:rPr>
                        <a:t>Next Action: HR Interview </a:t>
                      </a:r>
                      <a:r>
                        <a:rPr sz="1000" b="0" err="1">
                          <a:solidFill>
                            <a:srgbClr val="000000"/>
                          </a:solidFill>
                          <a:latin typeface="Raleway"/>
                        </a:rPr>
                        <a:t>kandidat</a:t>
                      </a:r>
                      <a:r>
                        <a:rPr sz="1000" b="0">
                          <a:solidFill>
                            <a:srgbClr val="000000"/>
                          </a:solidFill>
                          <a:latin typeface="Raleway"/>
                        </a:rPr>
                        <a:t> shortlisted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443413">
                <a:tc>
                  <a:txBody>
                    <a:bodyPr/>
                    <a:lstStyle/>
                    <a:p>
                      <a:pPr algn="ctr">
                        <a:lnSpc>
                          <a:spcPct val="90000"/>
                        </a:lnSpc>
                        <a:spcBef>
                          <a:spcPts val="0"/>
                        </a:spcBef>
                        <a:spcAft>
                          <a:spcPts val="0"/>
                        </a:spcAft>
                      </a:pPr>
                      <a:r>
                        <a:rPr sz="1000" b="0">
                          <a:solidFill>
                            <a:srgbClr val="000000"/>
                          </a:solidFill>
                          <a:latin typeface="Raleway"/>
                        </a:rPr>
                        <a:t>06-Dec-26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 Jakarta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07-Dec-26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Omega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Send 10 CVs </a:t>
                      </a:r>
                      <a:r>
                        <a:rPr sz="1000" b="0" err="1">
                          <a:solidFill>
                            <a:srgbClr val="000000"/>
                          </a:solidFill>
                          <a:latin typeface="Raleway"/>
                        </a:rPr>
                        <a:t>ke</a:t>
                      </a:r>
                      <a:r>
                        <a:rPr sz="1000" b="0">
                          <a:solidFill>
                            <a:srgbClr val="000000"/>
                          </a:solidFill>
                          <a:latin typeface="Raleway"/>
                        </a:rPr>
                        <a:t> user di week 33</a:t>
                      </a:r>
                    </a:p>
                    <a:p>
                      <a:pPr algn="l">
                        <a:lnSpc>
                          <a:spcPct val="90000"/>
                        </a:lnSpc>
                        <a:spcBef>
                          <a:spcPts val="0"/>
                        </a:spcBef>
                        <a:spcAft>
                          <a:spcPts val="0"/>
                        </a:spcAft>
                      </a:pPr>
                      <a:r>
                        <a:rPr sz="1000" b="0">
                          <a:solidFill>
                            <a:srgbClr val="000000"/>
                          </a:solidFill>
                          <a:latin typeface="Raleway"/>
                        </a:rPr>
                        <a:t>HR Interview </a:t>
                      </a:r>
                      <a:r>
                        <a:rPr sz="1000" b="0" err="1">
                          <a:solidFill>
                            <a:srgbClr val="000000"/>
                          </a:solidFill>
                          <a:latin typeface="Raleway"/>
                        </a:rPr>
                        <a:t>a.n</a:t>
                      </a:r>
                      <a:r>
                        <a:rPr sz="1000" b="0">
                          <a:solidFill>
                            <a:srgbClr val="000000"/>
                          </a:solidFill>
                          <a:latin typeface="Raleway"/>
                        </a:rPr>
                        <a:t> M Rizky di week 33</a:t>
                      </a:r>
                    </a:p>
                    <a:p>
                      <a:pPr algn="l">
                        <a:lnSpc>
                          <a:spcPct val="90000"/>
                        </a:lnSpc>
                        <a:spcBef>
                          <a:spcPts val="0"/>
                        </a:spcBef>
                        <a:spcAft>
                          <a:spcPts val="0"/>
                        </a:spcAft>
                      </a:pPr>
                      <a:r>
                        <a:rPr sz="1000" b="0">
                          <a:solidFill>
                            <a:srgbClr val="000000"/>
                          </a:solidFill>
                          <a:latin typeface="Raleway"/>
                        </a:rPr>
                        <a:t>User Interview a. M Rizky di week 33, DROP</a:t>
                      </a:r>
                    </a:p>
                    <a:p>
                      <a:pPr algn="l">
                        <a:lnSpc>
                          <a:spcPct val="90000"/>
                        </a:lnSpc>
                        <a:spcBef>
                          <a:spcPts val="0"/>
                        </a:spcBef>
                        <a:spcAft>
                          <a:spcPts val="0"/>
                        </a:spcAft>
                      </a:pPr>
                      <a:r>
                        <a:rPr sz="1000" b="0">
                          <a:solidFill>
                            <a:srgbClr val="000000"/>
                          </a:solidFill>
                          <a:latin typeface="Raleway"/>
                        </a:rPr>
                        <a:t>Next Action: HR Interview </a:t>
                      </a:r>
                      <a:r>
                        <a:rPr sz="1000" b="0" err="1">
                          <a:solidFill>
                            <a:srgbClr val="000000"/>
                          </a:solidFill>
                          <a:latin typeface="Raleway"/>
                        </a:rPr>
                        <a:t>kandidat</a:t>
                      </a:r>
                      <a:r>
                        <a:rPr sz="1000" b="0">
                          <a:solidFill>
                            <a:srgbClr val="000000"/>
                          </a:solidFill>
                          <a:latin typeface="Raleway"/>
                        </a:rPr>
                        <a:t> shortlisted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915641">
                <a:tc>
                  <a:txBody>
                    <a:bodyPr/>
                    <a:lstStyle/>
                    <a:p>
                      <a:pPr algn="ctr">
                        <a:lnSpc>
                          <a:spcPct val="90000"/>
                        </a:lnSpc>
                        <a:spcBef>
                          <a:spcPts val="0"/>
                        </a:spcBef>
                        <a:spcAft>
                          <a:spcPts val="0"/>
                        </a:spcAft>
                      </a:pPr>
                      <a:r>
                        <a:rPr sz="1000" b="0">
                          <a:solidFill>
                            <a:srgbClr val="000000"/>
                          </a:solidFill>
                          <a:latin typeface="Raleway"/>
                        </a:rPr>
                        <a:t>08-May-26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 Jakarta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09-Apr-26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Omega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Send 10 CVs </a:t>
                      </a:r>
                      <a:r>
                        <a:rPr sz="1000" b="0" err="1">
                          <a:solidFill>
                            <a:srgbClr val="000000"/>
                          </a:solidFill>
                          <a:latin typeface="Raleway"/>
                        </a:rPr>
                        <a:t>ke</a:t>
                      </a:r>
                      <a:r>
                        <a:rPr sz="1000" b="0">
                          <a:solidFill>
                            <a:srgbClr val="000000"/>
                          </a:solidFill>
                          <a:latin typeface="Raleway"/>
                        </a:rPr>
                        <a:t> user di week 33</a:t>
                      </a:r>
                    </a:p>
                    <a:p>
                      <a:pPr algn="l">
                        <a:lnSpc>
                          <a:spcPct val="90000"/>
                        </a:lnSpc>
                        <a:spcBef>
                          <a:spcPts val="0"/>
                        </a:spcBef>
                        <a:spcAft>
                          <a:spcPts val="0"/>
                        </a:spcAft>
                      </a:pPr>
                      <a:r>
                        <a:rPr sz="1000" b="0">
                          <a:solidFill>
                            <a:srgbClr val="000000"/>
                          </a:solidFill>
                          <a:latin typeface="Raleway"/>
                        </a:rPr>
                        <a:t>Next Action: HR Interview </a:t>
                      </a:r>
                      <a:r>
                        <a:rPr sz="1000" b="0" err="1">
                          <a:solidFill>
                            <a:srgbClr val="000000"/>
                          </a:solidFill>
                          <a:latin typeface="Raleway"/>
                        </a:rPr>
                        <a:t>kandidat</a:t>
                      </a:r>
                      <a:r>
                        <a:rPr sz="1000" b="0">
                          <a:solidFill>
                            <a:srgbClr val="000000"/>
                          </a:solidFill>
                          <a:latin typeface="Raleway"/>
                        </a:rPr>
                        <a:t> shortlisted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1309047">
                <a:tc>
                  <a:txBody>
                    <a:bodyPr/>
                    <a:lstStyle/>
                    <a:p>
                      <a:pPr algn="ctr">
                        <a:lnSpc>
                          <a:spcPct val="90000"/>
                        </a:lnSpc>
                        <a:spcBef>
                          <a:spcPts val="0"/>
                        </a:spcBef>
                        <a:spcAft>
                          <a:spcPts val="0"/>
                        </a:spcAft>
                      </a:pPr>
                      <a:r>
                        <a:rPr sz="1000" b="0">
                          <a:solidFill>
                            <a:srgbClr val="000000"/>
                          </a:solidFill>
                          <a:latin typeface="Raleway"/>
                        </a:rPr>
                        <a:t>14-07-2026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Jakarta Timur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13-08-2026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Omega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err="1">
                          <a:solidFill>
                            <a:srgbClr val="000000"/>
                          </a:solidFill>
                          <a:latin typeface="Raleway"/>
                        </a:rPr>
                        <a:t>Pemberkasan</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Agusti Maulana di Week 32, WITHDRAW</a:t>
                      </a:r>
                    </a:p>
                    <a:p>
                      <a:pPr algn="l">
                        <a:lnSpc>
                          <a:spcPct val="90000"/>
                        </a:lnSpc>
                        <a:spcBef>
                          <a:spcPts val="0"/>
                        </a:spcBef>
                        <a:spcAft>
                          <a:spcPts val="0"/>
                        </a:spcAft>
                      </a:pPr>
                      <a:r>
                        <a:rPr sz="1000" b="0">
                          <a:solidFill>
                            <a:srgbClr val="000000"/>
                          </a:solidFill>
                          <a:latin typeface="Raleway"/>
                        </a:rPr>
                        <a:t>Send 20 CVs </a:t>
                      </a:r>
                      <a:r>
                        <a:rPr sz="1000" b="0" err="1">
                          <a:solidFill>
                            <a:srgbClr val="000000"/>
                          </a:solidFill>
                          <a:latin typeface="Raleway"/>
                        </a:rPr>
                        <a:t>ke</a:t>
                      </a:r>
                      <a:r>
                        <a:rPr sz="1000" b="0">
                          <a:solidFill>
                            <a:srgbClr val="000000"/>
                          </a:solidFill>
                          <a:latin typeface="Raleway"/>
                        </a:rPr>
                        <a:t> user di week 33</a:t>
                      </a:r>
                    </a:p>
                    <a:p>
                      <a:pPr algn="l">
                        <a:lnSpc>
                          <a:spcPct val="90000"/>
                        </a:lnSpc>
                        <a:spcBef>
                          <a:spcPts val="0"/>
                        </a:spcBef>
                        <a:spcAft>
                          <a:spcPts val="0"/>
                        </a:spcAft>
                      </a:pPr>
                      <a:r>
                        <a:rPr sz="1000" b="0">
                          <a:solidFill>
                            <a:srgbClr val="000000"/>
                          </a:solidFill>
                          <a:latin typeface="Raleway"/>
                        </a:rPr>
                        <a:t>Next Action: HR Interview </a:t>
                      </a:r>
                      <a:r>
                        <a:rPr sz="1000" b="0" err="1">
                          <a:solidFill>
                            <a:srgbClr val="000000"/>
                          </a:solidFill>
                          <a:latin typeface="Raleway"/>
                        </a:rPr>
                        <a:t>kandidat</a:t>
                      </a:r>
                      <a:r>
                        <a:rPr sz="1000" b="0">
                          <a:solidFill>
                            <a:srgbClr val="000000"/>
                          </a:solidFill>
                          <a:latin typeface="Raleway"/>
                        </a:rPr>
                        <a:t> shortlisted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bl>
          </a:graphicData>
        </a:graphic>
      </p:graphicFrame>
      <p:sp>
        <p:nvSpPr>
          <p:cNvPr id="6" name="Title 1">
            <a:extLst>
              <a:ext uri="{FF2B5EF4-FFF2-40B4-BE49-F238E27FC236}">
                <a16:creationId xmlns:a16="http://schemas.microsoft.com/office/drawing/2014/main" id="{2C066332-C6AF-874F-0C54-3BB2A1FF364E}"/>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11DA1F6A-CCA9-9CBC-EB30-5D7A8371297D}"/>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3480608264"/>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4"/>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110400">
                <a:tc>
                  <a:txBody>
                    <a:bodyPr/>
                    <a:lstStyle/>
                    <a:p>
                      <a:pPr algn="ctr">
                        <a:lnSpc>
                          <a:spcPct val="90000"/>
                        </a:lnSpc>
                        <a:spcBef>
                          <a:spcPts val="0"/>
                        </a:spcBef>
                        <a:spcAft>
                          <a:spcPts val="0"/>
                        </a:spcAft>
                      </a:pPr>
                      <a:r>
                        <a:rPr sz="1000" b="0">
                          <a:solidFill>
                            <a:srgbClr val="000000"/>
                          </a:solidFill>
                          <a:latin typeface="Raleway"/>
                        </a:rPr>
                        <a:t>14-07-2026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Jakarta Timur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13-08-2026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Omega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Send 15 CVs </a:t>
                      </a:r>
                      <a:r>
                        <a:rPr sz="1000" b="0" err="1">
                          <a:solidFill>
                            <a:srgbClr val="000000"/>
                          </a:solidFill>
                          <a:latin typeface="Raleway"/>
                        </a:rPr>
                        <a:t>ke</a:t>
                      </a:r>
                      <a:r>
                        <a:rPr sz="1000" b="0">
                          <a:solidFill>
                            <a:srgbClr val="000000"/>
                          </a:solidFill>
                          <a:latin typeface="Raleway"/>
                        </a:rPr>
                        <a:t> user di week 33</a:t>
                      </a:r>
                    </a:p>
                    <a:p>
                      <a:pPr algn="l">
                        <a:lnSpc>
                          <a:spcPct val="90000"/>
                        </a:lnSpc>
                        <a:spcBef>
                          <a:spcPts val="0"/>
                        </a:spcBef>
                        <a:spcAft>
                          <a:spcPts val="0"/>
                        </a:spcAft>
                      </a:pPr>
                      <a:r>
                        <a:rPr sz="1000" b="0">
                          <a:solidFill>
                            <a:srgbClr val="000000"/>
                          </a:solidFill>
                          <a:latin typeface="Raleway"/>
                        </a:rPr>
                        <a:t>Next Action: HR Interview </a:t>
                      </a:r>
                      <a:r>
                        <a:rPr sz="1000" b="0" err="1">
                          <a:solidFill>
                            <a:srgbClr val="000000"/>
                          </a:solidFill>
                          <a:latin typeface="Raleway"/>
                        </a:rPr>
                        <a:t>kandidat</a:t>
                      </a:r>
                      <a:r>
                        <a:rPr sz="1000" b="0">
                          <a:solidFill>
                            <a:srgbClr val="000000"/>
                          </a:solidFill>
                          <a:latin typeface="Raleway"/>
                        </a:rPr>
                        <a:t> shortlisted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127991">
                <a:tc>
                  <a:txBody>
                    <a:bodyPr/>
                    <a:lstStyle/>
                    <a:p>
                      <a:pPr algn="ctr">
                        <a:lnSpc>
                          <a:spcPct val="90000"/>
                        </a:lnSpc>
                        <a:spcBef>
                          <a:spcPts val="0"/>
                        </a:spcBef>
                        <a:spcAft>
                          <a:spcPts val="0"/>
                        </a:spcAft>
                      </a:pPr>
                      <a:r>
                        <a:rPr sz="1000" b="0">
                          <a:solidFill>
                            <a:srgbClr val="000000"/>
                          </a:solidFill>
                          <a:latin typeface="Raleway"/>
                        </a:rPr>
                        <a:t>08-May-26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Jakarta Selatan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09-Apr-26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Omega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Send 15 CVs </a:t>
                      </a:r>
                      <a:r>
                        <a:rPr sz="1000" b="0" err="1">
                          <a:solidFill>
                            <a:srgbClr val="000000"/>
                          </a:solidFill>
                          <a:latin typeface="Raleway"/>
                        </a:rPr>
                        <a:t>ke</a:t>
                      </a:r>
                      <a:r>
                        <a:rPr sz="1000" b="0">
                          <a:solidFill>
                            <a:srgbClr val="000000"/>
                          </a:solidFill>
                          <a:latin typeface="Raleway"/>
                        </a:rPr>
                        <a:t> user di week 33</a:t>
                      </a:r>
                    </a:p>
                    <a:p>
                      <a:pPr algn="l">
                        <a:lnSpc>
                          <a:spcPct val="90000"/>
                        </a:lnSpc>
                        <a:spcBef>
                          <a:spcPts val="0"/>
                        </a:spcBef>
                        <a:spcAft>
                          <a:spcPts val="0"/>
                        </a:spcAft>
                      </a:pPr>
                      <a:r>
                        <a:rPr sz="1000" b="0">
                          <a:solidFill>
                            <a:srgbClr val="000000"/>
                          </a:solidFill>
                          <a:latin typeface="Raleway"/>
                        </a:rPr>
                        <a:t>Next Action: HR Interview </a:t>
                      </a:r>
                      <a:r>
                        <a:rPr sz="1000" b="0" err="1">
                          <a:solidFill>
                            <a:srgbClr val="000000"/>
                          </a:solidFill>
                          <a:latin typeface="Raleway"/>
                        </a:rPr>
                        <a:t>kandidat</a:t>
                      </a:r>
                      <a:r>
                        <a:rPr sz="1000" b="0">
                          <a:solidFill>
                            <a:srgbClr val="000000"/>
                          </a:solidFill>
                          <a:latin typeface="Raleway"/>
                        </a:rPr>
                        <a:t> shortlisted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2461623">
                <a:tc>
                  <a:txBody>
                    <a:bodyPr/>
                    <a:lstStyle/>
                    <a:p>
                      <a:pPr algn="ctr">
                        <a:lnSpc>
                          <a:spcPct val="90000"/>
                        </a:lnSpc>
                        <a:spcBef>
                          <a:spcPts val="0"/>
                        </a:spcBef>
                        <a:spcAft>
                          <a:spcPts val="0"/>
                        </a:spcAft>
                      </a:pPr>
                      <a:r>
                        <a:rPr sz="1000" b="0">
                          <a:solidFill>
                            <a:srgbClr val="000000"/>
                          </a:solidFill>
                          <a:latin typeface="Raleway"/>
                        </a:rPr>
                        <a:t>23-06-2026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a:t>
                      </a:r>
                      <a:r>
                        <a:rPr sz="1000" b="0" err="1">
                          <a:solidFill>
                            <a:srgbClr val="000000"/>
                          </a:solidFill>
                          <a:latin typeface="Raleway"/>
                        </a:rPr>
                        <a:t>Probolinggo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23-07-2026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Omega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Send 5 CVs </a:t>
                      </a:r>
                      <a:r>
                        <a:rPr sz="1000" b="0" err="1">
                          <a:solidFill>
                            <a:srgbClr val="000000"/>
                          </a:solidFill>
                          <a:latin typeface="Raleway"/>
                        </a:rPr>
                        <a:t>ke</a:t>
                      </a:r>
                      <a:r>
                        <a:rPr sz="1000" b="0">
                          <a:solidFill>
                            <a:srgbClr val="000000"/>
                          </a:solidFill>
                          <a:latin typeface="Raleway"/>
                        </a:rPr>
                        <a:t> user di week 33</a:t>
                      </a:r>
                    </a:p>
                    <a:p>
                      <a:pPr algn="l">
                        <a:lnSpc>
                          <a:spcPct val="90000"/>
                        </a:lnSpc>
                        <a:spcBef>
                          <a:spcPts val="0"/>
                        </a:spcBef>
                        <a:spcAft>
                          <a:spcPts val="0"/>
                        </a:spcAft>
                      </a:pPr>
                      <a:r>
                        <a:rPr sz="1000" b="0">
                          <a:solidFill>
                            <a:srgbClr val="000000"/>
                          </a:solidFill>
                          <a:latin typeface="Raleway"/>
                        </a:rPr>
                        <a:t>HR Interview </a:t>
                      </a:r>
                      <a:r>
                        <a:rPr sz="1000" b="0" err="1">
                          <a:solidFill>
                            <a:srgbClr val="000000"/>
                          </a:solidFill>
                          <a:latin typeface="Raleway"/>
                        </a:rPr>
                        <a:t>a.n</a:t>
                      </a:r>
                      <a:r>
                        <a:rPr sz="1000" b="0">
                          <a:solidFill>
                            <a:srgbClr val="000000"/>
                          </a:solidFill>
                          <a:latin typeface="Raleway"/>
                        </a:rPr>
                        <a:t> Andi di week 33</a:t>
                      </a:r>
                    </a:p>
                    <a:p>
                      <a:pPr algn="l">
                        <a:lnSpc>
                          <a:spcPct val="90000"/>
                        </a:lnSpc>
                        <a:spcBef>
                          <a:spcPts val="0"/>
                        </a:spcBef>
                        <a:spcAft>
                          <a:spcPts val="0"/>
                        </a:spcAft>
                      </a:pPr>
                      <a:r>
                        <a:rPr sz="1000" b="0">
                          <a:solidFill>
                            <a:srgbClr val="000000"/>
                          </a:solidFill>
                          <a:latin typeface="Raleway"/>
                        </a:rPr>
                        <a:t>Reference check &amp; </a:t>
                      </a:r>
                      <a:r>
                        <a:rPr sz="1000" b="0" err="1">
                          <a:solidFill>
                            <a:srgbClr val="000000"/>
                          </a:solidFill>
                          <a:latin typeface="Raleway"/>
                        </a:rPr>
                        <a:t>pemberkasan</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Andi di week 33</a:t>
                      </a:r>
                    </a:p>
                    <a:p>
                      <a:pPr algn="l">
                        <a:lnSpc>
                          <a:spcPct val="90000"/>
                        </a:lnSpc>
                        <a:spcBef>
                          <a:spcPts val="0"/>
                        </a:spcBef>
                        <a:spcAft>
                          <a:spcPts val="0"/>
                        </a:spcAft>
                      </a:pPr>
                      <a:r>
                        <a:rPr sz="1000" b="0">
                          <a:solidFill>
                            <a:srgbClr val="000000"/>
                          </a:solidFill>
                          <a:latin typeface="Raleway"/>
                        </a:rPr>
                        <a:t>Approval offering </a:t>
                      </a:r>
                      <a:r>
                        <a:rPr sz="1000" b="0" err="1">
                          <a:solidFill>
                            <a:srgbClr val="000000"/>
                          </a:solidFill>
                          <a:latin typeface="Raleway"/>
                        </a:rPr>
                        <a:t>a.n</a:t>
                      </a:r>
                      <a:r>
                        <a:rPr sz="1000" b="0">
                          <a:solidFill>
                            <a:srgbClr val="000000"/>
                          </a:solidFill>
                          <a:latin typeface="Raleway"/>
                        </a:rPr>
                        <a:t> Andi di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Offering </a:t>
                      </a:r>
                      <a:r>
                        <a:rPr sz="1000" b="0" err="1">
                          <a:solidFill>
                            <a:srgbClr val="000000"/>
                          </a:solidFill>
                          <a:latin typeface="Raleway"/>
                        </a:rPr>
                        <a:t>a.n</a:t>
                      </a:r>
                      <a:r>
                        <a:rPr sz="1000" b="0">
                          <a:solidFill>
                            <a:srgbClr val="000000"/>
                          </a:solidFill>
                          <a:latin typeface="Raleway"/>
                        </a:rPr>
                        <a:t> Andi di week 34</a:t>
                      </a:r>
                    </a:p>
                    <a:p>
                      <a:pPr algn="l">
                        <a:lnSpc>
                          <a:spcPct val="90000"/>
                        </a:lnSpc>
                        <a:spcBef>
                          <a:spcPts val="0"/>
                        </a:spcBef>
                        <a:spcAft>
                          <a:spcPts val="0"/>
                        </a:spcAft>
                      </a:pPr>
                      <a:r>
                        <a:rPr sz="1000" b="0">
                          <a:solidFill>
                            <a:srgbClr val="000000"/>
                          </a:solidFill>
                          <a:latin typeface="Raleway"/>
                        </a:rPr>
                        <a:t>HR Interview </a:t>
                      </a:r>
                      <a:r>
                        <a:rPr sz="1000" b="0" err="1">
                          <a:solidFill>
                            <a:srgbClr val="000000"/>
                          </a:solidFill>
                          <a:latin typeface="Raleway"/>
                        </a:rPr>
                        <a:t>kandidat</a:t>
                      </a:r>
                      <a:r>
                        <a:rPr sz="1000" b="0">
                          <a:solidFill>
                            <a:srgbClr val="000000"/>
                          </a:solidFill>
                          <a:latin typeface="Raleway"/>
                        </a:rPr>
                        <a:t> shortlisted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bl>
          </a:graphicData>
        </a:graphic>
      </p:graphicFrame>
      <p:sp>
        <p:nvSpPr>
          <p:cNvPr id="6" name="Title 1">
            <a:extLst>
              <a:ext uri="{FF2B5EF4-FFF2-40B4-BE49-F238E27FC236}">
                <a16:creationId xmlns:a16="http://schemas.microsoft.com/office/drawing/2014/main" id="{1A127195-9054-048C-C82B-3305E0E72868}"/>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4A68B664-DCE3-22E5-E541-B49F8744887B}"/>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1737992599"/>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4"/>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588706">
                <a:tc>
                  <a:txBody>
                    <a:bodyPr/>
                    <a:lstStyle/>
                    <a:p>
                      <a:pPr algn="ctr">
                        <a:lnSpc>
                          <a:spcPct val="90000"/>
                        </a:lnSpc>
                        <a:spcBef>
                          <a:spcPts val="0"/>
                        </a:spcBef>
                        <a:spcAft>
                          <a:spcPts val="0"/>
                        </a:spcAft>
                      </a:pPr>
                      <a:r>
                        <a:rPr sz="1000" b="0">
                          <a:solidFill>
                            <a:srgbClr val="000000"/>
                          </a:solidFill>
                          <a:latin typeface="Raleway"/>
                        </a:rPr>
                        <a:t>14-07-2026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(Chilled) - </a:t>
                      </a:r>
                      <a:r>
                        <a:rPr sz="1000" b="0" err="1">
                          <a:solidFill>
                            <a:srgbClr val="000000"/>
                          </a:solidFill>
                          <a:latin typeface="Raleway"/>
                        </a:rPr>
                        <a:t>Palopo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13-08-2026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Omega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Send 5 CVs </a:t>
                      </a:r>
                      <a:r>
                        <a:rPr sz="1000" b="0" err="1">
                          <a:solidFill>
                            <a:srgbClr val="000000"/>
                          </a:solidFill>
                          <a:latin typeface="Raleway"/>
                        </a:rPr>
                        <a:t>ke</a:t>
                      </a:r>
                      <a:r>
                        <a:rPr sz="1000" b="0">
                          <a:solidFill>
                            <a:srgbClr val="000000"/>
                          </a:solidFill>
                          <a:latin typeface="Raleway"/>
                        </a:rPr>
                        <a:t> user di week 33</a:t>
                      </a:r>
                    </a:p>
                    <a:p>
                      <a:pPr algn="l">
                        <a:lnSpc>
                          <a:spcPct val="90000"/>
                        </a:lnSpc>
                        <a:spcBef>
                          <a:spcPts val="0"/>
                        </a:spcBef>
                        <a:spcAft>
                          <a:spcPts val="0"/>
                        </a:spcAft>
                      </a:pPr>
                      <a:r>
                        <a:rPr sz="1000" b="0">
                          <a:solidFill>
                            <a:srgbClr val="000000"/>
                          </a:solidFill>
                          <a:latin typeface="Raleway"/>
                        </a:rPr>
                        <a:t>HR Interview 3 </a:t>
                      </a:r>
                      <a:r>
                        <a:rPr sz="1000" b="0" err="1">
                          <a:solidFill>
                            <a:srgbClr val="000000"/>
                          </a:solidFill>
                          <a:latin typeface="Raleway"/>
                        </a:rPr>
                        <a:t>kandidat</a:t>
                      </a:r>
                      <a:r>
                        <a:rPr sz="1000" b="0">
                          <a:solidFill>
                            <a:srgbClr val="000000"/>
                          </a:solidFill>
                          <a:latin typeface="Raleway"/>
                        </a:rPr>
                        <a:t> di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User interview di week 34</a:t>
                      </a:r>
                    </a:p>
                    <a:p>
                      <a:pPr algn="l">
                        <a:lnSpc>
                          <a:spcPct val="90000"/>
                        </a:lnSpc>
                        <a:spcBef>
                          <a:spcPts val="0"/>
                        </a:spcBef>
                        <a:spcAft>
                          <a:spcPts val="0"/>
                        </a:spcAft>
                      </a:pPr>
                      <a:r>
                        <a:rPr sz="1000" b="0">
                          <a:solidFill>
                            <a:srgbClr val="000000"/>
                          </a:solidFill>
                          <a:latin typeface="Raleway"/>
                        </a:rPr>
                        <a:t>Sourcing min 5 CVs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2138736">
                <a:tc>
                  <a:txBody>
                    <a:bodyPr/>
                    <a:lstStyle/>
                    <a:p>
                      <a:pPr algn="ctr">
                        <a:lnSpc>
                          <a:spcPct val="90000"/>
                        </a:lnSpc>
                        <a:spcBef>
                          <a:spcPts val="0"/>
                        </a:spcBef>
                        <a:spcAft>
                          <a:spcPts val="0"/>
                        </a:spcAft>
                      </a:pPr>
                      <a:r>
                        <a:rPr sz="1000" b="0">
                          <a:solidFill>
                            <a:srgbClr val="000000"/>
                          </a:solidFill>
                          <a:latin typeface="Raleway"/>
                        </a:rPr>
                        <a:t>20-07-2026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Staff (Frozen) - </a:t>
                      </a:r>
                      <a:r>
                        <a:rPr sz="1000" b="0" err="1">
                          <a:solidFill>
                            <a:srgbClr val="000000"/>
                          </a:solidFill>
                          <a:latin typeface="Raleway"/>
                        </a:rPr>
                        <a:t>Serang</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19-08-2026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Omega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Send 10 CVs </a:t>
                      </a:r>
                      <a:r>
                        <a:rPr sz="1000" b="0" err="1">
                          <a:solidFill>
                            <a:srgbClr val="000000"/>
                          </a:solidFill>
                          <a:latin typeface="Raleway"/>
                        </a:rPr>
                        <a:t>ke</a:t>
                      </a:r>
                      <a:r>
                        <a:rPr sz="1000" b="0">
                          <a:solidFill>
                            <a:srgbClr val="000000"/>
                          </a:solidFill>
                          <a:latin typeface="Raleway"/>
                        </a:rPr>
                        <a:t> user di week 33</a:t>
                      </a:r>
                    </a:p>
                    <a:p>
                      <a:pPr algn="l">
                        <a:lnSpc>
                          <a:spcPct val="90000"/>
                        </a:lnSpc>
                        <a:spcBef>
                          <a:spcPts val="0"/>
                        </a:spcBef>
                        <a:spcAft>
                          <a:spcPts val="0"/>
                        </a:spcAft>
                      </a:pPr>
                      <a:r>
                        <a:rPr sz="1000" b="0">
                          <a:solidFill>
                            <a:srgbClr val="000000"/>
                          </a:solidFill>
                          <a:latin typeface="Raleway"/>
                        </a:rPr>
                        <a:t>HR Interview </a:t>
                      </a:r>
                      <a:r>
                        <a:rPr sz="1000" b="0" err="1">
                          <a:solidFill>
                            <a:srgbClr val="000000"/>
                          </a:solidFill>
                          <a:latin typeface="Raleway"/>
                        </a:rPr>
                        <a:t>a.n</a:t>
                      </a:r>
                      <a:r>
                        <a:rPr sz="1000" b="0">
                          <a:solidFill>
                            <a:srgbClr val="000000"/>
                          </a:solidFill>
                          <a:latin typeface="Raleway"/>
                        </a:rPr>
                        <a:t> Mohamad Subhan di week 33</a:t>
                      </a:r>
                    </a:p>
                    <a:p>
                      <a:pPr algn="l">
                        <a:lnSpc>
                          <a:spcPct val="90000"/>
                        </a:lnSpc>
                        <a:spcBef>
                          <a:spcPts val="0"/>
                        </a:spcBef>
                        <a:spcAft>
                          <a:spcPts val="0"/>
                        </a:spcAft>
                      </a:pPr>
                      <a:r>
                        <a:rPr sz="1000" b="0">
                          <a:solidFill>
                            <a:srgbClr val="000000"/>
                          </a:solidFill>
                          <a:latin typeface="Raleway"/>
                        </a:rPr>
                        <a:t>Reference check &amp; </a:t>
                      </a:r>
                      <a:r>
                        <a:rPr sz="1000" b="0" err="1">
                          <a:solidFill>
                            <a:srgbClr val="000000"/>
                          </a:solidFill>
                          <a:latin typeface="Raleway"/>
                        </a:rPr>
                        <a:t>pemberkasan</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Mohamad Subhan di week 33</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Approval offering </a:t>
                      </a:r>
                      <a:r>
                        <a:rPr sz="1000" b="0" err="1">
                          <a:solidFill>
                            <a:srgbClr val="000000"/>
                          </a:solidFill>
                          <a:latin typeface="Raleway"/>
                        </a:rPr>
                        <a:t>a.n</a:t>
                      </a:r>
                      <a:r>
                        <a:rPr sz="1000" b="0">
                          <a:solidFill>
                            <a:srgbClr val="000000"/>
                          </a:solidFill>
                          <a:latin typeface="Raleway"/>
                        </a:rPr>
                        <a:t> Mohamad Subhan di week 34</a:t>
                      </a:r>
                    </a:p>
                    <a:p>
                      <a:pPr algn="l">
                        <a:lnSpc>
                          <a:spcPct val="90000"/>
                        </a:lnSpc>
                        <a:spcBef>
                          <a:spcPts val="0"/>
                        </a:spcBef>
                        <a:spcAft>
                          <a:spcPts val="0"/>
                        </a:spcAft>
                      </a:pPr>
                      <a:r>
                        <a:rPr sz="1000" b="0">
                          <a:solidFill>
                            <a:srgbClr val="000000"/>
                          </a:solidFill>
                          <a:latin typeface="Raleway"/>
                        </a:rPr>
                        <a:t>HR Interview </a:t>
                      </a:r>
                      <a:r>
                        <a:rPr sz="1000" b="0" err="1">
                          <a:solidFill>
                            <a:srgbClr val="000000"/>
                          </a:solidFill>
                          <a:latin typeface="Raleway"/>
                        </a:rPr>
                        <a:t>kandidat</a:t>
                      </a:r>
                      <a:r>
                        <a:rPr sz="1000" b="0">
                          <a:solidFill>
                            <a:srgbClr val="000000"/>
                          </a:solidFill>
                          <a:latin typeface="Raleway"/>
                        </a:rPr>
                        <a:t> shortlisted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972572">
                <a:tc>
                  <a:txBody>
                    <a:bodyPr/>
                    <a:lstStyle/>
                    <a:p>
                      <a:pPr algn="ctr">
                        <a:lnSpc>
                          <a:spcPct val="90000"/>
                        </a:lnSpc>
                        <a:spcBef>
                          <a:spcPts val="0"/>
                        </a:spcBef>
                        <a:spcAft>
                          <a:spcPts val="0"/>
                        </a:spcAft>
                      </a:pPr>
                      <a:r>
                        <a:rPr sz="1000" b="0">
                          <a:solidFill>
                            <a:srgbClr val="000000"/>
                          </a:solidFill>
                          <a:latin typeface="Raleway"/>
                        </a:rPr>
                        <a:t>08-Nov-26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Taking Order (Chilled) - Makassar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09-Oct-26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Omega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Send 10 CVs </a:t>
                      </a:r>
                      <a:r>
                        <a:rPr sz="1000" b="0" err="1">
                          <a:solidFill>
                            <a:srgbClr val="000000"/>
                          </a:solidFill>
                          <a:latin typeface="Raleway"/>
                        </a:rPr>
                        <a:t>ke</a:t>
                      </a:r>
                      <a:r>
                        <a:rPr sz="1000" b="0">
                          <a:solidFill>
                            <a:srgbClr val="000000"/>
                          </a:solidFill>
                          <a:latin typeface="Raleway"/>
                        </a:rPr>
                        <a:t> user di week 33</a:t>
                      </a:r>
                    </a:p>
                    <a:p>
                      <a:pPr algn="l">
                        <a:lnSpc>
                          <a:spcPct val="90000"/>
                        </a:lnSpc>
                        <a:spcBef>
                          <a:spcPts val="0"/>
                        </a:spcBef>
                        <a:spcAft>
                          <a:spcPts val="0"/>
                        </a:spcAft>
                      </a:pPr>
                      <a:r>
                        <a:rPr sz="1000" b="0">
                          <a:solidFill>
                            <a:srgbClr val="000000"/>
                          </a:solidFill>
                          <a:latin typeface="Raleway"/>
                        </a:rPr>
                        <a:t>Next Action: HR Interview </a:t>
                      </a:r>
                      <a:r>
                        <a:rPr sz="1000" b="0" err="1">
                          <a:solidFill>
                            <a:srgbClr val="000000"/>
                          </a:solidFill>
                          <a:latin typeface="Raleway"/>
                        </a:rPr>
                        <a:t>kandidat</a:t>
                      </a:r>
                      <a:r>
                        <a:rPr sz="1000" b="0">
                          <a:solidFill>
                            <a:srgbClr val="000000"/>
                          </a:solidFill>
                          <a:latin typeface="Raleway"/>
                        </a:rPr>
                        <a:t> shortlisted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bl>
          </a:graphicData>
        </a:graphic>
      </p:graphicFrame>
      <p:sp>
        <p:nvSpPr>
          <p:cNvPr id="6" name="Title 1">
            <a:extLst>
              <a:ext uri="{FF2B5EF4-FFF2-40B4-BE49-F238E27FC236}">
                <a16:creationId xmlns:a16="http://schemas.microsoft.com/office/drawing/2014/main" id="{44B5F8BA-7CB7-907A-EEE0-A04990E73B79}"/>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22E22536-FF30-CE5C-A9CC-42449FE38E62}"/>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2876987706"/>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5"/>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246943">
                <a:tc>
                  <a:txBody>
                    <a:bodyPr/>
                    <a:lstStyle/>
                    <a:p>
                      <a:pPr algn="ctr">
                        <a:lnSpc>
                          <a:spcPct val="90000"/>
                        </a:lnSpc>
                        <a:spcBef>
                          <a:spcPts val="0"/>
                        </a:spcBef>
                        <a:spcAft>
                          <a:spcPts val="0"/>
                        </a:spcAft>
                      </a:pPr>
                      <a:r>
                        <a:rPr sz="1000" b="0">
                          <a:solidFill>
                            <a:srgbClr val="000000"/>
                          </a:solidFill>
                          <a:latin typeface="Raleway"/>
                        </a:rPr>
                        <a:t>22-07-2026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Truck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1C</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21-08-2026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Salwa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14/8/2026: </a:t>
                      </a:r>
                      <a:r>
                        <a:rPr sz="1000" b="0" err="1">
                          <a:solidFill>
                            <a:srgbClr val="000000"/>
                          </a:solidFill>
                          <a:latin typeface="Raleway"/>
                        </a:rPr>
                        <a:t>Kandidat</a:t>
                      </a:r>
                      <a:r>
                        <a:rPr sz="1000" b="0">
                          <a:solidFill>
                            <a:srgbClr val="000000"/>
                          </a:solidFill>
                          <a:latin typeface="Raleway"/>
                        </a:rPr>
                        <a:t> an. </a:t>
                      </a:r>
                      <a:r>
                        <a:rPr sz="1000" b="0" err="1">
                          <a:solidFill>
                            <a:srgbClr val="000000"/>
                          </a:solidFill>
                          <a:latin typeface="Raleway"/>
                        </a:rPr>
                        <a:t>Riyo</a:t>
                      </a:r>
                      <a:r>
                        <a:rPr sz="1000" b="0">
                          <a:solidFill>
                            <a:srgbClr val="000000"/>
                          </a:solidFill>
                          <a:latin typeface="Raleway"/>
                        </a:rPr>
                        <a:t> Adi Gunawan </a:t>
                      </a:r>
                      <a:r>
                        <a:rPr sz="1000" b="0" err="1">
                          <a:solidFill>
                            <a:srgbClr val="000000"/>
                          </a:solidFill>
                          <a:latin typeface="Raleway"/>
                        </a:rPr>
                        <a:t>sedang</a:t>
                      </a:r>
                      <a:r>
                        <a:rPr sz="1000" b="0">
                          <a:solidFill>
                            <a:srgbClr val="000000"/>
                          </a:solidFill>
                          <a:latin typeface="Raleway"/>
                        </a:rPr>
                        <a:t> </a:t>
                      </a:r>
                      <a:r>
                        <a:rPr sz="1000" b="0" err="1">
                          <a:solidFill>
                            <a:srgbClr val="000000"/>
                          </a:solidFill>
                          <a:latin typeface="Raleway"/>
                        </a:rPr>
                        <a:t>melakukan</a:t>
                      </a:r>
                      <a:r>
                        <a:rPr sz="1000" b="0">
                          <a:solidFill>
                            <a:srgbClr val="000000"/>
                          </a:solidFill>
                          <a:latin typeface="Raleway"/>
                        </a:rPr>
                        <a:t> MCU</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 Plan: Follow up </a:t>
                      </a:r>
                      <a:r>
                        <a:rPr sz="1000" b="0" err="1">
                          <a:solidFill>
                            <a:srgbClr val="000000"/>
                          </a:solidFill>
                          <a:latin typeface="Raleway"/>
                        </a:rPr>
                        <a:t>hasil</a:t>
                      </a:r>
                      <a:r>
                        <a:rPr sz="1000" b="0">
                          <a:solidFill>
                            <a:srgbClr val="000000"/>
                          </a:solidFill>
                          <a:latin typeface="Raleway"/>
                        </a:rPr>
                        <a:t> MCU pada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3453072">
                <a:tc>
                  <a:txBody>
                    <a:bodyPr/>
                    <a:lstStyle/>
                    <a:p>
                      <a:pPr algn="ctr">
                        <a:lnSpc>
                          <a:spcPct val="90000"/>
                        </a:lnSpc>
                        <a:spcBef>
                          <a:spcPts val="0"/>
                        </a:spcBef>
                        <a:spcAft>
                          <a:spcPts val="0"/>
                        </a:spcAft>
                      </a:pPr>
                      <a:r>
                        <a:rPr sz="1000" b="0">
                          <a:solidFill>
                            <a:srgbClr val="000000"/>
                          </a:solidFill>
                          <a:latin typeface="Raleway"/>
                        </a:rPr>
                        <a:t>06-Sep-26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Quality Assurance Inspector – Food Safety</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1C</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07-Sep-26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Closed</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Kandidat</a:t>
                      </a:r>
                      <a:r>
                        <a:rPr sz="1000" b="0">
                          <a:solidFill>
                            <a:srgbClr val="000000"/>
                          </a:solidFill>
                          <a:latin typeface="Raleway"/>
                        </a:rPr>
                        <a:t> lolos </a:t>
                      </a:r>
                      <a:r>
                        <a:rPr sz="1000" b="0" err="1">
                          <a:solidFill>
                            <a:srgbClr val="000000"/>
                          </a:solidFill>
                          <a:latin typeface="Raleway"/>
                        </a:rPr>
                        <a:t>a.n</a:t>
                      </a:r>
                      <a:r>
                        <a:rPr sz="1000" b="0">
                          <a:solidFill>
                            <a:srgbClr val="000000"/>
                          </a:solidFill>
                          <a:latin typeface="Raleway"/>
                        </a:rPr>
                        <a:t> Yunia Farkhamni dan </a:t>
                      </a:r>
                      <a:r>
                        <a:rPr sz="1000" b="0" err="1">
                          <a:solidFill>
                            <a:srgbClr val="000000"/>
                          </a:solidFill>
                          <a:latin typeface="Raleway"/>
                        </a:rPr>
                        <a:t>Febrina</a:t>
                      </a:r>
                      <a:r>
                        <a:rPr sz="1000" b="0">
                          <a:solidFill>
                            <a:srgbClr val="000000"/>
                          </a:solidFill>
                          <a:latin typeface="Raleway"/>
                        </a:rPr>
                        <a:t> Disa</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a:t>
                      </a:r>
                      <a:r>
                        <a:rPr sz="1000" b="0" err="1">
                          <a:solidFill>
                            <a:srgbClr val="000000"/>
                          </a:solidFill>
                          <a:latin typeface="Raleway"/>
                        </a:rPr>
                        <a:t>Yunia</a:t>
                      </a:r>
                      <a:r>
                        <a:rPr sz="1000" b="0">
                          <a:solidFill>
                            <a:srgbClr val="000000"/>
                          </a:solidFill>
                          <a:latin typeface="Raleway"/>
                        </a:rPr>
                        <a:t> Farkhamni DROP </a:t>
                      </a:r>
                      <a:r>
                        <a:rPr sz="1000" b="0" err="1">
                          <a:solidFill>
                            <a:srgbClr val="000000"/>
                          </a:solidFill>
                          <a:latin typeface="Raleway"/>
                        </a:rPr>
                        <a:t>karena</a:t>
                      </a:r>
                      <a:r>
                        <a:rPr sz="1000" b="0">
                          <a:solidFill>
                            <a:srgbClr val="000000"/>
                          </a:solidFill>
                          <a:latin typeface="Raleway"/>
                        </a:rPr>
                        <a:t> </a:t>
                      </a:r>
                      <a:r>
                        <a:rPr sz="1000" b="0" err="1">
                          <a:solidFill>
                            <a:srgbClr val="000000"/>
                          </a:solidFill>
                          <a:latin typeface="Raleway"/>
                        </a:rPr>
                        <a:t>pertimbangan</a:t>
                      </a:r>
                      <a:r>
                        <a:rPr sz="1000" b="0">
                          <a:solidFill>
                            <a:srgbClr val="000000"/>
                          </a:solidFill>
                          <a:latin typeface="Raleway"/>
                        </a:rPr>
                        <a:t> salary.</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Febrina</a:t>
                      </a:r>
                      <a:r>
                        <a:rPr sz="1000" b="0">
                          <a:solidFill>
                            <a:srgbClr val="000000"/>
                          </a:solidFill>
                          <a:latin typeface="Raleway"/>
                        </a:rPr>
                        <a:t> Disa approved salary, </a:t>
                      </a:r>
                      <a:r>
                        <a:rPr sz="1000" b="0" err="1">
                          <a:solidFill>
                            <a:srgbClr val="000000"/>
                          </a:solidFill>
                          <a:latin typeface="Raleway"/>
                        </a:rPr>
                        <a:t>sudah</a:t>
                      </a:r>
                      <a:r>
                        <a:rPr sz="1000" b="0">
                          <a:solidFill>
                            <a:srgbClr val="000000"/>
                          </a:solidFill>
                          <a:latin typeface="Raleway"/>
                        </a:rPr>
                        <a:t> send </a:t>
                      </a:r>
                      <a:r>
                        <a:rPr sz="1000" b="0" err="1">
                          <a:solidFill>
                            <a:srgbClr val="000000"/>
                          </a:solidFill>
                          <a:latin typeface="Raleway"/>
                        </a:rPr>
                        <a:t>Pemberkasan</a:t>
                      </a:r>
                      <a:r>
                        <a:rPr sz="1000" b="0">
                          <a:solidFill>
                            <a:srgbClr val="000000"/>
                          </a:solidFill>
                          <a:latin typeface="Raleway"/>
                        </a:rPr>
                        <a:t>, Offering Letter, Pejanjian Kerja, </a:t>
                      </a:r>
                      <a:r>
                        <a:rPr sz="1000" b="0" err="1">
                          <a:solidFill>
                            <a:srgbClr val="000000"/>
                          </a:solidFill>
                          <a:latin typeface="Raleway"/>
                        </a:rPr>
                        <a:t>Komitmen</a:t>
                      </a:r>
                      <a:r>
                        <a:rPr sz="1000" b="0">
                          <a:solidFill>
                            <a:srgbClr val="000000"/>
                          </a:solidFill>
                          <a:latin typeface="Raleway"/>
                        </a:rPr>
                        <a:t> </a:t>
                      </a:r>
                      <a:r>
                        <a:rPr sz="1000" b="0" err="1">
                          <a:solidFill>
                            <a:srgbClr val="000000"/>
                          </a:solidFill>
                          <a:latin typeface="Raleway"/>
                        </a:rPr>
                        <a:t>Kerahasiaan</a:t>
                      </a:r>
                      <a:endParaRPr sz="1000" b="0">
                        <a:solidFill>
                          <a:srgbClr val="000000"/>
                        </a:solidFill>
                        <a:latin typeface="Raleway"/>
                      </a:endParaRP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Send 5 CV Daily di Week 34</a:t>
                      </a:r>
                    </a:p>
                    <a:p>
                      <a:pPr algn="l">
                        <a:lnSpc>
                          <a:spcPct val="90000"/>
                        </a:lnSpc>
                        <a:spcBef>
                          <a:spcPts val="0"/>
                        </a:spcBef>
                        <a:spcAft>
                          <a:spcPts val="0"/>
                        </a:spcAft>
                      </a:pPr>
                      <a:r>
                        <a:rPr sz="1000" b="0">
                          <a:solidFill>
                            <a:srgbClr val="000000"/>
                          </a:solidFill>
                          <a:latin typeface="Raleway"/>
                        </a:rPr>
                        <a:t>&gt; Onboarding </a:t>
                      </a:r>
                      <a:r>
                        <a:rPr sz="1000" b="0" err="1">
                          <a:solidFill>
                            <a:srgbClr val="000000"/>
                          </a:solidFill>
                          <a:latin typeface="Raleway"/>
                        </a:rPr>
                        <a:t>a.n</a:t>
                      </a:r>
                      <a:r>
                        <a:rPr sz="1000" b="0">
                          <a:solidFill>
                            <a:srgbClr val="000000"/>
                          </a:solidFill>
                          <a:latin typeface="Raleway"/>
                        </a:rPr>
                        <a:t> </a:t>
                      </a:r>
                      <a:r>
                        <a:rPr sz="1000" b="0" err="1">
                          <a:solidFill>
                            <a:srgbClr val="000000"/>
                          </a:solidFill>
                          <a:latin typeface="Raleway"/>
                        </a:rPr>
                        <a:t>Febrina</a:t>
                      </a:r>
                      <a:r>
                        <a:rPr sz="1000" b="0">
                          <a:solidFill>
                            <a:srgbClr val="000000"/>
                          </a:solidFill>
                          <a:latin typeface="Raleway"/>
                        </a:rPr>
                        <a:t> Disa</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NOTE : SALAH TANGGAL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bl>
          </a:graphicData>
        </a:graphic>
      </p:graphicFrame>
      <p:sp>
        <p:nvSpPr>
          <p:cNvPr id="6" name="Title 1">
            <a:extLst>
              <a:ext uri="{FF2B5EF4-FFF2-40B4-BE49-F238E27FC236}">
                <a16:creationId xmlns:a16="http://schemas.microsoft.com/office/drawing/2014/main" id="{C8B57D8C-23A7-05EF-65D4-E7DD57193992}"/>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1560E33D-E77B-017E-32D3-DE4D1C57BEB0}"/>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2800407433"/>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5"/>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2479358">
                <a:tc>
                  <a:txBody>
                    <a:bodyPr/>
                    <a:lstStyle/>
                    <a:p>
                      <a:pPr algn="ctr">
                        <a:lnSpc>
                          <a:spcPct val="90000"/>
                        </a:lnSpc>
                        <a:spcBef>
                          <a:spcPts val="0"/>
                        </a:spcBef>
                        <a:spcAft>
                          <a:spcPts val="0"/>
                        </a:spcAft>
                      </a:pPr>
                      <a:r>
                        <a:rPr sz="1000" b="0">
                          <a:solidFill>
                            <a:srgbClr val="000000"/>
                          </a:solidFill>
                          <a:latin typeface="Raleway"/>
                        </a:rPr>
                        <a:t>06-Sep-26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Quality Assurance Inspector – Food Safety</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1C</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07-Sep-26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Kandidat</a:t>
                      </a:r>
                      <a:r>
                        <a:rPr sz="1000" b="0">
                          <a:solidFill>
                            <a:srgbClr val="000000"/>
                          </a:solidFill>
                          <a:latin typeface="Raleway"/>
                        </a:rPr>
                        <a:t> lolos </a:t>
                      </a:r>
                      <a:r>
                        <a:rPr sz="1000" b="0" err="1">
                          <a:solidFill>
                            <a:srgbClr val="000000"/>
                          </a:solidFill>
                          <a:latin typeface="Raleway"/>
                        </a:rPr>
                        <a:t>a.n</a:t>
                      </a:r>
                      <a:r>
                        <a:rPr sz="1000" b="0">
                          <a:solidFill>
                            <a:srgbClr val="000000"/>
                          </a:solidFill>
                          <a:latin typeface="Raleway"/>
                        </a:rPr>
                        <a:t> Yunia Farkhamni dan </a:t>
                      </a:r>
                      <a:r>
                        <a:rPr sz="1000" b="0" err="1">
                          <a:solidFill>
                            <a:srgbClr val="000000"/>
                          </a:solidFill>
                          <a:latin typeface="Raleway"/>
                        </a:rPr>
                        <a:t>Febrina</a:t>
                      </a:r>
                      <a:r>
                        <a:rPr sz="1000" b="0">
                          <a:solidFill>
                            <a:srgbClr val="000000"/>
                          </a:solidFill>
                          <a:latin typeface="Raleway"/>
                        </a:rPr>
                        <a:t> Disa</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a:t>
                      </a:r>
                      <a:r>
                        <a:rPr sz="1000" b="0" err="1">
                          <a:solidFill>
                            <a:srgbClr val="000000"/>
                          </a:solidFill>
                          <a:latin typeface="Raleway"/>
                        </a:rPr>
                        <a:t>Yunia</a:t>
                      </a:r>
                      <a:r>
                        <a:rPr sz="1000" b="0">
                          <a:solidFill>
                            <a:srgbClr val="000000"/>
                          </a:solidFill>
                          <a:latin typeface="Raleway"/>
                        </a:rPr>
                        <a:t> Farkhamni DROP </a:t>
                      </a:r>
                      <a:r>
                        <a:rPr sz="1000" b="0" err="1">
                          <a:solidFill>
                            <a:srgbClr val="000000"/>
                          </a:solidFill>
                          <a:latin typeface="Raleway"/>
                        </a:rPr>
                        <a:t>karena</a:t>
                      </a:r>
                      <a:r>
                        <a:rPr sz="1000" b="0">
                          <a:solidFill>
                            <a:srgbClr val="000000"/>
                          </a:solidFill>
                          <a:latin typeface="Raleway"/>
                        </a:rPr>
                        <a:t> </a:t>
                      </a:r>
                      <a:r>
                        <a:rPr sz="1000" b="0" err="1">
                          <a:solidFill>
                            <a:srgbClr val="000000"/>
                          </a:solidFill>
                          <a:latin typeface="Raleway"/>
                        </a:rPr>
                        <a:t>pertimbangan</a:t>
                      </a:r>
                      <a:r>
                        <a:rPr sz="1000" b="0">
                          <a:solidFill>
                            <a:srgbClr val="000000"/>
                          </a:solidFill>
                          <a:latin typeface="Raleway"/>
                        </a:rPr>
                        <a:t> salary.</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Febrina</a:t>
                      </a:r>
                      <a:r>
                        <a:rPr sz="1000" b="0">
                          <a:solidFill>
                            <a:srgbClr val="000000"/>
                          </a:solidFill>
                          <a:latin typeface="Raleway"/>
                        </a:rPr>
                        <a:t> Disa approved salary, </a:t>
                      </a:r>
                      <a:r>
                        <a:rPr sz="1000" b="0" err="1">
                          <a:solidFill>
                            <a:srgbClr val="000000"/>
                          </a:solidFill>
                          <a:latin typeface="Raleway"/>
                        </a:rPr>
                        <a:t>sudah</a:t>
                      </a:r>
                      <a:r>
                        <a:rPr sz="1000" b="0">
                          <a:solidFill>
                            <a:srgbClr val="000000"/>
                          </a:solidFill>
                          <a:latin typeface="Raleway"/>
                        </a:rPr>
                        <a:t> send </a:t>
                      </a:r>
                      <a:r>
                        <a:rPr sz="1000" b="0" err="1">
                          <a:solidFill>
                            <a:srgbClr val="000000"/>
                          </a:solidFill>
                          <a:latin typeface="Raleway"/>
                        </a:rPr>
                        <a:t>Pemberkasan</a:t>
                      </a:r>
                      <a:r>
                        <a:rPr sz="1000" b="0">
                          <a:solidFill>
                            <a:srgbClr val="000000"/>
                          </a:solidFill>
                          <a:latin typeface="Raleway"/>
                        </a:rPr>
                        <a:t>, Offering Letter, Pejanjian Kerja, </a:t>
                      </a:r>
                      <a:r>
                        <a:rPr sz="1000" b="0" err="1">
                          <a:solidFill>
                            <a:srgbClr val="000000"/>
                          </a:solidFill>
                          <a:latin typeface="Raleway"/>
                        </a:rPr>
                        <a:t>Komitmen</a:t>
                      </a:r>
                      <a:r>
                        <a:rPr sz="1000" b="0">
                          <a:solidFill>
                            <a:srgbClr val="000000"/>
                          </a:solidFill>
                          <a:latin typeface="Raleway"/>
                        </a:rPr>
                        <a:t> </a:t>
                      </a:r>
                      <a:r>
                        <a:rPr sz="1000" b="0" err="1">
                          <a:solidFill>
                            <a:srgbClr val="000000"/>
                          </a:solidFill>
                          <a:latin typeface="Raleway"/>
                        </a:rPr>
                        <a:t>Kerahasiaan</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Send 5 CV Daily di Week 34</a:t>
                      </a:r>
                    </a:p>
                    <a:p>
                      <a:pPr algn="l">
                        <a:lnSpc>
                          <a:spcPct val="90000"/>
                        </a:lnSpc>
                        <a:spcBef>
                          <a:spcPts val="0"/>
                        </a:spcBef>
                        <a:spcAft>
                          <a:spcPts val="0"/>
                        </a:spcAft>
                      </a:pPr>
                      <a:r>
                        <a:rPr sz="1000" b="0">
                          <a:solidFill>
                            <a:srgbClr val="000000"/>
                          </a:solidFill>
                          <a:latin typeface="Raleway"/>
                        </a:rPr>
                        <a:t>&gt; Onboarding </a:t>
                      </a:r>
                      <a:r>
                        <a:rPr sz="1000" b="0" err="1">
                          <a:solidFill>
                            <a:srgbClr val="000000"/>
                          </a:solidFill>
                          <a:latin typeface="Raleway"/>
                        </a:rPr>
                        <a:t>a.n</a:t>
                      </a:r>
                      <a:r>
                        <a:rPr sz="1000" b="0">
                          <a:solidFill>
                            <a:srgbClr val="000000"/>
                          </a:solidFill>
                          <a:latin typeface="Raleway"/>
                        </a:rPr>
                        <a:t> </a:t>
                      </a:r>
                      <a:r>
                        <a:rPr sz="1000" b="0" err="1">
                          <a:solidFill>
                            <a:srgbClr val="000000"/>
                          </a:solidFill>
                          <a:latin typeface="Raleway"/>
                        </a:rPr>
                        <a:t>Febrina</a:t>
                      </a:r>
                      <a:r>
                        <a:rPr sz="1000" b="0">
                          <a:solidFill>
                            <a:srgbClr val="000000"/>
                          </a:solidFill>
                          <a:latin typeface="Raleway"/>
                        </a:rPr>
                        <a:t> Disa</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NOTE : SALAH TANGGAL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737904">
                <a:tc>
                  <a:txBody>
                    <a:bodyPr/>
                    <a:lstStyle/>
                    <a:p>
                      <a:pPr algn="ctr">
                        <a:lnSpc>
                          <a:spcPct val="90000"/>
                        </a:lnSpc>
                        <a:spcBef>
                          <a:spcPts val="0"/>
                        </a:spcBef>
                        <a:spcAft>
                          <a:spcPts val="0"/>
                        </a:spcAft>
                      </a:pPr>
                      <a:r>
                        <a:rPr sz="1000" b="0">
                          <a:solidFill>
                            <a:srgbClr val="000000"/>
                          </a:solidFill>
                          <a:latin typeface="Raleway"/>
                        </a:rPr>
                        <a:t>29-05-2026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Team Leader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1C</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28-06-2026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Sourcing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kembali</a:t>
                      </a:r>
                      <a:r>
                        <a:rPr sz="1000" b="0">
                          <a:solidFill>
                            <a:srgbClr val="000000"/>
                          </a:solidFill>
                          <a:latin typeface="Raleway"/>
                        </a:rPr>
                        <a:t>.</a:t>
                      </a:r>
                    </a:p>
                    <a:p>
                      <a:pPr algn="l">
                        <a:lnSpc>
                          <a:spcPct val="90000"/>
                        </a:lnSpc>
                        <a:spcBef>
                          <a:spcPts val="0"/>
                        </a:spcBef>
                        <a:spcAft>
                          <a:spcPts val="0"/>
                        </a:spcAft>
                      </a:pPr>
                      <a:r>
                        <a:rPr sz="1000" b="0">
                          <a:solidFill>
                            <a:srgbClr val="000000"/>
                          </a:solidFill>
                          <a:latin typeface="Raleway"/>
                        </a:rPr>
                        <a:t>Next Week: Interview HR dan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737904">
                <a:tc>
                  <a:txBody>
                    <a:bodyPr/>
                    <a:lstStyle/>
                    <a:p>
                      <a:pPr algn="ctr">
                        <a:lnSpc>
                          <a:spcPct val="90000"/>
                        </a:lnSpc>
                        <a:spcBef>
                          <a:spcPts val="0"/>
                        </a:spcBef>
                        <a:spcAft>
                          <a:spcPts val="0"/>
                        </a:spcAft>
                      </a:pPr>
                      <a:r>
                        <a:rPr sz="1000" b="0">
                          <a:solidFill>
                            <a:srgbClr val="000000"/>
                          </a:solidFill>
                          <a:latin typeface="Raleway"/>
                        </a:rPr>
                        <a:t>23-06-2026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Warehouse Driver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1C</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23-07-2026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Proses approval OL an. Puji </a:t>
                      </a:r>
                      <a:r>
                        <a:rPr sz="1000" b="0" err="1">
                          <a:solidFill>
                            <a:srgbClr val="000000"/>
                          </a:solidFill>
                          <a:latin typeface="Raleway"/>
                        </a:rPr>
                        <a:t>Anjasmoro</a:t>
                      </a:r>
                      <a:r>
                        <a:rPr sz="1000" b="0">
                          <a:solidFill>
                            <a:srgbClr val="000000"/>
                          </a:solidFill>
                          <a:latin typeface="Raleway"/>
                        </a:rPr>
                        <a:t>.</a:t>
                      </a:r>
                    </a:p>
                    <a:p>
                      <a:pPr algn="l">
                        <a:lnSpc>
                          <a:spcPct val="90000"/>
                        </a:lnSpc>
                        <a:spcBef>
                          <a:spcPts val="0"/>
                        </a:spcBef>
                        <a:spcAft>
                          <a:spcPts val="0"/>
                        </a:spcAft>
                      </a:pPr>
                      <a:r>
                        <a:rPr sz="1000" b="0">
                          <a:solidFill>
                            <a:srgbClr val="000000"/>
                          </a:solidFill>
                          <a:latin typeface="Raleway"/>
                        </a:rPr>
                        <a:t>Next Week: Proses offer dan </a:t>
                      </a:r>
                      <a:r>
                        <a:rPr sz="1000" b="0" err="1">
                          <a:solidFill>
                            <a:srgbClr val="000000"/>
                          </a:solidFill>
                          <a:latin typeface="Raleway"/>
                        </a:rPr>
                        <a:t>administrasi</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744849">
                <a:tc>
                  <a:txBody>
                    <a:bodyPr/>
                    <a:lstStyle/>
                    <a:p>
                      <a:pPr algn="ctr">
                        <a:lnSpc>
                          <a:spcPct val="90000"/>
                        </a:lnSpc>
                        <a:spcBef>
                          <a:spcPts val="0"/>
                        </a:spcBef>
                        <a:spcAft>
                          <a:spcPts val="0"/>
                        </a:spcAft>
                      </a:pPr>
                      <a:r>
                        <a:rPr sz="1000" b="0">
                          <a:solidFill>
                            <a:srgbClr val="000000"/>
                          </a:solidFill>
                          <a:latin typeface="Raleway"/>
                        </a:rPr>
                        <a:t>20-07-2026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Warehouse Administration Worker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1C</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19-08-2026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Interview HR 12 &amp; 13 Agustus 2026, 3 orang.</a:t>
                      </a:r>
                    </a:p>
                    <a:p>
                      <a:pPr algn="l">
                        <a:lnSpc>
                          <a:spcPct val="90000"/>
                        </a:lnSpc>
                        <a:spcBef>
                          <a:spcPts val="0"/>
                        </a:spcBef>
                        <a:spcAft>
                          <a:spcPts val="0"/>
                        </a:spcAft>
                      </a:pPr>
                      <a:r>
                        <a:rPr sz="1000" b="0">
                          <a:solidFill>
                            <a:srgbClr val="000000"/>
                          </a:solidFill>
                          <a:latin typeface="Raleway"/>
                        </a:rPr>
                        <a:t>Next Week: Interview user 18 Agustus 2026,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bl>
          </a:graphicData>
        </a:graphic>
      </p:graphicFrame>
      <p:sp>
        <p:nvSpPr>
          <p:cNvPr id="6" name="Title 1">
            <a:extLst>
              <a:ext uri="{FF2B5EF4-FFF2-40B4-BE49-F238E27FC236}">
                <a16:creationId xmlns:a16="http://schemas.microsoft.com/office/drawing/2014/main" id="{1A4DB7FA-340A-5C8C-4783-2EDD51AA13F3}"/>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8C777652-37FC-D7C6-34E7-9CD13336B103}"/>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2593025152"/>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4"/>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395057">
                <a:tc>
                  <a:txBody>
                    <a:bodyPr/>
                    <a:lstStyle/>
                    <a:p>
                      <a:pPr algn="ctr">
                        <a:lnSpc>
                          <a:spcPct val="90000"/>
                        </a:lnSpc>
                        <a:spcBef>
                          <a:spcPts val="0"/>
                        </a:spcBef>
                        <a:spcAft>
                          <a:spcPts val="0"/>
                        </a:spcAft>
                      </a:pPr>
                      <a:r>
                        <a:rPr sz="1000" b="0">
                          <a:solidFill>
                            <a:srgbClr val="000000"/>
                          </a:solidFill>
                          <a:latin typeface="Raleway"/>
                        </a:rPr>
                        <a:t>24-07-2026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Maintenance Technician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1B</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23-08-2026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Send CV to user, </a:t>
                      </a:r>
                      <a:r>
                        <a:rPr sz="1000" b="0" err="1">
                          <a:solidFill>
                            <a:srgbClr val="000000"/>
                          </a:solidFill>
                          <a:latin typeface="Raleway"/>
                        </a:rPr>
                        <a:t>sudah</a:t>
                      </a:r>
                      <a:r>
                        <a:rPr sz="1000" b="0">
                          <a:solidFill>
                            <a:srgbClr val="000000"/>
                          </a:solidFill>
                          <a:latin typeface="Raleway"/>
                        </a:rPr>
                        <a:t> user interview, </a:t>
                      </a:r>
                      <a:r>
                        <a:rPr sz="1000" b="0" err="1">
                          <a:solidFill>
                            <a:srgbClr val="000000"/>
                          </a:solidFill>
                          <a:latin typeface="Raleway"/>
                        </a:rPr>
                        <a:t>tapi</a:t>
                      </a:r>
                      <a:r>
                        <a:rPr sz="1000" b="0">
                          <a:solidFill>
                            <a:srgbClr val="000000"/>
                          </a:solidFill>
                          <a:latin typeface="Raleway"/>
                        </a:rPr>
                        <a:t> </a:t>
                      </a:r>
                      <a:r>
                        <a:rPr sz="1000" b="0" err="1">
                          <a:solidFill>
                            <a:srgbClr val="000000"/>
                          </a:solidFill>
                          <a:latin typeface="Raleway"/>
                        </a:rPr>
                        <a:t>belum</a:t>
                      </a:r>
                      <a:r>
                        <a:rPr sz="1000" b="0">
                          <a:solidFill>
                            <a:srgbClr val="000000"/>
                          </a:solidFill>
                          <a:latin typeface="Raleway"/>
                        </a:rPr>
                        <a:t> </a:t>
                      </a:r>
                      <a:r>
                        <a:rPr sz="1000" b="0" err="1">
                          <a:solidFill>
                            <a:srgbClr val="000000"/>
                          </a:solidFill>
                          <a:latin typeface="Raleway"/>
                        </a:rPr>
                        <a:t>ada</a:t>
                      </a:r>
                      <a:r>
                        <a:rPr sz="1000" b="0">
                          <a:solidFill>
                            <a:srgbClr val="000000"/>
                          </a:solidFill>
                          <a:latin typeface="Raleway"/>
                        </a:rPr>
                        <a:t> </a:t>
                      </a:r>
                      <a:r>
                        <a:rPr sz="1000" b="0" err="1">
                          <a:solidFill>
                            <a:srgbClr val="000000"/>
                          </a:solidFill>
                          <a:latin typeface="Raleway"/>
                        </a:rPr>
                        <a:t>kandidat</a:t>
                      </a:r>
                      <a:r>
                        <a:rPr sz="1000" b="0">
                          <a:solidFill>
                            <a:srgbClr val="000000"/>
                          </a:solidFill>
                          <a:latin typeface="Raleway"/>
                        </a:rPr>
                        <a:t> yang lolos</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Send 5CV Daily</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909900">
                <a:tc>
                  <a:txBody>
                    <a:bodyPr/>
                    <a:lstStyle/>
                    <a:p>
                      <a:pPr algn="ctr">
                        <a:lnSpc>
                          <a:spcPct val="90000"/>
                        </a:lnSpc>
                        <a:spcBef>
                          <a:spcPts val="0"/>
                        </a:spcBef>
                        <a:spcAft>
                          <a:spcPts val="0"/>
                        </a:spcAft>
                      </a:pPr>
                      <a:r>
                        <a:rPr sz="1000" b="0">
                          <a:solidFill>
                            <a:srgbClr val="000000"/>
                          </a:solidFill>
                          <a:latin typeface="Raleway"/>
                        </a:rPr>
                        <a:t>12-Dec-25</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Mixing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1B</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01-Nov-26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Send CV to user, </a:t>
                      </a:r>
                      <a:r>
                        <a:rPr sz="1000" b="0" err="1">
                          <a:solidFill>
                            <a:srgbClr val="000000"/>
                          </a:solidFill>
                          <a:latin typeface="Raleway"/>
                        </a:rPr>
                        <a:t>sudah</a:t>
                      </a:r>
                      <a:r>
                        <a:rPr sz="1000" b="0">
                          <a:solidFill>
                            <a:srgbClr val="000000"/>
                          </a:solidFill>
                          <a:latin typeface="Raleway"/>
                        </a:rPr>
                        <a:t> user interview, lolos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Oka Hermawan dan Nur Arifin</a:t>
                      </a:r>
                    </a:p>
                    <a:p>
                      <a:pPr algn="l">
                        <a:lnSpc>
                          <a:spcPct val="90000"/>
                        </a:lnSpc>
                        <a:spcBef>
                          <a:spcPts val="0"/>
                        </a:spcBef>
                        <a:spcAft>
                          <a:spcPts val="0"/>
                        </a:spcAft>
                      </a:pPr>
                      <a:r>
                        <a:rPr sz="1000" b="0">
                          <a:solidFill>
                            <a:srgbClr val="000000"/>
                          </a:solidFill>
                          <a:latin typeface="Raleway"/>
                        </a:rPr>
                        <a:t>&gt; Done Reference Check</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Approval Offering</a:t>
                      </a:r>
                    </a:p>
                    <a:p>
                      <a:pPr algn="l">
                        <a:lnSpc>
                          <a:spcPct val="90000"/>
                        </a:lnSpc>
                        <a:spcBef>
                          <a:spcPts val="0"/>
                        </a:spcBef>
                        <a:spcAft>
                          <a:spcPts val="0"/>
                        </a:spcAft>
                      </a:pPr>
                      <a:r>
                        <a:rPr sz="1000" b="0">
                          <a:solidFill>
                            <a:srgbClr val="000000"/>
                          </a:solidFill>
                          <a:latin typeface="Raleway"/>
                        </a:rPr>
                        <a:t>&gt; Send 5 CV Daily</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395057">
                <a:tc>
                  <a:txBody>
                    <a:bodyPr/>
                    <a:lstStyle/>
                    <a:p>
                      <a:pPr algn="ctr">
                        <a:lnSpc>
                          <a:spcPct val="90000"/>
                        </a:lnSpc>
                        <a:spcBef>
                          <a:spcPts val="0"/>
                        </a:spcBef>
                        <a:spcAft>
                          <a:spcPts val="0"/>
                        </a:spcAft>
                      </a:pPr>
                      <a:r>
                        <a:rPr sz="1000" b="0">
                          <a:solidFill>
                            <a:srgbClr val="000000"/>
                          </a:solidFill>
                          <a:latin typeface="Raleway"/>
                        </a:rPr>
                        <a:t>24-07-2026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Maintenance Technician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1B</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23-08-2026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Send CV to user, </a:t>
                      </a:r>
                      <a:r>
                        <a:rPr sz="1000" b="0" err="1">
                          <a:solidFill>
                            <a:srgbClr val="000000"/>
                          </a:solidFill>
                          <a:latin typeface="Raleway"/>
                        </a:rPr>
                        <a:t>sudah</a:t>
                      </a:r>
                      <a:r>
                        <a:rPr sz="1000" b="0">
                          <a:solidFill>
                            <a:srgbClr val="000000"/>
                          </a:solidFill>
                          <a:latin typeface="Raleway"/>
                        </a:rPr>
                        <a:t> user interview, </a:t>
                      </a:r>
                      <a:r>
                        <a:rPr sz="1000" b="0" err="1">
                          <a:solidFill>
                            <a:srgbClr val="000000"/>
                          </a:solidFill>
                          <a:latin typeface="Raleway"/>
                        </a:rPr>
                        <a:t>tapi</a:t>
                      </a:r>
                      <a:r>
                        <a:rPr sz="1000" b="0">
                          <a:solidFill>
                            <a:srgbClr val="000000"/>
                          </a:solidFill>
                          <a:latin typeface="Raleway"/>
                        </a:rPr>
                        <a:t> </a:t>
                      </a:r>
                      <a:r>
                        <a:rPr sz="1000" b="0" err="1">
                          <a:solidFill>
                            <a:srgbClr val="000000"/>
                          </a:solidFill>
                          <a:latin typeface="Raleway"/>
                        </a:rPr>
                        <a:t>belum</a:t>
                      </a:r>
                      <a:r>
                        <a:rPr sz="1000" b="0">
                          <a:solidFill>
                            <a:srgbClr val="000000"/>
                          </a:solidFill>
                          <a:latin typeface="Raleway"/>
                        </a:rPr>
                        <a:t> </a:t>
                      </a:r>
                      <a:r>
                        <a:rPr sz="1000" b="0" err="1">
                          <a:solidFill>
                            <a:srgbClr val="000000"/>
                          </a:solidFill>
                          <a:latin typeface="Raleway"/>
                        </a:rPr>
                        <a:t>ada</a:t>
                      </a:r>
                      <a:r>
                        <a:rPr sz="1000" b="0">
                          <a:solidFill>
                            <a:srgbClr val="000000"/>
                          </a:solidFill>
                          <a:latin typeface="Raleway"/>
                        </a:rPr>
                        <a:t> </a:t>
                      </a:r>
                      <a:r>
                        <a:rPr sz="1000" b="0" err="1">
                          <a:solidFill>
                            <a:srgbClr val="000000"/>
                          </a:solidFill>
                          <a:latin typeface="Raleway"/>
                        </a:rPr>
                        <a:t>kandidat</a:t>
                      </a:r>
                      <a:r>
                        <a:rPr sz="1000" b="0">
                          <a:solidFill>
                            <a:srgbClr val="000000"/>
                          </a:solidFill>
                          <a:latin typeface="Raleway"/>
                        </a:rPr>
                        <a:t> yang lolos</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Send 5CV Daily</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bl>
          </a:graphicData>
        </a:graphic>
      </p:graphicFrame>
      <p:sp>
        <p:nvSpPr>
          <p:cNvPr id="6" name="Title 1">
            <a:extLst>
              <a:ext uri="{FF2B5EF4-FFF2-40B4-BE49-F238E27FC236}">
                <a16:creationId xmlns:a16="http://schemas.microsoft.com/office/drawing/2014/main" id="{0FF3AED4-F5F4-730A-6483-1CB9D0920339}"/>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79340AB2-1442-EA01-9891-7B151DB62F2D}"/>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3048201919"/>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3"/>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863247">
                <a:tc>
                  <a:txBody>
                    <a:bodyPr/>
                    <a:lstStyle/>
                    <a:p>
                      <a:pPr algn="ctr">
                        <a:lnSpc>
                          <a:spcPct val="90000"/>
                        </a:lnSpc>
                        <a:spcBef>
                          <a:spcPts val="0"/>
                        </a:spcBef>
                        <a:spcAft>
                          <a:spcPts val="0"/>
                        </a:spcAft>
                      </a:pPr>
                      <a:r>
                        <a:rPr sz="1000" b="0">
                          <a:solidFill>
                            <a:srgbClr val="000000"/>
                          </a:solidFill>
                          <a:latin typeface="Raleway"/>
                        </a:rPr>
                        <a:t>30-07-2026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Operation Administration Worker - Formulation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1B</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29-08-2026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Next Action :</a:t>
                      </a:r>
                    </a:p>
                    <a:p>
                      <a:pPr algn="l">
                        <a:lnSpc>
                          <a:spcPct val="90000"/>
                        </a:lnSpc>
                        <a:spcBef>
                          <a:spcPts val="0"/>
                        </a:spcBef>
                        <a:spcAft>
                          <a:spcPts val="0"/>
                        </a:spcAft>
                      </a:pPr>
                      <a:r>
                        <a:rPr sz="1000" b="0">
                          <a:solidFill>
                            <a:srgbClr val="000000"/>
                          </a:solidFill>
                          <a:latin typeface="Raleway"/>
                        </a:rPr>
                        <a:t>&gt; Send 5 CV daily -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550116">
                <a:tc>
                  <a:txBody>
                    <a:bodyPr/>
                    <a:lstStyle/>
                    <a:p>
                      <a:pPr algn="ctr">
                        <a:lnSpc>
                          <a:spcPct val="90000"/>
                        </a:lnSpc>
                        <a:spcBef>
                          <a:spcPts val="0"/>
                        </a:spcBef>
                        <a:spcAft>
                          <a:spcPts val="0"/>
                        </a:spcAft>
                      </a:pPr>
                      <a:r>
                        <a:rPr sz="1000" b="0">
                          <a:solidFill>
                            <a:srgbClr val="000000"/>
                          </a:solidFill>
                          <a:latin typeface="Raleway"/>
                        </a:rPr>
                        <a:t>30-07-2026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Formulation Administration Worker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1B</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29-08-2026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Fiscall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Closed</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Kandidat</a:t>
                      </a:r>
                      <a:r>
                        <a:rPr sz="1000" b="0">
                          <a:solidFill>
                            <a:srgbClr val="000000"/>
                          </a:solidFill>
                          <a:latin typeface="Raleway"/>
                        </a:rPr>
                        <a:t> lolos </a:t>
                      </a:r>
                      <a:r>
                        <a:rPr sz="1000" b="0" err="1">
                          <a:solidFill>
                            <a:srgbClr val="000000"/>
                          </a:solidFill>
                          <a:latin typeface="Raleway"/>
                        </a:rPr>
                        <a:t>a.n</a:t>
                      </a:r>
                      <a:r>
                        <a:rPr sz="1000" b="0">
                          <a:solidFill>
                            <a:srgbClr val="000000"/>
                          </a:solidFill>
                          <a:latin typeface="Raleway"/>
                        </a:rPr>
                        <a:t> Shella.</a:t>
                      </a:r>
                    </a:p>
                    <a:p>
                      <a:pPr algn="l">
                        <a:lnSpc>
                          <a:spcPct val="90000"/>
                        </a:lnSpc>
                        <a:spcBef>
                          <a:spcPts val="0"/>
                        </a:spcBef>
                        <a:spcAft>
                          <a:spcPts val="0"/>
                        </a:spcAft>
                      </a:pPr>
                      <a:r>
                        <a:rPr sz="1000" b="0">
                          <a:solidFill>
                            <a:srgbClr val="000000"/>
                          </a:solidFill>
                          <a:latin typeface="Raleway"/>
                        </a:rPr>
                        <a:t>&gt; Shela approved salary, </a:t>
                      </a:r>
                      <a:r>
                        <a:rPr sz="1000" b="0" err="1">
                          <a:solidFill>
                            <a:srgbClr val="000000"/>
                          </a:solidFill>
                          <a:latin typeface="Raleway"/>
                        </a:rPr>
                        <a:t>sudah</a:t>
                      </a:r>
                      <a:r>
                        <a:rPr sz="1000" b="0">
                          <a:solidFill>
                            <a:srgbClr val="000000"/>
                          </a:solidFill>
                          <a:latin typeface="Raleway"/>
                        </a:rPr>
                        <a:t> send </a:t>
                      </a:r>
                      <a:r>
                        <a:rPr sz="1000" b="0" err="1">
                          <a:solidFill>
                            <a:srgbClr val="000000"/>
                          </a:solidFill>
                          <a:latin typeface="Raleway"/>
                        </a:rPr>
                        <a:t>Pemberkasan</a:t>
                      </a:r>
                      <a:r>
                        <a:rPr sz="1000" b="0">
                          <a:solidFill>
                            <a:srgbClr val="000000"/>
                          </a:solidFill>
                          <a:latin typeface="Raleway"/>
                        </a:rPr>
                        <a:t>, Offering Letter, Pejanjian Kerja, </a:t>
                      </a:r>
                      <a:r>
                        <a:rPr sz="1000" b="0" err="1">
                          <a:solidFill>
                            <a:srgbClr val="000000"/>
                          </a:solidFill>
                          <a:latin typeface="Raleway"/>
                        </a:rPr>
                        <a:t>Komitmen</a:t>
                      </a:r>
                      <a:r>
                        <a:rPr sz="1000" b="0">
                          <a:solidFill>
                            <a:srgbClr val="000000"/>
                          </a:solidFill>
                          <a:latin typeface="Raleway"/>
                        </a:rPr>
                        <a:t> </a:t>
                      </a:r>
                      <a:r>
                        <a:rPr sz="1000" b="0" err="1">
                          <a:solidFill>
                            <a:srgbClr val="000000"/>
                          </a:solidFill>
                          <a:latin typeface="Raleway"/>
                        </a:rPr>
                        <a:t>Kerahasiaan</a:t>
                      </a:r>
                      <a:endParaRPr sz="1000" b="0">
                        <a:solidFill>
                          <a:srgbClr val="000000"/>
                        </a:solidFill>
                        <a:latin typeface="Raleway"/>
                      </a:endParaRP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Onboarding </a:t>
                      </a:r>
                      <a:r>
                        <a:rPr sz="1000" b="0" err="1">
                          <a:solidFill>
                            <a:srgbClr val="000000"/>
                          </a:solidFill>
                          <a:latin typeface="Raleway"/>
                        </a:rPr>
                        <a:t>a.n</a:t>
                      </a:r>
                      <a:r>
                        <a:rPr sz="1000" b="0">
                          <a:solidFill>
                            <a:srgbClr val="000000"/>
                          </a:solidFill>
                          <a:latin typeface="Raleway"/>
                        </a:rPr>
                        <a:t> Shella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773744">
                <a:tc>
                  <a:txBody>
                    <a:bodyPr/>
                    <a:lstStyle/>
                    <a:p>
                      <a:pPr algn="ctr">
                        <a:lnSpc>
                          <a:spcPct val="90000"/>
                        </a:lnSpc>
                        <a:spcBef>
                          <a:spcPts val="0"/>
                        </a:spcBef>
                        <a:spcAft>
                          <a:spcPts val="0"/>
                        </a:spcAft>
                      </a:pPr>
                      <a:r>
                        <a:rPr sz="1000" b="0">
                          <a:solidFill>
                            <a:srgbClr val="000000"/>
                          </a:solidFill>
                          <a:latin typeface="Raleway"/>
                        </a:rPr>
                        <a:t>05-Dec-26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Merchandiser - DIST </a:t>
                      </a:r>
                      <a:r>
                        <a:rPr sz="1000" b="0" err="1">
                          <a:solidFill>
                            <a:srgbClr val="000000"/>
                          </a:solidFill>
                          <a:latin typeface="Raleway"/>
                        </a:rPr>
                        <a:t>Pekanbaru</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1B</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06-Nov-26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Proses Approval OL an. Muhammad Arrafi Ariandi.</a:t>
                      </a:r>
                    </a:p>
                    <a:p>
                      <a:pPr algn="l">
                        <a:lnSpc>
                          <a:spcPct val="90000"/>
                        </a:lnSpc>
                        <a:spcBef>
                          <a:spcPts val="0"/>
                        </a:spcBef>
                        <a:spcAft>
                          <a:spcPts val="0"/>
                        </a:spcAft>
                      </a:pPr>
                      <a:r>
                        <a:rPr sz="1000" b="0">
                          <a:solidFill>
                            <a:srgbClr val="000000"/>
                          </a:solidFill>
                          <a:latin typeface="Raleway"/>
                        </a:rPr>
                        <a:t>Next Week: Proses Offer dan </a:t>
                      </a:r>
                      <a:r>
                        <a:rPr sz="1000" b="0" err="1">
                          <a:solidFill>
                            <a:srgbClr val="000000"/>
                          </a:solidFill>
                          <a:latin typeface="Raleway"/>
                        </a:rPr>
                        <a:t>Administrasi</a:t>
                      </a:r>
                      <a:r>
                        <a:rPr sz="1000" b="0">
                          <a:solidFill>
                            <a:srgbClr val="000000"/>
                          </a:solidFill>
                          <a:latin typeface="Raleway"/>
                        </a:rPr>
                        <a:t>, Follow up </a:t>
                      </a:r>
                      <a:r>
                        <a:rPr sz="1000" b="0" err="1">
                          <a:solidFill>
                            <a:srgbClr val="000000"/>
                          </a:solidFill>
                          <a:latin typeface="Raleway"/>
                        </a:rPr>
                        <a:t>hasil</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756453">
                <a:tc>
                  <a:txBody>
                    <a:bodyPr/>
                    <a:lstStyle/>
                    <a:p>
                      <a:pPr algn="ctr">
                        <a:lnSpc>
                          <a:spcPct val="90000"/>
                        </a:lnSpc>
                        <a:spcBef>
                          <a:spcPts val="0"/>
                        </a:spcBef>
                        <a:spcAft>
                          <a:spcPts val="0"/>
                        </a:spcAft>
                      </a:pPr>
                      <a:r>
                        <a:rPr sz="1000" b="0">
                          <a:solidFill>
                            <a:srgbClr val="000000"/>
                          </a:solidFill>
                          <a:latin typeface="Raleway"/>
                        </a:rPr>
                        <a:t>05-Dec-26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Merchandiser - DIST Pontianak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1B</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06-Nov-26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Sourcing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kembali</a:t>
                      </a:r>
                    </a:p>
                    <a:p>
                      <a:pPr algn="l">
                        <a:lnSpc>
                          <a:spcPct val="90000"/>
                        </a:lnSpc>
                        <a:spcBef>
                          <a:spcPts val="0"/>
                        </a:spcBef>
                        <a:spcAft>
                          <a:spcPts val="0"/>
                        </a:spcAft>
                      </a:pPr>
                      <a:r>
                        <a:rPr sz="1000" b="0">
                          <a:solidFill>
                            <a:srgbClr val="000000"/>
                          </a:solidFill>
                          <a:latin typeface="Raleway"/>
                        </a:rPr>
                        <a:t>Next Week: Sourcing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lainnya</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r h="756453">
                <a:tc>
                  <a:txBody>
                    <a:bodyPr/>
                    <a:lstStyle/>
                    <a:p>
                      <a:pPr algn="ctr">
                        <a:lnSpc>
                          <a:spcPct val="90000"/>
                        </a:lnSpc>
                        <a:spcBef>
                          <a:spcPts val="0"/>
                        </a:spcBef>
                        <a:spcAft>
                          <a:spcPts val="0"/>
                        </a:spcAft>
                      </a:pPr>
                      <a:r>
                        <a:rPr sz="1000" b="0">
                          <a:solidFill>
                            <a:srgbClr val="000000"/>
                          </a:solidFill>
                          <a:latin typeface="Raleway"/>
                        </a:rPr>
                        <a:t>07-Feb-26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Transportation Helper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1B</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08-Jan-26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Proses reference check an. Budi Cahyana.</a:t>
                      </a:r>
                    </a:p>
                    <a:p>
                      <a:pPr algn="l">
                        <a:lnSpc>
                          <a:spcPct val="90000"/>
                        </a:lnSpc>
                        <a:spcBef>
                          <a:spcPts val="0"/>
                        </a:spcBef>
                        <a:spcAft>
                          <a:spcPts val="0"/>
                        </a:spcAft>
                      </a:pPr>
                      <a:r>
                        <a:rPr sz="1000" b="0">
                          <a:solidFill>
                            <a:srgbClr val="000000"/>
                          </a:solidFill>
                          <a:latin typeface="Raleway"/>
                        </a:rPr>
                        <a:t>Next Week: Proses Approval OL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5"/>
                  </a:ext>
                </a:extLst>
              </a:tr>
            </a:tbl>
          </a:graphicData>
        </a:graphic>
      </p:graphicFrame>
      <p:sp>
        <p:nvSpPr>
          <p:cNvPr id="6" name="Title 1">
            <a:extLst>
              <a:ext uri="{FF2B5EF4-FFF2-40B4-BE49-F238E27FC236}">
                <a16:creationId xmlns:a16="http://schemas.microsoft.com/office/drawing/2014/main" id="{E1522758-0A03-CE4F-B48A-E84E5A7532B4}"/>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CC6895BE-F165-44E5-C8EA-AFD17F9E6EB6}"/>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2372127577"/>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4"/>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925999">
                <a:tc>
                  <a:txBody>
                    <a:bodyPr/>
                    <a:lstStyle/>
                    <a:p>
                      <a:pPr algn="ctr">
                        <a:lnSpc>
                          <a:spcPct val="90000"/>
                        </a:lnSpc>
                        <a:spcBef>
                          <a:spcPts val="0"/>
                        </a:spcBef>
                        <a:spcAft>
                          <a:spcPts val="0"/>
                        </a:spcAft>
                      </a:pPr>
                      <a:r>
                        <a:rPr sz="1000" b="0">
                          <a:solidFill>
                            <a:srgbClr val="000000"/>
                          </a:solidFill>
                          <a:latin typeface="Raleway"/>
                        </a:rPr>
                        <a:t>28-07-2026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Merchandiser - DIST Jambi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1B</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27-08-2026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User </a:t>
                      </a:r>
                      <a:r>
                        <a:rPr sz="1000" b="0" err="1">
                          <a:solidFill>
                            <a:srgbClr val="000000"/>
                          </a:solidFill>
                          <a:latin typeface="Raleway"/>
                        </a:rPr>
                        <a:t>tidak</a:t>
                      </a:r>
                      <a:r>
                        <a:rPr sz="1000" b="0">
                          <a:solidFill>
                            <a:srgbClr val="000000"/>
                          </a:solidFill>
                          <a:latin typeface="Raleway"/>
                        </a:rPr>
                        <a:t> </a:t>
                      </a:r>
                      <a:r>
                        <a:rPr sz="1000" b="0" err="1">
                          <a:solidFill>
                            <a:srgbClr val="000000"/>
                          </a:solidFill>
                          <a:latin typeface="Raleway"/>
                        </a:rPr>
                        <a:t>cocok</a:t>
                      </a:r>
                      <a:r>
                        <a:rPr sz="1000" b="0">
                          <a:solidFill>
                            <a:srgbClr val="000000"/>
                          </a:solidFill>
                          <a:latin typeface="Raleway"/>
                        </a:rPr>
                        <a:t> </a:t>
                      </a:r>
                      <a:r>
                        <a:rPr sz="1000" b="0" err="1">
                          <a:solidFill>
                            <a:srgbClr val="000000"/>
                          </a:solidFill>
                          <a:latin typeface="Raleway"/>
                        </a:rPr>
                        <a:t>dengan</a:t>
                      </a:r>
                      <a:r>
                        <a:rPr sz="1000" b="0">
                          <a:solidFill>
                            <a:srgbClr val="000000"/>
                          </a:solidFill>
                          <a:latin typeface="Raleway"/>
                        </a:rPr>
                        <a:t> </a:t>
                      </a:r>
                      <a:r>
                        <a:rPr sz="1000" b="0" err="1">
                          <a:solidFill>
                            <a:srgbClr val="000000"/>
                          </a:solidFill>
                          <a:latin typeface="Raleway"/>
                        </a:rPr>
                        <a:t>kedua</a:t>
                      </a:r>
                      <a:r>
                        <a:rPr sz="1000" b="0">
                          <a:solidFill>
                            <a:srgbClr val="000000"/>
                          </a:solidFill>
                          <a:latin typeface="Raleway"/>
                        </a:rPr>
                        <a:t>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sebelumnya</a:t>
                      </a:r>
                      <a:r>
                        <a:rPr sz="1000" b="0">
                          <a:solidFill>
                            <a:srgbClr val="000000"/>
                          </a:solidFill>
                          <a:latin typeface="Raleway"/>
                        </a:rPr>
                        <a:t>, sourcing </a:t>
                      </a:r>
                      <a:r>
                        <a:rPr sz="1000" b="0" err="1">
                          <a:solidFill>
                            <a:srgbClr val="000000"/>
                          </a:solidFill>
                          <a:latin typeface="Raleway"/>
                        </a:rPr>
                        <a:t>kembali</a:t>
                      </a:r>
                      <a:r>
                        <a:rPr sz="1000" b="0">
                          <a:solidFill>
                            <a:srgbClr val="000000"/>
                          </a:solidFill>
                          <a:latin typeface="Raleway"/>
                        </a:rPr>
                        <a:t>.</a:t>
                      </a:r>
                    </a:p>
                    <a:p>
                      <a:pPr algn="l">
                        <a:lnSpc>
                          <a:spcPct val="90000"/>
                        </a:lnSpc>
                        <a:spcBef>
                          <a:spcPts val="0"/>
                        </a:spcBef>
                        <a:spcAft>
                          <a:spcPts val="0"/>
                        </a:spcAft>
                      </a:pPr>
                      <a:r>
                        <a:rPr sz="1000" b="0">
                          <a:solidFill>
                            <a:srgbClr val="000000"/>
                          </a:solidFill>
                          <a:latin typeface="Raleway"/>
                        </a:rPr>
                        <a:t>Next Week: Interview HR dan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925999">
                <a:tc>
                  <a:txBody>
                    <a:bodyPr/>
                    <a:lstStyle/>
                    <a:p>
                      <a:pPr algn="ctr">
                        <a:lnSpc>
                          <a:spcPct val="90000"/>
                        </a:lnSpc>
                        <a:spcBef>
                          <a:spcPts val="0"/>
                        </a:spcBef>
                        <a:spcAft>
                          <a:spcPts val="0"/>
                        </a:spcAft>
                      </a:pPr>
                      <a:r>
                        <a:rPr sz="1000" b="0">
                          <a:solidFill>
                            <a:srgbClr val="000000"/>
                          </a:solidFill>
                          <a:latin typeface="Raleway"/>
                        </a:rPr>
                        <a:t>28-07-2026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Merchandiser - DIST Manado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1B</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27-08-2026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User </a:t>
                      </a:r>
                      <a:r>
                        <a:rPr sz="1000" b="0" err="1">
                          <a:solidFill>
                            <a:srgbClr val="000000"/>
                          </a:solidFill>
                          <a:latin typeface="Raleway"/>
                        </a:rPr>
                        <a:t>tidak</a:t>
                      </a:r>
                      <a:r>
                        <a:rPr sz="1000" b="0">
                          <a:solidFill>
                            <a:srgbClr val="000000"/>
                          </a:solidFill>
                          <a:latin typeface="Raleway"/>
                        </a:rPr>
                        <a:t> </a:t>
                      </a:r>
                      <a:r>
                        <a:rPr sz="1000" b="0" err="1">
                          <a:solidFill>
                            <a:srgbClr val="000000"/>
                          </a:solidFill>
                          <a:latin typeface="Raleway"/>
                        </a:rPr>
                        <a:t>cocok</a:t>
                      </a:r>
                      <a:r>
                        <a:rPr sz="1000" b="0">
                          <a:solidFill>
                            <a:srgbClr val="000000"/>
                          </a:solidFill>
                          <a:latin typeface="Raleway"/>
                        </a:rPr>
                        <a:t> </a:t>
                      </a:r>
                      <a:r>
                        <a:rPr sz="1000" b="0" err="1">
                          <a:solidFill>
                            <a:srgbClr val="000000"/>
                          </a:solidFill>
                          <a:latin typeface="Raleway"/>
                        </a:rPr>
                        <a:t>dengan</a:t>
                      </a:r>
                      <a:r>
                        <a:rPr sz="1000" b="0">
                          <a:solidFill>
                            <a:srgbClr val="000000"/>
                          </a:solidFill>
                          <a:latin typeface="Raleway"/>
                        </a:rPr>
                        <a:t> </a:t>
                      </a:r>
                      <a:r>
                        <a:rPr sz="1000" b="0" err="1">
                          <a:solidFill>
                            <a:srgbClr val="000000"/>
                          </a:solidFill>
                          <a:latin typeface="Raleway"/>
                        </a:rPr>
                        <a:t>kedua</a:t>
                      </a:r>
                      <a:r>
                        <a:rPr sz="1000" b="0">
                          <a:solidFill>
                            <a:srgbClr val="000000"/>
                          </a:solidFill>
                          <a:latin typeface="Raleway"/>
                        </a:rPr>
                        <a:t>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sebelumnya</a:t>
                      </a:r>
                      <a:r>
                        <a:rPr sz="1000" b="0">
                          <a:solidFill>
                            <a:srgbClr val="000000"/>
                          </a:solidFill>
                          <a:latin typeface="Raleway"/>
                        </a:rPr>
                        <a:t>, sourcing </a:t>
                      </a:r>
                      <a:r>
                        <a:rPr sz="1000" b="0" err="1">
                          <a:solidFill>
                            <a:srgbClr val="000000"/>
                          </a:solidFill>
                          <a:latin typeface="Raleway"/>
                        </a:rPr>
                        <a:t>kembali</a:t>
                      </a:r>
                      <a:r>
                        <a:rPr sz="1000" b="0">
                          <a:solidFill>
                            <a:srgbClr val="000000"/>
                          </a:solidFill>
                          <a:latin typeface="Raleway"/>
                        </a:rPr>
                        <a:t>.</a:t>
                      </a:r>
                    </a:p>
                    <a:p>
                      <a:pPr algn="l">
                        <a:lnSpc>
                          <a:spcPct val="90000"/>
                        </a:lnSpc>
                        <a:spcBef>
                          <a:spcPts val="0"/>
                        </a:spcBef>
                        <a:spcAft>
                          <a:spcPts val="0"/>
                        </a:spcAft>
                      </a:pPr>
                      <a:r>
                        <a:rPr sz="1000" b="0">
                          <a:solidFill>
                            <a:srgbClr val="000000"/>
                          </a:solidFill>
                          <a:latin typeface="Raleway"/>
                        </a:rPr>
                        <a:t>Next Week: Interview HR dan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010022">
                <a:tc>
                  <a:txBody>
                    <a:bodyPr/>
                    <a:lstStyle/>
                    <a:p>
                      <a:pPr algn="ctr">
                        <a:lnSpc>
                          <a:spcPct val="90000"/>
                        </a:lnSpc>
                        <a:spcBef>
                          <a:spcPts val="0"/>
                        </a:spcBef>
                        <a:spcAft>
                          <a:spcPts val="0"/>
                        </a:spcAft>
                      </a:pPr>
                      <a:r>
                        <a:rPr sz="1000" b="0">
                          <a:solidFill>
                            <a:srgbClr val="000000"/>
                          </a:solidFill>
                          <a:latin typeface="Raleway"/>
                        </a:rPr>
                        <a:t>28-07-2026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Merchandiser - Cab Semarang</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1B</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27-08-2026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terpilih</a:t>
                      </a:r>
                      <a:r>
                        <a:rPr sz="1000" b="0">
                          <a:solidFill>
                            <a:srgbClr val="000000"/>
                          </a:solidFill>
                          <a:latin typeface="Raleway"/>
                        </a:rPr>
                        <a:t> </a:t>
                      </a:r>
                      <a:r>
                        <a:rPr sz="1000" b="0" err="1">
                          <a:solidFill>
                            <a:srgbClr val="000000"/>
                          </a:solidFill>
                          <a:latin typeface="Raleway"/>
                        </a:rPr>
                        <a:t>mundur</a:t>
                      </a:r>
                      <a:r>
                        <a:rPr sz="1000" b="0">
                          <a:solidFill>
                            <a:srgbClr val="000000"/>
                          </a:solidFill>
                          <a:latin typeface="Raleway"/>
                        </a:rPr>
                        <a:t> </a:t>
                      </a:r>
                      <a:r>
                        <a:rPr sz="1000" b="0" err="1">
                          <a:solidFill>
                            <a:srgbClr val="000000"/>
                          </a:solidFill>
                          <a:latin typeface="Raleway"/>
                        </a:rPr>
                        <a:t>dari</a:t>
                      </a:r>
                      <a:r>
                        <a:rPr sz="1000" b="0">
                          <a:solidFill>
                            <a:srgbClr val="000000"/>
                          </a:solidFill>
                          <a:latin typeface="Raleway"/>
                        </a:rPr>
                        <a:t> proses, interview HR 3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tgl</a:t>
                      </a:r>
                      <a:r>
                        <a:rPr sz="1000" b="0">
                          <a:solidFill>
                            <a:srgbClr val="000000"/>
                          </a:solidFill>
                          <a:latin typeface="Raleway"/>
                        </a:rPr>
                        <a:t> 11 Agustus 2026.</a:t>
                      </a:r>
                    </a:p>
                    <a:p>
                      <a:pPr algn="l">
                        <a:lnSpc>
                          <a:spcPct val="90000"/>
                        </a:lnSpc>
                        <a:spcBef>
                          <a:spcPts val="0"/>
                        </a:spcBef>
                        <a:spcAft>
                          <a:spcPts val="0"/>
                        </a:spcAft>
                      </a:pPr>
                      <a:r>
                        <a:rPr sz="1000" b="0">
                          <a:solidFill>
                            <a:srgbClr val="000000"/>
                          </a:solidFill>
                          <a:latin typeface="Raleway"/>
                        </a:rPr>
                        <a:t>Next Week: Interview user dan follow </a:t>
                      </a:r>
                      <a:r>
                        <a:rPr sz="1000" b="0" err="1">
                          <a:solidFill>
                            <a:srgbClr val="000000"/>
                          </a:solidFill>
                          <a:latin typeface="Raleway"/>
                        </a:rPr>
                        <a:t>upnya</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918997">
                <a:tc>
                  <a:txBody>
                    <a:bodyPr/>
                    <a:lstStyle/>
                    <a:p>
                      <a:pPr algn="ctr">
                        <a:lnSpc>
                          <a:spcPct val="90000"/>
                        </a:lnSpc>
                        <a:spcBef>
                          <a:spcPts val="0"/>
                        </a:spcBef>
                        <a:spcAft>
                          <a:spcPts val="0"/>
                        </a:spcAft>
                      </a:pPr>
                      <a:r>
                        <a:rPr sz="1000" b="0">
                          <a:solidFill>
                            <a:srgbClr val="000000"/>
                          </a:solidFill>
                          <a:latin typeface="Raleway"/>
                        </a:rPr>
                        <a:t>28-07-2026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Merchandiser - DIST Medan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1B</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27-08-2026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User </a:t>
                      </a:r>
                      <a:r>
                        <a:rPr sz="1000" b="0" err="1">
                          <a:solidFill>
                            <a:srgbClr val="000000"/>
                          </a:solidFill>
                          <a:latin typeface="Raleway"/>
                        </a:rPr>
                        <a:t>tidak</a:t>
                      </a:r>
                      <a:r>
                        <a:rPr sz="1000" b="0">
                          <a:solidFill>
                            <a:srgbClr val="000000"/>
                          </a:solidFill>
                          <a:latin typeface="Raleway"/>
                        </a:rPr>
                        <a:t> </a:t>
                      </a:r>
                      <a:r>
                        <a:rPr sz="1000" b="0" err="1">
                          <a:solidFill>
                            <a:srgbClr val="000000"/>
                          </a:solidFill>
                          <a:latin typeface="Raleway"/>
                        </a:rPr>
                        <a:t>cocok,dengan</a:t>
                      </a:r>
                      <a:r>
                        <a:rPr sz="1000" b="0">
                          <a:solidFill>
                            <a:srgbClr val="000000"/>
                          </a:solidFill>
                          <a:latin typeface="Raleway"/>
                        </a:rPr>
                        <a:t> dua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sebelumnya</a:t>
                      </a:r>
                      <a:r>
                        <a:rPr sz="1000" b="0">
                          <a:solidFill>
                            <a:srgbClr val="000000"/>
                          </a:solidFill>
                          <a:latin typeface="Raleway"/>
                        </a:rPr>
                        <a:t>, sourcing </a:t>
                      </a:r>
                      <a:r>
                        <a:rPr sz="1000" b="0" err="1">
                          <a:solidFill>
                            <a:srgbClr val="000000"/>
                          </a:solidFill>
                          <a:latin typeface="Raleway"/>
                        </a:rPr>
                        <a:t>kembali</a:t>
                      </a:r>
                      <a:r>
                        <a:rPr sz="1000" b="0">
                          <a:solidFill>
                            <a:srgbClr val="000000"/>
                          </a:solidFill>
                          <a:latin typeface="Raleway"/>
                        </a:rPr>
                        <a:t>.</a:t>
                      </a:r>
                    </a:p>
                    <a:p>
                      <a:pPr algn="l">
                        <a:lnSpc>
                          <a:spcPct val="90000"/>
                        </a:lnSpc>
                        <a:spcBef>
                          <a:spcPts val="0"/>
                        </a:spcBef>
                        <a:spcAft>
                          <a:spcPts val="0"/>
                        </a:spcAft>
                      </a:pPr>
                      <a:r>
                        <a:rPr sz="1000" b="0">
                          <a:solidFill>
                            <a:srgbClr val="000000"/>
                          </a:solidFill>
                          <a:latin typeface="Raleway"/>
                        </a:rPr>
                        <a:t>Next Week: Interview HR dan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r h="918997">
                <a:tc>
                  <a:txBody>
                    <a:bodyPr/>
                    <a:lstStyle/>
                    <a:p>
                      <a:pPr algn="ctr">
                        <a:lnSpc>
                          <a:spcPct val="90000"/>
                        </a:lnSpc>
                        <a:spcBef>
                          <a:spcPts val="0"/>
                        </a:spcBef>
                        <a:spcAft>
                          <a:spcPts val="0"/>
                        </a:spcAft>
                      </a:pPr>
                      <a:r>
                        <a:rPr sz="1000" b="0">
                          <a:solidFill>
                            <a:srgbClr val="000000"/>
                          </a:solidFill>
                          <a:latin typeface="Raleway"/>
                        </a:rPr>
                        <a:t>30-07-2026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Merchandiser - DIST Jakarta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1B</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29-08-2026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Interview user 3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tgl</a:t>
                      </a:r>
                      <a:r>
                        <a:rPr sz="1000" b="0">
                          <a:solidFill>
                            <a:srgbClr val="000000"/>
                          </a:solidFill>
                          <a:latin typeface="Raleway"/>
                        </a:rPr>
                        <a:t> 14 Agustus 2026.</a:t>
                      </a:r>
                    </a:p>
                    <a:p>
                      <a:pPr algn="l">
                        <a:lnSpc>
                          <a:spcPct val="90000"/>
                        </a:lnSpc>
                        <a:spcBef>
                          <a:spcPts val="0"/>
                        </a:spcBef>
                        <a:spcAft>
                          <a:spcPts val="0"/>
                        </a:spcAft>
                      </a:pPr>
                      <a:r>
                        <a:rPr sz="1000" b="0">
                          <a:solidFill>
                            <a:srgbClr val="000000"/>
                          </a:solidFill>
                          <a:latin typeface="Raleway"/>
                        </a:rPr>
                        <a:t>Next Week: Follow up </a:t>
                      </a:r>
                      <a:r>
                        <a:rPr sz="1000" b="0" err="1">
                          <a:solidFill>
                            <a:srgbClr val="000000"/>
                          </a:solidFill>
                          <a:latin typeface="Raleway"/>
                        </a:rPr>
                        <a:t>hasil</a:t>
                      </a:r>
                      <a:r>
                        <a:rPr sz="1000" b="0">
                          <a:solidFill>
                            <a:srgbClr val="000000"/>
                          </a:solidFill>
                          <a:latin typeface="Raleway"/>
                        </a:rPr>
                        <a:t> interview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5"/>
                  </a:ext>
                </a:extLst>
              </a:tr>
            </a:tbl>
          </a:graphicData>
        </a:graphic>
      </p:graphicFrame>
      <p:sp>
        <p:nvSpPr>
          <p:cNvPr id="6" name="Title 1">
            <a:extLst>
              <a:ext uri="{FF2B5EF4-FFF2-40B4-BE49-F238E27FC236}">
                <a16:creationId xmlns:a16="http://schemas.microsoft.com/office/drawing/2014/main" id="{BE62201E-6161-6257-7C45-675AE194CABD}"/>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DA4FCD7E-DB08-5AB3-44B0-064732F23FE9}"/>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1000048728"/>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5"/>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181705">
                <a:tc>
                  <a:txBody>
                    <a:bodyPr/>
                    <a:lstStyle/>
                    <a:p>
                      <a:pPr algn="ctr">
                        <a:lnSpc>
                          <a:spcPct val="90000"/>
                        </a:lnSpc>
                        <a:spcBef>
                          <a:spcPts val="0"/>
                        </a:spcBef>
                        <a:spcAft>
                          <a:spcPts val="0"/>
                        </a:spcAft>
                      </a:pPr>
                      <a:r>
                        <a:rPr sz="1000" b="0">
                          <a:solidFill>
                            <a:srgbClr val="000000"/>
                          </a:solidFill>
                          <a:latin typeface="Raleway"/>
                        </a:rPr>
                        <a:t>30-07-2026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Merchandiser - DIST Gorontalo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1B</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29-08-2026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User </a:t>
                      </a:r>
                      <a:r>
                        <a:rPr sz="1000" b="0" err="1">
                          <a:solidFill>
                            <a:srgbClr val="000000"/>
                          </a:solidFill>
                          <a:latin typeface="Raleway"/>
                        </a:rPr>
                        <a:t>tidak</a:t>
                      </a:r>
                      <a:r>
                        <a:rPr sz="1000" b="0">
                          <a:solidFill>
                            <a:srgbClr val="000000"/>
                          </a:solidFill>
                          <a:latin typeface="Raleway"/>
                        </a:rPr>
                        <a:t> </a:t>
                      </a:r>
                      <a:r>
                        <a:rPr sz="1000" b="0" err="1">
                          <a:solidFill>
                            <a:srgbClr val="000000"/>
                          </a:solidFill>
                          <a:latin typeface="Raleway"/>
                        </a:rPr>
                        <a:t>cocok</a:t>
                      </a:r>
                      <a:r>
                        <a:rPr sz="1000" b="0">
                          <a:solidFill>
                            <a:srgbClr val="000000"/>
                          </a:solidFill>
                          <a:latin typeface="Raleway"/>
                        </a:rPr>
                        <a:t> </a:t>
                      </a:r>
                      <a:r>
                        <a:rPr sz="1000" b="0" err="1">
                          <a:solidFill>
                            <a:srgbClr val="000000"/>
                          </a:solidFill>
                          <a:latin typeface="Raleway"/>
                        </a:rPr>
                        <a:t>dengan</a:t>
                      </a:r>
                      <a:r>
                        <a:rPr sz="1000" b="0">
                          <a:solidFill>
                            <a:srgbClr val="000000"/>
                          </a:solidFill>
                          <a:latin typeface="Raleway"/>
                        </a:rPr>
                        <a:t> </a:t>
                      </a:r>
                      <a:r>
                        <a:rPr sz="1000" b="0" err="1">
                          <a:solidFill>
                            <a:srgbClr val="000000"/>
                          </a:solidFill>
                          <a:latin typeface="Raleway"/>
                        </a:rPr>
                        <a:t>kedua</a:t>
                      </a:r>
                      <a:r>
                        <a:rPr sz="1000" b="0">
                          <a:solidFill>
                            <a:srgbClr val="000000"/>
                          </a:solidFill>
                          <a:latin typeface="Raleway"/>
                        </a:rPr>
                        <a:t>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sebelumnya</a:t>
                      </a:r>
                      <a:r>
                        <a:rPr sz="1000" b="0">
                          <a:solidFill>
                            <a:srgbClr val="000000"/>
                          </a:solidFill>
                          <a:latin typeface="Raleway"/>
                        </a:rPr>
                        <a:t>, sourcing </a:t>
                      </a:r>
                      <a:r>
                        <a:rPr sz="1000" b="0" err="1">
                          <a:solidFill>
                            <a:srgbClr val="000000"/>
                          </a:solidFill>
                          <a:latin typeface="Raleway"/>
                        </a:rPr>
                        <a:t>kembali</a:t>
                      </a:r>
                      <a:r>
                        <a:rPr sz="1000" b="0">
                          <a:solidFill>
                            <a:srgbClr val="000000"/>
                          </a:solidFill>
                          <a:latin typeface="Raleway"/>
                        </a:rPr>
                        <a:t>.</a:t>
                      </a:r>
                    </a:p>
                    <a:p>
                      <a:pPr algn="l">
                        <a:lnSpc>
                          <a:spcPct val="90000"/>
                        </a:lnSpc>
                        <a:spcBef>
                          <a:spcPts val="0"/>
                        </a:spcBef>
                        <a:spcAft>
                          <a:spcPts val="0"/>
                        </a:spcAft>
                      </a:pPr>
                      <a:r>
                        <a:rPr sz="1000" b="0">
                          <a:solidFill>
                            <a:srgbClr val="000000"/>
                          </a:solidFill>
                          <a:latin typeface="Raleway"/>
                        </a:rPr>
                        <a:t>Next Week: Interview HR dan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172770">
                <a:tc>
                  <a:txBody>
                    <a:bodyPr/>
                    <a:lstStyle/>
                    <a:p>
                      <a:pPr algn="ctr">
                        <a:lnSpc>
                          <a:spcPct val="90000"/>
                        </a:lnSpc>
                        <a:spcBef>
                          <a:spcPts val="0"/>
                        </a:spcBef>
                        <a:spcAft>
                          <a:spcPts val="0"/>
                        </a:spcAft>
                      </a:pPr>
                      <a:r>
                        <a:rPr sz="1000" b="0">
                          <a:solidFill>
                            <a:srgbClr val="000000"/>
                          </a:solidFill>
                          <a:latin typeface="Raleway"/>
                        </a:rPr>
                        <a:t>30-07-2026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Merchandiser - DIST </a:t>
                      </a:r>
                      <a:r>
                        <a:rPr sz="1000" b="0" err="1">
                          <a:solidFill>
                            <a:srgbClr val="000000"/>
                          </a:solidFill>
                          <a:latin typeface="Raleway"/>
                        </a:rPr>
                        <a:t>Kupang</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1B</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29-08-2026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User </a:t>
                      </a:r>
                      <a:r>
                        <a:rPr sz="1000" b="0" err="1">
                          <a:solidFill>
                            <a:srgbClr val="000000"/>
                          </a:solidFill>
                          <a:latin typeface="Raleway"/>
                        </a:rPr>
                        <a:t>tidak</a:t>
                      </a:r>
                      <a:r>
                        <a:rPr sz="1000" b="0">
                          <a:solidFill>
                            <a:srgbClr val="000000"/>
                          </a:solidFill>
                          <a:latin typeface="Raleway"/>
                        </a:rPr>
                        <a:t> </a:t>
                      </a:r>
                      <a:r>
                        <a:rPr sz="1000" b="0" err="1">
                          <a:solidFill>
                            <a:srgbClr val="000000"/>
                          </a:solidFill>
                          <a:latin typeface="Raleway"/>
                        </a:rPr>
                        <a:t>cocok</a:t>
                      </a:r>
                      <a:r>
                        <a:rPr sz="1000" b="0">
                          <a:solidFill>
                            <a:srgbClr val="000000"/>
                          </a:solidFill>
                          <a:latin typeface="Raleway"/>
                        </a:rPr>
                        <a:t> </a:t>
                      </a:r>
                      <a:r>
                        <a:rPr sz="1000" b="0" err="1">
                          <a:solidFill>
                            <a:srgbClr val="000000"/>
                          </a:solidFill>
                          <a:latin typeface="Raleway"/>
                        </a:rPr>
                        <a:t>dengan</a:t>
                      </a:r>
                      <a:r>
                        <a:rPr sz="1000" b="0">
                          <a:solidFill>
                            <a:srgbClr val="000000"/>
                          </a:solidFill>
                          <a:latin typeface="Raleway"/>
                        </a:rPr>
                        <a:t> 1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sebelumnya</a:t>
                      </a:r>
                      <a:r>
                        <a:rPr sz="1000" b="0">
                          <a:solidFill>
                            <a:srgbClr val="000000"/>
                          </a:solidFill>
                          <a:latin typeface="Raleway"/>
                        </a:rPr>
                        <a:t>, sourcing </a:t>
                      </a:r>
                      <a:r>
                        <a:rPr sz="1000" b="0" err="1">
                          <a:solidFill>
                            <a:srgbClr val="000000"/>
                          </a:solidFill>
                          <a:latin typeface="Raleway"/>
                        </a:rPr>
                        <a:t>kembali</a:t>
                      </a:r>
                      <a:r>
                        <a:rPr sz="1000" b="0">
                          <a:solidFill>
                            <a:srgbClr val="000000"/>
                          </a:solidFill>
                          <a:latin typeface="Raleway"/>
                        </a:rPr>
                        <a:t>.</a:t>
                      </a:r>
                    </a:p>
                    <a:p>
                      <a:pPr algn="l">
                        <a:lnSpc>
                          <a:spcPct val="90000"/>
                        </a:lnSpc>
                        <a:spcBef>
                          <a:spcPts val="0"/>
                        </a:spcBef>
                        <a:spcAft>
                          <a:spcPts val="0"/>
                        </a:spcAft>
                      </a:pPr>
                      <a:r>
                        <a:rPr sz="1000" b="0">
                          <a:solidFill>
                            <a:srgbClr val="000000"/>
                          </a:solidFill>
                          <a:latin typeface="Raleway"/>
                        </a:rPr>
                        <a:t>Next Week: Interview HR dan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172770">
                <a:tc>
                  <a:txBody>
                    <a:bodyPr/>
                    <a:lstStyle/>
                    <a:p>
                      <a:pPr algn="ctr">
                        <a:lnSpc>
                          <a:spcPct val="90000"/>
                        </a:lnSpc>
                        <a:spcBef>
                          <a:spcPts val="0"/>
                        </a:spcBef>
                        <a:spcAft>
                          <a:spcPts val="0"/>
                        </a:spcAft>
                      </a:pPr>
                      <a:r>
                        <a:rPr sz="1000" b="0">
                          <a:solidFill>
                            <a:srgbClr val="000000"/>
                          </a:solidFill>
                          <a:latin typeface="Raleway"/>
                        </a:rPr>
                        <a:t>30-07-2026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Merchandiser - DIST Kendari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1B</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29-08-2026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Interview HR dua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tgl</a:t>
                      </a:r>
                      <a:r>
                        <a:rPr sz="1000" b="0">
                          <a:solidFill>
                            <a:srgbClr val="000000"/>
                          </a:solidFill>
                          <a:latin typeface="Raleway"/>
                        </a:rPr>
                        <a:t>. 11 Agustus 2026.</a:t>
                      </a:r>
                    </a:p>
                    <a:p>
                      <a:pPr algn="l">
                        <a:lnSpc>
                          <a:spcPct val="90000"/>
                        </a:lnSpc>
                        <a:spcBef>
                          <a:spcPts val="0"/>
                        </a:spcBef>
                        <a:spcAft>
                          <a:spcPts val="0"/>
                        </a:spcAft>
                      </a:pPr>
                      <a:r>
                        <a:rPr sz="1000" b="0">
                          <a:solidFill>
                            <a:srgbClr val="000000"/>
                          </a:solidFill>
                          <a:latin typeface="Raleway"/>
                        </a:rPr>
                        <a:t>Next Week: Interview HR dan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1172770">
                <a:tc>
                  <a:txBody>
                    <a:bodyPr/>
                    <a:lstStyle/>
                    <a:p>
                      <a:pPr algn="ctr">
                        <a:lnSpc>
                          <a:spcPct val="90000"/>
                        </a:lnSpc>
                        <a:spcBef>
                          <a:spcPts val="0"/>
                        </a:spcBef>
                        <a:spcAft>
                          <a:spcPts val="0"/>
                        </a:spcAft>
                      </a:pPr>
                      <a:r>
                        <a:rPr sz="1000" b="0">
                          <a:solidFill>
                            <a:srgbClr val="000000"/>
                          </a:solidFill>
                          <a:latin typeface="Raleway"/>
                        </a:rPr>
                        <a:t>30-07-2026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Merchandiser - DIST Bekasi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1B</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29-08-2026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Interview user 3 </a:t>
                      </a:r>
                      <a:r>
                        <a:rPr sz="1000" b="0" err="1">
                          <a:solidFill>
                            <a:srgbClr val="000000"/>
                          </a:solidFill>
                          <a:latin typeface="Raleway"/>
                        </a:rPr>
                        <a:t>kandidat</a:t>
                      </a:r>
                      <a:r>
                        <a:rPr sz="1000" b="0">
                          <a:solidFill>
                            <a:srgbClr val="000000"/>
                          </a:solidFill>
                          <a:latin typeface="Raleway"/>
                        </a:rPr>
                        <a:t> di </a:t>
                      </a:r>
                      <a:r>
                        <a:rPr sz="1000" b="0" err="1">
                          <a:solidFill>
                            <a:srgbClr val="000000"/>
                          </a:solidFill>
                          <a:latin typeface="Raleway"/>
                        </a:rPr>
                        <a:t>tgl</a:t>
                      </a:r>
                      <a:r>
                        <a:rPr sz="1000" b="0">
                          <a:solidFill>
                            <a:srgbClr val="000000"/>
                          </a:solidFill>
                          <a:latin typeface="Raleway"/>
                        </a:rPr>
                        <a:t> 14 Agustus 2026.</a:t>
                      </a:r>
                    </a:p>
                    <a:p>
                      <a:pPr algn="l">
                        <a:lnSpc>
                          <a:spcPct val="90000"/>
                        </a:lnSpc>
                        <a:spcBef>
                          <a:spcPts val="0"/>
                        </a:spcBef>
                        <a:spcAft>
                          <a:spcPts val="0"/>
                        </a:spcAft>
                      </a:pPr>
                      <a:r>
                        <a:rPr sz="1000" b="0">
                          <a:solidFill>
                            <a:srgbClr val="000000"/>
                          </a:solidFill>
                          <a:latin typeface="Raleway"/>
                        </a:rPr>
                        <a:t>Next Week: Follow up </a:t>
                      </a:r>
                      <a:r>
                        <a:rPr sz="1000" b="0" err="1">
                          <a:solidFill>
                            <a:srgbClr val="000000"/>
                          </a:solidFill>
                          <a:latin typeface="Raleway"/>
                        </a:rPr>
                        <a:t>hasil</a:t>
                      </a:r>
                      <a:r>
                        <a:rPr sz="1000" b="0">
                          <a:solidFill>
                            <a:srgbClr val="000000"/>
                          </a:solidFill>
                          <a:latin typeface="Raleway"/>
                        </a:rPr>
                        <a:t> interview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bl>
          </a:graphicData>
        </a:graphic>
      </p:graphicFrame>
      <p:sp>
        <p:nvSpPr>
          <p:cNvPr id="6" name="Title 1">
            <a:extLst>
              <a:ext uri="{FF2B5EF4-FFF2-40B4-BE49-F238E27FC236}">
                <a16:creationId xmlns:a16="http://schemas.microsoft.com/office/drawing/2014/main" id="{84190753-3ADC-1578-B1B3-39BD7CC53A0F}"/>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53259359-6FA2-5913-0D1F-C2123ECC1818}"/>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1378980195"/>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4"/>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552753">
                <a:tc>
                  <a:txBody>
                    <a:bodyPr/>
                    <a:lstStyle/>
                    <a:p>
                      <a:pPr algn="ctr">
                        <a:lnSpc>
                          <a:spcPct val="90000"/>
                        </a:lnSpc>
                        <a:spcBef>
                          <a:spcPts val="0"/>
                        </a:spcBef>
                        <a:spcAft>
                          <a:spcPts val="0"/>
                        </a:spcAft>
                      </a:pPr>
                      <a:r>
                        <a:rPr sz="1000" b="0">
                          <a:solidFill>
                            <a:srgbClr val="000000"/>
                          </a:solidFill>
                          <a:latin typeface="Raleway"/>
                        </a:rPr>
                        <a:t>23-03-2026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Influencer Marketing Intern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22-04-2026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Salsa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FPTK </a:t>
                      </a:r>
                      <a:r>
                        <a:rPr sz="1000" b="0" err="1">
                          <a:solidFill>
                            <a:srgbClr val="000000"/>
                          </a:solidFill>
                          <a:latin typeface="Raleway"/>
                        </a:rPr>
                        <a:t>baru</a:t>
                      </a:r>
                      <a:r>
                        <a:rPr sz="1000" b="0">
                          <a:solidFill>
                            <a:srgbClr val="000000"/>
                          </a:solidFill>
                          <a:latin typeface="Raleway"/>
                        </a:rPr>
                        <a:t> di handover week 33</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Sourcing dan sent user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552753">
                <a:tc>
                  <a:txBody>
                    <a:bodyPr/>
                    <a:lstStyle/>
                    <a:p>
                      <a:pPr algn="ctr">
                        <a:lnSpc>
                          <a:spcPct val="90000"/>
                        </a:lnSpc>
                        <a:spcBef>
                          <a:spcPts val="0"/>
                        </a:spcBef>
                        <a:spcAft>
                          <a:spcPts val="0"/>
                        </a:spcAft>
                      </a:pPr>
                      <a:r>
                        <a:rPr sz="1000" b="0">
                          <a:solidFill>
                            <a:srgbClr val="000000"/>
                          </a:solidFill>
                          <a:latin typeface="Raleway"/>
                        </a:rPr>
                        <a:t>23-03-2026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Influencer Marketing Intern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22-04-2026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Salsa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FPTK </a:t>
                      </a:r>
                      <a:r>
                        <a:rPr sz="1000" b="0" err="1">
                          <a:solidFill>
                            <a:srgbClr val="000000"/>
                          </a:solidFill>
                          <a:latin typeface="Raleway"/>
                        </a:rPr>
                        <a:t>baru</a:t>
                      </a:r>
                      <a:r>
                        <a:rPr sz="1000" b="0">
                          <a:solidFill>
                            <a:srgbClr val="000000"/>
                          </a:solidFill>
                          <a:latin typeface="Raleway"/>
                        </a:rPr>
                        <a:t> di handover week 33</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Sourcing dan sent user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594508">
                <a:tc>
                  <a:txBody>
                    <a:bodyPr/>
                    <a:lstStyle/>
                    <a:p>
                      <a:pPr algn="ctr">
                        <a:lnSpc>
                          <a:spcPct val="90000"/>
                        </a:lnSpc>
                        <a:spcBef>
                          <a:spcPts val="0"/>
                        </a:spcBef>
                        <a:spcAft>
                          <a:spcPts val="0"/>
                        </a:spcAft>
                      </a:pPr>
                      <a:r>
                        <a:rPr sz="1000" b="0">
                          <a:solidFill>
                            <a:srgbClr val="000000"/>
                          </a:solidFill>
                          <a:latin typeface="Raleway"/>
                        </a:rPr>
                        <a:t>24-07-2026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Influencer Marketing - Head Office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23-08-2026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Salsa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FPTK </a:t>
                      </a:r>
                      <a:r>
                        <a:rPr sz="1000" b="0" err="1">
                          <a:solidFill>
                            <a:srgbClr val="000000"/>
                          </a:solidFill>
                          <a:latin typeface="Raleway"/>
                        </a:rPr>
                        <a:t>baru</a:t>
                      </a:r>
                      <a:r>
                        <a:rPr sz="1000" b="0">
                          <a:solidFill>
                            <a:srgbClr val="000000"/>
                          </a:solidFill>
                          <a:latin typeface="Raleway"/>
                        </a:rPr>
                        <a:t> di handover week 33</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Sourcing dan sent user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bl>
          </a:graphicData>
        </a:graphic>
      </p:graphicFrame>
      <p:sp>
        <p:nvSpPr>
          <p:cNvPr id="6" name="Title 1">
            <a:extLst>
              <a:ext uri="{FF2B5EF4-FFF2-40B4-BE49-F238E27FC236}">
                <a16:creationId xmlns:a16="http://schemas.microsoft.com/office/drawing/2014/main" id="{906EE21D-6A66-FE02-4C91-059FF2259D7D}"/>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7A27D9DF-EA24-B07A-0740-7FB6550DE9B1}"/>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4096843139"/>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4"/>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894264">
                <a:tc>
                  <a:txBody>
                    <a:bodyPr/>
                    <a:lstStyle/>
                    <a:p>
                      <a:pPr algn="ctr">
                        <a:lnSpc>
                          <a:spcPct val="90000"/>
                        </a:lnSpc>
                        <a:spcBef>
                          <a:spcPts val="0"/>
                        </a:spcBef>
                        <a:spcAft>
                          <a:spcPts val="0"/>
                        </a:spcAft>
                      </a:pPr>
                      <a:r>
                        <a:rPr sz="1000" b="0">
                          <a:solidFill>
                            <a:srgbClr val="000000"/>
                          </a:solidFill>
                          <a:latin typeface="Raleway"/>
                        </a:rPr>
                        <a:t>23-06-2026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Crew Store - Mall Kota </a:t>
                      </a:r>
                      <a:r>
                        <a:rPr sz="1000" b="0" err="1">
                          <a:solidFill>
                            <a:srgbClr val="000000"/>
                          </a:solidFill>
                          <a:latin typeface="Raleway"/>
                        </a:rPr>
                        <a:t>kasablanka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23-07-2026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Eli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 Send 25 CVs to user di Week 31. Shortlisted 10CVs by User.</a:t>
                      </a:r>
                    </a:p>
                    <a:p>
                      <a:pPr algn="l">
                        <a:lnSpc>
                          <a:spcPct val="90000"/>
                        </a:lnSpc>
                        <a:spcBef>
                          <a:spcPts val="0"/>
                        </a:spcBef>
                        <a:spcAft>
                          <a:spcPts val="0"/>
                        </a:spcAft>
                      </a:pPr>
                      <a:r>
                        <a:rPr sz="1000" b="0">
                          <a:solidFill>
                            <a:srgbClr val="000000"/>
                          </a:solidFill>
                          <a:latin typeface="Raleway"/>
                        </a:rPr>
                        <a:t>- HR Interview 6 </a:t>
                      </a:r>
                      <a:r>
                        <a:rPr sz="1000" b="0" err="1">
                          <a:solidFill>
                            <a:srgbClr val="000000"/>
                          </a:solidFill>
                          <a:latin typeface="Raleway"/>
                        </a:rPr>
                        <a:t>kandidat</a:t>
                      </a:r>
                      <a:r>
                        <a:rPr sz="1000" b="0">
                          <a:solidFill>
                            <a:srgbClr val="000000"/>
                          </a:solidFill>
                          <a:latin typeface="Raleway"/>
                        </a:rPr>
                        <a:t> pada 5 Agustus 2026: lolos 4 </a:t>
                      </a:r>
                      <a:r>
                        <a:rPr sz="1000" b="0" err="1">
                          <a:solidFill>
                            <a:srgbClr val="000000"/>
                          </a:solidFill>
                          <a:latin typeface="Raleway"/>
                        </a:rPr>
                        <a:t>kandidat</a:t>
                      </a: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 HR </a:t>
                      </a:r>
                      <a:r>
                        <a:rPr sz="1000" b="0" err="1">
                          <a:solidFill>
                            <a:srgbClr val="000000"/>
                          </a:solidFill>
                          <a:latin typeface="Raleway"/>
                        </a:rPr>
                        <a:t>Intervew</a:t>
                      </a:r>
                      <a:r>
                        <a:rPr sz="1000" b="0">
                          <a:solidFill>
                            <a:srgbClr val="000000"/>
                          </a:solidFill>
                          <a:latin typeface="Raleway"/>
                        </a:rPr>
                        <a:t> 5 </a:t>
                      </a:r>
                      <a:r>
                        <a:rPr sz="1000" b="0" err="1">
                          <a:solidFill>
                            <a:srgbClr val="000000"/>
                          </a:solidFill>
                          <a:latin typeface="Raleway"/>
                        </a:rPr>
                        <a:t>kandidat</a:t>
                      </a:r>
                      <a:r>
                        <a:rPr sz="1000" b="0">
                          <a:solidFill>
                            <a:srgbClr val="000000"/>
                          </a:solidFill>
                          <a:latin typeface="Raleway"/>
                        </a:rPr>
                        <a:t> pada 12 Agustus 2026</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 Send 25 CVs/ week 34</a:t>
                      </a:r>
                    </a:p>
                    <a:p>
                      <a:pPr algn="l">
                        <a:lnSpc>
                          <a:spcPct val="90000"/>
                        </a:lnSpc>
                        <a:spcBef>
                          <a:spcPts val="0"/>
                        </a:spcBef>
                        <a:spcAft>
                          <a:spcPts val="0"/>
                        </a:spcAft>
                      </a:pPr>
                      <a:r>
                        <a:rPr sz="1000" b="0">
                          <a:solidFill>
                            <a:srgbClr val="000000"/>
                          </a:solidFill>
                          <a:latin typeface="Raleway"/>
                        </a:rPr>
                        <a:t>- User Interview 3 </a:t>
                      </a:r>
                      <a:r>
                        <a:rPr sz="1000" b="0" err="1">
                          <a:solidFill>
                            <a:srgbClr val="000000"/>
                          </a:solidFill>
                          <a:latin typeface="Raleway"/>
                        </a:rPr>
                        <a:t>kandidat</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894264">
                <a:tc>
                  <a:txBody>
                    <a:bodyPr/>
                    <a:lstStyle/>
                    <a:p>
                      <a:pPr algn="ctr">
                        <a:lnSpc>
                          <a:spcPct val="90000"/>
                        </a:lnSpc>
                        <a:spcBef>
                          <a:spcPts val="0"/>
                        </a:spcBef>
                        <a:spcAft>
                          <a:spcPts val="0"/>
                        </a:spcAft>
                      </a:pPr>
                      <a:r>
                        <a:rPr sz="1000" b="0">
                          <a:solidFill>
                            <a:srgbClr val="000000"/>
                          </a:solidFill>
                          <a:latin typeface="Raleway"/>
                        </a:rPr>
                        <a:t>23-06-2026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Crew Store - Mall Kota </a:t>
                      </a:r>
                      <a:r>
                        <a:rPr sz="1000" b="0" err="1">
                          <a:solidFill>
                            <a:srgbClr val="000000"/>
                          </a:solidFill>
                          <a:latin typeface="Raleway"/>
                        </a:rPr>
                        <a:t>kasablanka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23-07-2026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Eli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 Send 25 CVs to user di Week 31. Shortlisted 10CVs by User.</a:t>
                      </a:r>
                    </a:p>
                    <a:p>
                      <a:pPr algn="l">
                        <a:lnSpc>
                          <a:spcPct val="90000"/>
                        </a:lnSpc>
                        <a:spcBef>
                          <a:spcPts val="0"/>
                        </a:spcBef>
                        <a:spcAft>
                          <a:spcPts val="0"/>
                        </a:spcAft>
                      </a:pPr>
                      <a:r>
                        <a:rPr sz="1000" b="0">
                          <a:solidFill>
                            <a:srgbClr val="000000"/>
                          </a:solidFill>
                          <a:latin typeface="Raleway"/>
                        </a:rPr>
                        <a:t>- HR Interview 6 </a:t>
                      </a:r>
                      <a:r>
                        <a:rPr sz="1000" b="0" err="1">
                          <a:solidFill>
                            <a:srgbClr val="000000"/>
                          </a:solidFill>
                          <a:latin typeface="Raleway"/>
                        </a:rPr>
                        <a:t>kandidat</a:t>
                      </a:r>
                      <a:r>
                        <a:rPr sz="1000" b="0">
                          <a:solidFill>
                            <a:srgbClr val="000000"/>
                          </a:solidFill>
                          <a:latin typeface="Raleway"/>
                        </a:rPr>
                        <a:t> pada 5 Agustus 2026: lolos 4 </a:t>
                      </a:r>
                      <a:r>
                        <a:rPr sz="1000" b="0" err="1">
                          <a:solidFill>
                            <a:srgbClr val="000000"/>
                          </a:solidFill>
                          <a:latin typeface="Raleway"/>
                        </a:rPr>
                        <a:t>kandidat</a:t>
                      </a: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 HR </a:t>
                      </a:r>
                      <a:r>
                        <a:rPr sz="1000" b="0" err="1">
                          <a:solidFill>
                            <a:srgbClr val="000000"/>
                          </a:solidFill>
                          <a:latin typeface="Raleway"/>
                        </a:rPr>
                        <a:t>Intervew</a:t>
                      </a:r>
                      <a:r>
                        <a:rPr sz="1000" b="0">
                          <a:solidFill>
                            <a:srgbClr val="000000"/>
                          </a:solidFill>
                          <a:latin typeface="Raleway"/>
                        </a:rPr>
                        <a:t> 5 </a:t>
                      </a:r>
                      <a:r>
                        <a:rPr sz="1000" b="0" err="1">
                          <a:solidFill>
                            <a:srgbClr val="000000"/>
                          </a:solidFill>
                          <a:latin typeface="Raleway"/>
                        </a:rPr>
                        <a:t>kandidat</a:t>
                      </a:r>
                      <a:r>
                        <a:rPr sz="1000" b="0">
                          <a:solidFill>
                            <a:srgbClr val="000000"/>
                          </a:solidFill>
                          <a:latin typeface="Raleway"/>
                        </a:rPr>
                        <a:t> pada 12 Agustus 2026</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 Send 25 CVs/ week 34</a:t>
                      </a:r>
                    </a:p>
                    <a:p>
                      <a:pPr algn="l">
                        <a:lnSpc>
                          <a:spcPct val="90000"/>
                        </a:lnSpc>
                        <a:spcBef>
                          <a:spcPts val="0"/>
                        </a:spcBef>
                        <a:spcAft>
                          <a:spcPts val="0"/>
                        </a:spcAft>
                      </a:pPr>
                      <a:r>
                        <a:rPr sz="1000" b="0">
                          <a:solidFill>
                            <a:srgbClr val="000000"/>
                          </a:solidFill>
                          <a:latin typeface="Raleway"/>
                        </a:rPr>
                        <a:t>- User Interview 3 </a:t>
                      </a:r>
                      <a:r>
                        <a:rPr sz="1000" b="0" err="1">
                          <a:solidFill>
                            <a:srgbClr val="000000"/>
                          </a:solidFill>
                          <a:latin typeface="Raleway"/>
                        </a:rPr>
                        <a:t>kandidat</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911486">
                <a:tc>
                  <a:txBody>
                    <a:bodyPr/>
                    <a:lstStyle/>
                    <a:p>
                      <a:pPr algn="ctr">
                        <a:lnSpc>
                          <a:spcPct val="90000"/>
                        </a:lnSpc>
                        <a:spcBef>
                          <a:spcPts val="0"/>
                        </a:spcBef>
                        <a:spcAft>
                          <a:spcPts val="0"/>
                        </a:spcAft>
                      </a:pPr>
                      <a:r>
                        <a:rPr sz="1000" b="0">
                          <a:solidFill>
                            <a:srgbClr val="000000"/>
                          </a:solidFill>
                          <a:latin typeface="Raleway"/>
                        </a:rPr>
                        <a:t>23-06-2026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Brand Intern - Yogurt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23-07-2026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Karin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Send 6 CV di 13 Agustus, </a:t>
                      </a:r>
                      <a:r>
                        <a:rPr sz="1000" b="0" err="1">
                          <a:solidFill>
                            <a:srgbClr val="000000"/>
                          </a:solidFill>
                          <a:latin typeface="Raleway"/>
                        </a:rPr>
                        <a:t>menunggu</a:t>
                      </a:r>
                      <a:r>
                        <a:rPr sz="1000" b="0">
                          <a:solidFill>
                            <a:srgbClr val="000000"/>
                          </a:solidFill>
                          <a:latin typeface="Raleway"/>
                        </a:rPr>
                        <a:t> screening by user</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Send 10 CV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bl>
          </a:graphicData>
        </a:graphic>
      </p:graphicFrame>
      <p:sp>
        <p:nvSpPr>
          <p:cNvPr id="6" name="Title 1">
            <a:extLst>
              <a:ext uri="{FF2B5EF4-FFF2-40B4-BE49-F238E27FC236}">
                <a16:creationId xmlns:a16="http://schemas.microsoft.com/office/drawing/2014/main" id="{349355D6-20BA-C325-FA3B-7EFE2F14C185}"/>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004CB2C0-95DB-3E6C-DB3F-178F1CEBCCC9}"/>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924163627"/>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4"/>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904231">
                <a:tc>
                  <a:txBody>
                    <a:bodyPr/>
                    <a:lstStyle/>
                    <a:p>
                      <a:pPr algn="ctr">
                        <a:lnSpc>
                          <a:spcPct val="90000"/>
                        </a:lnSpc>
                        <a:spcBef>
                          <a:spcPts val="0"/>
                        </a:spcBef>
                        <a:spcAft>
                          <a:spcPts val="0"/>
                        </a:spcAft>
                      </a:pPr>
                      <a:r>
                        <a:rPr sz="1000" b="0">
                          <a:solidFill>
                            <a:srgbClr val="000000"/>
                          </a:solidFill>
                          <a:latin typeface="Raleway"/>
                        </a:rPr>
                        <a:t>07-Feb-26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Brand Intern - Yogurt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08-Jan-26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Karin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Send 6 CV di 13 Agustus, </a:t>
                      </a:r>
                      <a:r>
                        <a:rPr sz="1000" b="0" err="1">
                          <a:solidFill>
                            <a:srgbClr val="000000"/>
                          </a:solidFill>
                          <a:latin typeface="Raleway"/>
                        </a:rPr>
                        <a:t>menunggu</a:t>
                      </a:r>
                      <a:r>
                        <a:rPr sz="1000" b="0">
                          <a:solidFill>
                            <a:srgbClr val="000000"/>
                          </a:solidFill>
                          <a:latin typeface="Raleway"/>
                        </a:rPr>
                        <a:t> screening by user</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Send 10 CV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858145">
                <a:tc>
                  <a:txBody>
                    <a:bodyPr/>
                    <a:lstStyle/>
                    <a:p>
                      <a:pPr algn="ctr">
                        <a:lnSpc>
                          <a:spcPct val="90000"/>
                        </a:lnSpc>
                        <a:spcBef>
                          <a:spcPts val="0"/>
                        </a:spcBef>
                        <a:spcAft>
                          <a:spcPts val="0"/>
                        </a:spcAft>
                      </a:pPr>
                      <a:r>
                        <a:rPr sz="1000" b="0">
                          <a:solidFill>
                            <a:srgbClr val="000000"/>
                          </a:solidFill>
                          <a:latin typeface="Raleway"/>
                        </a:rPr>
                        <a:t>07-Feb-26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Crew Store - Blok M</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CISARUA MOUNTAIN DAIRY, TBK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08-Jan-26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Eli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 Send 25 CVs to user di Week 31. Shortlisted 10CVs by User.</a:t>
                      </a:r>
                    </a:p>
                    <a:p>
                      <a:pPr algn="l">
                        <a:lnSpc>
                          <a:spcPct val="90000"/>
                        </a:lnSpc>
                        <a:spcBef>
                          <a:spcPts val="0"/>
                        </a:spcBef>
                        <a:spcAft>
                          <a:spcPts val="0"/>
                        </a:spcAft>
                      </a:pPr>
                      <a:r>
                        <a:rPr sz="1000" b="0">
                          <a:solidFill>
                            <a:srgbClr val="000000"/>
                          </a:solidFill>
                          <a:latin typeface="Raleway"/>
                        </a:rPr>
                        <a:t>- HR Interview 6 </a:t>
                      </a:r>
                      <a:r>
                        <a:rPr sz="1000" b="0" err="1">
                          <a:solidFill>
                            <a:srgbClr val="000000"/>
                          </a:solidFill>
                          <a:latin typeface="Raleway"/>
                        </a:rPr>
                        <a:t>kandidat</a:t>
                      </a:r>
                      <a:r>
                        <a:rPr sz="1000" b="0">
                          <a:solidFill>
                            <a:srgbClr val="000000"/>
                          </a:solidFill>
                          <a:latin typeface="Raleway"/>
                        </a:rPr>
                        <a:t> pada 5 Agustus 2026: lolos 4 </a:t>
                      </a:r>
                      <a:r>
                        <a:rPr sz="1000" b="0" err="1">
                          <a:solidFill>
                            <a:srgbClr val="000000"/>
                          </a:solidFill>
                          <a:latin typeface="Raleway"/>
                        </a:rPr>
                        <a:t>kandidat</a:t>
                      </a: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 HR </a:t>
                      </a:r>
                      <a:r>
                        <a:rPr sz="1000" b="0" err="1">
                          <a:solidFill>
                            <a:srgbClr val="000000"/>
                          </a:solidFill>
                          <a:latin typeface="Raleway"/>
                        </a:rPr>
                        <a:t>Intervew</a:t>
                      </a:r>
                      <a:r>
                        <a:rPr sz="1000" b="0">
                          <a:solidFill>
                            <a:srgbClr val="000000"/>
                          </a:solidFill>
                          <a:latin typeface="Raleway"/>
                        </a:rPr>
                        <a:t> 5 </a:t>
                      </a:r>
                      <a:r>
                        <a:rPr sz="1000" b="0" err="1">
                          <a:solidFill>
                            <a:srgbClr val="000000"/>
                          </a:solidFill>
                          <a:latin typeface="Raleway"/>
                        </a:rPr>
                        <a:t>kandidat</a:t>
                      </a:r>
                      <a:r>
                        <a:rPr sz="1000" b="0">
                          <a:solidFill>
                            <a:srgbClr val="000000"/>
                          </a:solidFill>
                          <a:latin typeface="Raleway"/>
                        </a:rPr>
                        <a:t> pada 12 Agustus 2026</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 Send 25 CVs/ week 34</a:t>
                      </a:r>
                    </a:p>
                    <a:p>
                      <a:pPr algn="l">
                        <a:lnSpc>
                          <a:spcPct val="90000"/>
                        </a:lnSpc>
                        <a:spcBef>
                          <a:spcPts val="0"/>
                        </a:spcBef>
                        <a:spcAft>
                          <a:spcPts val="0"/>
                        </a:spcAft>
                      </a:pPr>
                      <a:r>
                        <a:rPr sz="1000" b="0">
                          <a:solidFill>
                            <a:srgbClr val="000000"/>
                          </a:solidFill>
                          <a:latin typeface="Raleway"/>
                        </a:rPr>
                        <a:t>- User Interview 3 </a:t>
                      </a:r>
                      <a:r>
                        <a:rPr sz="1000" b="0" err="1">
                          <a:solidFill>
                            <a:srgbClr val="000000"/>
                          </a:solidFill>
                          <a:latin typeface="Raleway"/>
                        </a:rPr>
                        <a:t>kandidat</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745245">
                <a:tc>
                  <a:txBody>
                    <a:bodyPr/>
                    <a:lstStyle/>
                    <a:p>
                      <a:pPr algn="ctr">
                        <a:lnSpc>
                          <a:spcPct val="90000"/>
                        </a:lnSpc>
                        <a:spcBef>
                          <a:spcPts val="0"/>
                        </a:spcBef>
                        <a:spcAft>
                          <a:spcPts val="0"/>
                        </a:spcAft>
                      </a:pPr>
                      <a:r>
                        <a:rPr sz="1000" b="0">
                          <a:solidFill>
                            <a:srgbClr val="000000"/>
                          </a:solidFill>
                          <a:latin typeface="Raleway"/>
                        </a:rPr>
                        <a:t>12-Dec-25</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Filling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01-Nov-26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Fiscall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Next Action :</a:t>
                      </a:r>
                    </a:p>
                    <a:p>
                      <a:pPr algn="l">
                        <a:lnSpc>
                          <a:spcPct val="90000"/>
                        </a:lnSpc>
                        <a:spcBef>
                          <a:spcPts val="0"/>
                        </a:spcBef>
                        <a:spcAft>
                          <a:spcPts val="0"/>
                        </a:spcAft>
                      </a:pPr>
                      <a:r>
                        <a:rPr sz="1000" b="0">
                          <a:solidFill>
                            <a:srgbClr val="000000"/>
                          </a:solidFill>
                          <a:latin typeface="Raleway"/>
                        </a:rPr>
                        <a:t>&gt; Send 5 CV daily -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1192393">
                <a:tc>
                  <a:txBody>
                    <a:bodyPr/>
                    <a:lstStyle/>
                    <a:p>
                      <a:pPr algn="ctr">
                        <a:lnSpc>
                          <a:spcPct val="90000"/>
                        </a:lnSpc>
                        <a:spcBef>
                          <a:spcPts val="0"/>
                        </a:spcBef>
                        <a:spcAft>
                          <a:spcPts val="0"/>
                        </a:spcAft>
                      </a:pPr>
                      <a:r>
                        <a:rPr sz="1000" b="0">
                          <a:solidFill>
                            <a:srgbClr val="000000"/>
                          </a:solidFill>
                          <a:latin typeface="Raleway"/>
                        </a:rPr>
                        <a:t>12-Dec-25</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Stock Keeping Worker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01-Nov-26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Kandidat</a:t>
                      </a:r>
                      <a:r>
                        <a:rPr sz="1000" b="0">
                          <a:solidFill>
                            <a:srgbClr val="000000"/>
                          </a:solidFill>
                          <a:latin typeface="Raleway"/>
                        </a:rPr>
                        <a:t> lolos user interview </a:t>
                      </a:r>
                      <a:r>
                        <a:rPr sz="1000" b="0" err="1">
                          <a:solidFill>
                            <a:srgbClr val="000000"/>
                          </a:solidFill>
                          <a:latin typeface="Raleway"/>
                        </a:rPr>
                        <a:t>a.n</a:t>
                      </a:r>
                      <a:r>
                        <a:rPr sz="1000" b="0">
                          <a:solidFill>
                            <a:srgbClr val="000000"/>
                          </a:solidFill>
                          <a:latin typeface="Raleway"/>
                        </a:rPr>
                        <a:t> Iskandar DROP </a:t>
                      </a:r>
                      <a:r>
                        <a:rPr sz="1000" b="0" err="1">
                          <a:solidFill>
                            <a:srgbClr val="000000"/>
                          </a:solidFill>
                          <a:latin typeface="Raleway"/>
                        </a:rPr>
                        <a:t>karena</a:t>
                      </a:r>
                      <a:r>
                        <a:rPr sz="1000" b="0">
                          <a:solidFill>
                            <a:srgbClr val="000000"/>
                          </a:solidFill>
                          <a:latin typeface="Raleway"/>
                        </a:rPr>
                        <a:t> </a:t>
                      </a:r>
                      <a:r>
                        <a:rPr sz="1000" b="0" err="1">
                          <a:solidFill>
                            <a:srgbClr val="000000"/>
                          </a:solidFill>
                          <a:latin typeface="Raleway"/>
                        </a:rPr>
                        <a:t>pertimbangan</a:t>
                      </a:r>
                      <a:r>
                        <a:rPr sz="1000" b="0">
                          <a:solidFill>
                            <a:srgbClr val="000000"/>
                          </a:solidFill>
                          <a:latin typeface="Raleway"/>
                        </a:rPr>
                        <a:t> salary</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Send 5 CV Daily</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bl>
          </a:graphicData>
        </a:graphic>
      </p:graphicFrame>
      <p:sp>
        <p:nvSpPr>
          <p:cNvPr id="6" name="Title 1">
            <a:extLst>
              <a:ext uri="{FF2B5EF4-FFF2-40B4-BE49-F238E27FC236}">
                <a16:creationId xmlns:a16="http://schemas.microsoft.com/office/drawing/2014/main" id="{83E779E7-3680-5424-CDD2-D1EE3E41FD22}"/>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5341294F-37F8-4C6A-F658-0F2E6815CBE8}"/>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3624309711"/>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4"/>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734377">
                <a:tc>
                  <a:txBody>
                    <a:bodyPr/>
                    <a:lstStyle/>
                    <a:p>
                      <a:pPr algn="ctr">
                        <a:lnSpc>
                          <a:spcPct val="90000"/>
                        </a:lnSpc>
                        <a:spcBef>
                          <a:spcPts val="0"/>
                        </a:spcBef>
                        <a:spcAft>
                          <a:spcPts val="0"/>
                        </a:spcAft>
                      </a:pPr>
                      <a:r>
                        <a:rPr sz="1000" b="0">
                          <a:solidFill>
                            <a:srgbClr val="000000"/>
                          </a:solidFill>
                          <a:latin typeface="Raleway"/>
                        </a:rPr>
                        <a:t>12-Dec-25</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Filling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01-Nov-26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Fiscall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Next Action :</a:t>
                      </a:r>
                    </a:p>
                    <a:p>
                      <a:pPr algn="l">
                        <a:lnSpc>
                          <a:spcPct val="90000"/>
                        </a:lnSpc>
                        <a:spcBef>
                          <a:spcPts val="0"/>
                        </a:spcBef>
                        <a:spcAft>
                          <a:spcPts val="0"/>
                        </a:spcAft>
                      </a:pPr>
                      <a:r>
                        <a:rPr sz="1000" b="0">
                          <a:solidFill>
                            <a:srgbClr val="000000"/>
                          </a:solidFill>
                          <a:latin typeface="Raleway"/>
                        </a:rPr>
                        <a:t>&gt; Send 5 CV daily -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175004">
                <a:tc>
                  <a:txBody>
                    <a:bodyPr/>
                    <a:lstStyle/>
                    <a:p>
                      <a:pPr algn="ctr">
                        <a:lnSpc>
                          <a:spcPct val="90000"/>
                        </a:lnSpc>
                        <a:spcBef>
                          <a:spcPts val="0"/>
                        </a:spcBef>
                        <a:spcAft>
                          <a:spcPts val="0"/>
                        </a:spcAft>
                      </a:pPr>
                      <a:r>
                        <a:rPr sz="1000" b="0">
                          <a:solidFill>
                            <a:srgbClr val="000000"/>
                          </a:solidFill>
                          <a:latin typeface="Raleway"/>
                        </a:rPr>
                        <a:t>12-Dec-25</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Stock Keeping Worker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01-Nov-26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Kandidat</a:t>
                      </a:r>
                      <a:r>
                        <a:rPr sz="1000" b="0">
                          <a:solidFill>
                            <a:srgbClr val="000000"/>
                          </a:solidFill>
                          <a:latin typeface="Raleway"/>
                        </a:rPr>
                        <a:t> lolos user interview </a:t>
                      </a:r>
                      <a:r>
                        <a:rPr sz="1000" b="0" err="1">
                          <a:solidFill>
                            <a:srgbClr val="000000"/>
                          </a:solidFill>
                          <a:latin typeface="Raleway"/>
                        </a:rPr>
                        <a:t>a.n</a:t>
                      </a:r>
                      <a:r>
                        <a:rPr sz="1000" b="0">
                          <a:solidFill>
                            <a:srgbClr val="000000"/>
                          </a:solidFill>
                          <a:latin typeface="Raleway"/>
                        </a:rPr>
                        <a:t> Iskandar DROP </a:t>
                      </a:r>
                      <a:r>
                        <a:rPr sz="1000" b="0" err="1">
                          <a:solidFill>
                            <a:srgbClr val="000000"/>
                          </a:solidFill>
                          <a:latin typeface="Raleway"/>
                        </a:rPr>
                        <a:t>karena</a:t>
                      </a:r>
                      <a:r>
                        <a:rPr sz="1000" b="0">
                          <a:solidFill>
                            <a:srgbClr val="000000"/>
                          </a:solidFill>
                          <a:latin typeface="Raleway"/>
                        </a:rPr>
                        <a:t> </a:t>
                      </a:r>
                      <a:r>
                        <a:rPr sz="1000" b="0" err="1">
                          <a:solidFill>
                            <a:srgbClr val="000000"/>
                          </a:solidFill>
                          <a:latin typeface="Raleway"/>
                        </a:rPr>
                        <a:t>pertimbangan</a:t>
                      </a:r>
                      <a:r>
                        <a:rPr sz="1000" b="0">
                          <a:solidFill>
                            <a:srgbClr val="000000"/>
                          </a:solidFill>
                          <a:latin typeface="Raleway"/>
                        </a:rPr>
                        <a:t> salary</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Send 5 CV Daily</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734377">
                <a:tc>
                  <a:txBody>
                    <a:bodyPr/>
                    <a:lstStyle/>
                    <a:p>
                      <a:pPr algn="ctr">
                        <a:lnSpc>
                          <a:spcPct val="90000"/>
                        </a:lnSpc>
                        <a:spcBef>
                          <a:spcPts val="0"/>
                        </a:spcBef>
                        <a:spcAft>
                          <a:spcPts val="0"/>
                        </a:spcAft>
                      </a:pPr>
                      <a:r>
                        <a:rPr sz="1000" b="0">
                          <a:solidFill>
                            <a:srgbClr val="000000"/>
                          </a:solidFill>
                          <a:latin typeface="Raleway"/>
                        </a:rPr>
                        <a:t>12-Dec-25</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Filling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01-Nov-26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Fiscall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Next Action :</a:t>
                      </a:r>
                    </a:p>
                    <a:p>
                      <a:pPr algn="l">
                        <a:lnSpc>
                          <a:spcPct val="90000"/>
                        </a:lnSpc>
                        <a:spcBef>
                          <a:spcPts val="0"/>
                        </a:spcBef>
                        <a:spcAft>
                          <a:spcPts val="0"/>
                        </a:spcAft>
                      </a:pPr>
                      <a:r>
                        <a:rPr sz="1000" b="0">
                          <a:solidFill>
                            <a:srgbClr val="000000"/>
                          </a:solidFill>
                          <a:latin typeface="Raleway"/>
                        </a:rPr>
                        <a:t>&gt; Send 5 CV daily -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1321879">
                <a:tc>
                  <a:txBody>
                    <a:bodyPr/>
                    <a:lstStyle/>
                    <a:p>
                      <a:pPr algn="ctr">
                        <a:lnSpc>
                          <a:spcPct val="90000"/>
                        </a:lnSpc>
                        <a:spcBef>
                          <a:spcPts val="0"/>
                        </a:spcBef>
                        <a:spcAft>
                          <a:spcPts val="0"/>
                        </a:spcAft>
                      </a:pPr>
                      <a:r>
                        <a:rPr sz="1000" b="0">
                          <a:solidFill>
                            <a:srgbClr val="000000"/>
                          </a:solidFill>
                          <a:latin typeface="Raleway"/>
                        </a:rPr>
                        <a:t>01-Jun-26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Formulation Worker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02-May-26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Kandidat</a:t>
                      </a:r>
                      <a:r>
                        <a:rPr sz="1000" b="0">
                          <a:solidFill>
                            <a:srgbClr val="000000"/>
                          </a:solidFill>
                          <a:latin typeface="Raleway"/>
                        </a:rPr>
                        <a:t> lolos </a:t>
                      </a:r>
                      <a:r>
                        <a:rPr sz="1000" b="0" err="1">
                          <a:solidFill>
                            <a:srgbClr val="000000"/>
                          </a:solidFill>
                          <a:latin typeface="Raleway"/>
                        </a:rPr>
                        <a:t>a.n</a:t>
                      </a:r>
                      <a:r>
                        <a:rPr sz="1000" b="0">
                          <a:solidFill>
                            <a:srgbClr val="000000"/>
                          </a:solidFill>
                          <a:latin typeface="Raleway"/>
                        </a:rPr>
                        <a:t> </a:t>
                      </a:r>
                      <a:r>
                        <a:rPr sz="1000" b="0" err="1">
                          <a:solidFill>
                            <a:srgbClr val="000000"/>
                          </a:solidFill>
                          <a:latin typeface="Raleway"/>
                        </a:rPr>
                        <a:t>Asrul</a:t>
                      </a:r>
                      <a:r>
                        <a:rPr sz="1000" b="0">
                          <a:solidFill>
                            <a:srgbClr val="000000"/>
                          </a:solidFill>
                          <a:latin typeface="Raleway"/>
                        </a:rPr>
                        <a:t> dan Sahal</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Keduanya</a:t>
                      </a:r>
                      <a:r>
                        <a:rPr sz="1000" b="0">
                          <a:solidFill>
                            <a:srgbClr val="000000"/>
                          </a:solidFill>
                          <a:latin typeface="Raleway"/>
                        </a:rPr>
                        <a:t> </a:t>
                      </a:r>
                      <a:r>
                        <a:rPr sz="1000" b="0" err="1">
                          <a:solidFill>
                            <a:srgbClr val="000000"/>
                          </a:solidFill>
                          <a:latin typeface="Raleway"/>
                        </a:rPr>
                        <a:t>sedang</a:t>
                      </a:r>
                      <a:r>
                        <a:rPr sz="1000" b="0">
                          <a:solidFill>
                            <a:srgbClr val="000000"/>
                          </a:solidFill>
                          <a:latin typeface="Raleway"/>
                        </a:rPr>
                        <a:t> proses MCU</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Review </a:t>
                      </a:r>
                      <a:r>
                        <a:rPr sz="1000" b="0" err="1">
                          <a:solidFill>
                            <a:srgbClr val="000000"/>
                          </a:solidFill>
                          <a:latin typeface="Raleway"/>
                        </a:rPr>
                        <a:t>hasil</a:t>
                      </a:r>
                      <a:r>
                        <a:rPr sz="1000" b="0">
                          <a:solidFill>
                            <a:srgbClr val="000000"/>
                          </a:solidFill>
                          <a:latin typeface="Raleway"/>
                        </a:rPr>
                        <a:t> MCU</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r h="734377">
                <a:tc>
                  <a:txBody>
                    <a:bodyPr/>
                    <a:lstStyle/>
                    <a:p>
                      <a:pPr algn="ctr">
                        <a:lnSpc>
                          <a:spcPct val="90000"/>
                        </a:lnSpc>
                        <a:spcBef>
                          <a:spcPts val="0"/>
                        </a:spcBef>
                        <a:spcAft>
                          <a:spcPts val="0"/>
                        </a:spcAft>
                      </a:pPr>
                      <a:r>
                        <a:rPr sz="1000" b="0">
                          <a:solidFill>
                            <a:srgbClr val="000000"/>
                          </a:solidFill>
                          <a:latin typeface="Raleway"/>
                        </a:rPr>
                        <a:t>12-Dec-25</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Filling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01-Nov-26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Fiscall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Next Action :</a:t>
                      </a:r>
                    </a:p>
                    <a:p>
                      <a:pPr algn="l">
                        <a:lnSpc>
                          <a:spcPct val="90000"/>
                        </a:lnSpc>
                        <a:spcBef>
                          <a:spcPts val="0"/>
                        </a:spcBef>
                        <a:spcAft>
                          <a:spcPts val="0"/>
                        </a:spcAft>
                      </a:pPr>
                      <a:r>
                        <a:rPr sz="1000" b="0">
                          <a:solidFill>
                            <a:srgbClr val="000000"/>
                          </a:solidFill>
                          <a:latin typeface="Raleway"/>
                        </a:rPr>
                        <a:t>&gt; Send 5 CV daily -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5"/>
                  </a:ext>
                </a:extLst>
              </a:tr>
            </a:tbl>
          </a:graphicData>
        </a:graphic>
      </p:graphicFrame>
      <p:sp>
        <p:nvSpPr>
          <p:cNvPr id="6" name="Title 1">
            <a:extLst>
              <a:ext uri="{FF2B5EF4-FFF2-40B4-BE49-F238E27FC236}">
                <a16:creationId xmlns:a16="http://schemas.microsoft.com/office/drawing/2014/main" id="{5DCBDE60-A12D-A22E-31E2-2BFBAED2695C}"/>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5FE25958-2496-41D5-EFFD-D90CD76B12A8}"/>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72455792"/>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5"/>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837947">
                <a:tc>
                  <a:txBody>
                    <a:bodyPr/>
                    <a:lstStyle/>
                    <a:p>
                      <a:pPr algn="ctr">
                        <a:lnSpc>
                          <a:spcPct val="90000"/>
                        </a:lnSpc>
                        <a:spcBef>
                          <a:spcPts val="0"/>
                        </a:spcBef>
                        <a:spcAft>
                          <a:spcPts val="0"/>
                        </a:spcAft>
                      </a:pPr>
                      <a:r>
                        <a:rPr sz="1000" b="0">
                          <a:solidFill>
                            <a:srgbClr val="000000"/>
                          </a:solidFill>
                          <a:latin typeface="Raleway"/>
                        </a:rPr>
                        <a:t>15-04-2026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Filling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15-05-2026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Fiscall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Next Action :</a:t>
                      </a:r>
                    </a:p>
                    <a:p>
                      <a:pPr algn="l">
                        <a:lnSpc>
                          <a:spcPct val="90000"/>
                        </a:lnSpc>
                        <a:spcBef>
                          <a:spcPts val="0"/>
                        </a:spcBef>
                        <a:spcAft>
                          <a:spcPts val="0"/>
                        </a:spcAft>
                      </a:pPr>
                      <a:r>
                        <a:rPr sz="1000" b="0">
                          <a:solidFill>
                            <a:srgbClr val="000000"/>
                          </a:solidFill>
                          <a:latin typeface="Raleway"/>
                        </a:rPr>
                        <a:t>&gt; Send 5 CV daily -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2186174">
                <a:tc>
                  <a:txBody>
                    <a:bodyPr/>
                    <a:lstStyle/>
                    <a:p>
                      <a:pPr algn="ctr">
                        <a:lnSpc>
                          <a:spcPct val="90000"/>
                        </a:lnSpc>
                        <a:spcBef>
                          <a:spcPts val="0"/>
                        </a:spcBef>
                        <a:spcAft>
                          <a:spcPts val="0"/>
                        </a:spcAft>
                      </a:pPr>
                      <a:r>
                        <a:rPr sz="1000" b="0">
                          <a:solidFill>
                            <a:srgbClr val="000000"/>
                          </a:solidFill>
                          <a:latin typeface="Raleway"/>
                        </a:rPr>
                        <a:t>06-Sep-26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Quality Control Inspector - In Line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07-Sep-26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Closed</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Kandidat</a:t>
                      </a:r>
                      <a:r>
                        <a:rPr sz="1000" b="0">
                          <a:solidFill>
                            <a:srgbClr val="000000"/>
                          </a:solidFill>
                          <a:latin typeface="Raleway"/>
                        </a:rPr>
                        <a:t> lolos </a:t>
                      </a:r>
                      <a:r>
                        <a:rPr sz="1000" b="0" err="1">
                          <a:solidFill>
                            <a:srgbClr val="000000"/>
                          </a:solidFill>
                          <a:latin typeface="Raleway"/>
                        </a:rPr>
                        <a:t>a.n</a:t>
                      </a:r>
                      <a:r>
                        <a:rPr sz="1000" b="0">
                          <a:solidFill>
                            <a:srgbClr val="000000"/>
                          </a:solidFill>
                          <a:latin typeface="Raleway"/>
                        </a:rPr>
                        <a:t> Girindra Ayu</a:t>
                      </a:r>
                    </a:p>
                    <a:p>
                      <a:pPr algn="l">
                        <a:lnSpc>
                          <a:spcPct val="90000"/>
                        </a:lnSpc>
                        <a:spcBef>
                          <a:spcPts val="0"/>
                        </a:spcBef>
                        <a:spcAft>
                          <a:spcPts val="0"/>
                        </a:spcAft>
                      </a:pPr>
                      <a:r>
                        <a:rPr sz="1000" b="0">
                          <a:solidFill>
                            <a:srgbClr val="000000"/>
                          </a:solidFill>
                          <a:latin typeface="Raleway"/>
                        </a:rPr>
                        <a:t>&gt; Girindra approved salary, </a:t>
                      </a:r>
                      <a:r>
                        <a:rPr sz="1000" b="0" err="1">
                          <a:solidFill>
                            <a:srgbClr val="000000"/>
                          </a:solidFill>
                          <a:latin typeface="Raleway"/>
                        </a:rPr>
                        <a:t>sudah</a:t>
                      </a:r>
                      <a:r>
                        <a:rPr sz="1000" b="0">
                          <a:solidFill>
                            <a:srgbClr val="000000"/>
                          </a:solidFill>
                          <a:latin typeface="Raleway"/>
                        </a:rPr>
                        <a:t> send </a:t>
                      </a:r>
                      <a:r>
                        <a:rPr sz="1000" b="0" err="1">
                          <a:solidFill>
                            <a:srgbClr val="000000"/>
                          </a:solidFill>
                          <a:latin typeface="Raleway"/>
                        </a:rPr>
                        <a:t>Pemberkasan</a:t>
                      </a:r>
                      <a:r>
                        <a:rPr sz="1000" b="0">
                          <a:solidFill>
                            <a:srgbClr val="000000"/>
                          </a:solidFill>
                          <a:latin typeface="Raleway"/>
                        </a:rPr>
                        <a:t>, Offering Letter, Pejanjian Kerja, </a:t>
                      </a:r>
                      <a:r>
                        <a:rPr sz="1000" b="0" err="1">
                          <a:solidFill>
                            <a:srgbClr val="000000"/>
                          </a:solidFill>
                          <a:latin typeface="Raleway"/>
                        </a:rPr>
                        <a:t>Komitmen</a:t>
                      </a:r>
                      <a:r>
                        <a:rPr sz="1000" b="0">
                          <a:solidFill>
                            <a:srgbClr val="000000"/>
                          </a:solidFill>
                          <a:latin typeface="Raleway"/>
                        </a:rPr>
                        <a:t> </a:t>
                      </a:r>
                      <a:r>
                        <a:rPr sz="1000" b="0" err="1">
                          <a:solidFill>
                            <a:srgbClr val="000000"/>
                          </a:solidFill>
                          <a:latin typeface="Raleway"/>
                        </a:rPr>
                        <a:t>Kerahasiaan</a:t>
                      </a:r>
                      <a:endParaRPr sz="1000" b="0">
                        <a:solidFill>
                          <a:srgbClr val="000000"/>
                        </a:solidFill>
                        <a:latin typeface="Raleway"/>
                      </a:endParaRP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Onboarding </a:t>
                      </a:r>
                      <a:r>
                        <a:rPr sz="1000" b="0" err="1">
                          <a:solidFill>
                            <a:srgbClr val="000000"/>
                          </a:solidFill>
                          <a:latin typeface="Raleway"/>
                        </a:rPr>
                        <a:t>a.n</a:t>
                      </a:r>
                      <a:r>
                        <a:rPr sz="1000" b="0">
                          <a:solidFill>
                            <a:srgbClr val="000000"/>
                          </a:solidFill>
                          <a:latin typeface="Raleway"/>
                        </a:rPr>
                        <a:t> Girindra</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NOTE : </a:t>
                      </a:r>
                      <a:r>
                        <a:rPr sz="1000" b="0" err="1">
                          <a:solidFill>
                            <a:srgbClr val="000000"/>
                          </a:solidFill>
                          <a:latin typeface="Raleway"/>
                        </a:rPr>
                        <a:t>Tanggal</a:t>
                      </a:r>
                      <a:r>
                        <a:rPr sz="1000" b="0">
                          <a:solidFill>
                            <a:srgbClr val="000000"/>
                          </a:solidFill>
                          <a:latin typeface="Raleway"/>
                        </a:rPr>
                        <a:t> FPTK SALAH</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837947">
                <a:tc>
                  <a:txBody>
                    <a:bodyPr/>
                    <a:lstStyle/>
                    <a:p>
                      <a:pPr algn="ctr">
                        <a:lnSpc>
                          <a:spcPct val="90000"/>
                        </a:lnSpc>
                        <a:spcBef>
                          <a:spcPts val="0"/>
                        </a:spcBef>
                        <a:spcAft>
                          <a:spcPts val="0"/>
                        </a:spcAft>
                      </a:pPr>
                      <a:r>
                        <a:rPr sz="1000" b="0">
                          <a:solidFill>
                            <a:srgbClr val="000000"/>
                          </a:solidFill>
                          <a:latin typeface="Raleway"/>
                        </a:rPr>
                        <a:t>16-04-2026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Filling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16-05-2026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Fiscall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Next Action :</a:t>
                      </a:r>
                    </a:p>
                    <a:p>
                      <a:pPr algn="l">
                        <a:lnSpc>
                          <a:spcPct val="90000"/>
                        </a:lnSpc>
                        <a:spcBef>
                          <a:spcPts val="0"/>
                        </a:spcBef>
                        <a:spcAft>
                          <a:spcPts val="0"/>
                        </a:spcAft>
                      </a:pPr>
                      <a:r>
                        <a:rPr sz="1000" b="0">
                          <a:solidFill>
                            <a:srgbClr val="000000"/>
                          </a:solidFill>
                          <a:latin typeface="Raleway"/>
                        </a:rPr>
                        <a:t>&gt; Send 5 CV daily -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837947">
                <a:tc>
                  <a:txBody>
                    <a:bodyPr/>
                    <a:lstStyle/>
                    <a:p>
                      <a:pPr algn="ctr">
                        <a:lnSpc>
                          <a:spcPct val="90000"/>
                        </a:lnSpc>
                        <a:spcBef>
                          <a:spcPts val="0"/>
                        </a:spcBef>
                        <a:spcAft>
                          <a:spcPts val="0"/>
                        </a:spcAft>
                      </a:pPr>
                      <a:r>
                        <a:rPr sz="1000" b="0">
                          <a:solidFill>
                            <a:srgbClr val="000000"/>
                          </a:solidFill>
                          <a:latin typeface="Raleway"/>
                        </a:rPr>
                        <a:t>17-04-2026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Filling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17-05-2026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Fiscall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Next Action :</a:t>
                      </a:r>
                    </a:p>
                    <a:p>
                      <a:pPr algn="l">
                        <a:lnSpc>
                          <a:spcPct val="90000"/>
                        </a:lnSpc>
                        <a:spcBef>
                          <a:spcPts val="0"/>
                        </a:spcBef>
                        <a:spcAft>
                          <a:spcPts val="0"/>
                        </a:spcAft>
                      </a:pPr>
                      <a:r>
                        <a:rPr sz="1000" b="0">
                          <a:solidFill>
                            <a:srgbClr val="000000"/>
                          </a:solidFill>
                          <a:latin typeface="Raleway"/>
                        </a:rPr>
                        <a:t>&gt; Send 5 CV daily -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bl>
          </a:graphicData>
        </a:graphic>
      </p:graphicFrame>
      <p:sp>
        <p:nvSpPr>
          <p:cNvPr id="6" name="Title 1">
            <a:extLst>
              <a:ext uri="{FF2B5EF4-FFF2-40B4-BE49-F238E27FC236}">
                <a16:creationId xmlns:a16="http://schemas.microsoft.com/office/drawing/2014/main" id="{C4D9512A-FE12-C1ED-1D07-6E9F6B09FE4E}"/>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08FF15B9-26B1-83AE-5FF0-90BDC3582CDE}"/>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3655104242"/>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4"/>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892940">
                <a:tc>
                  <a:txBody>
                    <a:bodyPr/>
                    <a:lstStyle/>
                    <a:p>
                      <a:pPr algn="ctr">
                        <a:lnSpc>
                          <a:spcPct val="90000"/>
                        </a:lnSpc>
                        <a:spcBef>
                          <a:spcPts val="0"/>
                        </a:spcBef>
                        <a:spcAft>
                          <a:spcPts val="0"/>
                        </a:spcAft>
                      </a:pPr>
                      <a:r>
                        <a:rPr sz="1000" b="0">
                          <a:solidFill>
                            <a:srgbClr val="000000"/>
                          </a:solidFill>
                          <a:latin typeface="Raleway"/>
                        </a:rPr>
                        <a:t>18-04-2026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Filling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18-05-2026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Fiscall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Next Action :</a:t>
                      </a:r>
                    </a:p>
                    <a:p>
                      <a:pPr algn="l">
                        <a:lnSpc>
                          <a:spcPct val="90000"/>
                        </a:lnSpc>
                        <a:spcBef>
                          <a:spcPts val="0"/>
                        </a:spcBef>
                        <a:spcAft>
                          <a:spcPts val="0"/>
                        </a:spcAft>
                      </a:pPr>
                      <a:r>
                        <a:rPr sz="1000" b="0">
                          <a:solidFill>
                            <a:srgbClr val="000000"/>
                          </a:solidFill>
                          <a:latin typeface="Raleway"/>
                        </a:rPr>
                        <a:t>&gt; Send 5 CV daily -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010597">
                <a:tc>
                  <a:txBody>
                    <a:bodyPr/>
                    <a:lstStyle/>
                    <a:p>
                      <a:pPr algn="ctr">
                        <a:lnSpc>
                          <a:spcPct val="90000"/>
                        </a:lnSpc>
                        <a:spcBef>
                          <a:spcPts val="0"/>
                        </a:spcBef>
                        <a:spcAft>
                          <a:spcPts val="0"/>
                        </a:spcAft>
                      </a:pPr>
                      <a:r>
                        <a:rPr sz="1000" b="0">
                          <a:solidFill>
                            <a:srgbClr val="000000"/>
                          </a:solidFill>
                          <a:latin typeface="Raleway"/>
                        </a:rPr>
                        <a:t>16-07-2026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Operation Administration Worker - Regulatory</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15-08-2026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Next Action :</a:t>
                      </a:r>
                    </a:p>
                    <a:p>
                      <a:pPr algn="l">
                        <a:lnSpc>
                          <a:spcPct val="90000"/>
                        </a:lnSpc>
                        <a:spcBef>
                          <a:spcPts val="0"/>
                        </a:spcBef>
                        <a:spcAft>
                          <a:spcPts val="0"/>
                        </a:spcAft>
                      </a:pPr>
                      <a:r>
                        <a:rPr sz="1000" b="0">
                          <a:solidFill>
                            <a:srgbClr val="000000"/>
                          </a:solidFill>
                          <a:latin typeface="Raleway"/>
                        </a:rPr>
                        <a:t>&gt; Send 5 CV daily -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892940">
                <a:tc>
                  <a:txBody>
                    <a:bodyPr/>
                    <a:lstStyle/>
                    <a:p>
                      <a:pPr algn="ctr">
                        <a:lnSpc>
                          <a:spcPct val="90000"/>
                        </a:lnSpc>
                        <a:spcBef>
                          <a:spcPts val="0"/>
                        </a:spcBef>
                        <a:spcAft>
                          <a:spcPts val="0"/>
                        </a:spcAft>
                      </a:pPr>
                      <a:r>
                        <a:rPr sz="1000" b="0">
                          <a:solidFill>
                            <a:srgbClr val="000000"/>
                          </a:solidFill>
                          <a:latin typeface="Raleway"/>
                        </a:rPr>
                        <a:t>16-07-2026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R&amp;I Worker - Formulation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15-08-2026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Fiscall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Next Action :</a:t>
                      </a:r>
                    </a:p>
                    <a:p>
                      <a:pPr algn="l">
                        <a:lnSpc>
                          <a:spcPct val="90000"/>
                        </a:lnSpc>
                        <a:spcBef>
                          <a:spcPts val="0"/>
                        </a:spcBef>
                        <a:spcAft>
                          <a:spcPts val="0"/>
                        </a:spcAft>
                      </a:pPr>
                      <a:r>
                        <a:rPr sz="1000" b="0">
                          <a:solidFill>
                            <a:srgbClr val="000000"/>
                          </a:solidFill>
                          <a:latin typeface="Raleway"/>
                        </a:rPr>
                        <a:t>&gt; Send 5 CV daily -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892940">
                <a:tc>
                  <a:txBody>
                    <a:bodyPr/>
                    <a:lstStyle/>
                    <a:p>
                      <a:pPr algn="ctr">
                        <a:lnSpc>
                          <a:spcPct val="90000"/>
                        </a:lnSpc>
                        <a:spcBef>
                          <a:spcPts val="0"/>
                        </a:spcBef>
                        <a:spcAft>
                          <a:spcPts val="0"/>
                        </a:spcAft>
                      </a:pPr>
                      <a:r>
                        <a:rPr sz="1000" b="0">
                          <a:solidFill>
                            <a:srgbClr val="000000"/>
                          </a:solidFill>
                          <a:latin typeface="Raleway"/>
                        </a:rPr>
                        <a:t>16-07-2026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R&amp;I Worker - Formulation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15-08-2026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Fiscall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Next Action :</a:t>
                      </a:r>
                    </a:p>
                    <a:p>
                      <a:pPr algn="l">
                        <a:lnSpc>
                          <a:spcPct val="90000"/>
                        </a:lnSpc>
                        <a:spcBef>
                          <a:spcPts val="0"/>
                        </a:spcBef>
                        <a:spcAft>
                          <a:spcPts val="0"/>
                        </a:spcAft>
                      </a:pPr>
                      <a:r>
                        <a:rPr sz="1000" b="0">
                          <a:solidFill>
                            <a:srgbClr val="000000"/>
                          </a:solidFill>
                          <a:latin typeface="Raleway"/>
                        </a:rPr>
                        <a:t>&gt; Send 5 CV daily -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r h="1010597">
                <a:tc>
                  <a:txBody>
                    <a:bodyPr/>
                    <a:lstStyle/>
                    <a:p>
                      <a:pPr algn="ctr">
                        <a:lnSpc>
                          <a:spcPct val="90000"/>
                        </a:lnSpc>
                        <a:spcBef>
                          <a:spcPts val="0"/>
                        </a:spcBef>
                        <a:spcAft>
                          <a:spcPts val="0"/>
                        </a:spcAft>
                      </a:pPr>
                      <a:r>
                        <a:rPr sz="1000" b="0">
                          <a:solidFill>
                            <a:srgbClr val="000000"/>
                          </a:solidFill>
                          <a:latin typeface="Raleway"/>
                        </a:rPr>
                        <a:t>16-07-2026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Operation Administration Worker - Regulatory</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15-08-2026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Fiscall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Next Action :</a:t>
                      </a:r>
                    </a:p>
                    <a:p>
                      <a:pPr algn="l">
                        <a:lnSpc>
                          <a:spcPct val="90000"/>
                        </a:lnSpc>
                        <a:spcBef>
                          <a:spcPts val="0"/>
                        </a:spcBef>
                        <a:spcAft>
                          <a:spcPts val="0"/>
                        </a:spcAft>
                      </a:pPr>
                      <a:r>
                        <a:rPr sz="1000" b="0">
                          <a:solidFill>
                            <a:srgbClr val="000000"/>
                          </a:solidFill>
                          <a:latin typeface="Raleway"/>
                        </a:rPr>
                        <a:t>&gt; Send 5 CV daily -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5"/>
                  </a:ext>
                </a:extLst>
              </a:tr>
            </a:tbl>
          </a:graphicData>
        </a:graphic>
      </p:graphicFrame>
      <p:sp>
        <p:nvSpPr>
          <p:cNvPr id="6" name="Title 1">
            <a:extLst>
              <a:ext uri="{FF2B5EF4-FFF2-40B4-BE49-F238E27FC236}">
                <a16:creationId xmlns:a16="http://schemas.microsoft.com/office/drawing/2014/main" id="{43247719-AAF8-96EE-332F-AACD3EC85A58}"/>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87432539-C5E9-A06E-575F-5EF935E80E37}"/>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915643890"/>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5"/>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890004">
                <a:tc>
                  <a:txBody>
                    <a:bodyPr/>
                    <a:lstStyle/>
                    <a:p>
                      <a:pPr algn="ctr">
                        <a:lnSpc>
                          <a:spcPct val="90000"/>
                        </a:lnSpc>
                        <a:spcBef>
                          <a:spcPts val="0"/>
                        </a:spcBef>
                        <a:spcAft>
                          <a:spcPts val="0"/>
                        </a:spcAft>
                      </a:pPr>
                      <a:r>
                        <a:rPr sz="1000" b="0">
                          <a:solidFill>
                            <a:srgbClr val="000000"/>
                          </a:solidFill>
                          <a:latin typeface="Raleway"/>
                        </a:rPr>
                        <a:t>16-07-2026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Supply Chain &amp; Warehouse Staff - PPIC</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15-08-2026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Fiscall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Send CV to user, </a:t>
                      </a:r>
                      <a:r>
                        <a:rPr sz="1000" b="0" err="1">
                          <a:solidFill>
                            <a:srgbClr val="000000"/>
                          </a:solidFill>
                          <a:latin typeface="Raleway"/>
                        </a:rPr>
                        <a:t>sudah</a:t>
                      </a:r>
                      <a:r>
                        <a:rPr sz="1000" b="0">
                          <a:solidFill>
                            <a:srgbClr val="000000"/>
                          </a:solidFill>
                          <a:latin typeface="Raleway"/>
                        </a:rPr>
                        <a:t> user interview, lolos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Riska </a:t>
                      </a:r>
                      <a:r>
                        <a:rPr sz="1000" b="0" err="1">
                          <a:solidFill>
                            <a:srgbClr val="000000"/>
                          </a:solidFill>
                          <a:latin typeface="Raleway"/>
                        </a:rPr>
                        <a:t>Apriliany</a:t>
                      </a: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&gt; Done </a:t>
                      </a:r>
                      <a:r>
                        <a:rPr sz="1000" b="0" err="1">
                          <a:solidFill>
                            <a:srgbClr val="000000"/>
                          </a:solidFill>
                          <a:latin typeface="Raleway"/>
                        </a:rPr>
                        <a:t>Psikotes</a:t>
                      </a:r>
                      <a:r>
                        <a:rPr sz="1000" b="0">
                          <a:solidFill>
                            <a:srgbClr val="000000"/>
                          </a:solidFill>
                          <a:latin typeface="Raleway"/>
                        </a:rPr>
                        <a:t>, </a:t>
                      </a:r>
                      <a:r>
                        <a:rPr sz="1000" b="0" err="1">
                          <a:solidFill>
                            <a:srgbClr val="000000"/>
                          </a:solidFill>
                          <a:latin typeface="Raleway"/>
                        </a:rPr>
                        <a:t>sudah</a:t>
                      </a:r>
                      <a:r>
                        <a:rPr sz="1000" b="0">
                          <a:solidFill>
                            <a:srgbClr val="000000"/>
                          </a:solidFill>
                          <a:latin typeface="Raleway"/>
                        </a:rPr>
                        <a:t> </a:t>
                      </a:r>
                      <a:r>
                        <a:rPr sz="1000" b="0" err="1">
                          <a:solidFill>
                            <a:srgbClr val="000000"/>
                          </a:solidFill>
                          <a:latin typeface="Raleway"/>
                        </a:rPr>
                        <a:t>dilakukan</a:t>
                      </a:r>
                      <a:r>
                        <a:rPr sz="1000" b="0">
                          <a:solidFill>
                            <a:srgbClr val="000000"/>
                          </a:solidFill>
                          <a:latin typeface="Raleway"/>
                        </a:rPr>
                        <a:t> offering, </a:t>
                      </a:r>
                      <a:r>
                        <a:rPr sz="1000" b="0" err="1">
                          <a:solidFill>
                            <a:srgbClr val="000000"/>
                          </a:solidFill>
                          <a:latin typeface="Raleway"/>
                        </a:rPr>
                        <a:t>namun</a:t>
                      </a:r>
                      <a:r>
                        <a:rPr sz="1000" b="0">
                          <a:solidFill>
                            <a:srgbClr val="000000"/>
                          </a:solidFill>
                          <a:latin typeface="Raleway"/>
                        </a:rPr>
                        <a:t> </a:t>
                      </a:r>
                      <a:r>
                        <a:rPr sz="1000" b="0" err="1">
                          <a:solidFill>
                            <a:srgbClr val="000000"/>
                          </a:solidFill>
                          <a:latin typeface="Raleway"/>
                        </a:rPr>
                        <a:t>masih</a:t>
                      </a:r>
                      <a:r>
                        <a:rPr sz="1000" b="0">
                          <a:solidFill>
                            <a:srgbClr val="000000"/>
                          </a:solidFill>
                          <a:latin typeface="Raleway"/>
                        </a:rPr>
                        <a:t> </a:t>
                      </a:r>
                      <a:r>
                        <a:rPr sz="1000" b="0" err="1">
                          <a:solidFill>
                            <a:srgbClr val="000000"/>
                          </a:solidFill>
                          <a:latin typeface="Raleway"/>
                        </a:rPr>
                        <a:t>menunggu</a:t>
                      </a:r>
                      <a:r>
                        <a:rPr sz="1000" b="0">
                          <a:solidFill>
                            <a:srgbClr val="000000"/>
                          </a:solidFill>
                          <a:latin typeface="Raleway"/>
                        </a:rPr>
                        <a:t> </a:t>
                      </a:r>
                      <a:r>
                        <a:rPr sz="1000" b="0" err="1">
                          <a:solidFill>
                            <a:srgbClr val="000000"/>
                          </a:solidFill>
                          <a:latin typeface="Raleway"/>
                        </a:rPr>
                        <a:t>jawabannya</a:t>
                      </a:r>
                      <a:r>
                        <a:rPr sz="1000" b="0">
                          <a:solidFill>
                            <a:srgbClr val="000000"/>
                          </a:solidFill>
                          <a:latin typeface="Raleway"/>
                        </a:rPr>
                        <a:t> </a:t>
                      </a:r>
                      <a:r>
                        <a:rPr sz="1000" b="0" err="1">
                          <a:solidFill>
                            <a:srgbClr val="000000"/>
                          </a:solidFill>
                          <a:latin typeface="Raleway"/>
                        </a:rPr>
                        <a:t>besok</a:t>
                      </a:r>
                      <a:r>
                        <a:rPr sz="1000" b="0">
                          <a:solidFill>
                            <a:srgbClr val="000000"/>
                          </a:solidFill>
                          <a:latin typeface="Raleway"/>
                        </a:rPr>
                        <a:t>.</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Follow up</a:t>
                      </a:r>
                    </a:p>
                    <a:p>
                      <a:pPr algn="l">
                        <a:lnSpc>
                          <a:spcPct val="90000"/>
                        </a:lnSpc>
                        <a:spcBef>
                          <a:spcPts val="0"/>
                        </a:spcBef>
                        <a:spcAft>
                          <a:spcPts val="0"/>
                        </a:spcAft>
                      </a:pPr>
                      <a:r>
                        <a:rPr sz="1000" b="0">
                          <a:solidFill>
                            <a:srgbClr val="000000"/>
                          </a:solidFill>
                          <a:latin typeface="Raleway"/>
                        </a:rPr>
                        <a:t>&gt; Send 6=5 Daily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621815">
                <a:tc>
                  <a:txBody>
                    <a:bodyPr/>
                    <a:lstStyle/>
                    <a:p>
                      <a:pPr algn="ctr">
                        <a:lnSpc>
                          <a:spcPct val="90000"/>
                        </a:lnSpc>
                        <a:spcBef>
                          <a:spcPts val="0"/>
                        </a:spcBef>
                        <a:spcAft>
                          <a:spcPts val="0"/>
                        </a:spcAft>
                      </a:pPr>
                      <a:r>
                        <a:rPr sz="1000" b="0">
                          <a:solidFill>
                            <a:srgbClr val="000000"/>
                          </a:solidFill>
                          <a:latin typeface="Raleway"/>
                        </a:rPr>
                        <a:t>13-11-2025</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WWTP Technician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13-12-2025</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NOTE : SEDANG PROSES KONFIRMASI CANCEL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621815">
                <a:tc>
                  <a:txBody>
                    <a:bodyPr/>
                    <a:lstStyle/>
                    <a:p>
                      <a:pPr algn="ctr">
                        <a:lnSpc>
                          <a:spcPct val="90000"/>
                        </a:lnSpc>
                        <a:spcBef>
                          <a:spcPts val="0"/>
                        </a:spcBef>
                        <a:spcAft>
                          <a:spcPts val="0"/>
                        </a:spcAft>
                      </a:pPr>
                      <a:r>
                        <a:rPr sz="1000" b="0">
                          <a:solidFill>
                            <a:srgbClr val="000000"/>
                          </a:solidFill>
                          <a:latin typeface="Raleway"/>
                        </a:rPr>
                        <a:t>02-Jun-26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WWTP Technician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03-Aug-26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Proses Sourcing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1566381">
                <a:tc>
                  <a:txBody>
                    <a:bodyPr/>
                    <a:lstStyle/>
                    <a:p>
                      <a:pPr algn="ctr">
                        <a:lnSpc>
                          <a:spcPct val="90000"/>
                        </a:lnSpc>
                        <a:spcBef>
                          <a:spcPts val="0"/>
                        </a:spcBef>
                        <a:spcAft>
                          <a:spcPts val="0"/>
                        </a:spcAft>
                      </a:pPr>
                      <a:r>
                        <a:rPr sz="1000" b="0">
                          <a:solidFill>
                            <a:srgbClr val="000000"/>
                          </a:solidFill>
                          <a:latin typeface="Raleway"/>
                        </a:rPr>
                        <a:t>13-03-2026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Formulation Worker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04-Dec-26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Kandidat</a:t>
                      </a:r>
                      <a:r>
                        <a:rPr sz="1000" b="0">
                          <a:solidFill>
                            <a:srgbClr val="000000"/>
                          </a:solidFill>
                          <a:latin typeface="Raleway"/>
                        </a:rPr>
                        <a:t> lolos </a:t>
                      </a:r>
                      <a:r>
                        <a:rPr sz="1000" b="0" err="1">
                          <a:solidFill>
                            <a:srgbClr val="000000"/>
                          </a:solidFill>
                          <a:latin typeface="Raleway"/>
                        </a:rPr>
                        <a:t>a.n</a:t>
                      </a:r>
                      <a:r>
                        <a:rPr sz="1000" b="0">
                          <a:solidFill>
                            <a:srgbClr val="000000"/>
                          </a:solidFill>
                          <a:latin typeface="Raleway"/>
                        </a:rPr>
                        <a:t> </a:t>
                      </a:r>
                      <a:r>
                        <a:rPr sz="1000" b="0" err="1">
                          <a:solidFill>
                            <a:srgbClr val="000000"/>
                          </a:solidFill>
                          <a:latin typeface="Raleway"/>
                        </a:rPr>
                        <a:t>Asrul</a:t>
                      </a:r>
                      <a:r>
                        <a:rPr sz="1000" b="0">
                          <a:solidFill>
                            <a:srgbClr val="000000"/>
                          </a:solidFill>
                          <a:latin typeface="Raleway"/>
                        </a:rPr>
                        <a:t> dan Sahal</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Keduanya</a:t>
                      </a:r>
                      <a:r>
                        <a:rPr sz="1000" b="0">
                          <a:solidFill>
                            <a:srgbClr val="000000"/>
                          </a:solidFill>
                          <a:latin typeface="Raleway"/>
                        </a:rPr>
                        <a:t> </a:t>
                      </a:r>
                      <a:r>
                        <a:rPr sz="1000" b="0" err="1">
                          <a:solidFill>
                            <a:srgbClr val="000000"/>
                          </a:solidFill>
                          <a:latin typeface="Raleway"/>
                        </a:rPr>
                        <a:t>sedang</a:t>
                      </a:r>
                      <a:r>
                        <a:rPr sz="1000" b="0">
                          <a:solidFill>
                            <a:srgbClr val="000000"/>
                          </a:solidFill>
                          <a:latin typeface="Raleway"/>
                        </a:rPr>
                        <a:t> proses MCU</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Review </a:t>
                      </a:r>
                      <a:r>
                        <a:rPr sz="1000" b="0" err="1">
                          <a:solidFill>
                            <a:srgbClr val="000000"/>
                          </a:solidFill>
                          <a:latin typeface="Raleway"/>
                        </a:rPr>
                        <a:t>hasil</a:t>
                      </a:r>
                      <a:r>
                        <a:rPr sz="1000" b="0">
                          <a:solidFill>
                            <a:srgbClr val="000000"/>
                          </a:solidFill>
                          <a:latin typeface="Raleway"/>
                        </a:rPr>
                        <a:t> MCU</a:t>
                      </a:r>
                    </a:p>
                    <a:p>
                      <a:pPr algn="l">
                        <a:lnSpc>
                          <a:spcPct val="90000"/>
                        </a:lnSpc>
                        <a:spcBef>
                          <a:spcPts val="0"/>
                        </a:spcBef>
                        <a:spcAft>
                          <a:spcPts val="0"/>
                        </a:spcAft>
                      </a:pPr>
                      <a:r>
                        <a:rPr sz="1000" b="0">
                          <a:solidFill>
                            <a:srgbClr val="000000"/>
                          </a:solidFill>
                          <a:latin typeface="Raleway"/>
                        </a:rPr>
                        <a:t>&gt; Send 5 CV Daily</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bl>
          </a:graphicData>
        </a:graphic>
      </p:graphicFrame>
      <p:sp>
        <p:nvSpPr>
          <p:cNvPr id="6" name="Title 1">
            <a:extLst>
              <a:ext uri="{FF2B5EF4-FFF2-40B4-BE49-F238E27FC236}">
                <a16:creationId xmlns:a16="http://schemas.microsoft.com/office/drawing/2014/main" id="{48359E32-241F-B7B6-34AB-93EB71D2BCCB}"/>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50EF8211-8D0B-7ADC-98E2-4E46466449B8}"/>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4071645701"/>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4"/>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818642">
                <a:tc>
                  <a:txBody>
                    <a:bodyPr/>
                    <a:lstStyle/>
                    <a:p>
                      <a:pPr algn="ctr">
                        <a:lnSpc>
                          <a:spcPct val="90000"/>
                        </a:lnSpc>
                        <a:spcBef>
                          <a:spcPts val="0"/>
                        </a:spcBef>
                        <a:spcAft>
                          <a:spcPts val="0"/>
                        </a:spcAft>
                      </a:pPr>
                      <a:r>
                        <a:rPr sz="1000" b="0">
                          <a:solidFill>
                            <a:srgbClr val="000000"/>
                          </a:solidFill>
                          <a:latin typeface="Raleway"/>
                        </a:rPr>
                        <a:t>13-03-2026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Formulation Stock Keeping Worker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04-Dec-26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Next Action :</a:t>
                      </a:r>
                    </a:p>
                    <a:p>
                      <a:pPr algn="l">
                        <a:lnSpc>
                          <a:spcPct val="90000"/>
                        </a:lnSpc>
                        <a:spcBef>
                          <a:spcPts val="0"/>
                        </a:spcBef>
                        <a:spcAft>
                          <a:spcPts val="0"/>
                        </a:spcAft>
                      </a:pPr>
                      <a:r>
                        <a:rPr sz="1000" b="0">
                          <a:solidFill>
                            <a:srgbClr val="000000"/>
                          </a:solidFill>
                          <a:latin typeface="Raleway"/>
                        </a:rPr>
                        <a:t>&gt; Send 5 CV daily -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642814">
                <a:tc>
                  <a:txBody>
                    <a:bodyPr/>
                    <a:lstStyle/>
                    <a:p>
                      <a:pPr algn="ctr">
                        <a:lnSpc>
                          <a:spcPct val="90000"/>
                        </a:lnSpc>
                        <a:spcBef>
                          <a:spcPts val="0"/>
                        </a:spcBef>
                        <a:spcAft>
                          <a:spcPts val="0"/>
                        </a:spcAft>
                      </a:pPr>
                      <a:r>
                        <a:rPr sz="1000" b="0">
                          <a:solidFill>
                            <a:srgbClr val="000000"/>
                          </a:solidFill>
                          <a:latin typeface="Raleway"/>
                        </a:rPr>
                        <a:t>02-Jun-26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WWTP Technician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03-Aug-26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Proses Sourcing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619279">
                <a:tc>
                  <a:txBody>
                    <a:bodyPr/>
                    <a:lstStyle/>
                    <a:p>
                      <a:pPr algn="ctr">
                        <a:lnSpc>
                          <a:spcPct val="90000"/>
                        </a:lnSpc>
                        <a:spcBef>
                          <a:spcPts val="0"/>
                        </a:spcBef>
                        <a:spcAft>
                          <a:spcPts val="0"/>
                        </a:spcAft>
                      </a:pPr>
                      <a:r>
                        <a:rPr sz="1000" b="0">
                          <a:solidFill>
                            <a:srgbClr val="000000"/>
                          </a:solidFill>
                          <a:latin typeface="Raleway"/>
                        </a:rPr>
                        <a:t>13-03-2026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Formulation Worker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04-Dec-26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Kandidat</a:t>
                      </a:r>
                      <a:r>
                        <a:rPr sz="1000" b="0">
                          <a:solidFill>
                            <a:srgbClr val="000000"/>
                          </a:solidFill>
                          <a:latin typeface="Raleway"/>
                        </a:rPr>
                        <a:t> lolos </a:t>
                      </a:r>
                      <a:r>
                        <a:rPr sz="1000" b="0" err="1">
                          <a:solidFill>
                            <a:srgbClr val="000000"/>
                          </a:solidFill>
                          <a:latin typeface="Raleway"/>
                        </a:rPr>
                        <a:t>a.n</a:t>
                      </a:r>
                      <a:r>
                        <a:rPr sz="1000" b="0">
                          <a:solidFill>
                            <a:srgbClr val="000000"/>
                          </a:solidFill>
                          <a:latin typeface="Raleway"/>
                        </a:rPr>
                        <a:t> </a:t>
                      </a:r>
                      <a:r>
                        <a:rPr sz="1000" b="0" err="1">
                          <a:solidFill>
                            <a:srgbClr val="000000"/>
                          </a:solidFill>
                          <a:latin typeface="Raleway"/>
                        </a:rPr>
                        <a:t>Asrul</a:t>
                      </a:r>
                      <a:r>
                        <a:rPr sz="1000" b="0">
                          <a:solidFill>
                            <a:srgbClr val="000000"/>
                          </a:solidFill>
                          <a:latin typeface="Raleway"/>
                        </a:rPr>
                        <a:t> dan Sahal</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Keduanya</a:t>
                      </a:r>
                      <a:r>
                        <a:rPr sz="1000" b="0">
                          <a:solidFill>
                            <a:srgbClr val="000000"/>
                          </a:solidFill>
                          <a:latin typeface="Raleway"/>
                        </a:rPr>
                        <a:t> </a:t>
                      </a:r>
                      <a:r>
                        <a:rPr sz="1000" b="0" err="1">
                          <a:solidFill>
                            <a:srgbClr val="000000"/>
                          </a:solidFill>
                          <a:latin typeface="Raleway"/>
                        </a:rPr>
                        <a:t>sedang</a:t>
                      </a:r>
                      <a:r>
                        <a:rPr sz="1000" b="0">
                          <a:solidFill>
                            <a:srgbClr val="000000"/>
                          </a:solidFill>
                          <a:latin typeface="Raleway"/>
                        </a:rPr>
                        <a:t> proses MCU</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Review </a:t>
                      </a:r>
                      <a:r>
                        <a:rPr sz="1000" b="0" err="1">
                          <a:solidFill>
                            <a:srgbClr val="000000"/>
                          </a:solidFill>
                          <a:latin typeface="Raleway"/>
                        </a:rPr>
                        <a:t>hasil</a:t>
                      </a:r>
                      <a:r>
                        <a:rPr sz="1000" b="0">
                          <a:solidFill>
                            <a:srgbClr val="000000"/>
                          </a:solidFill>
                          <a:latin typeface="Raleway"/>
                        </a:rPr>
                        <a:t> MCU</a:t>
                      </a:r>
                    </a:p>
                    <a:p>
                      <a:pPr algn="l">
                        <a:lnSpc>
                          <a:spcPct val="90000"/>
                        </a:lnSpc>
                        <a:spcBef>
                          <a:spcPts val="0"/>
                        </a:spcBef>
                        <a:spcAft>
                          <a:spcPts val="0"/>
                        </a:spcAft>
                      </a:pPr>
                      <a:r>
                        <a:rPr sz="1000" b="0">
                          <a:solidFill>
                            <a:srgbClr val="000000"/>
                          </a:solidFill>
                          <a:latin typeface="Raleway"/>
                        </a:rPr>
                        <a:t>&gt; Send 5 CV Daily</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1619279">
                <a:tc>
                  <a:txBody>
                    <a:bodyPr/>
                    <a:lstStyle/>
                    <a:p>
                      <a:pPr algn="ctr">
                        <a:lnSpc>
                          <a:spcPct val="90000"/>
                        </a:lnSpc>
                        <a:spcBef>
                          <a:spcPts val="0"/>
                        </a:spcBef>
                        <a:spcAft>
                          <a:spcPts val="0"/>
                        </a:spcAft>
                      </a:pPr>
                      <a:r>
                        <a:rPr sz="1000" b="0">
                          <a:solidFill>
                            <a:srgbClr val="000000"/>
                          </a:solidFill>
                          <a:latin typeface="Raleway"/>
                        </a:rPr>
                        <a:t>13-03-2026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Formulation Worker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04-Dec-26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Kandidat</a:t>
                      </a:r>
                      <a:r>
                        <a:rPr sz="1000" b="0">
                          <a:solidFill>
                            <a:srgbClr val="000000"/>
                          </a:solidFill>
                          <a:latin typeface="Raleway"/>
                        </a:rPr>
                        <a:t> lolos </a:t>
                      </a:r>
                      <a:r>
                        <a:rPr sz="1000" b="0" err="1">
                          <a:solidFill>
                            <a:srgbClr val="000000"/>
                          </a:solidFill>
                          <a:latin typeface="Raleway"/>
                        </a:rPr>
                        <a:t>a.n</a:t>
                      </a:r>
                      <a:r>
                        <a:rPr sz="1000" b="0">
                          <a:solidFill>
                            <a:srgbClr val="000000"/>
                          </a:solidFill>
                          <a:latin typeface="Raleway"/>
                        </a:rPr>
                        <a:t> </a:t>
                      </a:r>
                      <a:r>
                        <a:rPr sz="1000" b="0" err="1">
                          <a:solidFill>
                            <a:srgbClr val="000000"/>
                          </a:solidFill>
                          <a:latin typeface="Raleway"/>
                        </a:rPr>
                        <a:t>Asrul</a:t>
                      </a:r>
                      <a:r>
                        <a:rPr sz="1000" b="0">
                          <a:solidFill>
                            <a:srgbClr val="000000"/>
                          </a:solidFill>
                          <a:latin typeface="Raleway"/>
                        </a:rPr>
                        <a:t> dan Sahal</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Keduanya</a:t>
                      </a:r>
                      <a:r>
                        <a:rPr sz="1000" b="0">
                          <a:solidFill>
                            <a:srgbClr val="000000"/>
                          </a:solidFill>
                          <a:latin typeface="Raleway"/>
                        </a:rPr>
                        <a:t> </a:t>
                      </a:r>
                      <a:r>
                        <a:rPr sz="1000" b="0" err="1">
                          <a:solidFill>
                            <a:srgbClr val="000000"/>
                          </a:solidFill>
                          <a:latin typeface="Raleway"/>
                        </a:rPr>
                        <a:t>sedang</a:t>
                      </a:r>
                      <a:r>
                        <a:rPr sz="1000" b="0">
                          <a:solidFill>
                            <a:srgbClr val="000000"/>
                          </a:solidFill>
                          <a:latin typeface="Raleway"/>
                        </a:rPr>
                        <a:t> proses MCU</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Review </a:t>
                      </a:r>
                      <a:r>
                        <a:rPr sz="1000" b="0" err="1">
                          <a:solidFill>
                            <a:srgbClr val="000000"/>
                          </a:solidFill>
                          <a:latin typeface="Raleway"/>
                        </a:rPr>
                        <a:t>hasil</a:t>
                      </a:r>
                      <a:r>
                        <a:rPr sz="1000" b="0">
                          <a:solidFill>
                            <a:srgbClr val="000000"/>
                          </a:solidFill>
                          <a:latin typeface="Raleway"/>
                        </a:rPr>
                        <a:t> MCU</a:t>
                      </a:r>
                    </a:p>
                    <a:p>
                      <a:pPr algn="l">
                        <a:lnSpc>
                          <a:spcPct val="90000"/>
                        </a:lnSpc>
                        <a:spcBef>
                          <a:spcPts val="0"/>
                        </a:spcBef>
                        <a:spcAft>
                          <a:spcPts val="0"/>
                        </a:spcAft>
                      </a:pPr>
                      <a:r>
                        <a:rPr sz="1000" b="0">
                          <a:solidFill>
                            <a:srgbClr val="000000"/>
                          </a:solidFill>
                          <a:latin typeface="Raleway"/>
                        </a:rPr>
                        <a:t>&gt; Send 5 CV Daily</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bl>
          </a:graphicData>
        </a:graphic>
      </p:graphicFrame>
      <p:sp>
        <p:nvSpPr>
          <p:cNvPr id="6" name="Title 1">
            <a:extLst>
              <a:ext uri="{FF2B5EF4-FFF2-40B4-BE49-F238E27FC236}">
                <a16:creationId xmlns:a16="http://schemas.microsoft.com/office/drawing/2014/main" id="{6B3A3A7B-994F-4AF3-35E2-1B7DA401DA41}"/>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7D884BCD-AAAC-91A2-2AE7-3554BD205663}"/>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2163913497"/>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5"/>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655519">
                <a:tc>
                  <a:txBody>
                    <a:bodyPr/>
                    <a:lstStyle/>
                    <a:p>
                      <a:pPr algn="ctr">
                        <a:lnSpc>
                          <a:spcPct val="90000"/>
                        </a:lnSpc>
                        <a:spcBef>
                          <a:spcPts val="0"/>
                        </a:spcBef>
                        <a:spcAft>
                          <a:spcPts val="0"/>
                        </a:spcAft>
                      </a:pPr>
                      <a:r>
                        <a:rPr sz="1000" b="0">
                          <a:solidFill>
                            <a:srgbClr val="000000"/>
                          </a:solidFill>
                          <a:latin typeface="Raleway"/>
                        </a:rPr>
                        <a:t>28-04-2026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Quality Control Inspector - In Line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28-05-2026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Kandidat</a:t>
                      </a:r>
                      <a:r>
                        <a:rPr sz="1000" b="0">
                          <a:solidFill>
                            <a:srgbClr val="000000"/>
                          </a:solidFill>
                          <a:latin typeface="Raleway"/>
                        </a:rPr>
                        <a:t> lolos </a:t>
                      </a:r>
                      <a:r>
                        <a:rPr sz="1000" b="0" err="1">
                          <a:solidFill>
                            <a:srgbClr val="000000"/>
                          </a:solidFill>
                          <a:latin typeface="Raleway"/>
                        </a:rPr>
                        <a:t>a.n</a:t>
                      </a:r>
                      <a:r>
                        <a:rPr sz="1000" b="0">
                          <a:solidFill>
                            <a:srgbClr val="000000"/>
                          </a:solidFill>
                          <a:latin typeface="Raleway"/>
                        </a:rPr>
                        <a:t> Citra </a:t>
                      </a:r>
                      <a:r>
                        <a:rPr sz="1000" b="0" err="1">
                          <a:solidFill>
                            <a:srgbClr val="000000"/>
                          </a:solidFill>
                          <a:latin typeface="Raleway"/>
                        </a:rPr>
                        <a:t>Hafidha</a:t>
                      </a: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&gt; Citra approved salary, </a:t>
                      </a:r>
                      <a:r>
                        <a:rPr sz="1000" b="0" err="1">
                          <a:solidFill>
                            <a:srgbClr val="000000"/>
                          </a:solidFill>
                          <a:latin typeface="Raleway"/>
                        </a:rPr>
                        <a:t>sudah</a:t>
                      </a:r>
                      <a:r>
                        <a:rPr sz="1000" b="0">
                          <a:solidFill>
                            <a:srgbClr val="000000"/>
                          </a:solidFill>
                          <a:latin typeface="Raleway"/>
                        </a:rPr>
                        <a:t> send </a:t>
                      </a:r>
                      <a:r>
                        <a:rPr sz="1000" b="0" err="1">
                          <a:solidFill>
                            <a:srgbClr val="000000"/>
                          </a:solidFill>
                          <a:latin typeface="Raleway"/>
                        </a:rPr>
                        <a:t>Pemberkasan</a:t>
                      </a:r>
                      <a:r>
                        <a:rPr sz="1000" b="0">
                          <a:solidFill>
                            <a:srgbClr val="000000"/>
                          </a:solidFill>
                          <a:latin typeface="Raleway"/>
                        </a:rPr>
                        <a:t>, Offering Letter, Pejanjian Kerja, </a:t>
                      </a:r>
                      <a:r>
                        <a:rPr sz="1000" b="0" err="1">
                          <a:solidFill>
                            <a:srgbClr val="000000"/>
                          </a:solidFill>
                          <a:latin typeface="Raleway"/>
                        </a:rPr>
                        <a:t>Komitmen</a:t>
                      </a:r>
                      <a:r>
                        <a:rPr sz="1000" b="0">
                          <a:solidFill>
                            <a:srgbClr val="000000"/>
                          </a:solidFill>
                          <a:latin typeface="Raleway"/>
                        </a:rPr>
                        <a:t> </a:t>
                      </a:r>
                      <a:r>
                        <a:rPr sz="1000" b="0" err="1">
                          <a:solidFill>
                            <a:srgbClr val="000000"/>
                          </a:solidFill>
                          <a:latin typeface="Raleway"/>
                        </a:rPr>
                        <a:t>Kerahasiaan</a:t>
                      </a:r>
                      <a:endParaRPr sz="1000" b="0">
                        <a:solidFill>
                          <a:srgbClr val="000000"/>
                        </a:solidFill>
                        <a:latin typeface="Raleway"/>
                      </a:endParaRP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Onboarding </a:t>
                      </a:r>
                      <a:r>
                        <a:rPr sz="1000" b="0" err="1">
                          <a:solidFill>
                            <a:srgbClr val="000000"/>
                          </a:solidFill>
                          <a:latin typeface="Raleway"/>
                        </a:rPr>
                        <a:t>a.n</a:t>
                      </a:r>
                      <a:r>
                        <a:rPr sz="1000" b="0">
                          <a:solidFill>
                            <a:srgbClr val="000000"/>
                          </a:solidFill>
                          <a:latin typeface="Raleway"/>
                        </a:rPr>
                        <a:t> Citra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458034">
                <a:tc>
                  <a:txBody>
                    <a:bodyPr/>
                    <a:lstStyle/>
                    <a:p>
                      <a:pPr algn="ctr">
                        <a:lnSpc>
                          <a:spcPct val="90000"/>
                        </a:lnSpc>
                        <a:spcBef>
                          <a:spcPts val="0"/>
                        </a:spcBef>
                        <a:spcAft>
                          <a:spcPts val="0"/>
                        </a:spcAft>
                      </a:pPr>
                      <a:r>
                        <a:rPr sz="1000" b="0">
                          <a:solidFill>
                            <a:srgbClr val="000000"/>
                          </a:solidFill>
                          <a:latin typeface="Raleway"/>
                        </a:rPr>
                        <a:t>13-05-2026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WWTP Technician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06-Dec-26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Done user interview, </a:t>
                      </a:r>
                      <a:r>
                        <a:rPr sz="1000" b="0" err="1">
                          <a:solidFill>
                            <a:srgbClr val="000000"/>
                          </a:solidFill>
                          <a:latin typeface="Raleway"/>
                        </a:rPr>
                        <a:t>kandidat</a:t>
                      </a:r>
                      <a:r>
                        <a:rPr sz="1000" b="0">
                          <a:solidFill>
                            <a:srgbClr val="000000"/>
                          </a:solidFill>
                          <a:latin typeface="Raleway"/>
                        </a:rPr>
                        <a:t> lolos </a:t>
                      </a:r>
                      <a:r>
                        <a:rPr sz="1000" b="0" err="1">
                          <a:solidFill>
                            <a:srgbClr val="000000"/>
                          </a:solidFill>
                          <a:latin typeface="Raleway"/>
                        </a:rPr>
                        <a:t>a.n</a:t>
                      </a:r>
                      <a:r>
                        <a:rPr sz="1000" b="0">
                          <a:solidFill>
                            <a:srgbClr val="000000"/>
                          </a:solidFill>
                          <a:latin typeface="Raleway"/>
                        </a:rPr>
                        <a:t> Faza</a:t>
                      </a:r>
                    </a:p>
                    <a:p>
                      <a:pPr algn="l">
                        <a:lnSpc>
                          <a:spcPct val="90000"/>
                        </a:lnSpc>
                        <a:spcBef>
                          <a:spcPts val="0"/>
                        </a:spcBef>
                        <a:spcAft>
                          <a:spcPts val="0"/>
                        </a:spcAft>
                      </a:pPr>
                      <a:r>
                        <a:rPr sz="1000" b="0">
                          <a:solidFill>
                            <a:srgbClr val="000000"/>
                          </a:solidFill>
                          <a:latin typeface="Raleway"/>
                        </a:rPr>
                        <a:t>&gt; Done reference check a. Faza</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Approval offering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793231">
                <a:tc>
                  <a:txBody>
                    <a:bodyPr/>
                    <a:lstStyle/>
                    <a:p>
                      <a:pPr algn="ctr">
                        <a:lnSpc>
                          <a:spcPct val="90000"/>
                        </a:lnSpc>
                        <a:spcBef>
                          <a:spcPts val="0"/>
                        </a:spcBef>
                        <a:spcAft>
                          <a:spcPts val="0"/>
                        </a:spcAft>
                      </a:pPr>
                      <a:r>
                        <a:rPr sz="1000" b="0">
                          <a:solidFill>
                            <a:srgbClr val="000000"/>
                          </a:solidFill>
                          <a:latin typeface="Raleway"/>
                        </a:rPr>
                        <a:t>16-07-2026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R&amp;I Worker - Formulation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15-08-2026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Next Action :</a:t>
                      </a:r>
                    </a:p>
                    <a:p>
                      <a:pPr algn="l">
                        <a:lnSpc>
                          <a:spcPct val="90000"/>
                        </a:lnSpc>
                        <a:spcBef>
                          <a:spcPts val="0"/>
                        </a:spcBef>
                        <a:spcAft>
                          <a:spcPts val="0"/>
                        </a:spcAft>
                      </a:pPr>
                      <a:r>
                        <a:rPr sz="1000" b="0">
                          <a:solidFill>
                            <a:srgbClr val="000000"/>
                          </a:solidFill>
                          <a:latin typeface="Raleway"/>
                        </a:rPr>
                        <a:t>&gt; Send 5 CV daily -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793231">
                <a:tc>
                  <a:txBody>
                    <a:bodyPr/>
                    <a:lstStyle/>
                    <a:p>
                      <a:pPr algn="ctr">
                        <a:lnSpc>
                          <a:spcPct val="90000"/>
                        </a:lnSpc>
                        <a:spcBef>
                          <a:spcPts val="0"/>
                        </a:spcBef>
                        <a:spcAft>
                          <a:spcPts val="0"/>
                        </a:spcAft>
                      </a:pPr>
                      <a:r>
                        <a:rPr sz="1000" b="0">
                          <a:solidFill>
                            <a:srgbClr val="000000"/>
                          </a:solidFill>
                          <a:latin typeface="Raleway"/>
                        </a:rPr>
                        <a:t>16-07-2026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R&amp;I Worker - Formulation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15-08-2026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Next Action :</a:t>
                      </a:r>
                    </a:p>
                    <a:p>
                      <a:pPr algn="l">
                        <a:lnSpc>
                          <a:spcPct val="90000"/>
                        </a:lnSpc>
                        <a:spcBef>
                          <a:spcPts val="0"/>
                        </a:spcBef>
                        <a:spcAft>
                          <a:spcPts val="0"/>
                        </a:spcAft>
                      </a:pPr>
                      <a:r>
                        <a:rPr sz="1000" b="0">
                          <a:solidFill>
                            <a:srgbClr val="000000"/>
                          </a:solidFill>
                          <a:latin typeface="Raleway"/>
                        </a:rPr>
                        <a:t>&gt; Send 5 CV daily -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bl>
          </a:graphicData>
        </a:graphic>
      </p:graphicFrame>
      <p:sp>
        <p:nvSpPr>
          <p:cNvPr id="6" name="Title 1">
            <a:extLst>
              <a:ext uri="{FF2B5EF4-FFF2-40B4-BE49-F238E27FC236}">
                <a16:creationId xmlns:a16="http://schemas.microsoft.com/office/drawing/2014/main" id="{211354AD-31B7-31B5-8B87-9F3A2F1DE6F1}"/>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D5C8CB7D-3C59-24A3-D90B-BB79625464B1}"/>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580870610"/>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4"/>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392597">
                <a:tc>
                  <a:txBody>
                    <a:bodyPr/>
                    <a:lstStyle/>
                    <a:p>
                      <a:pPr algn="ctr">
                        <a:lnSpc>
                          <a:spcPct val="90000"/>
                        </a:lnSpc>
                        <a:spcBef>
                          <a:spcPts val="0"/>
                        </a:spcBef>
                        <a:spcAft>
                          <a:spcPts val="0"/>
                        </a:spcAft>
                      </a:pPr>
                      <a:r>
                        <a:rPr sz="1000" b="0">
                          <a:solidFill>
                            <a:srgbClr val="000000"/>
                          </a:solidFill>
                          <a:latin typeface="Raleway"/>
                        </a:rPr>
                        <a:t>22-10-2025</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Stock Keeping Worker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21-11-2025</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Kandidat</a:t>
                      </a:r>
                      <a:r>
                        <a:rPr sz="1000" b="0">
                          <a:solidFill>
                            <a:srgbClr val="000000"/>
                          </a:solidFill>
                          <a:latin typeface="Raleway"/>
                        </a:rPr>
                        <a:t> lolos user interview </a:t>
                      </a:r>
                      <a:r>
                        <a:rPr sz="1000" b="0" err="1">
                          <a:solidFill>
                            <a:srgbClr val="000000"/>
                          </a:solidFill>
                          <a:latin typeface="Raleway"/>
                        </a:rPr>
                        <a:t>a.n</a:t>
                      </a:r>
                      <a:r>
                        <a:rPr sz="1000" b="0">
                          <a:solidFill>
                            <a:srgbClr val="000000"/>
                          </a:solidFill>
                          <a:latin typeface="Raleway"/>
                        </a:rPr>
                        <a:t> Iskandar DROP </a:t>
                      </a:r>
                      <a:r>
                        <a:rPr sz="1000" b="0" err="1">
                          <a:solidFill>
                            <a:srgbClr val="000000"/>
                          </a:solidFill>
                          <a:latin typeface="Raleway"/>
                        </a:rPr>
                        <a:t>karena</a:t>
                      </a:r>
                      <a:r>
                        <a:rPr sz="1000" b="0">
                          <a:solidFill>
                            <a:srgbClr val="000000"/>
                          </a:solidFill>
                          <a:latin typeface="Raleway"/>
                        </a:rPr>
                        <a:t> </a:t>
                      </a:r>
                      <a:r>
                        <a:rPr sz="1000" b="0" err="1">
                          <a:solidFill>
                            <a:srgbClr val="000000"/>
                          </a:solidFill>
                          <a:latin typeface="Raleway"/>
                        </a:rPr>
                        <a:t>pertimbangan</a:t>
                      </a:r>
                      <a:r>
                        <a:rPr sz="1000" b="0">
                          <a:solidFill>
                            <a:srgbClr val="000000"/>
                          </a:solidFill>
                          <a:latin typeface="Raleway"/>
                        </a:rPr>
                        <a:t> salary</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Send 5 CV Daily</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392597">
                <a:tc>
                  <a:txBody>
                    <a:bodyPr/>
                    <a:lstStyle/>
                    <a:p>
                      <a:pPr algn="ctr">
                        <a:lnSpc>
                          <a:spcPct val="90000"/>
                        </a:lnSpc>
                        <a:spcBef>
                          <a:spcPts val="0"/>
                        </a:spcBef>
                        <a:spcAft>
                          <a:spcPts val="0"/>
                        </a:spcAft>
                      </a:pPr>
                      <a:r>
                        <a:rPr sz="1000" b="0">
                          <a:solidFill>
                            <a:srgbClr val="000000"/>
                          </a:solidFill>
                          <a:latin typeface="Raleway"/>
                        </a:rPr>
                        <a:t>22-10-2025</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Stock Keeping Worker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21-11-2025</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Progress</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Kandidat</a:t>
                      </a:r>
                      <a:r>
                        <a:rPr sz="1000" b="0">
                          <a:solidFill>
                            <a:srgbClr val="000000"/>
                          </a:solidFill>
                          <a:latin typeface="Raleway"/>
                        </a:rPr>
                        <a:t> lolos user interview </a:t>
                      </a:r>
                      <a:r>
                        <a:rPr sz="1000" b="0" err="1">
                          <a:solidFill>
                            <a:srgbClr val="000000"/>
                          </a:solidFill>
                          <a:latin typeface="Raleway"/>
                        </a:rPr>
                        <a:t>a.n</a:t>
                      </a:r>
                      <a:r>
                        <a:rPr sz="1000" b="0">
                          <a:solidFill>
                            <a:srgbClr val="000000"/>
                          </a:solidFill>
                          <a:latin typeface="Raleway"/>
                        </a:rPr>
                        <a:t> Iskandar DROP </a:t>
                      </a:r>
                      <a:r>
                        <a:rPr sz="1000" b="0" err="1">
                          <a:solidFill>
                            <a:srgbClr val="000000"/>
                          </a:solidFill>
                          <a:latin typeface="Raleway"/>
                        </a:rPr>
                        <a:t>karena</a:t>
                      </a:r>
                      <a:r>
                        <a:rPr sz="1000" b="0">
                          <a:solidFill>
                            <a:srgbClr val="000000"/>
                          </a:solidFill>
                          <a:latin typeface="Raleway"/>
                        </a:rPr>
                        <a:t> </a:t>
                      </a:r>
                      <a:r>
                        <a:rPr sz="1000" b="0" err="1">
                          <a:solidFill>
                            <a:srgbClr val="000000"/>
                          </a:solidFill>
                          <a:latin typeface="Raleway"/>
                        </a:rPr>
                        <a:t>pertimbangan</a:t>
                      </a:r>
                      <a:r>
                        <a:rPr sz="1000" b="0">
                          <a:solidFill>
                            <a:srgbClr val="000000"/>
                          </a:solidFill>
                          <a:latin typeface="Raleway"/>
                        </a:rPr>
                        <a:t> salary</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Send 5 CV Daily</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696298">
                <a:tc>
                  <a:txBody>
                    <a:bodyPr/>
                    <a:lstStyle/>
                    <a:p>
                      <a:pPr algn="ctr">
                        <a:lnSpc>
                          <a:spcPct val="90000"/>
                        </a:lnSpc>
                        <a:spcBef>
                          <a:spcPts val="0"/>
                        </a:spcBef>
                        <a:spcAft>
                          <a:spcPts val="0"/>
                        </a:spcAft>
                      </a:pPr>
                      <a:r>
                        <a:rPr sz="1000" b="0">
                          <a:solidFill>
                            <a:srgbClr val="000000"/>
                          </a:solidFill>
                          <a:latin typeface="Raleway"/>
                        </a:rPr>
                        <a:t>13-11-2025</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WWTP Technician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JAVA EGG SPECIALITIES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13-12-2025</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Riska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NOTE : SEDANG PROSES KONFIRMASI CANCEL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1218522">
                <a:tc>
                  <a:txBody>
                    <a:bodyPr/>
                    <a:lstStyle/>
                    <a:p>
                      <a:pPr algn="ctr">
                        <a:lnSpc>
                          <a:spcPct val="90000"/>
                        </a:lnSpc>
                        <a:spcBef>
                          <a:spcPts val="0"/>
                        </a:spcBef>
                        <a:spcAft>
                          <a:spcPts val="0"/>
                        </a:spcAft>
                      </a:pPr>
                      <a:r>
                        <a:rPr sz="1000" b="0">
                          <a:solidFill>
                            <a:srgbClr val="000000"/>
                          </a:solidFill>
                          <a:latin typeface="Raleway"/>
                        </a:rPr>
                        <a:t>31-03-2026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Forming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30-04-2026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Achmad</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User Interview di Week 33 dan 34</a:t>
                      </a:r>
                    </a:p>
                    <a:p>
                      <a:pPr algn="l">
                        <a:lnSpc>
                          <a:spcPct val="90000"/>
                        </a:lnSpc>
                        <a:spcBef>
                          <a:spcPts val="0"/>
                        </a:spcBef>
                        <a:spcAft>
                          <a:spcPts val="0"/>
                        </a:spcAft>
                      </a:pPr>
                      <a:r>
                        <a:rPr sz="1000" b="0">
                          <a:solidFill>
                            <a:srgbClr val="000000"/>
                          </a:solidFill>
                          <a:latin typeface="Raleway"/>
                        </a:rPr>
                        <a:t>&gt; Sourcing dan send CV </a:t>
                      </a:r>
                      <a:r>
                        <a:rPr sz="1000" b="0" err="1">
                          <a:solidFill>
                            <a:srgbClr val="000000"/>
                          </a:solidFill>
                          <a:latin typeface="Raleway"/>
                        </a:rPr>
                        <a:t>ke</a:t>
                      </a:r>
                      <a:r>
                        <a:rPr sz="1000" b="0">
                          <a:solidFill>
                            <a:srgbClr val="000000"/>
                          </a:solidFill>
                          <a:latin typeface="Raleway"/>
                        </a:rPr>
                        <a:t> user</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bl>
          </a:graphicData>
        </a:graphic>
      </p:graphicFrame>
      <p:sp>
        <p:nvSpPr>
          <p:cNvPr id="6" name="Title 1">
            <a:extLst>
              <a:ext uri="{FF2B5EF4-FFF2-40B4-BE49-F238E27FC236}">
                <a16:creationId xmlns:a16="http://schemas.microsoft.com/office/drawing/2014/main" id="{DBA0063D-57A2-56E8-1E28-6832A89D0274}"/>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5CB47E6E-2B62-36B9-77F3-6B1A6973BE93}"/>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4121502120"/>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6"/>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175004">
                <a:tc>
                  <a:txBody>
                    <a:bodyPr/>
                    <a:lstStyle/>
                    <a:p>
                      <a:pPr algn="ctr">
                        <a:lnSpc>
                          <a:spcPct val="90000"/>
                        </a:lnSpc>
                        <a:spcBef>
                          <a:spcPts val="0"/>
                        </a:spcBef>
                        <a:spcAft>
                          <a:spcPts val="0"/>
                        </a:spcAft>
                      </a:pPr>
                      <a:r>
                        <a:rPr sz="1000" b="0">
                          <a:solidFill>
                            <a:srgbClr val="000000"/>
                          </a:solidFill>
                          <a:latin typeface="Raleway"/>
                        </a:rPr>
                        <a:t>04-Feb-26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Frying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05-Feb-26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Achmad</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User Interview di Week 33 dan 34</a:t>
                      </a:r>
                    </a:p>
                    <a:p>
                      <a:pPr algn="l">
                        <a:lnSpc>
                          <a:spcPct val="90000"/>
                        </a:lnSpc>
                        <a:spcBef>
                          <a:spcPts val="0"/>
                        </a:spcBef>
                        <a:spcAft>
                          <a:spcPts val="0"/>
                        </a:spcAft>
                      </a:pPr>
                      <a:r>
                        <a:rPr sz="1000" b="0">
                          <a:solidFill>
                            <a:srgbClr val="000000"/>
                          </a:solidFill>
                          <a:latin typeface="Raleway"/>
                        </a:rPr>
                        <a:t>&gt; Sourcing dan send CV </a:t>
                      </a:r>
                      <a:r>
                        <a:rPr sz="1000" b="0" err="1">
                          <a:solidFill>
                            <a:srgbClr val="000000"/>
                          </a:solidFill>
                          <a:latin typeface="Raleway"/>
                        </a:rPr>
                        <a:t>ke</a:t>
                      </a:r>
                      <a:r>
                        <a:rPr sz="1000" b="0">
                          <a:solidFill>
                            <a:srgbClr val="000000"/>
                          </a:solidFill>
                          <a:latin typeface="Raleway"/>
                        </a:rPr>
                        <a:t> user</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175004">
                <a:tc>
                  <a:txBody>
                    <a:bodyPr/>
                    <a:lstStyle/>
                    <a:p>
                      <a:pPr algn="ctr">
                        <a:lnSpc>
                          <a:spcPct val="90000"/>
                        </a:lnSpc>
                        <a:spcBef>
                          <a:spcPts val="0"/>
                        </a:spcBef>
                        <a:spcAft>
                          <a:spcPts val="0"/>
                        </a:spcAft>
                      </a:pPr>
                      <a:r>
                        <a:rPr sz="1000" b="0">
                          <a:solidFill>
                            <a:srgbClr val="000000"/>
                          </a:solidFill>
                          <a:latin typeface="Raleway"/>
                        </a:rPr>
                        <a:t>04-Feb-26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Metal Detector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05-Feb-26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Achmad</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User Interview di Week 33 dan 34</a:t>
                      </a:r>
                    </a:p>
                    <a:p>
                      <a:pPr algn="l">
                        <a:lnSpc>
                          <a:spcPct val="90000"/>
                        </a:lnSpc>
                        <a:spcBef>
                          <a:spcPts val="0"/>
                        </a:spcBef>
                        <a:spcAft>
                          <a:spcPts val="0"/>
                        </a:spcAft>
                      </a:pPr>
                      <a:r>
                        <a:rPr sz="1000" b="0">
                          <a:solidFill>
                            <a:srgbClr val="000000"/>
                          </a:solidFill>
                          <a:latin typeface="Raleway"/>
                        </a:rPr>
                        <a:t>&gt; Sourcing dan send CV </a:t>
                      </a:r>
                      <a:r>
                        <a:rPr sz="1000" b="0" err="1">
                          <a:solidFill>
                            <a:srgbClr val="000000"/>
                          </a:solidFill>
                          <a:latin typeface="Raleway"/>
                        </a:rPr>
                        <a:t>ke</a:t>
                      </a:r>
                      <a:r>
                        <a:rPr sz="1000" b="0">
                          <a:solidFill>
                            <a:srgbClr val="000000"/>
                          </a:solidFill>
                          <a:latin typeface="Raleway"/>
                        </a:rPr>
                        <a:t> user</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175004">
                <a:tc>
                  <a:txBody>
                    <a:bodyPr/>
                    <a:lstStyle/>
                    <a:p>
                      <a:pPr algn="ctr">
                        <a:lnSpc>
                          <a:spcPct val="90000"/>
                        </a:lnSpc>
                        <a:spcBef>
                          <a:spcPts val="0"/>
                        </a:spcBef>
                        <a:spcAft>
                          <a:spcPts val="0"/>
                        </a:spcAft>
                      </a:pPr>
                      <a:r>
                        <a:rPr sz="1000" b="0">
                          <a:solidFill>
                            <a:srgbClr val="000000"/>
                          </a:solidFill>
                          <a:latin typeface="Raleway"/>
                        </a:rPr>
                        <a:t>04-Feb-26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Metal Detector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05-Feb-26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Achmad</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User Interview di Week 33 dan 34</a:t>
                      </a:r>
                    </a:p>
                    <a:p>
                      <a:pPr algn="l">
                        <a:lnSpc>
                          <a:spcPct val="90000"/>
                        </a:lnSpc>
                        <a:spcBef>
                          <a:spcPts val="0"/>
                        </a:spcBef>
                        <a:spcAft>
                          <a:spcPts val="0"/>
                        </a:spcAft>
                      </a:pPr>
                      <a:r>
                        <a:rPr sz="1000" b="0">
                          <a:solidFill>
                            <a:srgbClr val="000000"/>
                          </a:solidFill>
                          <a:latin typeface="Raleway"/>
                        </a:rPr>
                        <a:t>&gt; Sourcing dan send CV </a:t>
                      </a:r>
                      <a:r>
                        <a:rPr sz="1000" b="0" err="1">
                          <a:solidFill>
                            <a:srgbClr val="000000"/>
                          </a:solidFill>
                          <a:latin typeface="Raleway"/>
                        </a:rPr>
                        <a:t>ke</a:t>
                      </a:r>
                      <a:r>
                        <a:rPr sz="1000" b="0">
                          <a:solidFill>
                            <a:srgbClr val="000000"/>
                          </a:solidFill>
                          <a:latin typeface="Raleway"/>
                        </a:rPr>
                        <a:t> user</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1175004">
                <a:tc>
                  <a:txBody>
                    <a:bodyPr/>
                    <a:lstStyle/>
                    <a:p>
                      <a:pPr algn="ctr">
                        <a:lnSpc>
                          <a:spcPct val="90000"/>
                        </a:lnSpc>
                        <a:spcBef>
                          <a:spcPts val="0"/>
                        </a:spcBef>
                        <a:spcAft>
                          <a:spcPts val="0"/>
                        </a:spcAft>
                      </a:pPr>
                      <a:r>
                        <a:rPr sz="1000" b="0">
                          <a:solidFill>
                            <a:srgbClr val="000000"/>
                          </a:solidFill>
                          <a:latin typeface="Raleway"/>
                        </a:rPr>
                        <a:t>04-Feb-26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Metal Detector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05-Feb-26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Achmad</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User Interview di Week 33 dan 34</a:t>
                      </a:r>
                    </a:p>
                    <a:p>
                      <a:pPr algn="l">
                        <a:lnSpc>
                          <a:spcPct val="90000"/>
                        </a:lnSpc>
                        <a:spcBef>
                          <a:spcPts val="0"/>
                        </a:spcBef>
                        <a:spcAft>
                          <a:spcPts val="0"/>
                        </a:spcAft>
                      </a:pPr>
                      <a:r>
                        <a:rPr sz="1000" b="0">
                          <a:solidFill>
                            <a:srgbClr val="000000"/>
                          </a:solidFill>
                          <a:latin typeface="Raleway"/>
                        </a:rPr>
                        <a:t>&gt; Sourcing dan send CV </a:t>
                      </a:r>
                      <a:r>
                        <a:rPr sz="1000" b="0" err="1">
                          <a:solidFill>
                            <a:srgbClr val="000000"/>
                          </a:solidFill>
                          <a:latin typeface="Raleway"/>
                        </a:rPr>
                        <a:t>ke</a:t>
                      </a:r>
                      <a:r>
                        <a:rPr sz="1000" b="0">
                          <a:solidFill>
                            <a:srgbClr val="000000"/>
                          </a:solidFill>
                          <a:latin typeface="Raleway"/>
                        </a:rPr>
                        <a:t> user</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bl>
          </a:graphicData>
        </a:graphic>
      </p:graphicFrame>
      <p:sp>
        <p:nvSpPr>
          <p:cNvPr id="6" name="Title 1">
            <a:extLst>
              <a:ext uri="{FF2B5EF4-FFF2-40B4-BE49-F238E27FC236}">
                <a16:creationId xmlns:a16="http://schemas.microsoft.com/office/drawing/2014/main" id="{5A9A206A-B89B-6039-781A-53E5994F6B33}"/>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9E6539FA-35B4-1169-5B48-9704CA2BA6D6}"/>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1685271233"/>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6"/>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175004">
                <a:tc>
                  <a:txBody>
                    <a:bodyPr/>
                    <a:lstStyle/>
                    <a:p>
                      <a:pPr algn="ctr">
                        <a:lnSpc>
                          <a:spcPct val="90000"/>
                        </a:lnSpc>
                        <a:spcBef>
                          <a:spcPts val="0"/>
                        </a:spcBef>
                        <a:spcAft>
                          <a:spcPts val="0"/>
                        </a:spcAft>
                      </a:pPr>
                      <a:r>
                        <a:rPr sz="1000" b="0">
                          <a:solidFill>
                            <a:srgbClr val="000000"/>
                          </a:solidFill>
                          <a:latin typeface="Raleway"/>
                        </a:rPr>
                        <a:t>04-Feb-26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Metal Detector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05-Feb-26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Achmad</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User Interview di Week 33 dan 34</a:t>
                      </a:r>
                    </a:p>
                    <a:p>
                      <a:pPr algn="l">
                        <a:lnSpc>
                          <a:spcPct val="90000"/>
                        </a:lnSpc>
                        <a:spcBef>
                          <a:spcPts val="0"/>
                        </a:spcBef>
                        <a:spcAft>
                          <a:spcPts val="0"/>
                        </a:spcAft>
                      </a:pPr>
                      <a:r>
                        <a:rPr sz="1000" b="0">
                          <a:solidFill>
                            <a:srgbClr val="000000"/>
                          </a:solidFill>
                          <a:latin typeface="Raleway"/>
                        </a:rPr>
                        <a:t>&gt; Sourcing dan send CV </a:t>
                      </a:r>
                      <a:r>
                        <a:rPr sz="1000" b="0" err="1">
                          <a:solidFill>
                            <a:srgbClr val="000000"/>
                          </a:solidFill>
                          <a:latin typeface="Raleway"/>
                        </a:rPr>
                        <a:t>ke</a:t>
                      </a:r>
                      <a:r>
                        <a:rPr sz="1000" b="0">
                          <a:solidFill>
                            <a:srgbClr val="000000"/>
                          </a:solidFill>
                          <a:latin typeface="Raleway"/>
                        </a:rPr>
                        <a:t> user</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175004">
                <a:tc>
                  <a:txBody>
                    <a:bodyPr/>
                    <a:lstStyle/>
                    <a:p>
                      <a:pPr algn="ctr">
                        <a:lnSpc>
                          <a:spcPct val="90000"/>
                        </a:lnSpc>
                        <a:spcBef>
                          <a:spcPts val="0"/>
                        </a:spcBef>
                        <a:spcAft>
                          <a:spcPts val="0"/>
                        </a:spcAft>
                      </a:pPr>
                      <a:r>
                        <a:rPr sz="1000" b="0">
                          <a:solidFill>
                            <a:srgbClr val="000000"/>
                          </a:solidFill>
                          <a:latin typeface="Raleway"/>
                        </a:rPr>
                        <a:t>04-Feb-26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Metal Detector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05-Feb-26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Achmad</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User Interview di Week 33 dan 34</a:t>
                      </a:r>
                    </a:p>
                    <a:p>
                      <a:pPr algn="l">
                        <a:lnSpc>
                          <a:spcPct val="90000"/>
                        </a:lnSpc>
                        <a:spcBef>
                          <a:spcPts val="0"/>
                        </a:spcBef>
                        <a:spcAft>
                          <a:spcPts val="0"/>
                        </a:spcAft>
                      </a:pPr>
                      <a:r>
                        <a:rPr sz="1000" b="0">
                          <a:solidFill>
                            <a:srgbClr val="000000"/>
                          </a:solidFill>
                          <a:latin typeface="Raleway"/>
                        </a:rPr>
                        <a:t>&gt; Sourcing dan send CV </a:t>
                      </a:r>
                      <a:r>
                        <a:rPr sz="1000" b="0" err="1">
                          <a:solidFill>
                            <a:srgbClr val="000000"/>
                          </a:solidFill>
                          <a:latin typeface="Raleway"/>
                        </a:rPr>
                        <a:t>ke</a:t>
                      </a:r>
                      <a:r>
                        <a:rPr sz="1000" b="0">
                          <a:solidFill>
                            <a:srgbClr val="000000"/>
                          </a:solidFill>
                          <a:latin typeface="Raleway"/>
                        </a:rPr>
                        <a:t> user</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175004">
                <a:tc>
                  <a:txBody>
                    <a:bodyPr/>
                    <a:lstStyle/>
                    <a:p>
                      <a:pPr algn="ctr">
                        <a:lnSpc>
                          <a:spcPct val="90000"/>
                        </a:lnSpc>
                        <a:spcBef>
                          <a:spcPts val="0"/>
                        </a:spcBef>
                        <a:spcAft>
                          <a:spcPts val="0"/>
                        </a:spcAft>
                      </a:pPr>
                      <a:r>
                        <a:rPr sz="1000" b="0">
                          <a:solidFill>
                            <a:srgbClr val="000000"/>
                          </a:solidFill>
                          <a:latin typeface="Raleway"/>
                        </a:rPr>
                        <a:t>04-Feb-26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Metal Detector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05-Feb-26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Achmad</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User Interview di Week 33 dan 34</a:t>
                      </a:r>
                    </a:p>
                    <a:p>
                      <a:pPr algn="l">
                        <a:lnSpc>
                          <a:spcPct val="90000"/>
                        </a:lnSpc>
                        <a:spcBef>
                          <a:spcPts val="0"/>
                        </a:spcBef>
                        <a:spcAft>
                          <a:spcPts val="0"/>
                        </a:spcAft>
                      </a:pPr>
                      <a:r>
                        <a:rPr sz="1000" b="0">
                          <a:solidFill>
                            <a:srgbClr val="000000"/>
                          </a:solidFill>
                          <a:latin typeface="Raleway"/>
                        </a:rPr>
                        <a:t>&gt; Sourcing dan send CV </a:t>
                      </a:r>
                      <a:r>
                        <a:rPr sz="1000" b="0" err="1">
                          <a:solidFill>
                            <a:srgbClr val="000000"/>
                          </a:solidFill>
                          <a:latin typeface="Raleway"/>
                        </a:rPr>
                        <a:t>ke</a:t>
                      </a:r>
                      <a:r>
                        <a:rPr sz="1000" b="0">
                          <a:solidFill>
                            <a:srgbClr val="000000"/>
                          </a:solidFill>
                          <a:latin typeface="Raleway"/>
                        </a:rPr>
                        <a:t> user</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1175004">
                <a:tc>
                  <a:txBody>
                    <a:bodyPr/>
                    <a:lstStyle/>
                    <a:p>
                      <a:pPr algn="ctr">
                        <a:lnSpc>
                          <a:spcPct val="90000"/>
                        </a:lnSpc>
                        <a:spcBef>
                          <a:spcPts val="0"/>
                        </a:spcBef>
                        <a:spcAft>
                          <a:spcPts val="0"/>
                        </a:spcAft>
                      </a:pPr>
                      <a:r>
                        <a:rPr sz="1000" b="0">
                          <a:solidFill>
                            <a:srgbClr val="000000"/>
                          </a:solidFill>
                          <a:latin typeface="Raleway"/>
                        </a:rPr>
                        <a:t>04-Jun-26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Packing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05-Jun-26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Achmad</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User Interview di Week 33 dan 34</a:t>
                      </a:r>
                    </a:p>
                    <a:p>
                      <a:pPr algn="l">
                        <a:lnSpc>
                          <a:spcPct val="90000"/>
                        </a:lnSpc>
                        <a:spcBef>
                          <a:spcPts val="0"/>
                        </a:spcBef>
                        <a:spcAft>
                          <a:spcPts val="0"/>
                        </a:spcAft>
                      </a:pPr>
                      <a:r>
                        <a:rPr sz="1000" b="0">
                          <a:solidFill>
                            <a:srgbClr val="000000"/>
                          </a:solidFill>
                          <a:latin typeface="Raleway"/>
                        </a:rPr>
                        <a:t>&gt; Sourcing dan send CV </a:t>
                      </a:r>
                      <a:r>
                        <a:rPr sz="1000" b="0" err="1">
                          <a:solidFill>
                            <a:srgbClr val="000000"/>
                          </a:solidFill>
                          <a:latin typeface="Raleway"/>
                        </a:rPr>
                        <a:t>ke</a:t>
                      </a:r>
                      <a:r>
                        <a:rPr sz="1000" b="0">
                          <a:solidFill>
                            <a:srgbClr val="000000"/>
                          </a:solidFill>
                          <a:latin typeface="Raleway"/>
                        </a:rPr>
                        <a:t> user</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bl>
          </a:graphicData>
        </a:graphic>
      </p:graphicFrame>
      <p:sp>
        <p:nvSpPr>
          <p:cNvPr id="6" name="Title 1">
            <a:extLst>
              <a:ext uri="{FF2B5EF4-FFF2-40B4-BE49-F238E27FC236}">
                <a16:creationId xmlns:a16="http://schemas.microsoft.com/office/drawing/2014/main" id="{B9AC4E45-D6F0-9612-1C22-567FC24A305C}"/>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04E5B141-330F-D9ED-C559-867F4B235ED2}"/>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170159364"/>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4"/>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044448">
                <a:tc>
                  <a:txBody>
                    <a:bodyPr/>
                    <a:lstStyle/>
                    <a:p>
                      <a:pPr algn="ctr">
                        <a:lnSpc>
                          <a:spcPct val="90000"/>
                        </a:lnSpc>
                        <a:spcBef>
                          <a:spcPts val="0"/>
                        </a:spcBef>
                        <a:spcAft>
                          <a:spcPts val="0"/>
                        </a:spcAft>
                      </a:pPr>
                      <a:r>
                        <a:rPr sz="1000" b="0">
                          <a:solidFill>
                            <a:srgbClr val="000000"/>
                          </a:solidFill>
                          <a:latin typeface="Raleway"/>
                        </a:rPr>
                        <a:t>04-Feb-26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RCBK Extruding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05-Feb-26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Achmad</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Sedang MCU</a:t>
                      </a:r>
                    </a:p>
                    <a:p>
                      <a:pPr algn="l">
                        <a:lnSpc>
                          <a:spcPct val="90000"/>
                        </a:lnSpc>
                        <a:spcBef>
                          <a:spcPts val="0"/>
                        </a:spcBef>
                        <a:spcAft>
                          <a:spcPts val="0"/>
                        </a:spcAft>
                      </a:pPr>
                      <a:r>
                        <a:rPr sz="1000" b="0" err="1">
                          <a:solidFill>
                            <a:srgbClr val="000000"/>
                          </a:solidFill>
                          <a:latin typeface="Raleway"/>
                        </a:rPr>
                        <a:t>Nect</a:t>
                      </a:r>
                      <a:r>
                        <a:rPr sz="1000" b="0">
                          <a:solidFill>
                            <a:srgbClr val="000000"/>
                          </a:solidFill>
                          <a:latin typeface="Raleway"/>
                        </a:rPr>
                        <a:t> Action:</a:t>
                      </a:r>
                    </a:p>
                    <a:p>
                      <a:pPr algn="l">
                        <a:lnSpc>
                          <a:spcPct val="90000"/>
                        </a:lnSpc>
                        <a:spcBef>
                          <a:spcPts val="0"/>
                        </a:spcBef>
                        <a:spcAft>
                          <a:spcPts val="0"/>
                        </a:spcAft>
                      </a:pPr>
                      <a:r>
                        <a:rPr sz="1000" b="0" err="1">
                          <a:solidFill>
                            <a:srgbClr val="000000"/>
                          </a:solidFill>
                          <a:latin typeface="Raleway"/>
                        </a:rPr>
                        <a:t>Mengajukan</a:t>
                      </a:r>
                      <a:r>
                        <a:rPr sz="1000" b="0">
                          <a:solidFill>
                            <a:srgbClr val="000000"/>
                          </a:solidFill>
                          <a:latin typeface="Raleway"/>
                        </a:rPr>
                        <a:t> </a:t>
                      </a:r>
                      <a:r>
                        <a:rPr sz="1000" b="0" err="1">
                          <a:solidFill>
                            <a:srgbClr val="000000"/>
                          </a:solidFill>
                          <a:latin typeface="Raleway"/>
                        </a:rPr>
                        <a:t>hasil</a:t>
                      </a:r>
                      <a:r>
                        <a:rPr sz="1000" b="0">
                          <a:solidFill>
                            <a:srgbClr val="000000"/>
                          </a:solidFill>
                          <a:latin typeface="Raleway"/>
                        </a:rPr>
                        <a:t> MCU  </a:t>
                      </a:r>
                      <a:r>
                        <a:rPr sz="1000" b="0" err="1">
                          <a:solidFill>
                            <a:srgbClr val="000000"/>
                          </a:solidFill>
                          <a:latin typeface="Raleway"/>
                        </a:rPr>
                        <a:t>ke</a:t>
                      </a:r>
                      <a:r>
                        <a:rPr sz="1000" b="0">
                          <a:solidFill>
                            <a:srgbClr val="000000"/>
                          </a:solidFill>
                          <a:latin typeface="Raleway"/>
                        </a:rPr>
                        <a:t> HSE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218522">
                <a:tc>
                  <a:txBody>
                    <a:bodyPr/>
                    <a:lstStyle/>
                    <a:p>
                      <a:pPr algn="ctr">
                        <a:lnSpc>
                          <a:spcPct val="90000"/>
                        </a:lnSpc>
                        <a:spcBef>
                          <a:spcPts val="0"/>
                        </a:spcBef>
                        <a:spcAft>
                          <a:spcPts val="0"/>
                        </a:spcAft>
                      </a:pPr>
                      <a:r>
                        <a:rPr sz="1000" b="0">
                          <a:solidFill>
                            <a:srgbClr val="000000"/>
                          </a:solidFill>
                          <a:latin typeface="Raleway"/>
                        </a:rPr>
                        <a:t>04-Feb-26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RCBK Extruding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05-Feb-26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Achmad</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User Interview di Week 33 dan 34</a:t>
                      </a:r>
                    </a:p>
                    <a:p>
                      <a:pPr algn="l">
                        <a:lnSpc>
                          <a:spcPct val="90000"/>
                        </a:lnSpc>
                        <a:spcBef>
                          <a:spcPts val="0"/>
                        </a:spcBef>
                        <a:spcAft>
                          <a:spcPts val="0"/>
                        </a:spcAft>
                      </a:pPr>
                      <a:r>
                        <a:rPr sz="1000" b="0">
                          <a:solidFill>
                            <a:srgbClr val="000000"/>
                          </a:solidFill>
                          <a:latin typeface="Raleway"/>
                        </a:rPr>
                        <a:t>&gt; Sourcing dan send CV </a:t>
                      </a:r>
                      <a:r>
                        <a:rPr sz="1000" b="0" err="1">
                          <a:solidFill>
                            <a:srgbClr val="000000"/>
                          </a:solidFill>
                          <a:latin typeface="Raleway"/>
                        </a:rPr>
                        <a:t>ke</a:t>
                      </a:r>
                      <a:r>
                        <a:rPr sz="1000" b="0">
                          <a:solidFill>
                            <a:srgbClr val="000000"/>
                          </a:solidFill>
                          <a:latin typeface="Raleway"/>
                        </a:rPr>
                        <a:t> user</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218522">
                <a:tc>
                  <a:txBody>
                    <a:bodyPr/>
                    <a:lstStyle/>
                    <a:p>
                      <a:pPr algn="ctr">
                        <a:lnSpc>
                          <a:spcPct val="90000"/>
                        </a:lnSpc>
                        <a:spcBef>
                          <a:spcPts val="0"/>
                        </a:spcBef>
                        <a:spcAft>
                          <a:spcPts val="0"/>
                        </a:spcAft>
                      </a:pPr>
                      <a:r>
                        <a:rPr sz="1000" b="0">
                          <a:solidFill>
                            <a:srgbClr val="000000"/>
                          </a:solidFill>
                          <a:latin typeface="Raleway"/>
                        </a:rPr>
                        <a:t>04-Feb-26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RCBK Extruding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05-Feb-26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Achmad</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User Interview di Week 33 dan 34</a:t>
                      </a:r>
                    </a:p>
                    <a:p>
                      <a:pPr algn="l">
                        <a:lnSpc>
                          <a:spcPct val="90000"/>
                        </a:lnSpc>
                        <a:spcBef>
                          <a:spcPts val="0"/>
                        </a:spcBef>
                        <a:spcAft>
                          <a:spcPts val="0"/>
                        </a:spcAft>
                      </a:pPr>
                      <a:r>
                        <a:rPr sz="1000" b="0">
                          <a:solidFill>
                            <a:srgbClr val="000000"/>
                          </a:solidFill>
                          <a:latin typeface="Raleway"/>
                        </a:rPr>
                        <a:t>&gt; Sourcing dan send CV </a:t>
                      </a:r>
                      <a:r>
                        <a:rPr sz="1000" b="0" err="1">
                          <a:solidFill>
                            <a:srgbClr val="000000"/>
                          </a:solidFill>
                          <a:latin typeface="Raleway"/>
                        </a:rPr>
                        <a:t>ke</a:t>
                      </a:r>
                      <a:r>
                        <a:rPr sz="1000" b="0">
                          <a:solidFill>
                            <a:srgbClr val="000000"/>
                          </a:solidFill>
                          <a:latin typeface="Raleway"/>
                        </a:rPr>
                        <a:t> user</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1218522">
                <a:tc>
                  <a:txBody>
                    <a:bodyPr/>
                    <a:lstStyle/>
                    <a:p>
                      <a:pPr algn="ctr">
                        <a:lnSpc>
                          <a:spcPct val="90000"/>
                        </a:lnSpc>
                        <a:spcBef>
                          <a:spcPts val="0"/>
                        </a:spcBef>
                        <a:spcAft>
                          <a:spcPts val="0"/>
                        </a:spcAft>
                      </a:pPr>
                      <a:r>
                        <a:rPr sz="1000" b="0">
                          <a:solidFill>
                            <a:srgbClr val="000000"/>
                          </a:solidFill>
                          <a:latin typeface="Raleway"/>
                        </a:rPr>
                        <a:t>04-Feb-26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RCBK Extruding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05-Feb-26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Achmad</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User Interview di Week 33 dan 34</a:t>
                      </a:r>
                    </a:p>
                    <a:p>
                      <a:pPr algn="l">
                        <a:lnSpc>
                          <a:spcPct val="90000"/>
                        </a:lnSpc>
                        <a:spcBef>
                          <a:spcPts val="0"/>
                        </a:spcBef>
                        <a:spcAft>
                          <a:spcPts val="0"/>
                        </a:spcAft>
                      </a:pPr>
                      <a:r>
                        <a:rPr sz="1000" b="0">
                          <a:solidFill>
                            <a:srgbClr val="000000"/>
                          </a:solidFill>
                          <a:latin typeface="Raleway"/>
                        </a:rPr>
                        <a:t>&gt; Sourcing dan send CV </a:t>
                      </a:r>
                      <a:r>
                        <a:rPr sz="1000" b="0" err="1">
                          <a:solidFill>
                            <a:srgbClr val="000000"/>
                          </a:solidFill>
                          <a:latin typeface="Raleway"/>
                        </a:rPr>
                        <a:t>ke</a:t>
                      </a:r>
                      <a:r>
                        <a:rPr sz="1000" b="0">
                          <a:solidFill>
                            <a:srgbClr val="000000"/>
                          </a:solidFill>
                          <a:latin typeface="Raleway"/>
                        </a:rPr>
                        <a:t> user</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bl>
          </a:graphicData>
        </a:graphic>
      </p:graphicFrame>
      <p:sp>
        <p:nvSpPr>
          <p:cNvPr id="6" name="Title 1">
            <a:extLst>
              <a:ext uri="{FF2B5EF4-FFF2-40B4-BE49-F238E27FC236}">
                <a16:creationId xmlns:a16="http://schemas.microsoft.com/office/drawing/2014/main" id="{1A469DAD-4E24-C421-9CC0-B95261D94DC9}"/>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BAF05DEC-D2F8-471D-6AC3-588E51F57F1F}"/>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2839158612"/>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6"/>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175004">
                <a:tc>
                  <a:txBody>
                    <a:bodyPr/>
                    <a:lstStyle/>
                    <a:p>
                      <a:pPr algn="ctr">
                        <a:lnSpc>
                          <a:spcPct val="90000"/>
                        </a:lnSpc>
                        <a:spcBef>
                          <a:spcPts val="0"/>
                        </a:spcBef>
                        <a:spcAft>
                          <a:spcPts val="0"/>
                        </a:spcAft>
                      </a:pPr>
                      <a:r>
                        <a:rPr sz="1000" b="0">
                          <a:solidFill>
                            <a:srgbClr val="000000"/>
                          </a:solidFill>
                          <a:latin typeface="Raleway"/>
                        </a:rPr>
                        <a:t>04-Feb-26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RCBK Extruding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05-Feb-26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Achmad</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User Interview di Week 33 dan 34</a:t>
                      </a:r>
                    </a:p>
                    <a:p>
                      <a:pPr algn="l">
                        <a:lnSpc>
                          <a:spcPct val="90000"/>
                        </a:lnSpc>
                        <a:spcBef>
                          <a:spcPts val="0"/>
                        </a:spcBef>
                        <a:spcAft>
                          <a:spcPts val="0"/>
                        </a:spcAft>
                      </a:pPr>
                      <a:r>
                        <a:rPr sz="1000" b="0">
                          <a:solidFill>
                            <a:srgbClr val="000000"/>
                          </a:solidFill>
                          <a:latin typeface="Raleway"/>
                        </a:rPr>
                        <a:t>&gt; Sourcing dan send CV </a:t>
                      </a:r>
                      <a:r>
                        <a:rPr sz="1000" b="0" err="1">
                          <a:solidFill>
                            <a:srgbClr val="000000"/>
                          </a:solidFill>
                          <a:latin typeface="Raleway"/>
                        </a:rPr>
                        <a:t>ke</a:t>
                      </a:r>
                      <a:r>
                        <a:rPr sz="1000" b="0">
                          <a:solidFill>
                            <a:srgbClr val="000000"/>
                          </a:solidFill>
                          <a:latin typeface="Raleway"/>
                        </a:rPr>
                        <a:t> user</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175004">
                <a:tc>
                  <a:txBody>
                    <a:bodyPr/>
                    <a:lstStyle/>
                    <a:p>
                      <a:pPr algn="ctr">
                        <a:lnSpc>
                          <a:spcPct val="90000"/>
                        </a:lnSpc>
                        <a:spcBef>
                          <a:spcPts val="0"/>
                        </a:spcBef>
                        <a:spcAft>
                          <a:spcPts val="0"/>
                        </a:spcAft>
                      </a:pPr>
                      <a:r>
                        <a:rPr sz="1000" b="0">
                          <a:solidFill>
                            <a:srgbClr val="000000"/>
                          </a:solidFill>
                          <a:latin typeface="Raleway"/>
                        </a:rPr>
                        <a:t>04-Feb-26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RCBK Extruding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05-Feb-26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Achmad</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User Interview di Week 33 dan 34</a:t>
                      </a:r>
                    </a:p>
                    <a:p>
                      <a:pPr algn="l">
                        <a:lnSpc>
                          <a:spcPct val="90000"/>
                        </a:lnSpc>
                        <a:spcBef>
                          <a:spcPts val="0"/>
                        </a:spcBef>
                        <a:spcAft>
                          <a:spcPts val="0"/>
                        </a:spcAft>
                      </a:pPr>
                      <a:r>
                        <a:rPr sz="1000" b="0">
                          <a:solidFill>
                            <a:srgbClr val="000000"/>
                          </a:solidFill>
                          <a:latin typeface="Raleway"/>
                        </a:rPr>
                        <a:t>&gt; Sourcing dan send CV </a:t>
                      </a:r>
                      <a:r>
                        <a:rPr sz="1000" b="0" err="1">
                          <a:solidFill>
                            <a:srgbClr val="000000"/>
                          </a:solidFill>
                          <a:latin typeface="Raleway"/>
                        </a:rPr>
                        <a:t>ke</a:t>
                      </a:r>
                      <a:r>
                        <a:rPr sz="1000" b="0">
                          <a:solidFill>
                            <a:srgbClr val="000000"/>
                          </a:solidFill>
                          <a:latin typeface="Raleway"/>
                        </a:rPr>
                        <a:t> user</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175004">
                <a:tc>
                  <a:txBody>
                    <a:bodyPr/>
                    <a:lstStyle/>
                    <a:p>
                      <a:pPr algn="ctr">
                        <a:lnSpc>
                          <a:spcPct val="90000"/>
                        </a:lnSpc>
                        <a:spcBef>
                          <a:spcPts val="0"/>
                        </a:spcBef>
                        <a:spcAft>
                          <a:spcPts val="0"/>
                        </a:spcAft>
                      </a:pPr>
                      <a:r>
                        <a:rPr sz="1000" b="0">
                          <a:solidFill>
                            <a:srgbClr val="000000"/>
                          </a:solidFill>
                          <a:latin typeface="Raleway"/>
                        </a:rPr>
                        <a:t>04-Feb-26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RCBK Mixing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05-Feb-26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Achmad</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User Interview di Week 33 dan 34</a:t>
                      </a:r>
                    </a:p>
                    <a:p>
                      <a:pPr algn="l">
                        <a:lnSpc>
                          <a:spcPct val="90000"/>
                        </a:lnSpc>
                        <a:spcBef>
                          <a:spcPts val="0"/>
                        </a:spcBef>
                        <a:spcAft>
                          <a:spcPts val="0"/>
                        </a:spcAft>
                      </a:pPr>
                      <a:r>
                        <a:rPr sz="1000" b="0">
                          <a:solidFill>
                            <a:srgbClr val="000000"/>
                          </a:solidFill>
                          <a:latin typeface="Raleway"/>
                        </a:rPr>
                        <a:t>&gt; Sourcing dan send CV </a:t>
                      </a:r>
                      <a:r>
                        <a:rPr sz="1000" b="0" err="1">
                          <a:solidFill>
                            <a:srgbClr val="000000"/>
                          </a:solidFill>
                          <a:latin typeface="Raleway"/>
                        </a:rPr>
                        <a:t>ke</a:t>
                      </a:r>
                      <a:r>
                        <a:rPr sz="1000" b="0">
                          <a:solidFill>
                            <a:srgbClr val="000000"/>
                          </a:solidFill>
                          <a:latin typeface="Raleway"/>
                        </a:rPr>
                        <a:t> user</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1175004">
                <a:tc>
                  <a:txBody>
                    <a:bodyPr/>
                    <a:lstStyle/>
                    <a:p>
                      <a:pPr algn="ctr">
                        <a:lnSpc>
                          <a:spcPct val="90000"/>
                        </a:lnSpc>
                        <a:spcBef>
                          <a:spcPts val="0"/>
                        </a:spcBef>
                        <a:spcAft>
                          <a:spcPts val="0"/>
                        </a:spcAft>
                      </a:pPr>
                      <a:r>
                        <a:rPr sz="1000" b="0">
                          <a:solidFill>
                            <a:srgbClr val="000000"/>
                          </a:solidFill>
                          <a:latin typeface="Raleway"/>
                        </a:rPr>
                        <a:t>04-Feb-26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RCBK Mixing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05-Feb-26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Achmad</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User Interview di Week 33 dan 34</a:t>
                      </a:r>
                    </a:p>
                    <a:p>
                      <a:pPr algn="l">
                        <a:lnSpc>
                          <a:spcPct val="90000"/>
                        </a:lnSpc>
                        <a:spcBef>
                          <a:spcPts val="0"/>
                        </a:spcBef>
                        <a:spcAft>
                          <a:spcPts val="0"/>
                        </a:spcAft>
                      </a:pPr>
                      <a:r>
                        <a:rPr sz="1000" b="0">
                          <a:solidFill>
                            <a:srgbClr val="000000"/>
                          </a:solidFill>
                          <a:latin typeface="Raleway"/>
                        </a:rPr>
                        <a:t>&gt; Sourcing dan send CV </a:t>
                      </a:r>
                      <a:r>
                        <a:rPr sz="1000" b="0" err="1">
                          <a:solidFill>
                            <a:srgbClr val="000000"/>
                          </a:solidFill>
                          <a:latin typeface="Raleway"/>
                        </a:rPr>
                        <a:t>ke</a:t>
                      </a:r>
                      <a:r>
                        <a:rPr sz="1000" b="0">
                          <a:solidFill>
                            <a:srgbClr val="000000"/>
                          </a:solidFill>
                          <a:latin typeface="Raleway"/>
                        </a:rPr>
                        <a:t> user</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bl>
          </a:graphicData>
        </a:graphic>
      </p:graphicFrame>
      <p:sp>
        <p:nvSpPr>
          <p:cNvPr id="6" name="Title 1">
            <a:extLst>
              <a:ext uri="{FF2B5EF4-FFF2-40B4-BE49-F238E27FC236}">
                <a16:creationId xmlns:a16="http://schemas.microsoft.com/office/drawing/2014/main" id="{787B7F63-ECD4-2B18-D113-DB089FD991F8}"/>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33C5AF3F-6259-AD99-2F28-D8B7061A6F9C}"/>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878722415"/>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5"/>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233754">
                <a:tc>
                  <a:txBody>
                    <a:bodyPr/>
                    <a:lstStyle/>
                    <a:p>
                      <a:pPr algn="ctr">
                        <a:lnSpc>
                          <a:spcPct val="90000"/>
                        </a:lnSpc>
                        <a:spcBef>
                          <a:spcPts val="0"/>
                        </a:spcBef>
                        <a:spcAft>
                          <a:spcPts val="0"/>
                        </a:spcAft>
                      </a:pPr>
                      <a:r>
                        <a:rPr sz="1000" b="0">
                          <a:solidFill>
                            <a:srgbClr val="000000"/>
                          </a:solidFill>
                          <a:latin typeface="Raleway"/>
                        </a:rPr>
                        <a:t>04-Feb-26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RCBK Mixing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05-Feb-26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Achmad</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User Interview di Week 33 dan 34</a:t>
                      </a:r>
                    </a:p>
                    <a:p>
                      <a:pPr algn="l">
                        <a:lnSpc>
                          <a:spcPct val="90000"/>
                        </a:lnSpc>
                        <a:spcBef>
                          <a:spcPts val="0"/>
                        </a:spcBef>
                        <a:spcAft>
                          <a:spcPts val="0"/>
                        </a:spcAft>
                      </a:pPr>
                      <a:r>
                        <a:rPr sz="1000" b="0">
                          <a:solidFill>
                            <a:srgbClr val="000000"/>
                          </a:solidFill>
                          <a:latin typeface="Raleway"/>
                        </a:rPr>
                        <a:t>&gt; Sourcing dan send CV </a:t>
                      </a:r>
                      <a:r>
                        <a:rPr sz="1000" b="0" err="1">
                          <a:solidFill>
                            <a:srgbClr val="000000"/>
                          </a:solidFill>
                          <a:latin typeface="Raleway"/>
                        </a:rPr>
                        <a:t>ke</a:t>
                      </a:r>
                      <a:r>
                        <a:rPr sz="1000" b="0">
                          <a:solidFill>
                            <a:srgbClr val="000000"/>
                          </a:solidFill>
                          <a:latin typeface="Raleway"/>
                        </a:rPr>
                        <a:t> user</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User </a:t>
                      </a:r>
                      <a:r>
                        <a:rPr sz="1000" b="0" err="1">
                          <a:solidFill>
                            <a:srgbClr val="000000"/>
                          </a:solidFill>
                          <a:latin typeface="Raleway"/>
                        </a:rPr>
                        <a:t>Shortcall</a:t>
                      </a:r>
                      <a:r>
                        <a:rPr sz="1000" b="0">
                          <a:solidFill>
                            <a:srgbClr val="000000"/>
                          </a:solidFill>
                          <a:latin typeface="Raleway"/>
                        </a:rPr>
                        <a:t> &amp; Interview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2155293">
                <a:tc>
                  <a:txBody>
                    <a:bodyPr/>
                    <a:lstStyle/>
                    <a:p>
                      <a:pPr algn="ctr">
                        <a:lnSpc>
                          <a:spcPct val="90000"/>
                        </a:lnSpc>
                        <a:spcBef>
                          <a:spcPts val="0"/>
                        </a:spcBef>
                        <a:spcAft>
                          <a:spcPts val="0"/>
                        </a:spcAft>
                      </a:pPr>
                      <a:r>
                        <a:rPr sz="1000" b="0">
                          <a:solidFill>
                            <a:srgbClr val="000000"/>
                          </a:solidFill>
                          <a:latin typeface="Raleway"/>
                        </a:rPr>
                        <a:t>09-Jan-25</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err="1">
                          <a:solidFill>
                            <a:srgbClr val="000000"/>
                          </a:solidFill>
                          <a:latin typeface="Raleway"/>
                        </a:rPr>
                        <a:t>Sparepart</a:t>
                      </a:r>
                      <a:r>
                        <a:rPr sz="1000" b="0">
                          <a:solidFill>
                            <a:srgbClr val="000000"/>
                          </a:solidFill>
                          <a:latin typeface="Raleway"/>
                        </a:rPr>
                        <a:t> Worker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10-Jan-25</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Eli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User Interview 6 </a:t>
                      </a:r>
                      <a:r>
                        <a:rPr sz="1000" b="0" err="1">
                          <a:solidFill>
                            <a:srgbClr val="000000"/>
                          </a:solidFill>
                          <a:latin typeface="Raleway"/>
                        </a:rPr>
                        <a:t>kandidat</a:t>
                      </a:r>
                      <a:r>
                        <a:rPr sz="1000" b="0">
                          <a:solidFill>
                            <a:srgbClr val="000000"/>
                          </a:solidFill>
                          <a:latin typeface="Raleway"/>
                        </a:rPr>
                        <a:t> pada 21 Juli 2026: lolos 1 </a:t>
                      </a:r>
                      <a:r>
                        <a:rPr sz="1000" b="0" err="1">
                          <a:solidFill>
                            <a:srgbClr val="000000"/>
                          </a:solidFill>
                          <a:latin typeface="Raleway"/>
                        </a:rPr>
                        <a:t>kandidat</a:t>
                      </a:r>
                      <a:r>
                        <a:rPr sz="1000" b="0">
                          <a:solidFill>
                            <a:srgbClr val="000000"/>
                          </a:solidFill>
                          <a:latin typeface="Raleway"/>
                        </a:rPr>
                        <a:t> - KEEP</a:t>
                      </a:r>
                    </a:p>
                    <a:p>
                      <a:pPr algn="l">
                        <a:lnSpc>
                          <a:spcPct val="90000"/>
                        </a:lnSpc>
                        <a:spcBef>
                          <a:spcPts val="0"/>
                        </a:spcBef>
                        <a:spcAft>
                          <a:spcPts val="0"/>
                        </a:spcAft>
                      </a:pPr>
                      <a:r>
                        <a:rPr sz="1000" b="0">
                          <a:solidFill>
                            <a:srgbClr val="000000"/>
                          </a:solidFill>
                          <a:latin typeface="Raleway"/>
                        </a:rPr>
                        <a:t>&gt; Sourcing </a:t>
                      </a:r>
                      <a:r>
                        <a:rPr sz="1000" b="0" err="1">
                          <a:solidFill>
                            <a:srgbClr val="000000"/>
                          </a:solidFill>
                          <a:latin typeface="Raleway"/>
                        </a:rPr>
                        <a:t>mendapatkan</a:t>
                      </a:r>
                      <a:r>
                        <a:rPr sz="1000" b="0">
                          <a:solidFill>
                            <a:srgbClr val="000000"/>
                          </a:solidFill>
                          <a:latin typeface="Raleway"/>
                        </a:rPr>
                        <a:t> 2 CV pada 27 Juli 2026</a:t>
                      </a:r>
                    </a:p>
                    <a:p>
                      <a:pPr algn="l">
                        <a:lnSpc>
                          <a:spcPct val="90000"/>
                        </a:lnSpc>
                        <a:spcBef>
                          <a:spcPts val="0"/>
                        </a:spcBef>
                        <a:spcAft>
                          <a:spcPts val="0"/>
                        </a:spcAft>
                      </a:pPr>
                      <a:r>
                        <a:rPr sz="1000" b="0">
                          <a:solidFill>
                            <a:srgbClr val="000000"/>
                          </a:solidFill>
                          <a:latin typeface="Raleway"/>
                        </a:rPr>
                        <a:t>&gt; Send 1o </a:t>
                      </a:r>
                      <a:r>
                        <a:rPr sz="1000" b="0" err="1">
                          <a:solidFill>
                            <a:srgbClr val="000000"/>
                          </a:solidFill>
                          <a:latin typeface="Raleway"/>
                        </a:rPr>
                        <a:t>Cvs</a:t>
                      </a:r>
                      <a:r>
                        <a:rPr sz="1000" b="0">
                          <a:solidFill>
                            <a:srgbClr val="000000"/>
                          </a:solidFill>
                          <a:latin typeface="Raleway"/>
                        </a:rPr>
                        <a:t> di Week 32</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Reference check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Fahmi Al Faqih di Week 34</a:t>
                      </a:r>
                    </a:p>
                    <a:p>
                      <a:pPr algn="l">
                        <a:lnSpc>
                          <a:spcPct val="90000"/>
                        </a:lnSpc>
                        <a:spcBef>
                          <a:spcPts val="0"/>
                        </a:spcBef>
                        <a:spcAft>
                          <a:spcPts val="0"/>
                        </a:spcAft>
                      </a:pPr>
                      <a:r>
                        <a:rPr sz="1000" b="0">
                          <a:solidFill>
                            <a:srgbClr val="000000"/>
                          </a:solidFill>
                          <a:latin typeface="Raleway"/>
                        </a:rPr>
                        <a:t>&gt; Send 10 CVs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310968">
                <a:tc>
                  <a:txBody>
                    <a:bodyPr/>
                    <a:lstStyle/>
                    <a:p>
                      <a:pPr algn="ctr">
                        <a:lnSpc>
                          <a:spcPct val="90000"/>
                        </a:lnSpc>
                        <a:spcBef>
                          <a:spcPts val="0"/>
                        </a:spcBef>
                        <a:spcAft>
                          <a:spcPts val="0"/>
                        </a:spcAft>
                      </a:pPr>
                      <a:r>
                        <a:rPr sz="1000" b="0">
                          <a:solidFill>
                            <a:srgbClr val="000000"/>
                          </a:solidFill>
                          <a:latin typeface="Raleway"/>
                        </a:rPr>
                        <a:t>07-Sep-26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CI Intern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08-Aug-26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Eli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Proses </a:t>
                      </a:r>
                      <a:r>
                        <a:rPr sz="1000" b="0" err="1">
                          <a:solidFill>
                            <a:srgbClr val="000000"/>
                          </a:solidFill>
                          <a:latin typeface="Raleway"/>
                        </a:rPr>
                        <a:t>pemberkasan</a:t>
                      </a:r>
                      <a:r>
                        <a:rPr sz="1000" b="0">
                          <a:solidFill>
                            <a:srgbClr val="000000"/>
                          </a:solidFill>
                          <a:latin typeface="Raleway"/>
                        </a:rPr>
                        <a:t>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Desiana </a:t>
                      </a:r>
                      <a:r>
                        <a:rPr sz="1000" b="0" err="1">
                          <a:solidFill>
                            <a:srgbClr val="000000"/>
                          </a:solidFill>
                          <a:latin typeface="Raleway"/>
                        </a:rPr>
                        <a:t>ke</a:t>
                      </a:r>
                      <a:r>
                        <a:rPr sz="1000" b="0">
                          <a:solidFill>
                            <a:srgbClr val="000000"/>
                          </a:solidFill>
                          <a:latin typeface="Raleway"/>
                        </a:rPr>
                        <a:t> BMJ di Week 33</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Follow up proses </a:t>
                      </a:r>
                      <a:r>
                        <a:rPr sz="1000" b="0" err="1">
                          <a:solidFill>
                            <a:srgbClr val="000000"/>
                          </a:solidFill>
                          <a:latin typeface="Raleway"/>
                        </a:rPr>
                        <a:t>pemberkasan</a:t>
                      </a:r>
                      <a:r>
                        <a:rPr sz="1000" b="0">
                          <a:solidFill>
                            <a:srgbClr val="000000"/>
                          </a:solidFill>
                          <a:latin typeface="Raleway"/>
                        </a:rPr>
                        <a:t>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Desiana </a:t>
                      </a:r>
                      <a:r>
                        <a:rPr sz="1000" b="0" err="1">
                          <a:solidFill>
                            <a:srgbClr val="000000"/>
                          </a:solidFill>
                          <a:latin typeface="Raleway"/>
                        </a:rPr>
                        <a:t>ke</a:t>
                      </a:r>
                      <a:r>
                        <a:rPr sz="1000" b="0">
                          <a:solidFill>
                            <a:srgbClr val="000000"/>
                          </a:solidFill>
                          <a:latin typeface="Raleway"/>
                        </a:rPr>
                        <a:t> BMJ di Week 33</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bl>
          </a:graphicData>
        </a:graphic>
      </p:graphicFrame>
      <p:sp>
        <p:nvSpPr>
          <p:cNvPr id="6" name="Title 1">
            <a:extLst>
              <a:ext uri="{FF2B5EF4-FFF2-40B4-BE49-F238E27FC236}">
                <a16:creationId xmlns:a16="http://schemas.microsoft.com/office/drawing/2014/main" id="{BE67D2EB-0CC8-897F-2982-FB865540BF62}"/>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012AA7C8-AF51-F6F8-78F4-6945A9D34E97}"/>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2525534741"/>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4"/>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2580400">
                <a:tc>
                  <a:txBody>
                    <a:bodyPr/>
                    <a:lstStyle/>
                    <a:p>
                      <a:pPr algn="ctr">
                        <a:lnSpc>
                          <a:spcPct val="90000"/>
                        </a:lnSpc>
                        <a:spcBef>
                          <a:spcPts val="0"/>
                        </a:spcBef>
                        <a:spcAft>
                          <a:spcPts val="0"/>
                        </a:spcAft>
                      </a:pPr>
                      <a:r>
                        <a:rPr sz="1000" b="0">
                          <a:solidFill>
                            <a:srgbClr val="000000"/>
                          </a:solidFill>
                          <a:latin typeface="Raleway"/>
                        </a:rPr>
                        <a:t>04-Feb-26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Stock Keeping Worker - RCBK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05-Feb-26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Eli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Jumlah</a:t>
                      </a:r>
                      <a:r>
                        <a:rPr sz="1000" b="0">
                          <a:solidFill>
                            <a:srgbClr val="000000"/>
                          </a:solidFill>
                          <a:latin typeface="Raleway"/>
                        </a:rPr>
                        <a:t> FPTK </a:t>
                      </a:r>
                      <a:r>
                        <a:rPr sz="1000" b="0" err="1">
                          <a:solidFill>
                            <a:srgbClr val="000000"/>
                          </a:solidFill>
                          <a:latin typeface="Raleway"/>
                        </a:rPr>
                        <a:t>Sebelum</a:t>
                      </a:r>
                      <a:r>
                        <a:rPr sz="1000" b="0">
                          <a:solidFill>
                            <a:srgbClr val="000000"/>
                          </a:solidFill>
                          <a:latin typeface="Raleway"/>
                        </a:rPr>
                        <a:t>: 2 FPTK Stock Keeping Worker Raw Material dan 1 FPTK Stock Keeping </a:t>
                      </a:r>
                      <a:r>
                        <a:rPr sz="1000" b="0" err="1">
                          <a:solidFill>
                            <a:srgbClr val="000000"/>
                          </a:solidFill>
                          <a:latin typeface="Raleway"/>
                        </a:rPr>
                        <a:t>Wlrker</a:t>
                      </a:r>
                      <a:r>
                        <a:rPr sz="1000" b="0">
                          <a:solidFill>
                            <a:srgbClr val="000000"/>
                          </a:solidFill>
                          <a:latin typeface="Raleway"/>
                        </a:rPr>
                        <a:t> - RCBK</a:t>
                      </a:r>
                    </a:p>
                    <a:p>
                      <a:pPr algn="l">
                        <a:lnSpc>
                          <a:spcPct val="90000"/>
                        </a:lnSpc>
                        <a:spcBef>
                          <a:spcPts val="0"/>
                        </a:spcBef>
                        <a:spcAft>
                          <a:spcPts val="0"/>
                        </a:spcAft>
                      </a:pPr>
                      <a:r>
                        <a:rPr sz="1000" b="0">
                          <a:solidFill>
                            <a:srgbClr val="000000"/>
                          </a:solidFill>
                          <a:latin typeface="Raleway"/>
                        </a:rPr>
                        <a:t>&gt; Closed 1 FPTK </a:t>
                      </a:r>
                      <a:r>
                        <a:rPr sz="1000" b="0" err="1">
                          <a:solidFill>
                            <a:srgbClr val="000000"/>
                          </a:solidFill>
                          <a:latin typeface="Raleway"/>
                        </a:rPr>
                        <a:t>atas</a:t>
                      </a:r>
                      <a:r>
                        <a:rPr sz="1000" b="0">
                          <a:solidFill>
                            <a:srgbClr val="000000"/>
                          </a:solidFill>
                          <a:latin typeface="Raleway"/>
                        </a:rPr>
                        <a:t> nama Andika join date 10 Agustus 2026</a:t>
                      </a:r>
                    </a:p>
                    <a:p>
                      <a:pPr algn="l">
                        <a:lnSpc>
                          <a:spcPct val="90000"/>
                        </a:lnSpc>
                        <a:spcBef>
                          <a:spcPts val="0"/>
                        </a:spcBef>
                        <a:spcAft>
                          <a:spcPts val="0"/>
                        </a:spcAft>
                      </a:pPr>
                      <a:r>
                        <a:rPr sz="1000" b="0">
                          <a:solidFill>
                            <a:srgbClr val="000000"/>
                          </a:solidFill>
                          <a:latin typeface="Raleway"/>
                        </a:rPr>
                        <a:t>&gt; Closed 1 FPTK an. Marsella Dwi Join date 10 Agustus 2026</a:t>
                      </a:r>
                    </a:p>
                    <a:p>
                      <a:pPr algn="l">
                        <a:lnSpc>
                          <a:spcPct val="90000"/>
                        </a:lnSpc>
                        <a:spcBef>
                          <a:spcPts val="0"/>
                        </a:spcBef>
                        <a:spcAft>
                          <a:spcPts val="0"/>
                        </a:spcAft>
                      </a:pPr>
                      <a:r>
                        <a:rPr sz="1000" b="0">
                          <a:solidFill>
                            <a:srgbClr val="000000"/>
                          </a:solidFill>
                          <a:latin typeface="Raleway"/>
                        </a:rPr>
                        <a:t>&gt; Send  10 CVs di Week 32</a:t>
                      </a:r>
                    </a:p>
                    <a:p>
                      <a:pPr algn="l">
                        <a:lnSpc>
                          <a:spcPct val="90000"/>
                        </a:lnSpc>
                        <a:spcBef>
                          <a:spcPts val="0"/>
                        </a:spcBef>
                        <a:spcAft>
                          <a:spcPts val="0"/>
                        </a:spcAft>
                      </a:pPr>
                      <a:r>
                        <a:rPr sz="1000" b="0">
                          <a:solidFill>
                            <a:srgbClr val="000000"/>
                          </a:solidFill>
                          <a:latin typeface="Raleway"/>
                        </a:rPr>
                        <a:t>&gt; User Interview 2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Joko dan Deky di Week 33. </a:t>
                      </a:r>
                      <a:r>
                        <a:rPr sz="1000" b="0" err="1">
                          <a:solidFill>
                            <a:srgbClr val="000000"/>
                          </a:solidFill>
                          <a:latin typeface="Raleway"/>
                        </a:rPr>
                        <a:t>Deky</a:t>
                      </a:r>
                      <a:r>
                        <a:rPr sz="1000" b="0">
                          <a:solidFill>
                            <a:srgbClr val="000000"/>
                          </a:solidFill>
                          <a:latin typeface="Raleway"/>
                        </a:rPr>
                        <a:t> OK - Joko DROP</a:t>
                      </a:r>
                    </a:p>
                    <a:p>
                      <a:pPr algn="l">
                        <a:lnSpc>
                          <a:spcPct val="90000"/>
                        </a:lnSpc>
                        <a:spcBef>
                          <a:spcPts val="0"/>
                        </a:spcBef>
                        <a:spcAft>
                          <a:spcPts val="0"/>
                        </a:spcAft>
                      </a:pPr>
                      <a:endParaRPr sz="1000" b="0">
                        <a:solidFill>
                          <a:srgbClr val="000000"/>
                        </a:solidFill>
                        <a:latin typeface="Raleway"/>
                      </a:endParaRP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User interview 1 </a:t>
                      </a:r>
                      <a:r>
                        <a:rPr sz="1000" b="0" err="1">
                          <a:solidFill>
                            <a:srgbClr val="000000"/>
                          </a:solidFill>
                          <a:latin typeface="Raleway"/>
                        </a:rPr>
                        <a:t>dengan</a:t>
                      </a:r>
                      <a:r>
                        <a:rPr sz="1000" b="0">
                          <a:solidFill>
                            <a:srgbClr val="000000"/>
                          </a:solidFill>
                          <a:latin typeface="Raleway"/>
                        </a:rPr>
                        <a:t> Ibu Helena </a:t>
                      </a:r>
                      <a:r>
                        <a:rPr sz="1000" b="0" err="1">
                          <a:solidFill>
                            <a:srgbClr val="000000"/>
                          </a:solidFill>
                          <a:latin typeface="Raleway"/>
                        </a:rPr>
                        <a:t>a.n</a:t>
                      </a:r>
                      <a:r>
                        <a:rPr sz="1000" b="0">
                          <a:solidFill>
                            <a:srgbClr val="000000"/>
                          </a:solidFill>
                          <a:latin typeface="Raleway"/>
                        </a:rPr>
                        <a:t> Deky </a:t>
                      </a:r>
                      <a:r>
                        <a:rPr sz="1000" b="0" err="1">
                          <a:solidFill>
                            <a:srgbClr val="000000"/>
                          </a:solidFill>
                          <a:latin typeface="Raleway"/>
                        </a:rPr>
                        <a:t>kandidat</a:t>
                      </a:r>
                      <a:r>
                        <a:rPr sz="1000" b="0">
                          <a:solidFill>
                            <a:srgbClr val="000000"/>
                          </a:solidFill>
                          <a:latin typeface="Raleway"/>
                        </a:rPr>
                        <a:t> di Week 34</a:t>
                      </a:r>
                    </a:p>
                    <a:p>
                      <a:pPr algn="l">
                        <a:lnSpc>
                          <a:spcPct val="90000"/>
                        </a:lnSpc>
                        <a:spcBef>
                          <a:spcPts val="0"/>
                        </a:spcBef>
                        <a:spcAft>
                          <a:spcPts val="0"/>
                        </a:spcAft>
                      </a:pPr>
                      <a:r>
                        <a:rPr sz="1000" b="0">
                          <a:solidFill>
                            <a:srgbClr val="000000"/>
                          </a:solidFill>
                          <a:latin typeface="Raleway"/>
                        </a:rPr>
                        <a:t>&gt; Sourcing 10 CVs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198043">
                <a:tc>
                  <a:txBody>
                    <a:bodyPr/>
                    <a:lstStyle/>
                    <a:p>
                      <a:pPr algn="ctr">
                        <a:lnSpc>
                          <a:spcPct val="90000"/>
                        </a:lnSpc>
                        <a:spcBef>
                          <a:spcPts val="0"/>
                        </a:spcBef>
                        <a:spcAft>
                          <a:spcPts val="0"/>
                        </a:spcAft>
                      </a:pPr>
                      <a:r>
                        <a:rPr sz="1000" b="0">
                          <a:solidFill>
                            <a:srgbClr val="000000"/>
                          </a:solidFill>
                          <a:latin typeface="Raleway"/>
                        </a:rPr>
                        <a:t>07-Feb-26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IT DEVELOPMENT (INTERN)</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08-Jan-26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Gabbie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1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Syafiq </a:t>
                      </a:r>
                      <a:r>
                        <a:rPr sz="1000" b="0" err="1">
                          <a:solidFill>
                            <a:srgbClr val="000000"/>
                          </a:solidFill>
                          <a:latin typeface="Raleway"/>
                        </a:rPr>
                        <a:t>akan</a:t>
                      </a:r>
                      <a:r>
                        <a:rPr sz="1000" b="0">
                          <a:solidFill>
                            <a:srgbClr val="000000"/>
                          </a:solidFill>
                          <a:latin typeface="Raleway"/>
                        </a:rPr>
                        <a:t> join di 20 Agustus 2026</a:t>
                      </a:r>
                    </a:p>
                    <a:p>
                      <a:pPr algn="l">
                        <a:lnSpc>
                          <a:spcPct val="90000"/>
                        </a:lnSpc>
                        <a:spcBef>
                          <a:spcPts val="0"/>
                        </a:spcBef>
                        <a:spcAft>
                          <a:spcPts val="0"/>
                        </a:spcAft>
                      </a:pPr>
                      <a:r>
                        <a:rPr sz="1000" b="0">
                          <a:solidFill>
                            <a:srgbClr val="000000"/>
                          </a:solidFill>
                          <a:latin typeface="Raleway"/>
                        </a:rPr>
                        <a:t>&gt; 1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Dandi lolos User Interview</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Mengirimkan</a:t>
                      </a:r>
                      <a:r>
                        <a:rPr sz="1000" b="0">
                          <a:solidFill>
                            <a:srgbClr val="000000"/>
                          </a:solidFill>
                          <a:latin typeface="Raleway"/>
                        </a:rPr>
                        <a:t> </a:t>
                      </a:r>
                      <a:r>
                        <a:rPr sz="1000" b="0" err="1">
                          <a:solidFill>
                            <a:srgbClr val="000000"/>
                          </a:solidFill>
                          <a:latin typeface="Raleway"/>
                        </a:rPr>
                        <a:t>pengantar</a:t>
                      </a:r>
                      <a:r>
                        <a:rPr sz="1000" b="0">
                          <a:solidFill>
                            <a:srgbClr val="000000"/>
                          </a:solidFill>
                          <a:latin typeface="Raleway"/>
                        </a:rPr>
                        <a:t> MCU </a:t>
                      </a:r>
                      <a:r>
                        <a:rPr sz="1000" b="0" err="1">
                          <a:solidFill>
                            <a:srgbClr val="000000"/>
                          </a:solidFill>
                          <a:latin typeface="Raleway"/>
                        </a:rPr>
                        <a:t>ke</a:t>
                      </a:r>
                      <a:r>
                        <a:rPr sz="1000" b="0">
                          <a:solidFill>
                            <a:srgbClr val="000000"/>
                          </a:solidFill>
                          <a:latin typeface="Raleway"/>
                        </a:rPr>
                        <a:t> </a:t>
                      </a:r>
                      <a:r>
                        <a:rPr sz="1000" b="0" err="1">
                          <a:solidFill>
                            <a:srgbClr val="000000"/>
                          </a:solidFill>
                          <a:latin typeface="Raleway"/>
                        </a:rPr>
                        <a:t>kandidat</a:t>
                      </a:r>
                      <a:r>
                        <a:rPr sz="1000" b="0">
                          <a:solidFill>
                            <a:srgbClr val="000000"/>
                          </a:solidFill>
                          <a:latin typeface="Raleway"/>
                        </a:rPr>
                        <a:t> </a:t>
                      </a:r>
                      <a:r>
                        <a:rPr sz="1000" b="0" err="1">
                          <a:solidFill>
                            <a:srgbClr val="000000"/>
                          </a:solidFill>
                          <a:latin typeface="Raleway"/>
                        </a:rPr>
                        <a:t>a.n</a:t>
                      </a:r>
                      <a:r>
                        <a:rPr sz="1000" b="0">
                          <a:solidFill>
                            <a:srgbClr val="000000"/>
                          </a:solidFill>
                          <a:latin typeface="Raleway"/>
                        </a:rPr>
                        <a:t>. Dandi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921571">
                <a:tc>
                  <a:txBody>
                    <a:bodyPr/>
                    <a:lstStyle/>
                    <a:p>
                      <a:pPr algn="ctr">
                        <a:lnSpc>
                          <a:spcPct val="90000"/>
                        </a:lnSpc>
                        <a:spcBef>
                          <a:spcPts val="0"/>
                        </a:spcBef>
                        <a:spcAft>
                          <a:spcPts val="0"/>
                        </a:spcAft>
                      </a:pPr>
                      <a:r>
                        <a:rPr sz="1000" b="0">
                          <a:solidFill>
                            <a:srgbClr val="000000"/>
                          </a:solidFill>
                          <a:latin typeface="Raleway"/>
                        </a:rPr>
                        <a:t>04-May-26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Packing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05-May-26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Gabbie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16 CV </a:t>
                      </a:r>
                      <a:r>
                        <a:rPr sz="1000" b="0" err="1">
                          <a:solidFill>
                            <a:srgbClr val="000000"/>
                          </a:solidFill>
                          <a:latin typeface="Raleway"/>
                        </a:rPr>
                        <a:t>sudah</a:t>
                      </a:r>
                      <a:r>
                        <a:rPr sz="1000" b="0">
                          <a:solidFill>
                            <a:srgbClr val="000000"/>
                          </a:solidFill>
                          <a:latin typeface="Raleway"/>
                        </a:rPr>
                        <a:t> </a:t>
                      </a:r>
                      <a:r>
                        <a:rPr sz="1000" b="0" err="1">
                          <a:solidFill>
                            <a:srgbClr val="000000"/>
                          </a:solidFill>
                          <a:latin typeface="Raleway"/>
                        </a:rPr>
                        <a:t>dikirmkan</a:t>
                      </a:r>
                      <a:r>
                        <a:rPr sz="1000" b="0">
                          <a:solidFill>
                            <a:srgbClr val="000000"/>
                          </a:solidFill>
                          <a:latin typeface="Raleway"/>
                        </a:rPr>
                        <a:t> </a:t>
                      </a:r>
                      <a:r>
                        <a:rPr sz="1000" b="0" err="1">
                          <a:solidFill>
                            <a:srgbClr val="000000"/>
                          </a:solidFill>
                          <a:latin typeface="Raleway"/>
                        </a:rPr>
                        <a:t>ke</a:t>
                      </a:r>
                      <a:r>
                        <a:rPr sz="1000" b="0">
                          <a:solidFill>
                            <a:srgbClr val="000000"/>
                          </a:solidFill>
                          <a:latin typeface="Raleway"/>
                        </a:rPr>
                        <a:t> User, </a:t>
                      </a:r>
                      <a:r>
                        <a:rPr sz="1000" b="0" err="1">
                          <a:solidFill>
                            <a:srgbClr val="000000"/>
                          </a:solidFill>
                          <a:latin typeface="Raleway"/>
                        </a:rPr>
                        <a:t>belum</a:t>
                      </a:r>
                      <a:r>
                        <a:rPr sz="1000" b="0">
                          <a:solidFill>
                            <a:srgbClr val="000000"/>
                          </a:solidFill>
                          <a:latin typeface="Raleway"/>
                        </a:rPr>
                        <a:t> </a:t>
                      </a:r>
                      <a:r>
                        <a:rPr sz="1000" b="0" err="1">
                          <a:solidFill>
                            <a:srgbClr val="000000"/>
                          </a:solidFill>
                          <a:latin typeface="Raleway"/>
                        </a:rPr>
                        <a:t>ada</a:t>
                      </a:r>
                      <a:r>
                        <a:rPr sz="1000" b="0">
                          <a:solidFill>
                            <a:srgbClr val="000000"/>
                          </a:solidFill>
                          <a:latin typeface="Raleway"/>
                        </a:rPr>
                        <a:t> feedback</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Follow up </a:t>
                      </a:r>
                      <a:r>
                        <a:rPr sz="1000" b="0" err="1">
                          <a:solidFill>
                            <a:srgbClr val="000000"/>
                          </a:solidFill>
                          <a:latin typeface="Raleway"/>
                        </a:rPr>
                        <a:t>hasil</a:t>
                      </a:r>
                      <a:r>
                        <a:rPr sz="1000" b="0">
                          <a:solidFill>
                            <a:srgbClr val="000000"/>
                          </a:solidFill>
                          <a:latin typeface="Raleway"/>
                        </a:rPr>
                        <a:t> shortlist CV </a:t>
                      </a:r>
                      <a:r>
                        <a:rPr sz="1000" b="0" err="1">
                          <a:solidFill>
                            <a:srgbClr val="000000"/>
                          </a:solidFill>
                          <a:latin typeface="Raleway"/>
                        </a:rPr>
                        <a:t>ke</a:t>
                      </a:r>
                      <a:r>
                        <a:rPr sz="1000" b="0">
                          <a:solidFill>
                            <a:srgbClr val="000000"/>
                          </a:solidFill>
                          <a:latin typeface="Raleway"/>
                        </a:rPr>
                        <a:t>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bl>
          </a:graphicData>
        </a:graphic>
      </p:graphicFrame>
      <p:sp>
        <p:nvSpPr>
          <p:cNvPr id="6" name="Title 1">
            <a:extLst>
              <a:ext uri="{FF2B5EF4-FFF2-40B4-BE49-F238E27FC236}">
                <a16:creationId xmlns:a16="http://schemas.microsoft.com/office/drawing/2014/main" id="{2DE438B0-30EA-3CB2-46ED-DA830402BA5B}"/>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FB3F8B65-CE7E-40A2-1695-08C62BAED4E7}"/>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4060029528"/>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5"/>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lang="en-US" sz="1000" b="1" err="1">
                          <a:solidFill>
                            <a:srgbClr val="FFFFFF"/>
                          </a:solidFill>
                          <a:latin typeface="Raleway"/>
                        </a:rPr>
                        <a:t>Posisi</a:t>
                      </a:r>
                      <a:endParaRPr sz="1000" b="1" err="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2346209">
                <a:tc>
                  <a:txBody>
                    <a:bodyPr/>
                    <a:lstStyle/>
                    <a:p>
                      <a:pPr algn="ctr">
                        <a:lnSpc>
                          <a:spcPct val="90000"/>
                        </a:lnSpc>
                        <a:spcBef>
                          <a:spcPts val="0"/>
                        </a:spcBef>
                        <a:spcAft>
                          <a:spcPts val="0"/>
                        </a:spcAft>
                      </a:pPr>
                      <a:r>
                        <a:rPr sz="1000" b="0">
                          <a:solidFill>
                            <a:srgbClr val="000000"/>
                          </a:solidFill>
                          <a:latin typeface="Raleway"/>
                        </a:rPr>
                        <a:t>16-07-2026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Maintenance Technician -  Nugget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15-08-2026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Kasanah</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1 </a:t>
                      </a:r>
                      <a:r>
                        <a:rPr sz="1000" b="0" err="1">
                          <a:solidFill>
                            <a:srgbClr val="000000"/>
                          </a:solidFill>
                          <a:latin typeface="Raleway"/>
                        </a:rPr>
                        <a:t>Kandidat</a:t>
                      </a:r>
                      <a:r>
                        <a:rPr sz="1000" b="0">
                          <a:solidFill>
                            <a:srgbClr val="000000"/>
                          </a:solidFill>
                          <a:latin typeface="Raleway"/>
                        </a:rPr>
                        <a:t> an Bagus DROP User Interview di 12 Agustus 2026</a:t>
                      </a:r>
                    </a:p>
                    <a:p>
                      <a:pPr algn="l">
                        <a:lnSpc>
                          <a:spcPct val="90000"/>
                        </a:lnSpc>
                        <a:spcBef>
                          <a:spcPts val="0"/>
                        </a:spcBef>
                        <a:spcAft>
                          <a:spcPts val="0"/>
                        </a:spcAft>
                      </a:pPr>
                      <a:r>
                        <a:rPr sz="1000" b="0">
                          <a:solidFill>
                            <a:srgbClr val="000000"/>
                          </a:solidFill>
                          <a:latin typeface="Raleway"/>
                        </a:rPr>
                        <a:t>&gt; 23 </a:t>
                      </a:r>
                      <a:r>
                        <a:rPr sz="1000" b="0" err="1">
                          <a:solidFill>
                            <a:srgbClr val="000000"/>
                          </a:solidFill>
                          <a:latin typeface="Raleway"/>
                        </a:rPr>
                        <a:t>Cvs</a:t>
                      </a:r>
                      <a:r>
                        <a:rPr sz="1000" b="0">
                          <a:solidFill>
                            <a:srgbClr val="000000"/>
                          </a:solidFill>
                          <a:latin typeface="Raleway"/>
                        </a:rPr>
                        <a:t> </a:t>
                      </a:r>
                      <a:r>
                        <a:rPr sz="1000" b="0" err="1">
                          <a:solidFill>
                            <a:srgbClr val="000000"/>
                          </a:solidFill>
                          <a:latin typeface="Raleway"/>
                        </a:rPr>
                        <a:t>sudah</a:t>
                      </a:r>
                      <a:r>
                        <a:rPr sz="1000" b="0">
                          <a:solidFill>
                            <a:srgbClr val="000000"/>
                          </a:solidFill>
                          <a:latin typeface="Raleway"/>
                        </a:rPr>
                        <a:t> </a:t>
                      </a:r>
                      <a:r>
                        <a:rPr sz="1000" b="0" err="1">
                          <a:solidFill>
                            <a:srgbClr val="000000"/>
                          </a:solidFill>
                          <a:latin typeface="Raleway"/>
                        </a:rPr>
                        <a:t>dikirimkan</a:t>
                      </a:r>
                      <a:r>
                        <a:rPr sz="1000" b="0">
                          <a:solidFill>
                            <a:srgbClr val="000000"/>
                          </a:solidFill>
                          <a:latin typeface="Raleway"/>
                        </a:rPr>
                        <a:t> pada 13 </a:t>
                      </a:r>
                      <a:r>
                        <a:rPr sz="1000" b="0" err="1">
                          <a:solidFill>
                            <a:srgbClr val="000000"/>
                          </a:solidFill>
                          <a:latin typeface="Raleway"/>
                        </a:rPr>
                        <a:t>Agutsus</a:t>
                      </a:r>
                      <a:r>
                        <a:rPr sz="1000" b="0">
                          <a:solidFill>
                            <a:srgbClr val="000000"/>
                          </a:solidFill>
                          <a:latin typeface="Raleway"/>
                        </a:rPr>
                        <a:t> 2026</a:t>
                      </a:r>
                    </a:p>
                    <a:p>
                      <a:pPr algn="l">
                        <a:lnSpc>
                          <a:spcPct val="90000"/>
                        </a:lnSpc>
                        <a:spcBef>
                          <a:spcPts val="0"/>
                        </a:spcBef>
                        <a:spcAft>
                          <a:spcPts val="0"/>
                        </a:spcAft>
                      </a:pPr>
                      <a:r>
                        <a:rPr sz="1000" b="0">
                          <a:solidFill>
                            <a:srgbClr val="000000"/>
                          </a:solidFill>
                          <a:latin typeface="Raleway"/>
                        </a:rPr>
                        <a:t>&gt; 9 </a:t>
                      </a:r>
                      <a:r>
                        <a:rPr sz="1000" b="0" err="1">
                          <a:solidFill>
                            <a:srgbClr val="000000"/>
                          </a:solidFill>
                          <a:latin typeface="Raleway"/>
                        </a:rPr>
                        <a:t>Cvs</a:t>
                      </a:r>
                      <a:r>
                        <a:rPr sz="1000" b="0">
                          <a:solidFill>
                            <a:srgbClr val="000000"/>
                          </a:solidFill>
                          <a:latin typeface="Raleway"/>
                        </a:rPr>
                        <a:t> lolos shortlisted di 13 Agustus 2026</a:t>
                      </a:r>
                    </a:p>
                    <a:p>
                      <a:pPr algn="l">
                        <a:lnSpc>
                          <a:spcPct val="90000"/>
                        </a:lnSpc>
                        <a:spcBef>
                          <a:spcPts val="0"/>
                        </a:spcBef>
                        <a:spcAft>
                          <a:spcPts val="0"/>
                        </a:spcAft>
                      </a:pPr>
                      <a:r>
                        <a:rPr sz="1000" b="0">
                          <a:solidFill>
                            <a:srgbClr val="000000"/>
                          </a:solidFill>
                          <a:latin typeface="Raleway"/>
                        </a:rPr>
                        <a:t>&gt; 2 </a:t>
                      </a:r>
                      <a:r>
                        <a:rPr sz="1000" b="0" err="1">
                          <a:solidFill>
                            <a:srgbClr val="000000"/>
                          </a:solidFill>
                          <a:latin typeface="Raleway"/>
                        </a:rPr>
                        <a:t>Kandidat</a:t>
                      </a:r>
                      <a:r>
                        <a:rPr sz="1000" b="0">
                          <a:solidFill>
                            <a:srgbClr val="000000"/>
                          </a:solidFill>
                          <a:latin typeface="Raleway"/>
                        </a:rPr>
                        <a:t> an Diko dan Bayu  lolos HR interview di 13 Agustus 2026</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Agendakan</a:t>
                      </a:r>
                      <a:r>
                        <a:rPr sz="1000" b="0">
                          <a:solidFill>
                            <a:srgbClr val="000000"/>
                          </a:solidFill>
                          <a:latin typeface="Raleway"/>
                        </a:rPr>
                        <a:t> HR Interview Min 4 </a:t>
                      </a:r>
                      <a:r>
                        <a:rPr sz="1000" b="0" err="1">
                          <a:solidFill>
                            <a:srgbClr val="000000"/>
                          </a:solidFill>
                          <a:latin typeface="Raleway"/>
                        </a:rPr>
                        <a:t>Kandidat</a:t>
                      </a:r>
                      <a:r>
                        <a:rPr sz="1000" b="0">
                          <a:solidFill>
                            <a:srgbClr val="000000"/>
                          </a:solidFill>
                          <a:latin typeface="Raleway"/>
                        </a:rPr>
                        <a:t> di Week 34</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Agendakan</a:t>
                      </a:r>
                      <a:r>
                        <a:rPr sz="1000" b="0">
                          <a:solidFill>
                            <a:srgbClr val="000000"/>
                          </a:solidFill>
                          <a:latin typeface="Raleway"/>
                        </a:rPr>
                        <a:t> User Interview I 2 </a:t>
                      </a:r>
                      <a:r>
                        <a:rPr sz="1000" b="0" err="1">
                          <a:solidFill>
                            <a:srgbClr val="000000"/>
                          </a:solidFill>
                          <a:latin typeface="Raleway"/>
                        </a:rPr>
                        <a:t>Kandidat</a:t>
                      </a:r>
                      <a:r>
                        <a:rPr sz="1000" b="0">
                          <a:solidFill>
                            <a:srgbClr val="000000"/>
                          </a:solidFill>
                          <a:latin typeface="Raleway"/>
                        </a:rPr>
                        <a:t> an Diko dan Bayu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2353806">
                <a:tc>
                  <a:txBody>
                    <a:bodyPr/>
                    <a:lstStyle/>
                    <a:p>
                      <a:pPr algn="ctr">
                        <a:lnSpc>
                          <a:spcPct val="90000"/>
                        </a:lnSpc>
                        <a:spcBef>
                          <a:spcPts val="0"/>
                        </a:spcBef>
                        <a:spcAft>
                          <a:spcPts val="0"/>
                        </a:spcAft>
                      </a:pPr>
                      <a:r>
                        <a:rPr sz="1000" b="0">
                          <a:solidFill>
                            <a:srgbClr val="000000"/>
                          </a:solidFill>
                          <a:latin typeface="Raleway"/>
                        </a:rPr>
                        <a:t>16-07-2026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Maintenance Technician -  Singles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15-08-2026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Kasanah</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1 </a:t>
                      </a:r>
                      <a:r>
                        <a:rPr sz="1000" b="0" err="1">
                          <a:solidFill>
                            <a:srgbClr val="000000"/>
                          </a:solidFill>
                          <a:latin typeface="Raleway"/>
                        </a:rPr>
                        <a:t>Kandidat</a:t>
                      </a:r>
                      <a:r>
                        <a:rPr sz="1000" b="0">
                          <a:solidFill>
                            <a:srgbClr val="000000"/>
                          </a:solidFill>
                          <a:latin typeface="Raleway"/>
                        </a:rPr>
                        <a:t> an Bagus DROP User Interview di 12 Agustus 2026</a:t>
                      </a:r>
                    </a:p>
                    <a:p>
                      <a:pPr algn="l">
                        <a:lnSpc>
                          <a:spcPct val="90000"/>
                        </a:lnSpc>
                        <a:spcBef>
                          <a:spcPts val="0"/>
                        </a:spcBef>
                        <a:spcAft>
                          <a:spcPts val="0"/>
                        </a:spcAft>
                      </a:pPr>
                      <a:r>
                        <a:rPr sz="1000" b="0">
                          <a:solidFill>
                            <a:srgbClr val="000000"/>
                          </a:solidFill>
                          <a:latin typeface="Raleway"/>
                        </a:rPr>
                        <a:t>&gt; 23 </a:t>
                      </a:r>
                      <a:r>
                        <a:rPr sz="1000" b="0" err="1">
                          <a:solidFill>
                            <a:srgbClr val="000000"/>
                          </a:solidFill>
                          <a:latin typeface="Raleway"/>
                        </a:rPr>
                        <a:t>Cvs</a:t>
                      </a:r>
                      <a:r>
                        <a:rPr sz="1000" b="0">
                          <a:solidFill>
                            <a:srgbClr val="000000"/>
                          </a:solidFill>
                          <a:latin typeface="Raleway"/>
                        </a:rPr>
                        <a:t> </a:t>
                      </a:r>
                      <a:r>
                        <a:rPr sz="1000" b="0" err="1">
                          <a:solidFill>
                            <a:srgbClr val="000000"/>
                          </a:solidFill>
                          <a:latin typeface="Raleway"/>
                        </a:rPr>
                        <a:t>sudah</a:t>
                      </a:r>
                      <a:r>
                        <a:rPr sz="1000" b="0">
                          <a:solidFill>
                            <a:srgbClr val="000000"/>
                          </a:solidFill>
                          <a:latin typeface="Raleway"/>
                        </a:rPr>
                        <a:t> </a:t>
                      </a:r>
                      <a:r>
                        <a:rPr sz="1000" b="0" err="1">
                          <a:solidFill>
                            <a:srgbClr val="000000"/>
                          </a:solidFill>
                          <a:latin typeface="Raleway"/>
                        </a:rPr>
                        <a:t>dikirimkan</a:t>
                      </a:r>
                      <a:r>
                        <a:rPr sz="1000" b="0">
                          <a:solidFill>
                            <a:srgbClr val="000000"/>
                          </a:solidFill>
                          <a:latin typeface="Raleway"/>
                        </a:rPr>
                        <a:t> pada 13 </a:t>
                      </a:r>
                      <a:r>
                        <a:rPr sz="1000" b="0" err="1">
                          <a:solidFill>
                            <a:srgbClr val="000000"/>
                          </a:solidFill>
                          <a:latin typeface="Raleway"/>
                        </a:rPr>
                        <a:t>Agutsus</a:t>
                      </a:r>
                      <a:r>
                        <a:rPr sz="1000" b="0">
                          <a:solidFill>
                            <a:srgbClr val="000000"/>
                          </a:solidFill>
                          <a:latin typeface="Raleway"/>
                        </a:rPr>
                        <a:t> 2026</a:t>
                      </a:r>
                    </a:p>
                    <a:p>
                      <a:pPr algn="l">
                        <a:lnSpc>
                          <a:spcPct val="90000"/>
                        </a:lnSpc>
                        <a:spcBef>
                          <a:spcPts val="0"/>
                        </a:spcBef>
                        <a:spcAft>
                          <a:spcPts val="0"/>
                        </a:spcAft>
                      </a:pPr>
                      <a:r>
                        <a:rPr sz="1000" b="0">
                          <a:solidFill>
                            <a:srgbClr val="000000"/>
                          </a:solidFill>
                          <a:latin typeface="Raleway"/>
                        </a:rPr>
                        <a:t>&gt; 9 </a:t>
                      </a:r>
                      <a:r>
                        <a:rPr sz="1000" b="0" err="1">
                          <a:solidFill>
                            <a:srgbClr val="000000"/>
                          </a:solidFill>
                          <a:latin typeface="Raleway"/>
                        </a:rPr>
                        <a:t>Cvs</a:t>
                      </a:r>
                      <a:r>
                        <a:rPr sz="1000" b="0">
                          <a:solidFill>
                            <a:srgbClr val="000000"/>
                          </a:solidFill>
                          <a:latin typeface="Raleway"/>
                        </a:rPr>
                        <a:t> lolos shortlisted di 13 Agustus 2026</a:t>
                      </a:r>
                    </a:p>
                    <a:p>
                      <a:pPr algn="l">
                        <a:lnSpc>
                          <a:spcPct val="90000"/>
                        </a:lnSpc>
                        <a:spcBef>
                          <a:spcPts val="0"/>
                        </a:spcBef>
                        <a:spcAft>
                          <a:spcPts val="0"/>
                        </a:spcAft>
                      </a:pPr>
                      <a:r>
                        <a:rPr sz="1000" b="0">
                          <a:solidFill>
                            <a:srgbClr val="000000"/>
                          </a:solidFill>
                          <a:latin typeface="Raleway"/>
                        </a:rPr>
                        <a:t>&gt; 2 </a:t>
                      </a:r>
                      <a:r>
                        <a:rPr sz="1000" b="0" err="1">
                          <a:solidFill>
                            <a:srgbClr val="000000"/>
                          </a:solidFill>
                          <a:latin typeface="Raleway"/>
                        </a:rPr>
                        <a:t>Kandidat</a:t>
                      </a:r>
                      <a:r>
                        <a:rPr sz="1000" b="0">
                          <a:solidFill>
                            <a:srgbClr val="000000"/>
                          </a:solidFill>
                          <a:latin typeface="Raleway"/>
                        </a:rPr>
                        <a:t> an Diko dan Bayu  lolos HR interview di 13 Agustus 2026</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Agendakan</a:t>
                      </a:r>
                      <a:r>
                        <a:rPr sz="1000" b="0">
                          <a:solidFill>
                            <a:srgbClr val="000000"/>
                          </a:solidFill>
                          <a:latin typeface="Raleway"/>
                        </a:rPr>
                        <a:t> HR Interview Min 4 </a:t>
                      </a:r>
                      <a:r>
                        <a:rPr sz="1000" b="0" err="1">
                          <a:solidFill>
                            <a:srgbClr val="000000"/>
                          </a:solidFill>
                          <a:latin typeface="Raleway"/>
                        </a:rPr>
                        <a:t>Kandidat</a:t>
                      </a:r>
                      <a:r>
                        <a:rPr sz="1000" b="0">
                          <a:solidFill>
                            <a:srgbClr val="000000"/>
                          </a:solidFill>
                          <a:latin typeface="Raleway"/>
                        </a:rPr>
                        <a:t> di Week 34</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Agendakan</a:t>
                      </a:r>
                      <a:r>
                        <a:rPr sz="1000" b="0">
                          <a:solidFill>
                            <a:srgbClr val="000000"/>
                          </a:solidFill>
                          <a:latin typeface="Raleway"/>
                        </a:rPr>
                        <a:t> User Interview I 2 </a:t>
                      </a:r>
                      <a:r>
                        <a:rPr sz="1000" b="0" err="1">
                          <a:solidFill>
                            <a:srgbClr val="000000"/>
                          </a:solidFill>
                          <a:latin typeface="Raleway"/>
                        </a:rPr>
                        <a:t>Kandidat</a:t>
                      </a:r>
                      <a:r>
                        <a:rPr sz="1000" b="0">
                          <a:solidFill>
                            <a:srgbClr val="000000"/>
                          </a:solidFill>
                          <a:latin typeface="Raleway"/>
                        </a:rPr>
                        <a:t> an Diko dan Bayu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bl>
          </a:graphicData>
        </a:graphic>
      </p:graphicFrame>
      <p:sp>
        <p:nvSpPr>
          <p:cNvPr id="6" name="Title 1">
            <a:extLst>
              <a:ext uri="{FF2B5EF4-FFF2-40B4-BE49-F238E27FC236}">
                <a16:creationId xmlns:a16="http://schemas.microsoft.com/office/drawing/2014/main" id="{01B79464-FD53-0942-5D32-6C9B13385FAD}"/>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A9C2DE8B-5B14-950C-C3F0-69A1E8A2BBC0}"/>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2393283904"/>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5"/>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2663963">
                <a:tc>
                  <a:txBody>
                    <a:bodyPr/>
                    <a:lstStyle/>
                    <a:p>
                      <a:pPr algn="ctr">
                        <a:lnSpc>
                          <a:spcPct val="90000"/>
                        </a:lnSpc>
                        <a:spcBef>
                          <a:spcPts val="0"/>
                        </a:spcBef>
                        <a:spcAft>
                          <a:spcPts val="0"/>
                        </a:spcAft>
                      </a:pPr>
                      <a:r>
                        <a:rPr sz="1000" b="0">
                          <a:solidFill>
                            <a:srgbClr val="000000"/>
                          </a:solidFill>
                          <a:latin typeface="Raleway"/>
                        </a:rPr>
                        <a:t>16-07-2026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Maintenance Technician -  Singles</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15-08-2026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Kasanah</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1 </a:t>
                      </a:r>
                      <a:r>
                        <a:rPr sz="1000" b="0" err="1">
                          <a:solidFill>
                            <a:srgbClr val="000000"/>
                          </a:solidFill>
                          <a:latin typeface="Raleway"/>
                        </a:rPr>
                        <a:t>Kandidat</a:t>
                      </a:r>
                      <a:r>
                        <a:rPr sz="1000" b="0">
                          <a:solidFill>
                            <a:srgbClr val="000000"/>
                          </a:solidFill>
                          <a:latin typeface="Raleway"/>
                        </a:rPr>
                        <a:t> an Bagus DROP User Interview di 12 Agustus 2026</a:t>
                      </a:r>
                    </a:p>
                    <a:p>
                      <a:pPr algn="l">
                        <a:lnSpc>
                          <a:spcPct val="90000"/>
                        </a:lnSpc>
                        <a:spcBef>
                          <a:spcPts val="0"/>
                        </a:spcBef>
                        <a:spcAft>
                          <a:spcPts val="0"/>
                        </a:spcAft>
                      </a:pPr>
                      <a:r>
                        <a:rPr sz="1000" b="0">
                          <a:solidFill>
                            <a:srgbClr val="000000"/>
                          </a:solidFill>
                          <a:latin typeface="Raleway"/>
                        </a:rPr>
                        <a:t>&gt; 23 </a:t>
                      </a:r>
                      <a:r>
                        <a:rPr sz="1000" b="0" err="1">
                          <a:solidFill>
                            <a:srgbClr val="000000"/>
                          </a:solidFill>
                          <a:latin typeface="Raleway"/>
                        </a:rPr>
                        <a:t>Cvs</a:t>
                      </a:r>
                      <a:r>
                        <a:rPr sz="1000" b="0">
                          <a:solidFill>
                            <a:srgbClr val="000000"/>
                          </a:solidFill>
                          <a:latin typeface="Raleway"/>
                        </a:rPr>
                        <a:t> </a:t>
                      </a:r>
                      <a:r>
                        <a:rPr sz="1000" b="0" err="1">
                          <a:solidFill>
                            <a:srgbClr val="000000"/>
                          </a:solidFill>
                          <a:latin typeface="Raleway"/>
                        </a:rPr>
                        <a:t>sudah</a:t>
                      </a:r>
                      <a:r>
                        <a:rPr sz="1000" b="0">
                          <a:solidFill>
                            <a:srgbClr val="000000"/>
                          </a:solidFill>
                          <a:latin typeface="Raleway"/>
                        </a:rPr>
                        <a:t> </a:t>
                      </a:r>
                      <a:r>
                        <a:rPr sz="1000" b="0" err="1">
                          <a:solidFill>
                            <a:srgbClr val="000000"/>
                          </a:solidFill>
                          <a:latin typeface="Raleway"/>
                        </a:rPr>
                        <a:t>dikirimkan</a:t>
                      </a:r>
                      <a:r>
                        <a:rPr sz="1000" b="0">
                          <a:solidFill>
                            <a:srgbClr val="000000"/>
                          </a:solidFill>
                          <a:latin typeface="Raleway"/>
                        </a:rPr>
                        <a:t> pada 13 </a:t>
                      </a:r>
                      <a:r>
                        <a:rPr sz="1000" b="0" err="1">
                          <a:solidFill>
                            <a:srgbClr val="000000"/>
                          </a:solidFill>
                          <a:latin typeface="Raleway"/>
                        </a:rPr>
                        <a:t>Agutsus</a:t>
                      </a:r>
                      <a:r>
                        <a:rPr sz="1000" b="0">
                          <a:solidFill>
                            <a:srgbClr val="000000"/>
                          </a:solidFill>
                          <a:latin typeface="Raleway"/>
                        </a:rPr>
                        <a:t> 2026</a:t>
                      </a:r>
                    </a:p>
                    <a:p>
                      <a:pPr algn="l">
                        <a:lnSpc>
                          <a:spcPct val="90000"/>
                        </a:lnSpc>
                        <a:spcBef>
                          <a:spcPts val="0"/>
                        </a:spcBef>
                        <a:spcAft>
                          <a:spcPts val="0"/>
                        </a:spcAft>
                      </a:pPr>
                      <a:r>
                        <a:rPr sz="1000" b="0">
                          <a:solidFill>
                            <a:srgbClr val="000000"/>
                          </a:solidFill>
                          <a:latin typeface="Raleway"/>
                        </a:rPr>
                        <a:t>&gt; 9 </a:t>
                      </a:r>
                      <a:r>
                        <a:rPr sz="1000" b="0" err="1">
                          <a:solidFill>
                            <a:srgbClr val="000000"/>
                          </a:solidFill>
                          <a:latin typeface="Raleway"/>
                        </a:rPr>
                        <a:t>Cvs</a:t>
                      </a:r>
                      <a:r>
                        <a:rPr sz="1000" b="0">
                          <a:solidFill>
                            <a:srgbClr val="000000"/>
                          </a:solidFill>
                          <a:latin typeface="Raleway"/>
                        </a:rPr>
                        <a:t> lolos shortlisted di 13 Agustus 2026</a:t>
                      </a:r>
                    </a:p>
                    <a:p>
                      <a:pPr algn="l">
                        <a:lnSpc>
                          <a:spcPct val="90000"/>
                        </a:lnSpc>
                        <a:spcBef>
                          <a:spcPts val="0"/>
                        </a:spcBef>
                        <a:spcAft>
                          <a:spcPts val="0"/>
                        </a:spcAft>
                      </a:pPr>
                      <a:r>
                        <a:rPr sz="1000" b="0">
                          <a:solidFill>
                            <a:srgbClr val="000000"/>
                          </a:solidFill>
                          <a:latin typeface="Raleway"/>
                        </a:rPr>
                        <a:t>&gt; 2 </a:t>
                      </a:r>
                      <a:r>
                        <a:rPr sz="1000" b="0" err="1">
                          <a:solidFill>
                            <a:srgbClr val="000000"/>
                          </a:solidFill>
                          <a:latin typeface="Raleway"/>
                        </a:rPr>
                        <a:t>Kandidat</a:t>
                      </a:r>
                      <a:r>
                        <a:rPr sz="1000" b="0">
                          <a:solidFill>
                            <a:srgbClr val="000000"/>
                          </a:solidFill>
                          <a:latin typeface="Raleway"/>
                        </a:rPr>
                        <a:t> an Diko dan Bayu  lolos HR interview di 13 Agustus 2026</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Agendakan</a:t>
                      </a:r>
                      <a:r>
                        <a:rPr sz="1000" b="0">
                          <a:solidFill>
                            <a:srgbClr val="000000"/>
                          </a:solidFill>
                          <a:latin typeface="Raleway"/>
                        </a:rPr>
                        <a:t> HR Interview Min 4 </a:t>
                      </a:r>
                      <a:r>
                        <a:rPr sz="1000" b="0" err="1">
                          <a:solidFill>
                            <a:srgbClr val="000000"/>
                          </a:solidFill>
                          <a:latin typeface="Raleway"/>
                        </a:rPr>
                        <a:t>Kandidat</a:t>
                      </a:r>
                      <a:r>
                        <a:rPr sz="1000" b="0">
                          <a:solidFill>
                            <a:srgbClr val="000000"/>
                          </a:solidFill>
                          <a:latin typeface="Raleway"/>
                        </a:rPr>
                        <a:t> di Week 34</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Agendakan</a:t>
                      </a:r>
                      <a:r>
                        <a:rPr sz="1000" b="0">
                          <a:solidFill>
                            <a:srgbClr val="000000"/>
                          </a:solidFill>
                          <a:latin typeface="Raleway"/>
                        </a:rPr>
                        <a:t> User Interview I 2 </a:t>
                      </a:r>
                      <a:r>
                        <a:rPr sz="1000" b="0" err="1">
                          <a:solidFill>
                            <a:srgbClr val="000000"/>
                          </a:solidFill>
                          <a:latin typeface="Raleway"/>
                        </a:rPr>
                        <a:t>Kandidat</a:t>
                      </a:r>
                      <a:r>
                        <a:rPr sz="1000" b="0">
                          <a:solidFill>
                            <a:srgbClr val="000000"/>
                          </a:solidFill>
                          <a:latin typeface="Raleway"/>
                        </a:rPr>
                        <a:t> an Diko dan Bayu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2036052">
                <a:tc>
                  <a:txBody>
                    <a:bodyPr/>
                    <a:lstStyle/>
                    <a:p>
                      <a:pPr algn="ctr">
                        <a:lnSpc>
                          <a:spcPct val="90000"/>
                        </a:lnSpc>
                        <a:spcBef>
                          <a:spcPts val="0"/>
                        </a:spcBef>
                        <a:spcAft>
                          <a:spcPts val="0"/>
                        </a:spcAft>
                      </a:pPr>
                      <a:r>
                        <a:rPr sz="1000" b="0">
                          <a:solidFill>
                            <a:srgbClr val="000000"/>
                          </a:solidFill>
                          <a:latin typeface="Raleway"/>
                        </a:rPr>
                        <a:t>06-Nov-26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Premix Batching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07-Nov-26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Kasanah</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1 </a:t>
                      </a:r>
                      <a:r>
                        <a:rPr sz="1000" b="0" err="1">
                          <a:solidFill>
                            <a:srgbClr val="000000"/>
                          </a:solidFill>
                          <a:latin typeface="Raleway"/>
                        </a:rPr>
                        <a:t>Kandidat</a:t>
                      </a:r>
                      <a:r>
                        <a:rPr sz="1000" b="0">
                          <a:solidFill>
                            <a:srgbClr val="000000"/>
                          </a:solidFill>
                          <a:latin typeface="Raleway"/>
                        </a:rPr>
                        <a:t> an Sinta Dewi </a:t>
                      </a:r>
                      <a:r>
                        <a:rPr sz="1000" b="0" err="1">
                          <a:solidFill>
                            <a:srgbClr val="000000"/>
                          </a:solidFill>
                          <a:latin typeface="Raleway"/>
                        </a:rPr>
                        <a:t>menolak</a:t>
                      </a:r>
                      <a:r>
                        <a:rPr sz="1000" b="0">
                          <a:solidFill>
                            <a:srgbClr val="000000"/>
                          </a:solidFill>
                          <a:latin typeface="Raleway"/>
                        </a:rPr>
                        <a:t> offering call di 10 Agustus 2026 </a:t>
                      </a:r>
                      <a:r>
                        <a:rPr sz="1000" b="0" err="1">
                          <a:solidFill>
                            <a:srgbClr val="000000"/>
                          </a:solidFill>
                          <a:latin typeface="Raleway"/>
                        </a:rPr>
                        <a:t>karena</a:t>
                      </a:r>
                      <a:r>
                        <a:rPr sz="1000" b="0">
                          <a:solidFill>
                            <a:srgbClr val="000000"/>
                          </a:solidFill>
                          <a:latin typeface="Raleway"/>
                        </a:rPr>
                        <a:t> </a:t>
                      </a:r>
                      <a:r>
                        <a:rPr sz="1000" b="0" err="1">
                          <a:solidFill>
                            <a:srgbClr val="000000"/>
                          </a:solidFill>
                          <a:latin typeface="Raleway"/>
                        </a:rPr>
                        <a:t>menerima</a:t>
                      </a:r>
                      <a:r>
                        <a:rPr sz="1000" b="0">
                          <a:solidFill>
                            <a:srgbClr val="000000"/>
                          </a:solidFill>
                          <a:latin typeface="Raleway"/>
                        </a:rPr>
                        <a:t> offer di </a:t>
                      </a:r>
                      <a:r>
                        <a:rPr sz="1000" b="0" err="1">
                          <a:solidFill>
                            <a:srgbClr val="000000"/>
                          </a:solidFill>
                          <a:latin typeface="Raleway"/>
                        </a:rPr>
                        <a:t>perusahaan</a:t>
                      </a:r>
                      <a:r>
                        <a:rPr sz="1000" b="0">
                          <a:solidFill>
                            <a:srgbClr val="000000"/>
                          </a:solidFill>
                          <a:latin typeface="Raleway"/>
                        </a:rPr>
                        <a:t> lain yang </a:t>
                      </a:r>
                      <a:r>
                        <a:rPr sz="1000" b="0" err="1">
                          <a:solidFill>
                            <a:srgbClr val="000000"/>
                          </a:solidFill>
                          <a:latin typeface="Raleway"/>
                        </a:rPr>
                        <a:t>lebih</a:t>
                      </a:r>
                      <a:r>
                        <a:rPr sz="1000" b="0">
                          <a:solidFill>
                            <a:srgbClr val="000000"/>
                          </a:solidFill>
                          <a:latin typeface="Raleway"/>
                        </a:rPr>
                        <a:t> </a:t>
                      </a:r>
                      <a:r>
                        <a:rPr sz="1000" b="0" err="1">
                          <a:solidFill>
                            <a:srgbClr val="000000"/>
                          </a:solidFill>
                          <a:latin typeface="Raleway"/>
                        </a:rPr>
                        <a:t>dekat</a:t>
                      </a:r>
                      <a:r>
                        <a:rPr sz="1000" b="0">
                          <a:solidFill>
                            <a:srgbClr val="000000"/>
                          </a:solidFill>
                          <a:latin typeface="Raleway"/>
                        </a:rPr>
                        <a:t> </a:t>
                      </a:r>
                      <a:r>
                        <a:rPr sz="1000" b="0" err="1">
                          <a:solidFill>
                            <a:srgbClr val="000000"/>
                          </a:solidFill>
                          <a:latin typeface="Raleway"/>
                        </a:rPr>
                        <a:t>dengan</a:t>
                      </a:r>
                      <a:r>
                        <a:rPr sz="1000" b="0">
                          <a:solidFill>
                            <a:srgbClr val="000000"/>
                          </a:solidFill>
                          <a:latin typeface="Raleway"/>
                        </a:rPr>
                        <a:t> </a:t>
                      </a:r>
                      <a:r>
                        <a:rPr sz="1000" b="0" err="1">
                          <a:solidFill>
                            <a:srgbClr val="000000"/>
                          </a:solidFill>
                          <a:latin typeface="Raleway"/>
                        </a:rPr>
                        <a:t>domisili</a:t>
                      </a:r>
                    </a:p>
                    <a:p>
                      <a:pPr algn="l">
                        <a:lnSpc>
                          <a:spcPct val="90000"/>
                        </a:lnSpc>
                        <a:spcBef>
                          <a:spcPts val="0"/>
                        </a:spcBef>
                        <a:spcAft>
                          <a:spcPts val="0"/>
                        </a:spcAft>
                      </a:pPr>
                      <a:r>
                        <a:rPr sz="1000" b="0">
                          <a:solidFill>
                            <a:srgbClr val="000000"/>
                          </a:solidFill>
                          <a:latin typeface="Raleway"/>
                        </a:rPr>
                        <a:t>&gt; Send 15 CVs to User di 12 Agustus 2026</a:t>
                      </a:r>
                    </a:p>
                    <a:p>
                      <a:pPr algn="l">
                        <a:lnSpc>
                          <a:spcPct val="90000"/>
                        </a:lnSpc>
                        <a:spcBef>
                          <a:spcPts val="0"/>
                        </a:spcBef>
                        <a:spcAft>
                          <a:spcPts val="0"/>
                        </a:spcAft>
                      </a:pPr>
                      <a:r>
                        <a:rPr sz="1000" b="0">
                          <a:solidFill>
                            <a:srgbClr val="000000"/>
                          </a:solidFill>
                          <a:latin typeface="Raleway"/>
                        </a:rPr>
                        <a:t>&gt; 8 </a:t>
                      </a:r>
                      <a:r>
                        <a:rPr sz="1000" b="0" err="1">
                          <a:solidFill>
                            <a:srgbClr val="000000"/>
                          </a:solidFill>
                          <a:latin typeface="Raleway"/>
                        </a:rPr>
                        <a:t>Cvs</a:t>
                      </a:r>
                      <a:r>
                        <a:rPr sz="1000" b="0">
                          <a:solidFill>
                            <a:srgbClr val="000000"/>
                          </a:solidFill>
                          <a:latin typeface="Raleway"/>
                        </a:rPr>
                        <a:t> lolos shortlist di 13 Agustus 2026</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Agendakan</a:t>
                      </a:r>
                      <a:r>
                        <a:rPr sz="1000" b="0">
                          <a:solidFill>
                            <a:srgbClr val="000000"/>
                          </a:solidFill>
                          <a:latin typeface="Raleway"/>
                        </a:rPr>
                        <a:t> HR Interview 8 </a:t>
                      </a:r>
                      <a:r>
                        <a:rPr sz="1000" b="0" err="1">
                          <a:solidFill>
                            <a:srgbClr val="000000"/>
                          </a:solidFill>
                          <a:latin typeface="Raleway"/>
                        </a:rPr>
                        <a:t>Kandidat</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bl>
          </a:graphicData>
        </a:graphic>
      </p:graphicFrame>
      <p:sp>
        <p:nvSpPr>
          <p:cNvPr id="6" name="Title 1">
            <a:extLst>
              <a:ext uri="{FF2B5EF4-FFF2-40B4-BE49-F238E27FC236}">
                <a16:creationId xmlns:a16="http://schemas.microsoft.com/office/drawing/2014/main" id="{5EDF1D21-05CC-3EF5-BD79-631B8FCBD15B}"/>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B75D6448-8A98-D290-AA74-FA08350BDEA5}"/>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2076503752"/>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4"/>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656624">
                <a:tc>
                  <a:txBody>
                    <a:bodyPr/>
                    <a:lstStyle/>
                    <a:p>
                      <a:pPr algn="ctr">
                        <a:lnSpc>
                          <a:spcPct val="90000"/>
                        </a:lnSpc>
                        <a:spcBef>
                          <a:spcPts val="0"/>
                        </a:spcBef>
                        <a:spcAft>
                          <a:spcPts val="0"/>
                        </a:spcAft>
                      </a:pPr>
                      <a:r>
                        <a:rPr sz="1000" b="0">
                          <a:solidFill>
                            <a:srgbClr val="000000"/>
                          </a:solidFill>
                          <a:latin typeface="Raleway"/>
                        </a:rPr>
                        <a:t>06-Nov-26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Premix Batching Operator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MACROPRIMA PANGANUTAMA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07-Nov-26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err="1">
                          <a:solidFill>
                            <a:srgbClr val="000000"/>
                          </a:solidFill>
                          <a:latin typeface="Raleway"/>
                        </a:rPr>
                        <a:t>Kasanah</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&gt; 1 </a:t>
                      </a:r>
                      <a:r>
                        <a:rPr sz="1000" b="0" err="1">
                          <a:solidFill>
                            <a:srgbClr val="000000"/>
                          </a:solidFill>
                          <a:latin typeface="Raleway"/>
                        </a:rPr>
                        <a:t>Kandidat</a:t>
                      </a:r>
                      <a:r>
                        <a:rPr sz="1000" b="0">
                          <a:solidFill>
                            <a:srgbClr val="000000"/>
                          </a:solidFill>
                          <a:latin typeface="Raleway"/>
                        </a:rPr>
                        <a:t> an Sinta Dewi </a:t>
                      </a:r>
                      <a:r>
                        <a:rPr sz="1000" b="0" err="1">
                          <a:solidFill>
                            <a:srgbClr val="000000"/>
                          </a:solidFill>
                          <a:latin typeface="Raleway"/>
                        </a:rPr>
                        <a:t>menolak</a:t>
                      </a:r>
                      <a:r>
                        <a:rPr sz="1000" b="0">
                          <a:solidFill>
                            <a:srgbClr val="000000"/>
                          </a:solidFill>
                          <a:latin typeface="Raleway"/>
                        </a:rPr>
                        <a:t> offering call di 10 Agustus 2026 </a:t>
                      </a:r>
                      <a:r>
                        <a:rPr sz="1000" b="0" err="1">
                          <a:solidFill>
                            <a:srgbClr val="000000"/>
                          </a:solidFill>
                          <a:latin typeface="Raleway"/>
                        </a:rPr>
                        <a:t>karena</a:t>
                      </a:r>
                      <a:r>
                        <a:rPr sz="1000" b="0">
                          <a:solidFill>
                            <a:srgbClr val="000000"/>
                          </a:solidFill>
                          <a:latin typeface="Raleway"/>
                        </a:rPr>
                        <a:t> </a:t>
                      </a:r>
                      <a:r>
                        <a:rPr sz="1000" b="0" err="1">
                          <a:solidFill>
                            <a:srgbClr val="000000"/>
                          </a:solidFill>
                          <a:latin typeface="Raleway"/>
                        </a:rPr>
                        <a:t>menerima</a:t>
                      </a:r>
                      <a:r>
                        <a:rPr sz="1000" b="0">
                          <a:solidFill>
                            <a:srgbClr val="000000"/>
                          </a:solidFill>
                          <a:latin typeface="Raleway"/>
                        </a:rPr>
                        <a:t> offer di </a:t>
                      </a:r>
                      <a:r>
                        <a:rPr sz="1000" b="0" err="1">
                          <a:solidFill>
                            <a:srgbClr val="000000"/>
                          </a:solidFill>
                          <a:latin typeface="Raleway"/>
                        </a:rPr>
                        <a:t>perusahaan</a:t>
                      </a:r>
                      <a:r>
                        <a:rPr sz="1000" b="0">
                          <a:solidFill>
                            <a:srgbClr val="000000"/>
                          </a:solidFill>
                          <a:latin typeface="Raleway"/>
                        </a:rPr>
                        <a:t> lain yang </a:t>
                      </a:r>
                      <a:r>
                        <a:rPr sz="1000" b="0" err="1">
                          <a:solidFill>
                            <a:srgbClr val="000000"/>
                          </a:solidFill>
                          <a:latin typeface="Raleway"/>
                        </a:rPr>
                        <a:t>lebih</a:t>
                      </a:r>
                      <a:r>
                        <a:rPr sz="1000" b="0">
                          <a:solidFill>
                            <a:srgbClr val="000000"/>
                          </a:solidFill>
                          <a:latin typeface="Raleway"/>
                        </a:rPr>
                        <a:t> </a:t>
                      </a:r>
                      <a:r>
                        <a:rPr sz="1000" b="0" err="1">
                          <a:solidFill>
                            <a:srgbClr val="000000"/>
                          </a:solidFill>
                          <a:latin typeface="Raleway"/>
                        </a:rPr>
                        <a:t>dekat</a:t>
                      </a:r>
                      <a:r>
                        <a:rPr sz="1000" b="0">
                          <a:solidFill>
                            <a:srgbClr val="000000"/>
                          </a:solidFill>
                          <a:latin typeface="Raleway"/>
                        </a:rPr>
                        <a:t> </a:t>
                      </a:r>
                      <a:r>
                        <a:rPr sz="1000" b="0" err="1">
                          <a:solidFill>
                            <a:srgbClr val="000000"/>
                          </a:solidFill>
                          <a:latin typeface="Raleway"/>
                        </a:rPr>
                        <a:t>dengan</a:t>
                      </a:r>
                      <a:r>
                        <a:rPr sz="1000" b="0">
                          <a:solidFill>
                            <a:srgbClr val="000000"/>
                          </a:solidFill>
                          <a:latin typeface="Raleway"/>
                        </a:rPr>
                        <a:t> </a:t>
                      </a:r>
                      <a:r>
                        <a:rPr sz="1000" b="0" err="1">
                          <a:solidFill>
                            <a:srgbClr val="000000"/>
                          </a:solidFill>
                          <a:latin typeface="Raleway"/>
                        </a:rPr>
                        <a:t>domisili</a:t>
                      </a:r>
                    </a:p>
                    <a:p>
                      <a:pPr algn="l">
                        <a:lnSpc>
                          <a:spcPct val="90000"/>
                        </a:lnSpc>
                        <a:spcBef>
                          <a:spcPts val="0"/>
                        </a:spcBef>
                        <a:spcAft>
                          <a:spcPts val="0"/>
                        </a:spcAft>
                      </a:pPr>
                      <a:r>
                        <a:rPr sz="1000" b="0">
                          <a:solidFill>
                            <a:srgbClr val="000000"/>
                          </a:solidFill>
                          <a:latin typeface="Raleway"/>
                        </a:rPr>
                        <a:t>&gt; Send 15 CVs to User di 12 Agustus 2026</a:t>
                      </a:r>
                    </a:p>
                    <a:p>
                      <a:pPr algn="l">
                        <a:lnSpc>
                          <a:spcPct val="90000"/>
                        </a:lnSpc>
                        <a:spcBef>
                          <a:spcPts val="0"/>
                        </a:spcBef>
                        <a:spcAft>
                          <a:spcPts val="0"/>
                        </a:spcAft>
                      </a:pPr>
                      <a:r>
                        <a:rPr sz="1000" b="0">
                          <a:solidFill>
                            <a:srgbClr val="000000"/>
                          </a:solidFill>
                          <a:latin typeface="Raleway"/>
                        </a:rPr>
                        <a:t>&gt; 8 </a:t>
                      </a:r>
                      <a:r>
                        <a:rPr sz="1000" b="0" err="1">
                          <a:solidFill>
                            <a:srgbClr val="000000"/>
                          </a:solidFill>
                          <a:latin typeface="Raleway"/>
                        </a:rPr>
                        <a:t>Cvs</a:t>
                      </a:r>
                      <a:r>
                        <a:rPr sz="1000" b="0">
                          <a:solidFill>
                            <a:srgbClr val="000000"/>
                          </a:solidFill>
                          <a:latin typeface="Raleway"/>
                        </a:rPr>
                        <a:t> lolos shortlist di 13 Agustus 2026</a:t>
                      </a:r>
                    </a:p>
                    <a:p>
                      <a:pPr algn="l">
                        <a:lnSpc>
                          <a:spcPct val="90000"/>
                        </a:lnSpc>
                        <a:spcBef>
                          <a:spcPts val="0"/>
                        </a:spcBef>
                        <a:spcAft>
                          <a:spcPts val="0"/>
                        </a:spcAft>
                      </a:pPr>
                      <a:r>
                        <a:rPr sz="1000" b="0">
                          <a:solidFill>
                            <a:srgbClr val="000000"/>
                          </a:solidFill>
                          <a:latin typeface="Raleway"/>
                        </a:rPr>
                        <a:t>Next Action:</a:t>
                      </a:r>
                    </a:p>
                    <a:p>
                      <a:pPr algn="l">
                        <a:lnSpc>
                          <a:spcPct val="90000"/>
                        </a:lnSpc>
                        <a:spcBef>
                          <a:spcPts val="0"/>
                        </a:spcBef>
                        <a:spcAft>
                          <a:spcPts val="0"/>
                        </a:spcAft>
                      </a:pPr>
                      <a:r>
                        <a:rPr sz="1000" b="0">
                          <a:solidFill>
                            <a:srgbClr val="000000"/>
                          </a:solidFill>
                          <a:latin typeface="Raleway"/>
                        </a:rPr>
                        <a:t>&gt; </a:t>
                      </a:r>
                      <a:r>
                        <a:rPr sz="1000" b="0" err="1">
                          <a:solidFill>
                            <a:srgbClr val="000000"/>
                          </a:solidFill>
                          <a:latin typeface="Raleway"/>
                        </a:rPr>
                        <a:t>Agendakan</a:t>
                      </a:r>
                      <a:r>
                        <a:rPr sz="1000" b="0">
                          <a:solidFill>
                            <a:srgbClr val="000000"/>
                          </a:solidFill>
                          <a:latin typeface="Raleway"/>
                        </a:rPr>
                        <a:t> HR Interview 8 </a:t>
                      </a:r>
                      <a:r>
                        <a:rPr sz="1000" b="0" err="1">
                          <a:solidFill>
                            <a:srgbClr val="000000"/>
                          </a:solidFill>
                          <a:latin typeface="Raleway"/>
                        </a:rPr>
                        <a:t>Kandidat</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743357">
                <a:tc>
                  <a:txBody>
                    <a:bodyPr/>
                    <a:lstStyle/>
                    <a:p>
                      <a:pPr algn="ctr">
                        <a:lnSpc>
                          <a:spcPct val="90000"/>
                        </a:lnSpc>
                        <a:spcBef>
                          <a:spcPts val="0"/>
                        </a:spcBef>
                        <a:spcAft>
                          <a:spcPts val="0"/>
                        </a:spcAft>
                      </a:pPr>
                      <a:r>
                        <a:rPr sz="1000" b="0">
                          <a:solidFill>
                            <a:srgbClr val="000000"/>
                          </a:solidFill>
                          <a:latin typeface="Raleway"/>
                        </a:rPr>
                        <a:t>30-05-2026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Warehouse Helper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29-06-2026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Reference check an. Arif</a:t>
                      </a:r>
                    </a:p>
                    <a:p>
                      <a:pPr algn="l">
                        <a:lnSpc>
                          <a:spcPct val="90000"/>
                        </a:lnSpc>
                        <a:spcBef>
                          <a:spcPts val="0"/>
                        </a:spcBef>
                        <a:spcAft>
                          <a:spcPts val="0"/>
                        </a:spcAft>
                      </a:pPr>
                      <a:r>
                        <a:rPr sz="1000" b="0">
                          <a:solidFill>
                            <a:srgbClr val="000000"/>
                          </a:solidFill>
                          <a:latin typeface="Raleway"/>
                        </a:rPr>
                        <a:t>Next Week: Proses approval OL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743357">
                <a:tc>
                  <a:txBody>
                    <a:bodyPr/>
                    <a:lstStyle/>
                    <a:p>
                      <a:pPr algn="ctr">
                        <a:lnSpc>
                          <a:spcPct val="90000"/>
                        </a:lnSpc>
                        <a:spcBef>
                          <a:spcPts val="0"/>
                        </a:spcBef>
                        <a:spcAft>
                          <a:spcPts val="0"/>
                        </a:spcAft>
                      </a:pPr>
                      <a:r>
                        <a:rPr sz="1000" b="0">
                          <a:solidFill>
                            <a:srgbClr val="000000"/>
                          </a:solidFill>
                          <a:latin typeface="Raleway"/>
                        </a:rPr>
                        <a:t>20-07-2026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Warehouse Helper</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19-08-2026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Proses approval OL an. Adni Riansyah.</a:t>
                      </a:r>
                    </a:p>
                    <a:p>
                      <a:pPr algn="l">
                        <a:lnSpc>
                          <a:spcPct val="90000"/>
                        </a:lnSpc>
                        <a:spcBef>
                          <a:spcPts val="0"/>
                        </a:spcBef>
                        <a:spcAft>
                          <a:spcPts val="0"/>
                        </a:spcAft>
                      </a:pPr>
                      <a:r>
                        <a:rPr sz="1000" b="0">
                          <a:solidFill>
                            <a:srgbClr val="000000"/>
                          </a:solidFill>
                          <a:latin typeface="Raleway"/>
                        </a:rPr>
                        <a:t>Next Week: Proses offer dan </a:t>
                      </a:r>
                      <a:r>
                        <a:rPr sz="1000" b="0" err="1">
                          <a:solidFill>
                            <a:srgbClr val="000000"/>
                          </a:solidFill>
                          <a:latin typeface="Raleway"/>
                        </a:rPr>
                        <a:t>administrasi</a:t>
                      </a:r>
                      <a:r>
                        <a:rPr sz="1000" b="0">
                          <a:solidFill>
                            <a:srgbClr val="000000"/>
                          </a:solidFill>
                          <a:latin typeface="Raleway"/>
                        </a:rPr>
                        <a:t>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778338">
                <a:tc>
                  <a:txBody>
                    <a:bodyPr/>
                    <a:lstStyle/>
                    <a:p>
                      <a:pPr algn="ctr">
                        <a:lnSpc>
                          <a:spcPct val="90000"/>
                        </a:lnSpc>
                        <a:spcBef>
                          <a:spcPts val="0"/>
                        </a:spcBef>
                        <a:spcAft>
                          <a:spcPts val="0"/>
                        </a:spcAft>
                      </a:pPr>
                      <a:r>
                        <a:rPr sz="1000" b="0">
                          <a:solidFill>
                            <a:srgbClr val="000000"/>
                          </a:solidFill>
                          <a:latin typeface="Raleway"/>
                        </a:rPr>
                        <a:t>08-Nov-26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Promotion Girl - DIST Jakarta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09-Oct-26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Souring </a:t>
                      </a:r>
                      <a:r>
                        <a:rPr sz="1000" b="0" err="1">
                          <a:solidFill>
                            <a:srgbClr val="000000"/>
                          </a:solidFill>
                          <a:latin typeface="Raleway"/>
                        </a:rPr>
                        <a:t>kandidat</a:t>
                      </a:r>
                    </a:p>
                    <a:p>
                      <a:pPr algn="l">
                        <a:lnSpc>
                          <a:spcPct val="90000"/>
                        </a:lnSpc>
                        <a:spcBef>
                          <a:spcPts val="0"/>
                        </a:spcBef>
                        <a:spcAft>
                          <a:spcPts val="0"/>
                        </a:spcAft>
                      </a:pPr>
                      <a:r>
                        <a:rPr sz="1000" b="0">
                          <a:solidFill>
                            <a:srgbClr val="000000"/>
                          </a:solidFill>
                          <a:latin typeface="Raleway"/>
                        </a:rPr>
                        <a:t>Next Week: interview HR dan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r h="778338">
                <a:tc>
                  <a:txBody>
                    <a:bodyPr/>
                    <a:lstStyle/>
                    <a:p>
                      <a:pPr algn="ctr">
                        <a:lnSpc>
                          <a:spcPct val="90000"/>
                        </a:lnSpc>
                        <a:spcBef>
                          <a:spcPts val="0"/>
                        </a:spcBef>
                        <a:spcAft>
                          <a:spcPts val="0"/>
                        </a:spcAft>
                      </a:pPr>
                      <a:r>
                        <a:rPr sz="1000" b="0">
                          <a:solidFill>
                            <a:srgbClr val="000000"/>
                          </a:solidFill>
                          <a:latin typeface="Raleway"/>
                        </a:rPr>
                        <a:t>08-Nov-26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Promotion Girl - DIST Jakarta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09-Oct-26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Souring </a:t>
                      </a:r>
                      <a:r>
                        <a:rPr sz="1000" b="0" err="1">
                          <a:solidFill>
                            <a:srgbClr val="000000"/>
                          </a:solidFill>
                          <a:latin typeface="Raleway"/>
                        </a:rPr>
                        <a:t>kandidat</a:t>
                      </a:r>
                    </a:p>
                    <a:p>
                      <a:pPr algn="l">
                        <a:lnSpc>
                          <a:spcPct val="90000"/>
                        </a:lnSpc>
                        <a:spcBef>
                          <a:spcPts val="0"/>
                        </a:spcBef>
                        <a:spcAft>
                          <a:spcPts val="0"/>
                        </a:spcAft>
                      </a:pPr>
                      <a:r>
                        <a:rPr sz="1000" b="0">
                          <a:solidFill>
                            <a:srgbClr val="000000"/>
                          </a:solidFill>
                          <a:latin typeface="Raleway"/>
                        </a:rPr>
                        <a:t>Next Week: interview HR dan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5"/>
                  </a:ext>
                </a:extLst>
              </a:tr>
            </a:tbl>
          </a:graphicData>
        </a:graphic>
      </p:graphicFrame>
      <p:sp>
        <p:nvSpPr>
          <p:cNvPr id="6" name="Title 1">
            <a:extLst>
              <a:ext uri="{FF2B5EF4-FFF2-40B4-BE49-F238E27FC236}">
                <a16:creationId xmlns:a16="http://schemas.microsoft.com/office/drawing/2014/main" id="{801E3A80-0B65-1808-68F2-3AE7C643D1EF}"/>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2C34342F-4587-E3EE-C4B0-27B33856C8BE}"/>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4270420693"/>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4"/>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lang="en-US" sz="1000" b="1">
                          <a:solidFill>
                            <a:srgbClr val="FFFFFF"/>
                          </a:solidFill>
                          <a:latin typeface="Raleway"/>
                        </a:rPr>
                        <a:t>FPTK</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941696">
                <a:tc>
                  <a:txBody>
                    <a:bodyPr/>
                    <a:lstStyle/>
                    <a:p>
                      <a:pPr algn="ctr">
                        <a:lnSpc>
                          <a:spcPct val="90000"/>
                        </a:lnSpc>
                        <a:spcBef>
                          <a:spcPts val="0"/>
                        </a:spcBef>
                        <a:spcAft>
                          <a:spcPts val="0"/>
                        </a:spcAft>
                      </a:pPr>
                      <a:r>
                        <a:rPr sz="1000" b="0">
                          <a:solidFill>
                            <a:srgbClr val="000000"/>
                          </a:solidFill>
                          <a:latin typeface="Raleway"/>
                        </a:rPr>
                        <a:t>08-Nov-26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Promotion Girl - DIST Jakarta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09-Oct-26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Souring </a:t>
                      </a:r>
                      <a:r>
                        <a:rPr sz="1000" b="0" err="1">
                          <a:solidFill>
                            <a:srgbClr val="000000"/>
                          </a:solidFill>
                          <a:latin typeface="Raleway"/>
                        </a:rPr>
                        <a:t>kandidat</a:t>
                      </a:r>
                    </a:p>
                    <a:p>
                      <a:pPr algn="l">
                        <a:lnSpc>
                          <a:spcPct val="90000"/>
                        </a:lnSpc>
                        <a:spcBef>
                          <a:spcPts val="0"/>
                        </a:spcBef>
                        <a:spcAft>
                          <a:spcPts val="0"/>
                        </a:spcAft>
                      </a:pPr>
                      <a:r>
                        <a:rPr sz="1000" b="0">
                          <a:solidFill>
                            <a:srgbClr val="000000"/>
                          </a:solidFill>
                          <a:latin typeface="Raleway"/>
                        </a:rPr>
                        <a:t>Next Week: interview HR dan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933231">
                <a:tc>
                  <a:txBody>
                    <a:bodyPr/>
                    <a:lstStyle/>
                    <a:p>
                      <a:pPr algn="ctr">
                        <a:lnSpc>
                          <a:spcPct val="90000"/>
                        </a:lnSpc>
                        <a:spcBef>
                          <a:spcPts val="0"/>
                        </a:spcBef>
                        <a:spcAft>
                          <a:spcPts val="0"/>
                        </a:spcAft>
                      </a:pPr>
                      <a:r>
                        <a:rPr sz="1000" b="0">
                          <a:solidFill>
                            <a:srgbClr val="000000"/>
                          </a:solidFill>
                          <a:latin typeface="Raleway"/>
                        </a:rPr>
                        <a:t>08-Nov-26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Promotion Girl - Cab Bandung</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09-Oct-26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Souring </a:t>
                      </a:r>
                      <a:r>
                        <a:rPr sz="1000" b="0" err="1">
                          <a:solidFill>
                            <a:srgbClr val="000000"/>
                          </a:solidFill>
                          <a:latin typeface="Raleway"/>
                        </a:rPr>
                        <a:t>kandidat</a:t>
                      </a:r>
                    </a:p>
                    <a:p>
                      <a:pPr algn="l">
                        <a:lnSpc>
                          <a:spcPct val="90000"/>
                        </a:lnSpc>
                        <a:spcBef>
                          <a:spcPts val="0"/>
                        </a:spcBef>
                        <a:spcAft>
                          <a:spcPts val="0"/>
                        </a:spcAft>
                      </a:pPr>
                      <a:r>
                        <a:rPr sz="1000" b="0">
                          <a:solidFill>
                            <a:srgbClr val="000000"/>
                          </a:solidFill>
                          <a:latin typeface="Raleway"/>
                        </a:rPr>
                        <a:t>Next Week: interview HR dan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933231">
                <a:tc>
                  <a:txBody>
                    <a:bodyPr/>
                    <a:lstStyle/>
                    <a:p>
                      <a:pPr algn="ctr">
                        <a:lnSpc>
                          <a:spcPct val="90000"/>
                        </a:lnSpc>
                        <a:spcBef>
                          <a:spcPts val="0"/>
                        </a:spcBef>
                        <a:spcAft>
                          <a:spcPts val="0"/>
                        </a:spcAft>
                      </a:pPr>
                      <a:r>
                        <a:rPr sz="1000" b="0">
                          <a:solidFill>
                            <a:srgbClr val="000000"/>
                          </a:solidFill>
                          <a:latin typeface="Raleway"/>
                        </a:rPr>
                        <a:t>08-Nov-26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Promotion Girl - Cab Bandung</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09-Oct-26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Souring </a:t>
                      </a:r>
                      <a:r>
                        <a:rPr sz="1000" b="0" err="1">
                          <a:solidFill>
                            <a:srgbClr val="000000"/>
                          </a:solidFill>
                          <a:latin typeface="Raleway"/>
                        </a:rPr>
                        <a:t>kandidat</a:t>
                      </a:r>
                    </a:p>
                    <a:p>
                      <a:pPr algn="l">
                        <a:lnSpc>
                          <a:spcPct val="90000"/>
                        </a:lnSpc>
                        <a:spcBef>
                          <a:spcPts val="0"/>
                        </a:spcBef>
                        <a:spcAft>
                          <a:spcPts val="0"/>
                        </a:spcAft>
                      </a:pPr>
                      <a:r>
                        <a:rPr sz="1000" b="0">
                          <a:solidFill>
                            <a:srgbClr val="000000"/>
                          </a:solidFill>
                          <a:latin typeface="Raleway"/>
                        </a:rPr>
                        <a:t>Next Week: interview HR dan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r h="933231">
                <a:tc>
                  <a:txBody>
                    <a:bodyPr/>
                    <a:lstStyle/>
                    <a:p>
                      <a:pPr algn="ctr">
                        <a:lnSpc>
                          <a:spcPct val="90000"/>
                        </a:lnSpc>
                        <a:spcBef>
                          <a:spcPts val="0"/>
                        </a:spcBef>
                        <a:spcAft>
                          <a:spcPts val="0"/>
                        </a:spcAft>
                      </a:pPr>
                      <a:r>
                        <a:rPr sz="1000" b="0">
                          <a:solidFill>
                            <a:srgbClr val="000000"/>
                          </a:solidFill>
                          <a:latin typeface="Raleway"/>
                        </a:rPr>
                        <a:t>08-Nov-26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Promotion Girl - Cab Bandung</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REPLACEMENT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09-Oct-26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Souring </a:t>
                      </a:r>
                      <a:r>
                        <a:rPr sz="1000" b="0" err="1">
                          <a:solidFill>
                            <a:srgbClr val="000000"/>
                          </a:solidFill>
                          <a:latin typeface="Raleway"/>
                        </a:rPr>
                        <a:t>kandidat</a:t>
                      </a:r>
                    </a:p>
                    <a:p>
                      <a:pPr algn="l">
                        <a:lnSpc>
                          <a:spcPct val="90000"/>
                        </a:lnSpc>
                        <a:spcBef>
                          <a:spcPts val="0"/>
                        </a:spcBef>
                        <a:spcAft>
                          <a:spcPts val="0"/>
                        </a:spcAft>
                      </a:pPr>
                      <a:r>
                        <a:rPr sz="1000" b="0">
                          <a:solidFill>
                            <a:srgbClr val="000000"/>
                          </a:solidFill>
                          <a:latin typeface="Raleway"/>
                        </a:rPr>
                        <a:t>Next Week: interview HR dan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4"/>
                  </a:ext>
                </a:extLst>
              </a:tr>
              <a:tr h="958625">
                <a:tc>
                  <a:txBody>
                    <a:bodyPr/>
                    <a:lstStyle/>
                    <a:p>
                      <a:pPr algn="ctr">
                        <a:lnSpc>
                          <a:spcPct val="90000"/>
                        </a:lnSpc>
                        <a:spcBef>
                          <a:spcPts val="0"/>
                        </a:spcBef>
                        <a:spcAft>
                          <a:spcPts val="0"/>
                        </a:spcAft>
                      </a:pPr>
                      <a:r>
                        <a:rPr sz="1000" b="0">
                          <a:solidFill>
                            <a:srgbClr val="000000"/>
                          </a:solidFill>
                          <a:latin typeface="Raleway"/>
                        </a:rPr>
                        <a:t>08-Nov-26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Promotion Girl - Cab Yogyakarta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09-Oct-26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Souring </a:t>
                      </a:r>
                      <a:r>
                        <a:rPr sz="1000" b="0" err="1">
                          <a:solidFill>
                            <a:srgbClr val="000000"/>
                          </a:solidFill>
                          <a:latin typeface="Raleway"/>
                        </a:rPr>
                        <a:t>kandidat</a:t>
                      </a:r>
                    </a:p>
                    <a:p>
                      <a:pPr algn="l">
                        <a:lnSpc>
                          <a:spcPct val="90000"/>
                        </a:lnSpc>
                        <a:spcBef>
                          <a:spcPts val="0"/>
                        </a:spcBef>
                        <a:spcAft>
                          <a:spcPts val="0"/>
                        </a:spcAft>
                      </a:pPr>
                      <a:r>
                        <a:rPr sz="1000" b="0">
                          <a:solidFill>
                            <a:srgbClr val="000000"/>
                          </a:solidFill>
                          <a:latin typeface="Raleway"/>
                        </a:rPr>
                        <a:t>Next Week: interview HR dan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5"/>
                  </a:ext>
                </a:extLst>
              </a:tr>
            </a:tbl>
          </a:graphicData>
        </a:graphic>
      </p:graphicFrame>
      <p:sp>
        <p:nvSpPr>
          <p:cNvPr id="6" name="Title 1">
            <a:extLst>
              <a:ext uri="{FF2B5EF4-FFF2-40B4-BE49-F238E27FC236}">
                <a16:creationId xmlns:a16="http://schemas.microsoft.com/office/drawing/2014/main" id="{9CD191CC-D532-1489-4891-0219A151D98D}"/>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7144ECDF-FE9E-CDBA-94B5-1032ADB0A630}"/>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730397328"/>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nvGraphicFramePr>
        <p:xfrm>
          <a:off x="182880" y="786384"/>
          <a:ext cx="11786616" cy="5614414"/>
        </p:xfrm>
        <a:graphic>
          <a:graphicData uri="http://schemas.openxmlformats.org/drawingml/2006/table">
            <a:tbl>
              <a:tblPr firstRow="1" bandRow="1">
                <a:tableStyleId>{5C22544A-7EE6-4342-B048-85BDC9FD1C3A}</a:tableStyleId>
              </a:tblPr>
              <a:tblGrid>
                <a:gridCol w="731520">
                  <a:extLst>
                    <a:ext uri="{9D8B030D-6E8A-4147-A177-3AD203B41FA5}">
                      <a16:colId xmlns:a16="http://schemas.microsoft.com/office/drawing/2014/main" val="20000"/>
                    </a:ext>
                  </a:extLst>
                </a:gridCol>
                <a:gridCol w="1353312">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gridCol w="1060704">
                  <a:extLst>
                    <a:ext uri="{9D8B030D-6E8A-4147-A177-3AD203B41FA5}">
                      <a16:colId xmlns:a16="http://schemas.microsoft.com/office/drawing/2014/main" val="20003"/>
                    </a:ext>
                  </a:extLst>
                </a:gridCol>
                <a:gridCol w="905256">
                  <a:extLst>
                    <a:ext uri="{9D8B030D-6E8A-4147-A177-3AD203B41FA5}">
                      <a16:colId xmlns:a16="http://schemas.microsoft.com/office/drawing/2014/main" val="20004"/>
                    </a:ext>
                  </a:extLst>
                </a:gridCol>
                <a:gridCol w="548640">
                  <a:extLst>
                    <a:ext uri="{9D8B030D-6E8A-4147-A177-3AD203B41FA5}">
                      <a16:colId xmlns:a16="http://schemas.microsoft.com/office/drawing/2014/main" val="20005"/>
                    </a:ext>
                  </a:extLst>
                </a:gridCol>
                <a:gridCol w="640080">
                  <a:extLst>
                    <a:ext uri="{9D8B030D-6E8A-4147-A177-3AD203B41FA5}">
                      <a16:colId xmlns:a16="http://schemas.microsoft.com/office/drawing/2014/main" val="20006"/>
                    </a:ext>
                  </a:extLst>
                </a:gridCol>
                <a:gridCol w="612648">
                  <a:extLst>
                    <a:ext uri="{9D8B030D-6E8A-4147-A177-3AD203B41FA5}">
                      <a16:colId xmlns:a16="http://schemas.microsoft.com/office/drawing/2014/main" val="20007"/>
                    </a:ext>
                  </a:extLst>
                </a:gridCol>
                <a:gridCol w="603504">
                  <a:extLst>
                    <a:ext uri="{9D8B030D-6E8A-4147-A177-3AD203B41FA5}">
                      <a16:colId xmlns:a16="http://schemas.microsoft.com/office/drawing/2014/main" val="20008"/>
                    </a:ext>
                  </a:extLst>
                </a:gridCol>
                <a:gridCol w="4736592">
                  <a:extLst>
                    <a:ext uri="{9D8B030D-6E8A-4147-A177-3AD203B41FA5}">
                      <a16:colId xmlns:a16="http://schemas.microsoft.com/office/drawing/2014/main" val="20009"/>
                    </a:ext>
                  </a:extLst>
                </a:gridCol>
              </a:tblGrid>
              <a:tr h="658368">
                <a:tc>
                  <a:txBody>
                    <a:bodyPr/>
                    <a:lstStyle/>
                    <a:p>
                      <a:pPr algn="ctr">
                        <a:lnSpc>
                          <a:spcPct val="90000"/>
                        </a:lnSpc>
                        <a:spcBef>
                          <a:spcPts val="0"/>
                        </a:spcBef>
                        <a:spcAft>
                          <a:spcPts val="0"/>
                        </a:spcAft>
                      </a:pPr>
                      <a:r>
                        <a:rPr sz="1000" b="1" err="1">
                          <a:solidFill>
                            <a:srgbClr val="FFFFFF"/>
                          </a:solidFill>
                          <a:latin typeface="Raleway"/>
                        </a:rPr>
                        <a:t>Tanggal</a:t>
                      </a:r>
                    </a:p>
                    <a:p>
                      <a:pPr algn="ctr">
                        <a:lnSpc>
                          <a:spcPct val="90000"/>
                        </a:lnSpc>
                        <a:spcBef>
                          <a:spcPts val="0"/>
                        </a:spcBef>
                        <a:spcAft>
                          <a:spcPts val="0"/>
                        </a:spcAft>
                      </a:pPr>
                      <a:r>
                        <a:rPr sz="1000" b="1">
                          <a:solidFill>
                            <a:srgbClr val="FFFFFF"/>
                          </a:solidFill>
                          <a:latin typeface="Raleway"/>
                        </a:rPr>
                        <a:t>FPTK</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Posisi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Level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Business</a:t>
                      </a:r>
                    </a:p>
                    <a:p>
                      <a:pPr algn="ctr">
                        <a:lnSpc>
                          <a:spcPct val="90000"/>
                        </a:lnSpc>
                        <a:spcBef>
                          <a:spcPts val="0"/>
                        </a:spcBef>
                        <a:spcAft>
                          <a:spcPts val="0"/>
                        </a:spcAft>
                      </a:pPr>
                      <a:r>
                        <a:rPr sz="1000" b="1">
                          <a:solidFill>
                            <a:srgbClr val="FFFFFF"/>
                          </a:solidFill>
                          <a:latin typeface="Raleway"/>
                        </a:rPr>
                        <a:t>Unit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Kategori</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SLA</a:t>
                      </a:r>
                    </a:p>
                    <a:p>
                      <a:pPr algn="ctr">
                        <a:lnSpc>
                          <a:spcPct val="90000"/>
                        </a:lnSpc>
                        <a:spcBef>
                          <a:spcPts val="0"/>
                        </a:spcBef>
                        <a:spcAft>
                          <a:spcPts val="0"/>
                        </a:spcAft>
                      </a:pPr>
                      <a:r>
                        <a:rPr sz="1000" b="1">
                          <a:solidFill>
                            <a:srgbClr val="FFFFFF"/>
                          </a:solidFill>
                          <a:latin typeface="Raleway"/>
                        </a:rPr>
                        <a:t>Target</a:t>
                      </a:r>
                    </a:p>
                    <a:p>
                      <a:pPr algn="ctr">
                        <a:lnSpc>
                          <a:spcPct val="90000"/>
                        </a:lnSpc>
                        <a:spcBef>
                          <a:spcPts val="0"/>
                        </a:spcBef>
                        <a:spcAft>
                          <a:spcPts val="0"/>
                        </a:spcAft>
                      </a:pPr>
                      <a:r>
                        <a:rPr sz="1000" b="1" err="1">
                          <a:solidFill>
                            <a:srgbClr val="FFFFFF"/>
                          </a:solidFill>
                          <a:latin typeface="Raleway"/>
                        </a:rPr>
                        <a:t>Pemenuhan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PIC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err="1">
                          <a:solidFill>
                            <a:srgbClr val="FFFFFF"/>
                          </a:solidFill>
                          <a:latin typeface="Raleway"/>
                        </a:rPr>
                        <a:t>Jumlah</a:t>
                      </a:r>
                    </a:p>
                    <a:p>
                      <a:pPr algn="ctr">
                        <a:lnSpc>
                          <a:spcPct val="90000"/>
                        </a:lnSpc>
                        <a:spcBef>
                          <a:spcPts val="0"/>
                        </a:spcBef>
                        <a:spcAft>
                          <a:spcPts val="0"/>
                        </a:spcAft>
                      </a:pPr>
                      <a:r>
                        <a:rPr sz="1000" b="1" err="1">
                          <a:solidFill>
                            <a:srgbClr val="FFFFFF"/>
                          </a:solidFill>
                          <a:latin typeface="Raleway"/>
                        </a:rPr>
                        <a:t>Permintaan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Status</a:t>
                      </a:r>
                    </a:p>
                    <a:p>
                      <a:pPr algn="ctr">
                        <a:lnSpc>
                          <a:spcPct val="90000"/>
                        </a:lnSpc>
                        <a:spcBef>
                          <a:spcPts val="0"/>
                        </a:spcBef>
                        <a:spcAft>
                          <a:spcPts val="0"/>
                        </a:spcAft>
                      </a:pPr>
                      <a:r>
                        <a:rPr sz="1000" b="1" err="1">
                          <a:solidFill>
                            <a:srgbClr val="FFFFFF"/>
                          </a:solidFill>
                          <a:latin typeface="Raleway"/>
                        </a:rPr>
                        <a:t>Rekrutmen</a:t>
                      </a:r>
                      <a:endParaRPr sz="1000" b="1">
                        <a:solidFill>
                          <a:srgbClr val="FFFFFF"/>
                        </a:solidFill>
                        <a:latin typeface="Raleway"/>
                      </a:endParaRP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lnSpc>
                          <a:spcPct val="90000"/>
                        </a:lnSpc>
                        <a:spcBef>
                          <a:spcPts val="0"/>
                        </a:spcBef>
                        <a:spcAft>
                          <a:spcPts val="0"/>
                        </a:spcAft>
                      </a:pPr>
                      <a:r>
                        <a:rPr sz="1000" b="1">
                          <a:solidFill>
                            <a:srgbClr val="FFFFFF"/>
                          </a:solidFill>
                          <a:latin typeface="Raleway"/>
                        </a:rPr>
                        <a:t>Recruitment Update</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0000"/>
                  </a:ext>
                </a:extLst>
              </a:tr>
              <a:tr h="1585336">
                <a:tc>
                  <a:txBody>
                    <a:bodyPr/>
                    <a:lstStyle/>
                    <a:p>
                      <a:pPr algn="ctr">
                        <a:lnSpc>
                          <a:spcPct val="90000"/>
                        </a:lnSpc>
                        <a:spcBef>
                          <a:spcPts val="0"/>
                        </a:spcBef>
                        <a:spcAft>
                          <a:spcPts val="0"/>
                        </a:spcAft>
                      </a:pPr>
                      <a:r>
                        <a:rPr sz="1000" b="0">
                          <a:solidFill>
                            <a:srgbClr val="000000"/>
                          </a:solidFill>
                          <a:latin typeface="Raleway"/>
                        </a:rPr>
                        <a:t>08-Nov-26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Promotion Girl - Cab Yogyakarta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09-Oct-26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Souring </a:t>
                      </a:r>
                      <a:r>
                        <a:rPr sz="1000" b="0" err="1">
                          <a:solidFill>
                            <a:srgbClr val="000000"/>
                          </a:solidFill>
                          <a:latin typeface="Raleway"/>
                        </a:rPr>
                        <a:t>kandidat</a:t>
                      </a:r>
                    </a:p>
                    <a:p>
                      <a:pPr algn="l">
                        <a:lnSpc>
                          <a:spcPct val="90000"/>
                        </a:lnSpc>
                        <a:spcBef>
                          <a:spcPts val="0"/>
                        </a:spcBef>
                        <a:spcAft>
                          <a:spcPts val="0"/>
                        </a:spcAft>
                      </a:pPr>
                      <a:r>
                        <a:rPr sz="1000" b="0">
                          <a:solidFill>
                            <a:srgbClr val="000000"/>
                          </a:solidFill>
                          <a:latin typeface="Raleway"/>
                        </a:rPr>
                        <a:t>Next Week: interview HR dan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1"/>
                  </a:ext>
                </a:extLst>
              </a:tr>
              <a:tr h="1557339">
                <a:tc>
                  <a:txBody>
                    <a:bodyPr/>
                    <a:lstStyle/>
                    <a:p>
                      <a:pPr algn="ctr">
                        <a:lnSpc>
                          <a:spcPct val="90000"/>
                        </a:lnSpc>
                        <a:spcBef>
                          <a:spcPts val="0"/>
                        </a:spcBef>
                        <a:spcAft>
                          <a:spcPts val="0"/>
                        </a:spcAft>
                      </a:pPr>
                      <a:r>
                        <a:rPr sz="1000" b="0">
                          <a:solidFill>
                            <a:srgbClr val="000000"/>
                          </a:solidFill>
                          <a:latin typeface="Raleway"/>
                        </a:rPr>
                        <a:t>08-Nov-26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lang="en-US" sz="1000" b="0" err="1">
                          <a:solidFill>
                            <a:srgbClr val="000000"/>
                          </a:solidFill>
                          <a:latin typeface="Raleway"/>
                        </a:rPr>
                        <a:t>SaleQs</a:t>
                      </a:r>
                      <a:r>
                        <a:rPr sz="1000" b="0">
                          <a:solidFill>
                            <a:srgbClr val="000000"/>
                          </a:solidFill>
                          <a:latin typeface="Raleway"/>
                        </a:rPr>
                        <a:t> Promotion Girl - Cab Surabaya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09-Oct-26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Souring </a:t>
                      </a:r>
                      <a:r>
                        <a:rPr sz="1000" b="0" err="1">
                          <a:solidFill>
                            <a:srgbClr val="000000"/>
                          </a:solidFill>
                          <a:latin typeface="Raleway"/>
                        </a:rPr>
                        <a:t>kandidat</a:t>
                      </a:r>
                    </a:p>
                    <a:p>
                      <a:pPr algn="l">
                        <a:lnSpc>
                          <a:spcPct val="90000"/>
                        </a:lnSpc>
                        <a:spcBef>
                          <a:spcPts val="0"/>
                        </a:spcBef>
                        <a:spcAft>
                          <a:spcPts val="0"/>
                        </a:spcAft>
                      </a:pPr>
                      <a:r>
                        <a:rPr sz="1000" b="0">
                          <a:solidFill>
                            <a:srgbClr val="000000"/>
                          </a:solidFill>
                          <a:latin typeface="Raleway"/>
                        </a:rPr>
                        <a:t>Next Week: interview HR dan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2"/>
                  </a:ext>
                </a:extLst>
              </a:tr>
              <a:tr h="1557339">
                <a:tc>
                  <a:txBody>
                    <a:bodyPr/>
                    <a:lstStyle/>
                    <a:p>
                      <a:pPr algn="ctr">
                        <a:lnSpc>
                          <a:spcPct val="90000"/>
                        </a:lnSpc>
                        <a:spcBef>
                          <a:spcPts val="0"/>
                        </a:spcBef>
                        <a:spcAft>
                          <a:spcPts val="0"/>
                        </a:spcAft>
                      </a:pPr>
                      <a:r>
                        <a:rPr sz="1000" b="0">
                          <a:solidFill>
                            <a:srgbClr val="000000"/>
                          </a:solidFill>
                          <a:latin typeface="Raleway"/>
                        </a:rPr>
                        <a:t>08-Nov-26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Sales Promotion Girl - Cab Surabaya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PT MACROSENTRA NIAGABOGA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NEW</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09-Oct-26</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Leo</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ctr">
                        <a:lnSpc>
                          <a:spcPct val="90000"/>
                        </a:lnSpc>
                        <a:spcBef>
                          <a:spcPts val="0"/>
                        </a:spcBef>
                        <a:spcAft>
                          <a:spcPts val="0"/>
                        </a:spcAft>
                      </a:pPr>
                      <a:r>
                        <a:rPr sz="1000" b="0">
                          <a:solidFill>
                            <a:srgbClr val="000000"/>
                          </a:solidFill>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tc>
                  <a:txBody>
                    <a:bodyPr/>
                    <a:lstStyle/>
                    <a:p>
                      <a:pPr algn="l">
                        <a:lnSpc>
                          <a:spcPct val="90000"/>
                        </a:lnSpc>
                        <a:spcBef>
                          <a:spcPts val="0"/>
                        </a:spcBef>
                        <a:spcAft>
                          <a:spcPts val="0"/>
                        </a:spcAft>
                      </a:pPr>
                      <a:r>
                        <a:rPr sz="1000" b="0">
                          <a:solidFill>
                            <a:srgbClr val="000000"/>
                          </a:solidFill>
                          <a:latin typeface="Raleway"/>
                        </a:rPr>
                        <a:t>Week 33: Souring </a:t>
                      </a:r>
                      <a:r>
                        <a:rPr sz="1000" b="0" err="1">
                          <a:solidFill>
                            <a:srgbClr val="000000"/>
                          </a:solidFill>
                          <a:latin typeface="Raleway"/>
                        </a:rPr>
                        <a:t>kandidat</a:t>
                      </a:r>
                    </a:p>
                    <a:p>
                      <a:pPr algn="l">
                        <a:lnSpc>
                          <a:spcPct val="90000"/>
                        </a:lnSpc>
                        <a:spcBef>
                          <a:spcPts val="0"/>
                        </a:spcBef>
                        <a:spcAft>
                          <a:spcPts val="0"/>
                        </a:spcAft>
                      </a:pPr>
                      <a:r>
                        <a:rPr sz="1000" b="0">
                          <a:solidFill>
                            <a:srgbClr val="000000"/>
                          </a:solidFill>
                          <a:latin typeface="Raleway"/>
                        </a:rPr>
                        <a:t>Next Week: interview HR dan user di week 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FFFFFF"/>
                    </a:solidFill>
                  </a:tcPr>
                </a:tc>
                <a:extLst>
                  <a:ext uri="{0D108BD9-81ED-4DB2-BD59-A6C34878D82A}">
                    <a16:rowId xmlns:a16="http://schemas.microsoft.com/office/drawing/2014/main" val="10003"/>
                  </a:ext>
                </a:extLst>
              </a:tr>
            </a:tbl>
          </a:graphicData>
        </a:graphic>
      </p:graphicFrame>
      <p:sp>
        <p:nvSpPr>
          <p:cNvPr id="6" name="Title 1">
            <a:extLst>
              <a:ext uri="{FF2B5EF4-FFF2-40B4-BE49-F238E27FC236}">
                <a16:creationId xmlns:a16="http://schemas.microsoft.com/office/drawing/2014/main" id="{8EEE3D0C-3300-906F-BEE3-BCA699AE9C64}"/>
              </a:ext>
            </a:extLst>
          </p:cNvPr>
          <p:cNvSpPr txBox="1">
            <a:spLocks/>
          </p:cNvSpPr>
          <p:nvPr/>
        </p:nvSpPr>
        <p:spPr>
          <a:xfrm>
            <a:off x="1599579" y="178657"/>
            <a:ext cx="8958197" cy="479900"/>
          </a:xfrm>
          <a:prstGeom prst="rect">
            <a:avLst/>
          </a:prstGeom>
        </p:spPr>
        <p:txBody>
          <a:bodyPr vert="horz" lIns="91440" tIns="45720" rIns="91440" bIns="45720" rtlCol="0" anchor="ctr">
            <a:normAutofit/>
          </a:bodyPr>
          <a:lstStyle>
            <a:defPPr>
              <a:defRPr lang="en-US"/>
            </a:defPPr>
            <a:lvl1pPr marL="0" algn="l" defTabSz="914400" rtl="0" eaLnBrk="1" latinLnBrk="0" hangingPunct="1">
              <a:lnSpc>
                <a:spcPct val="90000"/>
              </a:lnSpc>
              <a:spcBef>
                <a:spcPct val="0"/>
              </a:spcBef>
              <a:buNone/>
              <a:defRPr sz="4400" kern="1200">
                <a:solidFill>
                  <a:schemeClr val="tx1"/>
                </a:solidFill>
                <a:latin typeface="+mj-lt"/>
                <a:ea typeface="+mj-ea"/>
                <a:cs typeface="+mj-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400" b="1">
                <a:latin typeface="Raleway" panose="020B0503030101060003"/>
              </a:rPr>
              <a:t>Recruitment Progress – Level 2</a:t>
            </a:r>
            <a:endParaRPr lang="en-US" sz="2400">
              <a:latin typeface="Raleway" panose="020B0503030101060003"/>
            </a:endParaRPr>
          </a:p>
        </p:txBody>
      </p:sp>
      <p:sp>
        <p:nvSpPr>
          <p:cNvPr id="8" name="TextBox 7">
            <a:extLst>
              <a:ext uri="{FF2B5EF4-FFF2-40B4-BE49-F238E27FC236}">
                <a16:creationId xmlns:a16="http://schemas.microsoft.com/office/drawing/2014/main" id="{4897BFEC-2BCE-7D68-DF65-215AE3F5777F}"/>
              </a:ext>
            </a:extLst>
          </p:cNvPr>
          <p:cNvSpPr txBox="1"/>
          <p:nvPr/>
        </p:nvSpPr>
        <p:spPr>
          <a:xfrm>
            <a:off x="137160" y="6419088"/>
            <a:ext cx="2355132" cy="246221"/>
          </a:xfrm>
          <a:prstGeom prst="rect">
            <a:avLst/>
          </a:prstGeom>
          <a:noFill/>
        </p:spPr>
        <p:txBody>
          <a:bodyPr wrap="none" lIns="91440" tIns="45720" rIns="91440" bIns="45720" anchor="t">
            <a:spAutoFit/>
          </a:bodyPr>
          <a:lstStyle/>
          <a:p>
            <a:r>
              <a:rPr sz="1000" i="1">
                <a:solidFill>
                  <a:srgbClr val="000000"/>
                </a:solidFill>
                <a:latin typeface="Raleway"/>
              </a:rPr>
              <a:t>* Update per </a:t>
            </a:r>
            <a:r>
              <a:rPr sz="1000" i="1" err="1">
                <a:solidFill>
                  <a:srgbClr val="000000"/>
                </a:solidFill>
                <a:latin typeface="Raleway"/>
              </a:rPr>
              <a:t>tanggal</a:t>
            </a:r>
            <a:r>
              <a:rPr sz="1000" i="1">
                <a:solidFill>
                  <a:srgbClr val="000000"/>
                </a:solidFill>
                <a:latin typeface="Raleway"/>
              </a:rPr>
              <a:t> 14 Agustus 2026</a:t>
            </a:r>
            <a:endParaRPr lang="en-US" sz="1000" i="1">
              <a:solidFill>
                <a:srgbClr val="000000"/>
              </a:solidFill>
              <a:latin typeface="Raleway"/>
            </a:endParaRPr>
          </a:p>
        </p:txBody>
      </p:sp>
    </p:spTree>
    <p:extLst>
      <p:ext uri="{BB962C8B-B14F-4D97-AF65-F5344CB8AC3E}">
        <p14:creationId xmlns:p14="http://schemas.microsoft.com/office/powerpoint/2010/main" val="3400362835"/>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F20529-88FB-6CEB-7852-B83192796F60}"/>
            </a:ext>
          </a:extLst>
        </p:cNvPr>
        <p:cNvGrpSpPr/>
        <p:nvPr/>
      </p:nvGrpSpPr>
      <p:grpSpPr>
        <a:xfrm>
          <a:off x="0" y="0"/>
          <a:ext cx="0" cy="0"/>
          <a:chOff x="0" y="0"/>
          <a:chExt cx="0" cy="0"/>
        </a:xfrm>
      </p:grpSpPr>
      <p:sp>
        <p:nvSpPr>
          <p:cNvPr id="4" name="TextBox 3">
            <a:extLst>
              <a:ext uri="{FF2B5EF4-FFF2-40B4-BE49-F238E27FC236}">
                <a16:creationId xmlns:a16="http://schemas.microsoft.com/office/drawing/2014/main" id="{EE303A9E-22CE-7FDA-38B5-48DE2CF0B5EC}"/>
              </a:ext>
            </a:extLst>
          </p:cNvPr>
          <p:cNvSpPr txBox="1"/>
          <p:nvPr/>
        </p:nvSpPr>
        <p:spPr>
          <a:xfrm>
            <a:off x="2544521" y="2765452"/>
            <a:ext cx="7102957" cy="1327095"/>
          </a:xfrm>
          <a:prstGeom prst="rect">
            <a:avLst/>
          </a:prstGeom>
          <a:noFill/>
        </p:spPr>
        <p:txBody>
          <a:bodyPr wrap="square" lIns="91440" tIns="45720" rIns="91440" bIns="45720" rtlCol="0" anchor="t">
            <a:spAutoFit/>
          </a:bodyPr>
          <a:lstStyle/>
          <a:p>
            <a:pPr algn="ctr">
              <a:lnSpc>
                <a:spcPct val="70000"/>
              </a:lnSpc>
              <a:defRPr/>
            </a:pPr>
            <a:r>
              <a:rPr lang="en-US" sz="4800" b="1">
                <a:solidFill>
                  <a:srgbClr val="002060"/>
                </a:solidFill>
                <a:latin typeface="Raleway"/>
              </a:rPr>
              <a:t>RECRUITMENT</a:t>
            </a:r>
          </a:p>
          <a:p>
            <a:pPr algn="ctr">
              <a:lnSpc>
                <a:spcPct val="70000"/>
              </a:lnSpc>
              <a:defRPr/>
            </a:pPr>
            <a:r>
              <a:rPr lang="en-US" sz="4800" b="1">
                <a:solidFill>
                  <a:srgbClr val="002060"/>
                </a:solidFill>
                <a:latin typeface="Raleway"/>
              </a:rPr>
              <a:t>CLAP/FGDP</a:t>
            </a:r>
          </a:p>
          <a:p>
            <a:pPr algn="ctr">
              <a:lnSpc>
                <a:spcPct val="70000"/>
              </a:lnSpc>
              <a:defRPr/>
            </a:pPr>
            <a:r>
              <a:rPr lang="en-US" b="1">
                <a:latin typeface="Raleway"/>
              </a:rPr>
              <a:t>Level 3A &amp; 2B</a:t>
            </a:r>
          </a:p>
        </p:txBody>
      </p:sp>
    </p:spTree>
    <p:extLst>
      <p:ext uri="{BB962C8B-B14F-4D97-AF65-F5344CB8AC3E}">
        <p14:creationId xmlns:p14="http://schemas.microsoft.com/office/powerpoint/2010/main" val="1986925760"/>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AE368A-0612-C696-5014-D3F1022A8CCE}"/>
            </a:ext>
          </a:extLst>
        </p:cNvPr>
        <p:cNvGrpSpPr/>
        <p:nvPr/>
      </p:nvGrpSpPr>
      <p:grpSpPr>
        <a:xfrm>
          <a:off x="0" y="0"/>
          <a:ext cx="0" cy="0"/>
          <a:chOff x="0" y="0"/>
          <a:chExt cx="0" cy="0"/>
        </a:xfrm>
      </p:grpSpPr>
      <p:sp>
        <p:nvSpPr>
          <p:cNvPr id="2" name="Text 0">
            <a:extLst>
              <a:ext uri="{FF2B5EF4-FFF2-40B4-BE49-F238E27FC236}">
                <a16:creationId xmlns:a16="http://schemas.microsoft.com/office/drawing/2014/main" id="{0DA54DE6-1006-5975-45A6-355103D02301}"/>
              </a:ext>
            </a:extLst>
          </p:cNvPr>
          <p:cNvSpPr/>
          <p:nvPr/>
        </p:nvSpPr>
        <p:spPr>
          <a:xfrm>
            <a:off x="438912" y="73152"/>
            <a:ext cx="11277295" cy="548640"/>
          </a:xfrm>
          <a:prstGeom prst="rect">
            <a:avLst/>
          </a:prstGeom>
          <a:noFill/>
          <a:ln/>
        </p:spPr>
        <p:txBody>
          <a:bodyPr wrap="square" rtlCol="0" anchor="ctr"/>
          <a:lstStyle/>
          <a:p>
            <a:pPr marL="0" indent="0">
              <a:buNone/>
            </a:pPr>
            <a:r>
              <a:rPr lang="en-US" sz="2600" b="1">
                <a:solidFill>
                  <a:srgbClr val="12284C"/>
                </a:solidFill>
                <a:latin typeface="+mj-lt"/>
                <a:ea typeface="Georgia" pitchFamily="34" charset="-122"/>
                <a:cs typeface="Georgia" pitchFamily="34" charset="-120"/>
              </a:rPr>
              <a:t>Executive Summary — CLAP &amp; FGDP</a:t>
            </a:r>
            <a:endParaRPr lang="en-US" sz="2600">
              <a:latin typeface="+mj-lt"/>
            </a:endParaRPr>
          </a:p>
        </p:txBody>
      </p:sp>
      <p:sp>
        <p:nvSpPr>
          <p:cNvPr id="9" name="Shape 5">
            <a:extLst>
              <a:ext uri="{FF2B5EF4-FFF2-40B4-BE49-F238E27FC236}">
                <a16:creationId xmlns:a16="http://schemas.microsoft.com/office/drawing/2014/main" id="{C5891F01-DBC8-9F0F-18F1-1CAB958B328D}"/>
              </a:ext>
            </a:extLst>
          </p:cNvPr>
          <p:cNvSpPr/>
          <p:nvPr/>
        </p:nvSpPr>
        <p:spPr>
          <a:xfrm>
            <a:off x="438912" y="621792"/>
            <a:ext cx="1767840" cy="960120"/>
          </a:xfrm>
          <a:prstGeom prst="rect">
            <a:avLst/>
          </a:prstGeom>
          <a:solidFill>
            <a:srgbClr val="0070C0"/>
          </a:solidFill>
          <a:ln w="12700">
            <a:solidFill>
              <a:srgbClr val="1F6FB2"/>
            </a:solidFill>
            <a:prstDash val="solid"/>
          </a:ln>
        </p:spPr>
        <p:txBody>
          <a:bodyPr/>
          <a:lstStyle/>
          <a:p>
            <a:endParaRPr lang="en-US"/>
          </a:p>
        </p:txBody>
      </p:sp>
      <p:sp>
        <p:nvSpPr>
          <p:cNvPr id="12" name="fptklvl3">
            <a:extLst>
              <a:ext uri="{FF2B5EF4-FFF2-40B4-BE49-F238E27FC236}">
                <a16:creationId xmlns:a16="http://schemas.microsoft.com/office/drawing/2014/main" id="{5AB53F95-8304-AE53-0A0A-B4169479454E}"/>
              </a:ext>
            </a:extLst>
          </p:cNvPr>
          <p:cNvSpPr/>
          <p:nvPr/>
        </p:nvSpPr>
        <p:spPr>
          <a:xfrm>
            <a:off x="438912" y="694944"/>
            <a:ext cx="1767840" cy="548640"/>
          </a:xfrm>
          <a:prstGeom prst="rect">
            <a:avLst/>
          </a:prstGeom>
          <a:noFill/>
          <a:ln/>
        </p:spPr>
        <p:txBody>
          <a:bodyPr wrap="square" lIns="0" tIns="0" rIns="0" bIns="0" rtlCol="0" anchor="ctr">
            <a:noAutofit/>
          </a:bodyPr>
          <a:lstStyle/>
          <a:p>
            <a:pPr marL="0" indent="0" algn="ctr">
              <a:buNone/>
            </a:pPr>
            <a:r>
              <a:rPr lang="en-US" sz="3000" b="1">
                <a:solidFill>
                  <a:srgbClr val="FFFFFF"/>
                </a:solidFill>
                <a:latin typeface="Raleway"/>
                <a:ea typeface="Calibri"/>
                <a:cs typeface="Calibri"/>
              </a:rPr>
              <a:t>68</a:t>
            </a:r>
          </a:p>
        </p:txBody>
      </p:sp>
      <p:sp>
        <p:nvSpPr>
          <p:cNvPr id="15" name="Text 7">
            <a:extLst>
              <a:ext uri="{FF2B5EF4-FFF2-40B4-BE49-F238E27FC236}">
                <a16:creationId xmlns:a16="http://schemas.microsoft.com/office/drawing/2014/main" id="{1694B383-9173-DB9D-FB9D-89733195E6E6}"/>
              </a:ext>
            </a:extLst>
          </p:cNvPr>
          <p:cNvSpPr/>
          <p:nvPr/>
        </p:nvSpPr>
        <p:spPr>
          <a:xfrm>
            <a:off x="438912" y="1261872"/>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FPTK</a:t>
            </a:r>
            <a:endParaRPr lang="en-US" sz="1100">
              <a:latin typeface="Raleway"/>
            </a:endParaRPr>
          </a:p>
        </p:txBody>
      </p:sp>
      <p:sp>
        <p:nvSpPr>
          <p:cNvPr id="18" name="Shape 8">
            <a:extLst>
              <a:ext uri="{FF2B5EF4-FFF2-40B4-BE49-F238E27FC236}">
                <a16:creationId xmlns:a16="http://schemas.microsoft.com/office/drawing/2014/main" id="{ED3E8342-7373-5D17-1D1D-9BE96F95736B}"/>
              </a:ext>
            </a:extLst>
          </p:cNvPr>
          <p:cNvSpPr/>
          <p:nvPr/>
        </p:nvSpPr>
        <p:spPr>
          <a:xfrm>
            <a:off x="2371344" y="621792"/>
            <a:ext cx="1767840" cy="960120"/>
          </a:xfrm>
          <a:prstGeom prst="rect">
            <a:avLst/>
          </a:prstGeom>
          <a:solidFill>
            <a:srgbClr val="0070C0"/>
          </a:solidFill>
          <a:ln w="12700">
            <a:solidFill>
              <a:srgbClr val="1F6FB2"/>
            </a:solidFill>
            <a:prstDash val="solid"/>
          </a:ln>
        </p:spPr>
        <p:txBody>
          <a:bodyPr/>
          <a:lstStyle/>
          <a:p>
            <a:endParaRPr lang="en-US"/>
          </a:p>
        </p:txBody>
      </p:sp>
      <p:sp>
        <p:nvSpPr>
          <p:cNvPr id="21" name="openlvl3">
            <a:extLst>
              <a:ext uri="{FF2B5EF4-FFF2-40B4-BE49-F238E27FC236}">
                <a16:creationId xmlns:a16="http://schemas.microsoft.com/office/drawing/2014/main" id="{B1FAD9A0-D4DF-E41D-125D-68C88356657B}"/>
              </a:ext>
            </a:extLst>
          </p:cNvPr>
          <p:cNvSpPr/>
          <p:nvPr/>
        </p:nvSpPr>
        <p:spPr>
          <a:xfrm>
            <a:off x="2371344" y="694944"/>
            <a:ext cx="1767840" cy="548640"/>
          </a:xfrm>
          <a:prstGeom prst="rect">
            <a:avLst/>
          </a:prstGeom>
          <a:noFill/>
          <a:ln/>
        </p:spPr>
        <p:txBody>
          <a:bodyPr wrap="square" lIns="0" tIns="0" rIns="0" bIns="0" rtlCol="0" anchor="ctr">
            <a:noAutofit/>
          </a:bodyPr>
          <a:lstStyle/>
          <a:p>
            <a:pPr marL="0" indent="0" algn="ctr">
              <a:buNone/>
            </a:pPr>
            <a:r>
              <a:rPr lang="en-US" sz="3000" b="1">
                <a:solidFill>
                  <a:srgbClr val="FFFFFF"/>
                </a:solidFill>
                <a:latin typeface="Raleway"/>
                <a:ea typeface="Calibri"/>
                <a:cs typeface="Calibri"/>
              </a:rPr>
              <a:t>31</a:t>
            </a:r>
          </a:p>
        </p:txBody>
      </p:sp>
      <p:sp>
        <p:nvSpPr>
          <p:cNvPr id="24" name="Text 10">
            <a:extLst>
              <a:ext uri="{FF2B5EF4-FFF2-40B4-BE49-F238E27FC236}">
                <a16:creationId xmlns:a16="http://schemas.microsoft.com/office/drawing/2014/main" id="{3F838F41-4E0D-BAAF-0F5A-3023865A618F}"/>
              </a:ext>
            </a:extLst>
          </p:cNvPr>
          <p:cNvSpPr/>
          <p:nvPr/>
        </p:nvSpPr>
        <p:spPr>
          <a:xfrm>
            <a:off x="2371344" y="1261872"/>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OPEN</a:t>
            </a:r>
            <a:endParaRPr lang="en-US" sz="1100">
              <a:latin typeface="Raleway"/>
            </a:endParaRPr>
          </a:p>
        </p:txBody>
      </p:sp>
      <p:sp>
        <p:nvSpPr>
          <p:cNvPr id="27" name="Shape 11">
            <a:extLst>
              <a:ext uri="{FF2B5EF4-FFF2-40B4-BE49-F238E27FC236}">
                <a16:creationId xmlns:a16="http://schemas.microsoft.com/office/drawing/2014/main" id="{81101121-8C7E-C1A4-6170-A566C229F19D}"/>
              </a:ext>
            </a:extLst>
          </p:cNvPr>
          <p:cNvSpPr/>
          <p:nvPr/>
        </p:nvSpPr>
        <p:spPr>
          <a:xfrm>
            <a:off x="4303776" y="621792"/>
            <a:ext cx="1767840" cy="960120"/>
          </a:xfrm>
          <a:prstGeom prst="rect">
            <a:avLst/>
          </a:prstGeom>
          <a:solidFill>
            <a:srgbClr val="0070C0"/>
          </a:solidFill>
          <a:ln w="12700">
            <a:solidFill>
              <a:srgbClr val="1F6FB2"/>
            </a:solidFill>
            <a:prstDash val="solid"/>
          </a:ln>
        </p:spPr>
        <p:txBody>
          <a:bodyPr/>
          <a:lstStyle/>
          <a:p>
            <a:endParaRPr lang="en-US"/>
          </a:p>
        </p:txBody>
      </p:sp>
      <p:sp>
        <p:nvSpPr>
          <p:cNvPr id="30" name="closedlvl3">
            <a:extLst>
              <a:ext uri="{FF2B5EF4-FFF2-40B4-BE49-F238E27FC236}">
                <a16:creationId xmlns:a16="http://schemas.microsoft.com/office/drawing/2014/main" id="{A7AEFD97-96DF-0709-B4CD-25B81C077532}"/>
              </a:ext>
            </a:extLst>
          </p:cNvPr>
          <p:cNvSpPr/>
          <p:nvPr/>
        </p:nvSpPr>
        <p:spPr>
          <a:xfrm>
            <a:off x="4303776" y="694944"/>
            <a:ext cx="1767840" cy="548640"/>
          </a:xfrm>
          <a:prstGeom prst="rect">
            <a:avLst/>
          </a:prstGeom>
          <a:noFill/>
          <a:ln/>
        </p:spPr>
        <p:txBody>
          <a:bodyPr wrap="square" lIns="0" tIns="0" rIns="0" bIns="0" rtlCol="0" anchor="ctr">
            <a:noAutofit/>
          </a:bodyPr>
          <a:lstStyle/>
          <a:p>
            <a:pPr marL="0" indent="0" algn="ctr">
              <a:buNone/>
            </a:pPr>
            <a:r>
              <a:rPr lang="en-US" sz="3000" b="1">
                <a:solidFill>
                  <a:srgbClr val="FFFFFF"/>
                </a:solidFill>
                <a:latin typeface="Raleway"/>
                <a:ea typeface="Calibri"/>
                <a:cs typeface="Calibri"/>
              </a:rPr>
              <a:t>34</a:t>
            </a:r>
          </a:p>
        </p:txBody>
      </p:sp>
      <p:sp>
        <p:nvSpPr>
          <p:cNvPr id="33" name="Text 13">
            <a:extLst>
              <a:ext uri="{FF2B5EF4-FFF2-40B4-BE49-F238E27FC236}">
                <a16:creationId xmlns:a16="http://schemas.microsoft.com/office/drawing/2014/main" id="{F5E31385-6CD1-7C9D-571C-02D66EF87144}"/>
              </a:ext>
            </a:extLst>
          </p:cNvPr>
          <p:cNvSpPr/>
          <p:nvPr/>
        </p:nvSpPr>
        <p:spPr>
          <a:xfrm>
            <a:off x="4303776" y="1261872"/>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CLOSED</a:t>
            </a:r>
            <a:endParaRPr lang="en-US" sz="1100">
              <a:latin typeface="Raleway"/>
            </a:endParaRPr>
          </a:p>
        </p:txBody>
      </p:sp>
      <p:sp>
        <p:nvSpPr>
          <p:cNvPr id="36" name="Shape 14">
            <a:extLst>
              <a:ext uri="{FF2B5EF4-FFF2-40B4-BE49-F238E27FC236}">
                <a16:creationId xmlns:a16="http://schemas.microsoft.com/office/drawing/2014/main" id="{0C9D9120-D316-1E9B-EFD6-C4DE30DDB201}"/>
              </a:ext>
            </a:extLst>
          </p:cNvPr>
          <p:cNvSpPr/>
          <p:nvPr/>
        </p:nvSpPr>
        <p:spPr>
          <a:xfrm>
            <a:off x="6236208" y="621792"/>
            <a:ext cx="1767840" cy="960120"/>
          </a:xfrm>
          <a:prstGeom prst="rect">
            <a:avLst/>
          </a:prstGeom>
          <a:solidFill>
            <a:srgbClr val="0070C0"/>
          </a:solidFill>
          <a:ln w="12700">
            <a:solidFill>
              <a:srgbClr val="1F6FB2"/>
            </a:solidFill>
            <a:prstDash val="solid"/>
          </a:ln>
        </p:spPr>
        <p:txBody>
          <a:bodyPr/>
          <a:lstStyle/>
          <a:p>
            <a:endParaRPr lang="en-US"/>
          </a:p>
        </p:txBody>
      </p:sp>
      <p:sp>
        <p:nvSpPr>
          <p:cNvPr id="39" name="cancellvl3">
            <a:extLst>
              <a:ext uri="{FF2B5EF4-FFF2-40B4-BE49-F238E27FC236}">
                <a16:creationId xmlns:a16="http://schemas.microsoft.com/office/drawing/2014/main" id="{CBC32893-C2FF-794C-62BD-703EFCCAAB00}"/>
              </a:ext>
            </a:extLst>
          </p:cNvPr>
          <p:cNvSpPr/>
          <p:nvPr/>
        </p:nvSpPr>
        <p:spPr>
          <a:xfrm>
            <a:off x="6236208" y="694944"/>
            <a:ext cx="1767840" cy="548640"/>
          </a:xfrm>
          <a:prstGeom prst="rect">
            <a:avLst/>
          </a:prstGeom>
          <a:noFill/>
          <a:ln/>
        </p:spPr>
        <p:txBody>
          <a:bodyPr wrap="square" lIns="0" tIns="0" rIns="0" bIns="0" rtlCol="0" anchor="ctr">
            <a:noAutofit/>
          </a:bodyPr>
          <a:lstStyle/>
          <a:p>
            <a:pPr marL="0" indent="0" algn="ctr">
              <a:buNone/>
            </a:pPr>
            <a:r>
              <a:rPr lang="en-US" sz="3000" b="1">
                <a:solidFill>
                  <a:srgbClr val="FFFFFF"/>
                </a:solidFill>
                <a:latin typeface="Raleway"/>
                <a:ea typeface="Calibri"/>
                <a:cs typeface="Calibri"/>
              </a:rPr>
              <a:t>3</a:t>
            </a:r>
          </a:p>
        </p:txBody>
      </p:sp>
      <p:sp>
        <p:nvSpPr>
          <p:cNvPr id="42" name="Text 16">
            <a:extLst>
              <a:ext uri="{FF2B5EF4-FFF2-40B4-BE49-F238E27FC236}">
                <a16:creationId xmlns:a16="http://schemas.microsoft.com/office/drawing/2014/main" id="{60DBCE8E-D44D-BB52-7E8B-DB7C4A547725}"/>
              </a:ext>
            </a:extLst>
          </p:cNvPr>
          <p:cNvSpPr/>
          <p:nvPr/>
        </p:nvSpPr>
        <p:spPr>
          <a:xfrm>
            <a:off x="6236208" y="1261872"/>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CANCEL</a:t>
            </a:r>
            <a:endParaRPr lang="en-US" sz="1100">
              <a:latin typeface="Raleway"/>
            </a:endParaRPr>
          </a:p>
        </p:txBody>
      </p:sp>
      <p:sp>
        <p:nvSpPr>
          <p:cNvPr id="45" name="Shape 17">
            <a:extLst>
              <a:ext uri="{FF2B5EF4-FFF2-40B4-BE49-F238E27FC236}">
                <a16:creationId xmlns:a16="http://schemas.microsoft.com/office/drawing/2014/main" id="{B0508811-36EF-A31F-2751-80EEE277C58B}"/>
              </a:ext>
            </a:extLst>
          </p:cNvPr>
          <p:cNvSpPr/>
          <p:nvPr/>
        </p:nvSpPr>
        <p:spPr>
          <a:xfrm>
            <a:off x="8168640" y="621792"/>
            <a:ext cx="1767840" cy="960120"/>
          </a:xfrm>
          <a:prstGeom prst="rect">
            <a:avLst/>
          </a:prstGeom>
          <a:solidFill>
            <a:srgbClr val="0070C0"/>
          </a:solidFill>
          <a:ln w="12700">
            <a:solidFill>
              <a:srgbClr val="1F6FB2"/>
            </a:solidFill>
            <a:prstDash val="solid"/>
          </a:ln>
        </p:spPr>
        <p:txBody>
          <a:bodyPr/>
          <a:lstStyle/>
          <a:p>
            <a:endParaRPr lang="en-US"/>
          </a:p>
        </p:txBody>
      </p:sp>
      <p:sp>
        <p:nvSpPr>
          <p:cNvPr id="48" name="fillratelvl3">
            <a:extLst>
              <a:ext uri="{FF2B5EF4-FFF2-40B4-BE49-F238E27FC236}">
                <a16:creationId xmlns:a16="http://schemas.microsoft.com/office/drawing/2014/main" id="{3CBDBEA0-CDC2-D202-399B-0DD47323B25A}"/>
              </a:ext>
            </a:extLst>
          </p:cNvPr>
          <p:cNvSpPr/>
          <p:nvPr/>
        </p:nvSpPr>
        <p:spPr>
          <a:xfrm>
            <a:off x="8168640" y="694944"/>
            <a:ext cx="1767840" cy="548640"/>
          </a:xfrm>
          <a:prstGeom prst="rect">
            <a:avLst/>
          </a:prstGeom>
          <a:noFill/>
          <a:ln/>
        </p:spPr>
        <p:txBody>
          <a:bodyPr wrap="square" lIns="0" tIns="0" rIns="0" bIns="0" rtlCol="0" anchor="ctr">
            <a:noAutofit/>
          </a:bodyPr>
          <a:lstStyle/>
          <a:p>
            <a:pPr marL="0" indent="0" algn="ctr">
              <a:buNone/>
            </a:pPr>
            <a:r>
              <a:rPr lang="en-US" sz="3000" b="1" dirty="0">
                <a:solidFill>
                  <a:srgbClr val="FFFFFF"/>
                </a:solidFill>
                <a:latin typeface="Raleway"/>
                <a:ea typeface="Calibri"/>
                <a:cs typeface="Calibri"/>
              </a:rPr>
              <a:t>52.31%</a:t>
            </a:r>
            <a:endParaRPr lang="en-US" sz="3000" dirty="0">
              <a:latin typeface="Raleway"/>
              <a:ea typeface="Calibri"/>
              <a:cs typeface="Calibri"/>
            </a:endParaRPr>
          </a:p>
        </p:txBody>
      </p:sp>
      <p:sp>
        <p:nvSpPr>
          <p:cNvPr id="51" name="Text 19">
            <a:extLst>
              <a:ext uri="{FF2B5EF4-FFF2-40B4-BE49-F238E27FC236}">
                <a16:creationId xmlns:a16="http://schemas.microsoft.com/office/drawing/2014/main" id="{17232812-E004-02AB-3E78-C77FB574016B}"/>
              </a:ext>
            </a:extLst>
          </p:cNvPr>
          <p:cNvSpPr/>
          <p:nvPr/>
        </p:nvSpPr>
        <p:spPr>
          <a:xfrm>
            <a:off x="8168640" y="1261872"/>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FILL RATE</a:t>
            </a:r>
            <a:endParaRPr lang="en-US" sz="1100">
              <a:latin typeface="Raleway"/>
            </a:endParaRPr>
          </a:p>
        </p:txBody>
      </p:sp>
      <p:sp>
        <p:nvSpPr>
          <p:cNvPr id="54" name="Shape 20">
            <a:extLst>
              <a:ext uri="{FF2B5EF4-FFF2-40B4-BE49-F238E27FC236}">
                <a16:creationId xmlns:a16="http://schemas.microsoft.com/office/drawing/2014/main" id="{14180DFB-9EB8-3753-C067-43966E0400C7}"/>
              </a:ext>
            </a:extLst>
          </p:cNvPr>
          <p:cNvSpPr/>
          <p:nvPr/>
        </p:nvSpPr>
        <p:spPr>
          <a:xfrm>
            <a:off x="10101072" y="621792"/>
            <a:ext cx="1767840" cy="960120"/>
          </a:xfrm>
          <a:prstGeom prst="rect">
            <a:avLst/>
          </a:prstGeom>
          <a:solidFill>
            <a:srgbClr val="0070C0"/>
          </a:solidFill>
          <a:ln w="12700">
            <a:solidFill>
              <a:srgbClr val="1F6FB2"/>
            </a:solidFill>
            <a:prstDash val="solid"/>
          </a:ln>
        </p:spPr>
        <p:txBody>
          <a:bodyPr/>
          <a:lstStyle/>
          <a:p>
            <a:endParaRPr lang="en-US"/>
          </a:p>
        </p:txBody>
      </p:sp>
      <p:sp>
        <p:nvSpPr>
          <p:cNvPr id="57" name="closesesuaislalvl3">
            <a:extLst>
              <a:ext uri="{FF2B5EF4-FFF2-40B4-BE49-F238E27FC236}">
                <a16:creationId xmlns:a16="http://schemas.microsoft.com/office/drawing/2014/main" id="{987A8479-406E-B900-9996-F772D3F46F5F}"/>
              </a:ext>
            </a:extLst>
          </p:cNvPr>
          <p:cNvSpPr/>
          <p:nvPr/>
        </p:nvSpPr>
        <p:spPr>
          <a:xfrm>
            <a:off x="10101072" y="694944"/>
            <a:ext cx="1767840" cy="548640"/>
          </a:xfrm>
          <a:prstGeom prst="rect">
            <a:avLst/>
          </a:prstGeom>
          <a:noFill/>
          <a:ln/>
        </p:spPr>
        <p:txBody>
          <a:bodyPr wrap="square" lIns="0" tIns="0" rIns="0" bIns="0" rtlCol="0" anchor="ctr">
            <a:noAutofit/>
          </a:bodyPr>
          <a:lstStyle/>
          <a:p>
            <a:pPr marL="0" indent="0" algn="ctr">
              <a:buNone/>
            </a:pPr>
            <a:r>
              <a:rPr lang="en-US" sz="3000" b="1" dirty="0">
                <a:solidFill>
                  <a:srgbClr val="FFFFFF"/>
                </a:solidFill>
                <a:latin typeface="Raleway"/>
                <a:ea typeface="Calibri"/>
                <a:cs typeface="Calibri"/>
              </a:rPr>
              <a:t>8.77%</a:t>
            </a:r>
            <a:endParaRPr lang="en-US" sz="3000" dirty="0">
              <a:latin typeface="Raleway"/>
            </a:endParaRPr>
          </a:p>
        </p:txBody>
      </p:sp>
      <p:sp>
        <p:nvSpPr>
          <p:cNvPr id="59" name="Text 22">
            <a:extLst>
              <a:ext uri="{FF2B5EF4-FFF2-40B4-BE49-F238E27FC236}">
                <a16:creationId xmlns:a16="http://schemas.microsoft.com/office/drawing/2014/main" id="{F0C03121-13F6-D9C5-C0B5-DF97A02A59DC}"/>
              </a:ext>
            </a:extLst>
          </p:cNvPr>
          <p:cNvSpPr/>
          <p:nvPr/>
        </p:nvSpPr>
        <p:spPr>
          <a:xfrm>
            <a:off x="10101072" y="1261872"/>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 SESUAI SLA</a:t>
            </a:r>
            <a:endParaRPr lang="en-US" sz="1100">
              <a:latin typeface="Raleway"/>
            </a:endParaRPr>
          </a:p>
        </p:txBody>
      </p:sp>
      <p:graphicFrame>
        <p:nvGraphicFramePr>
          <p:cNvPr id="3" name="Pemenuhan SDM 2026 per Level">
            <a:extLst>
              <a:ext uri="{FF2B5EF4-FFF2-40B4-BE49-F238E27FC236}">
                <a16:creationId xmlns:a16="http://schemas.microsoft.com/office/drawing/2014/main" id="{D27550C3-D6BE-4F13-8F94-4B714FFE92B1}"/>
              </a:ext>
              <a:ext uri="{147F2762-F138-4A5C-976F-8EAC2B608ADB}">
                <a16:predDERef xmlns:a16="http://schemas.microsoft.com/office/drawing/2014/main" pred="{1972B499-7CBF-4CCA-A4BC-B2FA20BBABF4}"/>
              </a:ext>
            </a:extLst>
          </p:cNvPr>
          <p:cNvGraphicFramePr>
            <a:graphicFrameLocks/>
          </p:cNvGraphicFramePr>
          <p:nvPr>
            <p:extLst>
              <p:ext uri="{D42A27DB-BD31-4B8C-83A1-F6EECF244321}">
                <p14:modId xmlns:p14="http://schemas.microsoft.com/office/powerpoint/2010/main" val="2910431495"/>
              </p:ext>
            </p:extLst>
          </p:nvPr>
        </p:nvGraphicFramePr>
        <p:xfrm>
          <a:off x="1016694" y="2130552"/>
          <a:ext cx="10439027" cy="3864909"/>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2367542049"/>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FA8B6C-FB0B-14DF-080B-CB2F9622C10F}"/>
            </a:ext>
          </a:extLst>
        </p:cNvPr>
        <p:cNvGrpSpPr/>
        <p:nvPr/>
      </p:nvGrpSpPr>
      <p:grpSpPr>
        <a:xfrm>
          <a:off x="0" y="0"/>
          <a:ext cx="0" cy="0"/>
          <a:chOff x="0" y="0"/>
          <a:chExt cx="0" cy="0"/>
        </a:xfrm>
      </p:grpSpPr>
      <p:sp>
        <p:nvSpPr>
          <p:cNvPr id="2" name="Text 0">
            <a:extLst>
              <a:ext uri="{FF2B5EF4-FFF2-40B4-BE49-F238E27FC236}">
                <a16:creationId xmlns:a16="http://schemas.microsoft.com/office/drawing/2014/main" id="{58CFE63B-E3EF-CD14-B8F8-8DD15B08CB1F}"/>
              </a:ext>
            </a:extLst>
          </p:cNvPr>
          <p:cNvSpPr/>
          <p:nvPr/>
        </p:nvSpPr>
        <p:spPr>
          <a:xfrm>
            <a:off x="438912" y="73152"/>
            <a:ext cx="11277295" cy="548640"/>
          </a:xfrm>
          <a:prstGeom prst="rect">
            <a:avLst/>
          </a:prstGeom>
          <a:noFill/>
          <a:ln/>
        </p:spPr>
        <p:txBody>
          <a:bodyPr wrap="square" rtlCol="0" anchor="ctr"/>
          <a:lstStyle/>
          <a:p>
            <a:pPr marL="0" indent="0">
              <a:buNone/>
            </a:pPr>
            <a:r>
              <a:rPr lang="en-US" sz="2600" b="1">
                <a:solidFill>
                  <a:srgbClr val="12284C"/>
                </a:solidFill>
                <a:latin typeface="+mj-lt"/>
                <a:ea typeface="Georgia" pitchFamily="34" charset="-122"/>
                <a:cs typeface="Georgia" pitchFamily="34" charset="-120"/>
              </a:rPr>
              <a:t>Executive Summary — CLAP &amp; FGDP</a:t>
            </a:r>
            <a:endParaRPr lang="en-US" sz="2600">
              <a:latin typeface="+mj-lt"/>
            </a:endParaRPr>
          </a:p>
        </p:txBody>
      </p:sp>
      <p:graphicFrame>
        <p:nvGraphicFramePr>
          <p:cNvPr id="5" name="Table 4">
            <a:extLst>
              <a:ext uri="{FF2B5EF4-FFF2-40B4-BE49-F238E27FC236}">
                <a16:creationId xmlns:a16="http://schemas.microsoft.com/office/drawing/2014/main" id="{404F02EC-0768-89E8-BA1D-576F14D98855}"/>
              </a:ext>
            </a:extLst>
          </p:cNvPr>
          <p:cNvGraphicFramePr>
            <a:graphicFrameLocks noGrp="1"/>
          </p:cNvGraphicFramePr>
          <p:nvPr/>
        </p:nvGraphicFramePr>
        <p:xfrm>
          <a:off x="443531" y="1860055"/>
          <a:ext cx="11442719" cy="3657600"/>
        </p:xfrm>
        <a:graphic>
          <a:graphicData uri="http://schemas.openxmlformats.org/drawingml/2006/table">
            <a:tbl>
              <a:tblPr bandRow="1">
                <a:tableStyleId>{5C22544A-7EE6-4342-B048-85BDC9FD1C3A}</a:tableStyleId>
              </a:tblPr>
              <a:tblGrid>
                <a:gridCol w="4878139">
                  <a:extLst>
                    <a:ext uri="{9D8B030D-6E8A-4147-A177-3AD203B41FA5}">
                      <a16:colId xmlns:a16="http://schemas.microsoft.com/office/drawing/2014/main" val="1422571537"/>
                    </a:ext>
                  </a:extLst>
                </a:gridCol>
                <a:gridCol w="1909443">
                  <a:extLst>
                    <a:ext uri="{9D8B030D-6E8A-4147-A177-3AD203B41FA5}">
                      <a16:colId xmlns:a16="http://schemas.microsoft.com/office/drawing/2014/main" val="4177005234"/>
                    </a:ext>
                  </a:extLst>
                </a:gridCol>
                <a:gridCol w="1951255">
                  <a:extLst>
                    <a:ext uri="{9D8B030D-6E8A-4147-A177-3AD203B41FA5}">
                      <a16:colId xmlns:a16="http://schemas.microsoft.com/office/drawing/2014/main" val="689221750"/>
                    </a:ext>
                  </a:extLst>
                </a:gridCol>
                <a:gridCol w="864127">
                  <a:extLst>
                    <a:ext uri="{9D8B030D-6E8A-4147-A177-3AD203B41FA5}">
                      <a16:colId xmlns:a16="http://schemas.microsoft.com/office/drawing/2014/main" val="1696354134"/>
                    </a:ext>
                  </a:extLst>
                </a:gridCol>
                <a:gridCol w="905940">
                  <a:extLst>
                    <a:ext uri="{9D8B030D-6E8A-4147-A177-3AD203B41FA5}">
                      <a16:colId xmlns:a16="http://schemas.microsoft.com/office/drawing/2014/main" val="2149074370"/>
                    </a:ext>
                  </a:extLst>
                </a:gridCol>
                <a:gridCol w="933815">
                  <a:extLst>
                    <a:ext uri="{9D8B030D-6E8A-4147-A177-3AD203B41FA5}">
                      <a16:colId xmlns:a16="http://schemas.microsoft.com/office/drawing/2014/main" val="3214029479"/>
                    </a:ext>
                  </a:extLst>
                </a:gridCol>
              </a:tblGrid>
              <a:tr h="190500">
                <a:tc>
                  <a:txBody>
                    <a:bodyPr/>
                    <a:lstStyle/>
                    <a:p>
                      <a:pPr algn="ctr">
                        <a:buNone/>
                      </a:pPr>
                      <a:r>
                        <a:rPr lang="en-US" sz="900" b="1" err="1">
                          <a:solidFill>
                            <a:schemeClr val="bg1"/>
                          </a:solidFill>
                          <a:effectLst/>
                          <a:latin typeface="Raleway"/>
                        </a:rPr>
                        <a:t>Posisi</a:t>
                      </a:r>
                      <a:r>
                        <a:rPr lang="en-US" sz="900" b="1">
                          <a:solidFill>
                            <a:schemeClr val="bg1"/>
                          </a:solidFill>
                          <a:effectLst/>
                          <a:latin typeface="Raleway"/>
                        </a:rPr>
                        <a:t> - </a:t>
                      </a:r>
                      <a:r>
                        <a:rPr lang="en-US" sz="900" b="1" err="1">
                          <a:solidFill>
                            <a:schemeClr val="bg1"/>
                          </a:solidFill>
                          <a:effectLst/>
                          <a:latin typeface="Raleway"/>
                        </a:rPr>
                        <a:t>Kebutuhan</a:t>
                      </a:r>
                      <a:r>
                        <a:rPr lang="en-US" sz="900" b="1">
                          <a:solidFill>
                            <a:schemeClr val="bg1"/>
                          </a:solidFill>
                          <a:effectLst/>
                          <a:latin typeface="Raleway"/>
                        </a:rPr>
                        <a:t>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900" b="1" err="1">
                          <a:solidFill>
                            <a:schemeClr val="bg1"/>
                          </a:solidFill>
                          <a:effectLst/>
                          <a:latin typeface="Raleway"/>
                        </a:rPr>
                        <a:t>Direktorat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900" b="1">
                          <a:solidFill>
                            <a:schemeClr val="bg1"/>
                          </a:solidFill>
                          <a:effectLst/>
                          <a:latin typeface="Raleway"/>
                        </a:rPr>
                        <a:t>Count of </a:t>
                      </a:r>
                      <a:r>
                        <a:rPr lang="en-US" sz="900" b="1" err="1">
                          <a:solidFill>
                            <a:schemeClr val="bg1"/>
                          </a:solidFill>
                          <a:effectLst/>
                          <a:latin typeface="Raleway"/>
                        </a:rPr>
                        <a:t>Posisi</a:t>
                      </a:r>
                      <a:r>
                        <a:rPr lang="en-US" sz="900" b="1">
                          <a:solidFill>
                            <a:schemeClr val="bg1"/>
                          </a:solidFill>
                          <a:effectLst/>
                          <a:latin typeface="Raleway"/>
                        </a:rPr>
                        <a:t> - </a:t>
                      </a:r>
                      <a:r>
                        <a:rPr lang="en-US" sz="900" b="1" err="1">
                          <a:solidFill>
                            <a:schemeClr val="bg1"/>
                          </a:solidFill>
                          <a:effectLst/>
                          <a:latin typeface="Raleway"/>
                        </a:rPr>
                        <a:t>Kebutuhan</a:t>
                      </a:r>
                      <a:r>
                        <a:rPr lang="en-US" sz="900" b="1">
                          <a:solidFill>
                            <a:schemeClr val="bg1"/>
                          </a:solidFill>
                          <a:effectLst/>
                          <a:latin typeface="Raleway"/>
                        </a:rPr>
                        <a:t>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900" b="1">
                          <a:solidFill>
                            <a:schemeClr val="bg1"/>
                          </a:solidFill>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900" b="1">
                          <a:solidFill>
                            <a:schemeClr val="bg1"/>
                          </a:solidFill>
                          <a:effectLst/>
                          <a:latin typeface="Raleway"/>
                        </a:rPr>
                        <a:t>Closed</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900" b="1">
                          <a:solidFill>
                            <a:schemeClr val="bg1"/>
                          </a:solidFill>
                          <a:effectLst/>
                          <a:latin typeface="Raleway"/>
                        </a:rPr>
                        <a:t>Cancel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1321862522"/>
                  </a:ext>
                </a:extLst>
              </a:tr>
              <a:tr h="228600">
                <a:tc>
                  <a:txBody>
                    <a:bodyPr/>
                    <a:lstStyle/>
                    <a:p>
                      <a:pPr>
                        <a:buNone/>
                      </a:pPr>
                      <a:r>
                        <a:rPr lang="en-US" sz="900" err="1">
                          <a:effectLst/>
                          <a:latin typeface="Raleway"/>
                        </a:rPr>
                        <a:t>Cimory</a:t>
                      </a:r>
                      <a:r>
                        <a:rPr lang="en-US" sz="900">
                          <a:effectLst/>
                          <a:latin typeface="Raleway"/>
                        </a:rPr>
                        <a:t> Leadership Acceleration Program - Business Development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Commercial CMD</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2</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2</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2954923742"/>
                  </a:ext>
                </a:extLst>
              </a:tr>
              <a:tr h="228600">
                <a:tc>
                  <a:txBody>
                    <a:bodyPr/>
                    <a:lstStyle/>
                    <a:p>
                      <a:pPr>
                        <a:buNone/>
                      </a:pPr>
                      <a:r>
                        <a:rPr lang="en-US" sz="900" err="1">
                          <a:effectLst/>
                          <a:latin typeface="Raleway"/>
                        </a:rPr>
                        <a:t>Cimory</a:t>
                      </a:r>
                      <a:r>
                        <a:rPr lang="en-US" sz="900">
                          <a:effectLst/>
                          <a:latin typeface="Raleway"/>
                        </a:rPr>
                        <a:t> Leadership Acceleration Program - Channel Development Excellence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Commercial MP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3</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3</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58059365"/>
                  </a:ext>
                </a:extLst>
              </a:tr>
              <a:tr h="228600">
                <a:tc>
                  <a:txBody>
                    <a:bodyPr/>
                    <a:lstStyle/>
                    <a:p>
                      <a:pPr>
                        <a:buNone/>
                      </a:pPr>
                      <a:r>
                        <a:rPr lang="en-US" sz="900" err="1">
                          <a:effectLst/>
                          <a:latin typeface="Raleway"/>
                        </a:rPr>
                        <a:t>Cimory</a:t>
                      </a:r>
                      <a:r>
                        <a:rPr lang="en-US" sz="900">
                          <a:effectLst/>
                          <a:latin typeface="Raleway"/>
                        </a:rPr>
                        <a:t> Leadership Acceleration Program - Commercial</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Commercial MP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2752259488"/>
                  </a:ext>
                </a:extLst>
              </a:tr>
              <a:tr h="228600">
                <a:tc>
                  <a:txBody>
                    <a:bodyPr/>
                    <a:lstStyle/>
                    <a:p>
                      <a:pPr>
                        <a:buNone/>
                      </a:pPr>
                      <a:r>
                        <a:rPr lang="en-US" sz="900" err="1">
                          <a:effectLst/>
                          <a:latin typeface="Raleway"/>
                        </a:rPr>
                        <a:t>Cimory</a:t>
                      </a:r>
                      <a:r>
                        <a:rPr lang="en-US" sz="900">
                          <a:effectLst/>
                          <a:latin typeface="Raleway"/>
                        </a:rPr>
                        <a:t> Leadership Acceleration Program - Continuous Improvement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CEO Office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725244117"/>
                  </a:ext>
                </a:extLst>
              </a:tr>
              <a:tr h="228600">
                <a:tc>
                  <a:txBody>
                    <a:bodyPr/>
                    <a:lstStyle/>
                    <a:p>
                      <a:pPr>
                        <a:buNone/>
                      </a:pPr>
                      <a:r>
                        <a:rPr lang="en-US" sz="900" err="1">
                          <a:effectLst/>
                          <a:latin typeface="Raleway"/>
                        </a:rPr>
                        <a:t>Cimory</a:t>
                      </a:r>
                      <a:r>
                        <a:rPr lang="en-US" sz="900">
                          <a:effectLst/>
                          <a:latin typeface="Raleway"/>
                        </a:rPr>
                        <a:t> Leadership Acceleration Program - Digital Marketing</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Commercial CMD</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2</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2</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2043999095"/>
                  </a:ext>
                </a:extLst>
              </a:tr>
              <a:tr h="228600">
                <a:tc>
                  <a:txBody>
                    <a:bodyPr/>
                    <a:lstStyle/>
                    <a:p>
                      <a:pPr>
                        <a:buNone/>
                      </a:pPr>
                      <a:r>
                        <a:rPr lang="en-US" sz="900" err="1">
                          <a:effectLst/>
                          <a:latin typeface="Raleway"/>
                        </a:rPr>
                        <a:t>Cimory</a:t>
                      </a:r>
                      <a:r>
                        <a:rPr lang="en-US" sz="900">
                          <a:effectLst/>
                          <a:latin typeface="Raleway"/>
                        </a:rPr>
                        <a:t> Leadership Acceleration Program - Engineering</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Manufacture MP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3443523941"/>
                  </a:ext>
                </a:extLst>
              </a:tr>
              <a:tr h="228600">
                <a:tc>
                  <a:txBody>
                    <a:bodyPr/>
                    <a:lstStyle/>
                    <a:p>
                      <a:pPr>
                        <a:buNone/>
                      </a:pPr>
                      <a:r>
                        <a:rPr lang="en-US" sz="900" err="1">
                          <a:effectLst/>
                          <a:latin typeface="Raleway"/>
                        </a:rPr>
                        <a:t>Cimory</a:t>
                      </a:r>
                      <a:r>
                        <a:rPr lang="en-US" sz="900">
                          <a:effectLst/>
                          <a:latin typeface="Raleway"/>
                        </a:rPr>
                        <a:t> Leadership Acceleration Program - FBP Specialist - Procurement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CEO Office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220097205"/>
                  </a:ext>
                </a:extLst>
              </a:tr>
              <a:tr h="228600">
                <a:tc>
                  <a:txBody>
                    <a:bodyPr/>
                    <a:lstStyle/>
                    <a:p>
                      <a:pPr>
                        <a:buNone/>
                      </a:pPr>
                      <a:r>
                        <a:rPr lang="en-US" sz="900" err="1">
                          <a:effectLst/>
                          <a:latin typeface="Raleway"/>
                        </a:rPr>
                        <a:t>Cimory</a:t>
                      </a:r>
                      <a:r>
                        <a:rPr lang="en-US" sz="900">
                          <a:effectLst/>
                          <a:latin typeface="Raleway"/>
                        </a:rPr>
                        <a:t> Leadership Acceleration Program - Finance Business Partner</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CEO Office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2770276488"/>
                  </a:ext>
                </a:extLst>
              </a:tr>
              <a:tr h="228600">
                <a:tc>
                  <a:txBody>
                    <a:bodyPr/>
                    <a:lstStyle/>
                    <a:p>
                      <a:pPr>
                        <a:buNone/>
                      </a:pPr>
                      <a:r>
                        <a:rPr lang="en-US" sz="900" err="1">
                          <a:effectLst/>
                          <a:latin typeface="Raleway"/>
                        </a:rPr>
                        <a:t>Cimory</a:t>
                      </a:r>
                      <a:r>
                        <a:rPr lang="en-US" sz="900">
                          <a:effectLst/>
                          <a:latin typeface="Raleway"/>
                        </a:rPr>
                        <a:t> Leadership Acceleration Program - Manufacturing Excellence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Manufacture JESS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84553238"/>
                  </a:ext>
                </a:extLst>
              </a:tr>
              <a:tr h="228600">
                <a:tc>
                  <a:txBody>
                    <a:bodyPr/>
                    <a:lstStyle/>
                    <a:p>
                      <a:pPr>
                        <a:buNone/>
                      </a:pPr>
                      <a:r>
                        <a:rPr lang="en-US" sz="900" err="1">
                          <a:effectLst/>
                          <a:latin typeface="Raleway"/>
                        </a:rPr>
                        <a:t>Cimory</a:t>
                      </a:r>
                      <a:r>
                        <a:rPr lang="en-US" sz="900">
                          <a:effectLst/>
                          <a:latin typeface="Raleway"/>
                        </a:rPr>
                        <a:t> Leadership Acceleration Program - Modern Trade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Sales Modern Trade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417125902"/>
                  </a:ext>
                </a:extLst>
              </a:tr>
              <a:tr h="228600">
                <a:tc>
                  <a:txBody>
                    <a:bodyPr/>
                    <a:lstStyle/>
                    <a:p>
                      <a:pPr>
                        <a:buNone/>
                      </a:pPr>
                      <a:r>
                        <a:rPr lang="en-US" sz="900" err="1">
                          <a:effectLst/>
                          <a:latin typeface="Raleway"/>
                        </a:rPr>
                        <a:t>Cimory</a:t>
                      </a:r>
                      <a:r>
                        <a:rPr lang="en-US" sz="900">
                          <a:effectLst/>
                          <a:latin typeface="Raleway"/>
                        </a:rPr>
                        <a:t> Leadership Acceleration Program - Production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Manufacture MP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532076159"/>
                  </a:ext>
                </a:extLst>
              </a:tr>
              <a:tr h="228600">
                <a:tc>
                  <a:txBody>
                    <a:bodyPr/>
                    <a:lstStyle/>
                    <a:p>
                      <a:pPr>
                        <a:buNone/>
                      </a:pPr>
                      <a:r>
                        <a:rPr lang="en-US" sz="900" err="1">
                          <a:effectLst/>
                          <a:latin typeface="Raleway"/>
                        </a:rPr>
                        <a:t>Cimory</a:t>
                      </a:r>
                      <a:r>
                        <a:rPr lang="en-US" sz="900">
                          <a:effectLst/>
                          <a:latin typeface="Raleway"/>
                        </a:rPr>
                        <a:t> Leadership Acceleration Program - Quality Control</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Manufacture MP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4</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3</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4250717646"/>
                  </a:ext>
                </a:extLst>
              </a:tr>
              <a:tr h="228600">
                <a:tc>
                  <a:txBody>
                    <a:bodyPr/>
                    <a:lstStyle/>
                    <a:p>
                      <a:pPr>
                        <a:buNone/>
                      </a:pPr>
                      <a:r>
                        <a:rPr lang="en-US" sz="900">
                          <a:effectLst/>
                          <a:latin typeface="Raleway"/>
                        </a:rPr>
                        <a:t>Fresh Graduate Development Program - Branch Operations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Logistic &amp; Distribution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2327082553"/>
                  </a:ext>
                </a:extLst>
              </a:tr>
              <a:tr h="228600">
                <a:tc>
                  <a:txBody>
                    <a:bodyPr/>
                    <a:lstStyle/>
                    <a:p>
                      <a:pPr>
                        <a:buNone/>
                      </a:pPr>
                      <a:r>
                        <a:rPr lang="en-US" sz="900">
                          <a:effectLst/>
                          <a:latin typeface="Raleway"/>
                        </a:rPr>
                        <a:t>Fresh Graduate Development Program - Business Development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Commercial CMD</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4238731466"/>
                  </a:ext>
                </a:extLst>
              </a:tr>
              <a:tr h="228600">
                <a:tc>
                  <a:txBody>
                    <a:bodyPr/>
                    <a:lstStyle/>
                    <a:p>
                      <a:pPr>
                        <a:buNone/>
                      </a:pPr>
                      <a:r>
                        <a:rPr lang="en-US" sz="900">
                          <a:effectLst/>
                          <a:latin typeface="Raleway"/>
                        </a:rPr>
                        <a:t>Fresh Graduate Development Program - Central Warehouse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Logistic &amp; Distribution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3141298199"/>
                  </a:ext>
                </a:extLst>
              </a:tr>
            </a:tbl>
          </a:graphicData>
        </a:graphic>
      </p:graphicFrame>
      <p:sp>
        <p:nvSpPr>
          <p:cNvPr id="9" name="Shape 5">
            <a:extLst>
              <a:ext uri="{FF2B5EF4-FFF2-40B4-BE49-F238E27FC236}">
                <a16:creationId xmlns:a16="http://schemas.microsoft.com/office/drawing/2014/main" id="{D183FF33-8745-7DDC-E4AA-8ED9A0F6EA22}"/>
              </a:ext>
            </a:extLst>
          </p:cNvPr>
          <p:cNvSpPr/>
          <p:nvPr/>
        </p:nvSpPr>
        <p:spPr>
          <a:xfrm>
            <a:off x="438912" y="621792"/>
            <a:ext cx="1767840" cy="960120"/>
          </a:xfrm>
          <a:prstGeom prst="rect">
            <a:avLst/>
          </a:prstGeom>
          <a:solidFill>
            <a:srgbClr val="0070C0"/>
          </a:solidFill>
          <a:ln w="12700">
            <a:solidFill>
              <a:srgbClr val="1F6FB2"/>
            </a:solidFill>
            <a:prstDash val="solid"/>
          </a:ln>
        </p:spPr>
        <p:txBody>
          <a:bodyPr/>
          <a:lstStyle/>
          <a:p>
            <a:endParaRPr lang="en-US"/>
          </a:p>
        </p:txBody>
      </p:sp>
      <p:sp>
        <p:nvSpPr>
          <p:cNvPr id="12" name="fptklvl3">
            <a:extLst>
              <a:ext uri="{FF2B5EF4-FFF2-40B4-BE49-F238E27FC236}">
                <a16:creationId xmlns:a16="http://schemas.microsoft.com/office/drawing/2014/main" id="{4C322237-EBD8-DC22-A661-6B73BCAA0421}"/>
              </a:ext>
            </a:extLst>
          </p:cNvPr>
          <p:cNvSpPr/>
          <p:nvPr/>
        </p:nvSpPr>
        <p:spPr>
          <a:xfrm>
            <a:off x="438912" y="694944"/>
            <a:ext cx="1767840" cy="548640"/>
          </a:xfrm>
          <a:prstGeom prst="rect">
            <a:avLst/>
          </a:prstGeom>
          <a:noFill/>
          <a:ln/>
        </p:spPr>
        <p:txBody>
          <a:bodyPr wrap="square" lIns="0" tIns="0" rIns="0" bIns="0" rtlCol="0" anchor="ctr">
            <a:noAutofit/>
          </a:bodyPr>
          <a:lstStyle/>
          <a:p>
            <a:pPr marL="0" indent="0" algn="ctr">
              <a:buNone/>
            </a:pPr>
            <a:r>
              <a:rPr lang="en-US" sz="3000" b="1">
                <a:solidFill>
                  <a:srgbClr val="FFFFFF"/>
                </a:solidFill>
                <a:latin typeface="Raleway"/>
                <a:ea typeface="Calibri"/>
                <a:cs typeface="Calibri"/>
              </a:rPr>
              <a:t>68</a:t>
            </a:r>
          </a:p>
        </p:txBody>
      </p:sp>
      <p:sp>
        <p:nvSpPr>
          <p:cNvPr id="15" name="Text 7">
            <a:extLst>
              <a:ext uri="{FF2B5EF4-FFF2-40B4-BE49-F238E27FC236}">
                <a16:creationId xmlns:a16="http://schemas.microsoft.com/office/drawing/2014/main" id="{D7C90A5C-DA66-5F1B-5BFF-2541D550543A}"/>
              </a:ext>
            </a:extLst>
          </p:cNvPr>
          <p:cNvSpPr/>
          <p:nvPr/>
        </p:nvSpPr>
        <p:spPr>
          <a:xfrm>
            <a:off x="438912" y="1261872"/>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FPTK</a:t>
            </a:r>
            <a:endParaRPr lang="en-US" sz="1100">
              <a:latin typeface="Raleway"/>
            </a:endParaRPr>
          </a:p>
        </p:txBody>
      </p:sp>
      <p:sp>
        <p:nvSpPr>
          <p:cNvPr id="18" name="Shape 8">
            <a:extLst>
              <a:ext uri="{FF2B5EF4-FFF2-40B4-BE49-F238E27FC236}">
                <a16:creationId xmlns:a16="http://schemas.microsoft.com/office/drawing/2014/main" id="{0A184EC2-8935-FC96-A8B7-B426352A0208}"/>
              </a:ext>
            </a:extLst>
          </p:cNvPr>
          <p:cNvSpPr/>
          <p:nvPr/>
        </p:nvSpPr>
        <p:spPr>
          <a:xfrm>
            <a:off x="2371344" y="621792"/>
            <a:ext cx="1767840" cy="960120"/>
          </a:xfrm>
          <a:prstGeom prst="rect">
            <a:avLst/>
          </a:prstGeom>
          <a:solidFill>
            <a:srgbClr val="0070C0"/>
          </a:solidFill>
          <a:ln w="12700">
            <a:solidFill>
              <a:srgbClr val="1F6FB2"/>
            </a:solidFill>
            <a:prstDash val="solid"/>
          </a:ln>
        </p:spPr>
        <p:txBody>
          <a:bodyPr/>
          <a:lstStyle/>
          <a:p>
            <a:endParaRPr lang="en-US"/>
          </a:p>
        </p:txBody>
      </p:sp>
      <p:sp>
        <p:nvSpPr>
          <p:cNvPr id="21" name="openlvl3">
            <a:extLst>
              <a:ext uri="{FF2B5EF4-FFF2-40B4-BE49-F238E27FC236}">
                <a16:creationId xmlns:a16="http://schemas.microsoft.com/office/drawing/2014/main" id="{CE866E69-AC36-2D8E-CBEE-0CD1716E2192}"/>
              </a:ext>
            </a:extLst>
          </p:cNvPr>
          <p:cNvSpPr/>
          <p:nvPr/>
        </p:nvSpPr>
        <p:spPr>
          <a:xfrm>
            <a:off x="2371344" y="694944"/>
            <a:ext cx="1767840" cy="548640"/>
          </a:xfrm>
          <a:prstGeom prst="rect">
            <a:avLst/>
          </a:prstGeom>
          <a:noFill/>
          <a:ln/>
        </p:spPr>
        <p:txBody>
          <a:bodyPr wrap="square" lIns="0" tIns="0" rIns="0" bIns="0" rtlCol="0" anchor="ctr">
            <a:noAutofit/>
          </a:bodyPr>
          <a:lstStyle/>
          <a:p>
            <a:pPr marL="0" indent="0" algn="ctr">
              <a:buNone/>
            </a:pPr>
            <a:r>
              <a:rPr lang="en-US" sz="3000" b="1">
                <a:solidFill>
                  <a:srgbClr val="FFFFFF"/>
                </a:solidFill>
                <a:latin typeface="Raleway"/>
                <a:ea typeface="Calibri"/>
                <a:cs typeface="Calibri"/>
              </a:rPr>
              <a:t>31</a:t>
            </a:r>
          </a:p>
        </p:txBody>
      </p:sp>
      <p:sp>
        <p:nvSpPr>
          <p:cNvPr id="24" name="Text 10">
            <a:extLst>
              <a:ext uri="{FF2B5EF4-FFF2-40B4-BE49-F238E27FC236}">
                <a16:creationId xmlns:a16="http://schemas.microsoft.com/office/drawing/2014/main" id="{22484441-2741-32CF-C15E-21B00BF464A9}"/>
              </a:ext>
            </a:extLst>
          </p:cNvPr>
          <p:cNvSpPr/>
          <p:nvPr/>
        </p:nvSpPr>
        <p:spPr>
          <a:xfrm>
            <a:off x="2371344" y="1261872"/>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OPEN</a:t>
            </a:r>
            <a:endParaRPr lang="en-US" sz="1100">
              <a:latin typeface="Raleway"/>
            </a:endParaRPr>
          </a:p>
        </p:txBody>
      </p:sp>
      <p:sp>
        <p:nvSpPr>
          <p:cNvPr id="27" name="Shape 11">
            <a:extLst>
              <a:ext uri="{FF2B5EF4-FFF2-40B4-BE49-F238E27FC236}">
                <a16:creationId xmlns:a16="http://schemas.microsoft.com/office/drawing/2014/main" id="{5163A333-4860-5759-DA98-24BBCE3389C1}"/>
              </a:ext>
            </a:extLst>
          </p:cNvPr>
          <p:cNvSpPr/>
          <p:nvPr/>
        </p:nvSpPr>
        <p:spPr>
          <a:xfrm>
            <a:off x="4303776" y="621792"/>
            <a:ext cx="1767840" cy="960120"/>
          </a:xfrm>
          <a:prstGeom prst="rect">
            <a:avLst/>
          </a:prstGeom>
          <a:solidFill>
            <a:srgbClr val="0070C0"/>
          </a:solidFill>
          <a:ln w="12700">
            <a:solidFill>
              <a:srgbClr val="1F6FB2"/>
            </a:solidFill>
            <a:prstDash val="solid"/>
          </a:ln>
        </p:spPr>
        <p:txBody>
          <a:bodyPr/>
          <a:lstStyle/>
          <a:p>
            <a:endParaRPr lang="en-US"/>
          </a:p>
        </p:txBody>
      </p:sp>
      <p:sp>
        <p:nvSpPr>
          <p:cNvPr id="30" name="closedlvl3">
            <a:extLst>
              <a:ext uri="{FF2B5EF4-FFF2-40B4-BE49-F238E27FC236}">
                <a16:creationId xmlns:a16="http://schemas.microsoft.com/office/drawing/2014/main" id="{6CE2EA20-D239-7C18-0D13-E708C3C0DCED}"/>
              </a:ext>
            </a:extLst>
          </p:cNvPr>
          <p:cNvSpPr/>
          <p:nvPr/>
        </p:nvSpPr>
        <p:spPr>
          <a:xfrm>
            <a:off x="4303776" y="694944"/>
            <a:ext cx="1767840" cy="548640"/>
          </a:xfrm>
          <a:prstGeom prst="rect">
            <a:avLst/>
          </a:prstGeom>
          <a:noFill/>
          <a:ln/>
        </p:spPr>
        <p:txBody>
          <a:bodyPr wrap="square" lIns="0" tIns="0" rIns="0" bIns="0" rtlCol="0" anchor="ctr">
            <a:noAutofit/>
          </a:bodyPr>
          <a:lstStyle/>
          <a:p>
            <a:pPr marL="0" indent="0" algn="ctr">
              <a:buNone/>
            </a:pPr>
            <a:r>
              <a:rPr lang="en-US" sz="3000" b="1">
                <a:solidFill>
                  <a:srgbClr val="FFFFFF"/>
                </a:solidFill>
                <a:latin typeface="Raleway"/>
                <a:ea typeface="Calibri"/>
                <a:cs typeface="Calibri"/>
              </a:rPr>
              <a:t>34</a:t>
            </a:r>
          </a:p>
        </p:txBody>
      </p:sp>
      <p:sp>
        <p:nvSpPr>
          <p:cNvPr id="33" name="Text 13">
            <a:extLst>
              <a:ext uri="{FF2B5EF4-FFF2-40B4-BE49-F238E27FC236}">
                <a16:creationId xmlns:a16="http://schemas.microsoft.com/office/drawing/2014/main" id="{6D005AB6-4990-5F40-4D57-18CCD991A2CD}"/>
              </a:ext>
            </a:extLst>
          </p:cNvPr>
          <p:cNvSpPr/>
          <p:nvPr/>
        </p:nvSpPr>
        <p:spPr>
          <a:xfrm>
            <a:off x="4303776" y="1261872"/>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CLOSED</a:t>
            </a:r>
            <a:endParaRPr lang="en-US" sz="1100">
              <a:latin typeface="Raleway"/>
            </a:endParaRPr>
          </a:p>
        </p:txBody>
      </p:sp>
      <p:sp>
        <p:nvSpPr>
          <p:cNvPr id="36" name="Shape 14">
            <a:extLst>
              <a:ext uri="{FF2B5EF4-FFF2-40B4-BE49-F238E27FC236}">
                <a16:creationId xmlns:a16="http://schemas.microsoft.com/office/drawing/2014/main" id="{C0DD7DED-00EB-003C-F980-F8952C1700EA}"/>
              </a:ext>
            </a:extLst>
          </p:cNvPr>
          <p:cNvSpPr/>
          <p:nvPr/>
        </p:nvSpPr>
        <p:spPr>
          <a:xfrm>
            <a:off x="6236208" y="621792"/>
            <a:ext cx="1767840" cy="960120"/>
          </a:xfrm>
          <a:prstGeom prst="rect">
            <a:avLst/>
          </a:prstGeom>
          <a:solidFill>
            <a:srgbClr val="0070C0"/>
          </a:solidFill>
          <a:ln w="12700">
            <a:solidFill>
              <a:srgbClr val="1F6FB2"/>
            </a:solidFill>
            <a:prstDash val="solid"/>
          </a:ln>
        </p:spPr>
        <p:txBody>
          <a:bodyPr/>
          <a:lstStyle/>
          <a:p>
            <a:endParaRPr lang="en-US"/>
          </a:p>
        </p:txBody>
      </p:sp>
      <p:sp>
        <p:nvSpPr>
          <p:cNvPr id="39" name="cancellvl3">
            <a:extLst>
              <a:ext uri="{FF2B5EF4-FFF2-40B4-BE49-F238E27FC236}">
                <a16:creationId xmlns:a16="http://schemas.microsoft.com/office/drawing/2014/main" id="{D0D598E1-740B-3B04-85B6-D0297E28F5BF}"/>
              </a:ext>
            </a:extLst>
          </p:cNvPr>
          <p:cNvSpPr/>
          <p:nvPr/>
        </p:nvSpPr>
        <p:spPr>
          <a:xfrm>
            <a:off x="6236208" y="694944"/>
            <a:ext cx="1767840" cy="548640"/>
          </a:xfrm>
          <a:prstGeom prst="rect">
            <a:avLst/>
          </a:prstGeom>
          <a:noFill/>
          <a:ln/>
        </p:spPr>
        <p:txBody>
          <a:bodyPr wrap="square" lIns="0" tIns="0" rIns="0" bIns="0" rtlCol="0" anchor="ctr">
            <a:noAutofit/>
          </a:bodyPr>
          <a:lstStyle/>
          <a:p>
            <a:pPr marL="0" indent="0" algn="ctr">
              <a:buNone/>
            </a:pPr>
            <a:r>
              <a:rPr lang="en-US" sz="3000" b="1">
                <a:solidFill>
                  <a:srgbClr val="FFFFFF"/>
                </a:solidFill>
                <a:latin typeface="Raleway"/>
                <a:ea typeface="Calibri"/>
                <a:cs typeface="Calibri"/>
              </a:rPr>
              <a:t>3</a:t>
            </a:r>
          </a:p>
        </p:txBody>
      </p:sp>
      <p:sp>
        <p:nvSpPr>
          <p:cNvPr id="42" name="Text 16">
            <a:extLst>
              <a:ext uri="{FF2B5EF4-FFF2-40B4-BE49-F238E27FC236}">
                <a16:creationId xmlns:a16="http://schemas.microsoft.com/office/drawing/2014/main" id="{423B6822-7632-0397-87B8-474F3A24AA54}"/>
              </a:ext>
            </a:extLst>
          </p:cNvPr>
          <p:cNvSpPr/>
          <p:nvPr/>
        </p:nvSpPr>
        <p:spPr>
          <a:xfrm>
            <a:off x="6236208" y="1261872"/>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CANCEL</a:t>
            </a:r>
            <a:endParaRPr lang="en-US" sz="1100">
              <a:latin typeface="Raleway"/>
            </a:endParaRPr>
          </a:p>
        </p:txBody>
      </p:sp>
      <p:sp>
        <p:nvSpPr>
          <p:cNvPr id="45" name="Shape 17">
            <a:extLst>
              <a:ext uri="{FF2B5EF4-FFF2-40B4-BE49-F238E27FC236}">
                <a16:creationId xmlns:a16="http://schemas.microsoft.com/office/drawing/2014/main" id="{5FA1D44F-D1C0-3EF7-93FB-F4781B965E1A}"/>
              </a:ext>
            </a:extLst>
          </p:cNvPr>
          <p:cNvSpPr/>
          <p:nvPr/>
        </p:nvSpPr>
        <p:spPr>
          <a:xfrm>
            <a:off x="8168640" y="621792"/>
            <a:ext cx="1767840" cy="960120"/>
          </a:xfrm>
          <a:prstGeom prst="rect">
            <a:avLst/>
          </a:prstGeom>
          <a:solidFill>
            <a:srgbClr val="0070C0"/>
          </a:solidFill>
          <a:ln w="12700">
            <a:solidFill>
              <a:srgbClr val="1F6FB2"/>
            </a:solidFill>
            <a:prstDash val="solid"/>
          </a:ln>
        </p:spPr>
        <p:txBody>
          <a:bodyPr/>
          <a:lstStyle/>
          <a:p>
            <a:endParaRPr lang="en-US"/>
          </a:p>
        </p:txBody>
      </p:sp>
      <p:sp>
        <p:nvSpPr>
          <p:cNvPr id="48" name="fillratelvl3">
            <a:extLst>
              <a:ext uri="{FF2B5EF4-FFF2-40B4-BE49-F238E27FC236}">
                <a16:creationId xmlns:a16="http://schemas.microsoft.com/office/drawing/2014/main" id="{69B7D328-0EE5-C503-81C5-55BD4A2599D9}"/>
              </a:ext>
            </a:extLst>
          </p:cNvPr>
          <p:cNvSpPr/>
          <p:nvPr/>
        </p:nvSpPr>
        <p:spPr>
          <a:xfrm>
            <a:off x="8168640" y="694944"/>
            <a:ext cx="1767840" cy="548640"/>
          </a:xfrm>
          <a:prstGeom prst="rect">
            <a:avLst/>
          </a:prstGeom>
          <a:noFill/>
          <a:ln/>
        </p:spPr>
        <p:txBody>
          <a:bodyPr wrap="square" lIns="0" tIns="0" rIns="0" bIns="0" rtlCol="0" anchor="ctr">
            <a:noAutofit/>
          </a:bodyPr>
          <a:lstStyle/>
          <a:p>
            <a:pPr marL="0" indent="0" algn="ctr">
              <a:buNone/>
            </a:pPr>
            <a:r>
              <a:rPr lang="en-US" sz="3000" b="1" dirty="0">
                <a:solidFill>
                  <a:srgbClr val="FFFFFF"/>
                </a:solidFill>
                <a:latin typeface="Raleway"/>
                <a:ea typeface="Calibri"/>
                <a:cs typeface="Calibri"/>
              </a:rPr>
              <a:t>52.31%</a:t>
            </a:r>
            <a:endParaRPr lang="en-US" sz="3000" dirty="0">
              <a:latin typeface="Raleway"/>
              <a:ea typeface="Calibri"/>
              <a:cs typeface="Calibri"/>
            </a:endParaRPr>
          </a:p>
        </p:txBody>
      </p:sp>
      <p:sp>
        <p:nvSpPr>
          <p:cNvPr id="51" name="Text 19">
            <a:extLst>
              <a:ext uri="{FF2B5EF4-FFF2-40B4-BE49-F238E27FC236}">
                <a16:creationId xmlns:a16="http://schemas.microsoft.com/office/drawing/2014/main" id="{88702B63-A0BF-D94E-69D0-B795938CA789}"/>
              </a:ext>
            </a:extLst>
          </p:cNvPr>
          <p:cNvSpPr/>
          <p:nvPr/>
        </p:nvSpPr>
        <p:spPr>
          <a:xfrm>
            <a:off x="8168640" y="1261872"/>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FILL RATE</a:t>
            </a:r>
            <a:endParaRPr lang="en-US" sz="1100">
              <a:latin typeface="Raleway"/>
            </a:endParaRPr>
          </a:p>
        </p:txBody>
      </p:sp>
      <p:sp>
        <p:nvSpPr>
          <p:cNvPr id="54" name="Shape 20">
            <a:extLst>
              <a:ext uri="{FF2B5EF4-FFF2-40B4-BE49-F238E27FC236}">
                <a16:creationId xmlns:a16="http://schemas.microsoft.com/office/drawing/2014/main" id="{62D76B4B-95E4-249F-63C5-0616EF2C671C}"/>
              </a:ext>
            </a:extLst>
          </p:cNvPr>
          <p:cNvSpPr/>
          <p:nvPr/>
        </p:nvSpPr>
        <p:spPr>
          <a:xfrm>
            <a:off x="10101072" y="621792"/>
            <a:ext cx="1767840" cy="960120"/>
          </a:xfrm>
          <a:prstGeom prst="rect">
            <a:avLst/>
          </a:prstGeom>
          <a:solidFill>
            <a:srgbClr val="0070C0"/>
          </a:solidFill>
          <a:ln w="12700">
            <a:solidFill>
              <a:srgbClr val="1F6FB2"/>
            </a:solidFill>
            <a:prstDash val="solid"/>
          </a:ln>
        </p:spPr>
        <p:txBody>
          <a:bodyPr/>
          <a:lstStyle/>
          <a:p>
            <a:endParaRPr lang="en-US"/>
          </a:p>
        </p:txBody>
      </p:sp>
      <p:sp>
        <p:nvSpPr>
          <p:cNvPr id="57" name="closesesuaislalvl3">
            <a:extLst>
              <a:ext uri="{FF2B5EF4-FFF2-40B4-BE49-F238E27FC236}">
                <a16:creationId xmlns:a16="http://schemas.microsoft.com/office/drawing/2014/main" id="{A835E54B-EF7B-AF03-53C1-F3621E202B59}"/>
              </a:ext>
            </a:extLst>
          </p:cNvPr>
          <p:cNvSpPr/>
          <p:nvPr/>
        </p:nvSpPr>
        <p:spPr>
          <a:xfrm>
            <a:off x="10101072" y="694944"/>
            <a:ext cx="1767840" cy="548640"/>
          </a:xfrm>
          <a:prstGeom prst="rect">
            <a:avLst/>
          </a:prstGeom>
          <a:noFill/>
          <a:ln/>
        </p:spPr>
        <p:txBody>
          <a:bodyPr wrap="square" lIns="0" tIns="0" rIns="0" bIns="0" rtlCol="0" anchor="ctr">
            <a:noAutofit/>
          </a:bodyPr>
          <a:lstStyle/>
          <a:p>
            <a:pPr marL="0" indent="0" algn="ctr">
              <a:buNone/>
            </a:pPr>
            <a:r>
              <a:rPr lang="en-US" sz="3000" b="1" dirty="0">
                <a:solidFill>
                  <a:srgbClr val="FFFFFF"/>
                </a:solidFill>
                <a:latin typeface="Raleway"/>
                <a:ea typeface="Calibri"/>
                <a:cs typeface="Calibri"/>
              </a:rPr>
              <a:t>8.77%</a:t>
            </a:r>
            <a:endParaRPr lang="en-US" sz="3000" dirty="0">
              <a:latin typeface="Raleway"/>
            </a:endParaRPr>
          </a:p>
        </p:txBody>
      </p:sp>
      <p:sp>
        <p:nvSpPr>
          <p:cNvPr id="59" name="Text 22">
            <a:extLst>
              <a:ext uri="{FF2B5EF4-FFF2-40B4-BE49-F238E27FC236}">
                <a16:creationId xmlns:a16="http://schemas.microsoft.com/office/drawing/2014/main" id="{EC9A1D27-DCEA-5100-8FA9-FB315042996A}"/>
              </a:ext>
            </a:extLst>
          </p:cNvPr>
          <p:cNvSpPr/>
          <p:nvPr/>
        </p:nvSpPr>
        <p:spPr>
          <a:xfrm>
            <a:off x="10101072" y="1261872"/>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 SESUAI SLA</a:t>
            </a:r>
            <a:endParaRPr lang="en-US" sz="1100">
              <a:latin typeface="Raleway"/>
            </a:endParaRPr>
          </a:p>
        </p:txBody>
      </p:sp>
    </p:spTree>
    <p:extLst>
      <p:ext uri="{BB962C8B-B14F-4D97-AF65-F5344CB8AC3E}">
        <p14:creationId xmlns:p14="http://schemas.microsoft.com/office/powerpoint/2010/main" val="421004976"/>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7C9C12-3B33-16ED-BDFF-11705DE1145C}"/>
            </a:ext>
          </a:extLst>
        </p:cNvPr>
        <p:cNvGrpSpPr/>
        <p:nvPr/>
      </p:nvGrpSpPr>
      <p:grpSpPr>
        <a:xfrm>
          <a:off x="0" y="0"/>
          <a:ext cx="0" cy="0"/>
          <a:chOff x="0" y="0"/>
          <a:chExt cx="0" cy="0"/>
        </a:xfrm>
      </p:grpSpPr>
      <p:sp>
        <p:nvSpPr>
          <p:cNvPr id="2" name="Text 0">
            <a:extLst>
              <a:ext uri="{FF2B5EF4-FFF2-40B4-BE49-F238E27FC236}">
                <a16:creationId xmlns:a16="http://schemas.microsoft.com/office/drawing/2014/main" id="{1B6FA4F0-F228-B22D-1234-E23705E6CF01}"/>
              </a:ext>
            </a:extLst>
          </p:cNvPr>
          <p:cNvSpPr/>
          <p:nvPr/>
        </p:nvSpPr>
        <p:spPr>
          <a:xfrm>
            <a:off x="438912" y="73152"/>
            <a:ext cx="11277295" cy="548640"/>
          </a:xfrm>
          <a:prstGeom prst="rect">
            <a:avLst/>
          </a:prstGeom>
          <a:noFill/>
          <a:ln/>
        </p:spPr>
        <p:txBody>
          <a:bodyPr wrap="square" rtlCol="0" anchor="ctr"/>
          <a:lstStyle/>
          <a:p>
            <a:pPr marL="0" indent="0">
              <a:buNone/>
            </a:pPr>
            <a:r>
              <a:rPr lang="en-US" sz="2600" b="1">
                <a:solidFill>
                  <a:srgbClr val="12284C"/>
                </a:solidFill>
                <a:latin typeface="+mj-lt"/>
                <a:ea typeface="Georgia" pitchFamily="34" charset="-122"/>
                <a:cs typeface="Georgia" pitchFamily="34" charset="-120"/>
              </a:rPr>
              <a:t>Executive Summary — CLAP &amp; FGDP</a:t>
            </a:r>
            <a:endParaRPr lang="en-US" sz="2600">
              <a:latin typeface="+mj-lt"/>
            </a:endParaRPr>
          </a:p>
        </p:txBody>
      </p:sp>
      <p:sp>
        <p:nvSpPr>
          <p:cNvPr id="5" name="Shape 5">
            <a:extLst>
              <a:ext uri="{FF2B5EF4-FFF2-40B4-BE49-F238E27FC236}">
                <a16:creationId xmlns:a16="http://schemas.microsoft.com/office/drawing/2014/main" id="{62818534-5C60-6A57-97A5-AE7DD7C35D04}"/>
              </a:ext>
            </a:extLst>
          </p:cNvPr>
          <p:cNvSpPr/>
          <p:nvPr/>
        </p:nvSpPr>
        <p:spPr>
          <a:xfrm>
            <a:off x="438912" y="621792"/>
            <a:ext cx="1767840" cy="960120"/>
          </a:xfrm>
          <a:prstGeom prst="rect">
            <a:avLst/>
          </a:prstGeom>
          <a:solidFill>
            <a:srgbClr val="0070C0"/>
          </a:solidFill>
          <a:ln w="12700">
            <a:solidFill>
              <a:srgbClr val="1F6FB2"/>
            </a:solidFill>
            <a:prstDash val="solid"/>
          </a:ln>
        </p:spPr>
        <p:txBody>
          <a:bodyPr/>
          <a:lstStyle/>
          <a:p>
            <a:endParaRPr lang="en-US"/>
          </a:p>
        </p:txBody>
      </p:sp>
      <p:sp>
        <p:nvSpPr>
          <p:cNvPr id="8" name="fptklvl3">
            <a:extLst>
              <a:ext uri="{FF2B5EF4-FFF2-40B4-BE49-F238E27FC236}">
                <a16:creationId xmlns:a16="http://schemas.microsoft.com/office/drawing/2014/main" id="{4798168A-D7DD-BE27-271E-03178EF39EE8}"/>
              </a:ext>
            </a:extLst>
          </p:cNvPr>
          <p:cNvSpPr/>
          <p:nvPr/>
        </p:nvSpPr>
        <p:spPr>
          <a:xfrm>
            <a:off x="438912" y="694944"/>
            <a:ext cx="1767840" cy="548640"/>
          </a:xfrm>
          <a:prstGeom prst="rect">
            <a:avLst/>
          </a:prstGeom>
          <a:noFill/>
          <a:ln/>
        </p:spPr>
        <p:txBody>
          <a:bodyPr wrap="square" lIns="0" tIns="0" rIns="0" bIns="0" rtlCol="0" anchor="ctr">
            <a:noAutofit/>
          </a:bodyPr>
          <a:lstStyle/>
          <a:p>
            <a:pPr marL="0" indent="0" algn="ctr">
              <a:buNone/>
            </a:pPr>
            <a:r>
              <a:rPr lang="en-US" sz="3000" b="1">
                <a:solidFill>
                  <a:srgbClr val="FFFFFF"/>
                </a:solidFill>
                <a:latin typeface="Raleway"/>
                <a:ea typeface="Calibri"/>
                <a:cs typeface="Calibri"/>
              </a:rPr>
              <a:t>68</a:t>
            </a:r>
          </a:p>
        </p:txBody>
      </p:sp>
      <p:sp>
        <p:nvSpPr>
          <p:cNvPr id="12" name="Text 7">
            <a:extLst>
              <a:ext uri="{FF2B5EF4-FFF2-40B4-BE49-F238E27FC236}">
                <a16:creationId xmlns:a16="http://schemas.microsoft.com/office/drawing/2014/main" id="{6AF47900-5B82-70BE-C117-F99A56914B77}"/>
              </a:ext>
            </a:extLst>
          </p:cNvPr>
          <p:cNvSpPr/>
          <p:nvPr/>
        </p:nvSpPr>
        <p:spPr>
          <a:xfrm>
            <a:off x="438912" y="1261872"/>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FPTK</a:t>
            </a:r>
            <a:endParaRPr lang="en-US" sz="1100">
              <a:latin typeface="Raleway"/>
            </a:endParaRPr>
          </a:p>
        </p:txBody>
      </p:sp>
      <p:sp>
        <p:nvSpPr>
          <p:cNvPr id="15" name="Shape 8">
            <a:extLst>
              <a:ext uri="{FF2B5EF4-FFF2-40B4-BE49-F238E27FC236}">
                <a16:creationId xmlns:a16="http://schemas.microsoft.com/office/drawing/2014/main" id="{88DF73F7-B080-331A-DD50-5E6975BA5438}"/>
              </a:ext>
            </a:extLst>
          </p:cNvPr>
          <p:cNvSpPr/>
          <p:nvPr/>
        </p:nvSpPr>
        <p:spPr>
          <a:xfrm>
            <a:off x="2371344" y="621792"/>
            <a:ext cx="1767840" cy="960120"/>
          </a:xfrm>
          <a:prstGeom prst="rect">
            <a:avLst/>
          </a:prstGeom>
          <a:solidFill>
            <a:srgbClr val="0070C0"/>
          </a:solidFill>
          <a:ln w="12700">
            <a:solidFill>
              <a:srgbClr val="1F6FB2"/>
            </a:solidFill>
            <a:prstDash val="solid"/>
          </a:ln>
        </p:spPr>
        <p:txBody>
          <a:bodyPr/>
          <a:lstStyle/>
          <a:p>
            <a:endParaRPr lang="en-US"/>
          </a:p>
        </p:txBody>
      </p:sp>
      <p:sp>
        <p:nvSpPr>
          <p:cNvPr id="19" name="openlvl3">
            <a:extLst>
              <a:ext uri="{FF2B5EF4-FFF2-40B4-BE49-F238E27FC236}">
                <a16:creationId xmlns:a16="http://schemas.microsoft.com/office/drawing/2014/main" id="{7CA069DF-A23E-49A1-F134-8B68F2BE4481}"/>
              </a:ext>
            </a:extLst>
          </p:cNvPr>
          <p:cNvSpPr/>
          <p:nvPr/>
        </p:nvSpPr>
        <p:spPr>
          <a:xfrm>
            <a:off x="2371344" y="694944"/>
            <a:ext cx="1767840" cy="548640"/>
          </a:xfrm>
          <a:prstGeom prst="rect">
            <a:avLst/>
          </a:prstGeom>
          <a:noFill/>
          <a:ln/>
        </p:spPr>
        <p:txBody>
          <a:bodyPr wrap="square" lIns="0" tIns="0" rIns="0" bIns="0" rtlCol="0" anchor="ctr">
            <a:noAutofit/>
          </a:bodyPr>
          <a:lstStyle/>
          <a:p>
            <a:pPr marL="0" indent="0" algn="ctr">
              <a:buNone/>
            </a:pPr>
            <a:r>
              <a:rPr lang="en-US" sz="3000" b="1">
                <a:solidFill>
                  <a:srgbClr val="FFFFFF"/>
                </a:solidFill>
                <a:latin typeface="Raleway"/>
                <a:ea typeface="Calibri"/>
                <a:cs typeface="Calibri"/>
              </a:rPr>
              <a:t>31</a:t>
            </a:r>
          </a:p>
        </p:txBody>
      </p:sp>
      <p:sp>
        <p:nvSpPr>
          <p:cNvPr id="21" name="Text 10">
            <a:extLst>
              <a:ext uri="{FF2B5EF4-FFF2-40B4-BE49-F238E27FC236}">
                <a16:creationId xmlns:a16="http://schemas.microsoft.com/office/drawing/2014/main" id="{1AEE4B28-339E-5DA5-FC07-0CAFEF8EDB76}"/>
              </a:ext>
            </a:extLst>
          </p:cNvPr>
          <p:cNvSpPr/>
          <p:nvPr/>
        </p:nvSpPr>
        <p:spPr>
          <a:xfrm>
            <a:off x="2371344" y="1261872"/>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OPEN</a:t>
            </a:r>
            <a:endParaRPr lang="en-US" sz="1100">
              <a:latin typeface="Raleway"/>
            </a:endParaRPr>
          </a:p>
        </p:txBody>
      </p:sp>
      <p:sp>
        <p:nvSpPr>
          <p:cNvPr id="25" name="Shape 11">
            <a:extLst>
              <a:ext uri="{FF2B5EF4-FFF2-40B4-BE49-F238E27FC236}">
                <a16:creationId xmlns:a16="http://schemas.microsoft.com/office/drawing/2014/main" id="{7CDF8C1E-5D79-28BC-4E31-889C8CEDBBE9}"/>
              </a:ext>
            </a:extLst>
          </p:cNvPr>
          <p:cNvSpPr/>
          <p:nvPr/>
        </p:nvSpPr>
        <p:spPr>
          <a:xfrm>
            <a:off x="4303776" y="621792"/>
            <a:ext cx="1767840" cy="960120"/>
          </a:xfrm>
          <a:prstGeom prst="rect">
            <a:avLst/>
          </a:prstGeom>
          <a:solidFill>
            <a:srgbClr val="0070C0"/>
          </a:solidFill>
          <a:ln w="12700">
            <a:solidFill>
              <a:srgbClr val="1F6FB2"/>
            </a:solidFill>
            <a:prstDash val="solid"/>
          </a:ln>
        </p:spPr>
        <p:txBody>
          <a:bodyPr/>
          <a:lstStyle/>
          <a:p>
            <a:endParaRPr lang="en-US"/>
          </a:p>
        </p:txBody>
      </p:sp>
      <p:sp>
        <p:nvSpPr>
          <p:cNvPr id="30" name="closedlvl3">
            <a:extLst>
              <a:ext uri="{FF2B5EF4-FFF2-40B4-BE49-F238E27FC236}">
                <a16:creationId xmlns:a16="http://schemas.microsoft.com/office/drawing/2014/main" id="{D1255F4A-CB0D-F50E-426C-5D842355B1D9}"/>
              </a:ext>
            </a:extLst>
          </p:cNvPr>
          <p:cNvSpPr/>
          <p:nvPr/>
        </p:nvSpPr>
        <p:spPr>
          <a:xfrm>
            <a:off x="4303776" y="694944"/>
            <a:ext cx="1767840" cy="548640"/>
          </a:xfrm>
          <a:prstGeom prst="rect">
            <a:avLst/>
          </a:prstGeom>
          <a:noFill/>
          <a:ln/>
        </p:spPr>
        <p:txBody>
          <a:bodyPr wrap="square" lIns="0" tIns="0" rIns="0" bIns="0" rtlCol="0" anchor="ctr">
            <a:noAutofit/>
          </a:bodyPr>
          <a:lstStyle/>
          <a:p>
            <a:pPr marL="0" indent="0" algn="ctr">
              <a:buNone/>
            </a:pPr>
            <a:r>
              <a:rPr lang="en-US" sz="3000" b="1">
                <a:solidFill>
                  <a:srgbClr val="FFFFFF"/>
                </a:solidFill>
                <a:latin typeface="Raleway"/>
                <a:ea typeface="Calibri"/>
                <a:cs typeface="Calibri"/>
              </a:rPr>
              <a:t>34</a:t>
            </a:r>
          </a:p>
        </p:txBody>
      </p:sp>
      <p:sp>
        <p:nvSpPr>
          <p:cNvPr id="34" name="Text 13">
            <a:extLst>
              <a:ext uri="{FF2B5EF4-FFF2-40B4-BE49-F238E27FC236}">
                <a16:creationId xmlns:a16="http://schemas.microsoft.com/office/drawing/2014/main" id="{E5ED7A1F-ED1F-7355-A7C5-9D0A9242A88B}"/>
              </a:ext>
            </a:extLst>
          </p:cNvPr>
          <p:cNvSpPr/>
          <p:nvPr/>
        </p:nvSpPr>
        <p:spPr>
          <a:xfrm>
            <a:off x="4303776" y="1261872"/>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CLOSED</a:t>
            </a:r>
            <a:endParaRPr lang="en-US" sz="1100">
              <a:latin typeface="Raleway"/>
            </a:endParaRPr>
          </a:p>
        </p:txBody>
      </p:sp>
      <p:sp>
        <p:nvSpPr>
          <p:cNvPr id="38" name="Shape 14">
            <a:extLst>
              <a:ext uri="{FF2B5EF4-FFF2-40B4-BE49-F238E27FC236}">
                <a16:creationId xmlns:a16="http://schemas.microsoft.com/office/drawing/2014/main" id="{1F98DC37-0BBA-82F6-E06B-149C54AB9E40}"/>
              </a:ext>
            </a:extLst>
          </p:cNvPr>
          <p:cNvSpPr/>
          <p:nvPr/>
        </p:nvSpPr>
        <p:spPr>
          <a:xfrm>
            <a:off x="6236208" y="621792"/>
            <a:ext cx="1767840" cy="960120"/>
          </a:xfrm>
          <a:prstGeom prst="rect">
            <a:avLst/>
          </a:prstGeom>
          <a:solidFill>
            <a:srgbClr val="0070C0"/>
          </a:solidFill>
          <a:ln w="12700">
            <a:solidFill>
              <a:srgbClr val="1F6FB2"/>
            </a:solidFill>
            <a:prstDash val="solid"/>
          </a:ln>
        </p:spPr>
        <p:txBody>
          <a:bodyPr/>
          <a:lstStyle/>
          <a:p>
            <a:endParaRPr lang="en-US"/>
          </a:p>
        </p:txBody>
      </p:sp>
      <p:sp>
        <p:nvSpPr>
          <p:cNvPr id="41" name="cancellvl3">
            <a:extLst>
              <a:ext uri="{FF2B5EF4-FFF2-40B4-BE49-F238E27FC236}">
                <a16:creationId xmlns:a16="http://schemas.microsoft.com/office/drawing/2014/main" id="{BB05F979-36E6-EA82-5B1E-B1A70B31C120}"/>
              </a:ext>
            </a:extLst>
          </p:cNvPr>
          <p:cNvSpPr/>
          <p:nvPr/>
        </p:nvSpPr>
        <p:spPr>
          <a:xfrm>
            <a:off x="6236208" y="694944"/>
            <a:ext cx="1767840" cy="548640"/>
          </a:xfrm>
          <a:prstGeom prst="rect">
            <a:avLst/>
          </a:prstGeom>
          <a:noFill/>
          <a:ln/>
        </p:spPr>
        <p:txBody>
          <a:bodyPr wrap="square" lIns="0" tIns="0" rIns="0" bIns="0" rtlCol="0" anchor="ctr">
            <a:noAutofit/>
          </a:bodyPr>
          <a:lstStyle/>
          <a:p>
            <a:pPr marL="0" indent="0" algn="ctr">
              <a:buNone/>
            </a:pPr>
            <a:r>
              <a:rPr lang="en-US" sz="3000" b="1">
                <a:solidFill>
                  <a:srgbClr val="FFFFFF"/>
                </a:solidFill>
                <a:latin typeface="Raleway"/>
                <a:ea typeface="Calibri"/>
                <a:cs typeface="Calibri"/>
              </a:rPr>
              <a:t>3</a:t>
            </a:r>
          </a:p>
        </p:txBody>
      </p:sp>
      <p:sp>
        <p:nvSpPr>
          <p:cNvPr id="43" name="Text 16">
            <a:extLst>
              <a:ext uri="{FF2B5EF4-FFF2-40B4-BE49-F238E27FC236}">
                <a16:creationId xmlns:a16="http://schemas.microsoft.com/office/drawing/2014/main" id="{17B337BD-98C1-2D8F-9A33-39D64B50AB65}"/>
              </a:ext>
            </a:extLst>
          </p:cNvPr>
          <p:cNvSpPr/>
          <p:nvPr/>
        </p:nvSpPr>
        <p:spPr>
          <a:xfrm>
            <a:off x="6236208" y="1261872"/>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CANCEL</a:t>
            </a:r>
            <a:endParaRPr lang="en-US" sz="1100">
              <a:latin typeface="Raleway"/>
            </a:endParaRPr>
          </a:p>
        </p:txBody>
      </p:sp>
      <p:sp>
        <p:nvSpPr>
          <p:cNvPr id="45" name="Shape 17">
            <a:extLst>
              <a:ext uri="{FF2B5EF4-FFF2-40B4-BE49-F238E27FC236}">
                <a16:creationId xmlns:a16="http://schemas.microsoft.com/office/drawing/2014/main" id="{8C5A5E9C-9904-D698-D645-CE420B9F161D}"/>
              </a:ext>
            </a:extLst>
          </p:cNvPr>
          <p:cNvSpPr/>
          <p:nvPr/>
        </p:nvSpPr>
        <p:spPr>
          <a:xfrm>
            <a:off x="8168640" y="621792"/>
            <a:ext cx="1767840" cy="960120"/>
          </a:xfrm>
          <a:prstGeom prst="rect">
            <a:avLst/>
          </a:prstGeom>
          <a:solidFill>
            <a:srgbClr val="0070C0"/>
          </a:solidFill>
          <a:ln w="12700">
            <a:solidFill>
              <a:srgbClr val="1F6FB2"/>
            </a:solidFill>
            <a:prstDash val="solid"/>
          </a:ln>
        </p:spPr>
        <p:txBody>
          <a:bodyPr/>
          <a:lstStyle/>
          <a:p>
            <a:endParaRPr lang="en-US"/>
          </a:p>
        </p:txBody>
      </p:sp>
      <p:sp>
        <p:nvSpPr>
          <p:cNvPr id="48" name="fillratelvl3">
            <a:extLst>
              <a:ext uri="{FF2B5EF4-FFF2-40B4-BE49-F238E27FC236}">
                <a16:creationId xmlns:a16="http://schemas.microsoft.com/office/drawing/2014/main" id="{BF844A6B-64D0-4494-F5FD-E80DFA438EEC}"/>
              </a:ext>
            </a:extLst>
          </p:cNvPr>
          <p:cNvSpPr/>
          <p:nvPr/>
        </p:nvSpPr>
        <p:spPr>
          <a:xfrm>
            <a:off x="8168640" y="694944"/>
            <a:ext cx="1767840" cy="548640"/>
          </a:xfrm>
          <a:prstGeom prst="rect">
            <a:avLst/>
          </a:prstGeom>
          <a:noFill/>
          <a:ln/>
        </p:spPr>
        <p:txBody>
          <a:bodyPr wrap="square" lIns="0" tIns="0" rIns="0" bIns="0" rtlCol="0" anchor="ctr">
            <a:noAutofit/>
          </a:bodyPr>
          <a:lstStyle/>
          <a:p>
            <a:pPr marL="0" indent="0" algn="ctr">
              <a:buNone/>
            </a:pPr>
            <a:r>
              <a:rPr lang="en-US" sz="3000" b="1" dirty="0">
                <a:solidFill>
                  <a:srgbClr val="FFFFFF"/>
                </a:solidFill>
                <a:latin typeface="Raleway"/>
                <a:ea typeface="Calibri"/>
                <a:cs typeface="Calibri"/>
              </a:rPr>
              <a:t>52.33%</a:t>
            </a:r>
            <a:endParaRPr lang="en-US" sz="3000" dirty="0">
              <a:latin typeface="Raleway"/>
              <a:ea typeface="Calibri"/>
              <a:cs typeface="Calibri"/>
            </a:endParaRPr>
          </a:p>
        </p:txBody>
      </p:sp>
      <p:sp>
        <p:nvSpPr>
          <p:cNvPr id="52" name="Text 19">
            <a:extLst>
              <a:ext uri="{FF2B5EF4-FFF2-40B4-BE49-F238E27FC236}">
                <a16:creationId xmlns:a16="http://schemas.microsoft.com/office/drawing/2014/main" id="{2B5DE40C-2309-3FA9-D0AD-8B33A494C97C}"/>
              </a:ext>
            </a:extLst>
          </p:cNvPr>
          <p:cNvSpPr/>
          <p:nvPr/>
        </p:nvSpPr>
        <p:spPr>
          <a:xfrm>
            <a:off x="8168640" y="1261872"/>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FILL RATE</a:t>
            </a:r>
            <a:endParaRPr lang="en-US" sz="1100">
              <a:latin typeface="Raleway"/>
            </a:endParaRPr>
          </a:p>
        </p:txBody>
      </p:sp>
      <p:sp>
        <p:nvSpPr>
          <p:cNvPr id="54" name="Shape 20">
            <a:extLst>
              <a:ext uri="{FF2B5EF4-FFF2-40B4-BE49-F238E27FC236}">
                <a16:creationId xmlns:a16="http://schemas.microsoft.com/office/drawing/2014/main" id="{9DADC5EC-1085-FD03-60F1-2BF415190D23}"/>
              </a:ext>
            </a:extLst>
          </p:cNvPr>
          <p:cNvSpPr/>
          <p:nvPr/>
        </p:nvSpPr>
        <p:spPr>
          <a:xfrm>
            <a:off x="10101072" y="621792"/>
            <a:ext cx="1767840" cy="960120"/>
          </a:xfrm>
          <a:prstGeom prst="rect">
            <a:avLst/>
          </a:prstGeom>
          <a:solidFill>
            <a:srgbClr val="0070C0"/>
          </a:solidFill>
          <a:ln w="12700">
            <a:solidFill>
              <a:srgbClr val="1F6FB2"/>
            </a:solidFill>
            <a:prstDash val="solid"/>
          </a:ln>
        </p:spPr>
        <p:txBody>
          <a:bodyPr/>
          <a:lstStyle/>
          <a:p>
            <a:endParaRPr lang="en-US"/>
          </a:p>
        </p:txBody>
      </p:sp>
      <p:sp>
        <p:nvSpPr>
          <p:cNvPr id="56" name="closesesuaislalvl3">
            <a:extLst>
              <a:ext uri="{FF2B5EF4-FFF2-40B4-BE49-F238E27FC236}">
                <a16:creationId xmlns:a16="http://schemas.microsoft.com/office/drawing/2014/main" id="{C83D8EC1-FEE8-F679-A7B8-BBD399B7BB71}"/>
              </a:ext>
            </a:extLst>
          </p:cNvPr>
          <p:cNvSpPr/>
          <p:nvPr/>
        </p:nvSpPr>
        <p:spPr>
          <a:xfrm>
            <a:off x="10101072" y="694944"/>
            <a:ext cx="1767840" cy="548640"/>
          </a:xfrm>
          <a:prstGeom prst="rect">
            <a:avLst/>
          </a:prstGeom>
          <a:noFill/>
          <a:ln/>
        </p:spPr>
        <p:txBody>
          <a:bodyPr wrap="square" lIns="0" tIns="0" rIns="0" bIns="0" rtlCol="0" anchor="ctr">
            <a:noAutofit/>
          </a:bodyPr>
          <a:lstStyle/>
          <a:p>
            <a:pPr marL="0" indent="0" algn="ctr">
              <a:buNone/>
            </a:pPr>
            <a:r>
              <a:rPr lang="en-US" sz="3000" b="1">
                <a:solidFill>
                  <a:srgbClr val="FFFFFF"/>
                </a:solidFill>
                <a:latin typeface="Raleway"/>
                <a:ea typeface="Calibri"/>
                <a:cs typeface="Calibri"/>
              </a:rPr>
              <a:t>8.77%</a:t>
            </a:r>
            <a:endParaRPr lang="en-US" sz="3000">
              <a:latin typeface="Raleway"/>
            </a:endParaRPr>
          </a:p>
        </p:txBody>
      </p:sp>
      <p:sp>
        <p:nvSpPr>
          <p:cNvPr id="60" name="Text 22">
            <a:extLst>
              <a:ext uri="{FF2B5EF4-FFF2-40B4-BE49-F238E27FC236}">
                <a16:creationId xmlns:a16="http://schemas.microsoft.com/office/drawing/2014/main" id="{3B381483-09FF-6DEF-7475-7EF923D47BD6}"/>
              </a:ext>
            </a:extLst>
          </p:cNvPr>
          <p:cNvSpPr/>
          <p:nvPr/>
        </p:nvSpPr>
        <p:spPr>
          <a:xfrm>
            <a:off x="10101072" y="1261872"/>
            <a:ext cx="1767840" cy="274320"/>
          </a:xfrm>
          <a:prstGeom prst="rect">
            <a:avLst/>
          </a:prstGeom>
          <a:noFill/>
          <a:ln/>
        </p:spPr>
        <p:txBody>
          <a:bodyPr wrap="square" lIns="0" tIns="0" rIns="0" bIns="0" rtlCol="0" anchor="ctr"/>
          <a:lstStyle/>
          <a:p>
            <a:pPr marL="0" indent="0" algn="ctr">
              <a:buNone/>
            </a:pPr>
            <a:r>
              <a:rPr lang="en-US" sz="1100" b="1">
                <a:solidFill>
                  <a:srgbClr val="FFFFFF"/>
                </a:solidFill>
                <a:latin typeface="Raleway"/>
                <a:ea typeface="Calibri" pitchFamily="34" charset="-122"/>
                <a:cs typeface="Calibri" pitchFamily="34" charset="-120"/>
              </a:rPr>
              <a:t>CLOSE SESUAI SLA</a:t>
            </a:r>
            <a:endParaRPr lang="en-US" sz="1100">
              <a:latin typeface="Raleway"/>
            </a:endParaRPr>
          </a:p>
        </p:txBody>
      </p:sp>
      <p:graphicFrame>
        <p:nvGraphicFramePr>
          <p:cNvPr id="4" name="Table 3">
            <a:extLst>
              <a:ext uri="{FF2B5EF4-FFF2-40B4-BE49-F238E27FC236}">
                <a16:creationId xmlns:a16="http://schemas.microsoft.com/office/drawing/2014/main" id="{5DB546E0-7270-BCCC-2895-6AF63F1FBC38}"/>
              </a:ext>
            </a:extLst>
          </p:cNvPr>
          <p:cNvGraphicFramePr>
            <a:graphicFrameLocks noGrp="1"/>
          </p:cNvGraphicFramePr>
          <p:nvPr>
            <p:extLst>
              <p:ext uri="{D42A27DB-BD31-4B8C-83A1-F6EECF244321}">
                <p14:modId xmlns:p14="http://schemas.microsoft.com/office/powerpoint/2010/main" val="3757436766"/>
              </p:ext>
            </p:extLst>
          </p:nvPr>
        </p:nvGraphicFramePr>
        <p:xfrm>
          <a:off x="443531" y="1837065"/>
          <a:ext cx="11435247" cy="4343400"/>
        </p:xfrm>
        <a:graphic>
          <a:graphicData uri="http://schemas.openxmlformats.org/drawingml/2006/table">
            <a:tbl>
              <a:tblPr bandRow="1">
                <a:tableStyleId>{5C22544A-7EE6-4342-B048-85BDC9FD1C3A}</a:tableStyleId>
              </a:tblPr>
              <a:tblGrid>
                <a:gridCol w="4874954">
                  <a:extLst>
                    <a:ext uri="{9D8B030D-6E8A-4147-A177-3AD203B41FA5}">
                      <a16:colId xmlns:a16="http://schemas.microsoft.com/office/drawing/2014/main" val="371314061"/>
                    </a:ext>
                  </a:extLst>
                </a:gridCol>
                <a:gridCol w="1908196">
                  <a:extLst>
                    <a:ext uri="{9D8B030D-6E8A-4147-A177-3AD203B41FA5}">
                      <a16:colId xmlns:a16="http://schemas.microsoft.com/office/drawing/2014/main" val="1823788088"/>
                    </a:ext>
                  </a:extLst>
                </a:gridCol>
                <a:gridCol w="1949981">
                  <a:extLst>
                    <a:ext uri="{9D8B030D-6E8A-4147-A177-3AD203B41FA5}">
                      <a16:colId xmlns:a16="http://schemas.microsoft.com/office/drawing/2014/main" val="1599011121"/>
                    </a:ext>
                  </a:extLst>
                </a:gridCol>
                <a:gridCol w="863563">
                  <a:extLst>
                    <a:ext uri="{9D8B030D-6E8A-4147-A177-3AD203B41FA5}">
                      <a16:colId xmlns:a16="http://schemas.microsoft.com/office/drawing/2014/main" val="1958260740"/>
                    </a:ext>
                  </a:extLst>
                </a:gridCol>
                <a:gridCol w="905348">
                  <a:extLst>
                    <a:ext uri="{9D8B030D-6E8A-4147-A177-3AD203B41FA5}">
                      <a16:colId xmlns:a16="http://schemas.microsoft.com/office/drawing/2014/main" val="4226174463"/>
                    </a:ext>
                  </a:extLst>
                </a:gridCol>
                <a:gridCol w="933205">
                  <a:extLst>
                    <a:ext uri="{9D8B030D-6E8A-4147-A177-3AD203B41FA5}">
                      <a16:colId xmlns:a16="http://schemas.microsoft.com/office/drawing/2014/main" val="2918782084"/>
                    </a:ext>
                  </a:extLst>
                </a:gridCol>
              </a:tblGrid>
              <a:tr h="190500">
                <a:tc>
                  <a:txBody>
                    <a:bodyPr/>
                    <a:lstStyle/>
                    <a:p>
                      <a:pPr algn="ctr">
                        <a:buNone/>
                      </a:pPr>
                      <a:r>
                        <a:rPr lang="en-US" sz="900" b="1" err="1">
                          <a:solidFill>
                            <a:schemeClr val="bg1"/>
                          </a:solidFill>
                          <a:effectLst/>
                          <a:latin typeface="Raleway"/>
                        </a:rPr>
                        <a:t>Posisi</a:t>
                      </a:r>
                      <a:r>
                        <a:rPr lang="en-US" sz="900" b="1">
                          <a:solidFill>
                            <a:schemeClr val="bg1"/>
                          </a:solidFill>
                          <a:effectLst/>
                          <a:latin typeface="Raleway"/>
                        </a:rPr>
                        <a:t> - </a:t>
                      </a:r>
                      <a:r>
                        <a:rPr lang="en-US" sz="900" b="1" err="1">
                          <a:solidFill>
                            <a:schemeClr val="bg1"/>
                          </a:solidFill>
                          <a:effectLst/>
                          <a:latin typeface="Raleway"/>
                        </a:rPr>
                        <a:t>Kebutuhan</a:t>
                      </a:r>
                      <a:r>
                        <a:rPr lang="en-US" sz="900" b="1">
                          <a:solidFill>
                            <a:schemeClr val="bg1"/>
                          </a:solidFill>
                          <a:effectLst/>
                          <a:latin typeface="Raleway"/>
                        </a:rPr>
                        <a:t>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900" b="1" err="1">
                          <a:solidFill>
                            <a:schemeClr val="bg1"/>
                          </a:solidFill>
                          <a:effectLst/>
                          <a:latin typeface="Raleway"/>
                        </a:rPr>
                        <a:t>Direktorat</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900" b="1">
                          <a:solidFill>
                            <a:schemeClr val="bg1"/>
                          </a:solidFill>
                          <a:effectLst/>
                          <a:latin typeface="Raleway"/>
                        </a:rPr>
                        <a:t>Count of </a:t>
                      </a:r>
                      <a:r>
                        <a:rPr lang="en-US" sz="900" b="1" err="1">
                          <a:solidFill>
                            <a:schemeClr val="bg1"/>
                          </a:solidFill>
                          <a:effectLst/>
                          <a:latin typeface="Raleway"/>
                        </a:rPr>
                        <a:t>Posisi</a:t>
                      </a:r>
                      <a:r>
                        <a:rPr lang="en-US" sz="900" b="1">
                          <a:solidFill>
                            <a:schemeClr val="bg1"/>
                          </a:solidFill>
                          <a:effectLst/>
                          <a:latin typeface="Raleway"/>
                        </a:rPr>
                        <a:t> - </a:t>
                      </a:r>
                      <a:r>
                        <a:rPr lang="en-US" sz="900" b="1" err="1">
                          <a:solidFill>
                            <a:schemeClr val="bg1"/>
                          </a:solidFill>
                          <a:effectLst/>
                          <a:latin typeface="Raleway"/>
                        </a:rPr>
                        <a:t>Kebutuhan</a:t>
                      </a:r>
                      <a:r>
                        <a:rPr lang="en-US" sz="900" b="1">
                          <a:solidFill>
                            <a:schemeClr val="bg1"/>
                          </a:solidFill>
                          <a:effectLst/>
                          <a:latin typeface="Raleway"/>
                        </a:rPr>
                        <a:t> TA</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900" b="1">
                          <a:solidFill>
                            <a:schemeClr val="bg1"/>
                          </a:solidFill>
                          <a:effectLst/>
                          <a:latin typeface="Raleway"/>
                        </a:rPr>
                        <a:t>OP</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900" b="1">
                          <a:solidFill>
                            <a:schemeClr val="bg1"/>
                          </a:solidFill>
                          <a:effectLst/>
                          <a:latin typeface="Raleway"/>
                        </a:rPr>
                        <a:t>Closed</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900" b="1">
                          <a:solidFill>
                            <a:schemeClr val="bg1"/>
                          </a:solidFill>
                          <a:effectLst/>
                          <a:latin typeface="Raleway"/>
                        </a:rPr>
                        <a:t>Cancel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3342342086"/>
                  </a:ext>
                </a:extLst>
              </a:tr>
              <a:tr h="228600">
                <a:tc>
                  <a:txBody>
                    <a:bodyPr/>
                    <a:lstStyle/>
                    <a:p>
                      <a:pPr>
                        <a:buNone/>
                      </a:pPr>
                      <a:r>
                        <a:rPr lang="en-US" sz="900">
                          <a:effectLst/>
                          <a:latin typeface="Raleway"/>
                        </a:rPr>
                        <a:t>Fresh Graduate Development Program - Channel Development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CEO Office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3</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2</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3733479660"/>
                  </a:ext>
                </a:extLst>
              </a:tr>
              <a:tr h="228600">
                <a:tc>
                  <a:txBody>
                    <a:bodyPr/>
                    <a:lstStyle/>
                    <a:p>
                      <a:pPr>
                        <a:buNone/>
                      </a:pPr>
                      <a:r>
                        <a:rPr lang="en-US" sz="900">
                          <a:effectLst/>
                          <a:latin typeface="Raleway"/>
                        </a:rPr>
                        <a:t>Fresh Graduate Development Program - Direct Procurement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Procurement CMD &amp; Corporate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895663336"/>
                  </a:ext>
                </a:extLst>
              </a:tr>
              <a:tr h="228600">
                <a:tc>
                  <a:txBody>
                    <a:bodyPr/>
                    <a:lstStyle/>
                    <a:p>
                      <a:pPr>
                        <a:buNone/>
                      </a:pPr>
                      <a:r>
                        <a:rPr lang="en-US" sz="900">
                          <a:effectLst/>
                          <a:latin typeface="Raleway"/>
                        </a:rPr>
                        <a:t>Fresh Graduate Development Program - FBP Specialist - Analyst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CEO Office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164226725"/>
                  </a:ext>
                </a:extLst>
              </a:tr>
              <a:tr h="228600">
                <a:tc>
                  <a:txBody>
                    <a:bodyPr/>
                    <a:lstStyle/>
                    <a:p>
                      <a:pPr>
                        <a:buNone/>
                      </a:pPr>
                      <a:r>
                        <a:rPr lang="en-US" sz="900">
                          <a:effectLst/>
                          <a:latin typeface="Raleway"/>
                        </a:rPr>
                        <a:t>Fresh Graduate Development Program - Finance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Finance &amp; Business Support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3564443818"/>
                  </a:ext>
                </a:extLst>
              </a:tr>
              <a:tr h="228600">
                <a:tc>
                  <a:txBody>
                    <a:bodyPr/>
                    <a:lstStyle/>
                    <a:p>
                      <a:pPr>
                        <a:buNone/>
                      </a:pPr>
                      <a:r>
                        <a:rPr lang="en-US" sz="900">
                          <a:effectLst/>
                          <a:latin typeface="Raleway"/>
                        </a:rPr>
                        <a:t>Fresh Graduate Development Program - Finance Business Partner</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CEO Office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2</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833402293"/>
                  </a:ext>
                </a:extLst>
              </a:tr>
              <a:tr h="228600">
                <a:tc>
                  <a:txBody>
                    <a:bodyPr/>
                    <a:lstStyle/>
                    <a:p>
                      <a:pPr>
                        <a:buNone/>
                      </a:pPr>
                      <a:r>
                        <a:rPr lang="en-US" sz="900">
                          <a:effectLst/>
                          <a:latin typeface="Raleway"/>
                        </a:rPr>
                        <a:t>Fresh Graduate Development Program - HR Development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Finance &amp; Business Support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3976501830"/>
                  </a:ext>
                </a:extLst>
              </a:tr>
              <a:tr h="228600">
                <a:tc>
                  <a:txBody>
                    <a:bodyPr/>
                    <a:lstStyle/>
                    <a:p>
                      <a:pPr>
                        <a:buNone/>
                      </a:pPr>
                      <a:r>
                        <a:rPr lang="en-US" sz="900">
                          <a:effectLst/>
                          <a:latin typeface="Raleway"/>
                        </a:rPr>
                        <a:t>Fresh Graduate Development Program - HRGA Operation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Finance &amp; Business Support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583880266"/>
                  </a:ext>
                </a:extLst>
              </a:tr>
              <a:tr h="228600">
                <a:tc>
                  <a:txBody>
                    <a:bodyPr/>
                    <a:lstStyle/>
                    <a:p>
                      <a:pPr>
                        <a:buNone/>
                      </a:pPr>
                      <a:r>
                        <a:rPr lang="en-US" sz="900">
                          <a:effectLst/>
                          <a:latin typeface="Raleway"/>
                        </a:rPr>
                        <a:t>Fresh Graduate Development Program - Indirect Procurement</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Procurement CMD &amp; Corporate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2</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2041037292"/>
                  </a:ext>
                </a:extLst>
              </a:tr>
              <a:tr h="228600">
                <a:tc>
                  <a:txBody>
                    <a:bodyPr/>
                    <a:lstStyle/>
                    <a:p>
                      <a:pPr>
                        <a:buNone/>
                      </a:pPr>
                      <a:r>
                        <a:rPr lang="en-US" sz="900">
                          <a:effectLst/>
                          <a:latin typeface="Raleway"/>
                        </a:rPr>
                        <a:t>Fresh Graduate Development Program - Influencer Marketing</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Commercial MP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2</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4139200861"/>
                  </a:ext>
                </a:extLst>
              </a:tr>
              <a:tr h="228600">
                <a:tc>
                  <a:txBody>
                    <a:bodyPr/>
                    <a:lstStyle/>
                    <a:p>
                      <a:pPr>
                        <a:buNone/>
                      </a:pPr>
                      <a:r>
                        <a:rPr lang="en-US" sz="900">
                          <a:effectLst/>
                          <a:latin typeface="Raleway"/>
                        </a:rPr>
                        <a:t>Fresh Graduate Development Program - Manufacture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Logistic &amp; Distribution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037504600"/>
                  </a:ext>
                </a:extLst>
              </a:tr>
              <a:tr h="228600">
                <a:tc>
                  <a:txBody>
                    <a:bodyPr/>
                    <a:lstStyle/>
                    <a:p>
                      <a:pPr>
                        <a:buNone/>
                      </a:pPr>
                      <a:r>
                        <a:rPr lang="en-US" sz="900">
                          <a:effectLst/>
                          <a:latin typeface="Raleway"/>
                        </a:rPr>
                        <a:t>Fresh Graduate Development Program - Manufacture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Manufacture CMD</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3441561615"/>
                  </a:ext>
                </a:extLst>
              </a:tr>
              <a:tr h="180975">
                <a:tc>
                  <a:txBody>
                    <a:bodyPr/>
                    <a:lstStyle/>
                    <a:p>
                      <a:pPr>
                        <a:buNone/>
                      </a:pPr>
                      <a:r>
                        <a:rPr lang="en-US" sz="900">
                          <a:effectLst/>
                          <a:latin typeface="Raleway"/>
                        </a:rPr>
                        <a:t>Fresh Graduate Development Program - Marketing</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Commercial CMD</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2310428666"/>
                  </a:ext>
                </a:extLst>
              </a:tr>
              <a:tr h="228600">
                <a:tc>
                  <a:txBody>
                    <a:bodyPr/>
                    <a:lstStyle/>
                    <a:p>
                      <a:pPr>
                        <a:buNone/>
                      </a:pPr>
                      <a:r>
                        <a:rPr lang="en-US" sz="900">
                          <a:effectLst/>
                          <a:latin typeface="Raleway"/>
                        </a:rPr>
                        <a:t>Fresh Graduate Development Program - Modern Trade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Sales Modern Trade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2</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3413053692"/>
                  </a:ext>
                </a:extLst>
              </a:tr>
              <a:tr h="228600">
                <a:tc>
                  <a:txBody>
                    <a:bodyPr/>
                    <a:lstStyle/>
                    <a:p>
                      <a:pPr>
                        <a:buNone/>
                      </a:pPr>
                      <a:r>
                        <a:rPr lang="en-US" sz="900">
                          <a:effectLst/>
                          <a:latin typeface="Raleway"/>
                        </a:rPr>
                        <a:t>Fresh Graduate Development Program - Sales &amp; Operations Planning</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Logistic &amp; Distribution</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2</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2404529141"/>
                  </a:ext>
                </a:extLst>
              </a:tr>
              <a:tr h="228600">
                <a:tc>
                  <a:txBody>
                    <a:bodyPr/>
                    <a:lstStyle/>
                    <a:p>
                      <a:pPr>
                        <a:buNone/>
                      </a:pPr>
                      <a:r>
                        <a:rPr lang="en-US" sz="900">
                          <a:effectLst/>
                          <a:latin typeface="Raleway"/>
                        </a:rPr>
                        <a:t>Fresh Graduate Development Program - Sales General Trade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Sales General Trade MP</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20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5</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15</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604539314"/>
                  </a:ext>
                </a:extLst>
              </a:tr>
              <a:tr h="228600">
                <a:tc>
                  <a:txBody>
                    <a:bodyPr/>
                    <a:lstStyle/>
                    <a:p>
                      <a:pPr>
                        <a:buNone/>
                      </a:pPr>
                      <a:r>
                        <a:rPr lang="en-US" sz="900">
                          <a:effectLst/>
                          <a:latin typeface="Raleway"/>
                        </a:rPr>
                        <a:t>Fresh Graduate Development Program - School Program Executive</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Commercial CMD</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3155878564"/>
                  </a:ext>
                </a:extLst>
              </a:tr>
              <a:tr h="228600">
                <a:tc>
                  <a:txBody>
                    <a:bodyPr/>
                    <a:lstStyle/>
                    <a:p>
                      <a:pPr>
                        <a:buNone/>
                      </a:pPr>
                      <a:r>
                        <a:rPr lang="en-US" sz="900">
                          <a:effectLst/>
                          <a:latin typeface="Raleway"/>
                        </a:rPr>
                        <a:t>Fresh Graduate Development Program - Supply Chain Operations</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buNone/>
                      </a:pPr>
                      <a:r>
                        <a:rPr lang="en-US" sz="900">
                          <a:effectLst/>
                          <a:latin typeface="Raleway"/>
                        </a:rPr>
                        <a:t>Commercial CMD</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1</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algn="ctr">
                        <a:buNone/>
                      </a:pPr>
                      <a:r>
                        <a:rPr lang="en-US" sz="900">
                          <a:effectLst/>
                          <a:latin typeface="Raleway"/>
                        </a:rPr>
                        <a:t>0</a:t>
                      </a:r>
                    </a:p>
                  </a:txBody>
                  <a:tcPr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607242262"/>
                  </a:ext>
                </a:extLst>
              </a:tr>
              <a:tr h="190500">
                <a:tc gridSpan="2">
                  <a:txBody>
                    <a:bodyPr/>
                    <a:lstStyle/>
                    <a:p>
                      <a:pPr algn="ctr">
                        <a:buNone/>
                      </a:pPr>
                      <a:r>
                        <a:rPr lang="en-US" sz="900" b="1">
                          <a:solidFill>
                            <a:schemeClr val="bg1"/>
                          </a:solidFill>
                          <a:effectLst/>
                          <a:latin typeface="Raleway"/>
                        </a:rPr>
                        <a:t>Total</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hMerge="1">
                  <a:txBody>
                    <a:bodyPr/>
                    <a:lstStyle/>
                    <a:p>
                      <a:endParaRPr lang="en-US"/>
                    </a:p>
                  </a:txBody>
                  <a:tcPr/>
                </a:tc>
                <a:tc>
                  <a:txBody>
                    <a:bodyPr/>
                    <a:lstStyle/>
                    <a:p>
                      <a:pPr algn="ctr">
                        <a:buNone/>
                      </a:pPr>
                      <a:r>
                        <a:rPr lang="en-US" sz="900" b="1">
                          <a:solidFill>
                            <a:schemeClr val="bg1"/>
                          </a:solidFill>
                          <a:effectLst/>
                          <a:latin typeface="Raleway"/>
                        </a:rPr>
                        <a:t>68</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900" b="1">
                          <a:solidFill>
                            <a:schemeClr val="bg1"/>
                          </a:solidFill>
                          <a:effectLst/>
                          <a:latin typeface="Raleway"/>
                        </a:rPr>
                        <a:t>31</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900" b="1">
                          <a:solidFill>
                            <a:schemeClr val="bg1"/>
                          </a:solidFill>
                          <a:effectLst/>
                          <a:latin typeface="Raleway"/>
                        </a:rPr>
                        <a:t>34</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tc>
                  <a:txBody>
                    <a:bodyPr/>
                    <a:lstStyle/>
                    <a:p>
                      <a:pPr algn="ctr">
                        <a:buNone/>
                      </a:pPr>
                      <a:r>
                        <a:rPr lang="en-US" sz="900" b="1">
                          <a:solidFill>
                            <a:schemeClr val="bg1"/>
                          </a:solidFill>
                          <a:effectLst/>
                          <a:latin typeface="Raleway"/>
                        </a:rPr>
                        <a:t>3</a:t>
                      </a:r>
                    </a:p>
                  </a:txBody>
                  <a:tcPr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2031632772"/>
                  </a:ext>
                </a:extLst>
              </a:tr>
            </a:tbl>
          </a:graphicData>
        </a:graphic>
      </p:graphicFrame>
    </p:spTree>
    <p:extLst>
      <p:ext uri="{BB962C8B-B14F-4D97-AF65-F5344CB8AC3E}">
        <p14:creationId xmlns:p14="http://schemas.microsoft.com/office/powerpoint/2010/main" val="3070779609"/>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1"/>
          <p:cNvSpPr/>
          <p:nvPr/>
        </p:nvSpPr>
        <p:spPr>
          <a:xfrm>
            <a:off x="270795" y="312335"/>
            <a:ext cx="9144000" cy="400780"/>
          </a:xfrm>
          <a:prstGeom prst="rect">
            <a:avLst/>
          </a:prstGeom>
          <a:noFill/>
          <a:ln/>
        </p:spPr>
        <p:txBody>
          <a:bodyPr wrap="square" lIns="0" tIns="0" rIns="0" bIns="0" rtlCol="0" anchor="ctr"/>
          <a:lstStyle>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en-US" sz="2133" b="1" i="0" u="none" strike="noStrike" kern="1200" cap="none" spc="0" normalizeH="0" baseline="0" noProof="0">
                <a:ln>
                  <a:noFill/>
                </a:ln>
                <a:solidFill>
                  <a:srgbClr val="C00000"/>
                </a:solidFill>
                <a:effectLst/>
                <a:uLnTx/>
                <a:uFillTx/>
                <a:latin typeface="Raleway"/>
                <a:ea typeface="+mn-ea"/>
                <a:cs typeface="+mn-cs"/>
              </a:rPr>
              <a:t>CLAP</a:t>
            </a:r>
            <a:r>
              <a:rPr kumimoji="0" lang="en-US" sz="2133" b="1" i="0" u="none" strike="noStrike" kern="1200" cap="none" spc="0" normalizeH="0" baseline="0" noProof="0">
                <a:ln>
                  <a:noFill/>
                </a:ln>
                <a:solidFill>
                  <a:srgbClr val="002060"/>
                </a:solidFill>
                <a:effectLst/>
                <a:uLnTx/>
                <a:uFillTx/>
                <a:latin typeface="Raleway"/>
                <a:ea typeface="+mn-ea"/>
                <a:cs typeface="+mn-cs"/>
              </a:rPr>
              <a:t> - PIPELINE KANDIDAT AKTIF / SEDANG DIPROSES</a:t>
            </a:r>
            <a:endParaRPr kumimoji="0" lang="en-US" sz="2133" b="0" i="0" u="none" strike="noStrike" kern="1200" cap="none" spc="0" normalizeH="0" baseline="0" noProof="0">
              <a:ln>
                <a:noFill/>
              </a:ln>
              <a:solidFill>
                <a:srgbClr val="002060"/>
              </a:solidFill>
              <a:effectLst/>
              <a:uLnTx/>
              <a:uFillTx/>
              <a:latin typeface="Raleway"/>
              <a:ea typeface="+mn-ea"/>
              <a:cs typeface="+mn-cs"/>
            </a:endParaRPr>
          </a:p>
        </p:txBody>
      </p:sp>
      <p:graphicFrame>
        <p:nvGraphicFramePr>
          <p:cNvPr id="9" name="tabelclap">
            <a:extLst>
              <a:ext uri="{FF2B5EF4-FFF2-40B4-BE49-F238E27FC236}">
                <a16:creationId xmlns:a16="http://schemas.microsoft.com/office/drawing/2014/main" id="{3D35D125-2ED7-1C1B-7432-E5A7BF888B11}"/>
              </a:ext>
            </a:extLst>
          </p:cNvPr>
          <p:cNvGraphicFramePr>
            <a:graphicFrameLocks noGrp="1"/>
          </p:cNvGraphicFramePr>
          <p:nvPr>
            <p:extLst>
              <p:ext uri="{D42A27DB-BD31-4B8C-83A1-F6EECF244321}">
                <p14:modId xmlns:p14="http://schemas.microsoft.com/office/powerpoint/2010/main" val="3517194183"/>
              </p:ext>
            </p:extLst>
          </p:nvPr>
        </p:nvGraphicFramePr>
        <p:xfrm>
          <a:off x="249447" y="852276"/>
          <a:ext cx="11702129" cy="2446020"/>
        </p:xfrm>
        <a:graphic>
          <a:graphicData uri="http://schemas.openxmlformats.org/drawingml/2006/table">
            <a:tbl>
              <a:tblPr bandRow="1">
                <a:tableStyleId>{5C22544A-7EE6-4342-B048-85BDC9FD1C3A}</a:tableStyleId>
              </a:tblPr>
              <a:tblGrid>
                <a:gridCol w="308427">
                  <a:extLst>
                    <a:ext uri="{9D8B030D-6E8A-4147-A177-3AD203B41FA5}">
                      <a16:colId xmlns:a16="http://schemas.microsoft.com/office/drawing/2014/main" val="3136549255"/>
                    </a:ext>
                  </a:extLst>
                </a:gridCol>
                <a:gridCol w="544285">
                  <a:extLst>
                    <a:ext uri="{9D8B030D-6E8A-4147-A177-3AD203B41FA5}">
                      <a16:colId xmlns:a16="http://schemas.microsoft.com/office/drawing/2014/main" val="1155151809"/>
                    </a:ext>
                  </a:extLst>
                </a:gridCol>
                <a:gridCol w="399141">
                  <a:extLst>
                    <a:ext uri="{9D8B030D-6E8A-4147-A177-3AD203B41FA5}">
                      <a16:colId xmlns:a16="http://schemas.microsoft.com/office/drawing/2014/main" val="3327528668"/>
                    </a:ext>
                  </a:extLst>
                </a:gridCol>
                <a:gridCol w="907142">
                  <a:extLst>
                    <a:ext uri="{9D8B030D-6E8A-4147-A177-3AD203B41FA5}">
                      <a16:colId xmlns:a16="http://schemas.microsoft.com/office/drawing/2014/main" val="736504124"/>
                    </a:ext>
                  </a:extLst>
                </a:gridCol>
                <a:gridCol w="689428">
                  <a:extLst>
                    <a:ext uri="{9D8B030D-6E8A-4147-A177-3AD203B41FA5}">
                      <a16:colId xmlns:a16="http://schemas.microsoft.com/office/drawing/2014/main" val="2240070331"/>
                    </a:ext>
                  </a:extLst>
                </a:gridCol>
                <a:gridCol w="417284">
                  <a:extLst>
                    <a:ext uri="{9D8B030D-6E8A-4147-A177-3AD203B41FA5}">
                      <a16:colId xmlns:a16="http://schemas.microsoft.com/office/drawing/2014/main" val="2536482571"/>
                    </a:ext>
                  </a:extLst>
                </a:gridCol>
                <a:gridCol w="417284">
                  <a:extLst>
                    <a:ext uri="{9D8B030D-6E8A-4147-A177-3AD203B41FA5}">
                      <a16:colId xmlns:a16="http://schemas.microsoft.com/office/drawing/2014/main" val="4147814108"/>
                    </a:ext>
                  </a:extLst>
                </a:gridCol>
                <a:gridCol w="508000">
                  <a:extLst>
                    <a:ext uri="{9D8B030D-6E8A-4147-A177-3AD203B41FA5}">
                      <a16:colId xmlns:a16="http://schemas.microsoft.com/office/drawing/2014/main" val="3395530137"/>
                    </a:ext>
                  </a:extLst>
                </a:gridCol>
                <a:gridCol w="453571">
                  <a:extLst>
                    <a:ext uri="{9D8B030D-6E8A-4147-A177-3AD203B41FA5}">
                      <a16:colId xmlns:a16="http://schemas.microsoft.com/office/drawing/2014/main" val="3459904593"/>
                    </a:ext>
                  </a:extLst>
                </a:gridCol>
                <a:gridCol w="362857">
                  <a:extLst>
                    <a:ext uri="{9D8B030D-6E8A-4147-A177-3AD203B41FA5}">
                      <a16:colId xmlns:a16="http://schemas.microsoft.com/office/drawing/2014/main" val="940390327"/>
                    </a:ext>
                  </a:extLst>
                </a:gridCol>
                <a:gridCol w="417284">
                  <a:extLst>
                    <a:ext uri="{9D8B030D-6E8A-4147-A177-3AD203B41FA5}">
                      <a16:colId xmlns:a16="http://schemas.microsoft.com/office/drawing/2014/main" val="1742293648"/>
                    </a:ext>
                  </a:extLst>
                </a:gridCol>
                <a:gridCol w="508000">
                  <a:extLst>
                    <a:ext uri="{9D8B030D-6E8A-4147-A177-3AD203B41FA5}">
                      <a16:colId xmlns:a16="http://schemas.microsoft.com/office/drawing/2014/main" val="2628956524"/>
                    </a:ext>
                  </a:extLst>
                </a:gridCol>
                <a:gridCol w="489857">
                  <a:extLst>
                    <a:ext uri="{9D8B030D-6E8A-4147-A177-3AD203B41FA5}">
                      <a16:colId xmlns:a16="http://schemas.microsoft.com/office/drawing/2014/main" val="4188729841"/>
                    </a:ext>
                  </a:extLst>
                </a:gridCol>
                <a:gridCol w="526141">
                  <a:extLst>
                    <a:ext uri="{9D8B030D-6E8A-4147-A177-3AD203B41FA5}">
                      <a16:colId xmlns:a16="http://schemas.microsoft.com/office/drawing/2014/main" val="563882958"/>
                    </a:ext>
                  </a:extLst>
                </a:gridCol>
                <a:gridCol w="580571">
                  <a:extLst>
                    <a:ext uri="{9D8B030D-6E8A-4147-A177-3AD203B41FA5}">
                      <a16:colId xmlns:a16="http://schemas.microsoft.com/office/drawing/2014/main" val="470089786"/>
                    </a:ext>
                  </a:extLst>
                </a:gridCol>
                <a:gridCol w="4172857">
                  <a:extLst>
                    <a:ext uri="{9D8B030D-6E8A-4147-A177-3AD203B41FA5}">
                      <a16:colId xmlns:a16="http://schemas.microsoft.com/office/drawing/2014/main" val="323443997"/>
                    </a:ext>
                  </a:extLst>
                </a:gridCol>
              </a:tblGrid>
              <a:tr h="200025">
                <a:tc rowSpan="2">
                  <a:txBody>
                    <a:bodyPr/>
                    <a:lstStyle/>
                    <a:p>
                      <a:pPr algn="ctr" fontAlgn="ctr">
                        <a:buNone/>
                      </a:pPr>
                      <a:r>
                        <a:rPr lang="en-US" sz="1000" b="1">
                          <a:solidFill>
                            <a:srgbClr val="FFFFFF"/>
                          </a:solidFill>
                          <a:effectLst/>
                          <a:latin typeface="Raleway" pitchFamily="2" charset="0"/>
                        </a:rPr>
                        <a:t>No.</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rowSpan="2">
                  <a:txBody>
                    <a:bodyPr/>
                    <a:lstStyle/>
                    <a:p>
                      <a:pPr algn="ctr" fontAlgn="ctr">
                        <a:buNone/>
                      </a:pPr>
                      <a:r>
                        <a:rPr lang="en-US" sz="1000" b="1">
                          <a:solidFill>
                            <a:srgbClr val="FFFFFF"/>
                          </a:solidFill>
                          <a:effectLst/>
                          <a:latin typeface="Raleway" pitchFamily="2" charset="0"/>
                        </a:rPr>
                        <a:t>Program</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rowSpan="2">
                  <a:txBody>
                    <a:bodyPr/>
                    <a:lstStyle/>
                    <a:p>
                      <a:pPr algn="ctr" fontAlgn="ctr">
                        <a:buNone/>
                      </a:pPr>
                      <a:r>
                        <a:rPr lang="en-US" sz="1000" b="1">
                          <a:solidFill>
                            <a:srgbClr val="FFFFFF"/>
                          </a:solidFill>
                          <a:effectLst/>
                          <a:latin typeface="Raleway" pitchFamily="2" charset="0"/>
                        </a:rPr>
                        <a:t>BU</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rowSpan="2">
                  <a:txBody>
                    <a:bodyPr/>
                    <a:lstStyle/>
                    <a:p>
                      <a:pPr algn="ctr" fontAlgn="ctr">
                        <a:buNone/>
                      </a:pPr>
                      <a:r>
                        <a:rPr lang="en-US" sz="1000" b="1" err="1">
                          <a:solidFill>
                            <a:srgbClr val="FFFFFF"/>
                          </a:solidFill>
                          <a:effectLst/>
                          <a:latin typeface="Raleway"/>
                        </a:rPr>
                        <a:t>Posisi</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rowSpan="2">
                  <a:txBody>
                    <a:bodyPr/>
                    <a:lstStyle/>
                    <a:p>
                      <a:pPr algn="ctr" fontAlgn="ctr">
                        <a:buNone/>
                      </a:pPr>
                      <a:r>
                        <a:rPr lang="en-US" sz="1000" b="1">
                          <a:solidFill>
                            <a:srgbClr val="FFFFFF"/>
                          </a:solidFill>
                          <a:effectLst/>
                          <a:latin typeface="Raleway"/>
                        </a:rPr>
                        <a:t>Total </a:t>
                      </a:r>
                      <a:r>
                        <a:rPr lang="en-US" sz="1000" b="1" err="1">
                          <a:solidFill>
                            <a:srgbClr val="FFFFFF"/>
                          </a:solidFill>
                          <a:effectLst/>
                          <a:latin typeface="Raleway"/>
                        </a:rPr>
                        <a:t>Kandidat</a:t>
                      </a:r>
                      <a:r>
                        <a:rPr lang="en-US" sz="1000" b="1">
                          <a:solidFill>
                            <a:srgbClr val="FFFFFF"/>
                          </a:solidFill>
                          <a:effectLst/>
                          <a:latin typeface="Raleway"/>
                        </a:rPr>
                        <a:t> </a:t>
                      </a:r>
                      <a:r>
                        <a:rPr lang="en-US" sz="1000" b="1" err="1">
                          <a:solidFill>
                            <a:srgbClr val="FFFFFF"/>
                          </a:solidFill>
                          <a:effectLst/>
                          <a:latin typeface="Raleway"/>
                        </a:rPr>
                        <a:t>Aktif</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gridSpan="4">
                  <a:txBody>
                    <a:bodyPr/>
                    <a:lstStyle/>
                    <a:p>
                      <a:pPr algn="ctr" fontAlgn="ctr">
                        <a:buNone/>
                      </a:pPr>
                      <a:r>
                        <a:rPr lang="en-US" sz="1000" b="1">
                          <a:solidFill>
                            <a:srgbClr val="FFFFFF"/>
                          </a:solidFill>
                          <a:effectLst/>
                          <a:latin typeface="Raleway" pitchFamily="2" charset="0"/>
                        </a:rPr>
                        <a:t>Case Study</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4">
                  <a:txBody>
                    <a:bodyPr/>
                    <a:lstStyle/>
                    <a:p>
                      <a:pPr algn="ctr" fontAlgn="ctr">
                        <a:buNone/>
                      </a:pPr>
                      <a:r>
                        <a:rPr lang="en-US" sz="1000" b="1">
                          <a:solidFill>
                            <a:srgbClr val="FFFFFF"/>
                          </a:solidFill>
                          <a:effectLst/>
                          <a:latin typeface="Raleway" pitchFamily="2" charset="0"/>
                        </a:rPr>
                        <a:t>USER INTERVIEW</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2">
                  <a:txBody>
                    <a:bodyPr/>
                    <a:lstStyle/>
                    <a:p>
                      <a:pPr algn="ctr" fontAlgn="ctr">
                        <a:buNone/>
                      </a:pPr>
                      <a:r>
                        <a:rPr lang="en-US" sz="1000" b="1">
                          <a:solidFill>
                            <a:srgbClr val="FFFFFF"/>
                          </a:solidFill>
                          <a:effectLst/>
                          <a:latin typeface="Raleway" pitchFamily="2" charset="0"/>
                        </a:rPr>
                        <a:t>OFFERING</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hMerge="1">
                  <a:txBody>
                    <a:bodyPr/>
                    <a:lstStyle/>
                    <a:p>
                      <a:endParaRPr lang="en-US"/>
                    </a:p>
                  </a:txBody>
                  <a:tcPr/>
                </a:tc>
                <a:tc rowSpan="2">
                  <a:txBody>
                    <a:bodyPr/>
                    <a:lstStyle/>
                    <a:p>
                      <a:pPr algn="ctr" fontAlgn="ctr">
                        <a:buNone/>
                      </a:pPr>
                      <a:r>
                        <a:rPr lang="en-US" sz="1000" b="1">
                          <a:solidFill>
                            <a:srgbClr val="FFFFFF"/>
                          </a:solidFill>
                          <a:effectLst/>
                          <a:latin typeface="Raleway" pitchFamily="2" charset="0"/>
                        </a:rPr>
                        <a:t>NOTES</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extLst>
                  <a:ext uri="{0D108BD9-81ED-4DB2-BD59-A6C34878D82A}">
                    <a16:rowId xmlns:a16="http://schemas.microsoft.com/office/drawing/2014/main" val="431503388"/>
                  </a:ext>
                </a:extLst>
              </a:tr>
              <a:tr h="200025">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algn="ctr" fontAlgn="ctr">
                        <a:buNone/>
                      </a:pPr>
                      <a:r>
                        <a:rPr lang="en-US" sz="1000" b="1">
                          <a:solidFill>
                            <a:srgbClr val="FFFFFF"/>
                          </a:solidFill>
                          <a:effectLst/>
                          <a:latin typeface="Raleway" pitchFamily="2" charset="0"/>
                        </a:rPr>
                        <a:t>OK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NOT OK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NO SUBMIT</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ON GOING</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OK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NOT OK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SCHEDULED</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WITHDRAW</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ACCEPT</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REJECT</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vMerge="1">
                  <a:txBody>
                    <a:bodyPr/>
                    <a:lstStyle/>
                    <a:p>
                      <a:endParaRPr lang="en-US"/>
                    </a:p>
                  </a:txBody>
                  <a:tcPr/>
                </a:tc>
                <a:extLst>
                  <a:ext uri="{0D108BD9-81ED-4DB2-BD59-A6C34878D82A}">
                    <a16:rowId xmlns:a16="http://schemas.microsoft.com/office/drawing/2014/main" val="1708477322"/>
                  </a:ext>
                </a:extLst>
              </a:tr>
              <a:tr h="390525">
                <a:tc>
                  <a:txBody>
                    <a:bodyPr/>
                    <a:lstStyle/>
                    <a:p>
                      <a:pPr algn="ctr" fontAlgn="ctr">
                        <a:buNone/>
                      </a:pPr>
                      <a:r>
                        <a:rPr lang="en-US" sz="1000">
                          <a:effectLst/>
                          <a:latin typeface="Raleway" pitchFamily="2" charset="0"/>
                        </a:rPr>
                        <a:t>1</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pitchFamily="2" charset="0"/>
                        </a:rPr>
                        <a:t>CLAP</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pitchFamily="2" charset="0"/>
                        </a:rPr>
                        <a:t>MP</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ctr">
                        <a:buNone/>
                      </a:pPr>
                      <a:r>
                        <a:rPr lang="en-US" sz="1000">
                          <a:effectLst/>
                          <a:latin typeface="Raleway" pitchFamily="2" charset="0"/>
                        </a:rPr>
                        <a:t>Engineering</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a:rPr>
                        <a:t>26</a:t>
                      </a:r>
                      <a:endParaRPr lang="en-US"/>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a:rPr>
                        <a:t>8</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000">
                          <a:effectLst/>
                          <a:latin typeface="Raleway" pitchFamily="2" charset="0"/>
                        </a:rPr>
                        <a:t>2</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000">
                          <a:effectLst/>
                          <a:latin typeface="Raleway" pitchFamily="2" charset="0"/>
                        </a:rPr>
                        <a:t>16</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a:rPr>
                        <a:t>6</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0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pitchFamily="2" charset="0"/>
                        </a:rPr>
                        <a:t>2</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marL="171450" lvl="0" indent="-171450" algn="l">
                        <a:lnSpc>
                          <a:spcPct val="100000"/>
                        </a:lnSpc>
                        <a:buClr>
                          <a:srgbClr val="000000"/>
                        </a:buClr>
                        <a:buFont typeface="Arial,Sans-Serif"/>
                        <a:buChar char="•"/>
                      </a:pPr>
                      <a:r>
                        <a:rPr lang="en-US" sz="1100" b="0" i="0" u="none" strike="noStrike" noProof="0" err="1">
                          <a:solidFill>
                            <a:schemeClr val="tx1"/>
                          </a:solidFill>
                          <a:effectLst/>
                          <a:latin typeface="Raleway"/>
                        </a:rPr>
                        <a:t>Psikotes</a:t>
                      </a:r>
                      <a:r>
                        <a:rPr lang="en-US" sz="1100" b="0" i="0" u="none" strike="noStrike" noProof="0">
                          <a:solidFill>
                            <a:schemeClr val="tx1"/>
                          </a:solidFill>
                          <a:effectLst/>
                          <a:latin typeface="Raleway"/>
                        </a:rPr>
                        <a:t> 8 </a:t>
                      </a:r>
                      <a:r>
                        <a:rPr lang="en-US" sz="1100" b="0" i="0" u="none" strike="noStrike" noProof="0" err="1">
                          <a:solidFill>
                            <a:schemeClr val="tx1"/>
                          </a:solidFill>
                          <a:effectLst/>
                          <a:latin typeface="Raleway"/>
                        </a:rPr>
                        <a:t>kandidat</a:t>
                      </a:r>
                      <a:r>
                        <a:rPr lang="en-US" sz="1100" b="0" i="0" u="none" strike="noStrike" noProof="0">
                          <a:solidFill>
                            <a:schemeClr val="tx1"/>
                          </a:solidFill>
                          <a:effectLst/>
                          <a:latin typeface="Raleway"/>
                        </a:rPr>
                        <a:t> - 1 LOLOS di Week 33</a:t>
                      </a:r>
                      <a:endParaRPr lang="en-US"/>
                    </a:p>
                    <a:p>
                      <a:pPr marL="171450" lvl="0" indent="-171450" algn="l">
                        <a:lnSpc>
                          <a:spcPct val="100000"/>
                        </a:lnSpc>
                        <a:buClr>
                          <a:srgbClr val="000000"/>
                        </a:buClr>
                        <a:buFont typeface="Arial,Sans-Serif"/>
                        <a:buChar char="•"/>
                      </a:pPr>
                      <a:r>
                        <a:rPr lang="en-US" sz="1100" b="0" i="0" u="none" strike="noStrike" noProof="0">
                          <a:solidFill>
                            <a:schemeClr val="tx1"/>
                          </a:solidFill>
                          <a:effectLst/>
                          <a:latin typeface="Raleway"/>
                        </a:rPr>
                        <a:t>HR Interview 1 </a:t>
                      </a:r>
                      <a:r>
                        <a:rPr lang="en-US" sz="1100" b="0" i="0" u="none" strike="noStrike" noProof="0" err="1">
                          <a:solidFill>
                            <a:schemeClr val="tx1"/>
                          </a:solidFill>
                          <a:effectLst/>
                          <a:latin typeface="Raleway"/>
                        </a:rPr>
                        <a:t>kandidat</a:t>
                      </a:r>
                      <a:r>
                        <a:rPr lang="en-US" sz="1100" b="0" i="0" u="none" strike="noStrike" noProof="0">
                          <a:solidFill>
                            <a:schemeClr val="tx1"/>
                          </a:solidFill>
                          <a:effectLst/>
                          <a:latin typeface="Raleway"/>
                        </a:rPr>
                        <a:t> – DROP di Week 33</a:t>
                      </a:r>
                      <a:endParaRPr lang="en-US"/>
                    </a:p>
                    <a:p>
                      <a:pPr marL="0" lvl="0" indent="0" algn="l">
                        <a:lnSpc>
                          <a:spcPct val="100000"/>
                        </a:lnSpc>
                        <a:buClr>
                          <a:srgbClr val="000000"/>
                        </a:buClr>
                        <a:buNone/>
                      </a:pPr>
                      <a:endParaRPr lang="en-US" sz="1100" b="0" i="0" u="none" strike="noStrike" noProof="0">
                        <a:solidFill>
                          <a:schemeClr val="tx1"/>
                        </a:solidFill>
                        <a:effectLst/>
                        <a:latin typeface="Raleway"/>
                      </a:endParaRPr>
                    </a:p>
                    <a:p>
                      <a:pPr marL="0" lvl="0" indent="0" algn="l">
                        <a:lnSpc>
                          <a:spcPct val="100000"/>
                        </a:lnSpc>
                        <a:spcBef>
                          <a:spcPts val="0"/>
                        </a:spcBef>
                        <a:spcAft>
                          <a:spcPts val="0"/>
                        </a:spcAft>
                        <a:buClr>
                          <a:srgbClr val="000000"/>
                        </a:buClr>
                        <a:buNone/>
                      </a:pPr>
                      <a:r>
                        <a:rPr lang="en-US" sz="1100" b="1" i="0" u="none" strike="noStrike" noProof="0">
                          <a:solidFill>
                            <a:srgbClr val="000000"/>
                          </a:solidFill>
                          <a:effectLst/>
                          <a:latin typeface="Raleway"/>
                        </a:rPr>
                        <a:t>Next Action:</a:t>
                      </a:r>
                      <a:r>
                        <a:rPr lang="en-US" sz="1100" b="0" i="0" u="none" strike="noStrike" noProof="0">
                          <a:solidFill>
                            <a:srgbClr val="000000"/>
                          </a:solidFill>
                          <a:effectLst/>
                          <a:latin typeface="Raleway"/>
                        </a:rPr>
                        <a:t> </a:t>
                      </a:r>
                    </a:p>
                    <a:p>
                      <a:pPr marL="171450" lvl="0" indent="-171450" algn="l">
                        <a:lnSpc>
                          <a:spcPct val="100000"/>
                        </a:lnSpc>
                        <a:spcBef>
                          <a:spcPts val="0"/>
                        </a:spcBef>
                        <a:spcAft>
                          <a:spcPts val="0"/>
                        </a:spcAft>
                        <a:buClr>
                          <a:srgbClr val="000000"/>
                        </a:buClr>
                        <a:buFont typeface="Arial,Sans-Serif"/>
                        <a:buChar char="•"/>
                      </a:pPr>
                      <a:r>
                        <a:rPr lang="en-US" sz="1100" b="0" i="0" u="none" strike="noStrike" noProof="0">
                          <a:solidFill>
                            <a:srgbClr val="000000"/>
                          </a:solidFill>
                          <a:effectLst/>
                          <a:latin typeface="Raleway"/>
                        </a:rPr>
                        <a:t>Send 10 CV di Week 34</a:t>
                      </a:r>
                    </a:p>
                    <a:p>
                      <a:pPr marL="171450" lvl="0" indent="-171450" algn="l">
                        <a:lnSpc>
                          <a:spcPct val="100000"/>
                        </a:lnSpc>
                        <a:spcBef>
                          <a:spcPts val="0"/>
                        </a:spcBef>
                        <a:spcAft>
                          <a:spcPts val="0"/>
                        </a:spcAft>
                        <a:buClr>
                          <a:srgbClr val="000000"/>
                        </a:buClr>
                        <a:buFont typeface="Arial,Sans-Serif"/>
                        <a:buChar char="•"/>
                      </a:pPr>
                      <a:r>
                        <a:rPr lang="en-US" sz="1100" b="0" i="0" u="none" strike="noStrike" noProof="0">
                          <a:solidFill>
                            <a:srgbClr val="000000"/>
                          </a:solidFill>
                          <a:effectLst/>
                          <a:latin typeface="Raleway"/>
                        </a:rPr>
                        <a:t>HR Interview </a:t>
                      </a:r>
                      <a:r>
                        <a:rPr lang="en-US" sz="1100" b="0" i="0" u="none" strike="noStrike" noProof="0" err="1">
                          <a:solidFill>
                            <a:srgbClr val="000000"/>
                          </a:solidFill>
                          <a:effectLst/>
                          <a:latin typeface="Raleway"/>
                        </a:rPr>
                        <a:t>kandidat</a:t>
                      </a:r>
                      <a:r>
                        <a:rPr lang="en-US" sz="1100" b="0" i="0" u="none" strike="noStrike" noProof="0">
                          <a:solidFill>
                            <a:srgbClr val="000000"/>
                          </a:solidFill>
                          <a:effectLst/>
                          <a:latin typeface="Raleway"/>
                        </a:rPr>
                        <a:t> lolos </a:t>
                      </a:r>
                      <a:r>
                        <a:rPr lang="en-US" sz="1100" b="0" i="0" u="none" strike="noStrike" noProof="0" err="1">
                          <a:solidFill>
                            <a:srgbClr val="000000"/>
                          </a:solidFill>
                          <a:effectLst/>
                          <a:latin typeface="Raleway"/>
                        </a:rPr>
                        <a:t>Psikotes</a:t>
                      </a:r>
                      <a:r>
                        <a:rPr lang="en-US" sz="1100" b="0" i="0" u="none" strike="noStrike" noProof="0">
                          <a:solidFill>
                            <a:srgbClr val="000000"/>
                          </a:solidFill>
                          <a:effectLst/>
                          <a:latin typeface="Raleway"/>
                        </a:rPr>
                        <a:t> di Week 34</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34552934"/>
                  </a:ext>
                </a:extLst>
              </a:tr>
              <a:tr h="390525">
                <a:tc>
                  <a:txBody>
                    <a:bodyPr/>
                    <a:lstStyle/>
                    <a:p>
                      <a:pPr algn="ctr" fontAlgn="ctr">
                        <a:buNone/>
                      </a:pPr>
                      <a:r>
                        <a:rPr lang="en-US" sz="1000">
                          <a:effectLst/>
                          <a:latin typeface="Raleway" pitchFamily="2" charset="0"/>
                        </a:rPr>
                        <a:t>2</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pitchFamily="2" charset="0"/>
                        </a:rPr>
                        <a:t>CLAP</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pitchFamily="2" charset="0"/>
                        </a:rPr>
                        <a:t>MP</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ctr">
                        <a:buNone/>
                      </a:pPr>
                      <a:r>
                        <a:rPr lang="en-US" sz="1000">
                          <a:effectLst/>
                          <a:latin typeface="Raleway" pitchFamily="2" charset="0"/>
                        </a:rPr>
                        <a:t>Production</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pitchFamily="2" charset="0"/>
                        </a:rPr>
                        <a:t>10</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a:rPr>
                        <a:t>4</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000">
                          <a:effectLst/>
                          <a:latin typeface="Raleway"/>
                        </a:rPr>
                        <a:t>6</a:t>
                      </a: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0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a:rPr>
                        <a:t>2</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0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a:rPr>
                        <a:t>2</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marL="171450" lvl="0" indent="-171450" algn="l">
                        <a:lnSpc>
                          <a:spcPct val="100000"/>
                        </a:lnSpc>
                        <a:buClr>
                          <a:srgbClr val="000000"/>
                        </a:buClr>
                        <a:buFont typeface="Calibri,Sans-Serif"/>
                        <a:buChar char="-"/>
                      </a:pPr>
                      <a:r>
                        <a:rPr lang="en-US" sz="1000" b="0" i="0" u="none" strike="noStrike" noProof="0" err="1">
                          <a:solidFill>
                            <a:schemeClr val="tx1"/>
                          </a:solidFill>
                          <a:effectLst/>
                          <a:latin typeface="Raleway"/>
                        </a:rPr>
                        <a:t>Psikotes</a:t>
                      </a:r>
                      <a:r>
                        <a:rPr lang="en-US" sz="1000" b="0" i="0" u="none" strike="noStrike" noProof="0">
                          <a:solidFill>
                            <a:schemeClr val="tx1"/>
                          </a:solidFill>
                          <a:effectLst/>
                          <a:latin typeface="Raleway"/>
                        </a:rPr>
                        <a:t> 16 </a:t>
                      </a:r>
                      <a:r>
                        <a:rPr lang="en-US" sz="1000" b="0" i="0" u="none" strike="noStrike" noProof="0" err="1">
                          <a:solidFill>
                            <a:schemeClr val="tx1"/>
                          </a:solidFill>
                          <a:effectLst/>
                          <a:latin typeface="Raleway"/>
                        </a:rPr>
                        <a:t>kandidat</a:t>
                      </a:r>
                      <a:r>
                        <a:rPr lang="en-US" sz="1000" b="0" i="0" u="none" strike="noStrike" noProof="0">
                          <a:solidFill>
                            <a:schemeClr val="tx1"/>
                          </a:solidFill>
                          <a:effectLst/>
                          <a:latin typeface="Raleway"/>
                        </a:rPr>
                        <a:t> di Week 33 – 3 LOLOS di Week 33</a:t>
                      </a:r>
                    </a:p>
                    <a:p>
                      <a:pPr marL="171450" lvl="0" indent="-171450" algn="l">
                        <a:lnSpc>
                          <a:spcPct val="100000"/>
                        </a:lnSpc>
                        <a:buClr>
                          <a:srgbClr val="000000"/>
                        </a:buClr>
                        <a:buFont typeface="Calibri,Sans-Serif"/>
                        <a:buChar char="-"/>
                      </a:pPr>
                      <a:r>
                        <a:rPr lang="en-US" sz="1000" b="0" i="0" u="none" strike="noStrike" noProof="0">
                          <a:solidFill>
                            <a:schemeClr val="tx1"/>
                          </a:solidFill>
                          <a:effectLst/>
                          <a:latin typeface="Raleway"/>
                        </a:rPr>
                        <a:t>HR Interview 3 </a:t>
                      </a:r>
                      <a:r>
                        <a:rPr lang="en-US" sz="1000" b="0" i="0" u="none" strike="noStrike" noProof="0" err="1">
                          <a:solidFill>
                            <a:schemeClr val="tx1"/>
                          </a:solidFill>
                          <a:effectLst/>
                          <a:latin typeface="Raleway"/>
                        </a:rPr>
                        <a:t>kandidat</a:t>
                      </a:r>
                      <a:r>
                        <a:rPr lang="en-US" sz="1000" b="0" i="0" u="none" strike="noStrike" noProof="0">
                          <a:solidFill>
                            <a:schemeClr val="tx1"/>
                          </a:solidFill>
                          <a:effectLst/>
                          <a:latin typeface="Raleway"/>
                        </a:rPr>
                        <a:t> – DROP di Week 33</a:t>
                      </a:r>
                    </a:p>
                    <a:p>
                      <a:pPr marL="0" lvl="0" indent="0" algn="l">
                        <a:lnSpc>
                          <a:spcPct val="100000"/>
                        </a:lnSpc>
                        <a:buClr>
                          <a:srgbClr val="000000"/>
                        </a:buClr>
                        <a:buNone/>
                      </a:pPr>
                      <a:endParaRPr lang="en-US" sz="1000" b="0" i="0" u="none" strike="noStrike" noProof="0">
                        <a:solidFill>
                          <a:schemeClr val="tx1"/>
                        </a:solidFill>
                        <a:effectLst/>
                        <a:latin typeface="Raleway"/>
                      </a:endParaRPr>
                    </a:p>
                    <a:p>
                      <a:pPr marL="171450" lvl="0" indent="-171450" algn="l">
                        <a:lnSpc>
                          <a:spcPct val="100000"/>
                        </a:lnSpc>
                        <a:buClr>
                          <a:srgbClr val="000000"/>
                        </a:buClr>
                        <a:buFont typeface="Arial"/>
                        <a:buChar char="•"/>
                      </a:pPr>
                      <a:r>
                        <a:rPr lang="en-US" sz="1000" b="1" i="0" u="none" strike="noStrike" noProof="0">
                          <a:solidFill>
                            <a:schemeClr val="tx1"/>
                          </a:solidFill>
                          <a:effectLst/>
                          <a:latin typeface="Raleway"/>
                        </a:rPr>
                        <a:t>Next Action:</a:t>
                      </a:r>
                      <a:endParaRPr lang="en-US" sz="1000" b="0" i="0" u="none" strike="noStrike" noProof="0">
                        <a:solidFill>
                          <a:schemeClr val="tx1"/>
                        </a:solidFill>
                        <a:effectLst/>
                        <a:latin typeface="Raleway"/>
                      </a:endParaRPr>
                    </a:p>
                    <a:p>
                      <a:pPr marL="171450" lvl="0" indent="-171450" algn="l">
                        <a:lnSpc>
                          <a:spcPct val="100000"/>
                        </a:lnSpc>
                        <a:buClr>
                          <a:srgbClr val="000000"/>
                        </a:buClr>
                        <a:buFont typeface="Calibri,Sans-Serif"/>
                        <a:buChar char="-"/>
                      </a:pPr>
                      <a:r>
                        <a:rPr lang="en-US" sz="1000" b="0" i="0" u="none" strike="noStrike" noProof="0">
                          <a:solidFill>
                            <a:schemeClr val="tx1"/>
                          </a:solidFill>
                          <a:effectLst/>
                          <a:latin typeface="Raleway"/>
                        </a:rPr>
                        <a:t>HR Interview </a:t>
                      </a:r>
                      <a:r>
                        <a:rPr lang="en-US" sz="1000" b="0" i="0" u="none" strike="noStrike" noProof="0" err="1">
                          <a:solidFill>
                            <a:schemeClr val="tx1"/>
                          </a:solidFill>
                          <a:effectLst/>
                          <a:latin typeface="Raleway"/>
                        </a:rPr>
                        <a:t>kandidat</a:t>
                      </a:r>
                      <a:r>
                        <a:rPr lang="en-US" sz="1000" b="0" i="0" u="none" strike="noStrike" noProof="0">
                          <a:solidFill>
                            <a:schemeClr val="tx1"/>
                          </a:solidFill>
                          <a:effectLst/>
                          <a:latin typeface="Raleway"/>
                        </a:rPr>
                        <a:t> lolos Psikotes di Week 34</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64749351"/>
                  </a:ext>
                </a:extLst>
              </a:tr>
            </a:tbl>
          </a:graphicData>
        </a:graphic>
      </p:graphicFrame>
    </p:spTree>
    <p:extLst>
      <p:ext uri="{BB962C8B-B14F-4D97-AF65-F5344CB8AC3E}">
        <p14:creationId xmlns:p14="http://schemas.microsoft.com/office/powerpoint/2010/main" val="2876780036"/>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7B65F3-05CC-FC03-4391-90BC3ABDAE48}"/>
            </a:ext>
          </a:extLst>
        </p:cNvPr>
        <p:cNvGrpSpPr/>
        <p:nvPr/>
      </p:nvGrpSpPr>
      <p:grpSpPr>
        <a:xfrm>
          <a:off x="0" y="0"/>
          <a:ext cx="0" cy="0"/>
          <a:chOff x="0" y="0"/>
          <a:chExt cx="0" cy="0"/>
        </a:xfrm>
      </p:grpSpPr>
      <p:sp>
        <p:nvSpPr>
          <p:cNvPr id="3" name="Text 1">
            <a:extLst>
              <a:ext uri="{FF2B5EF4-FFF2-40B4-BE49-F238E27FC236}">
                <a16:creationId xmlns:a16="http://schemas.microsoft.com/office/drawing/2014/main" id="{C1D30AA7-E1A2-F534-FFD0-D868EAF75D39}"/>
              </a:ext>
            </a:extLst>
          </p:cNvPr>
          <p:cNvSpPr/>
          <p:nvPr/>
        </p:nvSpPr>
        <p:spPr>
          <a:xfrm>
            <a:off x="270795" y="820335"/>
            <a:ext cx="9144000" cy="400780"/>
          </a:xfrm>
          <a:prstGeom prst="rect">
            <a:avLst/>
          </a:prstGeom>
          <a:noFill/>
          <a:ln/>
        </p:spPr>
        <p:txBody>
          <a:bodyPr wrap="square" lIns="0" tIns="0" rIns="0" bIns="0" rtlCol="0" anchor="ctr"/>
          <a:lstStyle>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en-US" sz="2133" b="1" i="0" u="none" strike="noStrike" kern="1200" cap="none" spc="0" normalizeH="0" baseline="0" noProof="0">
                <a:ln>
                  <a:noFill/>
                </a:ln>
                <a:solidFill>
                  <a:srgbClr val="C00000"/>
                </a:solidFill>
                <a:effectLst/>
                <a:uLnTx/>
                <a:uFillTx/>
                <a:latin typeface="Raleway"/>
                <a:ea typeface="+mn-ea"/>
                <a:cs typeface="+mn-cs"/>
              </a:rPr>
              <a:t>CLAP</a:t>
            </a:r>
            <a:r>
              <a:rPr kumimoji="0" lang="en-US" sz="2133" b="1" i="0" u="none" strike="noStrike" kern="1200" cap="none" spc="0" normalizeH="0" baseline="0" noProof="0">
                <a:ln>
                  <a:noFill/>
                </a:ln>
                <a:solidFill>
                  <a:srgbClr val="002060"/>
                </a:solidFill>
                <a:effectLst/>
                <a:uLnTx/>
                <a:uFillTx/>
                <a:latin typeface="Raleway"/>
                <a:ea typeface="+mn-ea"/>
                <a:cs typeface="+mn-cs"/>
              </a:rPr>
              <a:t> - PIPELINE KANDIDAT AKTIF / SEDANG DIPROSES</a:t>
            </a:r>
            <a:endParaRPr kumimoji="0" lang="en-US" sz="2133" b="0" i="0" u="none" strike="noStrike" kern="1200" cap="none" spc="0" normalizeH="0" baseline="0" noProof="0">
              <a:ln>
                <a:noFill/>
              </a:ln>
              <a:solidFill>
                <a:srgbClr val="002060"/>
              </a:solidFill>
              <a:effectLst/>
              <a:uLnTx/>
              <a:uFillTx/>
              <a:latin typeface="Raleway"/>
              <a:ea typeface="+mn-ea"/>
              <a:cs typeface="+mn-cs"/>
            </a:endParaRPr>
          </a:p>
        </p:txBody>
      </p:sp>
      <p:graphicFrame>
        <p:nvGraphicFramePr>
          <p:cNvPr id="9" name="tabelclap">
            <a:extLst>
              <a:ext uri="{FF2B5EF4-FFF2-40B4-BE49-F238E27FC236}">
                <a16:creationId xmlns:a16="http://schemas.microsoft.com/office/drawing/2014/main" id="{FBBBA860-8475-48DB-D6AC-8E15AA010274}"/>
              </a:ext>
            </a:extLst>
          </p:cNvPr>
          <p:cNvGraphicFramePr>
            <a:graphicFrameLocks noGrp="1"/>
          </p:cNvGraphicFramePr>
          <p:nvPr>
            <p:extLst>
              <p:ext uri="{D42A27DB-BD31-4B8C-83A1-F6EECF244321}">
                <p14:modId xmlns:p14="http://schemas.microsoft.com/office/powerpoint/2010/main" val="3677689702"/>
              </p:ext>
            </p:extLst>
          </p:nvPr>
        </p:nvGraphicFramePr>
        <p:xfrm>
          <a:off x="271219" y="1353634"/>
          <a:ext cx="11702129" cy="4166234"/>
        </p:xfrm>
        <a:graphic>
          <a:graphicData uri="http://schemas.openxmlformats.org/drawingml/2006/table">
            <a:tbl>
              <a:tblPr bandRow="1">
                <a:tableStyleId>{5C22544A-7EE6-4342-B048-85BDC9FD1C3A}</a:tableStyleId>
              </a:tblPr>
              <a:tblGrid>
                <a:gridCol w="308427">
                  <a:extLst>
                    <a:ext uri="{9D8B030D-6E8A-4147-A177-3AD203B41FA5}">
                      <a16:colId xmlns:a16="http://schemas.microsoft.com/office/drawing/2014/main" val="3136549255"/>
                    </a:ext>
                  </a:extLst>
                </a:gridCol>
                <a:gridCol w="544285">
                  <a:extLst>
                    <a:ext uri="{9D8B030D-6E8A-4147-A177-3AD203B41FA5}">
                      <a16:colId xmlns:a16="http://schemas.microsoft.com/office/drawing/2014/main" val="1155151809"/>
                    </a:ext>
                  </a:extLst>
                </a:gridCol>
                <a:gridCol w="399141">
                  <a:extLst>
                    <a:ext uri="{9D8B030D-6E8A-4147-A177-3AD203B41FA5}">
                      <a16:colId xmlns:a16="http://schemas.microsoft.com/office/drawing/2014/main" val="3327528668"/>
                    </a:ext>
                  </a:extLst>
                </a:gridCol>
                <a:gridCol w="907142">
                  <a:extLst>
                    <a:ext uri="{9D8B030D-6E8A-4147-A177-3AD203B41FA5}">
                      <a16:colId xmlns:a16="http://schemas.microsoft.com/office/drawing/2014/main" val="736504124"/>
                    </a:ext>
                  </a:extLst>
                </a:gridCol>
                <a:gridCol w="689428">
                  <a:extLst>
                    <a:ext uri="{9D8B030D-6E8A-4147-A177-3AD203B41FA5}">
                      <a16:colId xmlns:a16="http://schemas.microsoft.com/office/drawing/2014/main" val="2240070331"/>
                    </a:ext>
                  </a:extLst>
                </a:gridCol>
                <a:gridCol w="417284">
                  <a:extLst>
                    <a:ext uri="{9D8B030D-6E8A-4147-A177-3AD203B41FA5}">
                      <a16:colId xmlns:a16="http://schemas.microsoft.com/office/drawing/2014/main" val="2536482571"/>
                    </a:ext>
                  </a:extLst>
                </a:gridCol>
                <a:gridCol w="417284">
                  <a:extLst>
                    <a:ext uri="{9D8B030D-6E8A-4147-A177-3AD203B41FA5}">
                      <a16:colId xmlns:a16="http://schemas.microsoft.com/office/drawing/2014/main" val="4147814108"/>
                    </a:ext>
                  </a:extLst>
                </a:gridCol>
                <a:gridCol w="508000">
                  <a:extLst>
                    <a:ext uri="{9D8B030D-6E8A-4147-A177-3AD203B41FA5}">
                      <a16:colId xmlns:a16="http://schemas.microsoft.com/office/drawing/2014/main" val="3395530137"/>
                    </a:ext>
                  </a:extLst>
                </a:gridCol>
                <a:gridCol w="453571">
                  <a:extLst>
                    <a:ext uri="{9D8B030D-6E8A-4147-A177-3AD203B41FA5}">
                      <a16:colId xmlns:a16="http://schemas.microsoft.com/office/drawing/2014/main" val="3459904593"/>
                    </a:ext>
                  </a:extLst>
                </a:gridCol>
                <a:gridCol w="362857">
                  <a:extLst>
                    <a:ext uri="{9D8B030D-6E8A-4147-A177-3AD203B41FA5}">
                      <a16:colId xmlns:a16="http://schemas.microsoft.com/office/drawing/2014/main" val="940390327"/>
                    </a:ext>
                  </a:extLst>
                </a:gridCol>
                <a:gridCol w="417284">
                  <a:extLst>
                    <a:ext uri="{9D8B030D-6E8A-4147-A177-3AD203B41FA5}">
                      <a16:colId xmlns:a16="http://schemas.microsoft.com/office/drawing/2014/main" val="1742293648"/>
                    </a:ext>
                  </a:extLst>
                </a:gridCol>
                <a:gridCol w="508000">
                  <a:extLst>
                    <a:ext uri="{9D8B030D-6E8A-4147-A177-3AD203B41FA5}">
                      <a16:colId xmlns:a16="http://schemas.microsoft.com/office/drawing/2014/main" val="2628956524"/>
                    </a:ext>
                  </a:extLst>
                </a:gridCol>
                <a:gridCol w="489857">
                  <a:extLst>
                    <a:ext uri="{9D8B030D-6E8A-4147-A177-3AD203B41FA5}">
                      <a16:colId xmlns:a16="http://schemas.microsoft.com/office/drawing/2014/main" val="4188729841"/>
                    </a:ext>
                  </a:extLst>
                </a:gridCol>
                <a:gridCol w="526141">
                  <a:extLst>
                    <a:ext uri="{9D8B030D-6E8A-4147-A177-3AD203B41FA5}">
                      <a16:colId xmlns:a16="http://schemas.microsoft.com/office/drawing/2014/main" val="563882958"/>
                    </a:ext>
                  </a:extLst>
                </a:gridCol>
                <a:gridCol w="580571">
                  <a:extLst>
                    <a:ext uri="{9D8B030D-6E8A-4147-A177-3AD203B41FA5}">
                      <a16:colId xmlns:a16="http://schemas.microsoft.com/office/drawing/2014/main" val="470089786"/>
                    </a:ext>
                  </a:extLst>
                </a:gridCol>
                <a:gridCol w="4172857">
                  <a:extLst>
                    <a:ext uri="{9D8B030D-6E8A-4147-A177-3AD203B41FA5}">
                      <a16:colId xmlns:a16="http://schemas.microsoft.com/office/drawing/2014/main" val="323443997"/>
                    </a:ext>
                  </a:extLst>
                </a:gridCol>
              </a:tblGrid>
              <a:tr h="200025">
                <a:tc rowSpan="2">
                  <a:txBody>
                    <a:bodyPr/>
                    <a:lstStyle/>
                    <a:p>
                      <a:pPr algn="ctr" fontAlgn="ctr">
                        <a:buNone/>
                      </a:pPr>
                      <a:r>
                        <a:rPr lang="en-US" sz="1000" b="1">
                          <a:solidFill>
                            <a:srgbClr val="FFFFFF"/>
                          </a:solidFill>
                          <a:effectLst/>
                          <a:latin typeface="Raleway" pitchFamily="2" charset="0"/>
                        </a:rPr>
                        <a:t>No.</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rowSpan="2">
                  <a:txBody>
                    <a:bodyPr/>
                    <a:lstStyle/>
                    <a:p>
                      <a:pPr algn="ctr" fontAlgn="ctr">
                        <a:buNone/>
                      </a:pPr>
                      <a:r>
                        <a:rPr lang="en-US" sz="1000" b="1">
                          <a:solidFill>
                            <a:srgbClr val="FFFFFF"/>
                          </a:solidFill>
                          <a:effectLst/>
                          <a:latin typeface="Raleway" pitchFamily="2" charset="0"/>
                        </a:rPr>
                        <a:t>Program</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rowSpan="2">
                  <a:txBody>
                    <a:bodyPr/>
                    <a:lstStyle/>
                    <a:p>
                      <a:pPr algn="ctr" fontAlgn="ctr">
                        <a:buNone/>
                      </a:pPr>
                      <a:r>
                        <a:rPr lang="en-US" sz="1000" b="1">
                          <a:solidFill>
                            <a:srgbClr val="FFFFFF"/>
                          </a:solidFill>
                          <a:effectLst/>
                          <a:latin typeface="Raleway" pitchFamily="2" charset="0"/>
                        </a:rPr>
                        <a:t>BU</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rowSpan="2">
                  <a:txBody>
                    <a:bodyPr/>
                    <a:lstStyle/>
                    <a:p>
                      <a:pPr algn="ctr" fontAlgn="ctr">
                        <a:buNone/>
                      </a:pPr>
                      <a:r>
                        <a:rPr lang="en-US" sz="1000" b="1" err="1">
                          <a:solidFill>
                            <a:srgbClr val="FFFFFF"/>
                          </a:solidFill>
                          <a:effectLst/>
                          <a:latin typeface="Raleway"/>
                        </a:rPr>
                        <a:t>Posisi</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rowSpan="2">
                  <a:txBody>
                    <a:bodyPr/>
                    <a:lstStyle/>
                    <a:p>
                      <a:pPr algn="ctr" fontAlgn="ctr">
                        <a:buNone/>
                      </a:pPr>
                      <a:r>
                        <a:rPr lang="en-US" sz="1000" b="1">
                          <a:solidFill>
                            <a:srgbClr val="FFFFFF"/>
                          </a:solidFill>
                          <a:effectLst/>
                          <a:latin typeface="Raleway"/>
                        </a:rPr>
                        <a:t>Total </a:t>
                      </a:r>
                      <a:r>
                        <a:rPr lang="en-US" sz="1000" b="1" err="1">
                          <a:solidFill>
                            <a:srgbClr val="FFFFFF"/>
                          </a:solidFill>
                          <a:effectLst/>
                          <a:latin typeface="Raleway"/>
                        </a:rPr>
                        <a:t>Kandidat</a:t>
                      </a:r>
                      <a:r>
                        <a:rPr lang="en-US" sz="1000" b="1">
                          <a:solidFill>
                            <a:srgbClr val="FFFFFF"/>
                          </a:solidFill>
                          <a:effectLst/>
                          <a:latin typeface="Raleway"/>
                        </a:rPr>
                        <a:t> </a:t>
                      </a:r>
                      <a:r>
                        <a:rPr lang="en-US" sz="1000" b="1" err="1">
                          <a:solidFill>
                            <a:srgbClr val="FFFFFF"/>
                          </a:solidFill>
                          <a:effectLst/>
                          <a:latin typeface="Raleway"/>
                        </a:rPr>
                        <a:t>Aktif</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gridSpan="4">
                  <a:txBody>
                    <a:bodyPr/>
                    <a:lstStyle/>
                    <a:p>
                      <a:pPr algn="ctr" fontAlgn="ctr">
                        <a:buNone/>
                      </a:pPr>
                      <a:r>
                        <a:rPr lang="en-US" sz="1000" b="1">
                          <a:solidFill>
                            <a:srgbClr val="FFFFFF"/>
                          </a:solidFill>
                          <a:effectLst/>
                          <a:latin typeface="Raleway" pitchFamily="2" charset="0"/>
                        </a:rPr>
                        <a:t>Case Study</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4">
                  <a:txBody>
                    <a:bodyPr/>
                    <a:lstStyle/>
                    <a:p>
                      <a:pPr algn="ctr" fontAlgn="ctr">
                        <a:buNone/>
                      </a:pPr>
                      <a:r>
                        <a:rPr lang="en-US" sz="1000" b="1">
                          <a:solidFill>
                            <a:srgbClr val="FFFFFF"/>
                          </a:solidFill>
                          <a:effectLst/>
                          <a:latin typeface="Raleway" pitchFamily="2" charset="0"/>
                        </a:rPr>
                        <a:t>USER INTERVIEW</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2">
                  <a:txBody>
                    <a:bodyPr/>
                    <a:lstStyle/>
                    <a:p>
                      <a:pPr algn="ctr" fontAlgn="ctr">
                        <a:buNone/>
                      </a:pPr>
                      <a:r>
                        <a:rPr lang="en-US" sz="1000" b="1">
                          <a:solidFill>
                            <a:srgbClr val="FFFFFF"/>
                          </a:solidFill>
                          <a:effectLst/>
                          <a:latin typeface="Raleway" pitchFamily="2" charset="0"/>
                        </a:rPr>
                        <a:t>OFFERING</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hMerge="1">
                  <a:txBody>
                    <a:bodyPr/>
                    <a:lstStyle/>
                    <a:p>
                      <a:endParaRPr lang="en-US"/>
                    </a:p>
                  </a:txBody>
                  <a:tcPr/>
                </a:tc>
                <a:tc rowSpan="2">
                  <a:txBody>
                    <a:bodyPr/>
                    <a:lstStyle/>
                    <a:p>
                      <a:pPr algn="ctr" fontAlgn="ctr">
                        <a:buNone/>
                      </a:pPr>
                      <a:r>
                        <a:rPr lang="en-US" sz="1000" b="1">
                          <a:solidFill>
                            <a:srgbClr val="FFFFFF"/>
                          </a:solidFill>
                          <a:effectLst/>
                          <a:latin typeface="Raleway" pitchFamily="2" charset="0"/>
                        </a:rPr>
                        <a:t>NOTES</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extLst>
                  <a:ext uri="{0D108BD9-81ED-4DB2-BD59-A6C34878D82A}">
                    <a16:rowId xmlns:a16="http://schemas.microsoft.com/office/drawing/2014/main" val="431503388"/>
                  </a:ext>
                </a:extLst>
              </a:tr>
              <a:tr h="200025">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algn="ctr" fontAlgn="ctr">
                        <a:buNone/>
                      </a:pPr>
                      <a:r>
                        <a:rPr lang="en-US" sz="1000" b="1">
                          <a:solidFill>
                            <a:srgbClr val="FFFFFF"/>
                          </a:solidFill>
                          <a:effectLst/>
                          <a:latin typeface="Raleway" pitchFamily="2" charset="0"/>
                        </a:rPr>
                        <a:t>OK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NOT OK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NO SUBMIT</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ON GOING</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OK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NOT OK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SCHEDULED</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WITHDRAW</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ACCEPT</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REJECT</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vMerge="1">
                  <a:txBody>
                    <a:bodyPr/>
                    <a:lstStyle/>
                    <a:p>
                      <a:endParaRPr lang="en-US"/>
                    </a:p>
                  </a:txBody>
                  <a:tcPr/>
                </a:tc>
                <a:extLst>
                  <a:ext uri="{0D108BD9-81ED-4DB2-BD59-A6C34878D82A}">
                    <a16:rowId xmlns:a16="http://schemas.microsoft.com/office/drawing/2014/main" val="1708477322"/>
                  </a:ext>
                </a:extLst>
              </a:tr>
              <a:tr h="390525">
                <a:tc>
                  <a:txBody>
                    <a:bodyPr/>
                    <a:lstStyle/>
                    <a:p>
                      <a:pPr algn="ctr" fontAlgn="ctr">
                        <a:buNone/>
                      </a:pPr>
                      <a:r>
                        <a:rPr lang="en-US" sz="1000">
                          <a:effectLst/>
                          <a:latin typeface="Raleway" pitchFamily="2" charset="0"/>
                        </a:rPr>
                        <a:t>3</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ctr">
                        <a:buNone/>
                      </a:pPr>
                      <a:r>
                        <a:rPr lang="en-US" sz="1000">
                          <a:effectLst/>
                          <a:latin typeface="Raleway" pitchFamily="2" charset="0"/>
                        </a:rPr>
                        <a:t>CLAP</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pitchFamily="2" charset="0"/>
                        </a:rPr>
                        <a:t>MP</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pitchFamily="2" charset="0"/>
                        </a:rPr>
                        <a:t>Quality</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a:rPr>
                        <a:t>22</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a:rPr>
                        <a:t>17</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000">
                          <a:effectLst/>
                          <a:latin typeface="Raleway"/>
                        </a:rPr>
                        <a:t>5</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0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000">
                          <a:effectLst/>
                          <a:latin typeface="Raleway"/>
                        </a:rPr>
                        <a:t>1</a:t>
                      </a: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a:rPr>
                        <a:t>16</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0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0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a:rPr>
                        <a:t>1</a:t>
                      </a: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marL="171450" lvl="0" indent="-171450" algn="l">
                        <a:lnSpc>
                          <a:spcPct val="100000"/>
                        </a:lnSpc>
                        <a:spcBef>
                          <a:spcPts val="0"/>
                        </a:spcBef>
                        <a:spcAft>
                          <a:spcPts val="0"/>
                        </a:spcAft>
                        <a:buClr>
                          <a:srgbClr val="000000"/>
                        </a:buClr>
                        <a:buFont typeface="Calibri"/>
                        <a:buChar char="-"/>
                      </a:pPr>
                      <a:r>
                        <a:rPr lang="en-US" sz="1100" b="0" i="0" u="none" strike="noStrike" noProof="0">
                          <a:solidFill>
                            <a:schemeClr val="tx1"/>
                          </a:solidFill>
                          <a:effectLst/>
                          <a:latin typeface="Raleway"/>
                        </a:rPr>
                        <a:t>Send 65 kandidat di Week 33</a:t>
                      </a:r>
                    </a:p>
                    <a:p>
                      <a:pPr marL="0" lvl="0" indent="0" algn="l">
                        <a:lnSpc>
                          <a:spcPct val="100000"/>
                        </a:lnSpc>
                        <a:spcBef>
                          <a:spcPts val="0"/>
                        </a:spcBef>
                        <a:spcAft>
                          <a:spcPts val="0"/>
                        </a:spcAft>
                        <a:buClr>
                          <a:srgbClr val="000000"/>
                        </a:buClr>
                        <a:buNone/>
                      </a:pPr>
                      <a:endParaRPr lang="en-US" sz="1100" b="0" i="0" u="none" strike="noStrike" noProof="0">
                        <a:solidFill>
                          <a:schemeClr val="tx1"/>
                        </a:solidFill>
                        <a:effectLst/>
                        <a:latin typeface="Raleway"/>
                      </a:endParaRPr>
                    </a:p>
                    <a:p>
                      <a:pPr marL="0" lvl="0" indent="0" algn="l">
                        <a:lnSpc>
                          <a:spcPct val="100000"/>
                        </a:lnSpc>
                        <a:spcBef>
                          <a:spcPts val="0"/>
                        </a:spcBef>
                        <a:spcAft>
                          <a:spcPts val="0"/>
                        </a:spcAft>
                        <a:buNone/>
                      </a:pPr>
                      <a:r>
                        <a:rPr lang="en-US" sz="1100" b="1" i="0" u="none" strike="noStrike" noProof="0">
                          <a:solidFill>
                            <a:schemeClr val="tx1"/>
                          </a:solidFill>
                          <a:effectLst/>
                          <a:latin typeface="Raleway"/>
                        </a:rPr>
                        <a:t>Next Action: </a:t>
                      </a:r>
                      <a:endParaRPr lang="en-US" sz="1100" b="0" i="0" u="none" strike="noStrike" noProof="0">
                        <a:solidFill>
                          <a:srgbClr val="000000"/>
                        </a:solidFill>
                        <a:effectLst/>
                        <a:latin typeface="Raleway"/>
                      </a:endParaRPr>
                    </a:p>
                    <a:p>
                      <a:pPr marL="171450" lvl="0" indent="-171450" algn="l">
                        <a:lnSpc>
                          <a:spcPct val="100000"/>
                        </a:lnSpc>
                        <a:spcBef>
                          <a:spcPts val="0"/>
                        </a:spcBef>
                        <a:spcAft>
                          <a:spcPts val="0"/>
                        </a:spcAft>
                        <a:buClr>
                          <a:srgbClr val="000000"/>
                        </a:buClr>
                        <a:buFont typeface="Calibri"/>
                        <a:buChar char="-"/>
                      </a:pPr>
                      <a:r>
                        <a:rPr lang="en-US" sz="1100" b="0" i="0" u="none" strike="noStrike" noProof="0">
                          <a:solidFill>
                            <a:schemeClr val="tx1"/>
                          </a:solidFill>
                          <a:effectLst/>
                          <a:latin typeface="Raleway"/>
                        </a:rPr>
                        <a:t>Follow up </a:t>
                      </a:r>
                      <a:r>
                        <a:rPr lang="en-US" sz="1100" b="0" i="0" u="none" strike="noStrike" noProof="0" err="1">
                          <a:solidFill>
                            <a:schemeClr val="tx1"/>
                          </a:solidFill>
                          <a:effectLst/>
                          <a:latin typeface="Raleway"/>
                        </a:rPr>
                        <a:t>hasil</a:t>
                      </a:r>
                      <a:r>
                        <a:rPr lang="en-US" sz="1100" b="0" i="0" u="none" strike="noStrike" noProof="0">
                          <a:solidFill>
                            <a:schemeClr val="tx1"/>
                          </a:solidFill>
                          <a:effectLst/>
                          <a:latin typeface="Raleway"/>
                        </a:rPr>
                        <a:t> screening User di Week 34</a:t>
                      </a:r>
                    </a:p>
                    <a:p>
                      <a:pPr marL="171450" lvl="0" indent="-171450" algn="l">
                        <a:lnSpc>
                          <a:spcPct val="100000"/>
                        </a:lnSpc>
                        <a:spcBef>
                          <a:spcPts val="0"/>
                        </a:spcBef>
                        <a:spcAft>
                          <a:spcPts val="0"/>
                        </a:spcAft>
                        <a:buClr>
                          <a:srgbClr val="000000"/>
                        </a:buClr>
                        <a:buFont typeface="Calibri"/>
                        <a:buChar char="-"/>
                      </a:pPr>
                      <a:r>
                        <a:rPr lang="en-US" sz="1100" b="0" i="0" u="none" strike="noStrike" noProof="0">
                          <a:solidFill>
                            <a:schemeClr val="tx1"/>
                          </a:solidFill>
                          <a:effectLst/>
                          <a:latin typeface="Raleway"/>
                        </a:rPr>
                        <a:t>Psikotes kandidat shortlisted di Week 34</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09905780"/>
                  </a:ext>
                </a:extLst>
              </a:tr>
              <a:tr h="390525">
                <a:tc>
                  <a:txBody>
                    <a:bodyPr/>
                    <a:lstStyle/>
                    <a:p>
                      <a:pPr algn="ctr" fontAlgn="ctr">
                        <a:buNone/>
                      </a:pPr>
                      <a:r>
                        <a:rPr lang="en-US" sz="1000">
                          <a:effectLst/>
                          <a:latin typeface="Raleway"/>
                        </a:rPr>
                        <a:t>5</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ctr">
                        <a:buNone/>
                      </a:pPr>
                      <a:r>
                        <a:rPr lang="en-US" sz="1000">
                          <a:effectLst/>
                          <a:latin typeface="Raleway" pitchFamily="2" charset="0"/>
                        </a:rPr>
                        <a:t>CLAP</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a:rPr>
                        <a:t>MP</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a:rPr>
                        <a:t>Commercial</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a:rPr>
                        <a:t>14</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a:rPr>
                        <a:t>11</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000">
                          <a:effectLst/>
                          <a:latin typeface="Raleway" pitchFamily="2" charset="0"/>
                        </a:rPr>
                        <a:t>3</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0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000">
                          <a:effectLst/>
                          <a:latin typeface="Raleway"/>
                        </a:rPr>
                        <a:t>2</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a:rPr>
                        <a:t>9</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a:rPr>
                        <a:t>1</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000">
                          <a:effectLst/>
                          <a:latin typeface="Raleway"/>
                        </a:rPr>
                        <a:t>2</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marL="171450" lvl="0" indent="-171450" algn="l">
                        <a:lnSpc>
                          <a:spcPct val="100000"/>
                        </a:lnSpc>
                        <a:spcBef>
                          <a:spcPts val="0"/>
                        </a:spcBef>
                        <a:spcAft>
                          <a:spcPts val="0"/>
                        </a:spcAft>
                        <a:buClr>
                          <a:srgbClr val="000000"/>
                        </a:buClr>
                        <a:buFont typeface="Calibri"/>
                        <a:buChar char="-"/>
                      </a:pPr>
                      <a:r>
                        <a:rPr lang="en-US" sz="1000" b="0" i="0" u="none" strike="noStrike" noProof="0">
                          <a:solidFill>
                            <a:srgbClr val="000000"/>
                          </a:solidFill>
                          <a:effectLst/>
                          <a:highlight>
                            <a:srgbClr val="FFFFFF"/>
                          </a:highlight>
                          <a:latin typeface="Raleway"/>
                        </a:rPr>
                        <a:t>User Interview Muhammad Daffa – HOLD di Week 32</a:t>
                      </a:r>
                      <a:endParaRPr lang="en-US" sz="1000" b="0" i="0" u="none" strike="noStrike" noProof="0" err="1">
                        <a:solidFill>
                          <a:srgbClr val="000000"/>
                        </a:solidFill>
                        <a:effectLst/>
                        <a:highlight>
                          <a:srgbClr val="FFFFFF"/>
                        </a:highlight>
                        <a:latin typeface="Raleway"/>
                      </a:endParaRPr>
                    </a:p>
                    <a:p>
                      <a:pPr marL="171450" lvl="0" indent="-171450" algn="l">
                        <a:lnSpc>
                          <a:spcPct val="100000"/>
                        </a:lnSpc>
                        <a:spcBef>
                          <a:spcPts val="0"/>
                        </a:spcBef>
                        <a:spcAft>
                          <a:spcPts val="0"/>
                        </a:spcAft>
                        <a:buClr>
                          <a:srgbClr val="000000"/>
                        </a:buClr>
                        <a:buFont typeface="Calibri"/>
                        <a:buChar char="-"/>
                      </a:pPr>
                      <a:r>
                        <a:rPr lang="en-US" sz="1000" b="0" i="0" u="none" strike="noStrike" noProof="0">
                          <a:solidFill>
                            <a:srgbClr val="000000"/>
                          </a:solidFill>
                          <a:effectLst/>
                          <a:highlight>
                            <a:srgbClr val="FFFFFF"/>
                          </a:highlight>
                          <a:latin typeface="Raleway"/>
                        </a:rPr>
                        <a:t>Priority CLAP – </a:t>
                      </a:r>
                      <a:r>
                        <a:rPr lang="en-US" sz="1000" b="0" i="0" u="none" strike="noStrike" noProof="0" err="1">
                          <a:solidFill>
                            <a:srgbClr val="000000"/>
                          </a:solidFill>
                          <a:effectLst/>
                          <a:highlight>
                            <a:srgbClr val="FFFFFF"/>
                          </a:highlight>
                          <a:latin typeface="Raleway"/>
                        </a:rPr>
                        <a:t>CDEx</a:t>
                      </a:r>
                      <a:r>
                        <a:rPr lang="en-US" sz="1000" b="0" i="0" u="none" strike="noStrike" noProof="0">
                          <a:solidFill>
                            <a:srgbClr val="000000"/>
                          </a:solidFill>
                          <a:effectLst/>
                          <a:highlight>
                            <a:srgbClr val="FFFFFF"/>
                          </a:highlight>
                          <a:latin typeface="Raleway"/>
                        </a:rPr>
                        <a:t> di Week 33</a:t>
                      </a:r>
                    </a:p>
                    <a:p>
                      <a:pPr lvl="0" algn="l">
                        <a:lnSpc>
                          <a:spcPct val="100000"/>
                        </a:lnSpc>
                        <a:spcBef>
                          <a:spcPts val="0"/>
                        </a:spcBef>
                        <a:spcAft>
                          <a:spcPts val="0"/>
                        </a:spcAft>
                        <a:buNone/>
                      </a:pPr>
                      <a:endParaRPr lang="en-US" sz="1000" b="0" i="0" u="none" strike="noStrike" noProof="0">
                        <a:solidFill>
                          <a:srgbClr val="000000"/>
                        </a:solidFill>
                        <a:effectLst/>
                        <a:highlight>
                          <a:srgbClr val="FFFFFF"/>
                        </a:highlight>
                        <a:latin typeface="Raleway"/>
                      </a:endParaRPr>
                    </a:p>
                    <a:p>
                      <a:pPr lvl="0" algn="l">
                        <a:lnSpc>
                          <a:spcPct val="100000"/>
                        </a:lnSpc>
                        <a:spcBef>
                          <a:spcPts val="0"/>
                        </a:spcBef>
                        <a:spcAft>
                          <a:spcPts val="0"/>
                        </a:spcAft>
                        <a:buNone/>
                      </a:pPr>
                      <a:r>
                        <a:rPr lang="en-US" sz="1000" b="1" i="0" u="none" strike="noStrike" noProof="0">
                          <a:solidFill>
                            <a:srgbClr val="000000"/>
                          </a:solidFill>
                          <a:effectLst/>
                          <a:highlight>
                            <a:srgbClr val="FFFFFF"/>
                          </a:highlight>
                          <a:latin typeface="Raleway"/>
                        </a:rPr>
                        <a:t>Next Action:</a:t>
                      </a:r>
                      <a:endParaRPr lang="en-US" sz="1000" b="0" i="0" u="none" strike="noStrike" noProof="0">
                        <a:solidFill>
                          <a:srgbClr val="000000"/>
                        </a:solidFill>
                        <a:effectLst/>
                        <a:highlight>
                          <a:srgbClr val="FFFFFF"/>
                        </a:highlight>
                        <a:latin typeface="Raleway"/>
                      </a:endParaRPr>
                    </a:p>
                    <a:p>
                      <a:pPr marL="0" lvl="0" indent="0" algn="l">
                        <a:lnSpc>
                          <a:spcPct val="100000"/>
                        </a:lnSpc>
                        <a:spcBef>
                          <a:spcPts val="0"/>
                        </a:spcBef>
                        <a:spcAft>
                          <a:spcPts val="0"/>
                        </a:spcAft>
                        <a:buClr>
                          <a:srgbClr val="000000"/>
                        </a:buClr>
                        <a:buNone/>
                      </a:pPr>
                      <a:r>
                        <a:rPr lang="en-US" sz="1000" b="0" i="0" u="none" strike="noStrike" noProof="0">
                          <a:solidFill>
                            <a:srgbClr val="000000"/>
                          </a:solidFill>
                          <a:effectLst/>
                          <a:highlight>
                            <a:srgbClr val="FFFFFF"/>
                          </a:highlight>
                          <a:latin typeface="Raleway"/>
                        </a:rPr>
                        <a:t>Proses </a:t>
                      </a:r>
                      <a:r>
                        <a:rPr lang="en-US" sz="1000" b="0" i="0" u="none" strike="noStrike" noProof="0" err="1">
                          <a:solidFill>
                            <a:srgbClr val="000000"/>
                          </a:solidFill>
                          <a:effectLst/>
                          <a:highlight>
                            <a:srgbClr val="FFFFFF"/>
                          </a:highlight>
                          <a:latin typeface="Raleway"/>
                        </a:rPr>
                        <a:t>kandidat</a:t>
                      </a:r>
                      <a:r>
                        <a:rPr lang="en-US" sz="1000" b="0" i="0" u="none" strike="noStrike" noProof="0">
                          <a:solidFill>
                            <a:srgbClr val="000000"/>
                          </a:solidFill>
                          <a:effectLst/>
                          <a:highlight>
                            <a:srgbClr val="FFFFFF"/>
                          </a:highlight>
                          <a:latin typeface="Raleway"/>
                        </a:rPr>
                        <a:t> </a:t>
                      </a:r>
                      <a:r>
                        <a:rPr lang="en-US" sz="1000" b="0" i="0" u="none" strike="noStrike" noProof="0" err="1">
                          <a:solidFill>
                            <a:srgbClr val="000000"/>
                          </a:solidFill>
                          <a:effectLst/>
                          <a:highlight>
                            <a:srgbClr val="FFFFFF"/>
                          </a:highlight>
                          <a:latin typeface="Raleway"/>
                        </a:rPr>
                        <a:t>bersamaan</a:t>
                      </a:r>
                      <a:r>
                        <a:rPr lang="en-US" sz="1000" b="0" i="0" u="none" strike="noStrike" noProof="0">
                          <a:solidFill>
                            <a:srgbClr val="000000"/>
                          </a:solidFill>
                          <a:effectLst/>
                          <a:highlight>
                            <a:srgbClr val="FFFFFF"/>
                          </a:highlight>
                          <a:latin typeface="Raleway"/>
                        </a:rPr>
                        <a:t> FPTK CLAP - CDEx di Week 34</a:t>
                      </a:r>
                      <a:endParaRPr lang="en-US"/>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65558564"/>
                  </a:ext>
                </a:extLst>
              </a:tr>
              <a:tr h="390525">
                <a:tc>
                  <a:txBody>
                    <a:bodyPr/>
                    <a:lstStyle/>
                    <a:p>
                      <a:pPr algn="ctr" fontAlgn="ctr">
                        <a:buNone/>
                      </a:pPr>
                      <a:r>
                        <a:rPr lang="en-US" sz="1000">
                          <a:effectLst/>
                          <a:latin typeface="Raleway" pitchFamily="2" charset="0"/>
                        </a:rPr>
                        <a:t>6</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ctr">
                        <a:buNone/>
                      </a:pPr>
                      <a:r>
                        <a:rPr lang="en-US" sz="1000">
                          <a:effectLst/>
                          <a:latin typeface="Raleway" pitchFamily="2" charset="0"/>
                        </a:rPr>
                        <a:t>CLAP</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pitchFamily="2" charset="0"/>
                        </a:rPr>
                        <a:t>CMD</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pitchFamily="2" charset="0"/>
                        </a:rPr>
                        <a:t>Business Development</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pitchFamily="2" charset="0"/>
                        </a:rPr>
                        <a:t>4</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a:rPr>
                        <a:t>1</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000">
                          <a:effectLst/>
                          <a:latin typeface="Raleway"/>
                        </a:rPr>
                        <a:t>1</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000">
                          <a:effectLst/>
                          <a:latin typeface="Raleway"/>
                        </a:rPr>
                        <a:t>2</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000">
                          <a:effectLst/>
                          <a:latin typeface="Raleway"/>
                        </a:rPr>
                        <a:t>1</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a:rPr>
                        <a:t>2</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a:rPr>
                        <a:t>1</a:t>
                      </a: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fontAlgn="ctr">
                        <a:buNone/>
                      </a:pPr>
                      <a:r>
                        <a:rPr lang="en-US" sz="1100" b="1">
                          <a:effectLst/>
                          <a:latin typeface="Raleway"/>
                        </a:rPr>
                        <a:t>Andira Rahmawati </a:t>
                      </a:r>
                      <a:r>
                        <a:rPr lang="en-US" sz="1100">
                          <a:effectLst/>
                          <a:latin typeface="Raleway"/>
                        </a:rPr>
                        <a:t>join 10 Juli 2026</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27663704"/>
                  </a:ext>
                </a:extLst>
              </a:tr>
              <a:tr h="390525">
                <a:tc>
                  <a:txBody>
                    <a:bodyPr/>
                    <a:lstStyle/>
                    <a:p>
                      <a:pPr algn="ctr" fontAlgn="ctr">
                        <a:buNone/>
                      </a:pPr>
                      <a:r>
                        <a:rPr lang="en-US" sz="1000">
                          <a:effectLst/>
                          <a:latin typeface="Raleway" pitchFamily="2" charset="0"/>
                        </a:rPr>
                        <a:t>7</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ctr">
                        <a:buNone/>
                      </a:pPr>
                      <a:r>
                        <a:rPr lang="en-US" sz="1000">
                          <a:effectLst/>
                          <a:latin typeface="Raleway" pitchFamily="2" charset="0"/>
                        </a:rPr>
                        <a:t>CLAP</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pitchFamily="2" charset="0"/>
                        </a:rPr>
                        <a:t>CMD</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pitchFamily="2" charset="0"/>
                        </a:rPr>
                        <a:t>Digital Marketing</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a:rPr>
                        <a:t>13</a:t>
                      </a: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a:rPr>
                        <a:t>7</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000">
                          <a:effectLst/>
                          <a:latin typeface="Raleway" pitchFamily="2" charset="0"/>
                        </a:rPr>
                        <a:t>5</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000">
                          <a:effectLst/>
                          <a:latin typeface="Raleway"/>
                        </a:rPr>
                        <a:t>2</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0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a:rPr>
                        <a:t>5</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a:rPr>
                        <a:t>2</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marL="171450" lvl="0" indent="-171450" algn="l">
                        <a:lnSpc>
                          <a:spcPct val="100000"/>
                        </a:lnSpc>
                        <a:spcBef>
                          <a:spcPts val="0"/>
                        </a:spcBef>
                        <a:spcAft>
                          <a:spcPts val="0"/>
                        </a:spcAft>
                        <a:buClr>
                          <a:srgbClr val="000000"/>
                        </a:buClr>
                        <a:buFont typeface="Calibri"/>
                        <a:buChar char="-"/>
                      </a:pPr>
                      <a:r>
                        <a:rPr lang="en-US" sz="900" b="0" i="0" u="none" strike="noStrike" noProof="0">
                          <a:solidFill>
                            <a:srgbClr val="000000"/>
                          </a:solidFill>
                          <a:effectLst/>
                          <a:highlight>
                            <a:srgbClr val="FFFFFF"/>
                          </a:highlight>
                          <a:latin typeface="Raleway"/>
                        </a:rPr>
                        <a:t>User Interview 2 </a:t>
                      </a:r>
                      <a:r>
                        <a:rPr lang="en-US" sz="900" b="0" i="0" u="none" strike="noStrike" noProof="0" err="1">
                          <a:solidFill>
                            <a:srgbClr val="000000"/>
                          </a:solidFill>
                          <a:effectLst/>
                          <a:highlight>
                            <a:srgbClr val="FFFFFF"/>
                          </a:highlight>
                          <a:latin typeface="Raleway"/>
                        </a:rPr>
                        <a:t>kandidat</a:t>
                      </a:r>
                      <a:r>
                        <a:rPr lang="en-US" sz="900" b="0" i="0" u="none" strike="noStrike" noProof="0">
                          <a:solidFill>
                            <a:srgbClr val="000000"/>
                          </a:solidFill>
                          <a:effectLst/>
                          <a:highlight>
                            <a:srgbClr val="FFFFFF"/>
                          </a:highlight>
                          <a:latin typeface="Raleway"/>
                        </a:rPr>
                        <a:t> di Week 33- 1 LOLOS</a:t>
                      </a:r>
                      <a:endParaRPr lang="en-US" sz="900" b="0" i="0" u="none" strike="noStrike" noProof="0" err="1">
                        <a:solidFill>
                          <a:srgbClr val="000000"/>
                        </a:solidFill>
                        <a:effectLst/>
                        <a:highlight>
                          <a:srgbClr val="FFFFFF"/>
                        </a:highlight>
                        <a:latin typeface="Raleway"/>
                      </a:endParaRPr>
                    </a:p>
                    <a:p>
                      <a:pPr marL="171450" lvl="0" indent="-171450" algn="l">
                        <a:lnSpc>
                          <a:spcPct val="100000"/>
                        </a:lnSpc>
                        <a:spcBef>
                          <a:spcPts val="0"/>
                        </a:spcBef>
                        <a:spcAft>
                          <a:spcPts val="0"/>
                        </a:spcAft>
                        <a:buClr>
                          <a:srgbClr val="000000"/>
                        </a:buClr>
                        <a:buFont typeface="Calibri"/>
                        <a:buChar char="-"/>
                      </a:pPr>
                      <a:r>
                        <a:rPr lang="en-US" sz="900" b="0" i="0" u="none" strike="noStrike" noProof="0" err="1">
                          <a:solidFill>
                            <a:srgbClr val="000000"/>
                          </a:solidFill>
                          <a:effectLst/>
                          <a:highlight>
                            <a:srgbClr val="FFFFFF"/>
                          </a:highlight>
                          <a:latin typeface="Raleway"/>
                        </a:rPr>
                        <a:t>Psikotes</a:t>
                      </a:r>
                      <a:r>
                        <a:rPr lang="en-US" sz="900" b="0" i="0" u="none" strike="noStrike" noProof="0">
                          <a:solidFill>
                            <a:srgbClr val="000000"/>
                          </a:solidFill>
                          <a:effectLst/>
                          <a:highlight>
                            <a:srgbClr val="FFFFFF"/>
                          </a:highlight>
                          <a:latin typeface="Raleway"/>
                        </a:rPr>
                        <a:t> 3 kandidat shortlisted di Week 33</a:t>
                      </a:r>
                    </a:p>
                    <a:p>
                      <a:pPr lvl="0" algn="l">
                        <a:lnSpc>
                          <a:spcPct val="100000"/>
                        </a:lnSpc>
                        <a:spcBef>
                          <a:spcPts val="0"/>
                        </a:spcBef>
                        <a:spcAft>
                          <a:spcPts val="0"/>
                        </a:spcAft>
                        <a:buNone/>
                      </a:pPr>
                      <a:endParaRPr lang="en-US" sz="900" b="0" i="0" u="none" strike="noStrike" noProof="0">
                        <a:solidFill>
                          <a:srgbClr val="000000"/>
                        </a:solidFill>
                        <a:effectLst/>
                        <a:highlight>
                          <a:srgbClr val="FFFFFF"/>
                        </a:highlight>
                        <a:latin typeface="Raleway"/>
                      </a:endParaRPr>
                    </a:p>
                    <a:p>
                      <a:pPr lvl="0" algn="l">
                        <a:lnSpc>
                          <a:spcPct val="100000"/>
                        </a:lnSpc>
                        <a:spcBef>
                          <a:spcPts val="0"/>
                        </a:spcBef>
                        <a:spcAft>
                          <a:spcPts val="0"/>
                        </a:spcAft>
                        <a:buNone/>
                      </a:pPr>
                      <a:r>
                        <a:rPr lang="en-US" sz="900" b="1" i="0" u="none" strike="noStrike" noProof="0">
                          <a:solidFill>
                            <a:srgbClr val="000000"/>
                          </a:solidFill>
                          <a:effectLst/>
                          <a:highlight>
                            <a:srgbClr val="FFFFFF"/>
                          </a:highlight>
                          <a:latin typeface="Raleway"/>
                        </a:rPr>
                        <a:t>Next Action:</a:t>
                      </a:r>
                      <a:endParaRPr lang="en-US" sz="900" b="0" i="0" u="none" strike="noStrike" noProof="0">
                        <a:solidFill>
                          <a:srgbClr val="000000"/>
                        </a:solidFill>
                        <a:effectLst/>
                        <a:highlight>
                          <a:srgbClr val="FFFFFF"/>
                        </a:highlight>
                        <a:latin typeface="Raleway"/>
                      </a:endParaRPr>
                    </a:p>
                    <a:p>
                      <a:pPr lvl="0" algn="l">
                        <a:lnSpc>
                          <a:spcPct val="100000"/>
                        </a:lnSpc>
                        <a:spcBef>
                          <a:spcPts val="0"/>
                        </a:spcBef>
                        <a:spcAft>
                          <a:spcPts val="0"/>
                        </a:spcAft>
                        <a:buNone/>
                      </a:pPr>
                      <a:r>
                        <a:rPr lang="en-US" sz="1000" b="0" i="0" u="none" strike="noStrike" noProof="0">
                          <a:solidFill>
                            <a:srgbClr val="000000"/>
                          </a:solidFill>
                          <a:effectLst/>
                          <a:highlight>
                            <a:srgbClr val="FFFFFF"/>
                          </a:highlight>
                          <a:latin typeface="Raleway"/>
                        </a:rPr>
                        <a:t>User Interview II 1 kandidat di Week 34</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53298558"/>
                  </a:ext>
                </a:extLst>
              </a:tr>
              <a:tr h="390525">
                <a:tc>
                  <a:txBody>
                    <a:bodyPr/>
                    <a:lstStyle/>
                    <a:p>
                      <a:pPr lvl="0" algn="ctr">
                        <a:buNone/>
                      </a:pPr>
                      <a:r>
                        <a:rPr lang="en-US" sz="1000">
                          <a:effectLst/>
                          <a:latin typeface="Raleway"/>
                        </a:rPr>
                        <a:t>8</a:t>
                      </a: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buNone/>
                      </a:pPr>
                      <a:r>
                        <a:rPr lang="en-US" sz="1000">
                          <a:effectLst/>
                          <a:latin typeface="Raleway"/>
                        </a:rPr>
                        <a:t>CLAP</a:t>
                      </a: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r>
                        <a:rPr lang="en-US" sz="1000">
                          <a:effectLst/>
                          <a:latin typeface="Raleway"/>
                        </a:rPr>
                        <a:t>CMD</a:t>
                      </a: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r>
                        <a:rPr lang="en-US" sz="1000">
                          <a:effectLst/>
                          <a:latin typeface="Raleway"/>
                        </a:rPr>
                        <a:t>Finance Business Partner</a:t>
                      </a: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r>
                        <a:rPr lang="en-US" sz="1000">
                          <a:effectLst/>
                          <a:latin typeface="Raleway"/>
                        </a:rPr>
                        <a:t>1</a:t>
                      </a: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r>
                        <a:rPr lang="en-US" sz="1000">
                          <a:effectLst/>
                          <a:latin typeface="Raleway"/>
                        </a:rPr>
                        <a:t>1</a:t>
                      </a: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solidFill>
                      <a:srgbClr val="DAE9F8"/>
                    </a:solidFill>
                  </a:tcPr>
                </a:tc>
                <a:tc>
                  <a:txBody>
                    <a:bodyPr/>
                    <a:lstStyle/>
                    <a:p>
                      <a:pPr lvl="0" algn="ctr">
                        <a:buNone/>
                      </a:pPr>
                      <a:endParaRPr lang="en-US" sz="10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solidFill>
                      <a:srgbClr val="DAE9F8"/>
                    </a:solidFill>
                  </a:tcPr>
                </a:tc>
                <a:tc>
                  <a:txBody>
                    <a:bodyPr/>
                    <a:lstStyle/>
                    <a:p>
                      <a:pPr lvl="0" algn="ctr">
                        <a:buNone/>
                      </a:pPr>
                      <a:endParaRPr lang="en-US" sz="10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solidFill>
                      <a:srgbClr val="DAE9F8"/>
                    </a:solidFill>
                  </a:tcPr>
                </a:tc>
                <a:tc>
                  <a:txBody>
                    <a:bodyPr/>
                    <a:lstStyle/>
                    <a:p>
                      <a:pPr lvl="0" algn="ctr">
                        <a:buNone/>
                      </a:pPr>
                      <a:endParaRPr lang="en-US" sz="10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solidFill>
                      <a:srgbClr val="DAE9F8"/>
                    </a:solidFill>
                  </a:tcPr>
                </a:tc>
                <a:tc>
                  <a:txBody>
                    <a:bodyPr/>
                    <a:lstStyle/>
                    <a:p>
                      <a:pPr lvl="0" algn="ctr">
                        <a:buNone/>
                      </a:pPr>
                      <a:endParaRPr lang="en-US" sz="10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endParaRPr lang="en-US" sz="10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endParaRPr lang="en-US" sz="10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r>
                        <a:rPr lang="en-US" sz="1000">
                          <a:effectLst/>
                          <a:latin typeface="Raleway"/>
                        </a:rPr>
                        <a:t>1</a:t>
                      </a: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endParaRPr lang="en-US" sz="10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solidFill>
                      <a:srgbClr val="DAE9F8"/>
                    </a:solidFill>
                  </a:tcPr>
                </a:tc>
                <a:tc>
                  <a:txBody>
                    <a:bodyPr/>
                    <a:lstStyle/>
                    <a:p>
                      <a:pPr lvl="0" algn="ctr">
                        <a:buNone/>
                      </a:pPr>
                      <a:endParaRPr lang="en-US" sz="10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solidFill>
                      <a:srgbClr val="DAE9F8"/>
                    </a:solidFill>
                  </a:tcPr>
                </a:tc>
                <a:tc>
                  <a:txBody>
                    <a:bodyPr/>
                    <a:lstStyle/>
                    <a:p>
                      <a:pPr marL="0" lvl="0" indent="0" algn="l">
                        <a:lnSpc>
                          <a:spcPct val="100000"/>
                        </a:lnSpc>
                        <a:spcBef>
                          <a:spcPts val="0"/>
                        </a:spcBef>
                        <a:spcAft>
                          <a:spcPts val="0"/>
                        </a:spcAft>
                        <a:buNone/>
                      </a:pPr>
                      <a:r>
                        <a:rPr lang="en-US" sz="900" b="0" i="0" u="none" strike="noStrike" noProof="0">
                          <a:solidFill>
                            <a:srgbClr val="000000"/>
                          </a:solidFill>
                          <a:effectLst/>
                          <a:highlight>
                            <a:srgbClr val="FFFFFF"/>
                          </a:highlight>
                          <a:latin typeface="Raleway"/>
                        </a:rPr>
                        <a:t>User Interview 1 </a:t>
                      </a:r>
                      <a:r>
                        <a:rPr lang="en-US" sz="900" b="0" i="0" u="none" strike="noStrike" noProof="0" err="1">
                          <a:solidFill>
                            <a:srgbClr val="000000"/>
                          </a:solidFill>
                          <a:effectLst/>
                          <a:highlight>
                            <a:srgbClr val="FFFFFF"/>
                          </a:highlight>
                          <a:latin typeface="Raleway"/>
                        </a:rPr>
                        <a:t>kandidat</a:t>
                      </a:r>
                      <a:r>
                        <a:rPr lang="en-US" sz="900" b="0" i="0" u="none" strike="noStrike" noProof="0">
                          <a:solidFill>
                            <a:srgbClr val="000000"/>
                          </a:solidFill>
                          <a:effectLst/>
                          <a:highlight>
                            <a:srgbClr val="FFFFFF"/>
                          </a:highlight>
                          <a:latin typeface="Raleway"/>
                        </a:rPr>
                        <a:t> di Week 33</a:t>
                      </a:r>
                      <a:endParaRPr lang="en-US"/>
                    </a:p>
                    <a:p>
                      <a:pPr marL="0" lvl="0" indent="0" algn="l">
                        <a:lnSpc>
                          <a:spcPct val="100000"/>
                        </a:lnSpc>
                        <a:spcBef>
                          <a:spcPts val="0"/>
                        </a:spcBef>
                        <a:spcAft>
                          <a:spcPts val="0"/>
                        </a:spcAft>
                        <a:buNone/>
                      </a:pPr>
                      <a:endParaRPr lang="en-US" sz="900" b="1" i="0" u="none" strike="noStrike" noProof="0">
                        <a:solidFill>
                          <a:srgbClr val="000000"/>
                        </a:solidFill>
                        <a:effectLst/>
                        <a:highlight>
                          <a:srgbClr val="FFFFFF"/>
                        </a:highlight>
                        <a:latin typeface="Raleway"/>
                      </a:endParaRPr>
                    </a:p>
                    <a:p>
                      <a:pPr marL="0" lvl="0" indent="0" algn="l">
                        <a:lnSpc>
                          <a:spcPct val="100000"/>
                        </a:lnSpc>
                        <a:spcBef>
                          <a:spcPts val="0"/>
                        </a:spcBef>
                        <a:spcAft>
                          <a:spcPts val="0"/>
                        </a:spcAft>
                        <a:buNone/>
                      </a:pPr>
                      <a:r>
                        <a:rPr lang="en-US" sz="900" b="1" i="0" u="none" strike="noStrike" noProof="0">
                          <a:solidFill>
                            <a:srgbClr val="000000"/>
                          </a:solidFill>
                          <a:effectLst/>
                          <a:highlight>
                            <a:srgbClr val="FFFFFF"/>
                          </a:highlight>
                          <a:latin typeface="Raleway"/>
                        </a:rPr>
                        <a:t>Next Action:</a:t>
                      </a:r>
                      <a:endParaRPr lang="en-US"/>
                    </a:p>
                    <a:p>
                      <a:pPr marL="171450" lvl="0" indent="-171450" algn="l">
                        <a:lnSpc>
                          <a:spcPct val="100000"/>
                        </a:lnSpc>
                        <a:spcBef>
                          <a:spcPts val="0"/>
                        </a:spcBef>
                        <a:spcAft>
                          <a:spcPts val="0"/>
                        </a:spcAft>
                        <a:buFont typeface="Calibri"/>
                        <a:buChar char="-"/>
                      </a:pPr>
                      <a:r>
                        <a:rPr lang="en-US" sz="900" b="0" i="0" u="none" strike="noStrike" noProof="0">
                          <a:solidFill>
                            <a:srgbClr val="000000"/>
                          </a:solidFill>
                          <a:effectLst/>
                          <a:highlight>
                            <a:srgbClr val="FFFFFF"/>
                          </a:highlight>
                          <a:latin typeface="Raleway"/>
                        </a:rPr>
                        <a:t>Follow up </a:t>
                      </a:r>
                      <a:r>
                        <a:rPr lang="en-US" sz="900" b="0" i="0" u="none" strike="noStrike" noProof="0" err="1">
                          <a:solidFill>
                            <a:srgbClr val="000000"/>
                          </a:solidFill>
                          <a:effectLst/>
                          <a:highlight>
                            <a:srgbClr val="FFFFFF"/>
                          </a:highlight>
                          <a:latin typeface="Raleway"/>
                        </a:rPr>
                        <a:t>hasil</a:t>
                      </a:r>
                      <a:r>
                        <a:rPr lang="en-US" sz="900" b="0" i="0" u="none" strike="noStrike" noProof="0">
                          <a:solidFill>
                            <a:srgbClr val="000000"/>
                          </a:solidFill>
                          <a:effectLst/>
                          <a:highlight>
                            <a:srgbClr val="FFFFFF"/>
                          </a:highlight>
                          <a:latin typeface="Raleway"/>
                        </a:rPr>
                        <a:t> User Interview di Week 34</a:t>
                      </a:r>
                    </a:p>
                    <a:p>
                      <a:pPr marL="171450" lvl="0" indent="-171450" algn="l">
                        <a:lnSpc>
                          <a:spcPct val="100000"/>
                        </a:lnSpc>
                        <a:spcBef>
                          <a:spcPts val="0"/>
                        </a:spcBef>
                        <a:spcAft>
                          <a:spcPts val="0"/>
                        </a:spcAft>
                        <a:buFont typeface="Calibri"/>
                        <a:buChar char="-"/>
                      </a:pPr>
                      <a:r>
                        <a:rPr lang="en-US" sz="900" b="0" i="0" u="none" strike="noStrike" noProof="0">
                          <a:solidFill>
                            <a:srgbClr val="000000"/>
                          </a:solidFill>
                          <a:effectLst/>
                          <a:highlight>
                            <a:srgbClr val="FFFFFF"/>
                          </a:highlight>
                          <a:latin typeface="Raleway"/>
                        </a:rPr>
                        <a:t>HR Interview </a:t>
                      </a:r>
                      <a:r>
                        <a:rPr lang="en-US" sz="900" b="0" i="0" u="none" strike="noStrike" noProof="0" err="1">
                          <a:solidFill>
                            <a:srgbClr val="000000"/>
                          </a:solidFill>
                          <a:effectLst/>
                          <a:highlight>
                            <a:srgbClr val="FFFFFF"/>
                          </a:highlight>
                          <a:latin typeface="Raleway"/>
                        </a:rPr>
                        <a:t>kandidat</a:t>
                      </a:r>
                      <a:r>
                        <a:rPr lang="en-US" sz="900" b="0" i="0" u="none" strike="noStrike" noProof="0">
                          <a:solidFill>
                            <a:srgbClr val="000000"/>
                          </a:solidFill>
                          <a:effectLst/>
                          <a:highlight>
                            <a:srgbClr val="FFFFFF"/>
                          </a:highlight>
                          <a:latin typeface="Raleway"/>
                        </a:rPr>
                        <a:t> lolos </a:t>
                      </a:r>
                      <a:r>
                        <a:rPr lang="en-US" sz="900" b="0" i="0" u="none" strike="noStrike" noProof="0" err="1">
                          <a:solidFill>
                            <a:srgbClr val="000000"/>
                          </a:solidFill>
                          <a:effectLst/>
                          <a:highlight>
                            <a:srgbClr val="FFFFFF"/>
                          </a:highlight>
                          <a:latin typeface="Raleway"/>
                        </a:rPr>
                        <a:t>Psikotes</a:t>
                      </a:r>
                      <a:r>
                        <a:rPr lang="en-US" sz="900" b="0" i="0" u="none" strike="noStrike" noProof="0">
                          <a:solidFill>
                            <a:srgbClr val="000000"/>
                          </a:solidFill>
                          <a:effectLst/>
                          <a:highlight>
                            <a:srgbClr val="FFFFFF"/>
                          </a:highlight>
                          <a:latin typeface="Raleway"/>
                        </a:rPr>
                        <a:t> di Week 34</a:t>
                      </a:r>
                      <a:endParaRPr lang="en-US"/>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1038460815"/>
                  </a:ext>
                </a:extLst>
              </a:tr>
            </a:tbl>
          </a:graphicData>
        </a:graphic>
      </p:graphicFrame>
    </p:spTree>
    <p:extLst>
      <p:ext uri="{BB962C8B-B14F-4D97-AF65-F5344CB8AC3E}">
        <p14:creationId xmlns:p14="http://schemas.microsoft.com/office/powerpoint/2010/main" val="1004498006"/>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40D261-7E68-5AAC-B8F7-1320F771EBC6}"/>
            </a:ext>
          </a:extLst>
        </p:cNvPr>
        <p:cNvGrpSpPr/>
        <p:nvPr/>
      </p:nvGrpSpPr>
      <p:grpSpPr>
        <a:xfrm>
          <a:off x="0" y="0"/>
          <a:ext cx="0" cy="0"/>
          <a:chOff x="0" y="0"/>
          <a:chExt cx="0" cy="0"/>
        </a:xfrm>
      </p:grpSpPr>
      <p:sp>
        <p:nvSpPr>
          <p:cNvPr id="3" name="Text 1">
            <a:extLst>
              <a:ext uri="{FF2B5EF4-FFF2-40B4-BE49-F238E27FC236}">
                <a16:creationId xmlns:a16="http://schemas.microsoft.com/office/drawing/2014/main" id="{80420AED-E4C7-DCAF-7ABA-34AE39097F0F}"/>
              </a:ext>
            </a:extLst>
          </p:cNvPr>
          <p:cNvSpPr/>
          <p:nvPr/>
        </p:nvSpPr>
        <p:spPr>
          <a:xfrm>
            <a:off x="270795" y="820335"/>
            <a:ext cx="9144000" cy="400780"/>
          </a:xfrm>
          <a:prstGeom prst="rect">
            <a:avLst/>
          </a:prstGeom>
          <a:noFill/>
          <a:ln/>
        </p:spPr>
        <p:txBody>
          <a:bodyPr wrap="square" lIns="0" tIns="0" rIns="0" bIns="0" rtlCol="0" anchor="ctr"/>
          <a:lstStyle>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en-US" sz="2133" b="1" i="0" u="none" strike="noStrike" kern="1200" cap="none" spc="0" normalizeH="0" baseline="0" noProof="0">
                <a:ln>
                  <a:noFill/>
                </a:ln>
                <a:solidFill>
                  <a:srgbClr val="C00000"/>
                </a:solidFill>
                <a:effectLst/>
                <a:uLnTx/>
                <a:uFillTx/>
                <a:latin typeface="Raleway"/>
                <a:ea typeface="+mn-ea"/>
                <a:cs typeface="+mn-cs"/>
              </a:rPr>
              <a:t>CLAP</a:t>
            </a:r>
            <a:r>
              <a:rPr kumimoji="0" lang="en-US" sz="2133" b="1" i="0" u="none" strike="noStrike" kern="1200" cap="none" spc="0" normalizeH="0" baseline="0" noProof="0">
                <a:ln>
                  <a:noFill/>
                </a:ln>
                <a:solidFill>
                  <a:srgbClr val="002060"/>
                </a:solidFill>
                <a:effectLst/>
                <a:uLnTx/>
                <a:uFillTx/>
                <a:latin typeface="Raleway"/>
                <a:ea typeface="+mn-ea"/>
                <a:cs typeface="+mn-cs"/>
              </a:rPr>
              <a:t> - PIPELINE KANDIDAT AKTIF / SEDANG DIPROSES</a:t>
            </a:r>
            <a:endParaRPr kumimoji="0" lang="en-US" sz="2133" b="0" i="0" u="none" strike="noStrike" kern="1200" cap="none" spc="0" normalizeH="0" baseline="0" noProof="0">
              <a:ln>
                <a:noFill/>
              </a:ln>
              <a:solidFill>
                <a:srgbClr val="002060"/>
              </a:solidFill>
              <a:effectLst/>
              <a:uLnTx/>
              <a:uFillTx/>
              <a:latin typeface="Raleway"/>
              <a:ea typeface="+mn-ea"/>
              <a:cs typeface="+mn-cs"/>
            </a:endParaRPr>
          </a:p>
        </p:txBody>
      </p:sp>
      <p:graphicFrame>
        <p:nvGraphicFramePr>
          <p:cNvPr id="9" name="tabelclap">
            <a:extLst>
              <a:ext uri="{FF2B5EF4-FFF2-40B4-BE49-F238E27FC236}">
                <a16:creationId xmlns:a16="http://schemas.microsoft.com/office/drawing/2014/main" id="{563336BB-B490-B28B-D922-CE5DC454114C}"/>
              </a:ext>
            </a:extLst>
          </p:cNvPr>
          <p:cNvGraphicFramePr>
            <a:graphicFrameLocks noGrp="1"/>
          </p:cNvGraphicFramePr>
          <p:nvPr>
            <p:extLst>
              <p:ext uri="{D42A27DB-BD31-4B8C-83A1-F6EECF244321}">
                <p14:modId xmlns:p14="http://schemas.microsoft.com/office/powerpoint/2010/main" val="3291079291"/>
              </p:ext>
            </p:extLst>
          </p:nvPr>
        </p:nvGraphicFramePr>
        <p:xfrm>
          <a:off x="271219" y="1353634"/>
          <a:ext cx="11702129" cy="2745103"/>
        </p:xfrm>
        <a:graphic>
          <a:graphicData uri="http://schemas.openxmlformats.org/drawingml/2006/table">
            <a:tbl>
              <a:tblPr bandRow="1">
                <a:tableStyleId>{5C22544A-7EE6-4342-B048-85BDC9FD1C3A}</a:tableStyleId>
              </a:tblPr>
              <a:tblGrid>
                <a:gridCol w="308427">
                  <a:extLst>
                    <a:ext uri="{9D8B030D-6E8A-4147-A177-3AD203B41FA5}">
                      <a16:colId xmlns:a16="http://schemas.microsoft.com/office/drawing/2014/main" val="3136549255"/>
                    </a:ext>
                  </a:extLst>
                </a:gridCol>
                <a:gridCol w="544285">
                  <a:extLst>
                    <a:ext uri="{9D8B030D-6E8A-4147-A177-3AD203B41FA5}">
                      <a16:colId xmlns:a16="http://schemas.microsoft.com/office/drawing/2014/main" val="1155151809"/>
                    </a:ext>
                  </a:extLst>
                </a:gridCol>
                <a:gridCol w="399141">
                  <a:extLst>
                    <a:ext uri="{9D8B030D-6E8A-4147-A177-3AD203B41FA5}">
                      <a16:colId xmlns:a16="http://schemas.microsoft.com/office/drawing/2014/main" val="3327528668"/>
                    </a:ext>
                  </a:extLst>
                </a:gridCol>
                <a:gridCol w="907142">
                  <a:extLst>
                    <a:ext uri="{9D8B030D-6E8A-4147-A177-3AD203B41FA5}">
                      <a16:colId xmlns:a16="http://schemas.microsoft.com/office/drawing/2014/main" val="736504124"/>
                    </a:ext>
                  </a:extLst>
                </a:gridCol>
                <a:gridCol w="689428">
                  <a:extLst>
                    <a:ext uri="{9D8B030D-6E8A-4147-A177-3AD203B41FA5}">
                      <a16:colId xmlns:a16="http://schemas.microsoft.com/office/drawing/2014/main" val="2240070331"/>
                    </a:ext>
                  </a:extLst>
                </a:gridCol>
                <a:gridCol w="417284">
                  <a:extLst>
                    <a:ext uri="{9D8B030D-6E8A-4147-A177-3AD203B41FA5}">
                      <a16:colId xmlns:a16="http://schemas.microsoft.com/office/drawing/2014/main" val="2536482571"/>
                    </a:ext>
                  </a:extLst>
                </a:gridCol>
                <a:gridCol w="417284">
                  <a:extLst>
                    <a:ext uri="{9D8B030D-6E8A-4147-A177-3AD203B41FA5}">
                      <a16:colId xmlns:a16="http://schemas.microsoft.com/office/drawing/2014/main" val="4147814108"/>
                    </a:ext>
                  </a:extLst>
                </a:gridCol>
                <a:gridCol w="508000">
                  <a:extLst>
                    <a:ext uri="{9D8B030D-6E8A-4147-A177-3AD203B41FA5}">
                      <a16:colId xmlns:a16="http://schemas.microsoft.com/office/drawing/2014/main" val="3395530137"/>
                    </a:ext>
                  </a:extLst>
                </a:gridCol>
                <a:gridCol w="453571">
                  <a:extLst>
                    <a:ext uri="{9D8B030D-6E8A-4147-A177-3AD203B41FA5}">
                      <a16:colId xmlns:a16="http://schemas.microsoft.com/office/drawing/2014/main" val="3459904593"/>
                    </a:ext>
                  </a:extLst>
                </a:gridCol>
                <a:gridCol w="362857">
                  <a:extLst>
                    <a:ext uri="{9D8B030D-6E8A-4147-A177-3AD203B41FA5}">
                      <a16:colId xmlns:a16="http://schemas.microsoft.com/office/drawing/2014/main" val="940390327"/>
                    </a:ext>
                  </a:extLst>
                </a:gridCol>
                <a:gridCol w="417284">
                  <a:extLst>
                    <a:ext uri="{9D8B030D-6E8A-4147-A177-3AD203B41FA5}">
                      <a16:colId xmlns:a16="http://schemas.microsoft.com/office/drawing/2014/main" val="1742293648"/>
                    </a:ext>
                  </a:extLst>
                </a:gridCol>
                <a:gridCol w="508000">
                  <a:extLst>
                    <a:ext uri="{9D8B030D-6E8A-4147-A177-3AD203B41FA5}">
                      <a16:colId xmlns:a16="http://schemas.microsoft.com/office/drawing/2014/main" val="2628956524"/>
                    </a:ext>
                  </a:extLst>
                </a:gridCol>
                <a:gridCol w="489857">
                  <a:extLst>
                    <a:ext uri="{9D8B030D-6E8A-4147-A177-3AD203B41FA5}">
                      <a16:colId xmlns:a16="http://schemas.microsoft.com/office/drawing/2014/main" val="4188729841"/>
                    </a:ext>
                  </a:extLst>
                </a:gridCol>
                <a:gridCol w="526141">
                  <a:extLst>
                    <a:ext uri="{9D8B030D-6E8A-4147-A177-3AD203B41FA5}">
                      <a16:colId xmlns:a16="http://schemas.microsoft.com/office/drawing/2014/main" val="563882958"/>
                    </a:ext>
                  </a:extLst>
                </a:gridCol>
                <a:gridCol w="580571">
                  <a:extLst>
                    <a:ext uri="{9D8B030D-6E8A-4147-A177-3AD203B41FA5}">
                      <a16:colId xmlns:a16="http://schemas.microsoft.com/office/drawing/2014/main" val="470089786"/>
                    </a:ext>
                  </a:extLst>
                </a:gridCol>
                <a:gridCol w="4172857">
                  <a:extLst>
                    <a:ext uri="{9D8B030D-6E8A-4147-A177-3AD203B41FA5}">
                      <a16:colId xmlns:a16="http://schemas.microsoft.com/office/drawing/2014/main" val="323443997"/>
                    </a:ext>
                  </a:extLst>
                </a:gridCol>
              </a:tblGrid>
              <a:tr h="200025">
                <a:tc rowSpan="2">
                  <a:txBody>
                    <a:bodyPr/>
                    <a:lstStyle/>
                    <a:p>
                      <a:pPr algn="ctr" fontAlgn="ctr">
                        <a:buNone/>
                      </a:pPr>
                      <a:r>
                        <a:rPr lang="en-US" sz="1000" b="1">
                          <a:solidFill>
                            <a:srgbClr val="FFFFFF"/>
                          </a:solidFill>
                          <a:effectLst/>
                          <a:latin typeface="Raleway" pitchFamily="2" charset="0"/>
                        </a:rPr>
                        <a:t>No.</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rowSpan="2">
                  <a:txBody>
                    <a:bodyPr/>
                    <a:lstStyle/>
                    <a:p>
                      <a:pPr algn="ctr" fontAlgn="ctr">
                        <a:buNone/>
                      </a:pPr>
                      <a:r>
                        <a:rPr lang="en-US" sz="1000" b="1">
                          <a:solidFill>
                            <a:srgbClr val="FFFFFF"/>
                          </a:solidFill>
                          <a:effectLst/>
                          <a:latin typeface="Raleway" pitchFamily="2" charset="0"/>
                        </a:rPr>
                        <a:t>Program</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rowSpan="2">
                  <a:txBody>
                    <a:bodyPr/>
                    <a:lstStyle/>
                    <a:p>
                      <a:pPr algn="ctr" fontAlgn="ctr">
                        <a:buNone/>
                      </a:pPr>
                      <a:r>
                        <a:rPr lang="en-US" sz="1000" b="1">
                          <a:solidFill>
                            <a:srgbClr val="FFFFFF"/>
                          </a:solidFill>
                          <a:effectLst/>
                          <a:latin typeface="Raleway" pitchFamily="2" charset="0"/>
                        </a:rPr>
                        <a:t>BU</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rowSpan="2">
                  <a:txBody>
                    <a:bodyPr/>
                    <a:lstStyle/>
                    <a:p>
                      <a:pPr algn="ctr" fontAlgn="ctr">
                        <a:buNone/>
                      </a:pPr>
                      <a:r>
                        <a:rPr lang="en-US" sz="1000" b="1" err="1">
                          <a:solidFill>
                            <a:srgbClr val="FFFFFF"/>
                          </a:solidFill>
                          <a:effectLst/>
                          <a:latin typeface="Raleway"/>
                        </a:rPr>
                        <a:t>Posisi</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rowSpan="2">
                  <a:txBody>
                    <a:bodyPr/>
                    <a:lstStyle/>
                    <a:p>
                      <a:pPr algn="ctr" fontAlgn="ctr">
                        <a:buNone/>
                      </a:pPr>
                      <a:r>
                        <a:rPr lang="en-US" sz="1000" b="1">
                          <a:solidFill>
                            <a:srgbClr val="FFFFFF"/>
                          </a:solidFill>
                          <a:effectLst/>
                          <a:latin typeface="Raleway"/>
                        </a:rPr>
                        <a:t>Total </a:t>
                      </a:r>
                      <a:r>
                        <a:rPr lang="en-US" sz="1000" b="1" err="1">
                          <a:solidFill>
                            <a:srgbClr val="FFFFFF"/>
                          </a:solidFill>
                          <a:effectLst/>
                          <a:latin typeface="Raleway"/>
                        </a:rPr>
                        <a:t>Kandidat</a:t>
                      </a:r>
                      <a:r>
                        <a:rPr lang="en-US" sz="1000" b="1">
                          <a:solidFill>
                            <a:srgbClr val="FFFFFF"/>
                          </a:solidFill>
                          <a:effectLst/>
                          <a:latin typeface="Raleway"/>
                        </a:rPr>
                        <a:t> </a:t>
                      </a:r>
                      <a:r>
                        <a:rPr lang="en-US" sz="1000" b="1" err="1">
                          <a:solidFill>
                            <a:srgbClr val="FFFFFF"/>
                          </a:solidFill>
                          <a:effectLst/>
                          <a:latin typeface="Raleway"/>
                        </a:rPr>
                        <a:t>Aktif</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gridSpan="4">
                  <a:txBody>
                    <a:bodyPr/>
                    <a:lstStyle/>
                    <a:p>
                      <a:pPr algn="ctr" fontAlgn="ctr">
                        <a:buNone/>
                      </a:pPr>
                      <a:r>
                        <a:rPr lang="en-US" sz="1000" b="1">
                          <a:solidFill>
                            <a:srgbClr val="FFFFFF"/>
                          </a:solidFill>
                          <a:effectLst/>
                          <a:latin typeface="Raleway" pitchFamily="2" charset="0"/>
                        </a:rPr>
                        <a:t>Case Study</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4">
                  <a:txBody>
                    <a:bodyPr/>
                    <a:lstStyle/>
                    <a:p>
                      <a:pPr algn="ctr" fontAlgn="ctr">
                        <a:buNone/>
                      </a:pPr>
                      <a:r>
                        <a:rPr lang="en-US" sz="1000" b="1">
                          <a:solidFill>
                            <a:srgbClr val="FFFFFF"/>
                          </a:solidFill>
                          <a:effectLst/>
                          <a:latin typeface="Raleway" pitchFamily="2" charset="0"/>
                        </a:rPr>
                        <a:t>USER INTERVIEW</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2">
                  <a:txBody>
                    <a:bodyPr/>
                    <a:lstStyle/>
                    <a:p>
                      <a:pPr algn="ctr" fontAlgn="ctr">
                        <a:buNone/>
                      </a:pPr>
                      <a:r>
                        <a:rPr lang="en-US" sz="1000" b="1">
                          <a:solidFill>
                            <a:srgbClr val="FFFFFF"/>
                          </a:solidFill>
                          <a:effectLst/>
                          <a:latin typeface="Raleway" pitchFamily="2" charset="0"/>
                        </a:rPr>
                        <a:t>OFFERING</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hMerge="1">
                  <a:txBody>
                    <a:bodyPr/>
                    <a:lstStyle/>
                    <a:p>
                      <a:endParaRPr lang="en-US"/>
                    </a:p>
                  </a:txBody>
                  <a:tcPr/>
                </a:tc>
                <a:tc rowSpan="2">
                  <a:txBody>
                    <a:bodyPr/>
                    <a:lstStyle/>
                    <a:p>
                      <a:pPr algn="ctr" fontAlgn="ctr">
                        <a:buNone/>
                      </a:pPr>
                      <a:r>
                        <a:rPr lang="en-US" sz="1000" b="1">
                          <a:solidFill>
                            <a:srgbClr val="FFFFFF"/>
                          </a:solidFill>
                          <a:effectLst/>
                          <a:latin typeface="Raleway" pitchFamily="2" charset="0"/>
                        </a:rPr>
                        <a:t>NOTES</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extLst>
                  <a:ext uri="{0D108BD9-81ED-4DB2-BD59-A6C34878D82A}">
                    <a16:rowId xmlns:a16="http://schemas.microsoft.com/office/drawing/2014/main" val="431503388"/>
                  </a:ext>
                </a:extLst>
              </a:tr>
              <a:tr h="200025">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algn="ctr" fontAlgn="ctr">
                        <a:buNone/>
                      </a:pPr>
                      <a:r>
                        <a:rPr lang="en-US" sz="1000" b="1">
                          <a:solidFill>
                            <a:srgbClr val="FFFFFF"/>
                          </a:solidFill>
                          <a:effectLst/>
                          <a:latin typeface="Raleway" pitchFamily="2" charset="0"/>
                        </a:rPr>
                        <a:t>OK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NOT OK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NO SUBMIT</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ON GOING</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OK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NOT OK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SCHEDULED</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WITHDRAW</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ACCEPT</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REJECT</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vMerge="1">
                  <a:txBody>
                    <a:bodyPr/>
                    <a:lstStyle/>
                    <a:p>
                      <a:endParaRPr lang="en-US"/>
                    </a:p>
                  </a:txBody>
                  <a:tcPr/>
                </a:tc>
                <a:extLst>
                  <a:ext uri="{0D108BD9-81ED-4DB2-BD59-A6C34878D82A}">
                    <a16:rowId xmlns:a16="http://schemas.microsoft.com/office/drawing/2014/main" val="1708477322"/>
                  </a:ext>
                </a:extLst>
              </a:tr>
              <a:tr h="390525">
                <a:tc>
                  <a:txBody>
                    <a:bodyPr/>
                    <a:lstStyle/>
                    <a:p>
                      <a:pPr algn="ctr" fontAlgn="ctr">
                        <a:buNone/>
                      </a:pPr>
                      <a:r>
                        <a:rPr lang="en-US" sz="1000">
                          <a:effectLst/>
                          <a:latin typeface="Raleway"/>
                        </a:rPr>
                        <a:t>9</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ctr">
                        <a:buNone/>
                      </a:pPr>
                      <a:r>
                        <a:rPr lang="en-US" sz="1000">
                          <a:effectLst/>
                          <a:latin typeface="Raleway" pitchFamily="2" charset="0"/>
                        </a:rPr>
                        <a:t>CLAP</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pitchFamily="2" charset="0"/>
                        </a:rPr>
                        <a:t>MP</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a:rPr>
                        <a:t>Channel Development Excellence</a:t>
                      </a: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a:rPr>
                        <a:t>0</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0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0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0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0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0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0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0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marL="0" indent="0" algn="l" fontAlgn="ctr">
                        <a:lnSpc>
                          <a:spcPct val="100000"/>
                        </a:lnSpc>
                        <a:spcBef>
                          <a:spcPts val="0"/>
                        </a:spcBef>
                        <a:spcAft>
                          <a:spcPts val="0"/>
                        </a:spcAft>
                        <a:buClr>
                          <a:srgbClr val="000000"/>
                        </a:buClr>
                        <a:buNone/>
                      </a:pPr>
                      <a:r>
                        <a:rPr lang="en-US" sz="1100" b="0" i="0" u="none" strike="noStrike" noProof="0" err="1">
                          <a:solidFill>
                            <a:schemeClr val="tx1"/>
                          </a:solidFill>
                          <a:effectLst/>
                          <a:latin typeface="Raleway"/>
                        </a:rPr>
                        <a:t>Psikotes</a:t>
                      </a:r>
                      <a:r>
                        <a:rPr lang="en-US" sz="1100" b="0" i="0" u="none" strike="noStrike" noProof="0">
                          <a:solidFill>
                            <a:schemeClr val="tx1"/>
                          </a:solidFill>
                          <a:effectLst/>
                          <a:latin typeface="Raleway"/>
                        </a:rPr>
                        <a:t> 5 kandidat di Week 33</a:t>
                      </a:r>
                    </a:p>
                    <a:p>
                      <a:pPr marL="0" lvl="0" indent="0" algn="l">
                        <a:lnSpc>
                          <a:spcPct val="100000"/>
                        </a:lnSpc>
                        <a:spcBef>
                          <a:spcPts val="0"/>
                        </a:spcBef>
                        <a:spcAft>
                          <a:spcPts val="0"/>
                        </a:spcAft>
                        <a:buNone/>
                      </a:pPr>
                      <a:endParaRPr lang="en-US" sz="1100" b="0" i="0" u="none" strike="noStrike" noProof="0">
                        <a:solidFill>
                          <a:schemeClr val="tx1"/>
                        </a:solidFill>
                        <a:effectLst/>
                        <a:latin typeface="Raleway"/>
                      </a:endParaRPr>
                    </a:p>
                    <a:p>
                      <a:pPr marL="0" lvl="0" indent="0" algn="l">
                        <a:lnSpc>
                          <a:spcPct val="100000"/>
                        </a:lnSpc>
                        <a:spcBef>
                          <a:spcPts val="0"/>
                        </a:spcBef>
                        <a:spcAft>
                          <a:spcPts val="0"/>
                        </a:spcAft>
                        <a:buNone/>
                      </a:pPr>
                      <a:r>
                        <a:rPr lang="en-US" sz="1100" b="1" i="0" u="none" strike="noStrike" noProof="0">
                          <a:solidFill>
                            <a:schemeClr val="tx1"/>
                          </a:solidFill>
                          <a:effectLst/>
                          <a:latin typeface="Raleway"/>
                        </a:rPr>
                        <a:t>Next Action:</a:t>
                      </a:r>
                    </a:p>
                    <a:p>
                      <a:pPr marL="0" lvl="0" indent="0" algn="l">
                        <a:lnSpc>
                          <a:spcPct val="100000"/>
                        </a:lnSpc>
                        <a:spcBef>
                          <a:spcPts val="0"/>
                        </a:spcBef>
                        <a:spcAft>
                          <a:spcPts val="0"/>
                        </a:spcAft>
                        <a:buNone/>
                      </a:pPr>
                      <a:r>
                        <a:rPr lang="en-US" sz="1100" b="0" i="0" u="none" strike="noStrike" noProof="0">
                          <a:solidFill>
                            <a:schemeClr val="tx1"/>
                          </a:solidFill>
                          <a:effectLst/>
                          <a:latin typeface="Raleway"/>
                        </a:rPr>
                        <a:t>HR Interview kandidat lolos Psikotes di Week 34</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09905780"/>
                  </a:ext>
                </a:extLst>
              </a:tr>
              <a:tr h="390525">
                <a:tc>
                  <a:txBody>
                    <a:bodyPr/>
                    <a:lstStyle/>
                    <a:p>
                      <a:pPr lvl="0" algn="ctr">
                        <a:buNone/>
                      </a:pPr>
                      <a:r>
                        <a:rPr lang="en-US" sz="1000">
                          <a:effectLst/>
                          <a:latin typeface="Raleway"/>
                        </a:rPr>
                        <a:t>10</a:t>
                      </a: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noFill/>
                  </a:tcPr>
                </a:tc>
                <a:tc>
                  <a:txBody>
                    <a:bodyPr/>
                    <a:lstStyle/>
                    <a:p>
                      <a:pPr lvl="0">
                        <a:buNone/>
                      </a:pPr>
                      <a:r>
                        <a:rPr lang="en-US" sz="1000">
                          <a:effectLst/>
                          <a:latin typeface="Raleway"/>
                        </a:rPr>
                        <a:t>CLAP</a:t>
                      </a: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noFill/>
                  </a:tcPr>
                </a:tc>
                <a:tc>
                  <a:txBody>
                    <a:bodyPr/>
                    <a:lstStyle/>
                    <a:p>
                      <a:pPr lvl="0" algn="ctr">
                        <a:buNone/>
                      </a:pPr>
                      <a:r>
                        <a:rPr lang="en-US" sz="1000">
                          <a:effectLst/>
                          <a:latin typeface="Raleway"/>
                        </a:rPr>
                        <a:t>CMD</a:t>
                      </a: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noFill/>
                  </a:tcPr>
                </a:tc>
                <a:tc>
                  <a:txBody>
                    <a:bodyPr/>
                    <a:lstStyle/>
                    <a:p>
                      <a:pPr lvl="0" algn="ctr">
                        <a:buNone/>
                      </a:pPr>
                      <a:r>
                        <a:rPr lang="en-US" sz="1000">
                          <a:effectLst/>
                          <a:latin typeface="Raleway"/>
                        </a:rPr>
                        <a:t>FBP Specialist - Procurement</a:t>
                      </a: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noFill/>
                  </a:tcPr>
                </a:tc>
                <a:tc>
                  <a:txBody>
                    <a:bodyPr/>
                    <a:lstStyle/>
                    <a:p>
                      <a:pPr lvl="0" algn="ctr">
                        <a:buNone/>
                      </a:pPr>
                      <a:r>
                        <a:rPr lang="en-US" sz="1000">
                          <a:effectLst/>
                          <a:latin typeface="Raleway"/>
                        </a:rPr>
                        <a:t>0</a:t>
                      </a: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noFill/>
                  </a:tcPr>
                </a:tc>
                <a:tc>
                  <a:txBody>
                    <a:bodyPr/>
                    <a:lstStyle/>
                    <a:p>
                      <a:pPr lvl="0" algn="ctr">
                        <a:buNone/>
                      </a:pPr>
                      <a:endParaRPr lang="en-US" sz="10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solidFill>
                      <a:srgbClr val="DAE9F8"/>
                    </a:solidFill>
                  </a:tcPr>
                </a:tc>
                <a:tc>
                  <a:txBody>
                    <a:bodyPr/>
                    <a:lstStyle/>
                    <a:p>
                      <a:pPr lvl="0" algn="ctr">
                        <a:buNone/>
                      </a:pPr>
                      <a:endParaRPr lang="en-US" sz="10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solidFill>
                      <a:srgbClr val="DAE9F8"/>
                    </a:solidFill>
                  </a:tcPr>
                </a:tc>
                <a:tc>
                  <a:txBody>
                    <a:bodyPr/>
                    <a:lstStyle/>
                    <a:p>
                      <a:pPr lvl="0" algn="ctr">
                        <a:buNone/>
                      </a:pPr>
                      <a:endParaRPr lang="en-US" sz="10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solidFill>
                      <a:srgbClr val="DAE9F8"/>
                    </a:solidFill>
                  </a:tcPr>
                </a:tc>
                <a:tc>
                  <a:txBody>
                    <a:bodyPr/>
                    <a:lstStyle/>
                    <a:p>
                      <a:pPr lvl="0" algn="ctr">
                        <a:buNone/>
                      </a:pPr>
                      <a:endParaRPr lang="en-US" sz="10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solidFill>
                      <a:srgbClr val="DAE9F8"/>
                    </a:solidFill>
                  </a:tcPr>
                </a:tc>
                <a:tc>
                  <a:txBody>
                    <a:bodyPr/>
                    <a:lstStyle/>
                    <a:p>
                      <a:pPr lvl="0" algn="ctr">
                        <a:buNone/>
                      </a:pPr>
                      <a:endParaRPr lang="en-US" sz="10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noFill/>
                  </a:tcPr>
                </a:tc>
                <a:tc>
                  <a:txBody>
                    <a:bodyPr/>
                    <a:lstStyle/>
                    <a:p>
                      <a:pPr lvl="0" algn="ctr">
                        <a:buNone/>
                      </a:pPr>
                      <a:endParaRPr lang="en-US" sz="10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noFill/>
                  </a:tcPr>
                </a:tc>
                <a:tc>
                  <a:txBody>
                    <a:bodyPr/>
                    <a:lstStyle/>
                    <a:p>
                      <a:pPr lvl="0" algn="ctr">
                        <a:buNone/>
                      </a:pPr>
                      <a:endParaRPr lang="en-US" sz="10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noFill/>
                  </a:tcPr>
                </a:tc>
                <a:tc>
                  <a:txBody>
                    <a:bodyPr/>
                    <a:lstStyle/>
                    <a:p>
                      <a:pPr lvl="0" algn="ctr">
                        <a:buNone/>
                      </a:pPr>
                      <a:endParaRPr lang="en-US" sz="10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noFill/>
                  </a:tcPr>
                </a:tc>
                <a:tc>
                  <a:txBody>
                    <a:bodyPr/>
                    <a:lstStyle/>
                    <a:p>
                      <a:pPr lvl="0" algn="ctr">
                        <a:buNone/>
                      </a:pPr>
                      <a:endParaRPr lang="en-US" sz="10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solidFill>
                      <a:srgbClr val="DAE9F8"/>
                    </a:solidFill>
                  </a:tcPr>
                </a:tc>
                <a:tc>
                  <a:txBody>
                    <a:bodyPr/>
                    <a:lstStyle/>
                    <a:p>
                      <a:pPr lvl="0" algn="ctr">
                        <a:buNone/>
                      </a:pPr>
                      <a:endParaRPr lang="en-US" sz="10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solidFill>
                      <a:srgbClr val="DAE9F8"/>
                    </a:solidFill>
                  </a:tcPr>
                </a:tc>
                <a:tc>
                  <a:txBody>
                    <a:bodyPr/>
                    <a:lstStyle/>
                    <a:p>
                      <a:pPr marL="0" lvl="0" indent="0" algn="l">
                        <a:lnSpc>
                          <a:spcPct val="100000"/>
                        </a:lnSpc>
                        <a:spcBef>
                          <a:spcPts val="0"/>
                        </a:spcBef>
                        <a:spcAft>
                          <a:spcPts val="0"/>
                        </a:spcAft>
                        <a:buNone/>
                      </a:pPr>
                      <a:r>
                        <a:rPr lang="en-US" sz="1100" b="0" i="0" u="none" strike="noStrike" noProof="0">
                          <a:solidFill>
                            <a:schemeClr val="tx1"/>
                          </a:solidFill>
                          <a:effectLst/>
                          <a:latin typeface="Raleway"/>
                        </a:rPr>
                        <a:t>FPTK Baru</a:t>
                      </a:r>
                    </a:p>
                    <a:p>
                      <a:pPr marL="0" lvl="0" indent="0" algn="l">
                        <a:lnSpc>
                          <a:spcPct val="100000"/>
                        </a:lnSpc>
                        <a:spcBef>
                          <a:spcPts val="0"/>
                        </a:spcBef>
                        <a:spcAft>
                          <a:spcPts val="0"/>
                        </a:spcAft>
                        <a:buNone/>
                      </a:pPr>
                      <a:endParaRPr lang="en-US" sz="1100" b="0" i="0" u="none" strike="noStrike" noProof="0">
                        <a:solidFill>
                          <a:schemeClr val="tx1"/>
                        </a:solidFill>
                        <a:effectLst/>
                        <a:latin typeface="Raleway"/>
                      </a:endParaRPr>
                    </a:p>
                    <a:p>
                      <a:pPr marL="0" lvl="0" indent="0" algn="l">
                        <a:lnSpc>
                          <a:spcPct val="100000"/>
                        </a:lnSpc>
                        <a:spcBef>
                          <a:spcPts val="0"/>
                        </a:spcBef>
                        <a:spcAft>
                          <a:spcPts val="0"/>
                        </a:spcAft>
                        <a:buNone/>
                      </a:pPr>
                      <a:r>
                        <a:rPr lang="en-US" sz="1100" b="1" i="0" u="none" strike="noStrike" noProof="0">
                          <a:solidFill>
                            <a:schemeClr val="tx1"/>
                          </a:solidFill>
                          <a:effectLst/>
                          <a:latin typeface="Raleway"/>
                        </a:rPr>
                        <a:t>Next Action:</a:t>
                      </a:r>
                    </a:p>
                    <a:p>
                      <a:pPr marL="0" lvl="0" indent="0" algn="l">
                        <a:lnSpc>
                          <a:spcPct val="100000"/>
                        </a:lnSpc>
                        <a:spcBef>
                          <a:spcPts val="0"/>
                        </a:spcBef>
                        <a:spcAft>
                          <a:spcPts val="0"/>
                        </a:spcAft>
                        <a:buNone/>
                      </a:pPr>
                      <a:r>
                        <a:rPr lang="en-US" sz="1100" b="0" i="0" u="none" strike="noStrike" noProof="0">
                          <a:solidFill>
                            <a:schemeClr val="tx1"/>
                          </a:solidFill>
                          <a:effectLst/>
                          <a:latin typeface="Raleway"/>
                        </a:rPr>
                        <a:t>Send min. 10 CVs ke User di Week 34</a:t>
                      </a: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989430859"/>
                  </a:ext>
                </a:extLst>
              </a:tr>
              <a:tr h="390525">
                <a:tc>
                  <a:txBody>
                    <a:bodyPr/>
                    <a:lstStyle/>
                    <a:p>
                      <a:pPr lvl="0" algn="ctr">
                        <a:buNone/>
                      </a:pPr>
                      <a:r>
                        <a:rPr lang="en-US" sz="1000">
                          <a:effectLst/>
                          <a:latin typeface="Raleway"/>
                        </a:rPr>
                        <a:t>11</a:t>
                      </a: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buNone/>
                      </a:pPr>
                      <a:r>
                        <a:rPr lang="en-US" sz="1000">
                          <a:effectLst/>
                          <a:latin typeface="Raleway"/>
                        </a:rPr>
                        <a:t>CLAP</a:t>
                      </a: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r>
                        <a:rPr lang="en-US" sz="1000">
                          <a:effectLst/>
                          <a:latin typeface="Raleway"/>
                        </a:rPr>
                        <a:t>CMD</a:t>
                      </a: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r>
                        <a:rPr lang="en-US" sz="1000">
                          <a:effectLst/>
                          <a:latin typeface="Raleway"/>
                        </a:rPr>
                        <a:t>Continuous Improvement</a:t>
                      </a: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r>
                        <a:rPr lang="en-US" sz="1000">
                          <a:effectLst/>
                          <a:latin typeface="Raleway"/>
                        </a:rPr>
                        <a:t>0</a:t>
                      </a: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endParaRPr lang="en-US" sz="10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solidFill>
                      <a:srgbClr val="DAE9F8"/>
                    </a:solidFill>
                  </a:tcPr>
                </a:tc>
                <a:tc>
                  <a:txBody>
                    <a:bodyPr/>
                    <a:lstStyle/>
                    <a:p>
                      <a:pPr lvl="0" algn="ctr">
                        <a:buNone/>
                      </a:pPr>
                      <a:endParaRPr lang="en-US" sz="10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solidFill>
                      <a:srgbClr val="DAE9F8"/>
                    </a:solidFill>
                  </a:tcPr>
                </a:tc>
                <a:tc>
                  <a:txBody>
                    <a:bodyPr/>
                    <a:lstStyle/>
                    <a:p>
                      <a:pPr lvl="0" algn="ctr">
                        <a:buNone/>
                      </a:pPr>
                      <a:endParaRPr lang="en-US" sz="10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solidFill>
                      <a:srgbClr val="DAE9F8"/>
                    </a:solidFill>
                  </a:tcPr>
                </a:tc>
                <a:tc>
                  <a:txBody>
                    <a:bodyPr/>
                    <a:lstStyle/>
                    <a:p>
                      <a:pPr lvl="0" algn="ctr">
                        <a:buNone/>
                      </a:pPr>
                      <a:endParaRPr lang="en-US" sz="10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solidFill>
                      <a:srgbClr val="DAE9F8"/>
                    </a:solidFill>
                  </a:tcPr>
                </a:tc>
                <a:tc>
                  <a:txBody>
                    <a:bodyPr/>
                    <a:lstStyle/>
                    <a:p>
                      <a:pPr lvl="0" algn="ctr">
                        <a:buNone/>
                      </a:pPr>
                      <a:endParaRPr lang="en-US" sz="10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endParaRPr lang="en-US" sz="10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endParaRPr lang="en-US" sz="10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endParaRPr lang="en-US" sz="10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endParaRPr lang="en-US" sz="10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solidFill>
                      <a:srgbClr val="DAE9F8"/>
                    </a:solidFill>
                  </a:tcPr>
                </a:tc>
                <a:tc>
                  <a:txBody>
                    <a:bodyPr/>
                    <a:lstStyle/>
                    <a:p>
                      <a:pPr lvl="0" algn="ctr">
                        <a:buNone/>
                      </a:pPr>
                      <a:endParaRPr lang="en-US" sz="10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solidFill>
                      <a:srgbClr val="DAE9F8"/>
                    </a:solidFill>
                  </a:tcPr>
                </a:tc>
                <a:tc>
                  <a:txBody>
                    <a:bodyPr/>
                    <a:lstStyle/>
                    <a:p>
                      <a:pPr marL="0" lvl="0" indent="0" algn="l">
                        <a:lnSpc>
                          <a:spcPct val="100000"/>
                        </a:lnSpc>
                        <a:spcBef>
                          <a:spcPts val="0"/>
                        </a:spcBef>
                        <a:spcAft>
                          <a:spcPts val="0"/>
                        </a:spcAft>
                        <a:buNone/>
                      </a:pPr>
                      <a:r>
                        <a:rPr lang="en-US" sz="1100" b="0" i="0" u="none" strike="noStrike" noProof="0">
                          <a:solidFill>
                            <a:schemeClr val="tx1"/>
                          </a:solidFill>
                          <a:effectLst/>
                          <a:latin typeface="Raleway"/>
                        </a:rPr>
                        <a:t>FPTK Baru</a:t>
                      </a:r>
                      <a:endParaRPr lang="en-US" sz="1100" b="0" i="0" u="none" strike="noStrike" noProof="0">
                        <a:solidFill>
                          <a:srgbClr val="000000"/>
                        </a:solidFill>
                        <a:effectLst/>
                        <a:latin typeface="Raleway"/>
                      </a:endParaRPr>
                    </a:p>
                    <a:p>
                      <a:pPr marL="0" lvl="0" indent="0" algn="l">
                        <a:lnSpc>
                          <a:spcPct val="100000"/>
                        </a:lnSpc>
                        <a:spcBef>
                          <a:spcPts val="0"/>
                        </a:spcBef>
                        <a:spcAft>
                          <a:spcPts val="0"/>
                        </a:spcAft>
                        <a:buNone/>
                      </a:pPr>
                      <a:endParaRPr lang="en-US" sz="1100" b="0" i="0" u="none" strike="noStrike" noProof="0">
                        <a:solidFill>
                          <a:srgbClr val="000000"/>
                        </a:solidFill>
                        <a:effectLst/>
                        <a:latin typeface="Raleway"/>
                      </a:endParaRPr>
                    </a:p>
                    <a:p>
                      <a:pPr marL="0" lvl="0" indent="0" algn="l">
                        <a:lnSpc>
                          <a:spcPct val="100000"/>
                        </a:lnSpc>
                        <a:spcBef>
                          <a:spcPts val="0"/>
                        </a:spcBef>
                        <a:spcAft>
                          <a:spcPts val="0"/>
                        </a:spcAft>
                        <a:buNone/>
                      </a:pPr>
                      <a:r>
                        <a:rPr lang="en-US" sz="1100" b="1" i="0" u="none" strike="noStrike" noProof="0">
                          <a:solidFill>
                            <a:schemeClr val="tx1"/>
                          </a:solidFill>
                          <a:effectLst/>
                          <a:latin typeface="Raleway"/>
                        </a:rPr>
                        <a:t>Next Action:</a:t>
                      </a:r>
                      <a:endParaRPr lang="en-US" sz="1100" b="0" i="0" u="none" strike="noStrike" noProof="0">
                        <a:solidFill>
                          <a:srgbClr val="000000"/>
                        </a:solidFill>
                        <a:effectLst/>
                        <a:latin typeface="Raleway"/>
                      </a:endParaRPr>
                    </a:p>
                    <a:p>
                      <a:pPr marL="0" lvl="0" indent="0" algn="l">
                        <a:lnSpc>
                          <a:spcPct val="100000"/>
                        </a:lnSpc>
                        <a:spcBef>
                          <a:spcPts val="0"/>
                        </a:spcBef>
                        <a:spcAft>
                          <a:spcPts val="0"/>
                        </a:spcAft>
                        <a:buNone/>
                      </a:pPr>
                      <a:r>
                        <a:rPr lang="en-US" sz="1100" b="0" i="0" u="none" strike="noStrike" noProof="0">
                          <a:solidFill>
                            <a:schemeClr val="tx1"/>
                          </a:solidFill>
                          <a:effectLst/>
                          <a:latin typeface="Raleway"/>
                        </a:rPr>
                        <a:t>Send min. 10 CVs ke User di Week 34</a:t>
                      </a:r>
                      <a:endParaRPr lang="en-US" sz="1100" b="0" i="0" u="none" strike="noStrike" noProof="0">
                        <a:solidFill>
                          <a:srgbClr val="000000"/>
                        </a:solidFill>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764650072"/>
                  </a:ext>
                </a:extLst>
              </a:tr>
            </a:tbl>
          </a:graphicData>
        </a:graphic>
      </p:graphicFrame>
    </p:spTree>
    <p:extLst>
      <p:ext uri="{BB962C8B-B14F-4D97-AF65-F5344CB8AC3E}">
        <p14:creationId xmlns:p14="http://schemas.microsoft.com/office/powerpoint/2010/main" val="1639720053"/>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A117A4-7C10-0638-511C-6A50F00EDDBD}"/>
            </a:ext>
          </a:extLst>
        </p:cNvPr>
        <p:cNvGrpSpPr/>
        <p:nvPr/>
      </p:nvGrpSpPr>
      <p:grpSpPr>
        <a:xfrm>
          <a:off x="0" y="0"/>
          <a:ext cx="0" cy="0"/>
          <a:chOff x="0" y="0"/>
          <a:chExt cx="0" cy="0"/>
        </a:xfrm>
      </p:grpSpPr>
      <p:sp>
        <p:nvSpPr>
          <p:cNvPr id="3" name="Text 1">
            <a:extLst>
              <a:ext uri="{FF2B5EF4-FFF2-40B4-BE49-F238E27FC236}">
                <a16:creationId xmlns:a16="http://schemas.microsoft.com/office/drawing/2014/main" id="{63537753-2741-EC5A-37F2-D637A8919449}"/>
              </a:ext>
            </a:extLst>
          </p:cNvPr>
          <p:cNvSpPr/>
          <p:nvPr/>
        </p:nvSpPr>
        <p:spPr>
          <a:xfrm>
            <a:off x="237744" y="451730"/>
            <a:ext cx="9144000" cy="400780"/>
          </a:xfrm>
          <a:prstGeom prst="rect">
            <a:avLst/>
          </a:prstGeom>
          <a:noFill/>
          <a:ln/>
        </p:spPr>
        <p:txBody>
          <a:bodyPr wrap="square" lIns="0" tIns="0" rIns="0" bIns="0" rtlCol="0" anchor="ctr"/>
          <a:lstStyle>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en-US" sz="2133" b="1" i="0" u="none" strike="noStrike" kern="1200" cap="none" spc="0" normalizeH="0" baseline="0" noProof="0">
                <a:ln>
                  <a:noFill/>
                </a:ln>
                <a:solidFill>
                  <a:srgbClr val="C00000"/>
                </a:solidFill>
                <a:effectLst/>
                <a:uLnTx/>
                <a:uFillTx/>
                <a:latin typeface="Raleway"/>
                <a:ea typeface="+mn-ea"/>
                <a:cs typeface="+mn-cs"/>
              </a:rPr>
              <a:t>FGDP</a:t>
            </a:r>
            <a:r>
              <a:rPr kumimoji="0" lang="en-US" sz="2133" b="1" i="0" u="none" strike="noStrike" kern="1200" cap="none" spc="0" normalizeH="0" baseline="0" noProof="0">
                <a:ln>
                  <a:noFill/>
                </a:ln>
                <a:solidFill>
                  <a:srgbClr val="002060"/>
                </a:solidFill>
                <a:effectLst/>
                <a:uLnTx/>
                <a:uFillTx/>
                <a:latin typeface="Raleway"/>
                <a:ea typeface="+mn-ea"/>
                <a:cs typeface="+mn-cs"/>
              </a:rPr>
              <a:t> - PIPELINE KANDIDAT AKTIF / SEDANG DIPROSE</a:t>
            </a:r>
            <a:r>
              <a:rPr lang="en-US" sz="2133" b="1">
                <a:solidFill>
                  <a:srgbClr val="002060"/>
                </a:solidFill>
                <a:latin typeface="Raleway"/>
              </a:rPr>
              <a:t>S</a:t>
            </a:r>
            <a:endParaRPr kumimoji="0" lang="en-US" sz="2133" b="0" i="0" u="none" strike="noStrike" kern="1200" cap="none" spc="0" normalizeH="0" baseline="0" noProof="0">
              <a:ln>
                <a:noFill/>
              </a:ln>
              <a:solidFill>
                <a:srgbClr val="002060"/>
              </a:solidFill>
              <a:effectLst/>
              <a:uLnTx/>
              <a:uFillTx/>
              <a:latin typeface="Raleway"/>
              <a:ea typeface="+mn-ea"/>
              <a:cs typeface="+mn-cs"/>
            </a:endParaRPr>
          </a:p>
        </p:txBody>
      </p:sp>
      <p:graphicFrame>
        <p:nvGraphicFramePr>
          <p:cNvPr id="4" name="tabelfgdp">
            <a:extLst>
              <a:ext uri="{FF2B5EF4-FFF2-40B4-BE49-F238E27FC236}">
                <a16:creationId xmlns:a16="http://schemas.microsoft.com/office/drawing/2014/main" id="{45809656-3DBF-68A7-FF1A-9E6996B9FC77}"/>
              </a:ext>
            </a:extLst>
          </p:cNvPr>
          <p:cNvGraphicFramePr>
            <a:graphicFrameLocks noGrp="1"/>
          </p:cNvGraphicFramePr>
          <p:nvPr>
            <p:extLst>
              <p:ext uri="{D42A27DB-BD31-4B8C-83A1-F6EECF244321}">
                <p14:modId xmlns:p14="http://schemas.microsoft.com/office/powerpoint/2010/main" val="3988024331"/>
              </p:ext>
            </p:extLst>
          </p:nvPr>
        </p:nvGraphicFramePr>
        <p:xfrm>
          <a:off x="232474" y="1024014"/>
          <a:ext cx="11629556" cy="5873115"/>
        </p:xfrm>
        <a:graphic>
          <a:graphicData uri="http://schemas.openxmlformats.org/drawingml/2006/table">
            <a:tbl>
              <a:tblPr bandRow="1">
                <a:tableStyleId>{5C22544A-7EE6-4342-B048-85BDC9FD1C3A}</a:tableStyleId>
              </a:tblPr>
              <a:tblGrid>
                <a:gridCol w="344714">
                  <a:extLst>
                    <a:ext uri="{9D8B030D-6E8A-4147-A177-3AD203B41FA5}">
                      <a16:colId xmlns:a16="http://schemas.microsoft.com/office/drawing/2014/main" val="3824595966"/>
                    </a:ext>
                  </a:extLst>
                </a:gridCol>
                <a:gridCol w="362857">
                  <a:extLst>
                    <a:ext uri="{9D8B030D-6E8A-4147-A177-3AD203B41FA5}">
                      <a16:colId xmlns:a16="http://schemas.microsoft.com/office/drawing/2014/main" val="3268020549"/>
                    </a:ext>
                  </a:extLst>
                </a:gridCol>
                <a:gridCol w="689428">
                  <a:extLst>
                    <a:ext uri="{9D8B030D-6E8A-4147-A177-3AD203B41FA5}">
                      <a16:colId xmlns:a16="http://schemas.microsoft.com/office/drawing/2014/main" val="2222325348"/>
                    </a:ext>
                  </a:extLst>
                </a:gridCol>
                <a:gridCol w="508000">
                  <a:extLst>
                    <a:ext uri="{9D8B030D-6E8A-4147-A177-3AD203B41FA5}">
                      <a16:colId xmlns:a16="http://schemas.microsoft.com/office/drawing/2014/main" val="2471689715"/>
                    </a:ext>
                  </a:extLst>
                </a:gridCol>
                <a:gridCol w="308427">
                  <a:extLst>
                    <a:ext uri="{9D8B030D-6E8A-4147-A177-3AD203B41FA5}">
                      <a16:colId xmlns:a16="http://schemas.microsoft.com/office/drawing/2014/main" val="2944714523"/>
                    </a:ext>
                  </a:extLst>
                </a:gridCol>
                <a:gridCol w="326569">
                  <a:extLst>
                    <a:ext uri="{9D8B030D-6E8A-4147-A177-3AD203B41FA5}">
                      <a16:colId xmlns:a16="http://schemas.microsoft.com/office/drawing/2014/main" val="517914446"/>
                    </a:ext>
                  </a:extLst>
                </a:gridCol>
                <a:gridCol w="344714">
                  <a:extLst>
                    <a:ext uri="{9D8B030D-6E8A-4147-A177-3AD203B41FA5}">
                      <a16:colId xmlns:a16="http://schemas.microsoft.com/office/drawing/2014/main" val="3728238970"/>
                    </a:ext>
                  </a:extLst>
                </a:gridCol>
                <a:gridCol w="326571">
                  <a:extLst>
                    <a:ext uri="{9D8B030D-6E8A-4147-A177-3AD203B41FA5}">
                      <a16:colId xmlns:a16="http://schemas.microsoft.com/office/drawing/2014/main" val="4012895873"/>
                    </a:ext>
                  </a:extLst>
                </a:gridCol>
                <a:gridCol w="344714">
                  <a:extLst>
                    <a:ext uri="{9D8B030D-6E8A-4147-A177-3AD203B41FA5}">
                      <a16:colId xmlns:a16="http://schemas.microsoft.com/office/drawing/2014/main" val="211504694"/>
                    </a:ext>
                  </a:extLst>
                </a:gridCol>
                <a:gridCol w="308427">
                  <a:extLst>
                    <a:ext uri="{9D8B030D-6E8A-4147-A177-3AD203B41FA5}">
                      <a16:colId xmlns:a16="http://schemas.microsoft.com/office/drawing/2014/main" val="1238431555"/>
                    </a:ext>
                  </a:extLst>
                </a:gridCol>
                <a:gridCol w="308427">
                  <a:extLst>
                    <a:ext uri="{9D8B030D-6E8A-4147-A177-3AD203B41FA5}">
                      <a16:colId xmlns:a16="http://schemas.microsoft.com/office/drawing/2014/main" val="108976485"/>
                    </a:ext>
                  </a:extLst>
                </a:gridCol>
                <a:gridCol w="344714">
                  <a:extLst>
                    <a:ext uri="{9D8B030D-6E8A-4147-A177-3AD203B41FA5}">
                      <a16:colId xmlns:a16="http://schemas.microsoft.com/office/drawing/2014/main" val="2231552364"/>
                    </a:ext>
                  </a:extLst>
                </a:gridCol>
                <a:gridCol w="326571">
                  <a:extLst>
                    <a:ext uri="{9D8B030D-6E8A-4147-A177-3AD203B41FA5}">
                      <a16:colId xmlns:a16="http://schemas.microsoft.com/office/drawing/2014/main" val="3028426338"/>
                    </a:ext>
                  </a:extLst>
                </a:gridCol>
                <a:gridCol w="326571">
                  <a:extLst>
                    <a:ext uri="{9D8B030D-6E8A-4147-A177-3AD203B41FA5}">
                      <a16:colId xmlns:a16="http://schemas.microsoft.com/office/drawing/2014/main" val="111440052"/>
                    </a:ext>
                  </a:extLst>
                </a:gridCol>
                <a:gridCol w="399141">
                  <a:extLst>
                    <a:ext uri="{9D8B030D-6E8A-4147-A177-3AD203B41FA5}">
                      <a16:colId xmlns:a16="http://schemas.microsoft.com/office/drawing/2014/main" val="1533727127"/>
                    </a:ext>
                  </a:extLst>
                </a:gridCol>
                <a:gridCol w="362857">
                  <a:extLst>
                    <a:ext uri="{9D8B030D-6E8A-4147-A177-3AD203B41FA5}">
                      <a16:colId xmlns:a16="http://schemas.microsoft.com/office/drawing/2014/main" val="1385510883"/>
                    </a:ext>
                  </a:extLst>
                </a:gridCol>
                <a:gridCol w="362857">
                  <a:extLst>
                    <a:ext uri="{9D8B030D-6E8A-4147-A177-3AD203B41FA5}">
                      <a16:colId xmlns:a16="http://schemas.microsoft.com/office/drawing/2014/main" val="997373470"/>
                    </a:ext>
                  </a:extLst>
                </a:gridCol>
                <a:gridCol w="326571">
                  <a:extLst>
                    <a:ext uri="{9D8B030D-6E8A-4147-A177-3AD203B41FA5}">
                      <a16:colId xmlns:a16="http://schemas.microsoft.com/office/drawing/2014/main" val="4160320632"/>
                    </a:ext>
                  </a:extLst>
                </a:gridCol>
                <a:gridCol w="326571">
                  <a:extLst>
                    <a:ext uri="{9D8B030D-6E8A-4147-A177-3AD203B41FA5}">
                      <a16:colId xmlns:a16="http://schemas.microsoft.com/office/drawing/2014/main" val="978449715"/>
                    </a:ext>
                  </a:extLst>
                </a:gridCol>
                <a:gridCol w="399141">
                  <a:extLst>
                    <a:ext uri="{9D8B030D-6E8A-4147-A177-3AD203B41FA5}">
                      <a16:colId xmlns:a16="http://schemas.microsoft.com/office/drawing/2014/main" val="2412024193"/>
                    </a:ext>
                  </a:extLst>
                </a:gridCol>
                <a:gridCol w="4281714">
                  <a:extLst>
                    <a:ext uri="{9D8B030D-6E8A-4147-A177-3AD203B41FA5}">
                      <a16:colId xmlns:a16="http://schemas.microsoft.com/office/drawing/2014/main" val="501520763"/>
                    </a:ext>
                  </a:extLst>
                </a:gridCol>
              </a:tblGrid>
              <a:tr h="200025">
                <a:tc rowSpan="2">
                  <a:txBody>
                    <a:bodyPr/>
                    <a:lstStyle/>
                    <a:p>
                      <a:pPr algn="ctr" fontAlgn="ctr">
                        <a:buNone/>
                      </a:pPr>
                      <a:r>
                        <a:rPr lang="en-US" sz="1000" b="1">
                          <a:solidFill>
                            <a:srgbClr val="FFFFFF"/>
                          </a:solidFill>
                          <a:effectLst/>
                          <a:latin typeface="Raleway" pitchFamily="2" charset="0"/>
                        </a:rPr>
                        <a:t>No.</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rowSpan="2">
                  <a:txBody>
                    <a:bodyPr/>
                    <a:lstStyle/>
                    <a:p>
                      <a:pPr algn="ctr" fontAlgn="ctr">
                        <a:buNone/>
                      </a:pPr>
                      <a:r>
                        <a:rPr lang="en-US" sz="1000" b="1">
                          <a:solidFill>
                            <a:srgbClr val="FFFFFF"/>
                          </a:solidFill>
                          <a:effectLst/>
                          <a:latin typeface="Raleway" pitchFamily="2" charset="0"/>
                        </a:rPr>
                        <a:t>Program</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rowSpan="2">
                  <a:txBody>
                    <a:bodyPr/>
                    <a:lstStyle/>
                    <a:p>
                      <a:pPr algn="ctr" fontAlgn="ctr">
                        <a:buNone/>
                      </a:pPr>
                      <a:r>
                        <a:rPr lang="en-US" sz="1000" b="1" err="1">
                          <a:solidFill>
                            <a:srgbClr val="FFFFFF"/>
                          </a:solidFill>
                          <a:effectLst/>
                          <a:latin typeface="Raleway"/>
                        </a:rPr>
                        <a:t>Posisi</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rowSpan="2">
                  <a:txBody>
                    <a:bodyPr/>
                    <a:lstStyle/>
                    <a:p>
                      <a:pPr algn="ctr" fontAlgn="ctr">
                        <a:buNone/>
                      </a:pPr>
                      <a:r>
                        <a:rPr lang="en-US" sz="1000" b="1">
                          <a:solidFill>
                            <a:srgbClr val="FFFFFF"/>
                          </a:solidFill>
                          <a:effectLst/>
                          <a:latin typeface="Raleway"/>
                        </a:rPr>
                        <a:t>Total </a:t>
                      </a:r>
                      <a:r>
                        <a:rPr lang="en-US" sz="1000" b="1" err="1">
                          <a:solidFill>
                            <a:srgbClr val="FFFFFF"/>
                          </a:solidFill>
                          <a:effectLst/>
                          <a:latin typeface="Raleway"/>
                        </a:rPr>
                        <a:t>Kandidat</a:t>
                      </a:r>
                      <a:r>
                        <a:rPr lang="en-US" sz="1000" b="1">
                          <a:solidFill>
                            <a:srgbClr val="FFFFFF"/>
                          </a:solidFill>
                          <a:effectLst/>
                          <a:latin typeface="Raleway"/>
                        </a:rPr>
                        <a:t> </a:t>
                      </a:r>
                      <a:r>
                        <a:rPr lang="en-US" sz="1000" b="1" err="1">
                          <a:solidFill>
                            <a:srgbClr val="FFFFFF"/>
                          </a:solidFill>
                          <a:effectLst/>
                          <a:latin typeface="Raleway"/>
                        </a:rPr>
                        <a:t>Aktif</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gridSpan="4">
                  <a:txBody>
                    <a:bodyPr/>
                    <a:lstStyle/>
                    <a:p>
                      <a:pPr algn="ctr" fontAlgn="ctr">
                        <a:buNone/>
                      </a:pPr>
                      <a:r>
                        <a:rPr lang="en-US" sz="1000" b="1">
                          <a:solidFill>
                            <a:srgbClr val="FFFFFF"/>
                          </a:solidFill>
                          <a:effectLst/>
                          <a:latin typeface="Raleway" pitchFamily="2" charset="0"/>
                        </a:rPr>
                        <a:t>Case Study</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4">
                  <a:txBody>
                    <a:bodyPr/>
                    <a:lstStyle/>
                    <a:p>
                      <a:pPr algn="ctr" fontAlgn="ctr">
                        <a:buNone/>
                      </a:pPr>
                      <a:r>
                        <a:rPr lang="en-US" sz="1000" b="1">
                          <a:solidFill>
                            <a:srgbClr val="FFFFFF"/>
                          </a:solidFill>
                          <a:effectLst/>
                          <a:latin typeface="Raleway" pitchFamily="2" charset="0"/>
                        </a:rPr>
                        <a:t>HR Interview</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3">
                  <a:txBody>
                    <a:bodyPr/>
                    <a:lstStyle/>
                    <a:p>
                      <a:pPr algn="ctr" fontAlgn="ctr">
                        <a:buNone/>
                      </a:pPr>
                      <a:r>
                        <a:rPr lang="en-US" sz="1000" b="1">
                          <a:solidFill>
                            <a:srgbClr val="FFFFFF"/>
                          </a:solidFill>
                          <a:effectLst/>
                          <a:latin typeface="Raleway" pitchFamily="2" charset="0"/>
                        </a:rPr>
                        <a:t>USER INTERVIEW</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hMerge="1">
                  <a:txBody>
                    <a:bodyPr/>
                    <a:lstStyle/>
                    <a:p>
                      <a:endParaRPr lang="en-US"/>
                    </a:p>
                  </a:txBody>
                  <a:tcPr/>
                </a:tc>
                <a:tc hMerge="1">
                  <a:txBody>
                    <a:bodyPr/>
                    <a:lstStyle/>
                    <a:p>
                      <a:endParaRPr lang="en-US"/>
                    </a:p>
                  </a:txBody>
                  <a:tcPr/>
                </a:tc>
                <a:tc>
                  <a:txBody>
                    <a:bodyPr/>
                    <a:lstStyle/>
                    <a:p>
                      <a:pPr algn="ctr" fontAlgn="ctr">
                        <a:buNone/>
                      </a:pPr>
                      <a:endParaRPr lang="en-US" sz="1000" b="1">
                        <a:solidFill>
                          <a:srgbClr val="FFFFFF"/>
                        </a:solidFill>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gridSpan="4">
                  <a:txBody>
                    <a:bodyPr/>
                    <a:lstStyle/>
                    <a:p>
                      <a:pPr algn="ctr" fontAlgn="ctr">
                        <a:buNone/>
                      </a:pPr>
                      <a:r>
                        <a:rPr lang="en-US" sz="1000" b="1">
                          <a:solidFill>
                            <a:srgbClr val="FFFFFF"/>
                          </a:solidFill>
                          <a:effectLst/>
                          <a:latin typeface="Raleway" pitchFamily="2" charset="0"/>
                        </a:rPr>
                        <a:t>OFFERING</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hMerge="1">
                  <a:txBody>
                    <a:bodyPr/>
                    <a:lstStyle/>
                    <a:p>
                      <a:endParaRPr lang="en-US"/>
                    </a:p>
                  </a:txBody>
                  <a:tcPr/>
                </a:tc>
                <a:tc hMerge="1">
                  <a:txBody>
                    <a:bodyPr/>
                    <a:lstStyle/>
                    <a:p>
                      <a:endParaRPr lang="en-US"/>
                    </a:p>
                  </a:txBody>
                  <a:tcPr/>
                </a:tc>
                <a:tc hMerge="1">
                  <a:txBody>
                    <a:bodyPr/>
                    <a:lstStyle/>
                    <a:p>
                      <a:endParaRPr lang="en-US"/>
                    </a:p>
                  </a:txBody>
                  <a:tcPr/>
                </a:tc>
                <a:tc rowSpan="2">
                  <a:txBody>
                    <a:bodyPr/>
                    <a:lstStyle/>
                    <a:p>
                      <a:pPr algn="ctr" fontAlgn="ctr">
                        <a:buNone/>
                      </a:pPr>
                      <a:r>
                        <a:rPr lang="en-US" sz="1000" b="1">
                          <a:solidFill>
                            <a:srgbClr val="FFFFFF"/>
                          </a:solidFill>
                          <a:effectLst/>
                          <a:latin typeface="Raleway" pitchFamily="2" charset="0"/>
                        </a:rPr>
                        <a:t>NOTES</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extLst>
                  <a:ext uri="{0D108BD9-81ED-4DB2-BD59-A6C34878D82A}">
                    <a16:rowId xmlns:a16="http://schemas.microsoft.com/office/drawing/2014/main" val="1922864276"/>
                  </a:ext>
                </a:extLst>
              </a:tr>
              <a:tr h="200025">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algn="ctr" fontAlgn="ctr">
                        <a:buNone/>
                      </a:pPr>
                      <a:r>
                        <a:rPr lang="en-US" sz="1000" b="1">
                          <a:solidFill>
                            <a:srgbClr val="FFFFFF"/>
                          </a:solidFill>
                          <a:effectLst/>
                          <a:latin typeface="Raleway" pitchFamily="2" charset="0"/>
                        </a:rPr>
                        <a:t>OK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NOT OK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NO SUBMIT</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ON GOING</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OK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NOT OK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SCHEDULED</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WITHDRAW</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OK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NOT OK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SCHEDULED</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WITHDRAW</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ACCEPT</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REJECT</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ON GOING</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WITHDRAW</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vMerge="1">
                  <a:txBody>
                    <a:bodyPr/>
                    <a:lstStyle/>
                    <a:p>
                      <a:endParaRPr lang="en-US"/>
                    </a:p>
                  </a:txBody>
                  <a:tcPr/>
                </a:tc>
                <a:extLst>
                  <a:ext uri="{0D108BD9-81ED-4DB2-BD59-A6C34878D82A}">
                    <a16:rowId xmlns:a16="http://schemas.microsoft.com/office/drawing/2014/main" val="3147051863"/>
                  </a:ext>
                </a:extLst>
              </a:tr>
              <a:tr h="590550">
                <a:tc>
                  <a:txBody>
                    <a:bodyPr/>
                    <a:lstStyle/>
                    <a:p>
                      <a:pPr algn="ctr" fontAlgn="ctr">
                        <a:buNone/>
                      </a:pPr>
                      <a:r>
                        <a:rPr lang="en-US" sz="1000">
                          <a:effectLst/>
                          <a:latin typeface="Raleway" pitchFamily="2" charset="0"/>
                        </a:rPr>
                        <a:t>1</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ctr">
                        <a:buNone/>
                      </a:pPr>
                      <a:r>
                        <a:rPr lang="en-US" sz="1000">
                          <a:effectLst/>
                          <a:latin typeface="Raleway" pitchFamily="2" charset="0"/>
                        </a:rPr>
                        <a:t>FGDP</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ctr">
                        <a:buNone/>
                      </a:pPr>
                      <a:r>
                        <a:rPr lang="en-US" sz="1000">
                          <a:effectLst/>
                          <a:latin typeface="Raleway" pitchFamily="2" charset="0"/>
                        </a:rPr>
                        <a:t>Influencer Marketing</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30</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1</a:t>
                      </a: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10</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100">
                          <a:effectLst/>
                          <a:latin typeface="Raleway"/>
                        </a:rPr>
                        <a:t>20</a:t>
                      </a: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100">
                          <a:effectLst/>
                          <a:latin typeface="Raleway"/>
                        </a:rPr>
                        <a:t>2</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7</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1</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1</a:t>
                      </a: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marL="171450" lvl="0" indent="-171450" algn="l">
                        <a:lnSpc>
                          <a:spcPct val="100000"/>
                        </a:lnSpc>
                        <a:spcBef>
                          <a:spcPts val="0"/>
                        </a:spcBef>
                        <a:spcAft>
                          <a:spcPts val="0"/>
                        </a:spcAft>
                        <a:buClr>
                          <a:srgbClr val="000000"/>
                        </a:buClr>
                        <a:buFont typeface="Calibri"/>
                        <a:buChar char="-"/>
                      </a:pPr>
                      <a:r>
                        <a:rPr lang="en-US" sz="1100" b="1" i="0" u="none" strike="noStrike" noProof="0">
                          <a:solidFill>
                            <a:srgbClr val="000000"/>
                          </a:solidFill>
                          <a:effectLst/>
                          <a:latin typeface="Raleway"/>
                        </a:rPr>
                        <a:t>Rahma Hanifa Dewi </a:t>
                      </a:r>
                      <a:r>
                        <a:rPr lang="en-US" sz="1100" b="0" i="0" u="none" strike="noStrike" noProof="0">
                          <a:solidFill>
                            <a:srgbClr val="000000"/>
                          </a:solidFill>
                          <a:effectLst/>
                          <a:latin typeface="Raleway"/>
                        </a:rPr>
                        <a:t>join date 3 Agustus 2026</a:t>
                      </a:r>
                    </a:p>
                    <a:p>
                      <a:pPr marL="171450" lvl="0" indent="-171450" algn="l">
                        <a:lnSpc>
                          <a:spcPct val="100000"/>
                        </a:lnSpc>
                        <a:spcBef>
                          <a:spcPts val="0"/>
                        </a:spcBef>
                        <a:spcAft>
                          <a:spcPts val="0"/>
                        </a:spcAft>
                        <a:buFont typeface="Calibri"/>
                        <a:buChar char="-"/>
                      </a:pPr>
                      <a:r>
                        <a:rPr lang="en-US" sz="1100" b="0" i="0" u="none" strike="noStrike" noProof="0">
                          <a:solidFill>
                            <a:srgbClr val="000000"/>
                          </a:solidFill>
                          <a:effectLst/>
                          <a:latin typeface="Raleway"/>
                        </a:rPr>
                        <a:t>Week 31: Nafisa Ganita – HOLD &amp; </a:t>
                      </a:r>
                      <a:r>
                        <a:rPr lang="en-US" sz="1100" b="0" i="0" u="none" strike="noStrike" noProof="0" err="1">
                          <a:solidFill>
                            <a:srgbClr val="000000"/>
                          </a:solidFill>
                          <a:effectLst/>
                          <a:latin typeface="Raleway"/>
                        </a:rPr>
                        <a:t>Psikotes</a:t>
                      </a:r>
                      <a:r>
                        <a:rPr lang="en-US" sz="1100" b="0" i="0" u="none" strike="noStrike" noProof="0">
                          <a:solidFill>
                            <a:srgbClr val="000000"/>
                          </a:solidFill>
                          <a:effectLst/>
                          <a:latin typeface="Raleway"/>
                        </a:rPr>
                        <a:t> 20 </a:t>
                      </a:r>
                      <a:r>
                        <a:rPr lang="en-US" sz="1100" b="0" i="0" u="none" strike="noStrike" noProof="0" err="1">
                          <a:solidFill>
                            <a:srgbClr val="000000"/>
                          </a:solidFill>
                          <a:effectLst/>
                          <a:latin typeface="Raleway"/>
                        </a:rPr>
                        <a:t>kandidat</a:t>
                      </a:r>
                      <a:endParaRPr lang="en-US" sz="1100" b="0" i="0" u="none" strike="noStrike" noProof="0">
                        <a:solidFill>
                          <a:srgbClr val="000000"/>
                        </a:solidFill>
                        <a:effectLst/>
                        <a:latin typeface="Raleway"/>
                      </a:endParaRPr>
                    </a:p>
                    <a:p>
                      <a:pPr marL="171450" lvl="0" indent="-171450" algn="l">
                        <a:lnSpc>
                          <a:spcPct val="100000"/>
                        </a:lnSpc>
                        <a:spcBef>
                          <a:spcPts val="0"/>
                        </a:spcBef>
                        <a:spcAft>
                          <a:spcPts val="0"/>
                        </a:spcAft>
                        <a:buFont typeface="Calibri"/>
                        <a:buChar char="-"/>
                      </a:pPr>
                      <a:r>
                        <a:rPr lang="en-US" sz="1100" b="0" i="0" u="none" strike="noStrike" noProof="0">
                          <a:solidFill>
                            <a:srgbClr val="000000"/>
                          </a:solidFill>
                          <a:effectLst/>
                          <a:latin typeface="Raleway"/>
                        </a:rPr>
                        <a:t>Week 32: HR Interview 21 </a:t>
                      </a:r>
                      <a:r>
                        <a:rPr lang="en-US" sz="1100" b="0" i="0" u="none" strike="noStrike" noProof="0" err="1">
                          <a:solidFill>
                            <a:srgbClr val="000000"/>
                          </a:solidFill>
                          <a:effectLst/>
                          <a:latin typeface="Raleway"/>
                        </a:rPr>
                        <a:t>kandidat</a:t>
                      </a:r>
                      <a:r>
                        <a:rPr lang="en-US" sz="1100" b="0" i="0" u="none" strike="noStrike" noProof="0">
                          <a:solidFill>
                            <a:srgbClr val="000000"/>
                          </a:solidFill>
                          <a:effectLst/>
                          <a:latin typeface="Raleway"/>
                        </a:rPr>
                        <a:t> shortlisted User &amp; Send 2 </a:t>
                      </a:r>
                      <a:r>
                        <a:rPr lang="en-US" sz="1100" b="0" i="0" u="none" strike="noStrike" noProof="0" err="1">
                          <a:solidFill>
                            <a:srgbClr val="000000"/>
                          </a:solidFill>
                          <a:effectLst/>
                          <a:latin typeface="Raleway"/>
                        </a:rPr>
                        <a:t>kandidat</a:t>
                      </a:r>
                      <a:r>
                        <a:rPr lang="en-US" sz="1100" b="0" i="0" u="none" strike="noStrike" noProof="0">
                          <a:solidFill>
                            <a:srgbClr val="000000"/>
                          </a:solidFill>
                          <a:effectLst/>
                          <a:latin typeface="Raleway"/>
                        </a:rPr>
                        <a:t> lolos HR Interview</a:t>
                      </a:r>
                    </a:p>
                    <a:p>
                      <a:pPr marL="171450" lvl="0" indent="-171450" algn="l">
                        <a:lnSpc>
                          <a:spcPct val="100000"/>
                        </a:lnSpc>
                        <a:spcBef>
                          <a:spcPts val="0"/>
                        </a:spcBef>
                        <a:spcAft>
                          <a:spcPts val="0"/>
                        </a:spcAft>
                        <a:buFont typeface="Calibri"/>
                        <a:buChar char="-"/>
                      </a:pPr>
                      <a:r>
                        <a:rPr lang="en-US" sz="1100" b="0" i="0" u="none" strike="noStrike" noProof="0">
                          <a:solidFill>
                            <a:srgbClr val="000000"/>
                          </a:solidFill>
                          <a:effectLst/>
                          <a:latin typeface="Raleway"/>
                        </a:rPr>
                        <a:t>Follow up Case Study </a:t>
                      </a:r>
                      <a:r>
                        <a:rPr lang="en-US" sz="1100" b="0" i="0" u="none" strike="noStrike" noProof="0" err="1">
                          <a:solidFill>
                            <a:srgbClr val="000000"/>
                          </a:solidFill>
                          <a:effectLst/>
                          <a:latin typeface="Raleway"/>
                        </a:rPr>
                        <a:t>ke</a:t>
                      </a:r>
                      <a:r>
                        <a:rPr lang="en-US" sz="1100" b="0" i="0" u="none" strike="noStrike" noProof="0">
                          <a:solidFill>
                            <a:srgbClr val="000000"/>
                          </a:solidFill>
                          <a:effectLst/>
                          <a:latin typeface="Raleway"/>
                        </a:rPr>
                        <a:t> User di Week 33</a:t>
                      </a:r>
                    </a:p>
                    <a:p>
                      <a:pPr marL="171450" lvl="0" indent="-171450" algn="l">
                        <a:lnSpc>
                          <a:spcPct val="100000"/>
                        </a:lnSpc>
                        <a:spcBef>
                          <a:spcPts val="0"/>
                        </a:spcBef>
                        <a:spcAft>
                          <a:spcPts val="0"/>
                        </a:spcAft>
                        <a:buFont typeface="Calibri"/>
                        <a:buChar char="-"/>
                      </a:pPr>
                      <a:r>
                        <a:rPr lang="en-US" sz="1100" b="0" i="0" u="none" strike="noStrike" noProof="0">
                          <a:solidFill>
                            <a:srgbClr val="000000"/>
                          </a:solidFill>
                          <a:effectLst/>
                          <a:latin typeface="Raleway"/>
                        </a:rPr>
                        <a:t>User Interview 1 </a:t>
                      </a:r>
                      <a:r>
                        <a:rPr lang="en-US" sz="1100" b="0" i="0" u="none" strike="noStrike" noProof="0" err="1">
                          <a:solidFill>
                            <a:srgbClr val="000000"/>
                          </a:solidFill>
                          <a:effectLst/>
                          <a:latin typeface="Raleway"/>
                        </a:rPr>
                        <a:t>kandidat</a:t>
                      </a:r>
                      <a:r>
                        <a:rPr lang="en-US" sz="1100" b="0" i="0" u="none" strike="noStrike" noProof="0">
                          <a:solidFill>
                            <a:srgbClr val="000000"/>
                          </a:solidFill>
                          <a:effectLst/>
                          <a:latin typeface="Raleway"/>
                        </a:rPr>
                        <a:t> di Week 33 - HOLD</a:t>
                      </a:r>
                    </a:p>
                    <a:p>
                      <a:pPr marL="0" lvl="0" indent="0" algn="l">
                        <a:lnSpc>
                          <a:spcPct val="100000"/>
                        </a:lnSpc>
                        <a:spcBef>
                          <a:spcPts val="0"/>
                        </a:spcBef>
                        <a:spcAft>
                          <a:spcPts val="0"/>
                        </a:spcAft>
                        <a:buNone/>
                      </a:pPr>
                      <a:endParaRPr lang="en-US" sz="1100" b="0" i="0" u="none" strike="noStrike" noProof="0">
                        <a:solidFill>
                          <a:srgbClr val="000000"/>
                        </a:solidFill>
                        <a:effectLst/>
                        <a:latin typeface="Raleway"/>
                      </a:endParaRPr>
                    </a:p>
                    <a:p>
                      <a:pPr marL="0" lvl="0" indent="0" algn="l">
                        <a:lnSpc>
                          <a:spcPct val="100000"/>
                        </a:lnSpc>
                        <a:spcBef>
                          <a:spcPts val="0"/>
                        </a:spcBef>
                        <a:spcAft>
                          <a:spcPts val="0"/>
                        </a:spcAft>
                        <a:buClr>
                          <a:srgbClr val="000000"/>
                        </a:buClr>
                        <a:buNone/>
                      </a:pPr>
                      <a:r>
                        <a:rPr lang="en-US" sz="1100" b="1" i="0" u="none" strike="noStrike" noProof="0">
                          <a:solidFill>
                            <a:srgbClr val="000000"/>
                          </a:solidFill>
                          <a:effectLst/>
                          <a:latin typeface="Raleway"/>
                        </a:rPr>
                        <a:t>Next Action:</a:t>
                      </a:r>
                      <a:endParaRPr lang="en-US" sz="1100" b="0" i="0" u="none" strike="noStrike" noProof="0">
                        <a:solidFill>
                          <a:srgbClr val="000000"/>
                        </a:solidFill>
                        <a:effectLst/>
                        <a:latin typeface="Raleway"/>
                      </a:endParaRPr>
                    </a:p>
                    <a:p>
                      <a:pPr marL="171450" lvl="0" indent="-171450" algn="l">
                        <a:lnSpc>
                          <a:spcPct val="100000"/>
                        </a:lnSpc>
                        <a:spcBef>
                          <a:spcPts val="0"/>
                        </a:spcBef>
                        <a:spcAft>
                          <a:spcPts val="0"/>
                        </a:spcAft>
                        <a:buClr>
                          <a:srgbClr val="000000"/>
                        </a:buClr>
                        <a:buFont typeface="Calibri"/>
                        <a:buChar char="-"/>
                      </a:pPr>
                      <a:r>
                        <a:rPr lang="en-US" sz="1100" b="0" i="0" u="none" strike="noStrike" noProof="0">
                          <a:solidFill>
                            <a:srgbClr val="000000"/>
                          </a:solidFill>
                          <a:effectLst/>
                          <a:latin typeface="Raleway"/>
                        </a:rPr>
                        <a:t>User Interview 1 </a:t>
                      </a:r>
                      <a:r>
                        <a:rPr lang="en-US" sz="1100" b="0" i="0" u="none" strike="noStrike" noProof="0" err="1">
                          <a:solidFill>
                            <a:srgbClr val="000000"/>
                          </a:solidFill>
                          <a:effectLst/>
                          <a:latin typeface="Raleway"/>
                        </a:rPr>
                        <a:t>kandidat</a:t>
                      </a:r>
                      <a:r>
                        <a:rPr lang="en-US" sz="1100" b="0" i="0" u="none" strike="noStrike" noProof="0">
                          <a:solidFill>
                            <a:srgbClr val="000000"/>
                          </a:solidFill>
                          <a:effectLst/>
                          <a:latin typeface="Raleway"/>
                        </a:rPr>
                        <a:t> di Week 34</a:t>
                      </a:r>
                    </a:p>
                    <a:p>
                      <a:pPr marL="171450" lvl="0" indent="-171450" algn="l">
                        <a:lnSpc>
                          <a:spcPct val="100000"/>
                        </a:lnSpc>
                        <a:spcBef>
                          <a:spcPts val="0"/>
                        </a:spcBef>
                        <a:spcAft>
                          <a:spcPts val="0"/>
                        </a:spcAft>
                        <a:buClr>
                          <a:srgbClr val="000000"/>
                        </a:buClr>
                        <a:buFont typeface="Calibri"/>
                        <a:buChar char="-"/>
                      </a:pPr>
                      <a:r>
                        <a:rPr lang="en-US" sz="1100" b="0" i="0" u="none" strike="noStrike" noProof="0">
                          <a:solidFill>
                            <a:srgbClr val="000000"/>
                          </a:solidFill>
                          <a:effectLst/>
                          <a:latin typeface="Raleway"/>
                        </a:rPr>
                        <a:t>Case Study 1 </a:t>
                      </a:r>
                      <a:r>
                        <a:rPr lang="en-US" sz="1100" b="0" i="0" u="none" strike="noStrike" noProof="0" err="1">
                          <a:solidFill>
                            <a:srgbClr val="000000"/>
                          </a:solidFill>
                          <a:effectLst/>
                          <a:latin typeface="Raleway"/>
                        </a:rPr>
                        <a:t>kandidat</a:t>
                      </a:r>
                      <a:r>
                        <a:rPr lang="en-US" sz="1100" b="0" i="0" u="none" strike="noStrike" noProof="0">
                          <a:solidFill>
                            <a:srgbClr val="000000"/>
                          </a:solidFill>
                          <a:effectLst/>
                          <a:latin typeface="Raleway"/>
                        </a:rPr>
                        <a:t> di Week 34</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12148253"/>
                  </a:ext>
                </a:extLst>
              </a:tr>
              <a:tr h="352425">
                <a:tc>
                  <a:txBody>
                    <a:bodyPr/>
                    <a:lstStyle/>
                    <a:p>
                      <a:pPr algn="ctr" fontAlgn="ctr">
                        <a:buNone/>
                      </a:pPr>
                      <a:r>
                        <a:rPr lang="en-US" sz="1000">
                          <a:effectLst/>
                          <a:latin typeface="Raleway"/>
                        </a:rPr>
                        <a:t>2</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ctr">
                        <a:buNone/>
                      </a:pPr>
                      <a:r>
                        <a:rPr lang="en-US" sz="1000">
                          <a:effectLst/>
                          <a:latin typeface="Raleway" pitchFamily="2" charset="0"/>
                        </a:rPr>
                        <a:t>FGDP</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ctr">
                        <a:buNone/>
                      </a:pPr>
                      <a:r>
                        <a:rPr lang="en-US" sz="1000">
                          <a:effectLst/>
                          <a:latin typeface="Raleway" pitchFamily="2" charset="0"/>
                        </a:rPr>
                        <a:t>Procurement</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34</a:t>
                      </a: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19</a:t>
                      </a: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100">
                          <a:effectLst/>
                          <a:latin typeface="Raleway" pitchFamily="2" charset="0"/>
                        </a:rPr>
                        <a:t>15</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100">
                          <a:effectLst/>
                          <a:latin typeface="Raleway" pitchFamily="2" charset="0"/>
                        </a:rPr>
                        <a:t>4</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15</a:t>
                      </a: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1</a:t>
                      </a: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100">
                          <a:effectLst/>
                          <a:latin typeface="Raleway"/>
                        </a:rPr>
                        <a:t>2</a:t>
                      </a: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100">
                          <a:effectLst/>
                          <a:latin typeface="Raleway" pitchFamily="2" charset="0"/>
                        </a:rPr>
                        <a:t>1</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marL="171450" lvl="0" indent="-171450">
                        <a:buFont typeface="Calibri"/>
                        <a:buChar char="-"/>
                      </a:pPr>
                      <a:r>
                        <a:rPr lang="en-US" sz="1000" b="1" i="0" u="none" strike="noStrike" noProof="0">
                          <a:solidFill>
                            <a:srgbClr val="000000"/>
                          </a:solidFill>
                          <a:effectLst/>
                          <a:latin typeface="Raleway"/>
                        </a:rPr>
                        <a:t>Gresindah Siregar </a:t>
                      </a:r>
                      <a:r>
                        <a:rPr lang="en-US" sz="1000" b="0" i="0" u="none" strike="noStrike" noProof="0">
                          <a:solidFill>
                            <a:srgbClr val="000000"/>
                          </a:solidFill>
                          <a:effectLst/>
                          <a:latin typeface="Raleway"/>
                        </a:rPr>
                        <a:t>join date 1 Juli 2026</a:t>
                      </a:r>
                    </a:p>
                    <a:p>
                      <a:pPr marL="171450" lvl="0" indent="-171450">
                        <a:buFont typeface="Calibri"/>
                        <a:buChar char="-"/>
                      </a:pPr>
                      <a:r>
                        <a:rPr lang="en-US" sz="1000" b="0" i="0" u="none" strike="noStrike" noProof="0">
                          <a:solidFill>
                            <a:srgbClr val="000000"/>
                          </a:solidFill>
                          <a:effectLst/>
                          <a:latin typeface="Raleway"/>
                        </a:rPr>
                        <a:t>Week 32: follow up screening 30 CV </a:t>
                      </a:r>
                      <a:r>
                        <a:rPr lang="en-US" sz="1000" b="0" i="0" u="none" strike="noStrike" noProof="0" err="1">
                          <a:solidFill>
                            <a:srgbClr val="000000"/>
                          </a:solidFill>
                          <a:effectLst/>
                          <a:latin typeface="Raleway"/>
                        </a:rPr>
                        <a:t>ke</a:t>
                      </a:r>
                      <a:r>
                        <a:rPr lang="en-US" sz="1000" b="0" i="0" u="none" strike="noStrike" noProof="0">
                          <a:solidFill>
                            <a:srgbClr val="000000"/>
                          </a:solidFill>
                          <a:effectLst/>
                          <a:latin typeface="Raleway"/>
                        </a:rPr>
                        <a:t> User &amp; send 10 CVs </a:t>
                      </a:r>
                      <a:r>
                        <a:rPr lang="en-US" sz="1000" b="0" i="0" u="none" strike="noStrike" noProof="0" err="1">
                          <a:solidFill>
                            <a:srgbClr val="000000"/>
                          </a:solidFill>
                          <a:effectLst/>
                          <a:latin typeface="Raleway"/>
                        </a:rPr>
                        <a:t>baru</a:t>
                      </a:r>
                      <a:r>
                        <a:rPr lang="en-US" sz="1000" b="0" i="0" u="none" strike="noStrike" noProof="0">
                          <a:solidFill>
                            <a:srgbClr val="000000"/>
                          </a:solidFill>
                          <a:effectLst/>
                          <a:latin typeface="Raleway"/>
                        </a:rPr>
                        <a:t> </a:t>
                      </a:r>
                      <a:r>
                        <a:rPr lang="en-US" sz="1000" b="0" i="0" u="none" strike="noStrike" noProof="0" err="1">
                          <a:solidFill>
                            <a:srgbClr val="000000"/>
                          </a:solidFill>
                          <a:effectLst/>
                          <a:latin typeface="Raleway"/>
                        </a:rPr>
                        <a:t>ke</a:t>
                      </a:r>
                      <a:r>
                        <a:rPr lang="en-US" sz="1000" b="0" i="0" u="none" strike="noStrike" noProof="0">
                          <a:solidFill>
                            <a:srgbClr val="000000"/>
                          </a:solidFill>
                          <a:effectLst/>
                          <a:latin typeface="Raleway"/>
                        </a:rPr>
                        <a:t> User</a:t>
                      </a:r>
                    </a:p>
                    <a:p>
                      <a:pPr marL="171450" lvl="0" indent="-171450">
                        <a:buFont typeface="Calibri"/>
                        <a:buChar char="-"/>
                      </a:pPr>
                      <a:r>
                        <a:rPr lang="en-US" sz="1000" b="0" i="0" u="none" strike="noStrike" noProof="0">
                          <a:solidFill>
                            <a:srgbClr val="000000"/>
                          </a:solidFill>
                          <a:effectLst/>
                          <a:latin typeface="Raleway"/>
                        </a:rPr>
                        <a:t>Week 33: send 55 CVs </a:t>
                      </a:r>
                      <a:r>
                        <a:rPr lang="en-US" sz="1000" b="0" i="0" u="none" strike="noStrike" noProof="0" err="1">
                          <a:solidFill>
                            <a:srgbClr val="000000"/>
                          </a:solidFill>
                          <a:effectLst/>
                          <a:latin typeface="Raleway"/>
                        </a:rPr>
                        <a:t>ke</a:t>
                      </a:r>
                      <a:r>
                        <a:rPr lang="en-US" sz="1000" b="0" i="0" u="none" strike="noStrike" noProof="0">
                          <a:solidFill>
                            <a:srgbClr val="000000"/>
                          </a:solidFill>
                          <a:effectLst/>
                          <a:latin typeface="Raleway"/>
                        </a:rPr>
                        <a:t> User</a:t>
                      </a:r>
                    </a:p>
                    <a:p>
                      <a:pPr marL="0" lvl="0" indent="0">
                        <a:buNone/>
                      </a:pPr>
                      <a:endParaRPr lang="en-US" sz="1000" b="0" i="0" u="none" strike="noStrike" noProof="0">
                        <a:solidFill>
                          <a:srgbClr val="000000"/>
                        </a:solidFill>
                        <a:effectLst/>
                        <a:latin typeface="Raleway"/>
                      </a:endParaRPr>
                    </a:p>
                    <a:p>
                      <a:pPr lvl="0">
                        <a:buNone/>
                      </a:pPr>
                      <a:r>
                        <a:rPr lang="en-US" sz="1000" b="1" i="0" u="none" strike="noStrike" noProof="0">
                          <a:solidFill>
                            <a:srgbClr val="000000"/>
                          </a:solidFill>
                          <a:effectLst/>
                          <a:latin typeface="Raleway"/>
                        </a:rPr>
                        <a:t>Next Action:</a:t>
                      </a:r>
                      <a:r>
                        <a:rPr lang="en-US" sz="1000" b="0" i="0" u="none" strike="noStrike" noProof="0">
                          <a:solidFill>
                            <a:srgbClr val="000000"/>
                          </a:solidFill>
                          <a:effectLst/>
                          <a:latin typeface="Raleway"/>
                        </a:rPr>
                        <a:t> </a:t>
                      </a:r>
                    </a:p>
                    <a:p>
                      <a:pPr marL="171450" lvl="0" indent="-171450">
                        <a:buClr>
                          <a:srgbClr val="000000"/>
                        </a:buClr>
                        <a:buFont typeface="Calibri"/>
                        <a:buChar char="-"/>
                      </a:pPr>
                      <a:r>
                        <a:rPr lang="en-US" sz="1000" b="0" i="0" u="none" strike="noStrike" noProof="0">
                          <a:solidFill>
                            <a:srgbClr val="000000"/>
                          </a:solidFill>
                          <a:effectLst/>
                          <a:latin typeface="Raleway"/>
                        </a:rPr>
                        <a:t>Follow up </a:t>
                      </a:r>
                      <a:r>
                        <a:rPr lang="en-US" sz="1000" b="0" i="0" u="none" strike="noStrike" noProof="0" err="1">
                          <a:solidFill>
                            <a:srgbClr val="000000"/>
                          </a:solidFill>
                          <a:effectLst/>
                          <a:latin typeface="Raleway"/>
                        </a:rPr>
                        <a:t>hasil</a:t>
                      </a:r>
                      <a:r>
                        <a:rPr lang="en-US" sz="1000" b="0" i="0" u="none" strike="noStrike" noProof="0">
                          <a:solidFill>
                            <a:srgbClr val="000000"/>
                          </a:solidFill>
                          <a:effectLst/>
                          <a:latin typeface="Raleway"/>
                        </a:rPr>
                        <a:t> screening User di Week 34</a:t>
                      </a:r>
                    </a:p>
                    <a:p>
                      <a:pPr marL="171450" lvl="0" indent="-171450">
                        <a:buClr>
                          <a:srgbClr val="000000"/>
                        </a:buClr>
                        <a:buFont typeface="Calibri"/>
                        <a:buChar char="-"/>
                      </a:pPr>
                      <a:r>
                        <a:rPr lang="en-US" sz="1000" b="0" i="0" u="none" strike="noStrike" noProof="0">
                          <a:solidFill>
                            <a:srgbClr val="000000"/>
                          </a:solidFill>
                          <a:effectLst/>
                          <a:latin typeface="Raleway"/>
                        </a:rPr>
                        <a:t>Follow up User </a:t>
                      </a:r>
                      <a:r>
                        <a:rPr lang="en-US" sz="1000" b="0" i="0" u="none" strike="noStrike" noProof="0" err="1">
                          <a:solidFill>
                            <a:srgbClr val="000000"/>
                          </a:solidFill>
                          <a:effectLst/>
                          <a:latin typeface="Raleway"/>
                        </a:rPr>
                        <a:t>terkait</a:t>
                      </a:r>
                      <a:r>
                        <a:rPr lang="en-US" sz="1000" b="0" i="0" u="none" strike="noStrike" noProof="0">
                          <a:solidFill>
                            <a:srgbClr val="000000"/>
                          </a:solidFill>
                          <a:effectLst/>
                          <a:latin typeface="Raleway"/>
                        </a:rPr>
                        <a:t> Case Study di Week 34</a:t>
                      </a:r>
                      <a:endParaRPr lang="en-US"/>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92811257"/>
                  </a:ext>
                </a:extLst>
              </a:tr>
              <a:tr h="489857">
                <a:tc>
                  <a:txBody>
                    <a:bodyPr/>
                    <a:lstStyle/>
                    <a:p>
                      <a:pPr algn="ctr" fontAlgn="ctr">
                        <a:buNone/>
                      </a:pPr>
                      <a:r>
                        <a:rPr lang="en-US" sz="1000">
                          <a:effectLst/>
                          <a:latin typeface="Raleway"/>
                        </a:rPr>
                        <a:t>3</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ctr">
                        <a:buNone/>
                      </a:pPr>
                      <a:r>
                        <a:rPr lang="en-US" sz="1000">
                          <a:effectLst/>
                          <a:latin typeface="Raleway" pitchFamily="2" charset="0"/>
                        </a:rPr>
                        <a:t>FGDP</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ctr">
                        <a:buNone/>
                      </a:pPr>
                      <a:r>
                        <a:rPr lang="en-US" sz="1000">
                          <a:effectLst/>
                          <a:latin typeface="Raleway" pitchFamily="2" charset="0"/>
                        </a:rPr>
                        <a:t>HR Development</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57</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32</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25</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16</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100">
                          <a:effectLst/>
                          <a:latin typeface="Raleway"/>
                        </a:rPr>
                        <a:t>11</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100">
                          <a:effectLst/>
                          <a:latin typeface="Raleway"/>
                        </a:rPr>
                        <a:t>1</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9</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100">
                          <a:effectLst/>
                          <a:latin typeface="Raleway"/>
                        </a:rPr>
                        <a:t>1</a:t>
                      </a: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marL="0" lvl="0" indent="0" algn="l">
                        <a:lnSpc>
                          <a:spcPct val="100000"/>
                        </a:lnSpc>
                        <a:spcBef>
                          <a:spcPts val="0"/>
                        </a:spcBef>
                        <a:spcAft>
                          <a:spcPts val="0"/>
                        </a:spcAft>
                        <a:buNone/>
                      </a:pPr>
                      <a:r>
                        <a:rPr lang="en-US" sz="1000" b="1" i="0" u="none" strike="noStrike" noProof="0">
                          <a:solidFill>
                            <a:srgbClr val="000000"/>
                          </a:solidFill>
                          <a:effectLst/>
                          <a:latin typeface="Raleway"/>
                        </a:rPr>
                        <a:t>Valendra Eril Erginansya</a:t>
                      </a:r>
                      <a:r>
                        <a:rPr lang="en-US" sz="1000" b="0" i="0" u="none" strike="noStrike" noProof="0">
                          <a:solidFill>
                            <a:srgbClr val="000000"/>
                          </a:solidFill>
                          <a:effectLst/>
                          <a:latin typeface="Raleway"/>
                        </a:rPr>
                        <a:t> join date 10 Agustus 2026</a:t>
                      </a:r>
                      <a:endParaRPr lang="en-US"/>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68883501"/>
                  </a:ext>
                </a:extLst>
              </a:tr>
              <a:tr h="489857">
                <a:tc>
                  <a:txBody>
                    <a:bodyPr/>
                    <a:lstStyle/>
                    <a:p>
                      <a:pPr algn="ctr" fontAlgn="ctr">
                        <a:buNone/>
                      </a:pPr>
                      <a:r>
                        <a:rPr lang="en-US" sz="1000">
                          <a:effectLst/>
                          <a:latin typeface="Raleway"/>
                        </a:rPr>
                        <a:t>4</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ctr">
                        <a:buNone/>
                      </a:pPr>
                      <a:r>
                        <a:rPr lang="en-US" sz="1000">
                          <a:effectLst/>
                          <a:latin typeface="Raleway" pitchFamily="2" charset="0"/>
                        </a:rPr>
                        <a:t>FGDP</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ctr">
                        <a:buNone/>
                      </a:pPr>
                      <a:r>
                        <a:rPr lang="en-US" sz="1000">
                          <a:effectLst/>
                          <a:latin typeface="Raleway" pitchFamily="2" charset="0"/>
                        </a:rPr>
                        <a:t>Business Development</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19</a:t>
                      </a: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10</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100">
                          <a:effectLst/>
                          <a:latin typeface="Raleway" pitchFamily="2" charset="0"/>
                        </a:rPr>
                        <a:t>7</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100">
                          <a:effectLst/>
                          <a:latin typeface="Raleway" pitchFamily="2" charset="0"/>
                        </a:rPr>
                        <a:t>2</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100">
                          <a:effectLst/>
                          <a:latin typeface="Raleway" pitchFamily="2" charset="0"/>
                        </a:rPr>
                        <a:t>1</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8</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1</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1</a:t>
                      </a: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marL="0" lvl="0" indent="0" algn="l">
                        <a:lnSpc>
                          <a:spcPct val="100000"/>
                        </a:lnSpc>
                        <a:spcBef>
                          <a:spcPts val="0"/>
                        </a:spcBef>
                        <a:spcAft>
                          <a:spcPts val="0"/>
                        </a:spcAft>
                        <a:buClr>
                          <a:srgbClr val="000000"/>
                        </a:buClr>
                        <a:buNone/>
                      </a:pPr>
                      <a:r>
                        <a:rPr lang="en-US" sz="1000" b="1" i="0" u="none" strike="noStrike" noProof="0">
                          <a:solidFill>
                            <a:srgbClr val="000000"/>
                          </a:solidFill>
                          <a:effectLst/>
                          <a:latin typeface="Raleway"/>
                        </a:rPr>
                        <a:t>Irham Maulana Andhim </a:t>
                      </a:r>
                      <a:r>
                        <a:rPr lang="en-US" sz="1000" b="0" i="0" u="none" strike="noStrike" noProof="0">
                          <a:solidFill>
                            <a:srgbClr val="000000"/>
                          </a:solidFill>
                          <a:effectLst/>
                          <a:latin typeface="Raleway"/>
                        </a:rPr>
                        <a:t>join date 10 Agustus 2026</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12126047"/>
                  </a:ext>
                </a:extLst>
              </a:tr>
              <a:tr h="780142">
                <a:tc>
                  <a:txBody>
                    <a:bodyPr/>
                    <a:lstStyle/>
                    <a:p>
                      <a:pPr algn="ctr" fontAlgn="ctr">
                        <a:buNone/>
                      </a:pPr>
                      <a:r>
                        <a:rPr lang="en-US" sz="1000">
                          <a:effectLst/>
                          <a:latin typeface="Raleway"/>
                        </a:rPr>
                        <a:t>5</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tc>
                  <a:txBody>
                    <a:bodyPr/>
                    <a:lstStyle/>
                    <a:p>
                      <a:pPr fontAlgn="ctr">
                        <a:buNone/>
                      </a:pPr>
                      <a:r>
                        <a:rPr lang="en-US" sz="1000">
                          <a:effectLst/>
                          <a:latin typeface="Raleway" pitchFamily="2" charset="0"/>
                        </a:rPr>
                        <a:t>FGDP</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tc>
                  <a:txBody>
                    <a:bodyPr/>
                    <a:lstStyle/>
                    <a:p>
                      <a:pPr fontAlgn="ctr">
                        <a:buNone/>
                      </a:pPr>
                      <a:r>
                        <a:rPr lang="en-US" sz="1000">
                          <a:effectLst/>
                          <a:latin typeface="Raleway" pitchFamily="2" charset="0"/>
                        </a:rPr>
                        <a:t>Modern Trade</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tc>
                  <a:txBody>
                    <a:bodyPr/>
                    <a:lstStyle/>
                    <a:p>
                      <a:pPr algn="ctr" fontAlgn="ctr">
                        <a:buNone/>
                      </a:pPr>
                      <a:r>
                        <a:rPr lang="en-US" sz="1100">
                          <a:effectLst/>
                          <a:latin typeface="Raleway"/>
                        </a:rPr>
                        <a:t>11</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tc>
                  <a:txBody>
                    <a:bodyPr/>
                    <a:lstStyle/>
                    <a:p>
                      <a:pPr algn="ctr" fontAlgn="ctr">
                        <a:buNone/>
                      </a:pPr>
                      <a:r>
                        <a:rPr lang="en-US" sz="1100">
                          <a:effectLst/>
                          <a:latin typeface="Raleway"/>
                        </a:rPr>
                        <a:t>10</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tc>
                  <a:txBody>
                    <a:bodyPr/>
                    <a:lstStyle/>
                    <a:p>
                      <a:pPr algn="ctr" fontAlgn="ctr">
                        <a:buNone/>
                      </a:pPr>
                      <a:r>
                        <a:rPr lang="en-US" sz="1100">
                          <a:effectLst/>
                          <a:latin typeface="Raleway"/>
                        </a:rPr>
                        <a:t>1</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tc>
                  <a:txBody>
                    <a:bodyPr/>
                    <a:lstStyle/>
                    <a:p>
                      <a:pPr algn="ctr" fontAlgn="ctr">
                        <a:buNone/>
                      </a:pPr>
                      <a:r>
                        <a:rPr lang="en-US" sz="1100">
                          <a:effectLst/>
                          <a:latin typeface="Raleway"/>
                        </a:rPr>
                        <a:t>9</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solidFill>
                      <a:srgbClr val="DAE9F8"/>
                    </a:solidFill>
                  </a:tcPr>
                </a:tc>
                <a:tc>
                  <a:txBody>
                    <a:bodyPr/>
                    <a:lstStyle/>
                    <a:p>
                      <a:pPr algn="ctr" fontAlgn="ctr">
                        <a:buNone/>
                      </a:pPr>
                      <a:r>
                        <a:rPr lang="en-US" sz="1100">
                          <a:effectLst/>
                          <a:latin typeface="Raleway"/>
                        </a:rPr>
                        <a:t>1</a:t>
                      </a: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solidFill>
                      <a:srgbClr val="DAE9F8"/>
                    </a:solidFill>
                  </a:tcPr>
                </a:tc>
                <a:tc>
                  <a:txBody>
                    <a:bodyPr/>
                    <a:lstStyle/>
                    <a:p>
                      <a:pPr algn="ctr" fontAlgn="ctr">
                        <a:buNone/>
                      </a:pPr>
                      <a:r>
                        <a:rPr lang="en-US" sz="1100">
                          <a:effectLst/>
                          <a:latin typeface="Raleway" pitchFamily="2" charset="0"/>
                        </a:rPr>
                        <a:t>1</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tc>
                  <a:txBody>
                    <a:bodyPr/>
                    <a:lstStyle/>
                    <a:p>
                      <a:pPr algn="ctr" fontAlgn="ctr">
                        <a:buNone/>
                      </a:pPr>
                      <a:r>
                        <a:rPr lang="en-US" sz="1100">
                          <a:effectLst/>
                          <a:latin typeface="Raleway"/>
                        </a:rPr>
                        <a:t>6</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tc>
                  <a:txBody>
                    <a:bodyPr/>
                    <a:lstStyle/>
                    <a:p>
                      <a:pPr algn="ctr" fontAlgn="ctr">
                        <a:buNone/>
                      </a:pPr>
                      <a:endParaRPr lang="en-US" sz="11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tc>
                  <a:txBody>
                    <a:bodyPr/>
                    <a:lstStyle/>
                    <a:p>
                      <a:pPr algn="ctr" fontAlgn="ctr">
                        <a:buNone/>
                      </a:pPr>
                      <a:r>
                        <a:rPr lang="en-US" sz="1100">
                          <a:effectLst/>
                          <a:latin typeface="Raleway"/>
                        </a:rPr>
                        <a:t>1</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solidFill>
                      <a:srgbClr val="DAE9F8"/>
                    </a:solidFill>
                  </a:tcPr>
                </a:tc>
                <a:tc>
                  <a:txBody>
                    <a:bodyPr/>
                    <a:lstStyle/>
                    <a:p>
                      <a:pPr marL="171450" lvl="0" indent="-171450" algn="l">
                        <a:buClr>
                          <a:srgbClr val="000000"/>
                        </a:buClr>
                        <a:buFont typeface="Calibri"/>
                        <a:buChar char="-"/>
                      </a:pPr>
                      <a:r>
                        <a:rPr lang="en-US" sz="1000" b="0" i="0" u="none" strike="noStrike" noProof="0">
                          <a:solidFill>
                            <a:srgbClr val="000000"/>
                          </a:solidFill>
                          <a:effectLst/>
                          <a:latin typeface="Raleway"/>
                        </a:rPr>
                        <a:t>Week 32:  Send 20 CVs </a:t>
                      </a:r>
                      <a:r>
                        <a:rPr lang="en-US" sz="1000" b="0" i="0" u="none" strike="noStrike" noProof="0" err="1">
                          <a:solidFill>
                            <a:srgbClr val="000000"/>
                          </a:solidFill>
                          <a:effectLst/>
                          <a:latin typeface="Raleway"/>
                        </a:rPr>
                        <a:t>baru</a:t>
                      </a:r>
                      <a:r>
                        <a:rPr lang="en-US" sz="1000" b="0" i="0" u="none" strike="noStrike" noProof="0">
                          <a:solidFill>
                            <a:srgbClr val="000000"/>
                          </a:solidFill>
                          <a:effectLst/>
                          <a:latin typeface="Raleway"/>
                        </a:rPr>
                        <a:t> </a:t>
                      </a:r>
                      <a:r>
                        <a:rPr lang="en-US" sz="1000" b="0" i="0" u="none" strike="noStrike" noProof="0" err="1">
                          <a:solidFill>
                            <a:srgbClr val="000000"/>
                          </a:solidFill>
                          <a:effectLst/>
                          <a:latin typeface="Raleway"/>
                        </a:rPr>
                        <a:t>ke</a:t>
                      </a:r>
                      <a:r>
                        <a:rPr lang="en-US" sz="1000" b="0" i="0" u="none" strike="noStrike" noProof="0">
                          <a:solidFill>
                            <a:srgbClr val="000000"/>
                          </a:solidFill>
                          <a:effectLst/>
                          <a:latin typeface="Raleway"/>
                        </a:rPr>
                        <a:t> User</a:t>
                      </a:r>
                      <a:endParaRPr lang="en-US"/>
                    </a:p>
                    <a:p>
                      <a:pPr marL="171450" lvl="0" indent="-171450" algn="l">
                        <a:buClr>
                          <a:srgbClr val="000000"/>
                        </a:buClr>
                        <a:buFont typeface="Calibri"/>
                        <a:buChar char="-"/>
                      </a:pPr>
                      <a:r>
                        <a:rPr lang="en-US" sz="1000" b="0" i="0" u="none" strike="noStrike" noProof="0">
                          <a:solidFill>
                            <a:srgbClr val="000000"/>
                          </a:solidFill>
                          <a:effectLst/>
                          <a:latin typeface="Raleway"/>
                        </a:rPr>
                        <a:t>Send 10 CVs di Week 33</a:t>
                      </a:r>
                    </a:p>
                    <a:p>
                      <a:pPr marL="171450" lvl="0" indent="-171450" algn="l">
                        <a:buClr>
                          <a:srgbClr val="000000"/>
                        </a:buClr>
                        <a:buFont typeface="Calibri"/>
                        <a:buChar char="-"/>
                      </a:pPr>
                      <a:r>
                        <a:rPr lang="en-US" sz="1000" b="0" i="0" u="none" strike="noStrike" noProof="0">
                          <a:solidFill>
                            <a:srgbClr val="000000"/>
                          </a:solidFill>
                          <a:effectLst/>
                          <a:latin typeface="Raleway"/>
                        </a:rPr>
                        <a:t>Case Study 1 </a:t>
                      </a:r>
                      <a:r>
                        <a:rPr lang="en-US" sz="1000" b="0" i="0" u="none" strike="noStrike" noProof="0" err="1">
                          <a:solidFill>
                            <a:srgbClr val="000000"/>
                          </a:solidFill>
                          <a:effectLst/>
                          <a:latin typeface="Raleway"/>
                        </a:rPr>
                        <a:t>kandidat</a:t>
                      </a:r>
                      <a:r>
                        <a:rPr lang="en-US" sz="1000" b="0" i="0" u="none" strike="noStrike" noProof="0">
                          <a:solidFill>
                            <a:srgbClr val="000000"/>
                          </a:solidFill>
                          <a:effectLst/>
                          <a:latin typeface="Raleway"/>
                        </a:rPr>
                        <a:t> di Week 33</a:t>
                      </a:r>
                    </a:p>
                    <a:p>
                      <a:pPr marL="0" lvl="0" indent="0" algn="l">
                        <a:buClr>
                          <a:srgbClr val="000000"/>
                        </a:buClr>
                        <a:buNone/>
                      </a:pPr>
                      <a:endParaRPr lang="en-US" sz="1000" b="1" i="0" u="none" strike="noStrike" noProof="0">
                        <a:solidFill>
                          <a:srgbClr val="000000"/>
                        </a:solidFill>
                        <a:effectLst/>
                        <a:latin typeface="Raleway"/>
                      </a:endParaRPr>
                    </a:p>
                    <a:p>
                      <a:pPr marL="0" lvl="0" indent="0" algn="l">
                        <a:buNone/>
                      </a:pPr>
                      <a:r>
                        <a:rPr lang="en-US" sz="1000" b="1" i="0" u="none" strike="noStrike" noProof="0">
                          <a:solidFill>
                            <a:srgbClr val="000000"/>
                          </a:solidFill>
                          <a:effectLst/>
                          <a:latin typeface="Raleway"/>
                        </a:rPr>
                        <a:t>Next Action:</a:t>
                      </a:r>
                      <a:endParaRPr lang="en-US" sz="1000" b="0" i="0" u="none" strike="noStrike" noProof="0">
                        <a:solidFill>
                          <a:srgbClr val="000000"/>
                        </a:solidFill>
                        <a:effectLst/>
                        <a:latin typeface="Raleway"/>
                      </a:endParaRPr>
                    </a:p>
                    <a:p>
                      <a:pPr marL="0" lvl="0" indent="0" algn="l">
                        <a:buClr>
                          <a:srgbClr val="000000"/>
                        </a:buClr>
                        <a:buNone/>
                      </a:pPr>
                      <a:r>
                        <a:rPr lang="en-US" sz="1000" b="0" i="0" u="none" strike="noStrike" noProof="0">
                          <a:solidFill>
                            <a:srgbClr val="000000"/>
                          </a:solidFill>
                          <a:effectLst/>
                          <a:latin typeface="Raleway"/>
                        </a:rPr>
                        <a:t>User Interview 1 </a:t>
                      </a:r>
                      <a:r>
                        <a:rPr lang="en-US" sz="1000" b="0" i="0" u="none" strike="noStrike" noProof="0" err="1">
                          <a:solidFill>
                            <a:srgbClr val="000000"/>
                          </a:solidFill>
                          <a:effectLst/>
                          <a:latin typeface="Raleway"/>
                        </a:rPr>
                        <a:t>kandidat</a:t>
                      </a:r>
                      <a:r>
                        <a:rPr lang="en-US" sz="1000" b="0" i="0" u="none" strike="noStrike" noProof="0">
                          <a:solidFill>
                            <a:srgbClr val="000000"/>
                          </a:solidFill>
                          <a:effectLst/>
                          <a:latin typeface="Raleway"/>
                        </a:rPr>
                        <a:t> di Week 34</a:t>
                      </a:r>
                      <a:endParaRPr lang="en-US" sz="1000"/>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a:solidFill>
                        <a:schemeClr val="tx1"/>
                      </a:solidFill>
                    </a:lnB>
                    <a:noFill/>
                  </a:tcPr>
                </a:tc>
                <a:extLst>
                  <a:ext uri="{0D108BD9-81ED-4DB2-BD59-A6C34878D82A}">
                    <a16:rowId xmlns:a16="http://schemas.microsoft.com/office/drawing/2014/main" val="4282943148"/>
                  </a:ext>
                </a:extLst>
              </a:tr>
            </a:tbl>
          </a:graphicData>
        </a:graphic>
      </p:graphicFrame>
    </p:spTree>
    <p:extLst>
      <p:ext uri="{BB962C8B-B14F-4D97-AF65-F5344CB8AC3E}">
        <p14:creationId xmlns:p14="http://schemas.microsoft.com/office/powerpoint/2010/main" val="1692529528"/>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2B9130-2520-527C-1CA1-C3E0C6433C64}"/>
            </a:ext>
          </a:extLst>
        </p:cNvPr>
        <p:cNvGrpSpPr/>
        <p:nvPr/>
      </p:nvGrpSpPr>
      <p:grpSpPr>
        <a:xfrm>
          <a:off x="0" y="0"/>
          <a:ext cx="0" cy="0"/>
          <a:chOff x="0" y="0"/>
          <a:chExt cx="0" cy="0"/>
        </a:xfrm>
      </p:grpSpPr>
      <p:sp>
        <p:nvSpPr>
          <p:cNvPr id="3" name="Text 1">
            <a:extLst>
              <a:ext uri="{FF2B5EF4-FFF2-40B4-BE49-F238E27FC236}">
                <a16:creationId xmlns:a16="http://schemas.microsoft.com/office/drawing/2014/main" id="{9A868E04-94D6-87A3-5245-38C1DE80EDAE}"/>
              </a:ext>
            </a:extLst>
          </p:cNvPr>
          <p:cNvSpPr/>
          <p:nvPr/>
        </p:nvSpPr>
        <p:spPr>
          <a:xfrm>
            <a:off x="237744" y="451730"/>
            <a:ext cx="9144000" cy="400780"/>
          </a:xfrm>
          <a:prstGeom prst="rect">
            <a:avLst/>
          </a:prstGeom>
          <a:noFill/>
          <a:ln/>
        </p:spPr>
        <p:txBody>
          <a:bodyPr wrap="square" lIns="0" tIns="0" rIns="0" bIns="0" rtlCol="0" anchor="ctr"/>
          <a:lstStyle>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en-US" sz="2133" b="1" i="0" u="none" strike="noStrike" kern="1200" cap="none" spc="0" normalizeH="0" baseline="0" noProof="0">
                <a:ln>
                  <a:noFill/>
                </a:ln>
                <a:solidFill>
                  <a:srgbClr val="C00000"/>
                </a:solidFill>
                <a:effectLst/>
                <a:uLnTx/>
                <a:uFillTx/>
                <a:latin typeface="Raleway"/>
                <a:ea typeface="+mn-ea"/>
                <a:cs typeface="+mn-cs"/>
              </a:rPr>
              <a:t>FGDP</a:t>
            </a:r>
            <a:r>
              <a:rPr kumimoji="0" lang="en-US" sz="2133" b="1" i="0" u="none" strike="noStrike" kern="1200" cap="none" spc="0" normalizeH="0" baseline="0" noProof="0">
                <a:ln>
                  <a:noFill/>
                </a:ln>
                <a:solidFill>
                  <a:srgbClr val="002060"/>
                </a:solidFill>
                <a:effectLst/>
                <a:uLnTx/>
                <a:uFillTx/>
                <a:latin typeface="Raleway"/>
                <a:ea typeface="+mn-ea"/>
                <a:cs typeface="+mn-cs"/>
              </a:rPr>
              <a:t> - PIPELINE KANDIDAT AKTIF / SEDANG DIPROSE</a:t>
            </a:r>
            <a:r>
              <a:rPr lang="en-US" sz="2133" b="1">
                <a:solidFill>
                  <a:srgbClr val="002060"/>
                </a:solidFill>
                <a:latin typeface="Raleway"/>
              </a:rPr>
              <a:t>S</a:t>
            </a:r>
            <a:endParaRPr kumimoji="0" lang="en-US" sz="2133" b="0" i="0" u="none" strike="noStrike" kern="1200" cap="none" spc="0" normalizeH="0" baseline="0" noProof="0">
              <a:ln>
                <a:noFill/>
              </a:ln>
              <a:solidFill>
                <a:srgbClr val="002060"/>
              </a:solidFill>
              <a:effectLst/>
              <a:uLnTx/>
              <a:uFillTx/>
              <a:latin typeface="Raleway"/>
              <a:ea typeface="+mn-ea"/>
              <a:cs typeface="+mn-cs"/>
            </a:endParaRPr>
          </a:p>
        </p:txBody>
      </p:sp>
      <p:graphicFrame>
        <p:nvGraphicFramePr>
          <p:cNvPr id="7" name="tabelfgdp2">
            <a:extLst>
              <a:ext uri="{FF2B5EF4-FFF2-40B4-BE49-F238E27FC236}">
                <a16:creationId xmlns:a16="http://schemas.microsoft.com/office/drawing/2014/main" id="{03422E4B-98C8-64E3-0114-1C9940CB7598}"/>
              </a:ext>
            </a:extLst>
          </p:cNvPr>
          <p:cNvGraphicFramePr>
            <a:graphicFrameLocks noGrp="1"/>
          </p:cNvGraphicFramePr>
          <p:nvPr>
            <p:extLst>
              <p:ext uri="{D42A27DB-BD31-4B8C-83A1-F6EECF244321}">
                <p14:modId xmlns:p14="http://schemas.microsoft.com/office/powerpoint/2010/main" val="996614933"/>
              </p:ext>
            </p:extLst>
          </p:nvPr>
        </p:nvGraphicFramePr>
        <p:xfrm>
          <a:off x="232475" y="999388"/>
          <a:ext cx="11683980" cy="5816598"/>
        </p:xfrm>
        <a:graphic>
          <a:graphicData uri="http://schemas.openxmlformats.org/drawingml/2006/table">
            <a:tbl>
              <a:tblPr bandRow="1">
                <a:tableStyleId>{5C22544A-7EE6-4342-B048-85BDC9FD1C3A}</a:tableStyleId>
              </a:tblPr>
              <a:tblGrid>
                <a:gridCol w="326571">
                  <a:extLst>
                    <a:ext uri="{9D8B030D-6E8A-4147-A177-3AD203B41FA5}">
                      <a16:colId xmlns:a16="http://schemas.microsoft.com/office/drawing/2014/main" val="3872568240"/>
                    </a:ext>
                  </a:extLst>
                </a:gridCol>
                <a:gridCol w="435428">
                  <a:extLst>
                    <a:ext uri="{9D8B030D-6E8A-4147-A177-3AD203B41FA5}">
                      <a16:colId xmlns:a16="http://schemas.microsoft.com/office/drawing/2014/main" val="2011079274"/>
                    </a:ext>
                  </a:extLst>
                </a:gridCol>
                <a:gridCol w="780142">
                  <a:extLst>
                    <a:ext uri="{9D8B030D-6E8A-4147-A177-3AD203B41FA5}">
                      <a16:colId xmlns:a16="http://schemas.microsoft.com/office/drawing/2014/main" val="1430042495"/>
                    </a:ext>
                  </a:extLst>
                </a:gridCol>
                <a:gridCol w="598714">
                  <a:extLst>
                    <a:ext uri="{9D8B030D-6E8A-4147-A177-3AD203B41FA5}">
                      <a16:colId xmlns:a16="http://schemas.microsoft.com/office/drawing/2014/main" val="179362139"/>
                    </a:ext>
                  </a:extLst>
                </a:gridCol>
                <a:gridCol w="308427">
                  <a:extLst>
                    <a:ext uri="{9D8B030D-6E8A-4147-A177-3AD203B41FA5}">
                      <a16:colId xmlns:a16="http://schemas.microsoft.com/office/drawing/2014/main" val="2619086216"/>
                    </a:ext>
                  </a:extLst>
                </a:gridCol>
                <a:gridCol w="380999">
                  <a:extLst>
                    <a:ext uri="{9D8B030D-6E8A-4147-A177-3AD203B41FA5}">
                      <a16:colId xmlns:a16="http://schemas.microsoft.com/office/drawing/2014/main" val="1202409151"/>
                    </a:ext>
                  </a:extLst>
                </a:gridCol>
                <a:gridCol w="380999">
                  <a:extLst>
                    <a:ext uri="{9D8B030D-6E8A-4147-A177-3AD203B41FA5}">
                      <a16:colId xmlns:a16="http://schemas.microsoft.com/office/drawing/2014/main" val="1441958134"/>
                    </a:ext>
                  </a:extLst>
                </a:gridCol>
                <a:gridCol w="380999">
                  <a:extLst>
                    <a:ext uri="{9D8B030D-6E8A-4147-A177-3AD203B41FA5}">
                      <a16:colId xmlns:a16="http://schemas.microsoft.com/office/drawing/2014/main" val="1188688451"/>
                    </a:ext>
                  </a:extLst>
                </a:gridCol>
                <a:gridCol w="362857">
                  <a:extLst>
                    <a:ext uri="{9D8B030D-6E8A-4147-A177-3AD203B41FA5}">
                      <a16:colId xmlns:a16="http://schemas.microsoft.com/office/drawing/2014/main" val="1422484937"/>
                    </a:ext>
                  </a:extLst>
                </a:gridCol>
                <a:gridCol w="344714">
                  <a:extLst>
                    <a:ext uri="{9D8B030D-6E8A-4147-A177-3AD203B41FA5}">
                      <a16:colId xmlns:a16="http://schemas.microsoft.com/office/drawing/2014/main" val="410774502"/>
                    </a:ext>
                  </a:extLst>
                </a:gridCol>
                <a:gridCol w="362857">
                  <a:extLst>
                    <a:ext uri="{9D8B030D-6E8A-4147-A177-3AD203B41FA5}">
                      <a16:colId xmlns:a16="http://schemas.microsoft.com/office/drawing/2014/main" val="2733527372"/>
                    </a:ext>
                  </a:extLst>
                </a:gridCol>
                <a:gridCol w="417284">
                  <a:extLst>
                    <a:ext uri="{9D8B030D-6E8A-4147-A177-3AD203B41FA5}">
                      <a16:colId xmlns:a16="http://schemas.microsoft.com/office/drawing/2014/main" val="1206014172"/>
                    </a:ext>
                  </a:extLst>
                </a:gridCol>
                <a:gridCol w="380999">
                  <a:extLst>
                    <a:ext uri="{9D8B030D-6E8A-4147-A177-3AD203B41FA5}">
                      <a16:colId xmlns:a16="http://schemas.microsoft.com/office/drawing/2014/main" val="922713615"/>
                    </a:ext>
                  </a:extLst>
                </a:gridCol>
                <a:gridCol w="399141">
                  <a:extLst>
                    <a:ext uri="{9D8B030D-6E8A-4147-A177-3AD203B41FA5}">
                      <a16:colId xmlns:a16="http://schemas.microsoft.com/office/drawing/2014/main" val="1183674794"/>
                    </a:ext>
                  </a:extLst>
                </a:gridCol>
                <a:gridCol w="380999">
                  <a:extLst>
                    <a:ext uri="{9D8B030D-6E8A-4147-A177-3AD203B41FA5}">
                      <a16:colId xmlns:a16="http://schemas.microsoft.com/office/drawing/2014/main" val="3059119441"/>
                    </a:ext>
                  </a:extLst>
                </a:gridCol>
                <a:gridCol w="399141">
                  <a:extLst>
                    <a:ext uri="{9D8B030D-6E8A-4147-A177-3AD203B41FA5}">
                      <a16:colId xmlns:a16="http://schemas.microsoft.com/office/drawing/2014/main" val="4136964253"/>
                    </a:ext>
                  </a:extLst>
                </a:gridCol>
                <a:gridCol w="362857">
                  <a:extLst>
                    <a:ext uri="{9D8B030D-6E8A-4147-A177-3AD203B41FA5}">
                      <a16:colId xmlns:a16="http://schemas.microsoft.com/office/drawing/2014/main" val="3117603993"/>
                    </a:ext>
                  </a:extLst>
                </a:gridCol>
                <a:gridCol w="417284">
                  <a:extLst>
                    <a:ext uri="{9D8B030D-6E8A-4147-A177-3AD203B41FA5}">
                      <a16:colId xmlns:a16="http://schemas.microsoft.com/office/drawing/2014/main" val="3982124992"/>
                    </a:ext>
                  </a:extLst>
                </a:gridCol>
                <a:gridCol w="380999">
                  <a:extLst>
                    <a:ext uri="{9D8B030D-6E8A-4147-A177-3AD203B41FA5}">
                      <a16:colId xmlns:a16="http://schemas.microsoft.com/office/drawing/2014/main" val="951223361"/>
                    </a:ext>
                  </a:extLst>
                </a:gridCol>
                <a:gridCol w="417284">
                  <a:extLst>
                    <a:ext uri="{9D8B030D-6E8A-4147-A177-3AD203B41FA5}">
                      <a16:colId xmlns:a16="http://schemas.microsoft.com/office/drawing/2014/main" val="3256536989"/>
                    </a:ext>
                  </a:extLst>
                </a:gridCol>
                <a:gridCol w="3465285">
                  <a:extLst>
                    <a:ext uri="{9D8B030D-6E8A-4147-A177-3AD203B41FA5}">
                      <a16:colId xmlns:a16="http://schemas.microsoft.com/office/drawing/2014/main" val="3659943891"/>
                    </a:ext>
                  </a:extLst>
                </a:gridCol>
              </a:tblGrid>
              <a:tr h="200025">
                <a:tc rowSpan="2">
                  <a:txBody>
                    <a:bodyPr/>
                    <a:lstStyle/>
                    <a:p>
                      <a:pPr algn="ctr" fontAlgn="ctr">
                        <a:buNone/>
                      </a:pPr>
                      <a:r>
                        <a:rPr lang="en-US" sz="1000" b="1">
                          <a:solidFill>
                            <a:srgbClr val="FFFFFF"/>
                          </a:solidFill>
                          <a:effectLst/>
                          <a:latin typeface="Raleway" pitchFamily="2" charset="0"/>
                        </a:rPr>
                        <a:t>No.</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rowSpan="2">
                  <a:txBody>
                    <a:bodyPr/>
                    <a:lstStyle/>
                    <a:p>
                      <a:pPr algn="ctr" fontAlgn="ctr">
                        <a:buNone/>
                      </a:pPr>
                      <a:r>
                        <a:rPr lang="en-US" sz="1000" b="1">
                          <a:solidFill>
                            <a:srgbClr val="FFFFFF"/>
                          </a:solidFill>
                          <a:effectLst/>
                          <a:latin typeface="Raleway" pitchFamily="2" charset="0"/>
                        </a:rPr>
                        <a:t>Program</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rowSpan="2">
                  <a:txBody>
                    <a:bodyPr/>
                    <a:lstStyle/>
                    <a:p>
                      <a:pPr algn="ctr" fontAlgn="ctr">
                        <a:buNone/>
                      </a:pPr>
                      <a:r>
                        <a:rPr lang="en-US" sz="1000" b="1" err="1">
                          <a:solidFill>
                            <a:srgbClr val="FFFFFF"/>
                          </a:solidFill>
                          <a:effectLst/>
                          <a:latin typeface="Raleway"/>
                        </a:rPr>
                        <a:t>Posisi</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rowSpan="2">
                  <a:txBody>
                    <a:bodyPr/>
                    <a:lstStyle/>
                    <a:p>
                      <a:pPr algn="ctr" fontAlgn="ctr">
                        <a:buNone/>
                      </a:pPr>
                      <a:r>
                        <a:rPr lang="en-US" sz="1000" b="1">
                          <a:solidFill>
                            <a:srgbClr val="FFFFFF"/>
                          </a:solidFill>
                          <a:effectLst/>
                          <a:latin typeface="Raleway"/>
                        </a:rPr>
                        <a:t>Total </a:t>
                      </a:r>
                      <a:r>
                        <a:rPr lang="en-US" sz="1000" b="1" err="1">
                          <a:solidFill>
                            <a:srgbClr val="FFFFFF"/>
                          </a:solidFill>
                          <a:effectLst/>
                          <a:latin typeface="Raleway"/>
                        </a:rPr>
                        <a:t>Kandidat</a:t>
                      </a:r>
                      <a:r>
                        <a:rPr lang="en-US" sz="1000" b="1">
                          <a:solidFill>
                            <a:srgbClr val="FFFFFF"/>
                          </a:solidFill>
                          <a:effectLst/>
                          <a:latin typeface="Raleway"/>
                        </a:rPr>
                        <a:t> </a:t>
                      </a:r>
                      <a:r>
                        <a:rPr lang="en-US" sz="1000" b="1" err="1">
                          <a:solidFill>
                            <a:srgbClr val="FFFFFF"/>
                          </a:solidFill>
                          <a:effectLst/>
                          <a:latin typeface="Raleway"/>
                        </a:rPr>
                        <a:t>Aktif</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gridSpan="4">
                  <a:txBody>
                    <a:bodyPr/>
                    <a:lstStyle/>
                    <a:p>
                      <a:pPr algn="ctr" fontAlgn="ctr">
                        <a:buNone/>
                      </a:pPr>
                      <a:r>
                        <a:rPr lang="en-US" sz="1000" b="1">
                          <a:solidFill>
                            <a:srgbClr val="FFFFFF"/>
                          </a:solidFill>
                          <a:effectLst/>
                          <a:latin typeface="Raleway" pitchFamily="2" charset="0"/>
                        </a:rPr>
                        <a:t>Case Study</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4">
                  <a:txBody>
                    <a:bodyPr/>
                    <a:lstStyle/>
                    <a:p>
                      <a:pPr algn="ctr" fontAlgn="ctr">
                        <a:buNone/>
                      </a:pPr>
                      <a:r>
                        <a:rPr lang="en-US" sz="1000" b="1">
                          <a:solidFill>
                            <a:srgbClr val="FFFFFF"/>
                          </a:solidFill>
                          <a:effectLst/>
                          <a:latin typeface="Raleway" pitchFamily="2" charset="0"/>
                        </a:rPr>
                        <a:t>HR Interview</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3">
                  <a:txBody>
                    <a:bodyPr/>
                    <a:lstStyle/>
                    <a:p>
                      <a:pPr algn="ctr" fontAlgn="ctr">
                        <a:buNone/>
                      </a:pPr>
                      <a:r>
                        <a:rPr lang="en-US" sz="1000" b="1">
                          <a:solidFill>
                            <a:srgbClr val="FFFFFF"/>
                          </a:solidFill>
                          <a:effectLst/>
                          <a:latin typeface="Raleway" pitchFamily="2" charset="0"/>
                        </a:rPr>
                        <a:t>USER INTERVIEW</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hMerge="1">
                  <a:txBody>
                    <a:bodyPr/>
                    <a:lstStyle/>
                    <a:p>
                      <a:endParaRPr lang="en-US"/>
                    </a:p>
                  </a:txBody>
                  <a:tcPr/>
                </a:tc>
                <a:tc hMerge="1">
                  <a:txBody>
                    <a:bodyPr/>
                    <a:lstStyle/>
                    <a:p>
                      <a:endParaRPr lang="en-US"/>
                    </a:p>
                  </a:txBody>
                  <a:tcPr/>
                </a:tc>
                <a:tc>
                  <a:txBody>
                    <a:bodyPr/>
                    <a:lstStyle/>
                    <a:p>
                      <a:pPr algn="ctr" fontAlgn="ctr">
                        <a:buNone/>
                      </a:pPr>
                      <a:endParaRPr lang="en-US" sz="1000" b="1">
                        <a:solidFill>
                          <a:srgbClr val="FFFFFF"/>
                        </a:solidFill>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gridSpan="4">
                  <a:txBody>
                    <a:bodyPr/>
                    <a:lstStyle/>
                    <a:p>
                      <a:pPr algn="ctr" fontAlgn="ctr">
                        <a:buNone/>
                      </a:pPr>
                      <a:r>
                        <a:rPr lang="en-US" sz="1000" b="1">
                          <a:solidFill>
                            <a:srgbClr val="FFFFFF"/>
                          </a:solidFill>
                          <a:effectLst/>
                          <a:latin typeface="Raleway" pitchFamily="2" charset="0"/>
                        </a:rPr>
                        <a:t>OFFERING</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hMerge="1">
                  <a:txBody>
                    <a:bodyPr/>
                    <a:lstStyle/>
                    <a:p>
                      <a:endParaRPr lang="en-US"/>
                    </a:p>
                  </a:txBody>
                  <a:tcPr/>
                </a:tc>
                <a:tc hMerge="1">
                  <a:txBody>
                    <a:bodyPr/>
                    <a:lstStyle/>
                    <a:p>
                      <a:endParaRPr lang="en-US"/>
                    </a:p>
                  </a:txBody>
                  <a:tcPr/>
                </a:tc>
                <a:tc hMerge="1">
                  <a:txBody>
                    <a:bodyPr/>
                    <a:lstStyle/>
                    <a:p>
                      <a:endParaRPr lang="en-US"/>
                    </a:p>
                  </a:txBody>
                  <a:tcPr/>
                </a:tc>
                <a:tc rowSpan="2">
                  <a:txBody>
                    <a:bodyPr/>
                    <a:lstStyle/>
                    <a:p>
                      <a:pPr algn="ctr" fontAlgn="ctr">
                        <a:buNone/>
                      </a:pPr>
                      <a:r>
                        <a:rPr lang="en-US" sz="1000" b="1">
                          <a:solidFill>
                            <a:srgbClr val="FFFFFF"/>
                          </a:solidFill>
                          <a:effectLst/>
                          <a:latin typeface="Raleway" pitchFamily="2" charset="0"/>
                        </a:rPr>
                        <a:t>NOTES</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extLst>
                  <a:ext uri="{0D108BD9-81ED-4DB2-BD59-A6C34878D82A}">
                    <a16:rowId xmlns:a16="http://schemas.microsoft.com/office/drawing/2014/main" val="3371256897"/>
                  </a:ext>
                </a:extLst>
              </a:tr>
              <a:tr h="200025">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algn="ctr" fontAlgn="ctr">
                        <a:buNone/>
                      </a:pPr>
                      <a:r>
                        <a:rPr lang="en-US" sz="1000" b="1">
                          <a:solidFill>
                            <a:srgbClr val="FFFFFF"/>
                          </a:solidFill>
                          <a:effectLst/>
                          <a:latin typeface="Raleway" pitchFamily="2" charset="0"/>
                        </a:rPr>
                        <a:t>OK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NOT OK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NO SUBMIT</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ON GOING</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OK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NOT OK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SCHEDULED</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WITHDRAW</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OK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NOT OK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SCHEDULED</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WITHDRAW</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ACCEPT</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REJECT</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ON GOING</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WITHDRAW</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vMerge="1">
                  <a:txBody>
                    <a:bodyPr/>
                    <a:lstStyle/>
                    <a:p>
                      <a:endParaRPr lang="en-US"/>
                    </a:p>
                  </a:txBody>
                  <a:tcPr/>
                </a:tc>
                <a:extLst>
                  <a:ext uri="{0D108BD9-81ED-4DB2-BD59-A6C34878D82A}">
                    <a16:rowId xmlns:a16="http://schemas.microsoft.com/office/drawing/2014/main" val="10503404"/>
                  </a:ext>
                </a:extLst>
              </a:tr>
              <a:tr h="276225">
                <a:tc>
                  <a:txBody>
                    <a:bodyPr/>
                    <a:lstStyle/>
                    <a:p>
                      <a:pPr algn="ctr" fontAlgn="ctr">
                        <a:buNone/>
                      </a:pPr>
                      <a:r>
                        <a:rPr lang="en-US" sz="1000">
                          <a:effectLst/>
                          <a:latin typeface="Raleway"/>
                        </a:rPr>
                        <a:t>6</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ctr">
                        <a:buNone/>
                      </a:pPr>
                      <a:r>
                        <a:rPr lang="en-US" sz="1000">
                          <a:effectLst/>
                          <a:latin typeface="Raleway" pitchFamily="2" charset="0"/>
                        </a:rPr>
                        <a:t>FGDP</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ctr">
                        <a:buNone/>
                      </a:pPr>
                      <a:r>
                        <a:rPr lang="en-US" sz="1000">
                          <a:effectLst/>
                          <a:latin typeface="Raleway" pitchFamily="2" charset="0"/>
                        </a:rPr>
                        <a:t>Channel Development</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16</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2</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2</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11</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100">
                          <a:effectLst/>
                          <a:latin typeface="Raleway" pitchFamily="2" charset="0"/>
                        </a:rPr>
                        <a:t>5</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100">
                          <a:effectLst/>
                          <a:latin typeface="Raleway"/>
                        </a:rPr>
                        <a:t>2</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6</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2</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1</a:t>
                      </a: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100">
                          <a:effectLst/>
                          <a:latin typeface="Raleway"/>
                        </a:rPr>
                        <a:t>1</a:t>
                      </a: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solidFill>
                          <a:schemeClr val="tx1"/>
                        </a:solidFill>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marL="171450" lvl="0" indent="-171450" algn="l">
                        <a:lnSpc>
                          <a:spcPct val="100000"/>
                        </a:lnSpc>
                        <a:spcBef>
                          <a:spcPts val="0"/>
                        </a:spcBef>
                        <a:spcAft>
                          <a:spcPts val="0"/>
                        </a:spcAft>
                        <a:buClr>
                          <a:srgbClr val="000000"/>
                        </a:buClr>
                        <a:buFont typeface="Calibri,Sans-Serif"/>
                        <a:buChar char="-"/>
                      </a:pPr>
                      <a:r>
                        <a:rPr lang="en-US" sz="1100" b="1" i="0" u="none" strike="noStrike" noProof="0">
                          <a:solidFill>
                            <a:schemeClr val="tx1"/>
                          </a:solidFill>
                          <a:effectLst/>
                          <a:latin typeface="Raleway"/>
                        </a:rPr>
                        <a:t>Ester Tri Wahyuningsih </a:t>
                      </a:r>
                      <a:r>
                        <a:rPr lang="en-US" sz="1100" b="0" i="0" u="none" strike="noStrike" noProof="0">
                          <a:solidFill>
                            <a:schemeClr val="tx1"/>
                          </a:solidFill>
                          <a:effectLst/>
                          <a:latin typeface="Raleway"/>
                        </a:rPr>
                        <a:t>join date 3 Agustus 2026</a:t>
                      </a:r>
                      <a:endParaRPr lang="en-US"/>
                    </a:p>
                    <a:p>
                      <a:pPr marL="171450" lvl="0" indent="-171450" algn="l">
                        <a:lnSpc>
                          <a:spcPct val="100000"/>
                        </a:lnSpc>
                        <a:spcBef>
                          <a:spcPts val="0"/>
                        </a:spcBef>
                        <a:spcAft>
                          <a:spcPts val="0"/>
                        </a:spcAft>
                        <a:buClr>
                          <a:srgbClr val="000000"/>
                        </a:buClr>
                        <a:buFont typeface="Calibri,Sans-Serif"/>
                        <a:buChar char="-"/>
                      </a:pPr>
                      <a:r>
                        <a:rPr lang="en-US" sz="1100" b="0" i="0" u="none" strike="noStrike" noProof="0">
                          <a:solidFill>
                            <a:schemeClr val="tx1"/>
                          </a:solidFill>
                          <a:effectLst/>
                          <a:latin typeface="Raleway"/>
                        </a:rPr>
                        <a:t>Week 32: Offering </a:t>
                      </a:r>
                      <a:r>
                        <a:rPr lang="en-US" sz="1100" b="0" i="0" u="none" strike="noStrike" noProof="0" err="1">
                          <a:solidFill>
                            <a:schemeClr val="tx1"/>
                          </a:solidFill>
                          <a:effectLst/>
                          <a:latin typeface="Raleway"/>
                        </a:rPr>
                        <a:t>a.n</a:t>
                      </a:r>
                      <a:r>
                        <a:rPr lang="en-US" sz="1100" b="0" i="0" u="none" strike="noStrike" noProof="0">
                          <a:solidFill>
                            <a:schemeClr val="tx1"/>
                          </a:solidFill>
                          <a:effectLst/>
                          <a:latin typeface="Raleway"/>
                        </a:rPr>
                        <a:t>. Aurora Btari – REJECT OFFER &amp; Send 1 </a:t>
                      </a:r>
                      <a:r>
                        <a:rPr lang="en-US" sz="1100" b="0" i="0" u="none" strike="noStrike" noProof="0" err="1">
                          <a:solidFill>
                            <a:schemeClr val="tx1"/>
                          </a:solidFill>
                          <a:effectLst/>
                          <a:latin typeface="Raleway"/>
                        </a:rPr>
                        <a:t>kandidat</a:t>
                      </a:r>
                      <a:r>
                        <a:rPr lang="en-US" sz="1100" b="0" i="0" u="none" strike="noStrike" noProof="0">
                          <a:solidFill>
                            <a:schemeClr val="tx1"/>
                          </a:solidFill>
                          <a:effectLst/>
                          <a:latin typeface="Raleway"/>
                        </a:rPr>
                        <a:t> submit Case Study</a:t>
                      </a:r>
                    </a:p>
                    <a:p>
                      <a:pPr marL="171450" lvl="0" indent="-171450" algn="l">
                        <a:lnSpc>
                          <a:spcPct val="100000"/>
                        </a:lnSpc>
                        <a:spcBef>
                          <a:spcPts val="0"/>
                        </a:spcBef>
                        <a:spcAft>
                          <a:spcPts val="0"/>
                        </a:spcAft>
                        <a:buClr>
                          <a:srgbClr val="000000"/>
                        </a:buClr>
                        <a:buFont typeface="Calibri,Sans-Serif"/>
                        <a:buChar char="-"/>
                      </a:pPr>
                      <a:r>
                        <a:rPr lang="en-US" sz="1100" b="0" i="0" u="none" strike="noStrike" noProof="0">
                          <a:solidFill>
                            <a:schemeClr val="tx1"/>
                          </a:solidFill>
                          <a:effectLst/>
                          <a:latin typeface="Raleway"/>
                        </a:rPr>
                        <a:t>Week 33 : HR Interview 2 </a:t>
                      </a:r>
                      <a:r>
                        <a:rPr lang="en-US" sz="1100" b="0" i="0" u="none" strike="noStrike" noProof="0" err="1">
                          <a:solidFill>
                            <a:schemeClr val="tx1"/>
                          </a:solidFill>
                          <a:effectLst/>
                          <a:latin typeface="Raleway"/>
                        </a:rPr>
                        <a:t>kandidat</a:t>
                      </a:r>
                    </a:p>
                    <a:p>
                      <a:pPr marL="0" lvl="0" indent="0" algn="l">
                        <a:lnSpc>
                          <a:spcPct val="100000"/>
                        </a:lnSpc>
                        <a:spcBef>
                          <a:spcPts val="0"/>
                        </a:spcBef>
                        <a:spcAft>
                          <a:spcPts val="0"/>
                        </a:spcAft>
                        <a:buClr>
                          <a:srgbClr val="000000"/>
                        </a:buClr>
                        <a:buNone/>
                      </a:pPr>
                      <a:endParaRPr lang="en-US" sz="1100" b="0" i="0" u="none" strike="noStrike" noProof="0" err="1">
                        <a:solidFill>
                          <a:schemeClr val="tx1"/>
                        </a:solidFill>
                        <a:effectLst/>
                        <a:latin typeface="Raleway"/>
                      </a:endParaRPr>
                    </a:p>
                    <a:p>
                      <a:pPr marL="0" lvl="0" indent="0" algn="l">
                        <a:lnSpc>
                          <a:spcPct val="100000"/>
                        </a:lnSpc>
                        <a:spcBef>
                          <a:spcPts val="0"/>
                        </a:spcBef>
                        <a:spcAft>
                          <a:spcPts val="0"/>
                        </a:spcAft>
                        <a:buClr>
                          <a:srgbClr val="000000"/>
                        </a:buClr>
                        <a:buNone/>
                      </a:pPr>
                      <a:r>
                        <a:rPr lang="en-US" sz="1100" b="1" i="0" u="none" strike="noStrike" noProof="0">
                          <a:solidFill>
                            <a:schemeClr val="tx1"/>
                          </a:solidFill>
                          <a:effectLst/>
                          <a:latin typeface="Raleway"/>
                        </a:rPr>
                        <a:t>Next Action:</a:t>
                      </a:r>
                    </a:p>
                    <a:p>
                      <a:pPr marL="0" lvl="0" indent="0" algn="l">
                        <a:lnSpc>
                          <a:spcPct val="100000"/>
                        </a:lnSpc>
                        <a:spcBef>
                          <a:spcPts val="0"/>
                        </a:spcBef>
                        <a:spcAft>
                          <a:spcPts val="0"/>
                        </a:spcAft>
                        <a:buClr>
                          <a:srgbClr val="000000"/>
                        </a:buClr>
                        <a:buNone/>
                      </a:pPr>
                      <a:r>
                        <a:rPr lang="en-US" sz="1100" b="0" i="0" u="none" strike="noStrike" noProof="0">
                          <a:solidFill>
                            <a:schemeClr val="tx1"/>
                          </a:solidFill>
                          <a:effectLst/>
                          <a:latin typeface="Raleway"/>
                        </a:rPr>
                        <a:t>User Interview 2 kandidat di Week 34</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49007636"/>
                  </a:ext>
                </a:extLst>
              </a:tr>
              <a:tr h="304800">
                <a:tc>
                  <a:txBody>
                    <a:bodyPr/>
                    <a:lstStyle/>
                    <a:p>
                      <a:pPr algn="ctr" fontAlgn="ctr">
                        <a:buNone/>
                      </a:pPr>
                      <a:r>
                        <a:rPr lang="en-US" sz="1000">
                          <a:effectLst/>
                          <a:latin typeface="Raleway"/>
                        </a:rPr>
                        <a:t>7</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ctr">
                        <a:buNone/>
                      </a:pPr>
                      <a:r>
                        <a:rPr lang="en-US" sz="1000">
                          <a:effectLst/>
                          <a:latin typeface="Raleway" pitchFamily="2" charset="0"/>
                        </a:rPr>
                        <a:t>FGDP</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ctr">
                        <a:buNone/>
                      </a:pPr>
                      <a:r>
                        <a:rPr lang="en-US" sz="1000">
                          <a:effectLst/>
                          <a:latin typeface="Raleway" pitchFamily="2" charset="0"/>
                        </a:rPr>
                        <a:t>Branch Operations</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4</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4</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100">
                          <a:effectLst/>
                          <a:latin typeface="Raleway"/>
                        </a:rPr>
                        <a:t>1</a:t>
                      </a: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3</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1</a:t>
                      </a: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marL="0" lvl="0" indent="0" algn="l">
                        <a:lnSpc>
                          <a:spcPct val="100000"/>
                        </a:lnSpc>
                        <a:spcBef>
                          <a:spcPts val="0"/>
                        </a:spcBef>
                        <a:spcAft>
                          <a:spcPts val="0"/>
                        </a:spcAft>
                        <a:buNone/>
                      </a:pPr>
                      <a:r>
                        <a:rPr lang="en-US" sz="1000" b="1" i="0" u="none" strike="noStrike" noProof="0">
                          <a:solidFill>
                            <a:srgbClr val="000000"/>
                          </a:solidFill>
                          <a:effectLst/>
                          <a:latin typeface="Raleway"/>
                        </a:rPr>
                        <a:t>Saddam Jayadinata</a:t>
                      </a:r>
                      <a:r>
                        <a:rPr lang="en-US" sz="1000" b="0" i="0" u="none" strike="noStrike" noProof="0">
                          <a:solidFill>
                            <a:srgbClr val="000000"/>
                          </a:solidFill>
                          <a:effectLst/>
                          <a:latin typeface="Raleway"/>
                        </a:rPr>
                        <a:t> join date 20 Agustus 2026</a:t>
                      </a:r>
                      <a:endParaRPr lang="en-US"/>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618165841"/>
                  </a:ext>
                </a:extLst>
              </a:tr>
              <a:tr h="342900">
                <a:tc>
                  <a:txBody>
                    <a:bodyPr/>
                    <a:lstStyle/>
                    <a:p>
                      <a:pPr algn="ctr" fontAlgn="ctr">
                        <a:buNone/>
                      </a:pPr>
                      <a:r>
                        <a:rPr lang="en-US" sz="1000">
                          <a:effectLst/>
                          <a:latin typeface="Raleway"/>
                        </a:rPr>
                        <a:t>8</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ctr">
                        <a:buNone/>
                      </a:pPr>
                      <a:r>
                        <a:rPr lang="en-US" sz="1000">
                          <a:effectLst/>
                          <a:latin typeface="Raleway" pitchFamily="2" charset="0"/>
                        </a:rPr>
                        <a:t>FGDP</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ctr">
                        <a:buNone/>
                      </a:pPr>
                      <a:r>
                        <a:rPr lang="en-US" sz="1000">
                          <a:effectLst/>
                          <a:latin typeface="Raleway" pitchFamily="2" charset="0"/>
                        </a:rPr>
                        <a:t>Sales &amp; Operations Planning</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5</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4</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100">
                          <a:effectLst/>
                          <a:latin typeface="Raleway" pitchFamily="2" charset="0"/>
                        </a:rPr>
                        <a:t>1</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100">
                          <a:effectLst/>
                          <a:latin typeface="Raleway"/>
                        </a:rPr>
                        <a:t>2</a:t>
                      </a: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2</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1</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100">
                          <a:effectLst/>
                          <a:latin typeface="Raleway"/>
                        </a:rPr>
                        <a:t>1</a:t>
                      </a: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fontAlgn="ctr">
                        <a:buNone/>
                      </a:pPr>
                      <a:r>
                        <a:rPr lang="en-US" sz="1000" b="1">
                          <a:effectLst/>
                          <a:latin typeface="Raleway"/>
                        </a:rPr>
                        <a:t>Muhamad Raditya </a:t>
                      </a:r>
                      <a:r>
                        <a:rPr lang="en-US" sz="1000" b="0">
                          <a:effectLst/>
                          <a:latin typeface="Raleway"/>
                        </a:rPr>
                        <a:t>join date 20 Agustus 2026</a:t>
                      </a:r>
                      <a:endParaRPr lang="en-US" sz="1000"/>
                    </a:p>
                    <a:p>
                      <a:pPr lvl="0">
                        <a:buNone/>
                      </a:pPr>
                      <a:r>
                        <a:rPr lang="en-US" sz="1000" b="1">
                          <a:effectLst/>
                          <a:latin typeface="Raleway"/>
                        </a:rPr>
                        <a:t>Zahrah Mahfuzah </a:t>
                      </a:r>
                      <a:r>
                        <a:rPr lang="en-US" sz="1000" b="0">
                          <a:effectLst/>
                          <a:latin typeface="Raleway"/>
                        </a:rPr>
                        <a:t> </a:t>
                      </a:r>
                      <a:r>
                        <a:rPr lang="en-US" sz="1000" b="0" err="1">
                          <a:effectLst/>
                          <a:latin typeface="Raleway"/>
                        </a:rPr>
                        <a:t>batal</a:t>
                      </a:r>
                      <a:r>
                        <a:rPr lang="en-US" sz="1000" b="0">
                          <a:effectLst/>
                          <a:latin typeface="Raleway"/>
                        </a:rPr>
                        <a:t> join</a:t>
                      </a:r>
                      <a:endParaRPr lang="en-US" sz="1000" b="1">
                        <a:effectLst/>
                        <a:latin typeface="Raleway"/>
                      </a:endParaRPr>
                    </a:p>
                    <a:p>
                      <a:pPr lvl="0">
                        <a:buNone/>
                      </a:pPr>
                      <a:endParaRPr lang="en-US" sz="1000" b="0">
                        <a:effectLst/>
                        <a:latin typeface="Raleway"/>
                      </a:endParaRPr>
                    </a:p>
                    <a:p>
                      <a:pPr lvl="0">
                        <a:buNone/>
                      </a:pPr>
                      <a:r>
                        <a:rPr lang="en-US" sz="1000" b="1">
                          <a:effectLst/>
                          <a:latin typeface="Raleway"/>
                        </a:rPr>
                        <a:t>Next Action:</a:t>
                      </a:r>
                    </a:p>
                    <a:p>
                      <a:pPr lvl="0">
                        <a:buNone/>
                      </a:pPr>
                      <a:r>
                        <a:rPr lang="en-US" sz="1000" b="0">
                          <a:effectLst/>
                          <a:latin typeface="Raleway"/>
                        </a:rPr>
                        <a:t>Send min. 10 CVs </a:t>
                      </a:r>
                      <a:r>
                        <a:rPr lang="en-US" sz="1000" b="0" err="1">
                          <a:effectLst/>
                          <a:latin typeface="Raleway"/>
                        </a:rPr>
                        <a:t>ke</a:t>
                      </a:r>
                      <a:r>
                        <a:rPr lang="en-US" sz="1000" b="0">
                          <a:effectLst/>
                          <a:latin typeface="Raleway"/>
                        </a:rPr>
                        <a:t> User di Week 34 </a:t>
                      </a:r>
                      <a:endParaRPr lang="en-US" sz="1000" b="1">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71746391"/>
                  </a:ext>
                </a:extLst>
              </a:tr>
              <a:tr h="342900">
                <a:tc>
                  <a:txBody>
                    <a:bodyPr/>
                    <a:lstStyle/>
                    <a:p>
                      <a:pPr algn="ctr" fontAlgn="ctr">
                        <a:buNone/>
                      </a:pPr>
                      <a:r>
                        <a:rPr lang="en-US" sz="1000">
                          <a:effectLst/>
                          <a:latin typeface="Raleway"/>
                        </a:rPr>
                        <a:t>9</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ctr">
                        <a:buNone/>
                      </a:pPr>
                      <a:r>
                        <a:rPr lang="en-US" sz="1000">
                          <a:effectLst/>
                          <a:latin typeface="Raleway" pitchFamily="2" charset="0"/>
                        </a:rPr>
                        <a:t>FGDP</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ctr">
                        <a:buNone/>
                      </a:pPr>
                      <a:r>
                        <a:rPr lang="en-US" sz="1000">
                          <a:effectLst/>
                          <a:latin typeface="Raleway" pitchFamily="2" charset="0"/>
                        </a:rPr>
                        <a:t>Central Warehouse</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17</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4</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100">
                          <a:effectLst/>
                          <a:latin typeface="Raleway"/>
                        </a:rPr>
                        <a:t>13</a:t>
                      </a: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100">
                          <a:effectLst/>
                          <a:latin typeface="Raleway"/>
                        </a:rPr>
                        <a:t>1</a:t>
                      </a: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3</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1</a:t>
                      </a: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marL="0" lvl="0" indent="0" algn="l">
                        <a:lnSpc>
                          <a:spcPct val="100000"/>
                        </a:lnSpc>
                        <a:spcBef>
                          <a:spcPts val="0"/>
                        </a:spcBef>
                        <a:spcAft>
                          <a:spcPts val="0"/>
                        </a:spcAft>
                        <a:buNone/>
                      </a:pPr>
                      <a:r>
                        <a:rPr lang="en-US" sz="1000" b="1" i="0" u="none" strike="noStrike" noProof="0">
                          <a:solidFill>
                            <a:srgbClr val="000000"/>
                          </a:solidFill>
                          <a:effectLst/>
                          <a:latin typeface="Raleway"/>
                        </a:rPr>
                        <a:t>Muhammad Alfaatih Salsabila</a:t>
                      </a:r>
                      <a:r>
                        <a:rPr lang="en-US" sz="1000" b="0" i="0" u="none" strike="noStrike" noProof="0">
                          <a:solidFill>
                            <a:srgbClr val="000000"/>
                          </a:solidFill>
                          <a:effectLst/>
                          <a:latin typeface="Raleway"/>
                        </a:rPr>
                        <a:t> join date 20 Agustus 2026</a:t>
                      </a:r>
                      <a:endParaRPr lang="en-US"/>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33592842"/>
                  </a:ext>
                </a:extLst>
              </a:tr>
              <a:tr h="304800">
                <a:tc>
                  <a:txBody>
                    <a:bodyPr/>
                    <a:lstStyle/>
                    <a:p>
                      <a:pPr algn="ctr" fontAlgn="ctr">
                        <a:buNone/>
                      </a:pPr>
                      <a:r>
                        <a:rPr lang="en-US" sz="1000">
                          <a:effectLst/>
                          <a:latin typeface="Raleway"/>
                        </a:rPr>
                        <a:t>10</a:t>
                      </a:r>
                      <a:endParaRPr lang="en-US"/>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ctr">
                        <a:buNone/>
                      </a:pPr>
                      <a:r>
                        <a:rPr lang="en-US" sz="1000">
                          <a:effectLst/>
                          <a:latin typeface="Raleway" pitchFamily="2" charset="0"/>
                        </a:rPr>
                        <a:t>FGDP</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ctr">
                        <a:buNone/>
                      </a:pPr>
                      <a:r>
                        <a:rPr lang="en-US" sz="1000">
                          <a:effectLst/>
                          <a:latin typeface="Raleway" pitchFamily="2" charset="0"/>
                        </a:rPr>
                        <a:t>Marketing</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pitchFamily="2" charset="0"/>
                        </a:rPr>
                        <a:t>7</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pitchFamily="2" charset="0"/>
                        </a:rPr>
                        <a:t>3</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100">
                          <a:effectLst/>
                          <a:latin typeface="Raleway" pitchFamily="2" charset="0"/>
                        </a:rPr>
                        <a:t>4</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100">
                          <a:effectLst/>
                          <a:latin typeface="Raleway"/>
                        </a:rPr>
                        <a:t>1</a:t>
                      </a: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2</a:t>
                      </a: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100">
                          <a:effectLst/>
                          <a:latin typeface="Raleway"/>
                        </a:rPr>
                        <a:t>1</a:t>
                      </a: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fontAlgn="ctr">
                        <a:buNone/>
                      </a:pPr>
                      <a:r>
                        <a:rPr lang="en-US" sz="1000" b="1">
                          <a:effectLst/>
                          <a:latin typeface="Raleway"/>
                        </a:rPr>
                        <a:t>Amalia Berliana </a:t>
                      </a:r>
                      <a:r>
                        <a:rPr lang="en-US" sz="1000" b="0">
                          <a:effectLst/>
                          <a:latin typeface="Raleway"/>
                        </a:rPr>
                        <a:t>join date 10 Juli 2026</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42420502"/>
                  </a:ext>
                </a:extLst>
              </a:tr>
              <a:tr h="489857">
                <a:tc>
                  <a:txBody>
                    <a:bodyPr/>
                    <a:lstStyle/>
                    <a:p>
                      <a:pPr algn="ctr" fontAlgn="ctr">
                        <a:buNone/>
                      </a:pPr>
                      <a:r>
                        <a:rPr lang="en-US" sz="1000">
                          <a:effectLst/>
                          <a:latin typeface="Raleway"/>
                        </a:rPr>
                        <a:t>11</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ctr">
                        <a:buNone/>
                      </a:pPr>
                      <a:r>
                        <a:rPr lang="en-US" sz="1000">
                          <a:effectLst/>
                          <a:latin typeface="Raleway" pitchFamily="2" charset="0"/>
                        </a:rPr>
                        <a:t>FGDP</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ctr">
                        <a:buNone/>
                      </a:pPr>
                      <a:r>
                        <a:rPr lang="en-US" sz="1000">
                          <a:effectLst/>
                          <a:latin typeface="Raleway" pitchFamily="2" charset="0"/>
                        </a:rPr>
                        <a:t>School Program Executive</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16</a:t>
                      </a: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6</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100">
                          <a:effectLst/>
                          <a:latin typeface="Raleway" pitchFamily="2" charset="0"/>
                        </a:rPr>
                        <a:t>4</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100">
                          <a:effectLst/>
                          <a:latin typeface="Raleway" pitchFamily="2" charset="0"/>
                        </a:rPr>
                        <a:t>6</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3</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2</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100">
                          <a:effectLst/>
                          <a:latin typeface="Raleway"/>
                        </a:rPr>
                        <a:t>1</a:t>
                      </a: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1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marL="0" lvl="0" indent="0" algn="l">
                        <a:lnSpc>
                          <a:spcPct val="100000"/>
                        </a:lnSpc>
                        <a:spcBef>
                          <a:spcPts val="0"/>
                        </a:spcBef>
                        <a:spcAft>
                          <a:spcPts val="0"/>
                        </a:spcAft>
                        <a:buClr>
                          <a:srgbClr val="000000"/>
                        </a:buClr>
                        <a:buNone/>
                      </a:pPr>
                      <a:r>
                        <a:rPr lang="en-US" sz="900" b="1" i="0" u="none" strike="noStrike" noProof="0">
                          <a:solidFill>
                            <a:srgbClr val="000000"/>
                          </a:solidFill>
                          <a:effectLst/>
                          <a:highlight>
                            <a:srgbClr val="FFFFFF"/>
                          </a:highlight>
                          <a:latin typeface="Raleway"/>
                        </a:rPr>
                        <a:t>Natalia Karlina Ginting </a:t>
                      </a:r>
                      <a:r>
                        <a:rPr lang="en-US" sz="900" b="0" i="0" u="none" strike="noStrike" noProof="0">
                          <a:solidFill>
                            <a:srgbClr val="000000"/>
                          </a:solidFill>
                          <a:effectLst/>
                          <a:highlight>
                            <a:srgbClr val="FFFFFF"/>
                          </a:highlight>
                          <a:latin typeface="Raleway"/>
                        </a:rPr>
                        <a:t>join date 20 Agustus 2026</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151363253"/>
                  </a:ext>
                </a:extLst>
              </a:tr>
              <a:tr h="671285">
                <a:tc>
                  <a:txBody>
                    <a:bodyPr/>
                    <a:lstStyle/>
                    <a:p>
                      <a:pPr lvl="0" algn="ctr">
                        <a:buNone/>
                      </a:pPr>
                      <a:r>
                        <a:rPr lang="en-US" sz="1000">
                          <a:effectLst/>
                          <a:latin typeface="Raleway"/>
                        </a:rPr>
                        <a:t>12</a:t>
                      </a: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noFill/>
                  </a:tcPr>
                </a:tc>
                <a:tc>
                  <a:txBody>
                    <a:bodyPr/>
                    <a:lstStyle/>
                    <a:p>
                      <a:pPr lvl="0">
                        <a:buNone/>
                      </a:pPr>
                      <a:r>
                        <a:rPr lang="en-US" sz="1000">
                          <a:effectLst/>
                          <a:latin typeface="Raleway"/>
                        </a:rPr>
                        <a:t>FGDP</a:t>
                      </a: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noFill/>
                  </a:tcPr>
                </a:tc>
                <a:tc>
                  <a:txBody>
                    <a:bodyPr/>
                    <a:lstStyle/>
                    <a:p>
                      <a:pPr lvl="0">
                        <a:buNone/>
                      </a:pPr>
                      <a:r>
                        <a:rPr lang="en-US" sz="1000">
                          <a:effectLst/>
                          <a:latin typeface="Raleway"/>
                        </a:rPr>
                        <a:t>Finance Business Partner</a:t>
                      </a: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noFill/>
                  </a:tcPr>
                </a:tc>
                <a:tc>
                  <a:txBody>
                    <a:bodyPr/>
                    <a:lstStyle/>
                    <a:p>
                      <a:pPr lvl="0" algn="ctr">
                        <a:buNone/>
                      </a:pPr>
                      <a:r>
                        <a:rPr lang="en-US" sz="1100">
                          <a:effectLst/>
                          <a:latin typeface="Raleway"/>
                        </a:rPr>
                        <a:t>4</a:t>
                      </a: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noFill/>
                  </a:tcPr>
                </a:tc>
                <a:tc>
                  <a:txBody>
                    <a:bodyPr/>
                    <a:lstStyle/>
                    <a:p>
                      <a:pPr lvl="0" algn="ctr">
                        <a:buNone/>
                      </a:pPr>
                      <a:endParaRPr lang="en-US" sz="11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noFill/>
                  </a:tcPr>
                </a:tc>
                <a:tc>
                  <a:txBody>
                    <a:bodyPr/>
                    <a:lstStyle/>
                    <a:p>
                      <a:pPr lvl="0" algn="ctr">
                        <a:buNone/>
                      </a:pPr>
                      <a:endParaRPr lang="en-US" sz="11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noFill/>
                  </a:tcPr>
                </a:tc>
                <a:tc>
                  <a:txBody>
                    <a:bodyPr/>
                    <a:lstStyle/>
                    <a:p>
                      <a:pPr lvl="0" algn="ctr">
                        <a:buNone/>
                      </a:pPr>
                      <a:endParaRPr lang="en-US" sz="11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noFill/>
                  </a:tcPr>
                </a:tc>
                <a:tc>
                  <a:txBody>
                    <a:bodyPr/>
                    <a:lstStyle/>
                    <a:p>
                      <a:pPr lvl="0" algn="ctr">
                        <a:buNone/>
                      </a:pPr>
                      <a:endParaRPr lang="en-US" sz="11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noFill/>
                  </a:tcPr>
                </a:tc>
                <a:tc>
                  <a:txBody>
                    <a:bodyPr/>
                    <a:lstStyle/>
                    <a:p>
                      <a:pPr lvl="0" algn="ctr">
                        <a:buNone/>
                      </a:pPr>
                      <a:r>
                        <a:rPr lang="en-US" sz="1100">
                          <a:effectLst/>
                          <a:latin typeface="Raleway"/>
                        </a:rPr>
                        <a:t>4</a:t>
                      </a: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solidFill>
                      <a:srgbClr val="DAE9F8"/>
                    </a:solidFill>
                  </a:tcPr>
                </a:tc>
                <a:tc>
                  <a:txBody>
                    <a:bodyPr/>
                    <a:lstStyle/>
                    <a:p>
                      <a:pPr lvl="0" algn="ctr">
                        <a:buNone/>
                      </a:pPr>
                      <a:endParaRPr lang="en-US" sz="11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solidFill>
                      <a:srgbClr val="DAE9F8"/>
                    </a:solidFill>
                  </a:tcPr>
                </a:tc>
                <a:tc>
                  <a:txBody>
                    <a:bodyPr/>
                    <a:lstStyle/>
                    <a:p>
                      <a:pPr lvl="0" algn="ctr">
                        <a:buNone/>
                      </a:pPr>
                      <a:endParaRPr lang="en-US" sz="11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solidFill>
                      <a:srgbClr val="DAE9F8"/>
                    </a:solidFill>
                  </a:tcPr>
                </a:tc>
                <a:tc>
                  <a:txBody>
                    <a:bodyPr/>
                    <a:lstStyle/>
                    <a:p>
                      <a:pPr lvl="0" algn="ctr">
                        <a:buNone/>
                      </a:pPr>
                      <a:endParaRPr lang="en-US" sz="11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solidFill>
                      <a:srgbClr val="DAE9F8"/>
                    </a:solidFill>
                  </a:tcPr>
                </a:tc>
                <a:tc>
                  <a:txBody>
                    <a:bodyPr/>
                    <a:lstStyle/>
                    <a:p>
                      <a:pPr lvl="0" algn="ctr">
                        <a:buNone/>
                      </a:pPr>
                      <a:r>
                        <a:rPr lang="en-US" sz="1100">
                          <a:effectLst/>
                          <a:latin typeface="Raleway"/>
                        </a:rPr>
                        <a:t>1</a:t>
                      </a: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noFill/>
                  </a:tcPr>
                </a:tc>
                <a:tc>
                  <a:txBody>
                    <a:bodyPr/>
                    <a:lstStyle/>
                    <a:p>
                      <a:pPr lvl="0" algn="ctr">
                        <a:buNone/>
                      </a:pPr>
                      <a:r>
                        <a:rPr lang="en-US" sz="1100">
                          <a:effectLst/>
                          <a:latin typeface="Raleway"/>
                        </a:rPr>
                        <a:t>3</a:t>
                      </a: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noFill/>
                  </a:tcPr>
                </a:tc>
                <a:tc>
                  <a:txBody>
                    <a:bodyPr/>
                    <a:lstStyle/>
                    <a:p>
                      <a:pPr lvl="0" algn="ctr">
                        <a:buNone/>
                      </a:pPr>
                      <a:endParaRPr lang="en-US" sz="11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noFill/>
                  </a:tcPr>
                </a:tc>
                <a:tc>
                  <a:txBody>
                    <a:bodyPr/>
                    <a:lstStyle/>
                    <a:p>
                      <a:pPr lvl="0" algn="ctr">
                        <a:buNone/>
                      </a:pPr>
                      <a:endParaRPr lang="en-US" sz="11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noFill/>
                  </a:tcPr>
                </a:tc>
                <a:tc>
                  <a:txBody>
                    <a:bodyPr/>
                    <a:lstStyle/>
                    <a:p>
                      <a:pPr lvl="0" algn="ctr">
                        <a:buNone/>
                      </a:pPr>
                      <a:endParaRPr lang="en-US" sz="11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solidFill>
                      <a:srgbClr val="DAE9F8"/>
                    </a:solidFill>
                  </a:tcPr>
                </a:tc>
                <a:tc>
                  <a:txBody>
                    <a:bodyPr/>
                    <a:lstStyle/>
                    <a:p>
                      <a:pPr lvl="0" algn="ctr">
                        <a:buNone/>
                      </a:pPr>
                      <a:r>
                        <a:rPr lang="en-US" sz="1100">
                          <a:effectLst/>
                          <a:latin typeface="Raleway"/>
                        </a:rPr>
                        <a:t>1</a:t>
                      </a: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solidFill>
                      <a:srgbClr val="DAE9F8"/>
                    </a:solidFill>
                  </a:tcPr>
                </a:tc>
                <a:tc>
                  <a:txBody>
                    <a:bodyPr/>
                    <a:lstStyle/>
                    <a:p>
                      <a:pPr lvl="0" algn="ctr">
                        <a:buNone/>
                      </a:pPr>
                      <a:endParaRPr lang="en-US" sz="11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solidFill>
                      <a:srgbClr val="DAE9F8"/>
                    </a:solidFill>
                  </a:tcPr>
                </a:tc>
                <a:tc>
                  <a:txBody>
                    <a:bodyPr/>
                    <a:lstStyle/>
                    <a:p>
                      <a:pPr lvl="0" algn="ctr">
                        <a:buNone/>
                      </a:pPr>
                      <a:endParaRPr lang="en-US" sz="11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solidFill>
                      <a:srgbClr val="DAE9F8"/>
                    </a:solidFill>
                  </a:tcPr>
                </a:tc>
                <a:tc>
                  <a:txBody>
                    <a:bodyPr/>
                    <a:lstStyle/>
                    <a:p>
                      <a:pPr marL="171450" lvl="0" indent="-171450" algn="l">
                        <a:lnSpc>
                          <a:spcPct val="100000"/>
                        </a:lnSpc>
                        <a:spcBef>
                          <a:spcPts val="0"/>
                        </a:spcBef>
                        <a:spcAft>
                          <a:spcPts val="0"/>
                        </a:spcAft>
                        <a:buFont typeface="Calibri"/>
                        <a:buChar char="-"/>
                      </a:pPr>
                      <a:r>
                        <a:rPr lang="en-US" sz="900" b="0" i="0" u="none" strike="noStrike" noProof="0">
                          <a:solidFill>
                            <a:srgbClr val="000000"/>
                          </a:solidFill>
                          <a:effectLst/>
                          <a:highlight>
                            <a:srgbClr val="FFFFFF"/>
                          </a:highlight>
                          <a:latin typeface="Raleway"/>
                        </a:rPr>
                        <a:t>Week 32: User Interview 4 </a:t>
                      </a:r>
                      <a:r>
                        <a:rPr lang="en-US" sz="900" b="0" i="0" u="none" strike="noStrike" noProof="0" err="1">
                          <a:solidFill>
                            <a:srgbClr val="000000"/>
                          </a:solidFill>
                          <a:effectLst/>
                          <a:highlight>
                            <a:srgbClr val="FFFFFF"/>
                          </a:highlight>
                          <a:latin typeface="Raleway"/>
                        </a:rPr>
                        <a:t>kandidat</a:t>
                      </a:r>
                      <a:r>
                        <a:rPr lang="en-US" sz="900" b="0" i="0" u="none" strike="noStrike" noProof="0">
                          <a:solidFill>
                            <a:srgbClr val="000000"/>
                          </a:solidFill>
                          <a:effectLst/>
                          <a:highlight>
                            <a:srgbClr val="FFFFFF"/>
                          </a:highlight>
                          <a:latin typeface="Raleway"/>
                        </a:rPr>
                        <a:t> &amp; Amanda Rizki – REJECT OFFER</a:t>
                      </a:r>
                    </a:p>
                    <a:p>
                      <a:pPr marL="171450" lvl="0" indent="-171450" algn="l">
                        <a:lnSpc>
                          <a:spcPct val="100000"/>
                        </a:lnSpc>
                        <a:spcBef>
                          <a:spcPts val="0"/>
                        </a:spcBef>
                        <a:spcAft>
                          <a:spcPts val="0"/>
                        </a:spcAft>
                        <a:buFont typeface="Calibri"/>
                        <a:buChar char="-"/>
                      </a:pPr>
                      <a:r>
                        <a:rPr lang="en-US" sz="900" b="0" i="0" u="none" strike="noStrike" noProof="0">
                          <a:solidFill>
                            <a:srgbClr val="000000"/>
                          </a:solidFill>
                          <a:effectLst/>
                          <a:highlight>
                            <a:srgbClr val="FFFFFF"/>
                          </a:highlight>
                          <a:latin typeface="Raleway"/>
                        </a:rPr>
                        <a:t>Week 33:  </a:t>
                      </a:r>
                      <a:r>
                        <a:rPr lang="en-US" sz="900" b="0" i="0" u="none" strike="noStrike" noProof="0" err="1">
                          <a:solidFill>
                            <a:srgbClr val="000000"/>
                          </a:solidFill>
                          <a:effectLst/>
                          <a:highlight>
                            <a:srgbClr val="FFFFFF"/>
                          </a:highlight>
                          <a:latin typeface="Raleway"/>
                        </a:rPr>
                        <a:t>Psikotes</a:t>
                      </a:r>
                      <a:r>
                        <a:rPr lang="en-US" sz="900" b="0" i="0" u="none" strike="noStrike" noProof="0">
                          <a:solidFill>
                            <a:srgbClr val="000000"/>
                          </a:solidFill>
                          <a:effectLst/>
                          <a:highlight>
                            <a:srgbClr val="FFFFFF"/>
                          </a:highlight>
                          <a:latin typeface="Raleway"/>
                        </a:rPr>
                        <a:t> 6 </a:t>
                      </a:r>
                      <a:r>
                        <a:rPr lang="en-US" sz="900" b="0" i="0" u="none" strike="noStrike" noProof="0" err="1">
                          <a:solidFill>
                            <a:srgbClr val="000000"/>
                          </a:solidFill>
                          <a:effectLst/>
                          <a:highlight>
                            <a:srgbClr val="FFFFFF"/>
                          </a:highlight>
                          <a:latin typeface="Raleway"/>
                        </a:rPr>
                        <a:t>kandidat</a:t>
                      </a:r>
                    </a:p>
                    <a:p>
                      <a:pPr marL="0" lvl="0" indent="0" algn="l">
                        <a:lnSpc>
                          <a:spcPct val="100000"/>
                        </a:lnSpc>
                        <a:spcBef>
                          <a:spcPts val="0"/>
                        </a:spcBef>
                        <a:spcAft>
                          <a:spcPts val="0"/>
                        </a:spcAft>
                        <a:buNone/>
                      </a:pPr>
                      <a:endParaRPr lang="en-US" sz="900" b="0" i="0" u="none" strike="noStrike" noProof="0">
                        <a:solidFill>
                          <a:srgbClr val="000000"/>
                        </a:solidFill>
                        <a:effectLst/>
                        <a:highlight>
                          <a:srgbClr val="FFFFFF"/>
                        </a:highlight>
                        <a:latin typeface="Raleway"/>
                      </a:endParaRPr>
                    </a:p>
                    <a:p>
                      <a:pPr marL="0" lvl="0" indent="0" algn="l">
                        <a:lnSpc>
                          <a:spcPct val="100000"/>
                        </a:lnSpc>
                        <a:spcBef>
                          <a:spcPts val="0"/>
                        </a:spcBef>
                        <a:spcAft>
                          <a:spcPts val="0"/>
                        </a:spcAft>
                        <a:buNone/>
                      </a:pPr>
                      <a:r>
                        <a:rPr lang="en-US" sz="900" b="1" i="0" u="none" strike="noStrike" noProof="0">
                          <a:solidFill>
                            <a:srgbClr val="000000"/>
                          </a:solidFill>
                          <a:effectLst/>
                          <a:highlight>
                            <a:srgbClr val="FFFFFF"/>
                          </a:highlight>
                          <a:latin typeface="Raleway"/>
                        </a:rPr>
                        <a:t>Next Action:</a:t>
                      </a:r>
                      <a:endParaRPr lang="en-US"/>
                    </a:p>
                    <a:p>
                      <a:pPr marL="0" lvl="0" indent="0" algn="l">
                        <a:lnSpc>
                          <a:spcPct val="100000"/>
                        </a:lnSpc>
                        <a:spcBef>
                          <a:spcPts val="0"/>
                        </a:spcBef>
                        <a:spcAft>
                          <a:spcPts val="0"/>
                        </a:spcAft>
                        <a:buNone/>
                      </a:pPr>
                      <a:r>
                        <a:rPr lang="en-US" sz="900" b="0" i="0" u="none" strike="noStrike" noProof="0">
                          <a:solidFill>
                            <a:srgbClr val="000000"/>
                          </a:solidFill>
                          <a:effectLst/>
                          <a:highlight>
                            <a:srgbClr val="FFFFFF"/>
                          </a:highlight>
                          <a:latin typeface="Raleway"/>
                        </a:rPr>
                        <a:t>HR Interview </a:t>
                      </a:r>
                      <a:r>
                        <a:rPr lang="en-US" sz="900" b="0" i="0" u="none" strike="noStrike" noProof="0" err="1">
                          <a:solidFill>
                            <a:srgbClr val="000000"/>
                          </a:solidFill>
                          <a:effectLst/>
                          <a:highlight>
                            <a:srgbClr val="FFFFFF"/>
                          </a:highlight>
                          <a:latin typeface="Raleway"/>
                        </a:rPr>
                        <a:t>kandidat</a:t>
                      </a:r>
                      <a:r>
                        <a:rPr lang="en-US" sz="900" b="0" i="0" u="none" strike="noStrike" noProof="0">
                          <a:solidFill>
                            <a:srgbClr val="000000"/>
                          </a:solidFill>
                          <a:effectLst/>
                          <a:highlight>
                            <a:srgbClr val="FFFFFF"/>
                          </a:highlight>
                          <a:latin typeface="Raleway"/>
                        </a:rPr>
                        <a:t> lolos </a:t>
                      </a:r>
                      <a:r>
                        <a:rPr lang="en-US" sz="900" b="0" i="0" u="none" strike="noStrike" noProof="0" err="1">
                          <a:solidFill>
                            <a:srgbClr val="000000"/>
                          </a:solidFill>
                          <a:effectLst/>
                          <a:highlight>
                            <a:srgbClr val="FFFFFF"/>
                          </a:highlight>
                          <a:latin typeface="Raleway"/>
                        </a:rPr>
                        <a:t>Psikotes</a:t>
                      </a:r>
                      <a:r>
                        <a:rPr lang="en-US" sz="900" b="0" i="0" u="none" strike="noStrike" noProof="0">
                          <a:solidFill>
                            <a:srgbClr val="000000"/>
                          </a:solidFill>
                          <a:effectLst/>
                          <a:highlight>
                            <a:srgbClr val="FFFFFF"/>
                          </a:highlight>
                          <a:latin typeface="Raleway"/>
                        </a:rPr>
                        <a:t> di Week 34</a:t>
                      </a:r>
                      <a:endParaRPr lang="en-US"/>
                    </a:p>
                  </a:txBody>
                  <a:tcPr marL="9524" marR="9524" marT="9524" anchor="ctr">
                    <a:lnL w="12700">
                      <a:solidFill>
                        <a:schemeClr val="tx1"/>
                      </a:solidFill>
                    </a:lnL>
                    <a:lnR w="12700">
                      <a:solidFill>
                        <a:schemeClr val="tx1"/>
                      </a:solidFill>
                    </a:lnR>
                    <a:lnT w="12700">
                      <a:solidFill>
                        <a:schemeClr val="tx1"/>
                      </a:solidFill>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61417031"/>
                  </a:ext>
                </a:extLst>
              </a:tr>
              <a:tr h="634999">
                <a:tc>
                  <a:txBody>
                    <a:bodyPr/>
                    <a:lstStyle/>
                    <a:p>
                      <a:pPr lvl="0" algn="ctr">
                        <a:buNone/>
                      </a:pPr>
                      <a:r>
                        <a:rPr lang="en-US" sz="1000">
                          <a:effectLst/>
                          <a:latin typeface="Raleway"/>
                        </a:rPr>
                        <a:t>13</a:t>
                      </a: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buNone/>
                      </a:pPr>
                      <a:r>
                        <a:rPr lang="en-US" sz="1000">
                          <a:effectLst/>
                          <a:latin typeface="Raleway"/>
                        </a:rPr>
                        <a:t>FGDP</a:t>
                      </a: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buNone/>
                      </a:pPr>
                      <a:r>
                        <a:rPr lang="en-US" sz="1000">
                          <a:effectLst/>
                          <a:latin typeface="Raleway"/>
                        </a:rPr>
                        <a:t>FBP Specialist - Analyst</a:t>
                      </a: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r>
                        <a:rPr lang="en-US" sz="1100">
                          <a:effectLst/>
                          <a:latin typeface="Raleway"/>
                        </a:rPr>
                        <a:t>0</a:t>
                      </a: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endParaRPr lang="en-US" sz="11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endParaRPr lang="en-US" sz="11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endParaRPr lang="en-US" sz="11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endParaRPr lang="en-US" sz="11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endParaRPr lang="en-US" sz="11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solidFill>
                      <a:srgbClr val="DAE9F8"/>
                    </a:solidFill>
                  </a:tcPr>
                </a:tc>
                <a:tc>
                  <a:txBody>
                    <a:bodyPr/>
                    <a:lstStyle/>
                    <a:p>
                      <a:pPr lvl="0" algn="ctr">
                        <a:buNone/>
                      </a:pPr>
                      <a:endParaRPr lang="en-US" sz="11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solidFill>
                      <a:srgbClr val="DAE9F8"/>
                    </a:solidFill>
                  </a:tcPr>
                </a:tc>
                <a:tc>
                  <a:txBody>
                    <a:bodyPr/>
                    <a:lstStyle/>
                    <a:p>
                      <a:pPr lvl="0" algn="ctr">
                        <a:buNone/>
                      </a:pPr>
                      <a:endParaRPr lang="en-US" sz="11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solidFill>
                      <a:srgbClr val="DAE9F8"/>
                    </a:solidFill>
                  </a:tcPr>
                </a:tc>
                <a:tc>
                  <a:txBody>
                    <a:bodyPr/>
                    <a:lstStyle/>
                    <a:p>
                      <a:pPr lvl="0" algn="ctr">
                        <a:buNone/>
                      </a:pPr>
                      <a:endParaRPr lang="en-US" sz="11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solidFill>
                      <a:srgbClr val="DAE9F8"/>
                    </a:solidFill>
                  </a:tcPr>
                </a:tc>
                <a:tc>
                  <a:txBody>
                    <a:bodyPr/>
                    <a:lstStyle/>
                    <a:p>
                      <a:pPr lvl="0" algn="ctr">
                        <a:buNone/>
                      </a:pPr>
                      <a:endParaRPr lang="en-US" sz="11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endParaRPr lang="en-US" sz="11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endParaRPr lang="en-US" sz="11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endParaRPr lang="en-US" sz="11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endParaRPr lang="en-US" sz="11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solidFill>
                      <a:srgbClr val="DAE9F8"/>
                    </a:solidFill>
                  </a:tcPr>
                </a:tc>
                <a:tc>
                  <a:txBody>
                    <a:bodyPr/>
                    <a:lstStyle/>
                    <a:p>
                      <a:pPr lvl="0" algn="ctr">
                        <a:buNone/>
                      </a:pPr>
                      <a:endParaRPr lang="en-US" sz="11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solidFill>
                      <a:srgbClr val="DAE9F8"/>
                    </a:solidFill>
                  </a:tcPr>
                </a:tc>
                <a:tc>
                  <a:txBody>
                    <a:bodyPr/>
                    <a:lstStyle/>
                    <a:p>
                      <a:pPr lvl="0" algn="ctr">
                        <a:buNone/>
                      </a:pPr>
                      <a:endParaRPr lang="en-US" sz="11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solidFill>
                      <a:srgbClr val="DAE9F8"/>
                    </a:solidFill>
                  </a:tcPr>
                </a:tc>
                <a:tc>
                  <a:txBody>
                    <a:bodyPr/>
                    <a:lstStyle/>
                    <a:p>
                      <a:pPr lvl="0" algn="ctr">
                        <a:buNone/>
                      </a:pPr>
                      <a:endParaRPr lang="en-US" sz="1100">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solidFill>
                      <a:srgbClr val="DAE9F8"/>
                    </a:solidFill>
                  </a:tcPr>
                </a:tc>
                <a:tc>
                  <a:txBody>
                    <a:bodyPr/>
                    <a:lstStyle/>
                    <a:p>
                      <a:pPr marL="0" lvl="0" indent="0" algn="l">
                        <a:lnSpc>
                          <a:spcPct val="100000"/>
                        </a:lnSpc>
                        <a:spcBef>
                          <a:spcPts val="0"/>
                        </a:spcBef>
                        <a:spcAft>
                          <a:spcPts val="0"/>
                        </a:spcAft>
                        <a:buNone/>
                      </a:pPr>
                      <a:r>
                        <a:rPr lang="en-US" sz="900" b="0" i="0" u="none" strike="noStrike" noProof="0">
                          <a:solidFill>
                            <a:srgbClr val="000000"/>
                          </a:solidFill>
                          <a:effectLst/>
                          <a:highlight>
                            <a:srgbClr val="FFFFFF"/>
                          </a:highlight>
                          <a:latin typeface="Raleway"/>
                        </a:rPr>
                        <a:t>FPTK Baru</a:t>
                      </a:r>
                    </a:p>
                    <a:p>
                      <a:pPr marL="0" lvl="0" indent="0" algn="l">
                        <a:lnSpc>
                          <a:spcPct val="100000"/>
                        </a:lnSpc>
                        <a:spcBef>
                          <a:spcPts val="0"/>
                        </a:spcBef>
                        <a:spcAft>
                          <a:spcPts val="0"/>
                        </a:spcAft>
                        <a:buNone/>
                      </a:pPr>
                      <a:endParaRPr lang="en-US" sz="900" b="0" i="0" u="none" strike="noStrike" noProof="0">
                        <a:solidFill>
                          <a:srgbClr val="000000"/>
                        </a:solidFill>
                        <a:effectLst/>
                        <a:highlight>
                          <a:srgbClr val="FFFFFF"/>
                        </a:highlight>
                        <a:latin typeface="Raleway"/>
                      </a:endParaRPr>
                    </a:p>
                    <a:p>
                      <a:pPr marL="0" lvl="0" indent="0" algn="l">
                        <a:lnSpc>
                          <a:spcPct val="100000"/>
                        </a:lnSpc>
                        <a:spcBef>
                          <a:spcPts val="0"/>
                        </a:spcBef>
                        <a:spcAft>
                          <a:spcPts val="0"/>
                        </a:spcAft>
                        <a:buNone/>
                      </a:pPr>
                      <a:r>
                        <a:rPr lang="en-US" sz="900" b="1" i="0" u="none" strike="noStrike" noProof="0">
                          <a:solidFill>
                            <a:srgbClr val="000000"/>
                          </a:solidFill>
                          <a:effectLst/>
                          <a:highlight>
                            <a:srgbClr val="FFFFFF"/>
                          </a:highlight>
                          <a:latin typeface="Raleway"/>
                        </a:rPr>
                        <a:t>Next Action:</a:t>
                      </a:r>
                    </a:p>
                    <a:p>
                      <a:pPr marL="0" lvl="0" indent="0" algn="l">
                        <a:lnSpc>
                          <a:spcPct val="100000"/>
                        </a:lnSpc>
                        <a:spcBef>
                          <a:spcPts val="0"/>
                        </a:spcBef>
                        <a:spcAft>
                          <a:spcPts val="0"/>
                        </a:spcAft>
                        <a:buNone/>
                      </a:pPr>
                      <a:r>
                        <a:rPr lang="en-US" sz="900" b="0" i="0" u="none" strike="noStrike" noProof="0">
                          <a:solidFill>
                            <a:srgbClr val="000000"/>
                          </a:solidFill>
                          <a:effectLst/>
                          <a:highlight>
                            <a:srgbClr val="FFFFFF"/>
                          </a:highlight>
                          <a:latin typeface="Raleway"/>
                        </a:rPr>
                        <a:t>Send min, 10 CVs </a:t>
                      </a:r>
                      <a:r>
                        <a:rPr lang="en-US" sz="900" b="0" i="0" u="none" strike="noStrike" noProof="0" err="1">
                          <a:solidFill>
                            <a:srgbClr val="000000"/>
                          </a:solidFill>
                          <a:effectLst/>
                          <a:highlight>
                            <a:srgbClr val="FFFFFF"/>
                          </a:highlight>
                          <a:latin typeface="Raleway"/>
                        </a:rPr>
                        <a:t>ke</a:t>
                      </a:r>
                      <a:r>
                        <a:rPr lang="en-US" sz="900" b="0" i="0" u="none" strike="noStrike" noProof="0">
                          <a:solidFill>
                            <a:srgbClr val="000000"/>
                          </a:solidFill>
                          <a:effectLst/>
                          <a:highlight>
                            <a:srgbClr val="FFFFFF"/>
                          </a:highlight>
                          <a:latin typeface="Raleway"/>
                        </a:rPr>
                        <a:t> User di Week 34</a:t>
                      </a: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2271202100"/>
                  </a:ext>
                </a:extLst>
              </a:tr>
            </a:tbl>
          </a:graphicData>
        </a:graphic>
      </p:graphicFrame>
    </p:spTree>
    <p:extLst>
      <p:ext uri="{BB962C8B-B14F-4D97-AF65-F5344CB8AC3E}">
        <p14:creationId xmlns:p14="http://schemas.microsoft.com/office/powerpoint/2010/main" val="173497381"/>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25DCEF-4ABF-4EB2-93C3-89A05C4E9294}"/>
            </a:ext>
          </a:extLst>
        </p:cNvPr>
        <p:cNvGrpSpPr/>
        <p:nvPr/>
      </p:nvGrpSpPr>
      <p:grpSpPr>
        <a:xfrm>
          <a:off x="0" y="0"/>
          <a:ext cx="0" cy="0"/>
          <a:chOff x="0" y="0"/>
          <a:chExt cx="0" cy="0"/>
        </a:xfrm>
      </p:grpSpPr>
      <p:sp>
        <p:nvSpPr>
          <p:cNvPr id="3" name="Text 1">
            <a:extLst>
              <a:ext uri="{FF2B5EF4-FFF2-40B4-BE49-F238E27FC236}">
                <a16:creationId xmlns:a16="http://schemas.microsoft.com/office/drawing/2014/main" id="{F45393BD-F638-B78E-2261-B255614562A2}"/>
              </a:ext>
            </a:extLst>
          </p:cNvPr>
          <p:cNvSpPr/>
          <p:nvPr/>
        </p:nvSpPr>
        <p:spPr>
          <a:xfrm>
            <a:off x="237744" y="451730"/>
            <a:ext cx="9144000" cy="400780"/>
          </a:xfrm>
          <a:prstGeom prst="rect">
            <a:avLst/>
          </a:prstGeom>
          <a:noFill/>
          <a:ln/>
        </p:spPr>
        <p:txBody>
          <a:bodyPr wrap="square" lIns="0" tIns="0" rIns="0" bIns="0" rtlCol="0" anchor="ctr"/>
          <a:lstStyle>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en-US" sz="2133" b="1" i="0" u="none" strike="noStrike" kern="1200" cap="none" spc="0" normalizeH="0" baseline="0" noProof="0">
                <a:ln>
                  <a:noFill/>
                </a:ln>
                <a:solidFill>
                  <a:srgbClr val="C00000"/>
                </a:solidFill>
                <a:effectLst/>
                <a:uLnTx/>
                <a:uFillTx/>
                <a:latin typeface="Raleway"/>
                <a:ea typeface="+mn-ea"/>
                <a:cs typeface="+mn-cs"/>
              </a:rPr>
              <a:t>FGDP</a:t>
            </a:r>
            <a:r>
              <a:rPr kumimoji="0" lang="en-US" sz="2133" b="1" i="0" u="none" strike="noStrike" kern="1200" cap="none" spc="0" normalizeH="0" baseline="0" noProof="0">
                <a:ln>
                  <a:noFill/>
                </a:ln>
                <a:solidFill>
                  <a:srgbClr val="002060"/>
                </a:solidFill>
                <a:effectLst/>
                <a:uLnTx/>
                <a:uFillTx/>
                <a:latin typeface="Raleway"/>
                <a:ea typeface="+mn-ea"/>
                <a:cs typeface="+mn-cs"/>
              </a:rPr>
              <a:t> - PIPELINE KANDIDAT AKTIF / SEDANG DIPROSE</a:t>
            </a:r>
            <a:r>
              <a:rPr lang="en-US" sz="2133" b="1">
                <a:solidFill>
                  <a:srgbClr val="002060"/>
                </a:solidFill>
                <a:latin typeface="Raleway"/>
              </a:rPr>
              <a:t>S</a:t>
            </a:r>
            <a:endParaRPr kumimoji="0" lang="en-US" sz="2133" b="0" i="0" u="none" strike="noStrike" kern="1200" cap="none" spc="0" normalizeH="0" baseline="0" noProof="0">
              <a:ln>
                <a:noFill/>
              </a:ln>
              <a:solidFill>
                <a:srgbClr val="002060"/>
              </a:solidFill>
              <a:effectLst/>
              <a:uLnTx/>
              <a:uFillTx/>
              <a:latin typeface="Raleway"/>
              <a:ea typeface="+mn-ea"/>
              <a:cs typeface="+mn-cs"/>
            </a:endParaRPr>
          </a:p>
        </p:txBody>
      </p:sp>
      <p:graphicFrame>
        <p:nvGraphicFramePr>
          <p:cNvPr id="9" name="tabelfgdp3">
            <a:extLst>
              <a:ext uri="{FF2B5EF4-FFF2-40B4-BE49-F238E27FC236}">
                <a16:creationId xmlns:a16="http://schemas.microsoft.com/office/drawing/2014/main" id="{5E26D0AD-0CE5-6D9C-28B1-F702A770DF6F}"/>
              </a:ext>
            </a:extLst>
          </p:cNvPr>
          <p:cNvGraphicFramePr>
            <a:graphicFrameLocks noGrp="1"/>
          </p:cNvGraphicFramePr>
          <p:nvPr>
            <p:extLst>
              <p:ext uri="{D42A27DB-BD31-4B8C-83A1-F6EECF244321}">
                <p14:modId xmlns:p14="http://schemas.microsoft.com/office/powerpoint/2010/main" val="1048786791"/>
              </p:ext>
            </p:extLst>
          </p:nvPr>
        </p:nvGraphicFramePr>
        <p:xfrm>
          <a:off x="239735" y="979530"/>
          <a:ext cx="11792845" cy="1537335"/>
        </p:xfrm>
        <a:graphic>
          <a:graphicData uri="http://schemas.openxmlformats.org/drawingml/2006/table">
            <a:tbl>
              <a:tblPr bandRow="1">
                <a:tableStyleId>{5C22544A-7EE6-4342-B048-85BDC9FD1C3A}</a:tableStyleId>
              </a:tblPr>
              <a:tblGrid>
                <a:gridCol w="308427">
                  <a:extLst>
                    <a:ext uri="{9D8B030D-6E8A-4147-A177-3AD203B41FA5}">
                      <a16:colId xmlns:a16="http://schemas.microsoft.com/office/drawing/2014/main" val="1868986621"/>
                    </a:ext>
                  </a:extLst>
                </a:gridCol>
                <a:gridCol w="471714">
                  <a:extLst>
                    <a:ext uri="{9D8B030D-6E8A-4147-A177-3AD203B41FA5}">
                      <a16:colId xmlns:a16="http://schemas.microsoft.com/office/drawing/2014/main" val="195984291"/>
                    </a:ext>
                  </a:extLst>
                </a:gridCol>
                <a:gridCol w="780142">
                  <a:extLst>
                    <a:ext uri="{9D8B030D-6E8A-4147-A177-3AD203B41FA5}">
                      <a16:colId xmlns:a16="http://schemas.microsoft.com/office/drawing/2014/main" val="2968988905"/>
                    </a:ext>
                  </a:extLst>
                </a:gridCol>
                <a:gridCol w="616857">
                  <a:extLst>
                    <a:ext uri="{9D8B030D-6E8A-4147-A177-3AD203B41FA5}">
                      <a16:colId xmlns:a16="http://schemas.microsoft.com/office/drawing/2014/main" val="2498797376"/>
                    </a:ext>
                  </a:extLst>
                </a:gridCol>
                <a:gridCol w="326571">
                  <a:extLst>
                    <a:ext uri="{9D8B030D-6E8A-4147-A177-3AD203B41FA5}">
                      <a16:colId xmlns:a16="http://schemas.microsoft.com/office/drawing/2014/main" val="3828997047"/>
                    </a:ext>
                  </a:extLst>
                </a:gridCol>
                <a:gridCol w="326571">
                  <a:extLst>
                    <a:ext uri="{9D8B030D-6E8A-4147-A177-3AD203B41FA5}">
                      <a16:colId xmlns:a16="http://schemas.microsoft.com/office/drawing/2014/main" val="347510781"/>
                    </a:ext>
                  </a:extLst>
                </a:gridCol>
                <a:gridCol w="380999">
                  <a:extLst>
                    <a:ext uri="{9D8B030D-6E8A-4147-A177-3AD203B41FA5}">
                      <a16:colId xmlns:a16="http://schemas.microsoft.com/office/drawing/2014/main" val="1317358518"/>
                    </a:ext>
                  </a:extLst>
                </a:gridCol>
                <a:gridCol w="380999">
                  <a:extLst>
                    <a:ext uri="{9D8B030D-6E8A-4147-A177-3AD203B41FA5}">
                      <a16:colId xmlns:a16="http://schemas.microsoft.com/office/drawing/2014/main" val="3793654561"/>
                    </a:ext>
                  </a:extLst>
                </a:gridCol>
                <a:gridCol w="362857">
                  <a:extLst>
                    <a:ext uri="{9D8B030D-6E8A-4147-A177-3AD203B41FA5}">
                      <a16:colId xmlns:a16="http://schemas.microsoft.com/office/drawing/2014/main" val="2766136461"/>
                    </a:ext>
                  </a:extLst>
                </a:gridCol>
                <a:gridCol w="344714">
                  <a:extLst>
                    <a:ext uri="{9D8B030D-6E8A-4147-A177-3AD203B41FA5}">
                      <a16:colId xmlns:a16="http://schemas.microsoft.com/office/drawing/2014/main" val="4049168828"/>
                    </a:ext>
                  </a:extLst>
                </a:gridCol>
                <a:gridCol w="362857">
                  <a:extLst>
                    <a:ext uri="{9D8B030D-6E8A-4147-A177-3AD203B41FA5}">
                      <a16:colId xmlns:a16="http://schemas.microsoft.com/office/drawing/2014/main" val="3597630074"/>
                    </a:ext>
                  </a:extLst>
                </a:gridCol>
                <a:gridCol w="380999">
                  <a:extLst>
                    <a:ext uri="{9D8B030D-6E8A-4147-A177-3AD203B41FA5}">
                      <a16:colId xmlns:a16="http://schemas.microsoft.com/office/drawing/2014/main" val="61691081"/>
                    </a:ext>
                  </a:extLst>
                </a:gridCol>
                <a:gridCol w="417284">
                  <a:extLst>
                    <a:ext uri="{9D8B030D-6E8A-4147-A177-3AD203B41FA5}">
                      <a16:colId xmlns:a16="http://schemas.microsoft.com/office/drawing/2014/main" val="859283425"/>
                    </a:ext>
                  </a:extLst>
                </a:gridCol>
                <a:gridCol w="344714">
                  <a:extLst>
                    <a:ext uri="{9D8B030D-6E8A-4147-A177-3AD203B41FA5}">
                      <a16:colId xmlns:a16="http://schemas.microsoft.com/office/drawing/2014/main" val="3036345849"/>
                    </a:ext>
                  </a:extLst>
                </a:gridCol>
                <a:gridCol w="399141">
                  <a:extLst>
                    <a:ext uri="{9D8B030D-6E8A-4147-A177-3AD203B41FA5}">
                      <a16:colId xmlns:a16="http://schemas.microsoft.com/office/drawing/2014/main" val="3693654093"/>
                    </a:ext>
                  </a:extLst>
                </a:gridCol>
                <a:gridCol w="344714">
                  <a:extLst>
                    <a:ext uri="{9D8B030D-6E8A-4147-A177-3AD203B41FA5}">
                      <a16:colId xmlns:a16="http://schemas.microsoft.com/office/drawing/2014/main" val="2558108726"/>
                    </a:ext>
                  </a:extLst>
                </a:gridCol>
                <a:gridCol w="453571">
                  <a:extLst>
                    <a:ext uri="{9D8B030D-6E8A-4147-A177-3AD203B41FA5}">
                      <a16:colId xmlns:a16="http://schemas.microsoft.com/office/drawing/2014/main" val="66728283"/>
                    </a:ext>
                  </a:extLst>
                </a:gridCol>
                <a:gridCol w="4789714">
                  <a:extLst>
                    <a:ext uri="{9D8B030D-6E8A-4147-A177-3AD203B41FA5}">
                      <a16:colId xmlns:a16="http://schemas.microsoft.com/office/drawing/2014/main" val="2301566175"/>
                    </a:ext>
                  </a:extLst>
                </a:gridCol>
              </a:tblGrid>
              <a:tr h="200025">
                <a:tc rowSpan="2">
                  <a:txBody>
                    <a:bodyPr/>
                    <a:lstStyle/>
                    <a:p>
                      <a:pPr algn="ctr" fontAlgn="ctr">
                        <a:buNone/>
                      </a:pPr>
                      <a:r>
                        <a:rPr lang="en-US" sz="1000" b="1">
                          <a:solidFill>
                            <a:srgbClr val="FFFFFF"/>
                          </a:solidFill>
                          <a:effectLst/>
                          <a:latin typeface="Raleway" pitchFamily="2" charset="0"/>
                        </a:rPr>
                        <a:t>No.</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rowSpan="2">
                  <a:txBody>
                    <a:bodyPr/>
                    <a:lstStyle/>
                    <a:p>
                      <a:pPr algn="ctr" fontAlgn="ctr">
                        <a:buNone/>
                      </a:pPr>
                      <a:r>
                        <a:rPr lang="en-US" sz="1000" b="1">
                          <a:solidFill>
                            <a:srgbClr val="FFFFFF"/>
                          </a:solidFill>
                          <a:effectLst/>
                          <a:latin typeface="Raleway" pitchFamily="2" charset="0"/>
                        </a:rPr>
                        <a:t>Program</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rowSpan="2">
                  <a:txBody>
                    <a:bodyPr/>
                    <a:lstStyle/>
                    <a:p>
                      <a:pPr algn="ctr" fontAlgn="ctr">
                        <a:buNone/>
                      </a:pPr>
                      <a:r>
                        <a:rPr lang="en-US" sz="1000" b="1" err="1">
                          <a:solidFill>
                            <a:srgbClr val="FFFFFF"/>
                          </a:solidFill>
                          <a:effectLst/>
                          <a:latin typeface="Raleway"/>
                        </a:rPr>
                        <a:t>Posisi</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rowSpan="2">
                  <a:txBody>
                    <a:bodyPr/>
                    <a:lstStyle/>
                    <a:p>
                      <a:pPr algn="ctr" fontAlgn="ctr">
                        <a:buNone/>
                      </a:pPr>
                      <a:r>
                        <a:rPr lang="en-US" sz="1000" b="1">
                          <a:solidFill>
                            <a:srgbClr val="FFFFFF"/>
                          </a:solidFill>
                          <a:effectLst/>
                          <a:latin typeface="Raleway"/>
                        </a:rPr>
                        <a:t>Total </a:t>
                      </a:r>
                      <a:r>
                        <a:rPr lang="en-US" sz="1000" b="1" err="1">
                          <a:solidFill>
                            <a:srgbClr val="FFFFFF"/>
                          </a:solidFill>
                          <a:effectLst/>
                          <a:latin typeface="Raleway"/>
                        </a:rPr>
                        <a:t>Kandidat</a:t>
                      </a:r>
                      <a:r>
                        <a:rPr lang="en-US" sz="1000" b="1">
                          <a:solidFill>
                            <a:srgbClr val="FFFFFF"/>
                          </a:solidFill>
                          <a:effectLst/>
                          <a:latin typeface="Raleway"/>
                        </a:rPr>
                        <a:t> </a:t>
                      </a:r>
                      <a:r>
                        <a:rPr lang="en-US" sz="1000" b="1" err="1">
                          <a:solidFill>
                            <a:srgbClr val="FFFFFF"/>
                          </a:solidFill>
                          <a:effectLst/>
                          <a:latin typeface="Raleway"/>
                        </a:rPr>
                        <a:t>Aktif</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gridSpan="4">
                  <a:txBody>
                    <a:bodyPr/>
                    <a:lstStyle/>
                    <a:p>
                      <a:pPr algn="ctr" fontAlgn="ctr">
                        <a:buNone/>
                      </a:pPr>
                      <a:r>
                        <a:rPr lang="en-US" sz="1000" b="1">
                          <a:solidFill>
                            <a:srgbClr val="FFFFFF"/>
                          </a:solidFill>
                          <a:effectLst/>
                          <a:latin typeface="Raleway" pitchFamily="2" charset="0"/>
                        </a:rPr>
                        <a:t>HR Interview</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3">
                  <a:txBody>
                    <a:bodyPr/>
                    <a:lstStyle/>
                    <a:p>
                      <a:pPr algn="ctr" fontAlgn="ctr">
                        <a:buNone/>
                      </a:pPr>
                      <a:r>
                        <a:rPr lang="en-US" sz="1000" b="1">
                          <a:solidFill>
                            <a:srgbClr val="FFFFFF"/>
                          </a:solidFill>
                          <a:effectLst/>
                          <a:latin typeface="Raleway" pitchFamily="2" charset="0"/>
                        </a:rPr>
                        <a:t>EXCEL TEST</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000" b="1">
                          <a:solidFill>
                            <a:srgbClr val="FFFFFF"/>
                          </a:solidFill>
                          <a:effectLst/>
                          <a:latin typeface="Raleway" pitchFamily="2" charset="0"/>
                        </a:rPr>
                        <a:t>MARKET VISIT</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306FB2"/>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hMerge="1">
                  <a:txBody>
                    <a:bodyPr/>
                    <a:lstStyle/>
                    <a:p>
                      <a:endParaRPr lang="en-US"/>
                    </a:p>
                  </a:txBody>
                  <a:tcPr/>
                </a:tc>
                <a:tc hMerge="1">
                  <a:txBody>
                    <a:bodyPr/>
                    <a:lstStyle/>
                    <a:p>
                      <a:endParaRPr lang="en-US"/>
                    </a:p>
                  </a:txBody>
                  <a:tcPr/>
                </a:tc>
                <a:tc gridSpan="3">
                  <a:txBody>
                    <a:bodyPr/>
                    <a:lstStyle/>
                    <a:p>
                      <a:pPr algn="ctr" fontAlgn="ctr">
                        <a:buNone/>
                      </a:pPr>
                      <a:r>
                        <a:rPr lang="en-US" sz="1000" b="1">
                          <a:solidFill>
                            <a:srgbClr val="FFFFFF"/>
                          </a:solidFill>
                          <a:effectLst/>
                          <a:latin typeface="Raleway" pitchFamily="2" charset="0"/>
                        </a:rPr>
                        <a:t>OFFERING</a:t>
                      </a:r>
                    </a:p>
                  </a:txBody>
                  <a:tcPr marL="9525" marR="9525" marT="9525" anchor="ctr">
                    <a:lnL w="12700" cap="flat" cmpd="sng" algn="ctr">
                      <a:solidFill>
                        <a:schemeClr val="tx1"/>
                      </a:solidFill>
                      <a:prstDash val="solid"/>
                      <a:round/>
                      <a:headEnd type="none" w="med" len="med"/>
                      <a:tailEnd type="none" w="med" len="med"/>
                    </a:lnL>
                    <a:lnR w="12700">
                      <a:solidFill>
                        <a:schemeClr val="tx1"/>
                      </a:solidFill>
                    </a:lnR>
                    <a:lnT w="6350" cap="flat" cmpd="sng" algn="ctr">
                      <a:solidFill>
                        <a:srgbClr val="F070B2"/>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hMerge="1">
                  <a:txBody>
                    <a:bodyPr/>
                    <a:lstStyle/>
                    <a:p>
                      <a:endParaRPr lang="en-US"/>
                    </a:p>
                  </a:txBody>
                  <a:tcPr/>
                </a:tc>
                <a:tc hMerge="1">
                  <a:txBody>
                    <a:bodyPr/>
                    <a:lstStyle/>
                    <a:p>
                      <a:endParaRPr lang="en-US"/>
                    </a:p>
                  </a:txBody>
                  <a:tcPr/>
                </a:tc>
                <a:tc rowSpan="2">
                  <a:txBody>
                    <a:bodyPr/>
                    <a:lstStyle/>
                    <a:p>
                      <a:pPr algn="ctr" fontAlgn="ctr">
                        <a:buNone/>
                      </a:pPr>
                      <a:r>
                        <a:rPr lang="en-US" sz="1000" b="1">
                          <a:solidFill>
                            <a:srgbClr val="FFFFFF"/>
                          </a:solidFill>
                          <a:effectLst/>
                          <a:latin typeface="Raleway" pitchFamily="2" charset="0"/>
                        </a:rPr>
                        <a:t>NOTES</a:t>
                      </a:r>
                    </a:p>
                  </a:txBody>
                  <a:tcPr marL="9525" marR="9525" marT="9525" anchor="ctr">
                    <a:lnL w="12700">
                      <a:solidFill>
                        <a:schemeClr val="tx1"/>
                      </a:solid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extLst>
                  <a:ext uri="{0D108BD9-81ED-4DB2-BD59-A6C34878D82A}">
                    <a16:rowId xmlns:a16="http://schemas.microsoft.com/office/drawing/2014/main" val="1267670695"/>
                  </a:ext>
                </a:extLst>
              </a:tr>
              <a:tr h="200025">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algn="ctr" fontAlgn="ctr">
                        <a:buNone/>
                      </a:pPr>
                      <a:r>
                        <a:rPr lang="en-US" sz="1000" b="1">
                          <a:solidFill>
                            <a:srgbClr val="FFFFFF"/>
                          </a:solidFill>
                          <a:effectLst/>
                          <a:latin typeface="Raleway" pitchFamily="2" charset="0"/>
                        </a:rPr>
                        <a:t>OK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NOT OK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SCHEDULED</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WITHDRAW</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OK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NOT OK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SCHEDULED</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OK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NOT OK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SCHEDULED</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ACCEPT</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REJECT</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pPr algn="ctr" fontAlgn="ctr">
                        <a:buNone/>
                      </a:pPr>
                      <a:r>
                        <a:rPr lang="en-US" sz="1000" b="1">
                          <a:solidFill>
                            <a:srgbClr val="FFFFFF"/>
                          </a:solidFill>
                          <a:effectLst/>
                          <a:latin typeface="Raleway" pitchFamily="2" charset="0"/>
                        </a:rPr>
                        <a:t>ON GOING</a:t>
                      </a:r>
                    </a:p>
                  </a:txBody>
                  <a:tcPr marL="9525" marR="9525" marT="9525"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vMerge="1">
                  <a:txBody>
                    <a:bodyPr/>
                    <a:lstStyle/>
                    <a:p>
                      <a:endParaRPr lang="en-US"/>
                    </a:p>
                  </a:txBody>
                  <a:tcPr/>
                </a:tc>
                <a:extLst>
                  <a:ext uri="{0D108BD9-81ED-4DB2-BD59-A6C34878D82A}">
                    <a16:rowId xmlns:a16="http://schemas.microsoft.com/office/drawing/2014/main" val="3149835063"/>
                  </a:ext>
                </a:extLst>
              </a:tr>
              <a:tr h="409575">
                <a:tc>
                  <a:txBody>
                    <a:bodyPr/>
                    <a:lstStyle/>
                    <a:p>
                      <a:pPr algn="ctr" fontAlgn="ctr">
                        <a:buNone/>
                      </a:pPr>
                      <a:r>
                        <a:rPr lang="en-US" sz="1000">
                          <a:effectLst/>
                          <a:latin typeface="Raleway"/>
                        </a:rPr>
                        <a:t>14</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ctr">
                        <a:buNone/>
                      </a:pPr>
                      <a:r>
                        <a:rPr lang="en-US" sz="1000">
                          <a:effectLst/>
                          <a:latin typeface="Raleway" pitchFamily="2" charset="0"/>
                        </a:rPr>
                        <a:t>FGDP</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ctr">
                        <a:buNone/>
                      </a:pPr>
                      <a:r>
                        <a:rPr lang="en-US" sz="1000">
                          <a:effectLst/>
                          <a:latin typeface="Raleway" pitchFamily="2" charset="0"/>
                        </a:rPr>
                        <a:t>Sales GT</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a:rPr>
                        <a:t>35</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a:rPr>
                        <a:t>33</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000">
                          <a:effectLst/>
                          <a:latin typeface="Raleway" pitchFamily="2" charset="0"/>
                        </a:rPr>
                        <a:t>2</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0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000">
                          <a:effectLst/>
                          <a:latin typeface="Raleway"/>
                        </a:rPr>
                        <a:t>24</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a:rPr>
                        <a:t>9</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0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a:rPr>
                        <a:t>16</a:t>
                      </a:r>
                      <a:endParaRPr lang="en-US" sz="1000">
                        <a:effectLst/>
                        <a:latin typeface="Raleway" pitchFamily="2" charset="0"/>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000">
                          <a:effectLst/>
                          <a:latin typeface="Raleway"/>
                        </a:rPr>
                        <a:t>8</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endParaRPr lang="en-US" sz="10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AE9F8"/>
                    </a:solidFill>
                  </a:tcPr>
                </a:tc>
                <a:tc>
                  <a:txBody>
                    <a:bodyPr/>
                    <a:lstStyle/>
                    <a:p>
                      <a:pPr algn="ctr" fontAlgn="ctr">
                        <a:buNone/>
                      </a:pPr>
                      <a:r>
                        <a:rPr lang="en-US" sz="1000">
                          <a:effectLst/>
                          <a:latin typeface="Raleway"/>
                        </a:rPr>
                        <a:t>15</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1000">
                          <a:effectLst/>
                          <a:latin typeface="Raleway" pitchFamily="2" charset="0"/>
                        </a:rPr>
                        <a:t>1</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buNone/>
                      </a:pPr>
                      <a:endParaRPr lang="en-US" sz="1000">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lvl="0" indent="-171450" algn="l">
                        <a:lnSpc>
                          <a:spcPct val="100000"/>
                        </a:lnSpc>
                        <a:spcBef>
                          <a:spcPts val="0"/>
                        </a:spcBef>
                        <a:spcAft>
                          <a:spcPts val="0"/>
                        </a:spcAft>
                        <a:buClr>
                          <a:srgbClr val="000000"/>
                        </a:buClr>
                        <a:buFont typeface="Calibri"/>
                        <a:buChar char="-"/>
                      </a:pPr>
                      <a:r>
                        <a:rPr lang="en-US" sz="1000" b="0" i="0" u="none" strike="noStrike" noProof="0">
                          <a:solidFill>
                            <a:schemeClr val="tx1"/>
                          </a:solidFill>
                          <a:effectLst/>
                          <a:latin typeface="Raleway"/>
                        </a:rPr>
                        <a:t>Week 32: </a:t>
                      </a:r>
                      <a:r>
                        <a:rPr lang="en-US" sz="1000" b="0" i="0" u="none" strike="noStrike" noProof="0" err="1">
                          <a:solidFill>
                            <a:schemeClr val="tx1"/>
                          </a:solidFill>
                          <a:effectLst/>
                          <a:latin typeface="Raleway"/>
                        </a:rPr>
                        <a:t>Psikotes</a:t>
                      </a:r>
                      <a:r>
                        <a:rPr lang="en-US" sz="1000" b="0" i="0" u="none" strike="noStrike" noProof="0">
                          <a:solidFill>
                            <a:schemeClr val="tx1"/>
                          </a:solidFill>
                          <a:effectLst/>
                          <a:latin typeface="Raleway"/>
                        </a:rPr>
                        <a:t> 29 </a:t>
                      </a:r>
                      <a:r>
                        <a:rPr lang="en-US" sz="1000" b="0" i="0" u="none" strike="noStrike" noProof="0" err="1">
                          <a:solidFill>
                            <a:schemeClr val="tx1"/>
                          </a:solidFill>
                          <a:effectLst/>
                          <a:latin typeface="Raleway"/>
                        </a:rPr>
                        <a:t>kandidat</a:t>
                      </a:r>
                    </a:p>
                    <a:p>
                      <a:pPr marL="171450" lvl="0" indent="-171450" algn="l">
                        <a:lnSpc>
                          <a:spcPct val="100000"/>
                        </a:lnSpc>
                        <a:spcBef>
                          <a:spcPts val="0"/>
                        </a:spcBef>
                        <a:spcAft>
                          <a:spcPts val="0"/>
                        </a:spcAft>
                        <a:buClr>
                          <a:srgbClr val="000000"/>
                        </a:buClr>
                        <a:buFont typeface="Calibri"/>
                        <a:buChar char="-"/>
                      </a:pPr>
                      <a:r>
                        <a:rPr lang="en-US" sz="1000" b="0" i="0" u="none" strike="noStrike" noProof="0">
                          <a:solidFill>
                            <a:schemeClr val="tx1"/>
                          </a:solidFill>
                          <a:effectLst/>
                          <a:latin typeface="Raleway"/>
                        </a:rPr>
                        <a:t>Week 33: Excel Test 7 kandidat</a:t>
                      </a:r>
                    </a:p>
                    <a:p>
                      <a:pPr marL="0" lvl="0" indent="0" algn="l">
                        <a:lnSpc>
                          <a:spcPct val="100000"/>
                        </a:lnSpc>
                        <a:spcBef>
                          <a:spcPts val="0"/>
                        </a:spcBef>
                        <a:spcAft>
                          <a:spcPts val="0"/>
                        </a:spcAft>
                        <a:buNone/>
                      </a:pPr>
                      <a:endParaRPr lang="en-US" sz="1000" b="0" i="0" u="none" strike="noStrike" noProof="0">
                        <a:solidFill>
                          <a:srgbClr val="000000"/>
                        </a:solidFill>
                        <a:effectLst/>
                        <a:latin typeface="Raleway"/>
                      </a:endParaRPr>
                    </a:p>
                    <a:p>
                      <a:pPr marL="0" lvl="0" indent="0" algn="l">
                        <a:lnSpc>
                          <a:spcPct val="100000"/>
                        </a:lnSpc>
                        <a:spcBef>
                          <a:spcPts val="0"/>
                        </a:spcBef>
                        <a:spcAft>
                          <a:spcPts val="0"/>
                        </a:spcAft>
                        <a:buNone/>
                      </a:pPr>
                      <a:r>
                        <a:rPr lang="en-US" sz="1000" b="1" i="0" u="none" strike="noStrike" noProof="0">
                          <a:solidFill>
                            <a:schemeClr val="tx1"/>
                          </a:solidFill>
                          <a:effectLst/>
                          <a:latin typeface="Raleway"/>
                        </a:rPr>
                        <a:t>Next Action: </a:t>
                      </a:r>
                      <a:endParaRPr lang="en-US" sz="1000" b="0" i="0" u="none" strike="noStrike" noProof="0">
                        <a:solidFill>
                          <a:srgbClr val="000000"/>
                        </a:solidFill>
                        <a:effectLst/>
                        <a:latin typeface="Raleway"/>
                      </a:endParaRPr>
                    </a:p>
                    <a:p>
                      <a:pPr marL="0" lvl="0" indent="0" algn="l">
                        <a:lnSpc>
                          <a:spcPct val="100000"/>
                        </a:lnSpc>
                        <a:spcBef>
                          <a:spcPts val="0"/>
                        </a:spcBef>
                        <a:spcAft>
                          <a:spcPts val="0"/>
                        </a:spcAft>
                        <a:buNone/>
                      </a:pPr>
                      <a:r>
                        <a:rPr lang="en-US" sz="1000" b="0" i="0" u="none" strike="noStrike" noProof="0">
                          <a:solidFill>
                            <a:schemeClr val="tx1"/>
                          </a:solidFill>
                          <a:effectLst/>
                          <a:latin typeface="Raleway"/>
                        </a:rPr>
                        <a:t> Case Study </a:t>
                      </a:r>
                      <a:r>
                        <a:rPr lang="en-US" sz="1000" b="0" i="0" u="none" strike="noStrike" noProof="0" err="1">
                          <a:solidFill>
                            <a:schemeClr val="tx1"/>
                          </a:solidFill>
                          <a:effectLst/>
                          <a:latin typeface="Raleway"/>
                        </a:rPr>
                        <a:t>kandidat</a:t>
                      </a:r>
                      <a:r>
                        <a:rPr lang="en-US" sz="1000" b="0" i="0" u="none" strike="noStrike" noProof="0">
                          <a:solidFill>
                            <a:schemeClr val="tx1"/>
                          </a:solidFill>
                          <a:effectLst/>
                          <a:latin typeface="Raleway"/>
                        </a:rPr>
                        <a:t> lolos Excel Test di Week 34</a:t>
                      </a:r>
                      <a:endParaRPr lang="en-US" sz="1000" b="0" i="0" u="none" strike="noStrike" noProof="0">
                        <a:solidFill>
                          <a:srgbClr val="000000"/>
                        </a:solidFill>
                        <a:effectLst/>
                        <a:latin typeface="Raleway"/>
                      </a:endParaRP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63605630"/>
                  </a:ext>
                </a:extLst>
              </a:tr>
            </a:tbl>
          </a:graphicData>
        </a:graphic>
      </p:graphicFrame>
    </p:spTree>
    <p:extLst>
      <p:ext uri="{BB962C8B-B14F-4D97-AF65-F5344CB8AC3E}">
        <p14:creationId xmlns:p14="http://schemas.microsoft.com/office/powerpoint/2010/main" val="3476432020"/>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0F09B8-F4B1-F823-511D-082C82BCC4D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146083A-0276-C5C3-835D-C681DF29133F}"/>
              </a:ext>
            </a:extLst>
          </p:cNvPr>
          <p:cNvSpPr txBox="1">
            <a:spLocks/>
          </p:cNvSpPr>
          <p:nvPr/>
        </p:nvSpPr>
        <p:spPr>
          <a:xfrm>
            <a:off x="3031926" y="2702620"/>
            <a:ext cx="6128147" cy="1452759"/>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3200" b="1" i="0" u="none" strike="noStrike" kern="1200" cap="none" spc="0" normalizeH="0" baseline="0" noProof="0">
                <a:ln>
                  <a:noFill/>
                </a:ln>
                <a:solidFill>
                  <a:srgbClr val="002060"/>
                </a:solidFill>
                <a:effectLst/>
                <a:uLnTx/>
                <a:uFillTx/>
                <a:latin typeface="Futura Condensed Extra" pitchFamily="50" charset="0"/>
                <a:ea typeface="+mj-ea"/>
                <a:cs typeface="+mj-cs"/>
              </a:rPr>
              <a:t>UPDATE PROGRESS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3200" b="1" i="0" u="none" strike="noStrike" kern="1200" cap="none" spc="0" normalizeH="0" baseline="0" noProof="0">
                <a:ln>
                  <a:noFill/>
                </a:ln>
                <a:solidFill>
                  <a:srgbClr val="002060"/>
                </a:solidFill>
                <a:effectLst/>
                <a:uLnTx/>
                <a:uFillTx/>
                <a:latin typeface="Futura Condensed Extra" pitchFamily="50" charset="0"/>
                <a:ea typeface="+mj-ea"/>
                <a:cs typeface="+mj-cs"/>
              </a:rPr>
              <a:t>PEMENUHAN SDM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3200" b="1" i="0" u="none" strike="noStrike" kern="1200" cap="none" spc="0" normalizeH="0" baseline="0" noProof="0">
                <a:ln>
                  <a:noFill/>
                </a:ln>
                <a:solidFill>
                  <a:srgbClr val="002060"/>
                </a:solidFill>
                <a:effectLst/>
                <a:uLnTx/>
                <a:uFillTx/>
                <a:latin typeface="Futura Condensed Extra" pitchFamily="50" charset="0"/>
                <a:ea typeface="+mj-ea"/>
                <a:cs typeface="+mj-cs"/>
              </a:rPr>
              <a:t>SALES GT – STO CHILLED</a:t>
            </a:r>
          </a:p>
        </p:txBody>
      </p:sp>
    </p:spTree>
    <p:extLst>
      <p:ext uri="{BB962C8B-B14F-4D97-AF65-F5344CB8AC3E}">
        <p14:creationId xmlns:p14="http://schemas.microsoft.com/office/powerpoint/2010/main" val="2950490343"/>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2839A2-0DB1-AF5E-6F67-3EEDBB6FA3AD}"/>
            </a:ext>
          </a:extLst>
        </p:cNvPr>
        <p:cNvGrpSpPr/>
        <p:nvPr/>
      </p:nvGrpSpPr>
      <p:grpSpPr>
        <a:xfrm>
          <a:off x="0" y="0"/>
          <a:ext cx="0" cy="0"/>
          <a:chOff x="0" y="0"/>
          <a:chExt cx="0" cy="0"/>
        </a:xfrm>
      </p:grpSpPr>
      <p:sp>
        <p:nvSpPr>
          <p:cNvPr id="3" name="Text 0">
            <a:extLst>
              <a:ext uri="{FF2B5EF4-FFF2-40B4-BE49-F238E27FC236}">
                <a16:creationId xmlns:a16="http://schemas.microsoft.com/office/drawing/2014/main" id="{B69B75FB-7BCF-3DD7-3CA7-9DC6DCDC6663}"/>
              </a:ext>
            </a:extLst>
          </p:cNvPr>
          <p:cNvSpPr/>
          <p:nvPr/>
        </p:nvSpPr>
        <p:spPr>
          <a:xfrm>
            <a:off x="255816" y="0"/>
            <a:ext cx="9692640" cy="772439"/>
          </a:xfrm>
          <a:prstGeom prst="rect">
            <a:avLst/>
          </a:prstGeom>
          <a:noFill/>
          <a:ln/>
        </p:spPr>
        <p:txBody>
          <a:bodyPr wrap="square" lIns="0" tIns="0" rIns="0" bIns="0" rtlCol="0" anchor="ctr"/>
          <a:lstStyle/>
          <a:p>
            <a:pPr>
              <a:defRPr/>
            </a:pPr>
            <a:r>
              <a:rPr lang="en-US" sz="2400" b="1">
                <a:solidFill>
                  <a:srgbClr val="082A6F"/>
                </a:solidFill>
                <a:latin typeface="Raleway"/>
                <a:ea typeface="Raleway" pitchFamily="34" charset="-122"/>
                <a:cs typeface="Raleway" pitchFamily="34" charset="-120"/>
              </a:rPr>
              <a:t>Project STO</a:t>
            </a:r>
            <a:r>
              <a:rPr kumimoji="0" lang="en-US" sz="2400" b="1" i="0" u="none" strike="noStrike" kern="1200" cap="none" spc="0" normalizeH="0" baseline="0" noProof="0">
                <a:ln>
                  <a:noFill/>
                </a:ln>
                <a:solidFill>
                  <a:srgbClr val="082A6F"/>
                </a:solidFill>
                <a:effectLst/>
                <a:uLnTx/>
                <a:uFillTx/>
                <a:latin typeface="Raleway"/>
                <a:ea typeface="Raleway" pitchFamily="34" charset="-122"/>
                <a:cs typeface="Raleway" pitchFamily="34" charset="-120"/>
              </a:rPr>
              <a:t> Chilled: </a:t>
            </a:r>
            <a:r>
              <a:rPr lang="en-US" sz="2400" b="1">
                <a:solidFill>
                  <a:srgbClr val="082A6F"/>
                </a:solidFill>
                <a:latin typeface="Raleway"/>
                <a:ea typeface="Raleway" pitchFamily="34" charset="-122"/>
                <a:cs typeface="Raleway" pitchFamily="34" charset="-120"/>
              </a:rPr>
              <a:t>E</a:t>
            </a:r>
            <a:r>
              <a:rPr kumimoji="0" lang="en-US" sz="2400" b="1" i="0" u="none" strike="noStrike" kern="1200" cap="none" spc="0" normalizeH="0" baseline="0" noProof="0" err="1">
                <a:ln>
                  <a:noFill/>
                </a:ln>
                <a:solidFill>
                  <a:srgbClr val="082A6F"/>
                </a:solidFill>
                <a:effectLst/>
                <a:uLnTx/>
                <a:uFillTx/>
                <a:latin typeface="Raleway"/>
                <a:ea typeface="Raleway" pitchFamily="34" charset="-122"/>
                <a:cs typeface="Raleway" pitchFamily="34" charset="-120"/>
              </a:rPr>
              <a:t>xecutive</a:t>
            </a:r>
            <a:r>
              <a:rPr kumimoji="0" lang="en-US" sz="2400" b="1" i="0" u="none" strike="noStrike" kern="1200" cap="none" spc="0" normalizeH="0" baseline="0" noProof="0">
                <a:ln>
                  <a:noFill/>
                </a:ln>
                <a:solidFill>
                  <a:srgbClr val="082A6F"/>
                </a:solidFill>
                <a:effectLst/>
                <a:uLnTx/>
                <a:uFillTx/>
                <a:latin typeface="Raleway"/>
                <a:ea typeface="Raleway" pitchFamily="34" charset="-122"/>
                <a:cs typeface="Raleway" pitchFamily="34" charset="-120"/>
              </a:rPr>
              <a:t> summary</a:t>
            </a:r>
            <a:endParaRPr kumimoji="0" lang="en-US" sz="2400" b="0" i="0" u="none" strike="noStrike" kern="1200" cap="none" spc="0" normalizeH="0" baseline="0" noProof="0">
              <a:ln>
                <a:noFill/>
              </a:ln>
              <a:solidFill>
                <a:prstClr val="black"/>
              </a:solidFill>
              <a:effectLst/>
              <a:uLnTx/>
              <a:uFillTx/>
              <a:latin typeface="Raleway"/>
            </a:endParaRPr>
          </a:p>
        </p:txBody>
      </p:sp>
      <p:sp>
        <p:nvSpPr>
          <p:cNvPr id="22" name="Text 17">
            <a:extLst>
              <a:ext uri="{FF2B5EF4-FFF2-40B4-BE49-F238E27FC236}">
                <a16:creationId xmlns:a16="http://schemas.microsoft.com/office/drawing/2014/main" id="{6EAB85B6-B166-FF84-EAD1-2E412674B5BF}"/>
              </a:ext>
            </a:extLst>
          </p:cNvPr>
          <p:cNvSpPr/>
          <p:nvPr/>
        </p:nvSpPr>
        <p:spPr>
          <a:xfrm>
            <a:off x="0" y="6068568"/>
            <a:ext cx="228600" cy="109728"/>
          </a:xfrm>
          <a:prstGeom prst="rect">
            <a:avLst/>
          </a:prstGeom>
          <a:noFill/>
          <a:ln/>
        </p:spPr>
        <p:txBody>
          <a:bodyPr wrap="square"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AAB1BF"/>
                </a:solidFill>
                <a:effectLst/>
                <a:uLnTx/>
                <a:uFillTx/>
                <a:latin typeface="Raleway" pitchFamily="34" charset="0"/>
                <a:ea typeface="Raleway" pitchFamily="34" charset="-122"/>
                <a:cs typeface="Raleway" pitchFamily="34" charset="-120"/>
              </a:rPr>
              <a:t>9</a:t>
            </a:r>
            <a:endParaRPr kumimoji="0" lang="en-US" sz="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TextBox 16">
            <a:extLst>
              <a:ext uri="{FF2B5EF4-FFF2-40B4-BE49-F238E27FC236}">
                <a16:creationId xmlns:a16="http://schemas.microsoft.com/office/drawing/2014/main" id="{6871EC12-CBD9-B353-C7E9-3FBDBAD98975}"/>
              </a:ext>
            </a:extLst>
          </p:cNvPr>
          <p:cNvSpPr txBox="1"/>
          <p:nvPr/>
        </p:nvSpPr>
        <p:spPr>
          <a:xfrm>
            <a:off x="5459485" y="1184196"/>
            <a:ext cx="6410284" cy="2092881"/>
          </a:xfrm>
          <a:prstGeom prst="rect">
            <a:avLst/>
          </a:prstGeom>
          <a:noFill/>
        </p:spPr>
        <p:txBody>
          <a:bodyPr wrap="square" lIns="91440" tIns="45720" rIns="91440" bIns="45720" anchor="t">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171450" indent="-171450">
              <a:buFont typeface="Arial" panose="020B0604020202020204" pitchFamily="34" charset="0"/>
              <a:buChar char="•"/>
            </a:pPr>
            <a:r>
              <a:rPr lang="en-US" sz="1300" b="1">
                <a:highlight>
                  <a:srgbClr val="FFFF00"/>
                </a:highlight>
                <a:latin typeface="Raleway"/>
              </a:rPr>
              <a:t>On Going</a:t>
            </a:r>
            <a:r>
              <a:rPr lang="en-US" sz="1300" b="1">
                <a:latin typeface="Raleway"/>
              </a:rPr>
              <a:t> Project STO Chilled</a:t>
            </a:r>
          </a:p>
          <a:p>
            <a:pPr marL="628650" lvl="1" indent="-171450">
              <a:buFont typeface="Courier New" panose="020B0604020202020204" pitchFamily="34" charset="0"/>
              <a:buChar char="o"/>
            </a:pPr>
            <a:r>
              <a:rPr lang="en-US" sz="1300" err="1">
                <a:latin typeface="Raleway"/>
              </a:rPr>
              <a:t>Gelombang</a:t>
            </a:r>
            <a:r>
              <a:rPr lang="en-US" sz="1300">
                <a:latin typeface="Raleway"/>
              </a:rPr>
              <a:t> 1 – Start 8 Juni 2026 (Deadline </a:t>
            </a:r>
            <a:r>
              <a:rPr lang="en-US" sz="1300" err="1">
                <a:latin typeface="Raleway"/>
              </a:rPr>
              <a:t>pemenuhan</a:t>
            </a:r>
            <a:r>
              <a:rPr lang="en-US" sz="1300">
                <a:latin typeface="Raleway"/>
              </a:rPr>
              <a:t> 1 Juli 2026)</a:t>
            </a:r>
          </a:p>
          <a:p>
            <a:pPr marL="628650" lvl="1" indent="-171450">
              <a:buFont typeface="Courier New" panose="020B0604020202020204" pitchFamily="34" charset="0"/>
              <a:buChar char="o"/>
            </a:pPr>
            <a:r>
              <a:rPr lang="en-US" sz="1300" err="1">
                <a:latin typeface="Raleway"/>
              </a:rPr>
              <a:t>Gelombang</a:t>
            </a:r>
            <a:r>
              <a:rPr lang="en-US" sz="1300">
                <a:latin typeface="Raleway"/>
              </a:rPr>
              <a:t> 2 – Start 19 Juni 2026 (Deadline </a:t>
            </a:r>
            <a:r>
              <a:rPr lang="en-US" sz="1300" err="1">
                <a:latin typeface="Raleway"/>
              </a:rPr>
              <a:t>pemenuhan</a:t>
            </a:r>
            <a:r>
              <a:rPr lang="en-US" sz="1300">
                <a:latin typeface="Raleway"/>
              </a:rPr>
              <a:t> 20 Juli 2026)</a:t>
            </a:r>
          </a:p>
          <a:p>
            <a:pPr marL="628650" lvl="1" indent="-171450">
              <a:buFont typeface="Courier New" panose="020B0604020202020204" pitchFamily="34" charset="0"/>
              <a:buChar char="o"/>
            </a:pPr>
            <a:r>
              <a:rPr lang="en-US" sz="1300" err="1">
                <a:latin typeface="Raleway"/>
              </a:rPr>
              <a:t>Gelombang</a:t>
            </a:r>
            <a:r>
              <a:rPr lang="en-US" sz="1300">
                <a:latin typeface="Raleway"/>
              </a:rPr>
              <a:t> 3 – Start 10 Juli 2026 (Deadline </a:t>
            </a:r>
            <a:r>
              <a:rPr lang="en-US" sz="1300" err="1">
                <a:latin typeface="Raleway"/>
              </a:rPr>
              <a:t>pemenuhan</a:t>
            </a:r>
            <a:r>
              <a:rPr lang="en-US" sz="1300">
                <a:latin typeface="Raleway"/>
              </a:rPr>
              <a:t> 10 Agustus 2026)</a:t>
            </a:r>
          </a:p>
          <a:p>
            <a:pPr marL="628650" lvl="1" indent="-171450">
              <a:buFont typeface="Courier New" panose="020B0604020202020204" pitchFamily="34" charset="0"/>
              <a:buChar char="o"/>
            </a:pPr>
            <a:r>
              <a:rPr lang="en-US" sz="1300" err="1">
                <a:latin typeface="Raleway"/>
              </a:rPr>
              <a:t>Gelombang</a:t>
            </a:r>
            <a:r>
              <a:rPr lang="en-US" sz="1300">
                <a:latin typeface="Raleway"/>
              </a:rPr>
              <a:t> 4 – Start 1 Agustus 2026 (Deadline </a:t>
            </a:r>
            <a:r>
              <a:rPr lang="en-US" sz="1300" err="1">
                <a:latin typeface="Raleway"/>
              </a:rPr>
              <a:t>pemenuhan</a:t>
            </a:r>
            <a:r>
              <a:rPr lang="en-US" sz="1300">
                <a:latin typeface="Raleway"/>
              </a:rPr>
              <a:t> 1 September 2026)</a:t>
            </a:r>
          </a:p>
          <a:p>
            <a:pPr marL="628650" lvl="1" indent="-171450">
              <a:buFont typeface="Courier New" panose="020B0604020202020204" pitchFamily="34" charset="0"/>
              <a:buChar char="o"/>
            </a:pPr>
            <a:endParaRPr lang="en-US" sz="1300">
              <a:latin typeface="Raleway"/>
            </a:endParaRPr>
          </a:p>
          <a:p>
            <a:pPr marL="171450" indent="-171450">
              <a:buFont typeface="Arial" panose="020B0604020202020204" pitchFamily="34" charset="0"/>
              <a:buChar char="•"/>
            </a:pPr>
            <a:r>
              <a:rPr lang="en-US" sz="1300" b="1">
                <a:highlight>
                  <a:srgbClr val="FFFF00"/>
                </a:highlight>
                <a:latin typeface="Raleway"/>
              </a:rPr>
              <a:t>Upcoming</a:t>
            </a:r>
            <a:r>
              <a:rPr lang="en-US" sz="1300" b="1">
                <a:latin typeface="Raleway"/>
              </a:rPr>
              <a:t> Project STO Chilled</a:t>
            </a:r>
            <a:endParaRPr lang="en-US" sz="1300">
              <a:latin typeface="Calibri"/>
              <a:ea typeface="Calibri"/>
              <a:cs typeface="Calibri"/>
            </a:endParaRPr>
          </a:p>
          <a:p>
            <a:pPr marL="628650" lvl="1" indent="-171450">
              <a:buFont typeface="Courier New" panose="020B0604020202020204" pitchFamily="34" charset="0"/>
              <a:buChar char="o"/>
            </a:pPr>
            <a:r>
              <a:rPr lang="en-US" sz="1300" err="1">
                <a:latin typeface="Raleway"/>
              </a:rPr>
              <a:t>Gelombang</a:t>
            </a:r>
            <a:r>
              <a:rPr lang="en-US" sz="1300">
                <a:latin typeface="Raleway"/>
              </a:rPr>
              <a:t> 5 – Start 20 Agustus 2026 (Deadline </a:t>
            </a:r>
            <a:r>
              <a:rPr lang="en-US" sz="1300" err="1">
                <a:latin typeface="Raleway"/>
              </a:rPr>
              <a:t>pemenuhan</a:t>
            </a:r>
            <a:r>
              <a:rPr lang="en-US" sz="1300">
                <a:latin typeface="Raleway"/>
              </a:rPr>
              <a:t> 20 September 2026)</a:t>
            </a:r>
            <a:endParaRPr lang="en-US" sz="1300" b="1">
              <a:solidFill>
                <a:srgbClr val="FF0000"/>
              </a:solidFill>
              <a:latin typeface="Raleway"/>
            </a:endParaRPr>
          </a:p>
        </p:txBody>
      </p:sp>
      <p:sp>
        <p:nvSpPr>
          <p:cNvPr id="17" name="TextBox 16">
            <a:extLst>
              <a:ext uri="{FF2B5EF4-FFF2-40B4-BE49-F238E27FC236}">
                <a16:creationId xmlns:a16="http://schemas.microsoft.com/office/drawing/2014/main" id="{347A88B7-9250-6021-5BE2-CF8EFBDCEADB}"/>
              </a:ext>
            </a:extLst>
          </p:cNvPr>
          <p:cNvSpPr txBox="1"/>
          <p:nvPr/>
        </p:nvSpPr>
        <p:spPr>
          <a:xfrm>
            <a:off x="197416" y="3115001"/>
            <a:ext cx="997131" cy="253916"/>
          </a:xfrm>
          <a:prstGeom prst="rect">
            <a:avLst/>
          </a:prstGeom>
          <a:noFill/>
        </p:spPr>
        <p:txBody>
          <a:bodyPr wrap="square" lIns="91440" tIns="45720" rIns="91440" bIns="45720" anchor="t">
            <a:spAutoFit/>
          </a:bodyPr>
          <a:lstStyle/>
          <a:p>
            <a:r>
              <a:rPr lang="en-US" sz="1050" b="1">
                <a:solidFill>
                  <a:srgbClr val="002060"/>
                </a:solidFill>
                <a:latin typeface="Raleway"/>
              </a:rPr>
              <a:t>Start Gel</a:t>
            </a:r>
            <a:r>
              <a:rPr lang="en-US" sz="1050" b="1">
                <a:solidFill>
                  <a:srgbClr val="002060"/>
                </a:solidFill>
                <a:effectLst/>
                <a:latin typeface="Raleway"/>
              </a:rPr>
              <a:t>.</a:t>
            </a:r>
            <a:r>
              <a:rPr lang="en-US" sz="1050" b="1">
                <a:solidFill>
                  <a:srgbClr val="002060"/>
                </a:solidFill>
                <a:latin typeface="Raleway"/>
              </a:rPr>
              <a:t> 1</a:t>
            </a:r>
            <a:endParaRPr lang="en-US" sz="1050" b="1">
              <a:solidFill>
                <a:srgbClr val="000000"/>
              </a:solidFill>
              <a:latin typeface="Calibri"/>
              <a:ea typeface="Calibri"/>
              <a:cs typeface="Calibri"/>
            </a:endParaRPr>
          </a:p>
        </p:txBody>
      </p:sp>
      <p:sp>
        <p:nvSpPr>
          <p:cNvPr id="18" name="TextBox 17">
            <a:extLst>
              <a:ext uri="{FF2B5EF4-FFF2-40B4-BE49-F238E27FC236}">
                <a16:creationId xmlns:a16="http://schemas.microsoft.com/office/drawing/2014/main" id="{481CC9BE-FD52-851D-62CD-E75DF2510F9B}"/>
              </a:ext>
            </a:extLst>
          </p:cNvPr>
          <p:cNvSpPr txBox="1"/>
          <p:nvPr/>
        </p:nvSpPr>
        <p:spPr>
          <a:xfrm>
            <a:off x="1208271" y="3115627"/>
            <a:ext cx="997131" cy="253916"/>
          </a:xfrm>
          <a:prstGeom prst="rect">
            <a:avLst/>
          </a:prstGeom>
          <a:noFill/>
        </p:spPr>
        <p:txBody>
          <a:bodyPr wrap="square" lIns="91440" tIns="45720" rIns="91440" bIns="45720" anchor="t">
            <a:spAutoFit/>
          </a:bodyPr>
          <a:lstStyle/>
          <a:p>
            <a:r>
              <a:rPr lang="en-US" sz="1050" b="1">
                <a:solidFill>
                  <a:srgbClr val="002060"/>
                </a:solidFill>
                <a:latin typeface="Raleway"/>
              </a:rPr>
              <a:t>Start Gel</a:t>
            </a:r>
            <a:r>
              <a:rPr lang="en-US" sz="1050" b="1">
                <a:solidFill>
                  <a:srgbClr val="002060"/>
                </a:solidFill>
                <a:effectLst/>
                <a:latin typeface="Raleway"/>
              </a:rPr>
              <a:t>.</a:t>
            </a:r>
            <a:r>
              <a:rPr lang="en-US" sz="1050" b="1">
                <a:solidFill>
                  <a:srgbClr val="002060"/>
                </a:solidFill>
                <a:latin typeface="Raleway"/>
              </a:rPr>
              <a:t> 2</a:t>
            </a:r>
            <a:endParaRPr lang="en-US" sz="1050" b="1">
              <a:solidFill>
                <a:srgbClr val="000000"/>
              </a:solidFill>
              <a:latin typeface="Calibri"/>
              <a:ea typeface="Calibri"/>
              <a:cs typeface="Calibri"/>
            </a:endParaRPr>
          </a:p>
        </p:txBody>
      </p:sp>
      <p:sp>
        <p:nvSpPr>
          <p:cNvPr id="19" name="TextBox 18">
            <a:extLst>
              <a:ext uri="{FF2B5EF4-FFF2-40B4-BE49-F238E27FC236}">
                <a16:creationId xmlns:a16="http://schemas.microsoft.com/office/drawing/2014/main" id="{C0EBA028-6B94-E16D-82AD-CF9E492E6DEF}"/>
              </a:ext>
            </a:extLst>
          </p:cNvPr>
          <p:cNvSpPr txBox="1"/>
          <p:nvPr/>
        </p:nvSpPr>
        <p:spPr>
          <a:xfrm>
            <a:off x="2199602" y="3115001"/>
            <a:ext cx="997131" cy="253916"/>
          </a:xfrm>
          <a:prstGeom prst="rect">
            <a:avLst/>
          </a:prstGeom>
          <a:noFill/>
        </p:spPr>
        <p:txBody>
          <a:bodyPr wrap="square" lIns="91440" tIns="45720" rIns="91440" bIns="45720" anchor="t">
            <a:spAutoFit/>
          </a:bodyPr>
          <a:lstStyle/>
          <a:p>
            <a:r>
              <a:rPr lang="en-US" sz="1050" b="1">
                <a:solidFill>
                  <a:srgbClr val="002060"/>
                </a:solidFill>
                <a:latin typeface="Raleway"/>
              </a:rPr>
              <a:t>Start Gel</a:t>
            </a:r>
            <a:r>
              <a:rPr lang="en-US" sz="1050" b="1">
                <a:solidFill>
                  <a:srgbClr val="002060"/>
                </a:solidFill>
                <a:effectLst/>
                <a:latin typeface="Raleway"/>
              </a:rPr>
              <a:t>.</a:t>
            </a:r>
            <a:r>
              <a:rPr lang="en-US" sz="1050" b="1">
                <a:solidFill>
                  <a:srgbClr val="002060"/>
                </a:solidFill>
                <a:latin typeface="Raleway"/>
              </a:rPr>
              <a:t> 3</a:t>
            </a:r>
            <a:endParaRPr lang="en-US" sz="1050" b="1">
              <a:solidFill>
                <a:srgbClr val="000000"/>
              </a:solidFill>
              <a:latin typeface="Calibri"/>
              <a:ea typeface="Calibri"/>
              <a:cs typeface="Calibri"/>
            </a:endParaRPr>
          </a:p>
        </p:txBody>
      </p:sp>
      <p:sp>
        <p:nvSpPr>
          <p:cNvPr id="5" name="TextBox 16">
            <a:extLst>
              <a:ext uri="{FF2B5EF4-FFF2-40B4-BE49-F238E27FC236}">
                <a16:creationId xmlns:a16="http://schemas.microsoft.com/office/drawing/2014/main" id="{4F746067-6456-B2FC-8FDB-8892981722DE}"/>
              </a:ext>
            </a:extLst>
          </p:cNvPr>
          <p:cNvSpPr txBox="1"/>
          <p:nvPr/>
        </p:nvSpPr>
        <p:spPr>
          <a:xfrm>
            <a:off x="4496910" y="2145886"/>
            <a:ext cx="1131349" cy="507831"/>
          </a:xfrm>
          <a:prstGeom prst="rect">
            <a:avLst/>
          </a:prstGeom>
          <a:ln>
            <a:solidFill>
              <a:srgbClr val="002060"/>
            </a:solidFill>
          </a:ln>
        </p:spPr>
        <p:style>
          <a:lnRef idx="2">
            <a:schemeClr val="accent1"/>
          </a:lnRef>
          <a:fillRef idx="1">
            <a:schemeClr val="lt1"/>
          </a:fillRef>
          <a:effectRef idx="0">
            <a:schemeClr val="accent1"/>
          </a:effectRef>
          <a:fontRef idx="minor">
            <a:schemeClr val="dk1"/>
          </a:fontRef>
        </p:style>
        <p:txBody>
          <a:bodyPr wrap="square" lIns="91440" tIns="45720" rIns="91440" bIns="45720" anchor="t">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900" b="1">
                <a:solidFill>
                  <a:srgbClr val="002060"/>
                </a:solidFill>
                <a:latin typeface="Raleway"/>
              </a:rPr>
              <a:t>OP: 50 FPTK</a:t>
            </a:r>
          </a:p>
          <a:p>
            <a:r>
              <a:rPr lang="en-US" sz="900" b="1">
                <a:solidFill>
                  <a:srgbClr val="002060"/>
                </a:solidFill>
                <a:latin typeface="Raleway"/>
              </a:rPr>
              <a:t>Closed: 187 FPTK</a:t>
            </a:r>
          </a:p>
          <a:p>
            <a:r>
              <a:rPr lang="en-US" sz="900" b="1">
                <a:solidFill>
                  <a:srgbClr val="002060"/>
                </a:solidFill>
                <a:latin typeface="Raleway"/>
              </a:rPr>
              <a:t>%Closed: 78,90%</a:t>
            </a:r>
          </a:p>
        </p:txBody>
      </p:sp>
      <p:sp>
        <p:nvSpPr>
          <p:cNvPr id="6" name="TextBox 16">
            <a:extLst>
              <a:ext uri="{FF2B5EF4-FFF2-40B4-BE49-F238E27FC236}">
                <a16:creationId xmlns:a16="http://schemas.microsoft.com/office/drawing/2014/main" id="{52C1EACF-E7B7-D45A-4FC2-15908B670A22}"/>
              </a:ext>
            </a:extLst>
          </p:cNvPr>
          <p:cNvSpPr txBox="1"/>
          <p:nvPr/>
        </p:nvSpPr>
        <p:spPr>
          <a:xfrm>
            <a:off x="5875474" y="3556726"/>
            <a:ext cx="6439821" cy="1092607"/>
          </a:xfrm>
          <a:prstGeom prst="rect">
            <a:avLst/>
          </a:prstGeom>
          <a:noFill/>
        </p:spPr>
        <p:txBody>
          <a:bodyPr wrap="square" lIns="91440" tIns="45720" rIns="91440" bIns="45720" anchor="t">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171450" indent="-171450">
              <a:buFont typeface="Arial" panose="020B0604020202020204" pitchFamily="34" charset="0"/>
              <a:buChar char="•"/>
            </a:pPr>
            <a:r>
              <a:rPr lang="en-US" sz="1300" err="1">
                <a:latin typeface="Raleway"/>
              </a:rPr>
              <a:t>Secara</a:t>
            </a:r>
            <a:r>
              <a:rPr lang="en-US" sz="1300">
                <a:latin typeface="Raleway"/>
              </a:rPr>
              <a:t> </a:t>
            </a:r>
            <a:r>
              <a:rPr lang="en-US" sz="1300" b="1" err="1">
                <a:latin typeface="Raleway"/>
              </a:rPr>
              <a:t>keseluruhan</a:t>
            </a:r>
            <a:r>
              <a:rPr lang="en-US" sz="1300" b="1">
                <a:latin typeface="Raleway"/>
              </a:rPr>
              <a:t>, </a:t>
            </a:r>
            <a:r>
              <a:rPr lang="en-US" sz="1300" err="1">
                <a:latin typeface="Raleway"/>
                <a:ea typeface="+mn-lt"/>
                <a:cs typeface="+mn-lt"/>
              </a:rPr>
              <a:t>dari</a:t>
            </a:r>
            <a:r>
              <a:rPr lang="en-US" sz="1300">
                <a:latin typeface="Raleway"/>
                <a:ea typeface="+mn-lt"/>
                <a:cs typeface="+mn-lt"/>
              </a:rPr>
              <a:t> </a:t>
            </a:r>
            <a:r>
              <a:rPr lang="en-US" sz="1300" b="1">
                <a:highlight>
                  <a:srgbClr val="FFFF00"/>
                </a:highlight>
                <a:latin typeface="Raleway"/>
                <a:ea typeface="+mn-lt"/>
                <a:cs typeface="+mn-lt"/>
              </a:rPr>
              <a:t>237 FPTK</a:t>
            </a:r>
            <a:r>
              <a:rPr lang="en-US" sz="1300">
                <a:highlight>
                  <a:srgbClr val="FFFF00"/>
                </a:highlight>
                <a:latin typeface="Raleway"/>
                <a:ea typeface="+mn-lt"/>
                <a:cs typeface="+mn-lt"/>
              </a:rPr>
              <a:t> </a:t>
            </a:r>
            <a:r>
              <a:rPr lang="en-US" sz="1300" err="1">
                <a:highlight>
                  <a:srgbClr val="FFFF00"/>
                </a:highlight>
                <a:latin typeface="Raleway"/>
                <a:ea typeface="+mn-lt"/>
                <a:cs typeface="+mn-lt"/>
              </a:rPr>
              <a:t>diproses</a:t>
            </a:r>
            <a:r>
              <a:rPr lang="en-US" sz="1300">
                <a:highlight>
                  <a:srgbClr val="FFFF00"/>
                </a:highlight>
                <a:latin typeface="Raleway"/>
                <a:ea typeface="+mn-lt"/>
                <a:cs typeface="+mn-lt"/>
              </a:rPr>
              <a:t>, </a:t>
            </a:r>
            <a:r>
              <a:rPr lang="en-US" sz="1300" b="1">
                <a:highlight>
                  <a:srgbClr val="FFFF00"/>
                </a:highlight>
                <a:latin typeface="Raleway"/>
                <a:ea typeface="+mn-lt"/>
                <a:cs typeface="+mn-lt"/>
              </a:rPr>
              <a:t>187 FPTK closed</a:t>
            </a:r>
            <a:r>
              <a:rPr lang="en-US" sz="1300">
                <a:highlight>
                  <a:srgbClr val="FFFF00"/>
                </a:highlight>
                <a:latin typeface="Raleway"/>
                <a:ea typeface="+mn-lt"/>
                <a:cs typeface="+mn-lt"/>
              </a:rPr>
              <a:t> </a:t>
            </a:r>
            <a:r>
              <a:rPr lang="en-US" sz="1300" b="1">
                <a:highlight>
                  <a:srgbClr val="FFFF00"/>
                </a:highlight>
                <a:latin typeface="Raleway"/>
                <a:ea typeface="+mn-lt"/>
                <a:cs typeface="+mn-lt"/>
              </a:rPr>
              <a:t>(78,90%)</a:t>
            </a:r>
            <a:r>
              <a:rPr lang="en-US" sz="1300" b="1">
                <a:latin typeface="Raleway"/>
                <a:ea typeface="+mn-lt"/>
                <a:cs typeface="+mn-lt"/>
              </a:rPr>
              <a:t> </a:t>
            </a:r>
            <a:endParaRPr lang="en-US" sz="1300" b="1">
              <a:latin typeface="Raleway"/>
              <a:ea typeface="Calibri"/>
              <a:cs typeface="Calibri"/>
            </a:endParaRPr>
          </a:p>
          <a:p>
            <a:pPr marL="171450" indent="-171450">
              <a:buFont typeface="Arial" panose="020B0604020202020204" pitchFamily="34" charset="0"/>
              <a:buChar char="•"/>
            </a:pPr>
            <a:r>
              <a:rPr lang="en-US" sz="1300" b="1" err="1">
                <a:latin typeface="Raleway"/>
              </a:rPr>
              <a:t>Gelombang</a:t>
            </a:r>
            <a:r>
              <a:rPr lang="en-US" sz="1300" b="1">
                <a:latin typeface="Raleway"/>
              </a:rPr>
              <a:t> 1 – All closed</a:t>
            </a:r>
          </a:p>
          <a:p>
            <a:pPr marL="171450" indent="-171450">
              <a:buFont typeface="Arial" panose="020B0604020202020204" pitchFamily="34" charset="0"/>
              <a:buChar char="•"/>
            </a:pPr>
            <a:r>
              <a:rPr lang="en-US" sz="1300" b="1" err="1">
                <a:latin typeface="Raleway"/>
                <a:ea typeface="Calibri"/>
                <a:cs typeface="Calibri"/>
              </a:rPr>
              <a:t>Gelombang</a:t>
            </a:r>
            <a:r>
              <a:rPr lang="en-US" sz="1300" b="1">
                <a:latin typeface="Raleway"/>
                <a:ea typeface="Calibri"/>
                <a:cs typeface="Calibri"/>
              </a:rPr>
              <a:t> 2 – Closing rate 94,59%</a:t>
            </a:r>
          </a:p>
          <a:p>
            <a:pPr marL="171450" indent="-171450">
              <a:buFont typeface="Arial" panose="020B0604020202020204" pitchFamily="34" charset="0"/>
              <a:buChar char="•"/>
            </a:pPr>
            <a:r>
              <a:rPr lang="en-US" sz="1300" b="1" err="1">
                <a:latin typeface="Raleway"/>
                <a:ea typeface="Calibri"/>
                <a:cs typeface="Calibri"/>
              </a:rPr>
              <a:t>Gelombang</a:t>
            </a:r>
            <a:r>
              <a:rPr lang="en-US" sz="1300" b="1">
                <a:latin typeface="Raleway"/>
                <a:ea typeface="Calibri"/>
                <a:cs typeface="Calibri"/>
              </a:rPr>
              <a:t> 3 – Closing rate 84,00%</a:t>
            </a:r>
          </a:p>
          <a:p>
            <a:pPr marL="171450" indent="-171450">
              <a:buFont typeface="Arial" panose="020B0604020202020204" pitchFamily="34" charset="0"/>
              <a:buChar char="•"/>
            </a:pPr>
            <a:r>
              <a:rPr lang="en-US" sz="1300" b="1" err="1">
                <a:latin typeface="Raleway"/>
                <a:ea typeface="Calibri"/>
                <a:cs typeface="Calibri"/>
              </a:rPr>
              <a:t>Gelombang</a:t>
            </a:r>
            <a:r>
              <a:rPr lang="en-US" sz="1300" b="1">
                <a:latin typeface="Raleway"/>
                <a:ea typeface="Calibri"/>
                <a:cs typeface="Calibri"/>
              </a:rPr>
              <a:t> 4 – Closing rate 33,90%</a:t>
            </a:r>
          </a:p>
        </p:txBody>
      </p:sp>
      <p:sp>
        <p:nvSpPr>
          <p:cNvPr id="8" name="TextBox 16">
            <a:extLst>
              <a:ext uri="{FF2B5EF4-FFF2-40B4-BE49-F238E27FC236}">
                <a16:creationId xmlns:a16="http://schemas.microsoft.com/office/drawing/2014/main" id="{6EFAB361-8518-826C-9DA2-999B95810E07}"/>
              </a:ext>
            </a:extLst>
          </p:cNvPr>
          <p:cNvSpPr txBox="1"/>
          <p:nvPr/>
        </p:nvSpPr>
        <p:spPr>
          <a:xfrm>
            <a:off x="5875473" y="4840980"/>
            <a:ext cx="5994309" cy="892552"/>
          </a:xfrm>
          <a:prstGeom prst="rect">
            <a:avLst/>
          </a:prstGeom>
          <a:noFill/>
        </p:spPr>
        <p:txBody>
          <a:bodyPr wrap="square" lIns="91440" tIns="45720" rIns="91440" bIns="45720" anchor="t">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171450" indent="-171450">
              <a:buFont typeface="Arial" panose="020B0604020202020204" pitchFamily="34" charset="0"/>
              <a:buChar char="•"/>
            </a:pPr>
            <a:r>
              <a:rPr lang="en-US" sz="1300" b="1">
                <a:latin typeface="Raleway"/>
              </a:rPr>
              <a:t>FPTK Priority </a:t>
            </a:r>
            <a:r>
              <a:rPr lang="en-US" sz="1300" err="1">
                <a:latin typeface="Raleway"/>
              </a:rPr>
              <a:t>adalah</a:t>
            </a:r>
            <a:r>
              <a:rPr lang="en-US" sz="1300">
                <a:latin typeface="Raleway"/>
              </a:rPr>
              <a:t> </a:t>
            </a:r>
            <a:r>
              <a:rPr lang="en-US" sz="1300" b="1">
                <a:latin typeface="Raleway"/>
              </a:rPr>
              <a:t>FPTK area </a:t>
            </a:r>
            <a:r>
              <a:rPr lang="en-US" sz="1300">
                <a:latin typeface="Raleway"/>
              </a:rPr>
              <a:t>yang </a:t>
            </a:r>
            <a:r>
              <a:rPr lang="en-US" sz="1300" b="1" err="1">
                <a:latin typeface="Raleway"/>
              </a:rPr>
              <a:t>wajib</a:t>
            </a:r>
            <a:r>
              <a:rPr lang="en-US" sz="1300" b="1">
                <a:latin typeface="Raleway"/>
              </a:rPr>
              <a:t> </a:t>
            </a:r>
            <a:r>
              <a:rPr lang="en-US" sz="1300" b="1" err="1">
                <a:latin typeface="Raleway"/>
              </a:rPr>
              <a:t>selalu</a:t>
            </a:r>
            <a:r>
              <a:rPr lang="en-US" sz="1300" b="1">
                <a:latin typeface="Raleway"/>
              </a:rPr>
              <a:t> </a:t>
            </a:r>
            <a:r>
              <a:rPr lang="en-US" sz="1300" b="1" err="1">
                <a:latin typeface="Raleway"/>
              </a:rPr>
              <a:t>terisi</a:t>
            </a:r>
            <a:r>
              <a:rPr lang="en-US" sz="1300">
                <a:latin typeface="Raleway"/>
              </a:rPr>
              <a:t>, </a:t>
            </a:r>
            <a:r>
              <a:rPr lang="en-US" sz="1300" err="1">
                <a:latin typeface="Raleway"/>
              </a:rPr>
              <a:t>yaitu</a:t>
            </a:r>
            <a:r>
              <a:rPr lang="en-US" sz="1300">
                <a:latin typeface="Raleway"/>
              </a:rPr>
              <a:t> </a:t>
            </a:r>
            <a:r>
              <a:rPr lang="en-US" sz="1300" b="1">
                <a:latin typeface="Raleway"/>
              </a:rPr>
              <a:t>Jakarta Timur, Jakarta Barat, Jakarta Selatan, </a:t>
            </a:r>
            <a:r>
              <a:rPr lang="en-US" sz="1300">
                <a:latin typeface="Raleway"/>
              </a:rPr>
              <a:t>dan </a:t>
            </a:r>
            <a:r>
              <a:rPr lang="en-US" sz="1300" b="1">
                <a:latin typeface="Raleway"/>
              </a:rPr>
              <a:t>Tangerang Kota</a:t>
            </a:r>
          </a:p>
          <a:p>
            <a:pPr marL="171450" indent="-171450">
              <a:buFont typeface="Arial" panose="020B0604020202020204" pitchFamily="34" charset="0"/>
              <a:buChar char="•"/>
            </a:pPr>
            <a:r>
              <a:rPr lang="en-US" sz="1300">
                <a:latin typeface="Raleway"/>
              </a:rPr>
              <a:t>Per 7 Agustus 2026, </a:t>
            </a:r>
            <a:r>
              <a:rPr lang="en-US" sz="1300" err="1">
                <a:latin typeface="Raleway"/>
              </a:rPr>
              <a:t>seluruh</a:t>
            </a:r>
            <a:r>
              <a:rPr lang="en-US" sz="1300">
                <a:latin typeface="Raleway"/>
              </a:rPr>
              <a:t> </a:t>
            </a:r>
            <a:r>
              <a:rPr lang="en-US" sz="1300" b="1">
                <a:latin typeface="Raleway"/>
              </a:rPr>
              <a:t>FPTK Replacement </a:t>
            </a:r>
            <a:r>
              <a:rPr lang="en-US" sz="1300" err="1">
                <a:latin typeface="Raleway"/>
              </a:rPr>
              <a:t>diakibatkan</a:t>
            </a:r>
            <a:r>
              <a:rPr lang="en-US" sz="1300">
                <a:latin typeface="Raleway"/>
              </a:rPr>
              <a:t> </a:t>
            </a:r>
            <a:r>
              <a:rPr lang="en-US" sz="1300" b="1" err="1">
                <a:solidFill>
                  <a:srgbClr val="FF0000"/>
                </a:solidFill>
                <a:latin typeface="Raleway"/>
              </a:rPr>
              <a:t>karyawan</a:t>
            </a:r>
            <a:r>
              <a:rPr lang="en-US" sz="1300" b="1">
                <a:solidFill>
                  <a:srgbClr val="FF0000"/>
                </a:solidFill>
                <a:latin typeface="Raleway"/>
              </a:rPr>
              <a:t> lama </a:t>
            </a:r>
            <a:r>
              <a:rPr lang="en-US" sz="1300" b="1" err="1">
                <a:solidFill>
                  <a:srgbClr val="FF0000"/>
                </a:solidFill>
                <a:latin typeface="Raleway"/>
              </a:rPr>
              <a:t>keluar</a:t>
            </a:r>
            <a:r>
              <a:rPr lang="en-US" sz="1300" b="1">
                <a:solidFill>
                  <a:srgbClr val="FF0000"/>
                </a:solidFill>
                <a:latin typeface="Raleway"/>
              </a:rPr>
              <a:t> – Closing rate 100%</a:t>
            </a:r>
            <a:endParaRPr lang="en-US" sz="1300" b="1"/>
          </a:p>
        </p:txBody>
      </p:sp>
      <p:sp>
        <p:nvSpPr>
          <p:cNvPr id="10" name="TextBox 16">
            <a:extLst>
              <a:ext uri="{FF2B5EF4-FFF2-40B4-BE49-F238E27FC236}">
                <a16:creationId xmlns:a16="http://schemas.microsoft.com/office/drawing/2014/main" id="{73AA9625-E269-DBFF-965C-2599F287D5E2}"/>
              </a:ext>
            </a:extLst>
          </p:cNvPr>
          <p:cNvSpPr txBox="1"/>
          <p:nvPr/>
        </p:nvSpPr>
        <p:spPr>
          <a:xfrm>
            <a:off x="5875474" y="5903167"/>
            <a:ext cx="5830221" cy="692497"/>
          </a:xfrm>
          <a:prstGeom prst="rect">
            <a:avLst/>
          </a:prstGeom>
          <a:noFill/>
        </p:spPr>
        <p:txBody>
          <a:bodyPr wrap="square" lIns="91440" tIns="45720" rIns="91440" bIns="45720" anchor="t">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171450" indent="-171450">
              <a:buFont typeface="Arial" panose="020B0604020202020204" pitchFamily="34" charset="0"/>
              <a:buChar char="•"/>
            </a:pPr>
            <a:r>
              <a:rPr lang="en-US" sz="1300" b="1">
                <a:latin typeface="Raleway"/>
              </a:rPr>
              <a:t>FPTK </a:t>
            </a:r>
            <a:r>
              <a:rPr lang="en-US" sz="1300" b="1" err="1">
                <a:latin typeface="Raleway"/>
              </a:rPr>
              <a:t>Gelombang</a:t>
            </a:r>
            <a:r>
              <a:rPr lang="en-US" sz="1300" b="1">
                <a:latin typeface="Raleway"/>
              </a:rPr>
              <a:t> 5</a:t>
            </a:r>
            <a:r>
              <a:rPr lang="en-US" sz="1300">
                <a:latin typeface="Raleway"/>
              </a:rPr>
              <a:t> </a:t>
            </a:r>
            <a:r>
              <a:rPr lang="en-US" sz="1300" b="1" err="1">
                <a:highlight>
                  <a:srgbClr val="FFFF00"/>
                </a:highlight>
                <a:latin typeface="Raleway"/>
              </a:rPr>
              <a:t>belum</a:t>
            </a:r>
            <a:r>
              <a:rPr lang="en-US" sz="1300" b="1">
                <a:highlight>
                  <a:srgbClr val="FFFF00"/>
                </a:highlight>
                <a:latin typeface="Raleway"/>
              </a:rPr>
              <a:t> </a:t>
            </a:r>
            <a:r>
              <a:rPr lang="en-US" sz="1300" b="1" err="1">
                <a:highlight>
                  <a:srgbClr val="FFFF00"/>
                </a:highlight>
                <a:latin typeface="Raleway"/>
              </a:rPr>
              <a:t>dibuka</a:t>
            </a:r>
            <a:r>
              <a:rPr lang="en-US" sz="1300" b="1">
                <a:highlight>
                  <a:srgbClr val="FFFF00"/>
                </a:highlight>
                <a:latin typeface="Raleway"/>
              </a:rPr>
              <a:t> </a:t>
            </a:r>
            <a:r>
              <a:rPr lang="en-US" sz="1300" err="1">
                <a:latin typeface="Raleway"/>
              </a:rPr>
              <a:t>namun</a:t>
            </a:r>
            <a:r>
              <a:rPr lang="en-US" sz="1300">
                <a:latin typeface="Raleway"/>
              </a:rPr>
              <a:t> </a:t>
            </a:r>
            <a:r>
              <a:rPr lang="en-US" sz="1300" b="1" err="1">
                <a:latin typeface="Raleway"/>
              </a:rPr>
              <a:t>pemenuhan</a:t>
            </a:r>
            <a:r>
              <a:rPr lang="en-US" sz="1300">
                <a:latin typeface="Raleway"/>
              </a:rPr>
              <a:t> </a:t>
            </a:r>
            <a:r>
              <a:rPr lang="en-US" sz="1300" b="1" err="1">
                <a:latin typeface="Raleway"/>
              </a:rPr>
              <a:t>dapat</a:t>
            </a:r>
            <a:r>
              <a:rPr lang="en-US" sz="1300">
                <a:latin typeface="Raleway"/>
              </a:rPr>
              <a:t> </a:t>
            </a:r>
            <a:r>
              <a:rPr lang="en-US" sz="1300" b="1" err="1">
                <a:latin typeface="Raleway"/>
              </a:rPr>
              <a:t>dilakukan</a:t>
            </a:r>
            <a:r>
              <a:rPr lang="en-US" sz="1300">
                <a:latin typeface="Raleway"/>
              </a:rPr>
              <a:t> </a:t>
            </a:r>
            <a:r>
              <a:rPr lang="en-US" sz="1300" err="1">
                <a:latin typeface="Raleway"/>
              </a:rPr>
              <a:t>jika</a:t>
            </a:r>
            <a:r>
              <a:rPr lang="en-US" sz="1300">
                <a:latin typeface="Raleway"/>
              </a:rPr>
              <a:t> </a:t>
            </a:r>
            <a:r>
              <a:rPr lang="en-US" sz="1300" b="1">
                <a:latin typeface="Raleway"/>
              </a:rPr>
              <a:t>area</a:t>
            </a:r>
            <a:r>
              <a:rPr lang="en-US" sz="1300">
                <a:latin typeface="Raleway"/>
              </a:rPr>
              <a:t> </a:t>
            </a:r>
            <a:r>
              <a:rPr lang="en-US" sz="1300" err="1">
                <a:latin typeface="Raleway"/>
              </a:rPr>
              <a:t>tersebut</a:t>
            </a:r>
            <a:r>
              <a:rPr lang="en-US" sz="1300">
                <a:latin typeface="Raleway"/>
              </a:rPr>
              <a:t> </a:t>
            </a:r>
            <a:r>
              <a:rPr lang="en-US" sz="1300" err="1">
                <a:latin typeface="Raleway"/>
              </a:rPr>
              <a:t>sudah</a:t>
            </a:r>
            <a:r>
              <a:rPr lang="en-US" sz="1300">
                <a:latin typeface="Raleway"/>
              </a:rPr>
              <a:t> </a:t>
            </a:r>
            <a:r>
              <a:rPr lang="en-US" sz="1300" b="1" err="1">
                <a:latin typeface="Raleway"/>
              </a:rPr>
              <a:t>memiliki</a:t>
            </a:r>
            <a:r>
              <a:rPr lang="en-US" sz="1300" b="1">
                <a:latin typeface="Raleway"/>
              </a:rPr>
              <a:t> </a:t>
            </a:r>
            <a:r>
              <a:rPr lang="en-US" sz="1300" b="1" err="1">
                <a:latin typeface="Raleway"/>
              </a:rPr>
              <a:t>kandidat</a:t>
            </a:r>
            <a:r>
              <a:rPr lang="en-US" sz="1300" b="1">
                <a:latin typeface="Raleway"/>
              </a:rPr>
              <a:t> </a:t>
            </a:r>
            <a:r>
              <a:rPr lang="en-US" sz="1300">
                <a:latin typeface="Raleway"/>
              </a:rPr>
              <a:t>yang </a:t>
            </a:r>
            <a:r>
              <a:rPr lang="en-US" sz="1300" err="1">
                <a:latin typeface="Raleway"/>
              </a:rPr>
              <a:t>dapat</a:t>
            </a:r>
            <a:r>
              <a:rPr lang="en-US" sz="1300">
                <a:latin typeface="Raleway"/>
              </a:rPr>
              <a:t> </a:t>
            </a:r>
            <a:r>
              <a:rPr lang="en-US" sz="1300" err="1">
                <a:latin typeface="Raleway"/>
              </a:rPr>
              <a:t>diproses</a:t>
            </a:r>
            <a:r>
              <a:rPr lang="en-US" sz="1300">
                <a:latin typeface="Raleway"/>
              </a:rPr>
              <a:t>.</a:t>
            </a:r>
            <a:endParaRPr lang="en-US" sz="1300"/>
          </a:p>
        </p:txBody>
      </p:sp>
      <p:sp>
        <p:nvSpPr>
          <p:cNvPr id="11" name="Rectangle 10">
            <a:extLst>
              <a:ext uri="{FF2B5EF4-FFF2-40B4-BE49-F238E27FC236}">
                <a16:creationId xmlns:a16="http://schemas.microsoft.com/office/drawing/2014/main" id="{F6272D92-AF51-108D-CDA5-F989D5D56650}"/>
              </a:ext>
            </a:extLst>
          </p:cNvPr>
          <p:cNvSpPr/>
          <p:nvPr/>
        </p:nvSpPr>
        <p:spPr>
          <a:xfrm>
            <a:off x="2418393" y="2790569"/>
            <a:ext cx="442117" cy="309553"/>
          </a:xfrm>
          <a:prstGeom prst="rect">
            <a:avLst/>
          </a:prstGeom>
          <a:no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8984A238-1A64-4CA7-CF3B-3284DB00AE05}"/>
              </a:ext>
            </a:extLst>
          </p:cNvPr>
          <p:cNvSpPr/>
          <p:nvPr/>
        </p:nvSpPr>
        <p:spPr>
          <a:xfrm>
            <a:off x="1404737" y="2800728"/>
            <a:ext cx="470703" cy="284583"/>
          </a:xfrm>
          <a:prstGeom prst="rect">
            <a:avLst/>
          </a:prstGeom>
          <a:no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526D8523-9A54-DA71-C6EB-3BA7910B47B9}"/>
              </a:ext>
            </a:extLst>
          </p:cNvPr>
          <p:cNvSpPr/>
          <p:nvPr/>
        </p:nvSpPr>
        <p:spPr>
          <a:xfrm>
            <a:off x="359889" y="2800728"/>
            <a:ext cx="509448" cy="284582"/>
          </a:xfrm>
          <a:prstGeom prst="rect">
            <a:avLst/>
          </a:prstGeom>
          <a:no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Arrow: Right 14">
            <a:extLst>
              <a:ext uri="{FF2B5EF4-FFF2-40B4-BE49-F238E27FC236}">
                <a16:creationId xmlns:a16="http://schemas.microsoft.com/office/drawing/2014/main" id="{2936D6F7-965A-5C70-1662-105E1FFC674D}"/>
              </a:ext>
            </a:extLst>
          </p:cNvPr>
          <p:cNvSpPr/>
          <p:nvPr/>
        </p:nvSpPr>
        <p:spPr>
          <a:xfrm>
            <a:off x="5312618" y="3922104"/>
            <a:ext cx="437651" cy="230778"/>
          </a:xfrm>
          <a:prstGeom prst="rightArrow">
            <a:avLst/>
          </a:prstGeom>
          <a:solidFill>
            <a:srgbClr val="002060"/>
          </a:solid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Arrow: Right 15">
            <a:extLst>
              <a:ext uri="{FF2B5EF4-FFF2-40B4-BE49-F238E27FC236}">
                <a16:creationId xmlns:a16="http://schemas.microsoft.com/office/drawing/2014/main" id="{483BC234-ECA7-DACC-B31A-C23BF63DAF17}"/>
              </a:ext>
            </a:extLst>
          </p:cNvPr>
          <p:cNvSpPr/>
          <p:nvPr/>
        </p:nvSpPr>
        <p:spPr>
          <a:xfrm>
            <a:off x="5312619" y="5085325"/>
            <a:ext cx="437650" cy="223520"/>
          </a:xfrm>
          <a:prstGeom prst="rightArrow">
            <a:avLst/>
          </a:prstGeom>
          <a:solidFill>
            <a:srgbClr val="002060"/>
          </a:solid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Arrow: Right 19">
            <a:extLst>
              <a:ext uri="{FF2B5EF4-FFF2-40B4-BE49-F238E27FC236}">
                <a16:creationId xmlns:a16="http://schemas.microsoft.com/office/drawing/2014/main" id="{B24B8E21-BA3B-3A67-6C86-7436B2C31E6D}"/>
              </a:ext>
            </a:extLst>
          </p:cNvPr>
          <p:cNvSpPr/>
          <p:nvPr/>
        </p:nvSpPr>
        <p:spPr>
          <a:xfrm>
            <a:off x="5312617" y="6088888"/>
            <a:ext cx="437651" cy="230778"/>
          </a:xfrm>
          <a:prstGeom prst="rightArrow">
            <a:avLst/>
          </a:prstGeom>
          <a:solidFill>
            <a:srgbClr val="002060"/>
          </a:solid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419A91DA-91F8-42C6-254A-099524CF8338}"/>
              </a:ext>
            </a:extLst>
          </p:cNvPr>
          <p:cNvSpPr/>
          <p:nvPr/>
        </p:nvSpPr>
        <p:spPr>
          <a:xfrm>
            <a:off x="3952553" y="2770248"/>
            <a:ext cx="442117" cy="309553"/>
          </a:xfrm>
          <a:prstGeom prst="rect">
            <a:avLst/>
          </a:prstGeom>
          <a:no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Box 20">
            <a:extLst>
              <a:ext uri="{FF2B5EF4-FFF2-40B4-BE49-F238E27FC236}">
                <a16:creationId xmlns:a16="http://schemas.microsoft.com/office/drawing/2014/main" id="{CC09E02E-73AC-552C-F1A6-35827369FDCC}"/>
              </a:ext>
            </a:extLst>
          </p:cNvPr>
          <p:cNvSpPr txBox="1"/>
          <p:nvPr/>
        </p:nvSpPr>
        <p:spPr>
          <a:xfrm>
            <a:off x="3672802" y="3104841"/>
            <a:ext cx="997131" cy="253916"/>
          </a:xfrm>
          <a:prstGeom prst="rect">
            <a:avLst/>
          </a:prstGeom>
          <a:noFill/>
        </p:spPr>
        <p:txBody>
          <a:bodyPr wrap="square" lIns="91440" tIns="45720" rIns="91440" bIns="45720" anchor="t">
            <a:spAutoFit/>
          </a:bodyPr>
          <a:lstStyle/>
          <a:p>
            <a:r>
              <a:rPr lang="en-US" sz="1050" b="1">
                <a:solidFill>
                  <a:srgbClr val="002060"/>
                </a:solidFill>
                <a:latin typeface="Raleway"/>
              </a:rPr>
              <a:t>Start Gel</a:t>
            </a:r>
            <a:r>
              <a:rPr lang="en-US" sz="1050" b="1">
                <a:solidFill>
                  <a:srgbClr val="002060"/>
                </a:solidFill>
                <a:effectLst/>
                <a:latin typeface="Raleway"/>
              </a:rPr>
              <a:t>.</a:t>
            </a:r>
            <a:r>
              <a:rPr lang="en-US" sz="1050" b="1">
                <a:solidFill>
                  <a:srgbClr val="002060"/>
                </a:solidFill>
                <a:latin typeface="Raleway"/>
              </a:rPr>
              <a:t> 4</a:t>
            </a:r>
            <a:endParaRPr lang="en-US" sz="1050" b="1">
              <a:solidFill>
                <a:srgbClr val="000000"/>
              </a:solidFill>
              <a:latin typeface="Calibri"/>
              <a:ea typeface="Calibri"/>
              <a:cs typeface="Calibri"/>
            </a:endParaRPr>
          </a:p>
        </p:txBody>
      </p:sp>
      <p:graphicFrame>
        <p:nvGraphicFramePr>
          <p:cNvPr id="32" name="Table 31">
            <a:extLst>
              <a:ext uri="{FF2B5EF4-FFF2-40B4-BE49-F238E27FC236}">
                <a16:creationId xmlns:a16="http://schemas.microsoft.com/office/drawing/2014/main" id="{F3FEB1E0-641B-51B0-68CD-D7F6102DE626}"/>
              </a:ext>
            </a:extLst>
          </p:cNvPr>
          <p:cNvGraphicFramePr>
            <a:graphicFrameLocks noGrp="1"/>
          </p:cNvGraphicFramePr>
          <p:nvPr/>
        </p:nvGraphicFramePr>
        <p:xfrm>
          <a:off x="213360" y="3403600"/>
          <a:ext cx="4881851" cy="3245754"/>
        </p:xfrm>
        <a:graphic>
          <a:graphicData uri="http://schemas.openxmlformats.org/drawingml/2006/table">
            <a:tbl>
              <a:tblPr bandRow="1">
                <a:tableStyleId>{5C22544A-7EE6-4342-B048-85BDC9FD1C3A}</a:tableStyleId>
              </a:tblPr>
              <a:tblGrid>
                <a:gridCol w="1288273">
                  <a:extLst>
                    <a:ext uri="{9D8B030D-6E8A-4147-A177-3AD203B41FA5}">
                      <a16:colId xmlns:a16="http://schemas.microsoft.com/office/drawing/2014/main" val="2441209965"/>
                    </a:ext>
                  </a:extLst>
                </a:gridCol>
                <a:gridCol w="477644">
                  <a:extLst>
                    <a:ext uri="{9D8B030D-6E8A-4147-A177-3AD203B41FA5}">
                      <a16:colId xmlns:a16="http://schemas.microsoft.com/office/drawing/2014/main" val="2599160193"/>
                    </a:ext>
                  </a:extLst>
                </a:gridCol>
                <a:gridCol w="579998">
                  <a:extLst>
                    <a:ext uri="{9D8B030D-6E8A-4147-A177-3AD203B41FA5}">
                      <a16:colId xmlns:a16="http://schemas.microsoft.com/office/drawing/2014/main" val="3234024050"/>
                    </a:ext>
                  </a:extLst>
                </a:gridCol>
                <a:gridCol w="434022">
                  <a:extLst>
                    <a:ext uri="{9D8B030D-6E8A-4147-A177-3AD203B41FA5}">
                      <a16:colId xmlns:a16="http://schemas.microsoft.com/office/drawing/2014/main" val="1892440879"/>
                    </a:ext>
                  </a:extLst>
                </a:gridCol>
                <a:gridCol w="494704">
                  <a:extLst>
                    <a:ext uri="{9D8B030D-6E8A-4147-A177-3AD203B41FA5}">
                      <a16:colId xmlns:a16="http://schemas.microsoft.com/office/drawing/2014/main" val="3413247506"/>
                    </a:ext>
                  </a:extLst>
                </a:gridCol>
                <a:gridCol w="716075">
                  <a:extLst>
                    <a:ext uri="{9D8B030D-6E8A-4147-A177-3AD203B41FA5}">
                      <a16:colId xmlns:a16="http://schemas.microsoft.com/office/drawing/2014/main" val="1340922872"/>
                    </a:ext>
                  </a:extLst>
                </a:gridCol>
                <a:gridCol w="891135">
                  <a:extLst>
                    <a:ext uri="{9D8B030D-6E8A-4147-A177-3AD203B41FA5}">
                      <a16:colId xmlns:a16="http://schemas.microsoft.com/office/drawing/2014/main" val="869505949"/>
                    </a:ext>
                  </a:extLst>
                </a:gridCol>
              </a:tblGrid>
              <a:tr h="373258">
                <a:tc>
                  <a:txBody>
                    <a:bodyPr/>
                    <a:lstStyle/>
                    <a:p>
                      <a:pPr algn="ctr" rtl="0" fontAlgn="ctr">
                        <a:buNone/>
                      </a:pPr>
                      <a:r>
                        <a:rPr lang="en-US" sz="800" b="1" err="1">
                          <a:solidFill>
                            <a:srgbClr val="FFFFFF"/>
                          </a:solidFill>
                          <a:effectLst/>
                          <a:latin typeface="Raleway"/>
                        </a:rPr>
                        <a:t>Pemenuhan</a:t>
                      </a:r>
                      <a:r>
                        <a:rPr lang="en-US" sz="800" b="1">
                          <a:solidFill>
                            <a:srgbClr val="FFFFFF"/>
                          </a:solidFill>
                          <a:effectLst/>
                          <a:latin typeface="Raleway"/>
                        </a:rPr>
                        <a:t> SDM STO Chilled 2026</a:t>
                      </a:r>
                    </a:p>
                  </a:txBody>
                  <a:tcPr marL="9525" marR="9525" marT="9525"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a:noFill/>
                    </a:lnB>
                    <a:solidFill>
                      <a:srgbClr val="002060"/>
                    </a:solidFill>
                  </a:tcPr>
                </a:tc>
                <a:tc>
                  <a:txBody>
                    <a:bodyPr/>
                    <a:lstStyle/>
                    <a:p>
                      <a:pPr algn="ctr" rtl="0" fontAlgn="ctr">
                        <a:buNone/>
                      </a:pPr>
                      <a:r>
                        <a:rPr lang="en-US" sz="800" b="1">
                          <a:solidFill>
                            <a:srgbClr val="FFFFFF"/>
                          </a:solidFill>
                          <a:effectLst/>
                          <a:latin typeface="Raleway"/>
                        </a:rPr>
                        <a:t>MPP</a:t>
                      </a:r>
                    </a:p>
                  </a:txBody>
                  <a:tcPr marL="9525" marR="9525" marT="9525" anchor="ctr">
                    <a:lnL>
                      <a:noFill/>
                    </a:lnL>
                    <a:lnR>
                      <a:noFill/>
                    </a:lnR>
                    <a:lnT w="12700" cap="flat" cmpd="sng" algn="ctr">
                      <a:solidFill>
                        <a:schemeClr val="tx1"/>
                      </a:solidFill>
                      <a:prstDash val="solid"/>
                      <a:round/>
                      <a:headEnd type="none" w="med" len="med"/>
                      <a:tailEnd type="none" w="med" len="med"/>
                    </a:lnT>
                    <a:lnB>
                      <a:noFill/>
                    </a:lnB>
                    <a:solidFill>
                      <a:srgbClr val="002060"/>
                    </a:solidFill>
                  </a:tcPr>
                </a:tc>
                <a:tc>
                  <a:txBody>
                    <a:bodyPr/>
                    <a:lstStyle/>
                    <a:p>
                      <a:pPr algn="ctr" rtl="0" fontAlgn="ctr">
                        <a:buNone/>
                      </a:pPr>
                      <a:r>
                        <a:rPr lang="en-US" sz="800" b="1">
                          <a:solidFill>
                            <a:srgbClr val="FFFFFF"/>
                          </a:solidFill>
                          <a:effectLst/>
                          <a:latin typeface="Raleway"/>
                        </a:rPr>
                        <a:t>FPTK </a:t>
                      </a:r>
                      <a:r>
                        <a:rPr lang="en-US" sz="800" b="1" err="1">
                          <a:solidFill>
                            <a:srgbClr val="FFFFFF"/>
                          </a:solidFill>
                          <a:effectLst/>
                          <a:latin typeface="Raleway"/>
                        </a:rPr>
                        <a:t>diproses</a:t>
                      </a:r>
                    </a:p>
                  </a:txBody>
                  <a:tcPr marL="9525" marR="9525" marT="9525" anchor="ctr">
                    <a:lnL>
                      <a:noFill/>
                    </a:lnL>
                    <a:lnR>
                      <a:noFill/>
                    </a:lnR>
                    <a:lnT w="12700" cap="flat" cmpd="sng" algn="ctr">
                      <a:solidFill>
                        <a:schemeClr val="tx1"/>
                      </a:solidFill>
                      <a:prstDash val="solid"/>
                      <a:round/>
                      <a:headEnd type="none" w="med" len="med"/>
                      <a:tailEnd type="none" w="med" len="med"/>
                    </a:lnT>
                    <a:lnB>
                      <a:noFill/>
                    </a:lnB>
                    <a:solidFill>
                      <a:srgbClr val="002060"/>
                    </a:solidFill>
                  </a:tcPr>
                </a:tc>
                <a:tc>
                  <a:txBody>
                    <a:bodyPr/>
                    <a:lstStyle/>
                    <a:p>
                      <a:pPr algn="ctr" rtl="0" fontAlgn="ctr">
                        <a:buNone/>
                      </a:pPr>
                      <a:r>
                        <a:rPr lang="en-US" sz="800" b="1">
                          <a:solidFill>
                            <a:srgbClr val="FFFFFF"/>
                          </a:solidFill>
                          <a:effectLst/>
                          <a:latin typeface="Raleway"/>
                        </a:rPr>
                        <a:t>Closed</a:t>
                      </a:r>
                    </a:p>
                  </a:txBody>
                  <a:tcPr marL="9525" marR="9525" marT="9525" anchor="ctr">
                    <a:lnL>
                      <a:noFill/>
                    </a:lnL>
                    <a:lnR>
                      <a:noFill/>
                    </a:lnR>
                    <a:lnT w="12700" cap="flat" cmpd="sng" algn="ctr">
                      <a:solidFill>
                        <a:schemeClr val="tx1"/>
                      </a:solidFill>
                      <a:prstDash val="solid"/>
                      <a:round/>
                      <a:headEnd type="none" w="med" len="med"/>
                      <a:tailEnd type="none" w="med" len="med"/>
                    </a:lnT>
                    <a:lnB>
                      <a:noFill/>
                    </a:lnB>
                    <a:solidFill>
                      <a:srgbClr val="002060"/>
                    </a:solidFill>
                  </a:tcPr>
                </a:tc>
                <a:tc>
                  <a:txBody>
                    <a:bodyPr/>
                    <a:lstStyle/>
                    <a:p>
                      <a:pPr algn="ctr" rtl="0" fontAlgn="ctr">
                        <a:buNone/>
                      </a:pPr>
                      <a:r>
                        <a:rPr lang="en-US" sz="800" b="1">
                          <a:solidFill>
                            <a:srgbClr val="FFFFFF"/>
                          </a:solidFill>
                          <a:effectLst/>
                          <a:latin typeface="Raleway"/>
                        </a:rPr>
                        <a:t>Cancel</a:t>
                      </a:r>
                    </a:p>
                  </a:txBody>
                  <a:tcPr marL="9525" marR="9525" marT="9525" anchor="ctr">
                    <a:lnL>
                      <a:noFill/>
                    </a:lnL>
                    <a:lnR>
                      <a:noFill/>
                    </a:lnR>
                    <a:lnT w="12700" cap="flat" cmpd="sng" algn="ctr">
                      <a:solidFill>
                        <a:schemeClr val="tx1"/>
                      </a:solidFill>
                      <a:prstDash val="solid"/>
                      <a:round/>
                      <a:headEnd type="none" w="med" len="med"/>
                      <a:tailEnd type="none" w="med" len="med"/>
                    </a:lnT>
                    <a:lnB>
                      <a:noFill/>
                    </a:lnB>
                    <a:solidFill>
                      <a:srgbClr val="002060"/>
                    </a:solidFill>
                  </a:tcPr>
                </a:tc>
                <a:tc>
                  <a:txBody>
                    <a:bodyPr/>
                    <a:lstStyle/>
                    <a:p>
                      <a:pPr algn="ctr" rtl="0" fontAlgn="ctr">
                        <a:buNone/>
                      </a:pPr>
                      <a:r>
                        <a:rPr lang="en-US" sz="800" b="1">
                          <a:solidFill>
                            <a:srgbClr val="FFFFFF"/>
                          </a:solidFill>
                          <a:effectLst/>
                          <a:latin typeface="Raleway"/>
                        </a:rPr>
                        <a:t>Sisa FPTK</a:t>
                      </a:r>
                      <a:br>
                        <a:rPr lang="en-US" sz="800" b="1">
                          <a:solidFill>
                            <a:srgbClr val="FFFFFF"/>
                          </a:solidFill>
                          <a:effectLst/>
                          <a:latin typeface="Raleway"/>
                        </a:rPr>
                      </a:br>
                      <a:r>
                        <a:rPr lang="en-US" sz="800" b="1">
                          <a:solidFill>
                            <a:srgbClr val="FFFFFF"/>
                          </a:solidFill>
                          <a:effectLst/>
                          <a:latin typeface="Raleway"/>
                        </a:rPr>
                        <a:t>Open</a:t>
                      </a:r>
                    </a:p>
                  </a:txBody>
                  <a:tcPr marL="9525" marR="9525" marT="9525" anchor="ctr">
                    <a:lnL>
                      <a:noFill/>
                    </a:lnL>
                    <a:lnR>
                      <a:noFill/>
                    </a:lnR>
                    <a:lnT w="12700" cap="flat" cmpd="sng" algn="ctr">
                      <a:solidFill>
                        <a:schemeClr val="tx1"/>
                      </a:solidFill>
                      <a:prstDash val="solid"/>
                      <a:round/>
                      <a:headEnd type="none" w="med" len="med"/>
                      <a:tailEnd type="none" w="med" len="med"/>
                    </a:lnT>
                    <a:lnB>
                      <a:noFill/>
                    </a:lnB>
                    <a:solidFill>
                      <a:srgbClr val="002060"/>
                    </a:solidFill>
                  </a:tcPr>
                </a:tc>
                <a:tc>
                  <a:txBody>
                    <a:bodyPr/>
                    <a:lstStyle/>
                    <a:p>
                      <a:pPr algn="ctr" rtl="0" fontAlgn="ctr">
                        <a:buNone/>
                      </a:pPr>
                      <a:r>
                        <a:rPr lang="en-US" sz="800" b="1">
                          <a:solidFill>
                            <a:srgbClr val="FFFFFF"/>
                          </a:solidFill>
                          <a:effectLst/>
                          <a:latin typeface="Raleway"/>
                        </a:rPr>
                        <a:t>% Total Closed</a:t>
                      </a:r>
                    </a:p>
                  </a:txBody>
                  <a:tcPr marL="9525" marR="9525" marT="9525"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solidFill>
                      <a:srgbClr val="002060"/>
                    </a:solidFill>
                  </a:tcPr>
                </a:tc>
                <a:extLst>
                  <a:ext uri="{0D108BD9-81ED-4DB2-BD59-A6C34878D82A}">
                    <a16:rowId xmlns:a16="http://schemas.microsoft.com/office/drawing/2014/main" val="61832379"/>
                  </a:ext>
                </a:extLst>
              </a:tr>
              <a:tr h="165892">
                <a:tc>
                  <a:txBody>
                    <a:bodyPr/>
                    <a:lstStyle/>
                    <a:p>
                      <a:pPr fontAlgn="ctr">
                        <a:buNone/>
                      </a:pPr>
                      <a:r>
                        <a:rPr lang="en-US" sz="800" err="1">
                          <a:effectLst/>
                          <a:latin typeface="Raleway"/>
                        </a:rPr>
                        <a:t>Gelombang</a:t>
                      </a:r>
                      <a:r>
                        <a:rPr lang="en-US" sz="800">
                          <a:effectLst/>
                          <a:latin typeface="Raleway"/>
                        </a:rPr>
                        <a:t> 1</a:t>
                      </a:r>
                    </a:p>
                  </a:txBody>
                  <a:tcPr marL="9525" marR="9525" marT="9525" anchor="ctr">
                    <a:lnL w="12700" cap="flat" cmpd="sng" algn="ctr">
                      <a:solidFill>
                        <a:schemeClr val="tx1"/>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r>
                        <a:rPr lang="en-US" sz="800">
                          <a:effectLst/>
                          <a:latin typeface="Raleway"/>
                        </a:rPr>
                        <a:t>46</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46</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46</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0</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0</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100.00%</a:t>
                      </a:r>
                    </a:p>
                  </a:txBody>
                  <a:tcPr marL="9525" marR="9525" marT="9525" anchor="ctr">
                    <a:lnL>
                      <a:noFill/>
                    </a:lnL>
                    <a:lnR w="12700" cap="flat" cmpd="sng" algn="ctr">
                      <a:solidFill>
                        <a:schemeClr val="tx1"/>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159428344"/>
                  </a:ext>
                </a:extLst>
              </a:tr>
              <a:tr h="165892">
                <a:tc>
                  <a:txBody>
                    <a:bodyPr/>
                    <a:lstStyle/>
                    <a:p>
                      <a:pPr rtl="0" fontAlgn="ctr">
                        <a:buNone/>
                      </a:pPr>
                      <a:r>
                        <a:rPr lang="en-US" sz="800" err="1">
                          <a:effectLst/>
                          <a:latin typeface="Raleway"/>
                        </a:rPr>
                        <a:t>Gelombang</a:t>
                      </a:r>
                      <a:r>
                        <a:rPr lang="en-US" sz="800">
                          <a:effectLst/>
                          <a:latin typeface="Raleway"/>
                        </a:rPr>
                        <a:t> 2</a:t>
                      </a:r>
                    </a:p>
                  </a:txBody>
                  <a:tcPr marL="9525" marR="9525" marT="9525" anchor="ctr">
                    <a:lnL w="12700" cap="flat" cmpd="sng" algn="ctr">
                      <a:solidFill>
                        <a:schemeClr val="tx1"/>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r>
                        <a:rPr lang="en-US" sz="800">
                          <a:effectLst/>
                          <a:latin typeface="Raleway"/>
                        </a:rPr>
                        <a:t>41</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37</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35</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4</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2</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94.59%</a:t>
                      </a:r>
                    </a:p>
                  </a:txBody>
                  <a:tcPr marL="9525" marR="9525" marT="9525" anchor="ctr">
                    <a:lnL>
                      <a:noFill/>
                    </a:lnL>
                    <a:lnR w="12700" cap="flat" cmpd="sng" algn="ctr">
                      <a:solidFill>
                        <a:schemeClr val="tx1"/>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983829543"/>
                  </a:ext>
                </a:extLst>
              </a:tr>
              <a:tr h="165892">
                <a:tc>
                  <a:txBody>
                    <a:bodyPr/>
                    <a:lstStyle/>
                    <a:p>
                      <a:pPr rtl="0" fontAlgn="ctr">
                        <a:buNone/>
                      </a:pPr>
                      <a:r>
                        <a:rPr lang="en-US" sz="800" err="1">
                          <a:effectLst/>
                          <a:latin typeface="Raleway"/>
                        </a:rPr>
                        <a:t>Gelombang</a:t>
                      </a:r>
                      <a:r>
                        <a:rPr lang="en-US" sz="800">
                          <a:effectLst/>
                          <a:latin typeface="Raleway"/>
                        </a:rPr>
                        <a:t> 3</a:t>
                      </a:r>
                    </a:p>
                  </a:txBody>
                  <a:tcPr marL="9525" marR="9525" marT="9525" anchor="ctr">
                    <a:lnL w="12700" cap="flat" cmpd="sng" algn="ctr">
                      <a:solidFill>
                        <a:schemeClr val="tx1"/>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r>
                        <a:rPr lang="en-US" sz="800">
                          <a:effectLst/>
                          <a:latin typeface="Raleway"/>
                        </a:rPr>
                        <a:t>25</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23</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21</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2</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2</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84.00%</a:t>
                      </a:r>
                    </a:p>
                  </a:txBody>
                  <a:tcPr marL="9525" marR="9525" marT="9525" anchor="ctr">
                    <a:lnL>
                      <a:noFill/>
                    </a:lnL>
                    <a:lnR w="12700" cap="flat" cmpd="sng" algn="ctr">
                      <a:solidFill>
                        <a:schemeClr val="tx1"/>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585774421"/>
                  </a:ext>
                </a:extLst>
              </a:tr>
              <a:tr h="165892">
                <a:tc>
                  <a:txBody>
                    <a:bodyPr/>
                    <a:lstStyle/>
                    <a:p>
                      <a:pPr fontAlgn="ctr">
                        <a:buNone/>
                      </a:pPr>
                      <a:r>
                        <a:rPr lang="en-US" sz="800" err="1">
                          <a:effectLst/>
                          <a:latin typeface="Raleway"/>
                        </a:rPr>
                        <a:t>Gelombang</a:t>
                      </a:r>
                      <a:r>
                        <a:rPr lang="en-US" sz="800">
                          <a:effectLst/>
                          <a:latin typeface="Raleway"/>
                        </a:rPr>
                        <a:t> 4</a:t>
                      </a:r>
                    </a:p>
                  </a:txBody>
                  <a:tcPr marL="9525" marR="9525" marT="9525" anchor="ctr">
                    <a:lnL w="12700" cap="flat" cmpd="sng" algn="ctr">
                      <a:solidFill>
                        <a:schemeClr val="tx1"/>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r>
                        <a:rPr lang="en-US" sz="800">
                          <a:effectLst/>
                          <a:latin typeface="Raleway"/>
                        </a:rPr>
                        <a:t>59</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20</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20</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0</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39</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33.90%</a:t>
                      </a:r>
                    </a:p>
                  </a:txBody>
                  <a:tcPr marL="9525" marR="9525" marT="9525" anchor="ctr">
                    <a:lnL>
                      <a:noFill/>
                    </a:lnL>
                    <a:lnR w="12700" cap="flat" cmpd="sng" algn="ctr">
                      <a:solidFill>
                        <a:schemeClr val="tx1"/>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1154239611"/>
                  </a:ext>
                </a:extLst>
              </a:tr>
              <a:tr h="165892">
                <a:tc>
                  <a:txBody>
                    <a:bodyPr/>
                    <a:lstStyle/>
                    <a:p>
                      <a:pPr rtl="0" fontAlgn="ctr">
                        <a:buNone/>
                      </a:pPr>
                      <a:r>
                        <a:rPr lang="en-US" sz="800" b="1">
                          <a:solidFill>
                            <a:srgbClr val="FF0000"/>
                          </a:solidFill>
                          <a:effectLst/>
                          <a:latin typeface="Raleway"/>
                        </a:rPr>
                        <a:t>Total</a:t>
                      </a:r>
                    </a:p>
                  </a:txBody>
                  <a:tcPr marL="9525" marR="9525" marT="9525" anchor="ctr">
                    <a:lnL w="12700" cap="flat" cmpd="sng" algn="ctr">
                      <a:solidFill>
                        <a:schemeClr val="tx1"/>
                      </a:solidFill>
                      <a:prstDash val="solid"/>
                      <a:round/>
                      <a:headEnd type="none" w="med" len="med"/>
                      <a:tailEnd type="none" w="med" len="med"/>
                    </a:lnL>
                    <a:lnR>
                      <a:noFill/>
                    </a:lnR>
                    <a:lnT>
                      <a:noFill/>
                    </a:lnT>
                    <a:lnB w="12700" cap="flat" cmpd="sng" algn="ctr">
                      <a:solidFill>
                        <a:schemeClr val="tx1"/>
                      </a:solidFill>
                      <a:prstDash val="solid"/>
                      <a:round/>
                      <a:headEnd type="none" w="med" len="med"/>
                      <a:tailEnd type="none" w="med" len="med"/>
                    </a:lnB>
                    <a:solidFill>
                      <a:srgbClr val="FFFFFF"/>
                    </a:solidFill>
                  </a:tcPr>
                </a:tc>
                <a:tc>
                  <a:txBody>
                    <a:bodyPr/>
                    <a:lstStyle/>
                    <a:p>
                      <a:pPr algn="ctr" fontAlgn="ctr">
                        <a:buNone/>
                      </a:pPr>
                      <a:r>
                        <a:rPr lang="en-US" sz="800" b="1">
                          <a:solidFill>
                            <a:srgbClr val="FF0000"/>
                          </a:solidFill>
                          <a:effectLst/>
                          <a:latin typeface="Raleway"/>
                        </a:rPr>
                        <a:t>171</a:t>
                      </a:r>
                    </a:p>
                  </a:txBody>
                  <a:tcPr marL="9525" marR="9525" marT="9525" anchor="ctr">
                    <a:lnL>
                      <a:noFill/>
                    </a:lnL>
                    <a:lnR>
                      <a:noFill/>
                    </a:lnR>
                    <a:lnT>
                      <a:noFill/>
                    </a:lnT>
                    <a:lnB w="12700" cap="flat" cmpd="sng" algn="ctr">
                      <a:solidFill>
                        <a:schemeClr val="tx1"/>
                      </a:solidFill>
                      <a:prstDash val="solid"/>
                      <a:round/>
                      <a:headEnd type="none" w="med" len="med"/>
                      <a:tailEnd type="none" w="med" len="med"/>
                    </a:lnB>
                    <a:solidFill>
                      <a:srgbClr val="FFFFFF"/>
                    </a:solidFill>
                  </a:tcPr>
                </a:tc>
                <a:tc>
                  <a:txBody>
                    <a:bodyPr/>
                    <a:lstStyle/>
                    <a:p>
                      <a:pPr algn="ctr" fontAlgn="ctr">
                        <a:buNone/>
                      </a:pPr>
                      <a:r>
                        <a:rPr lang="en-US" sz="800" b="1">
                          <a:solidFill>
                            <a:srgbClr val="FF0000"/>
                          </a:solidFill>
                          <a:effectLst/>
                          <a:latin typeface="Raleway"/>
                        </a:rPr>
                        <a:t>165</a:t>
                      </a:r>
                    </a:p>
                  </a:txBody>
                  <a:tcPr marL="9525" marR="9525" marT="9525" anchor="ctr">
                    <a:lnL>
                      <a:noFill/>
                    </a:lnL>
                    <a:lnR>
                      <a:noFill/>
                    </a:lnR>
                    <a:lnT>
                      <a:noFill/>
                    </a:lnT>
                    <a:lnB w="12700" cap="flat" cmpd="sng" algn="ctr">
                      <a:solidFill>
                        <a:schemeClr val="tx1"/>
                      </a:solidFill>
                      <a:prstDash val="solid"/>
                      <a:round/>
                      <a:headEnd type="none" w="med" len="med"/>
                      <a:tailEnd type="none" w="med" len="med"/>
                    </a:lnB>
                    <a:solidFill>
                      <a:srgbClr val="FFFFFF"/>
                    </a:solidFill>
                  </a:tcPr>
                </a:tc>
                <a:tc>
                  <a:txBody>
                    <a:bodyPr/>
                    <a:lstStyle/>
                    <a:p>
                      <a:pPr algn="ctr" fontAlgn="ctr">
                        <a:buNone/>
                      </a:pPr>
                      <a:r>
                        <a:rPr lang="en-US" sz="800" b="1">
                          <a:solidFill>
                            <a:srgbClr val="FF0000"/>
                          </a:solidFill>
                          <a:effectLst/>
                          <a:latin typeface="Raleway"/>
                        </a:rPr>
                        <a:t>122</a:t>
                      </a:r>
                    </a:p>
                  </a:txBody>
                  <a:tcPr marL="9525" marR="9525" marT="9525" anchor="ctr">
                    <a:lnL>
                      <a:noFill/>
                    </a:lnL>
                    <a:lnR>
                      <a:noFill/>
                    </a:lnR>
                    <a:lnT>
                      <a:noFill/>
                    </a:lnT>
                    <a:lnB w="12700" cap="flat" cmpd="sng" algn="ctr">
                      <a:solidFill>
                        <a:schemeClr val="tx1"/>
                      </a:solidFill>
                      <a:prstDash val="solid"/>
                      <a:round/>
                      <a:headEnd type="none" w="med" len="med"/>
                      <a:tailEnd type="none" w="med" len="med"/>
                    </a:lnB>
                    <a:solidFill>
                      <a:srgbClr val="FFFFFF"/>
                    </a:solidFill>
                  </a:tcPr>
                </a:tc>
                <a:tc>
                  <a:txBody>
                    <a:bodyPr/>
                    <a:lstStyle/>
                    <a:p>
                      <a:pPr algn="ctr" fontAlgn="ctr">
                        <a:buNone/>
                      </a:pPr>
                      <a:r>
                        <a:rPr lang="en-US" sz="800" b="1">
                          <a:solidFill>
                            <a:srgbClr val="FF0000"/>
                          </a:solidFill>
                          <a:effectLst/>
                          <a:latin typeface="Raleway"/>
                        </a:rPr>
                        <a:t>6</a:t>
                      </a:r>
                    </a:p>
                  </a:txBody>
                  <a:tcPr marL="9525" marR="9525" marT="9525" anchor="ctr">
                    <a:lnL>
                      <a:noFill/>
                    </a:lnL>
                    <a:lnR>
                      <a:noFill/>
                    </a:lnR>
                    <a:lnT>
                      <a:noFill/>
                    </a:lnT>
                    <a:lnB w="12700" cap="flat" cmpd="sng" algn="ctr">
                      <a:solidFill>
                        <a:schemeClr val="tx1"/>
                      </a:solidFill>
                      <a:prstDash val="solid"/>
                      <a:round/>
                      <a:headEnd type="none" w="med" len="med"/>
                      <a:tailEnd type="none" w="med" len="med"/>
                    </a:lnB>
                    <a:solidFill>
                      <a:srgbClr val="FFFFFF"/>
                    </a:solidFill>
                  </a:tcPr>
                </a:tc>
                <a:tc>
                  <a:txBody>
                    <a:bodyPr/>
                    <a:lstStyle/>
                    <a:p>
                      <a:pPr algn="ctr" fontAlgn="ctr">
                        <a:buNone/>
                      </a:pPr>
                      <a:r>
                        <a:rPr lang="en-US" sz="800" b="1">
                          <a:solidFill>
                            <a:srgbClr val="FF0000"/>
                          </a:solidFill>
                          <a:effectLst/>
                          <a:latin typeface="Raleway"/>
                        </a:rPr>
                        <a:t>43</a:t>
                      </a:r>
                    </a:p>
                  </a:txBody>
                  <a:tcPr marL="9525" marR="9525" marT="9525" anchor="ctr">
                    <a:lnL>
                      <a:noFill/>
                    </a:lnL>
                    <a:lnR>
                      <a:noFill/>
                    </a:lnR>
                    <a:lnT>
                      <a:noFill/>
                    </a:lnT>
                    <a:lnB w="12700" cap="flat" cmpd="sng" algn="ctr">
                      <a:solidFill>
                        <a:schemeClr val="tx1"/>
                      </a:solidFill>
                      <a:prstDash val="solid"/>
                      <a:round/>
                      <a:headEnd type="none" w="med" len="med"/>
                      <a:tailEnd type="none" w="med" len="med"/>
                    </a:lnB>
                    <a:solidFill>
                      <a:srgbClr val="FFFFFF"/>
                    </a:solidFill>
                  </a:tcPr>
                </a:tc>
                <a:tc>
                  <a:txBody>
                    <a:bodyPr/>
                    <a:lstStyle/>
                    <a:p>
                      <a:pPr algn="ctr" fontAlgn="ctr">
                        <a:buNone/>
                      </a:pPr>
                      <a:r>
                        <a:rPr lang="en-US" sz="800" b="1">
                          <a:solidFill>
                            <a:srgbClr val="FF0000"/>
                          </a:solidFill>
                          <a:effectLst/>
                          <a:latin typeface="Raleway"/>
                        </a:rPr>
                        <a:t>73.94%</a:t>
                      </a:r>
                    </a:p>
                  </a:txBody>
                  <a:tcPr marL="9525" marR="9525" marT="9525" anchor="ctr">
                    <a:lnL>
                      <a:noFill/>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rgbClr val="FFFFFF"/>
                    </a:solidFill>
                  </a:tcPr>
                </a:tc>
                <a:extLst>
                  <a:ext uri="{0D108BD9-81ED-4DB2-BD59-A6C34878D82A}">
                    <a16:rowId xmlns:a16="http://schemas.microsoft.com/office/drawing/2014/main" val="2030823305"/>
                  </a:ext>
                </a:extLst>
              </a:tr>
              <a:tr h="165892">
                <a:tc>
                  <a:txBody>
                    <a:bodyPr/>
                    <a:lstStyle/>
                    <a:p>
                      <a:pPr fontAlgn="b">
                        <a:buNone/>
                      </a:pPr>
                      <a:endParaRPr lang="en-US" sz="800">
                        <a:effectLst/>
                        <a:latin typeface="Raleway"/>
                      </a:endParaRPr>
                    </a:p>
                  </a:txBody>
                  <a:tcPr marL="9525" marR="9525" marT="9525" anchor="b">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b">
                        <a:buNone/>
                      </a:pPr>
                      <a:endParaRPr lang="en-US" sz="800">
                        <a:effectLst/>
                        <a:latin typeface="Raleway"/>
                      </a:endParaRPr>
                    </a:p>
                  </a:txBody>
                  <a:tcPr marL="9525" marR="9525" marT="9525" anchor="b">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b">
                        <a:buNone/>
                      </a:pPr>
                      <a:endParaRPr lang="en-US" sz="800">
                        <a:effectLst/>
                        <a:latin typeface="Raleway"/>
                      </a:endParaRPr>
                    </a:p>
                  </a:txBody>
                  <a:tcPr marL="9525" marR="9525" marT="9525" anchor="b">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b">
                        <a:buNone/>
                      </a:pPr>
                      <a:endParaRPr lang="en-US" sz="800">
                        <a:effectLst/>
                        <a:latin typeface="Raleway"/>
                      </a:endParaRPr>
                    </a:p>
                  </a:txBody>
                  <a:tcPr marL="9525" marR="9525" marT="9525" anchor="b">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b">
                        <a:buNone/>
                      </a:pPr>
                      <a:endParaRPr lang="en-US" sz="800">
                        <a:effectLst/>
                        <a:latin typeface="Raleway"/>
                      </a:endParaRPr>
                    </a:p>
                  </a:txBody>
                  <a:tcPr marL="9525" marR="9525" marT="9525" anchor="b">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b">
                        <a:buNone/>
                      </a:pPr>
                      <a:endParaRPr lang="en-US" sz="800">
                        <a:effectLst/>
                        <a:latin typeface="Raleway"/>
                      </a:endParaRPr>
                    </a:p>
                  </a:txBody>
                  <a:tcPr marL="9525" marR="9525" marT="9525" anchor="b">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fontAlgn="b">
                        <a:buNone/>
                      </a:pPr>
                      <a:endParaRPr lang="en-US" sz="800">
                        <a:effectLst/>
                        <a:latin typeface="Raleway"/>
                      </a:endParaRPr>
                    </a:p>
                  </a:txBody>
                  <a:tcPr marL="9525" marR="9525" marT="9525" anchor="b">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968361724"/>
                  </a:ext>
                </a:extLst>
              </a:tr>
              <a:tr h="373258">
                <a:tc>
                  <a:txBody>
                    <a:bodyPr/>
                    <a:lstStyle/>
                    <a:p>
                      <a:pPr algn="ctr" rtl="0" fontAlgn="ctr">
                        <a:buNone/>
                      </a:pPr>
                      <a:r>
                        <a:rPr lang="en-US" sz="800" b="1" err="1">
                          <a:solidFill>
                            <a:srgbClr val="FFFFFF"/>
                          </a:solidFill>
                          <a:effectLst/>
                          <a:latin typeface="Raleway"/>
                        </a:rPr>
                        <a:t>Pemenuhan</a:t>
                      </a:r>
                      <a:r>
                        <a:rPr lang="en-US" sz="800" b="1">
                          <a:solidFill>
                            <a:srgbClr val="FFFFFF"/>
                          </a:solidFill>
                          <a:effectLst/>
                          <a:latin typeface="Raleway"/>
                        </a:rPr>
                        <a:t> SDM STO Chilled 2026</a:t>
                      </a:r>
                    </a:p>
                  </a:txBody>
                  <a:tcPr marL="9525" marR="9525" marT="9525"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a:noFill/>
                    </a:lnB>
                    <a:solidFill>
                      <a:srgbClr val="002060"/>
                    </a:solidFill>
                  </a:tcPr>
                </a:tc>
                <a:tc>
                  <a:txBody>
                    <a:bodyPr/>
                    <a:lstStyle/>
                    <a:p>
                      <a:pPr algn="ctr" rtl="0" fontAlgn="ctr">
                        <a:buNone/>
                      </a:pPr>
                      <a:r>
                        <a:rPr lang="en-US" sz="800" b="1">
                          <a:solidFill>
                            <a:srgbClr val="FFFFFF"/>
                          </a:solidFill>
                          <a:effectLst/>
                          <a:latin typeface="Raleway"/>
                        </a:rPr>
                        <a:t>MPP</a:t>
                      </a:r>
                    </a:p>
                  </a:txBody>
                  <a:tcPr marL="9525" marR="9525" marT="9525" anchor="ctr">
                    <a:lnL>
                      <a:noFill/>
                    </a:lnL>
                    <a:lnR>
                      <a:noFill/>
                    </a:lnR>
                    <a:lnT w="12700" cap="flat" cmpd="sng" algn="ctr">
                      <a:solidFill>
                        <a:schemeClr val="tx1"/>
                      </a:solidFill>
                      <a:prstDash val="solid"/>
                      <a:round/>
                      <a:headEnd type="none" w="med" len="med"/>
                      <a:tailEnd type="none" w="med" len="med"/>
                    </a:lnT>
                    <a:lnB>
                      <a:noFill/>
                    </a:lnB>
                    <a:solidFill>
                      <a:srgbClr val="002060"/>
                    </a:solidFill>
                  </a:tcPr>
                </a:tc>
                <a:tc>
                  <a:txBody>
                    <a:bodyPr/>
                    <a:lstStyle/>
                    <a:p>
                      <a:pPr algn="ctr" rtl="0" fontAlgn="ctr">
                        <a:buNone/>
                      </a:pPr>
                      <a:r>
                        <a:rPr lang="en-US" sz="800" b="1">
                          <a:solidFill>
                            <a:srgbClr val="FFFFFF"/>
                          </a:solidFill>
                          <a:effectLst/>
                          <a:latin typeface="Raleway"/>
                        </a:rPr>
                        <a:t>FPTK </a:t>
                      </a:r>
                      <a:r>
                        <a:rPr lang="en-US" sz="800" b="1" err="1">
                          <a:solidFill>
                            <a:srgbClr val="FFFFFF"/>
                          </a:solidFill>
                          <a:effectLst/>
                          <a:latin typeface="Raleway"/>
                        </a:rPr>
                        <a:t>diproses</a:t>
                      </a:r>
                    </a:p>
                  </a:txBody>
                  <a:tcPr marL="9525" marR="9525" marT="9525" anchor="ctr">
                    <a:lnL>
                      <a:noFill/>
                    </a:lnL>
                    <a:lnR>
                      <a:noFill/>
                    </a:lnR>
                    <a:lnT w="12700" cap="flat" cmpd="sng" algn="ctr">
                      <a:solidFill>
                        <a:schemeClr val="tx1"/>
                      </a:solidFill>
                      <a:prstDash val="solid"/>
                      <a:round/>
                      <a:headEnd type="none" w="med" len="med"/>
                      <a:tailEnd type="none" w="med" len="med"/>
                    </a:lnT>
                    <a:lnB>
                      <a:noFill/>
                    </a:lnB>
                    <a:solidFill>
                      <a:srgbClr val="002060"/>
                    </a:solidFill>
                  </a:tcPr>
                </a:tc>
                <a:tc>
                  <a:txBody>
                    <a:bodyPr/>
                    <a:lstStyle/>
                    <a:p>
                      <a:pPr algn="ctr" rtl="0" fontAlgn="ctr">
                        <a:buNone/>
                      </a:pPr>
                      <a:r>
                        <a:rPr lang="en-US" sz="800" b="1">
                          <a:solidFill>
                            <a:srgbClr val="FFFFFF"/>
                          </a:solidFill>
                          <a:effectLst/>
                          <a:latin typeface="Raleway"/>
                        </a:rPr>
                        <a:t>Closed</a:t>
                      </a:r>
                    </a:p>
                  </a:txBody>
                  <a:tcPr marL="9525" marR="9525" marT="9525" anchor="ctr">
                    <a:lnL>
                      <a:noFill/>
                    </a:lnL>
                    <a:lnR>
                      <a:noFill/>
                    </a:lnR>
                    <a:lnT w="12700" cap="flat" cmpd="sng" algn="ctr">
                      <a:solidFill>
                        <a:schemeClr val="tx1"/>
                      </a:solidFill>
                      <a:prstDash val="solid"/>
                      <a:round/>
                      <a:headEnd type="none" w="med" len="med"/>
                      <a:tailEnd type="none" w="med" len="med"/>
                    </a:lnT>
                    <a:lnB>
                      <a:noFill/>
                    </a:lnB>
                    <a:solidFill>
                      <a:srgbClr val="002060"/>
                    </a:solidFill>
                  </a:tcPr>
                </a:tc>
                <a:tc>
                  <a:txBody>
                    <a:bodyPr/>
                    <a:lstStyle/>
                    <a:p>
                      <a:pPr algn="ctr" rtl="0" fontAlgn="ctr">
                        <a:buNone/>
                      </a:pPr>
                      <a:r>
                        <a:rPr lang="en-US" sz="800" b="1">
                          <a:solidFill>
                            <a:srgbClr val="FFFFFF"/>
                          </a:solidFill>
                          <a:effectLst/>
                          <a:latin typeface="Raleway"/>
                        </a:rPr>
                        <a:t>Cancel</a:t>
                      </a:r>
                    </a:p>
                  </a:txBody>
                  <a:tcPr marL="9525" marR="9525" marT="9525" anchor="ctr">
                    <a:lnL>
                      <a:noFill/>
                    </a:lnL>
                    <a:lnR>
                      <a:noFill/>
                    </a:lnR>
                    <a:lnT w="12700" cap="flat" cmpd="sng" algn="ctr">
                      <a:solidFill>
                        <a:schemeClr val="tx1"/>
                      </a:solidFill>
                      <a:prstDash val="solid"/>
                      <a:round/>
                      <a:headEnd type="none" w="med" len="med"/>
                      <a:tailEnd type="none" w="med" len="med"/>
                    </a:lnT>
                    <a:lnB>
                      <a:noFill/>
                    </a:lnB>
                    <a:solidFill>
                      <a:srgbClr val="002060"/>
                    </a:solidFill>
                  </a:tcPr>
                </a:tc>
                <a:tc>
                  <a:txBody>
                    <a:bodyPr/>
                    <a:lstStyle/>
                    <a:p>
                      <a:pPr algn="ctr" rtl="0" fontAlgn="ctr">
                        <a:buNone/>
                      </a:pPr>
                      <a:r>
                        <a:rPr lang="en-US" sz="800" b="1">
                          <a:solidFill>
                            <a:srgbClr val="FFFFFF"/>
                          </a:solidFill>
                          <a:effectLst/>
                          <a:latin typeface="Raleway"/>
                        </a:rPr>
                        <a:t>Sisa FPTK</a:t>
                      </a:r>
                      <a:br>
                        <a:rPr lang="en-US" sz="800" b="1">
                          <a:solidFill>
                            <a:srgbClr val="FFFFFF"/>
                          </a:solidFill>
                          <a:effectLst/>
                          <a:latin typeface="Raleway"/>
                        </a:rPr>
                      </a:br>
                      <a:r>
                        <a:rPr lang="en-US" sz="800" b="1">
                          <a:solidFill>
                            <a:srgbClr val="FFFFFF"/>
                          </a:solidFill>
                          <a:effectLst/>
                          <a:latin typeface="Raleway"/>
                        </a:rPr>
                        <a:t>Open</a:t>
                      </a:r>
                    </a:p>
                  </a:txBody>
                  <a:tcPr marL="9525" marR="9525" marT="9525" anchor="ctr">
                    <a:lnL>
                      <a:noFill/>
                    </a:lnL>
                    <a:lnR>
                      <a:noFill/>
                    </a:lnR>
                    <a:lnT w="12700" cap="flat" cmpd="sng" algn="ctr">
                      <a:solidFill>
                        <a:schemeClr val="tx1"/>
                      </a:solidFill>
                      <a:prstDash val="solid"/>
                      <a:round/>
                      <a:headEnd type="none" w="med" len="med"/>
                      <a:tailEnd type="none" w="med" len="med"/>
                    </a:lnT>
                    <a:lnB>
                      <a:noFill/>
                    </a:lnB>
                    <a:solidFill>
                      <a:srgbClr val="002060"/>
                    </a:solidFill>
                  </a:tcPr>
                </a:tc>
                <a:tc>
                  <a:txBody>
                    <a:bodyPr/>
                    <a:lstStyle/>
                    <a:p>
                      <a:pPr algn="ctr" rtl="0" fontAlgn="ctr">
                        <a:buNone/>
                      </a:pPr>
                      <a:r>
                        <a:rPr lang="en-US" sz="800" b="1">
                          <a:solidFill>
                            <a:srgbClr val="FFFFFF"/>
                          </a:solidFill>
                          <a:effectLst/>
                          <a:latin typeface="Raleway"/>
                        </a:rPr>
                        <a:t>% Total Closed</a:t>
                      </a:r>
                    </a:p>
                  </a:txBody>
                  <a:tcPr marL="9525" marR="9525" marT="9525"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solidFill>
                      <a:srgbClr val="002060"/>
                    </a:solidFill>
                  </a:tcPr>
                </a:tc>
                <a:extLst>
                  <a:ext uri="{0D108BD9-81ED-4DB2-BD59-A6C34878D82A}">
                    <a16:rowId xmlns:a16="http://schemas.microsoft.com/office/drawing/2014/main" val="3800105007"/>
                  </a:ext>
                </a:extLst>
              </a:tr>
              <a:tr h="165892">
                <a:tc>
                  <a:txBody>
                    <a:bodyPr/>
                    <a:lstStyle/>
                    <a:p>
                      <a:pPr fontAlgn="ctr">
                        <a:buNone/>
                      </a:pPr>
                      <a:r>
                        <a:rPr lang="en-US" sz="800">
                          <a:effectLst/>
                          <a:latin typeface="Raleway"/>
                        </a:rPr>
                        <a:t>FPTK Priority</a:t>
                      </a:r>
                    </a:p>
                  </a:txBody>
                  <a:tcPr marL="9525" marR="9525" marT="9525" anchor="ctr">
                    <a:lnL w="12700" cap="flat" cmpd="sng" algn="ctr">
                      <a:solidFill>
                        <a:schemeClr val="tx1"/>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r>
                        <a:rPr lang="en-US" sz="800">
                          <a:effectLst/>
                          <a:latin typeface="Raleway"/>
                        </a:rPr>
                        <a:t>-</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20</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14</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0</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6</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70.00%</a:t>
                      </a:r>
                    </a:p>
                  </a:txBody>
                  <a:tcPr marL="9525" marR="9525" marT="9525" anchor="ctr">
                    <a:lnL>
                      <a:noFill/>
                    </a:lnL>
                    <a:lnR w="12700" cap="flat" cmpd="sng" algn="ctr">
                      <a:solidFill>
                        <a:schemeClr val="tx1"/>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748258918"/>
                  </a:ext>
                </a:extLst>
              </a:tr>
              <a:tr h="165892">
                <a:tc>
                  <a:txBody>
                    <a:bodyPr/>
                    <a:lstStyle/>
                    <a:p>
                      <a:pPr rtl="0" fontAlgn="ctr">
                        <a:buNone/>
                      </a:pPr>
                      <a:r>
                        <a:rPr lang="en-US" sz="800">
                          <a:effectLst/>
                          <a:latin typeface="Raleway"/>
                        </a:rPr>
                        <a:t>Replacement</a:t>
                      </a:r>
                    </a:p>
                  </a:txBody>
                  <a:tcPr marL="9525" marR="9525" marT="9525" anchor="ctr">
                    <a:lnL w="12700" cap="flat" cmpd="sng" algn="ctr">
                      <a:solidFill>
                        <a:schemeClr val="tx1"/>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r>
                        <a:rPr lang="en-US" sz="800">
                          <a:effectLst/>
                          <a:latin typeface="Raleway"/>
                        </a:rPr>
                        <a:t>-</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39</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39</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0</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0</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100.00%</a:t>
                      </a:r>
                    </a:p>
                  </a:txBody>
                  <a:tcPr marL="9525" marR="9525" marT="9525" anchor="ctr">
                    <a:lnL>
                      <a:noFill/>
                    </a:lnL>
                    <a:lnR w="12700" cap="flat" cmpd="sng" algn="ctr">
                      <a:solidFill>
                        <a:schemeClr val="tx1"/>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021687972"/>
                  </a:ext>
                </a:extLst>
              </a:tr>
              <a:tr h="165892">
                <a:tc>
                  <a:txBody>
                    <a:bodyPr/>
                    <a:lstStyle/>
                    <a:p>
                      <a:pPr rtl="0" fontAlgn="ctr">
                        <a:buNone/>
                      </a:pPr>
                      <a:r>
                        <a:rPr lang="en-US" sz="800" b="1">
                          <a:solidFill>
                            <a:srgbClr val="FF0000"/>
                          </a:solidFill>
                          <a:effectLst/>
                          <a:latin typeface="Raleway"/>
                        </a:rPr>
                        <a:t>Total</a:t>
                      </a:r>
                    </a:p>
                  </a:txBody>
                  <a:tcPr marL="9525" marR="9525" marT="9525" anchor="ctr">
                    <a:lnL w="12700" cap="flat" cmpd="sng" algn="ctr">
                      <a:solidFill>
                        <a:schemeClr val="tx1"/>
                      </a:solidFill>
                      <a:prstDash val="solid"/>
                      <a:round/>
                      <a:headEnd type="none" w="med" len="med"/>
                      <a:tailEnd type="none" w="med" len="med"/>
                    </a:lnL>
                    <a:lnR>
                      <a:noFill/>
                    </a:lnR>
                    <a:lnT>
                      <a:noFill/>
                    </a:lnT>
                    <a:lnB w="12700" cap="flat" cmpd="sng" algn="ctr">
                      <a:solidFill>
                        <a:schemeClr val="tx1"/>
                      </a:solidFill>
                      <a:prstDash val="solid"/>
                      <a:round/>
                      <a:headEnd type="none" w="med" len="med"/>
                      <a:tailEnd type="none" w="med" len="med"/>
                    </a:lnB>
                    <a:solidFill>
                      <a:srgbClr val="FFFFFF"/>
                    </a:solidFill>
                  </a:tcPr>
                </a:tc>
                <a:tc>
                  <a:txBody>
                    <a:bodyPr/>
                    <a:lstStyle/>
                    <a:p>
                      <a:pPr algn="ctr" fontAlgn="ctr">
                        <a:buNone/>
                      </a:pPr>
                      <a:r>
                        <a:rPr lang="en-US" sz="800" b="1">
                          <a:solidFill>
                            <a:srgbClr val="FF0000"/>
                          </a:solidFill>
                          <a:effectLst/>
                          <a:latin typeface="Raleway"/>
                        </a:rPr>
                        <a:t>-</a:t>
                      </a:r>
                    </a:p>
                  </a:txBody>
                  <a:tcPr marL="9525" marR="9525" marT="9525" anchor="ctr">
                    <a:lnL>
                      <a:noFill/>
                    </a:lnL>
                    <a:lnR>
                      <a:noFill/>
                    </a:lnR>
                    <a:lnT>
                      <a:noFill/>
                    </a:lnT>
                    <a:lnB w="12700" cap="flat" cmpd="sng" algn="ctr">
                      <a:solidFill>
                        <a:schemeClr val="tx1"/>
                      </a:solidFill>
                      <a:prstDash val="solid"/>
                      <a:round/>
                      <a:headEnd type="none" w="med" len="med"/>
                      <a:tailEnd type="none" w="med" len="med"/>
                    </a:lnB>
                    <a:solidFill>
                      <a:srgbClr val="FFFFFF"/>
                    </a:solidFill>
                  </a:tcPr>
                </a:tc>
                <a:tc>
                  <a:txBody>
                    <a:bodyPr/>
                    <a:lstStyle/>
                    <a:p>
                      <a:pPr algn="ctr" fontAlgn="ctr">
                        <a:buNone/>
                      </a:pPr>
                      <a:r>
                        <a:rPr lang="en-US" sz="800" b="1">
                          <a:solidFill>
                            <a:srgbClr val="FF0000"/>
                          </a:solidFill>
                          <a:effectLst/>
                          <a:latin typeface="Raleway"/>
                        </a:rPr>
                        <a:t>59</a:t>
                      </a:r>
                    </a:p>
                  </a:txBody>
                  <a:tcPr marL="9525" marR="9525" marT="9525" anchor="ctr">
                    <a:lnL>
                      <a:noFill/>
                    </a:lnL>
                    <a:lnR>
                      <a:noFill/>
                    </a:lnR>
                    <a:lnT>
                      <a:noFill/>
                    </a:lnT>
                    <a:lnB w="12700" cap="flat" cmpd="sng" algn="ctr">
                      <a:solidFill>
                        <a:schemeClr val="tx1"/>
                      </a:solidFill>
                      <a:prstDash val="solid"/>
                      <a:round/>
                      <a:headEnd type="none" w="med" len="med"/>
                      <a:tailEnd type="none" w="med" len="med"/>
                    </a:lnB>
                    <a:solidFill>
                      <a:srgbClr val="FFFFFF"/>
                    </a:solidFill>
                  </a:tcPr>
                </a:tc>
                <a:tc>
                  <a:txBody>
                    <a:bodyPr/>
                    <a:lstStyle/>
                    <a:p>
                      <a:pPr algn="ctr" fontAlgn="ctr">
                        <a:buNone/>
                      </a:pPr>
                      <a:r>
                        <a:rPr lang="en-US" sz="800" b="1">
                          <a:solidFill>
                            <a:srgbClr val="FF0000"/>
                          </a:solidFill>
                          <a:effectLst/>
                          <a:latin typeface="Raleway"/>
                        </a:rPr>
                        <a:t>53</a:t>
                      </a:r>
                    </a:p>
                  </a:txBody>
                  <a:tcPr marL="9525" marR="9525" marT="9525" anchor="ctr">
                    <a:lnL>
                      <a:noFill/>
                    </a:lnL>
                    <a:lnR>
                      <a:noFill/>
                    </a:lnR>
                    <a:lnT>
                      <a:noFill/>
                    </a:lnT>
                    <a:lnB w="12700" cap="flat" cmpd="sng" algn="ctr">
                      <a:solidFill>
                        <a:schemeClr val="tx1"/>
                      </a:solidFill>
                      <a:prstDash val="solid"/>
                      <a:round/>
                      <a:headEnd type="none" w="med" len="med"/>
                      <a:tailEnd type="none" w="med" len="med"/>
                    </a:lnB>
                    <a:solidFill>
                      <a:srgbClr val="FFFFFF"/>
                    </a:solidFill>
                  </a:tcPr>
                </a:tc>
                <a:tc>
                  <a:txBody>
                    <a:bodyPr/>
                    <a:lstStyle/>
                    <a:p>
                      <a:pPr algn="ctr" fontAlgn="ctr">
                        <a:buNone/>
                      </a:pPr>
                      <a:r>
                        <a:rPr lang="en-US" sz="800" b="1">
                          <a:solidFill>
                            <a:srgbClr val="FF0000"/>
                          </a:solidFill>
                          <a:effectLst/>
                          <a:latin typeface="Raleway"/>
                        </a:rPr>
                        <a:t>0</a:t>
                      </a:r>
                    </a:p>
                  </a:txBody>
                  <a:tcPr marL="9525" marR="9525" marT="9525" anchor="ctr">
                    <a:lnL>
                      <a:noFill/>
                    </a:lnL>
                    <a:lnR>
                      <a:noFill/>
                    </a:lnR>
                    <a:lnT>
                      <a:noFill/>
                    </a:lnT>
                    <a:lnB w="12700" cap="flat" cmpd="sng" algn="ctr">
                      <a:solidFill>
                        <a:schemeClr val="tx1"/>
                      </a:solidFill>
                      <a:prstDash val="solid"/>
                      <a:round/>
                      <a:headEnd type="none" w="med" len="med"/>
                      <a:tailEnd type="none" w="med" len="med"/>
                    </a:lnB>
                    <a:solidFill>
                      <a:srgbClr val="FFFFFF"/>
                    </a:solidFill>
                  </a:tcPr>
                </a:tc>
                <a:tc>
                  <a:txBody>
                    <a:bodyPr/>
                    <a:lstStyle/>
                    <a:p>
                      <a:pPr algn="ctr" fontAlgn="ctr">
                        <a:buNone/>
                      </a:pPr>
                      <a:r>
                        <a:rPr lang="en-US" sz="800" b="1">
                          <a:solidFill>
                            <a:srgbClr val="FF0000"/>
                          </a:solidFill>
                          <a:effectLst/>
                          <a:latin typeface="Raleway"/>
                        </a:rPr>
                        <a:t>6</a:t>
                      </a:r>
                    </a:p>
                  </a:txBody>
                  <a:tcPr marL="9525" marR="9525" marT="9525" anchor="ctr">
                    <a:lnL>
                      <a:noFill/>
                    </a:lnL>
                    <a:lnR>
                      <a:noFill/>
                    </a:lnR>
                    <a:lnT>
                      <a:noFill/>
                    </a:lnT>
                    <a:lnB w="12700" cap="flat" cmpd="sng" algn="ctr">
                      <a:solidFill>
                        <a:schemeClr val="tx1"/>
                      </a:solidFill>
                      <a:prstDash val="solid"/>
                      <a:round/>
                      <a:headEnd type="none" w="med" len="med"/>
                      <a:tailEnd type="none" w="med" len="med"/>
                    </a:lnB>
                    <a:solidFill>
                      <a:srgbClr val="FFFFFF"/>
                    </a:solidFill>
                  </a:tcPr>
                </a:tc>
                <a:tc>
                  <a:txBody>
                    <a:bodyPr/>
                    <a:lstStyle/>
                    <a:p>
                      <a:pPr algn="ctr" fontAlgn="ctr">
                        <a:buNone/>
                      </a:pPr>
                      <a:r>
                        <a:rPr lang="en-US" sz="800" b="1">
                          <a:solidFill>
                            <a:srgbClr val="FF0000"/>
                          </a:solidFill>
                          <a:effectLst/>
                          <a:latin typeface="Raleway"/>
                        </a:rPr>
                        <a:t>89.83%</a:t>
                      </a:r>
                    </a:p>
                  </a:txBody>
                  <a:tcPr marL="9525" marR="9525" marT="9525" anchor="ctr">
                    <a:lnL>
                      <a:noFill/>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rgbClr val="FFFFFF"/>
                    </a:solidFill>
                  </a:tcPr>
                </a:tc>
                <a:extLst>
                  <a:ext uri="{0D108BD9-81ED-4DB2-BD59-A6C34878D82A}">
                    <a16:rowId xmlns:a16="http://schemas.microsoft.com/office/drawing/2014/main" val="1596735047"/>
                  </a:ext>
                </a:extLst>
              </a:tr>
              <a:tr h="165892">
                <a:tc>
                  <a:txBody>
                    <a:bodyPr/>
                    <a:lstStyle/>
                    <a:p>
                      <a:pPr fontAlgn="b">
                        <a:buNone/>
                      </a:pPr>
                      <a:endParaRPr lang="en-US" sz="800">
                        <a:effectLst/>
                        <a:latin typeface="Raleway"/>
                      </a:endParaRPr>
                    </a:p>
                  </a:txBody>
                  <a:tcPr marL="9525" marR="9525" marT="9525" anchor="b">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fontAlgn="b">
                        <a:buNone/>
                      </a:pPr>
                      <a:endParaRPr lang="en-US" sz="800">
                        <a:effectLst/>
                        <a:latin typeface="Raleway"/>
                      </a:endParaRPr>
                    </a:p>
                  </a:txBody>
                  <a:tcPr marL="9525" marR="9525" marT="9525" anchor="b">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fontAlgn="b">
                        <a:buNone/>
                      </a:pPr>
                      <a:endParaRPr lang="en-US" sz="800">
                        <a:effectLst/>
                        <a:latin typeface="Raleway"/>
                      </a:endParaRPr>
                    </a:p>
                  </a:txBody>
                  <a:tcPr marL="9525" marR="9525" marT="9525" anchor="b">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fontAlgn="b">
                        <a:buNone/>
                      </a:pPr>
                      <a:endParaRPr lang="en-US" sz="800">
                        <a:effectLst/>
                        <a:latin typeface="Raleway"/>
                      </a:endParaRPr>
                    </a:p>
                  </a:txBody>
                  <a:tcPr marL="9525" marR="9525" marT="9525" anchor="b">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fontAlgn="b">
                        <a:buNone/>
                      </a:pPr>
                      <a:endParaRPr lang="en-US" sz="800">
                        <a:effectLst/>
                        <a:latin typeface="Raleway"/>
                      </a:endParaRPr>
                    </a:p>
                  </a:txBody>
                  <a:tcPr marL="9525" marR="9525" marT="9525" anchor="b">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fontAlgn="b">
                        <a:buNone/>
                      </a:pPr>
                      <a:endParaRPr lang="en-US" sz="800">
                        <a:effectLst/>
                        <a:latin typeface="Raleway"/>
                      </a:endParaRPr>
                    </a:p>
                  </a:txBody>
                  <a:tcPr marL="9525" marR="9525" marT="9525" anchor="b">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tc>
                  <a:txBody>
                    <a:bodyPr/>
                    <a:lstStyle/>
                    <a:p>
                      <a:pPr fontAlgn="b">
                        <a:buNone/>
                      </a:pPr>
                      <a:endParaRPr lang="en-US" sz="800">
                        <a:effectLst/>
                        <a:latin typeface="Raleway"/>
                      </a:endParaRPr>
                    </a:p>
                  </a:txBody>
                  <a:tcPr marL="9525" marR="9525" marT="9525" anchor="b">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extLst>
                  <a:ext uri="{0D108BD9-81ED-4DB2-BD59-A6C34878D82A}">
                    <a16:rowId xmlns:a16="http://schemas.microsoft.com/office/drawing/2014/main" val="3400202577"/>
                  </a:ext>
                </a:extLst>
              </a:tr>
              <a:tr h="373258">
                <a:tc>
                  <a:txBody>
                    <a:bodyPr/>
                    <a:lstStyle/>
                    <a:p>
                      <a:pPr algn="ctr" rtl="0" fontAlgn="ctr">
                        <a:buNone/>
                      </a:pPr>
                      <a:r>
                        <a:rPr lang="en-US" sz="800" b="1" err="1">
                          <a:solidFill>
                            <a:srgbClr val="FFFFFF"/>
                          </a:solidFill>
                          <a:effectLst/>
                          <a:latin typeface="Raleway"/>
                        </a:rPr>
                        <a:t>Pemenuhan</a:t>
                      </a:r>
                      <a:r>
                        <a:rPr lang="en-US" sz="800" b="1">
                          <a:solidFill>
                            <a:srgbClr val="FFFFFF"/>
                          </a:solidFill>
                          <a:effectLst/>
                          <a:latin typeface="Raleway"/>
                        </a:rPr>
                        <a:t> SDM STO Chilled 2026</a:t>
                      </a:r>
                    </a:p>
                  </a:txBody>
                  <a:tcPr marL="9525" marR="9525" marT="9525"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a:noFill/>
                    </a:lnB>
                    <a:solidFill>
                      <a:srgbClr val="002060"/>
                    </a:solidFill>
                  </a:tcPr>
                </a:tc>
                <a:tc>
                  <a:txBody>
                    <a:bodyPr/>
                    <a:lstStyle/>
                    <a:p>
                      <a:pPr algn="ctr" rtl="0" fontAlgn="ctr">
                        <a:buNone/>
                      </a:pPr>
                      <a:r>
                        <a:rPr lang="en-US" sz="800" b="1">
                          <a:solidFill>
                            <a:srgbClr val="FFFFFF"/>
                          </a:solidFill>
                          <a:effectLst/>
                          <a:latin typeface="Raleway"/>
                        </a:rPr>
                        <a:t>MPP</a:t>
                      </a:r>
                    </a:p>
                  </a:txBody>
                  <a:tcPr marL="9525" marR="9525" marT="9525" anchor="ctr">
                    <a:lnL>
                      <a:noFill/>
                    </a:lnL>
                    <a:lnR>
                      <a:noFill/>
                    </a:lnR>
                    <a:lnT w="12700" cap="flat" cmpd="sng" algn="ctr">
                      <a:solidFill>
                        <a:schemeClr val="tx1"/>
                      </a:solidFill>
                      <a:prstDash val="solid"/>
                      <a:round/>
                      <a:headEnd type="none" w="med" len="med"/>
                      <a:tailEnd type="none" w="med" len="med"/>
                    </a:lnT>
                    <a:lnB>
                      <a:noFill/>
                    </a:lnB>
                    <a:solidFill>
                      <a:srgbClr val="002060"/>
                    </a:solidFill>
                  </a:tcPr>
                </a:tc>
                <a:tc>
                  <a:txBody>
                    <a:bodyPr/>
                    <a:lstStyle/>
                    <a:p>
                      <a:pPr algn="ctr" rtl="0" fontAlgn="ctr">
                        <a:buNone/>
                      </a:pPr>
                      <a:r>
                        <a:rPr lang="en-US" sz="800" b="1">
                          <a:solidFill>
                            <a:srgbClr val="FFFFFF"/>
                          </a:solidFill>
                          <a:effectLst/>
                          <a:latin typeface="Raleway"/>
                        </a:rPr>
                        <a:t>FPTK </a:t>
                      </a:r>
                      <a:r>
                        <a:rPr lang="en-US" sz="800" b="1" err="1">
                          <a:solidFill>
                            <a:srgbClr val="FFFFFF"/>
                          </a:solidFill>
                          <a:effectLst/>
                          <a:latin typeface="Raleway"/>
                        </a:rPr>
                        <a:t>diproses</a:t>
                      </a:r>
                    </a:p>
                  </a:txBody>
                  <a:tcPr marL="9525" marR="9525" marT="9525" anchor="ctr">
                    <a:lnL>
                      <a:noFill/>
                    </a:lnL>
                    <a:lnR>
                      <a:noFill/>
                    </a:lnR>
                    <a:lnT w="12700" cap="flat" cmpd="sng" algn="ctr">
                      <a:solidFill>
                        <a:schemeClr val="tx1"/>
                      </a:solidFill>
                      <a:prstDash val="solid"/>
                      <a:round/>
                      <a:headEnd type="none" w="med" len="med"/>
                      <a:tailEnd type="none" w="med" len="med"/>
                    </a:lnT>
                    <a:lnB>
                      <a:noFill/>
                    </a:lnB>
                    <a:solidFill>
                      <a:srgbClr val="002060"/>
                    </a:solidFill>
                  </a:tcPr>
                </a:tc>
                <a:tc>
                  <a:txBody>
                    <a:bodyPr/>
                    <a:lstStyle/>
                    <a:p>
                      <a:pPr algn="ctr" rtl="0" fontAlgn="ctr">
                        <a:buNone/>
                      </a:pPr>
                      <a:r>
                        <a:rPr lang="en-US" sz="800" b="1">
                          <a:solidFill>
                            <a:srgbClr val="FFFFFF"/>
                          </a:solidFill>
                          <a:effectLst/>
                          <a:latin typeface="Raleway"/>
                        </a:rPr>
                        <a:t>Closed</a:t>
                      </a:r>
                    </a:p>
                  </a:txBody>
                  <a:tcPr marL="9525" marR="9525" marT="9525" anchor="ctr">
                    <a:lnL>
                      <a:noFill/>
                    </a:lnL>
                    <a:lnR>
                      <a:noFill/>
                    </a:lnR>
                    <a:lnT w="12700" cap="flat" cmpd="sng" algn="ctr">
                      <a:solidFill>
                        <a:schemeClr val="tx1"/>
                      </a:solidFill>
                      <a:prstDash val="solid"/>
                      <a:round/>
                      <a:headEnd type="none" w="med" len="med"/>
                      <a:tailEnd type="none" w="med" len="med"/>
                    </a:lnT>
                    <a:lnB>
                      <a:noFill/>
                    </a:lnB>
                    <a:solidFill>
                      <a:srgbClr val="002060"/>
                    </a:solidFill>
                  </a:tcPr>
                </a:tc>
                <a:tc>
                  <a:txBody>
                    <a:bodyPr/>
                    <a:lstStyle/>
                    <a:p>
                      <a:pPr algn="ctr" rtl="0" fontAlgn="ctr">
                        <a:buNone/>
                      </a:pPr>
                      <a:r>
                        <a:rPr lang="en-US" sz="800" b="1">
                          <a:solidFill>
                            <a:srgbClr val="FFFFFF"/>
                          </a:solidFill>
                          <a:effectLst/>
                          <a:latin typeface="Raleway"/>
                        </a:rPr>
                        <a:t>Cancel</a:t>
                      </a:r>
                    </a:p>
                  </a:txBody>
                  <a:tcPr marL="9525" marR="9525" marT="9525" anchor="ctr">
                    <a:lnL>
                      <a:noFill/>
                    </a:lnL>
                    <a:lnR>
                      <a:noFill/>
                    </a:lnR>
                    <a:lnT w="12700" cap="flat" cmpd="sng" algn="ctr">
                      <a:solidFill>
                        <a:schemeClr val="tx1"/>
                      </a:solidFill>
                      <a:prstDash val="solid"/>
                      <a:round/>
                      <a:headEnd type="none" w="med" len="med"/>
                      <a:tailEnd type="none" w="med" len="med"/>
                    </a:lnT>
                    <a:lnB>
                      <a:noFill/>
                    </a:lnB>
                    <a:solidFill>
                      <a:srgbClr val="002060"/>
                    </a:solidFill>
                  </a:tcPr>
                </a:tc>
                <a:tc>
                  <a:txBody>
                    <a:bodyPr/>
                    <a:lstStyle/>
                    <a:p>
                      <a:pPr algn="ctr" rtl="0" fontAlgn="ctr">
                        <a:buNone/>
                      </a:pPr>
                      <a:r>
                        <a:rPr lang="en-US" sz="800" b="1">
                          <a:solidFill>
                            <a:srgbClr val="FFFFFF"/>
                          </a:solidFill>
                          <a:effectLst/>
                          <a:latin typeface="Raleway"/>
                        </a:rPr>
                        <a:t>Sisa FPTK</a:t>
                      </a:r>
                    </a:p>
                  </a:txBody>
                  <a:tcPr marL="9525" marR="9525" marT="9525" anchor="ctr">
                    <a:lnL>
                      <a:noFill/>
                    </a:lnL>
                    <a:lnR>
                      <a:noFill/>
                    </a:lnR>
                    <a:lnT w="12700" cap="flat" cmpd="sng" algn="ctr">
                      <a:solidFill>
                        <a:schemeClr val="tx1"/>
                      </a:solidFill>
                      <a:prstDash val="solid"/>
                      <a:round/>
                      <a:headEnd type="none" w="med" len="med"/>
                      <a:tailEnd type="none" w="med" len="med"/>
                    </a:lnT>
                    <a:lnB>
                      <a:noFill/>
                    </a:lnB>
                    <a:solidFill>
                      <a:srgbClr val="002060"/>
                    </a:solidFill>
                  </a:tcPr>
                </a:tc>
                <a:tc>
                  <a:txBody>
                    <a:bodyPr/>
                    <a:lstStyle/>
                    <a:p>
                      <a:pPr algn="ctr" rtl="0" fontAlgn="ctr">
                        <a:buNone/>
                      </a:pPr>
                      <a:r>
                        <a:rPr lang="en-US" sz="800" b="1">
                          <a:solidFill>
                            <a:srgbClr val="FFFFFF"/>
                          </a:solidFill>
                          <a:effectLst/>
                          <a:latin typeface="Raleway"/>
                        </a:rPr>
                        <a:t>% Total Closed</a:t>
                      </a:r>
                    </a:p>
                  </a:txBody>
                  <a:tcPr marL="9525" marR="9525" marT="9525"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solidFill>
                      <a:srgbClr val="002060"/>
                    </a:solidFill>
                  </a:tcPr>
                </a:tc>
                <a:extLst>
                  <a:ext uri="{0D108BD9-81ED-4DB2-BD59-A6C34878D82A}">
                    <a16:rowId xmlns:a16="http://schemas.microsoft.com/office/drawing/2014/main" val="3103459074"/>
                  </a:ext>
                </a:extLst>
              </a:tr>
              <a:tr h="165892">
                <a:tc>
                  <a:txBody>
                    <a:bodyPr/>
                    <a:lstStyle/>
                    <a:p>
                      <a:pPr rtl="0" fontAlgn="ctr">
                        <a:buNone/>
                      </a:pPr>
                      <a:r>
                        <a:rPr lang="en-US" sz="800" err="1">
                          <a:effectLst/>
                          <a:latin typeface="Raleway"/>
                        </a:rPr>
                        <a:t>Gelombang</a:t>
                      </a:r>
                      <a:r>
                        <a:rPr lang="en-US" sz="800">
                          <a:effectLst/>
                          <a:latin typeface="Raleway"/>
                        </a:rPr>
                        <a:t> 5</a:t>
                      </a:r>
                    </a:p>
                  </a:txBody>
                  <a:tcPr marL="9525" marR="9525" marT="9525" anchor="ctr">
                    <a:lnL w="12700" cap="flat" cmpd="sng" algn="ctr">
                      <a:solidFill>
                        <a:schemeClr val="tx1"/>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r>
                        <a:rPr lang="en-US" sz="800">
                          <a:effectLst/>
                          <a:latin typeface="Raleway"/>
                        </a:rPr>
                        <a:t>46</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13</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12</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0</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34</a:t>
                      </a:r>
                    </a:p>
                  </a:txBody>
                  <a:tcPr marL="9525" marR="9525" marT="9525" anchor="ctr">
                    <a:lnL>
                      <a:noFill/>
                    </a:lnL>
                    <a:lnR>
                      <a:noFill/>
                    </a:lnR>
                    <a:lnT>
                      <a:noFill/>
                    </a:lnT>
                    <a:lnB>
                      <a:noFill/>
                    </a:lnB>
                    <a:solidFill>
                      <a:srgbClr val="FFFFFF"/>
                    </a:solidFill>
                  </a:tcPr>
                </a:tc>
                <a:tc>
                  <a:txBody>
                    <a:bodyPr/>
                    <a:lstStyle/>
                    <a:p>
                      <a:pPr algn="ctr" fontAlgn="ctr">
                        <a:buNone/>
                      </a:pPr>
                      <a:r>
                        <a:rPr lang="en-US" sz="800">
                          <a:effectLst/>
                          <a:latin typeface="Raleway"/>
                        </a:rPr>
                        <a:t>26.09%</a:t>
                      </a:r>
                    </a:p>
                  </a:txBody>
                  <a:tcPr marL="9525" marR="9525" marT="9525" anchor="ctr">
                    <a:lnL>
                      <a:noFill/>
                    </a:lnL>
                    <a:lnR w="12700" cap="flat" cmpd="sng" algn="ctr">
                      <a:solidFill>
                        <a:schemeClr val="tx1"/>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746268609"/>
                  </a:ext>
                </a:extLst>
              </a:tr>
              <a:tr h="165892">
                <a:tc>
                  <a:txBody>
                    <a:bodyPr/>
                    <a:lstStyle/>
                    <a:p>
                      <a:pPr rtl="0" fontAlgn="ctr">
                        <a:buNone/>
                      </a:pPr>
                      <a:r>
                        <a:rPr lang="en-US" sz="800" b="1">
                          <a:solidFill>
                            <a:srgbClr val="FF0000"/>
                          </a:solidFill>
                          <a:effectLst/>
                          <a:latin typeface="Raleway"/>
                        </a:rPr>
                        <a:t>Total</a:t>
                      </a:r>
                    </a:p>
                  </a:txBody>
                  <a:tcPr marL="9525" marR="9525" marT="9525" anchor="ctr">
                    <a:lnL w="12700" cap="flat" cmpd="sng" algn="ctr">
                      <a:solidFill>
                        <a:schemeClr val="tx1"/>
                      </a:solidFill>
                      <a:prstDash val="solid"/>
                      <a:round/>
                      <a:headEnd type="none" w="med" len="med"/>
                      <a:tailEnd type="none" w="med" len="med"/>
                    </a:lnL>
                    <a:lnR>
                      <a:noFill/>
                    </a:lnR>
                    <a:lnT>
                      <a:noFill/>
                    </a:lnT>
                    <a:lnB w="12700" cap="flat" cmpd="sng" algn="ctr">
                      <a:solidFill>
                        <a:schemeClr val="tx1"/>
                      </a:solidFill>
                      <a:prstDash val="solid"/>
                      <a:round/>
                      <a:headEnd type="none" w="med" len="med"/>
                      <a:tailEnd type="none" w="med" len="med"/>
                    </a:lnB>
                    <a:solidFill>
                      <a:srgbClr val="FFFFFF"/>
                    </a:solidFill>
                  </a:tcPr>
                </a:tc>
                <a:tc>
                  <a:txBody>
                    <a:bodyPr/>
                    <a:lstStyle/>
                    <a:p>
                      <a:pPr algn="ctr" fontAlgn="ctr">
                        <a:buNone/>
                      </a:pPr>
                      <a:r>
                        <a:rPr lang="en-US" sz="800" b="1">
                          <a:solidFill>
                            <a:srgbClr val="FF0000"/>
                          </a:solidFill>
                          <a:effectLst/>
                          <a:latin typeface="Raleway"/>
                        </a:rPr>
                        <a:t>46</a:t>
                      </a:r>
                    </a:p>
                  </a:txBody>
                  <a:tcPr marL="9525" marR="9525" marT="9525" anchor="ctr">
                    <a:lnL>
                      <a:noFill/>
                    </a:lnL>
                    <a:lnR>
                      <a:noFill/>
                    </a:lnR>
                    <a:lnT>
                      <a:noFill/>
                    </a:lnT>
                    <a:lnB w="12700" cap="flat" cmpd="sng" algn="ctr">
                      <a:solidFill>
                        <a:schemeClr val="tx1"/>
                      </a:solidFill>
                      <a:prstDash val="solid"/>
                      <a:round/>
                      <a:headEnd type="none" w="med" len="med"/>
                      <a:tailEnd type="none" w="med" len="med"/>
                    </a:lnB>
                    <a:solidFill>
                      <a:srgbClr val="FFFFFF"/>
                    </a:solidFill>
                  </a:tcPr>
                </a:tc>
                <a:tc>
                  <a:txBody>
                    <a:bodyPr/>
                    <a:lstStyle/>
                    <a:p>
                      <a:pPr algn="ctr" fontAlgn="ctr">
                        <a:buNone/>
                      </a:pPr>
                      <a:r>
                        <a:rPr lang="en-US" sz="800" b="1">
                          <a:solidFill>
                            <a:srgbClr val="FF0000"/>
                          </a:solidFill>
                          <a:effectLst/>
                          <a:latin typeface="Raleway"/>
                        </a:rPr>
                        <a:t>13</a:t>
                      </a:r>
                    </a:p>
                  </a:txBody>
                  <a:tcPr marL="9525" marR="9525" marT="9525" anchor="ctr">
                    <a:lnL>
                      <a:noFill/>
                    </a:lnL>
                    <a:lnR>
                      <a:noFill/>
                    </a:lnR>
                    <a:lnT>
                      <a:noFill/>
                    </a:lnT>
                    <a:lnB w="12700" cap="flat" cmpd="sng" algn="ctr">
                      <a:solidFill>
                        <a:schemeClr val="tx1"/>
                      </a:solidFill>
                      <a:prstDash val="solid"/>
                      <a:round/>
                      <a:headEnd type="none" w="med" len="med"/>
                      <a:tailEnd type="none" w="med" len="med"/>
                    </a:lnB>
                    <a:solidFill>
                      <a:srgbClr val="FFFFFF"/>
                    </a:solidFill>
                  </a:tcPr>
                </a:tc>
                <a:tc>
                  <a:txBody>
                    <a:bodyPr/>
                    <a:lstStyle/>
                    <a:p>
                      <a:pPr algn="ctr" fontAlgn="ctr">
                        <a:buNone/>
                      </a:pPr>
                      <a:r>
                        <a:rPr lang="en-US" sz="800" b="1">
                          <a:solidFill>
                            <a:srgbClr val="FF0000"/>
                          </a:solidFill>
                          <a:effectLst/>
                          <a:latin typeface="Raleway"/>
                        </a:rPr>
                        <a:t>12</a:t>
                      </a:r>
                    </a:p>
                  </a:txBody>
                  <a:tcPr marL="9525" marR="9525" marT="9525" anchor="ctr">
                    <a:lnL>
                      <a:noFill/>
                    </a:lnL>
                    <a:lnR>
                      <a:noFill/>
                    </a:lnR>
                    <a:lnT>
                      <a:noFill/>
                    </a:lnT>
                    <a:lnB w="12700" cap="flat" cmpd="sng" algn="ctr">
                      <a:solidFill>
                        <a:schemeClr val="tx1"/>
                      </a:solidFill>
                      <a:prstDash val="solid"/>
                      <a:round/>
                      <a:headEnd type="none" w="med" len="med"/>
                      <a:tailEnd type="none" w="med" len="med"/>
                    </a:lnB>
                    <a:solidFill>
                      <a:srgbClr val="FFFFFF"/>
                    </a:solidFill>
                  </a:tcPr>
                </a:tc>
                <a:tc>
                  <a:txBody>
                    <a:bodyPr/>
                    <a:lstStyle/>
                    <a:p>
                      <a:pPr algn="ctr" fontAlgn="ctr">
                        <a:buNone/>
                      </a:pPr>
                      <a:r>
                        <a:rPr lang="en-US" sz="800" b="1">
                          <a:solidFill>
                            <a:srgbClr val="FF0000"/>
                          </a:solidFill>
                          <a:effectLst/>
                          <a:latin typeface="Raleway"/>
                        </a:rPr>
                        <a:t>0</a:t>
                      </a:r>
                    </a:p>
                  </a:txBody>
                  <a:tcPr marL="9525" marR="9525" marT="9525" anchor="ctr">
                    <a:lnL>
                      <a:noFill/>
                    </a:lnL>
                    <a:lnR>
                      <a:noFill/>
                    </a:lnR>
                    <a:lnT>
                      <a:noFill/>
                    </a:lnT>
                    <a:lnB w="12700" cap="flat" cmpd="sng" algn="ctr">
                      <a:solidFill>
                        <a:schemeClr val="tx1"/>
                      </a:solidFill>
                      <a:prstDash val="solid"/>
                      <a:round/>
                      <a:headEnd type="none" w="med" len="med"/>
                      <a:tailEnd type="none" w="med" len="med"/>
                    </a:lnB>
                    <a:solidFill>
                      <a:srgbClr val="FFFFFF"/>
                    </a:solidFill>
                  </a:tcPr>
                </a:tc>
                <a:tc>
                  <a:txBody>
                    <a:bodyPr/>
                    <a:lstStyle/>
                    <a:p>
                      <a:pPr algn="ctr" fontAlgn="ctr">
                        <a:buNone/>
                      </a:pPr>
                      <a:r>
                        <a:rPr lang="en-US" sz="800" b="1">
                          <a:solidFill>
                            <a:srgbClr val="FF0000"/>
                          </a:solidFill>
                          <a:effectLst/>
                          <a:latin typeface="Raleway"/>
                        </a:rPr>
                        <a:t>34</a:t>
                      </a:r>
                    </a:p>
                  </a:txBody>
                  <a:tcPr marL="9525" marR="9525" marT="9525" anchor="ctr">
                    <a:lnL>
                      <a:noFill/>
                    </a:lnL>
                    <a:lnR>
                      <a:noFill/>
                    </a:lnR>
                    <a:lnT>
                      <a:noFill/>
                    </a:lnT>
                    <a:lnB w="12700" cap="flat" cmpd="sng" algn="ctr">
                      <a:solidFill>
                        <a:schemeClr val="tx1"/>
                      </a:solidFill>
                      <a:prstDash val="solid"/>
                      <a:round/>
                      <a:headEnd type="none" w="med" len="med"/>
                      <a:tailEnd type="none" w="med" len="med"/>
                    </a:lnB>
                    <a:solidFill>
                      <a:srgbClr val="FFFFFF"/>
                    </a:solidFill>
                  </a:tcPr>
                </a:tc>
                <a:tc>
                  <a:txBody>
                    <a:bodyPr/>
                    <a:lstStyle/>
                    <a:p>
                      <a:pPr algn="ctr" fontAlgn="ctr">
                        <a:buNone/>
                      </a:pPr>
                      <a:r>
                        <a:rPr lang="en-US" sz="800" b="1">
                          <a:solidFill>
                            <a:srgbClr val="FF0000"/>
                          </a:solidFill>
                          <a:effectLst/>
                          <a:latin typeface="Raleway"/>
                        </a:rPr>
                        <a:t>26.09%</a:t>
                      </a:r>
                    </a:p>
                  </a:txBody>
                  <a:tcPr marL="9525" marR="9525" marT="9525" anchor="ctr">
                    <a:lnL>
                      <a:noFill/>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solidFill>
                      <a:srgbClr val="FFFFFF"/>
                    </a:solidFill>
                  </a:tcPr>
                </a:tc>
                <a:extLst>
                  <a:ext uri="{0D108BD9-81ED-4DB2-BD59-A6C34878D82A}">
                    <a16:rowId xmlns:a16="http://schemas.microsoft.com/office/drawing/2014/main" val="587650262"/>
                  </a:ext>
                </a:extLst>
              </a:tr>
            </a:tbl>
          </a:graphicData>
        </a:graphic>
      </p:graphicFrame>
      <p:graphicFrame>
        <p:nvGraphicFramePr>
          <p:cNvPr id="4" name="Chart 3">
            <a:extLst>
              <a:ext uri="{FF2B5EF4-FFF2-40B4-BE49-F238E27FC236}">
                <a16:creationId xmlns:a16="http://schemas.microsoft.com/office/drawing/2014/main" id="{72149312-EA94-4910-ACEC-5C9C1F829DA9}"/>
              </a:ext>
              <a:ext uri="{147F2762-F138-4A5C-976F-8EAC2B608ADB}">
                <a16:predDERef xmlns:a16="http://schemas.microsoft.com/office/drawing/2014/main" pred="{28CD1683-763D-8334-AE93-8BBEC1E67F1C}"/>
              </a:ext>
            </a:extLst>
          </p:cNvPr>
          <p:cNvGraphicFramePr>
            <a:graphicFrameLocks/>
          </p:cNvGraphicFramePr>
          <p:nvPr/>
        </p:nvGraphicFramePr>
        <p:xfrm>
          <a:off x="219136" y="665204"/>
          <a:ext cx="4876677" cy="2430853"/>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3843878119"/>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37CC6E5-A60E-F1E4-0D90-F1A2BC20E346}"/>
            </a:ext>
          </a:extLst>
        </p:cNvPr>
        <p:cNvGrpSpPr/>
        <p:nvPr/>
      </p:nvGrpSpPr>
      <p:grpSpPr>
        <a:xfrm>
          <a:off x="0" y="0"/>
          <a:ext cx="0" cy="0"/>
          <a:chOff x="0" y="0"/>
          <a:chExt cx="0" cy="0"/>
        </a:xfrm>
      </p:grpSpPr>
      <p:sp>
        <p:nvSpPr>
          <p:cNvPr id="3" name="Text 0">
            <a:extLst>
              <a:ext uri="{FF2B5EF4-FFF2-40B4-BE49-F238E27FC236}">
                <a16:creationId xmlns:a16="http://schemas.microsoft.com/office/drawing/2014/main" id="{459A3BDA-DC8B-B463-67CF-3DE71ABAB4A6}"/>
              </a:ext>
            </a:extLst>
          </p:cNvPr>
          <p:cNvSpPr/>
          <p:nvPr/>
        </p:nvSpPr>
        <p:spPr>
          <a:xfrm>
            <a:off x="757829" y="89187"/>
            <a:ext cx="9692640" cy="772439"/>
          </a:xfrm>
          <a:prstGeom prst="rect">
            <a:avLst/>
          </a:prstGeom>
          <a:noFill/>
          <a:ln/>
        </p:spPr>
        <p:txBody>
          <a:bodyPr wrap="square" lIns="0" tIns="0" rIns="0" bIns="0" rtlCol="0" anchor="ctr"/>
          <a:lstStyle/>
          <a:p>
            <a:pPr>
              <a:defRPr/>
            </a:pPr>
            <a:r>
              <a:rPr lang="en-US" sz="2400" b="1" err="1">
                <a:solidFill>
                  <a:srgbClr val="082A6F"/>
                </a:solidFill>
                <a:latin typeface="Raleway"/>
              </a:rPr>
              <a:t>Pembagian</a:t>
            </a:r>
            <a:r>
              <a:rPr lang="en-US" sz="2400" b="1">
                <a:solidFill>
                  <a:srgbClr val="082A6F"/>
                </a:solidFill>
                <a:latin typeface="Raleway"/>
              </a:rPr>
              <a:t> </a:t>
            </a:r>
            <a:r>
              <a:rPr lang="en-US" sz="2400" b="1" err="1">
                <a:solidFill>
                  <a:srgbClr val="082A6F"/>
                </a:solidFill>
                <a:latin typeface="Raleway"/>
              </a:rPr>
              <a:t>Gelombang</a:t>
            </a:r>
            <a:r>
              <a:rPr lang="en-US" sz="2400" b="1">
                <a:solidFill>
                  <a:srgbClr val="082A6F"/>
                </a:solidFill>
                <a:latin typeface="Raleway"/>
              </a:rPr>
              <a:t> Project STO Chilled</a:t>
            </a:r>
          </a:p>
        </p:txBody>
      </p:sp>
      <p:sp>
        <p:nvSpPr>
          <p:cNvPr id="5" name="TextBox 16">
            <a:extLst>
              <a:ext uri="{FF2B5EF4-FFF2-40B4-BE49-F238E27FC236}">
                <a16:creationId xmlns:a16="http://schemas.microsoft.com/office/drawing/2014/main" id="{3A568E90-40A8-A99B-1FD3-909ABE07AE0B}"/>
              </a:ext>
            </a:extLst>
          </p:cNvPr>
          <p:cNvSpPr txBox="1"/>
          <p:nvPr/>
        </p:nvSpPr>
        <p:spPr>
          <a:xfrm>
            <a:off x="6879773" y="862402"/>
            <a:ext cx="4926148" cy="3647152"/>
          </a:xfrm>
          <a:prstGeom prst="rect">
            <a:avLst/>
          </a:prstGeom>
          <a:noFill/>
        </p:spPr>
        <p:txBody>
          <a:bodyPr wrap="square" lIns="91440" tIns="45720" rIns="91440" bIns="45720" anchor="t">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b="1" err="1">
                <a:latin typeface="Raleway"/>
              </a:rPr>
              <a:t>Penetapan</a:t>
            </a:r>
            <a:r>
              <a:rPr lang="en-US" sz="1100" b="1">
                <a:latin typeface="Raleway"/>
              </a:rPr>
              <a:t> </a:t>
            </a:r>
            <a:r>
              <a:rPr lang="en-US" sz="1100" b="1" err="1">
                <a:latin typeface="Raleway"/>
              </a:rPr>
              <a:t>sebaran</a:t>
            </a:r>
            <a:r>
              <a:rPr lang="en-US" sz="1100" b="1">
                <a:latin typeface="Raleway"/>
              </a:rPr>
              <a:t> region</a:t>
            </a:r>
            <a:r>
              <a:rPr lang="en-US" sz="1100">
                <a:latin typeface="Raleway"/>
              </a:rPr>
              <a:t> </a:t>
            </a:r>
            <a:r>
              <a:rPr lang="en-US" sz="1100" err="1">
                <a:latin typeface="Raleway"/>
              </a:rPr>
              <a:t>setiap</a:t>
            </a:r>
            <a:r>
              <a:rPr lang="en-US" sz="1100">
                <a:latin typeface="Raleway"/>
              </a:rPr>
              <a:t> </a:t>
            </a:r>
            <a:r>
              <a:rPr lang="en-US" sz="1100" err="1">
                <a:latin typeface="Raleway"/>
              </a:rPr>
              <a:t>gelombang</a:t>
            </a:r>
            <a:r>
              <a:rPr lang="en-US" sz="1100">
                <a:latin typeface="Raleway"/>
              </a:rPr>
              <a:t> </a:t>
            </a:r>
            <a:r>
              <a:rPr lang="en-US" sz="1100" err="1">
                <a:latin typeface="Raleway"/>
              </a:rPr>
              <a:t>disesuaikan</a:t>
            </a:r>
            <a:r>
              <a:rPr lang="en-US" sz="1100">
                <a:latin typeface="Raleway"/>
              </a:rPr>
              <a:t> </a:t>
            </a:r>
            <a:r>
              <a:rPr lang="en-US" sz="1100" err="1">
                <a:latin typeface="Raleway"/>
              </a:rPr>
              <a:t>dengan</a:t>
            </a:r>
            <a:r>
              <a:rPr lang="en-US" sz="1100">
                <a:latin typeface="Raleway"/>
              </a:rPr>
              <a:t> </a:t>
            </a:r>
            <a:r>
              <a:rPr lang="en-US" sz="1100" b="1" err="1">
                <a:latin typeface="Raleway"/>
              </a:rPr>
              <a:t>prioritas</a:t>
            </a:r>
            <a:r>
              <a:rPr lang="en-US" sz="1100" b="1">
                <a:latin typeface="Raleway"/>
              </a:rPr>
              <a:t> </a:t>
            </a:r>
            <a:r>
              <a:rPr lang="en-US" sz="1100" b="1" err="1">
                <a:latin typeface="Raleway"/>
              </a:rPr>
              <a:t>pemenuhan</a:t>
            </a:r>
            <a:r>
              <a:rPr lang="en-US" sz="1100" b="1">
                <a:latin typeface="Raleway"/>
              </a:rPr>
              <a:t> SDM Sales GT MP</a:t>
            </a:r>
          </a:p>
          <a:p>
            <a:endParaRPr lang="en-US" sz="1100" b="1">
              <a:latin typeface="Raleway"/>
            </a:endParaRPr>
          </a:p>
          <a:p>
            <a:r>
              <a:rPr lang="en-US" sz="1100" b="1" err="1">
                <a:highlight>
                  <a:srgbClr val="FFFF00"/>
                </a:highlight>
                <a:latin typeface="Raleway"/>
              </a:rPr>
              <a:t>Gelombang</a:t>
            </a:r>
            <a:r>
              <a:rPr lang="en-US" sz="1100" b="1">
                <a:highlight>
                  <a:srgbClr val="FFFF00"/>
                </a:highlight>
                <a:latin typeface="Raleway"/>
              </a:rPr>
              <a:t> 1 (5 Juni – 1 Juli)</a:t>
            </a:r>
          </a:p>
          <a:p>
            <a:pPr marL="171450" indent="-171450">
              <a:buFont typeface="Arial" panose="020B0604020202020204" pitchFamily="34" charset="0"/>
              <a:buChar char="•"/>
            </a:pPr>
            <a:r>
              <a:rPr lang="en-US" sz="1100" err="1">
                <a:latin typeface="Raleway"/>
              </a:rPr>
              <a:t>Prioriotas</a:t>
            </a:r>
            <a:r>
              <a:rPr lang="en-US" sz="1100">
                <a:latin typeface="Raleway"/>
              </a:rPr>
              <a:t> </a:t>
            </a:r>
            <a:r>
              <a:rPr lang="en-US" sz="1100" err="1">
                <a:latin typeface="Raleway"/>
              </a:rPr>
              <a:t>pemenuhan</a:t>
            </a:r>
            <a:r>
              <a:rPr lang="en-US" sz="1100">
                <a:latin typeface="Raleway"/>
              </a:rPr>
              <a:t> pada area </a:t>
            </a:r>
            <a:r>
              <a:rPr lang="en-US" sz="1100" b="1" err="1">
                <a:latin typeface="Raleway"/>
              </a:rPr>
              <a:t>Jabodetabek</a:t>
            </a:r>
            <a:r>
              <a:rPr lang="en-US" sz="1100" b="1">
                <a:latin typeface="Raleway"/>
              </a:rPr>
              <a:t> &amp; Banten</a:t>
            </a:r>
          </a:p>
          <a:p>
            <a:endParaRPr lang="en-US" sz="1100" b="1">
              <a:latin typeface="Raleway"/>
            </a:endParaRPr>
          </a:p>
          <a:p>
            <a:r>
              <a:rPr lang="en-US" sz="1100" b="1" err="1">
                <a:highlight>
                  <a:srgbClr val="FFFF00"/>
                </a:highlight>
                <a:latin typeface="Raleway"/>
              </a:rPr>
              <a:t>Gelombang</a:t>
            </a:r>
            <a:r>
              <a:rPr lang="en-US" sz="1100" b="1">
                <a:highlight>
                  <a:srgbClr val="FFFF00"/>
                </a:highlight>
                <a:latin typeface="Raleway"/>
              </a:rPr>
              <a:t> 2 (19 Juni – 20 Juli)</a:t>
            </a:r>
          </a:p>
          <a:p>
            <a:pPr marL="171450" indent="-171450">
              <a:buFont typeface="Arial" panose="020B0604020202020204" pitchFamily="34" charset="0"/>
              <a:buChar char="•"/>
            </a:pPr>
            <a:r>
              <a:rPr lang="en-US" sz="1100" err="1">
                <a:latin typeface="Raleway"/>
              </a:rPr>
              <a:t>Prioritas</a:t>
            </a:r>
            <a:r>
              <a:rPr lang="en-US" sz="1100">
                <a:latin typeface="Raleway"/>
              </a:rPr>
              <a:t> </a:t>
            </a:r>
            <a:r>
              <a:rPr lang="en-US" sz="1100" err="1">
                <a:latin typeface="Raleway"/>
              </a:rPr>
              <a:t>pemenuhan</a:t>
            </a:r>
            <a:r>
              <a:rPr lang="en-US" sz="1100">
                <a:latin typeface="Raleway"/>
              </a:rPr>
              <a:t> pada area </a:t>
            </a:r>
            <a:r>
              <a:rPr lang="en-US" sz="1100" b="1">
                <a:latin typeface="Raleway"/>
              </a:rPr>
              <a:t>Jawa </a:t>
            </a:r>
            <a:r>
              <a:rPr lang="en-US" sz="1100" b="1" err="1">
                <a:latin typeface="Raleway"/>
              </a:rPr>
              <a:t>diluar</a:t>
            </a:r>
            <a:r>
              <a:rPr lang="en-US" sz="1100" b="1">
                <a:latin typeface="Raleway"/>
              </a:rPr>
              <a:t> </a:t>
            </a:r>
            <a:r>
              <a:rPr lang="en-US" sz="1100" b="1" err="1">
                <a:latin typeface="Raleway"/>
              </a:rPr>
              <a:t>Ibukota</a:t>
            </a:r>
            <a:r>
              <a:rPr lang="en-US" sz="1100" b="1">
                <a:latin typeface="Raleway"/>
              </a:rPr>
              <a:t> </a:t>
            </a:r>
            <a:r>
              <a:rPr lang="en-US" sz="1100" b="1" err="1">
                <a:latin typeface="Raleway"/>
              </a:rPr>
              <a:t>Provinsi</a:t>
            </a:r>
            <a:r>
              <a:rPr lang="en-US" sz="1100" b="1">
                <a:latin typeface="Raleway"/>
              </a:rPr>
              <a:t> </a:t>
            </a:r>
          </a:p>
          <a:p>
            <a:endParaRPr lang="en-US" sz="1100" b="1">
              <a:latin typeface="Raleway"/>
            </a:endParaRPr>
          </a:p>
          <a:p>
            <a:r>
              <a:rPr lang="en-US" sz="1100" b="1" err="1">
                <a:highlight>
                  <a:srgbClr val="FFFF00"/>
                </a:highlight>
                <a:latin typeface="Raleway"/>
              </a:rPr>
              <a:t>Gelombang</a:t>
            </a:r>
            <a:r>
              <a:rPr lang="en-US" sz="1100" b="1">
                <a:highlight>
                  <a:srgbClr val="FFFF00"/>
                </a:highlight>
                <a:latin typeface="Raleway"/>
              </a:rPr>
              <a:t> 3 (10 Juli – 10 Agustus)</a:t>
            </a:r>
          </a:p>
          <a:p>
            <a:pPr marL="171450" indent="-171450">
              <a:buFont typeface="Arial" panose="020B0604020202020204" pitchFamily="34" charset="0"/>
              <a:buChar char="•"/>
            </a:pPr>
            <a:r>
              <a:rPr lang="en-US" sz="1100" err="1">
                <a:latin typeface="Raleway"/>
              </a:rPr>
              <a:t>Prioritas</a:t>
            </a:r>
            <a:r>
              <a:rPr lang="en-US" sz="1100">
                <a:latin typeface="Raleway"/>
              </a:rPr>
              <a:t> </a:t>
            </a:r>
            <a:r>
              <a:rPr lang="en-US" sz="1100" err="1">
                <a:latin typeface="Raleway"/>
              </a:rPr>
              <a:t>pemenuhan</a:t>
            </a:r>
            <a:r>
              <a:rPr lang="en-US" sz="1100">
                <a:latin typeface="Raleway"/>
              </a:rPr>
              <a:t> pada area </a:t>
            </a:r>
            <a:r>
              <a:rPr lang="en-US" sz="1100" b="1" err="1">
                <a:latin typeface="Raleway"/>
              </a:rPr>
              <a:t>diluar</a:t>
            </a:r>
            <a:r>
              <a:rPr lang="en-US" sz="1100" b="1">
                <a:latin typeface="Raleway"/>
              </a:rPr>
              <a:t> Jawa</a:t>
            </a:r>
          </a:p>
          <a:p>
            <a:endParaRPr lang="en-US" sz="1100" b="1">
              <a:solidFill>
                <a:schemeClr val="tx1">
                  <a:lumMod val="95000"/>
                  <a:lumOff val="5000"/>
                </a:schemeClr>
              </a:solidFill>
              <a:latin typeface="Raleway"/>
            </a:endParaRPr>
          </a:p>
          <a:p>
            <a:r>
              <a:rPr lang="en-US" sz="1100" b="1" err="1">
                <a:highlight>
                  <a:srgbClr val="FFFF00"/>
                </a:highlight>
                <a:latin typeface="Raleway"/>
              </a:rPr>
              <a:t>Gelombang</a:t>
            </a:r>
            <a:r>
              <a:rPr lang="en-US" sz="1100" b="1">
                <a:highlight>
                  <a:srgbClr val="FFFF00"/>
                </a:highlight>
                <a:latin typeface="Raleway"/>
              </a:rPr>
              <a:t> 4 (1 Agustus – 1 September) - Upcoming</a:t>
            </a:r>
          </a:p>
          <a:p>
            <a:pPr marL="171450" indent="-171450">
              <a:buFont typeface="Arial" panose="020B0604020202020204" pitchFamily="34" charset="0"/>
              <a:buChar char="•"/>
            </a:pPr>
            <a:r>
              <a:rPr lang="en-US" sz="1100" err="1">
                <a:latin typeface="Raleway"/>
              </a:rPr>
              <a:t>Prioriotas</a:t>
            </a:r>
            <a:r>
              <a:rPr lang="en-US" sz="1100">
                <a:latin typeface="Raleway"/>
              </a:rPr>
              <a:t> </a:t>
            </a:r>
            <a:r>
              <a:rPr lang="en-US" sz="1100" err="1">
                <a:latin typeface="Raleway"/>
              </a:rPr>
              <a:t>pemenuhan</a:t>
            </a:r>
            <a:r>
              <a:rPr lang="en-US" sz="1100">
                <a:latin typeface="Raleway"/>
              </a:rPr>
              <a:t> pada area </a:t>
            </a:r>
            <a:r>
              <a:rPr lang="en-US" sz="1100" b="1" err="1">
                <a:latin typeface="Raleway"/>
              </a:rPr>
              <a:t>Jabodetabek</a:t>
            </a:r>
            <a:r>
              <a:rPr lang="en-US" sz="1100" b="1">
                <a:latin typeface="Raleway"/>
              </a:rPr>
              <a:t> &amp; Banten</a:t>
            </a:r>
          </a:p>
          <a:p>
            <a:endParaRPr lang="en-US" sz="1100" b="1">
              <a:latin typeface="Raleway"/>
            </a:endParaRPr>
          </a:p>
          <a:p>
            <a:r>
              <a:rPr lang="en-US" sz="1100" b="1" err="1">
                <a:highlight>
                  <a:srgbClr val="FFFF00"/>
                </a:highlight>
                <a:latin typeface="Raleway"/>
              </a:rPr>
              <a:t>Gelombang</a:t>
            </a:r>
            <a:r>
              <a:rPr lang="en-US" sz="1100" b="1">
                <a:highlight>
                  <a:srgbClr val="FFFF00"/>
                </a:highlight>
                <a:latin typeface="Raleway"/>
              </a:rPr>
              <a:t> 5 (20 Agustus – 20 September) - Upcoming</a:t>
            </a:r>
          </a:p>
          <a:p>
            <a:pPr marL="171450" indent="-171450">
              <a:buFont typeface="Arial" panose="020B0604020202020204" pitchFamily="34" charset="0"/>
              <a:buChar char="•"/>
            </a:pPr>
            <a:r>
              <a:rPr lang="en-US" sz="1100" err="1">
                <a:latin typeface="Raleway"/>
              </a:rPr>
              <a:t>Pemenuhan</a:t>
            </a:r>
            <a:r>
              <a:rPr lang="en-US" sz="1100">
                <a:latin typeface="Raleway"/>
              </a:rPr>
              <a:t> pada area </a:t>
            </a:r>
            <a:r>
              <a:rPr lang="en-US" sz="1100" b="1" err="1">
                <a:latin typeface="Raleway"/>
              </a:rPr>
              <a:t>campuran</a:t>
            </a:r>
            <a:r>
              <a:rPr lang="en-US" sz="1100">
                <a:latin typeface="Raleway"/>
              </a:rPr>
              <a:t> </a:t>
            </a:r>
            <a:r>
              <a:rPr lang="en-US" sz="1100" b="1">
                <a:latin typeface="Raleway"/>
              </a:rPr>
              <a:t>non </a:t>
            </a:r>
            <a:r>
              <a:rPr lang="en-US" sz="1100" b="1" err="1">
                <a:latin typeface="Raleway"/>
              </a:rPr>
              <a:t>kota</a:t>
            </a:r>
            <a:r>
              <a:rPr lang="en-US" sz="1100" b="1">
                <a:latin typeface="Raleway"/>
              </a:rPr>
              <a:t> </a:t>
            </a:r>
            <a:r>
              <a:rPr lang="en-US" sz="1100" b="1" err="1">
                <a:latin typeface="Raleway"/>
              </a:rPr>
              <a:t>besar</a:t>
            </a:r>
            <a:endParaRPr lang="en-US" sz="1100" b="1">
              <a:latin typeface="Raleway"/>
            </a:endParaRPr>
          </a:p>
          <a:p>
            <a:pPr marL="171450" indent="-171450">
              <a:buFont typeface="Arial" panose="020B0604020202020204" pitchFamily="34" charset="0"/>
              <a:buChar char="•"/>
            </a:pPr>
            <a:endParaRPr lang="en-US" sz="1100" b="1">
              <a:latin typeface="Raleway"/>
            </a:endParaRPr>
          </a:p>
          <a:p>
            <a:pPr marL="171450" indent="-171450">
              <a:buFont typeface="Arial" panose="020B0604020202020204" pitchFamily="34" charset="0"/>
              <a:buChar char="•"/>
            </a:pPr>
            <a:r>
              <a:rPr lang="en-US" sz="1100" b="1">
                <a:latin typeface="Raleway"/>
              </a:rPr>
              <a:t>FPTK Replacement </a:t>
            </a:r>
            <a:r>
              <a:rPr lang="en-US" sz="1100" err="1">
                <a:latin typeface="Raleway"/>
              </a:rPr>
              <a:t>terbanyak</a:t>
            </a:r>
            <a:r>
              <a:rPr lang="en-US" sz="1100">
                <a:latin typeface="Raleway"/>
              </a:rPr>
              <a:t> </a:t>
            </a:r>
            <a:r>
              <a:rPr lang="en-US" sz="1100" err="1">
                <a:latin typeface="Raleway"/>
              </a:rPr>
              <a:t>ada</a:t>
            </a:r>
            <a:r>
              <a:rPr lang="en-US" sz="1100">
                <a:latin typeface="Raleway"/>
              </a:rPr>
              <a:t> di </a:t>
            </a:r>
            <a:r>
              <a:rPr lang="en-US" sz="1100" b="1">
                <a:latin typeface="Raleway"/>
              </a:rPr>
              <a:t>area </a:t>
            </a:r>
            <a:r>
              <a:rPr lang="en-US" sz="1100" b="1" err="1">
                <a:latin typeface="Raleway"/>
              </a:rPr>
              <a:t>Sumbagut</a:t>
            </a:r>
            <a:r>
              <a:rPr lang="en-US" sz="1100" b="1">
                <a:latin typeface="Raleway"/>
              </a:rPr>
              <a:t>, Jawa Timur Bali, dan </a:t>
            </a:r>
            <a:r>
              <a:rPr lang="en-US" sz="1100" b="1" err="1">
                <a:latin typeface="Raleway"/>
              </a:rPr>
              <a:t>Sumbagsel</a:t>
            </a:r>
            <a:r>
              <a:rPr lang="en-US" sz="1100">
                <a:latin typeface="Raleway"/>
              </a:rPr>
              <a:t>, </a:t>
            </a:r>
            <a:r>
              <a:rPr lang="en-US" sz="1100" err="1">
                <a:latin typeface="Raleway"/>
              </a:rPr>
              <a:t>dengan</a:t>
            </a:r>
            <a:r>
              <a:rPr lang="en-US" sz="1100">
                <a:latin typeface="Raleway"/>
              </a:rPr>
              <a:t> </a:t>
            </a:r>
            <a:r>
              <a:rPr lang="en-US" sz="1100" b="1">
                <a:latin typeface="Raleway"/>
              </a:rPr>
              <a:t>total 28 FPTK</a:t>
            </a:r>
          </a:p>
          <a:p>
            <a:endParaRPr lang="en-US" sz="1100" b="1">
              <a:latin typeface="Raleway"/>
            </a:endParaRPr>
          </a:p>
        </p:txBody>
      </p:sp>
      <p:sp>
        <p:nvSpPr>
          <p:cNvPr id="11" name="TextBox 10">
            <a:extLst>
              <a:ext uri="{FF2B5EF4-FFF2-40B4-BE49-F238E27FC236}">
                <a16:creationId xmlns:a16="http://schemas.microsoft.com/office/drawing/2014/main" id="{16495324-C8E7-7AB5-CE62-B8A0826E357C}"/>
              </a:ext>
            </a:extLst>
          </p:cNvPr>
          <p:cNvSpPr txBox="1"/>
          <p:nvPr/>
        </p:nvSpPr>
        <p:spPr>
          <a:xfrm>
            <a:off x="678545" y="800117"/>
            <a:ext cx="6096000" cy="307777"/>
          </a:xfrm>
          <a:prstGeom prst="rect">
            <a:avLst/>
          </a:prstGeom>
          <a:noFill/>
        </p:spPr>
        <p:txBody>
          <a:bodyPr wrap="square">
            <a:spAutoFit/>
          </a:bodyPr>
          <a:lstStyle/>
          <a:p>
            <a:pPr rtl="0">
              <a:defRPr sz="1080" b="0" i="0" u="none" strike="noStrike" kern="1200" spc="0" baseline="0">
                <a:solidFill>
                  <a:prstClr val="black">
                    <a:lumMod val="65000"/>
                    <a:lumOff val="35000"/>
                  </a:prstClr>
                </a:solidFill>
                <a:latin typeface="Raleway" pitchFamily="2" charset="0"/>
                <a:ea typeface="+mn-ea"/>
                <a:cs typeface="+mn-cs"/>
              </a:defRPr>
            </a:pPr>
            <a:r>
              <a:rPr lang="en-US" sz="1400" b="1">
                <a:solidFill>
                  <a:srgbClr val="002060"/>
                </a:solidFill>
              </a:rPr>
              <a:t>PEMBAGIAN GELOMBANG REKRUTMEN PER REGION</a:t>
            </a:r>
          </a:p>
        </p:txBody>
      </p:sp>
      <p:sp>
        <p:nvSpPr>
          <p:cNvPr id="6" name="TextBox 16">
            <a:extLst>
              <a:ext uri="{FF2B5EF4-FFF2-40B4-BE49-F238E27FC236}">
                <a16:creationId xmlns:a16="http://schemas.microsoft.com/office/drawing/2014/main" id="{A842359A-C7DA-0C49-7208-30713DF8B821}"/>
              </a:ext>
            </a:extLst>
          </p:cNvPr>
          <p:cNvSpPr txBox="1"/>
          <p:nvPr/>
        </p:nvSpPr>
        <p:spPr>
          <a:xfrm>
            <a:off x="6879773" y="5092477"/>
            <a:ext cx="4797695" cy="769441"/>
          </a:xfrm>
          <a:prstGeom prst="rect">
            <a:avLst/>
          </a:prstGeom>
          <a:noFill/>
        </p:spPr>
        <p:txBody>
          <a:bodyPr wrap="square" lIns="91440" tIns="45720" rIns="91440" bIns="45720" anchor="t">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buFont typeface="Arial" panose="020B0604020202020204" pitchFamily="34" charset="0"/>
              <a:buChar char="•"/>
            </a:pPr>
            <a:r>
              <a:rPr lang="en-US" sz="1100" b="1" err="1">
                <a:latin typeface="Raleway"/>
              </a:rPr>
              <a:t>Jabodetabek</a:t>
            </a:r>
            <a:r>
              <a:rPr lang="en-US" sz="1100" b="1">
                <a:latin typeface="Raleway"/>
              </a:rPr>
              <a:t> &amp; Banten</a:t>
            </a:r>
            <a:r>
              <a:rPr lang="en-US" sz="1100">
                <a:latin typeface="Raleway"/>
              </a:rPr>
              <a:t> </a:t>
            </a:r>
            <a:r>
              <a:rPr lang="en-US" sz="1100" err="1">
                <a:latin typeface="Raleway"/>
              </a:rPr>
              <a:t>memiliki</a:t>
            </a:r>
            <a:r>
              <a:rPr lang="en-US" sz="1100">
                <a:latin typeface="Raleway"/>
              </a:rPr>
              <a:t> </a:t>
            </a:r>
            <a:r>
              <a:rPr lang="en-US" sz="1100" err="1">
                <a:latin typeface="Raleway"/>
              </a:rPr>
              <a:t>tingkat</a:t>
            </a:r>
            <a:r>
              <a:rPr lang="en-US" sz="1100">
                <a:latin typeface="Raleway"/>
              </a:rPr>
              <a:t> </a:t>
            </a:r>
            <a:r>
              <a:rPr lang="en-US" sz="1100" err="1">
                <a:latin typeface="Raleway"/>
              </a:rPr>
              <a:t>pemenuhan</a:t>
            </a:r>
            <a:r>
              <a:rPr lang="en-US" sz="1100">
                <a:latin typeface="Raleway"/>
              </a:rPr>
              <a:t> </a:t>
            </a:r>
            <a:r>
              <a:rPr lang="en-US" sz="1100" b="1" err="1">
                <a:latin typeface="Raleway"/>
              </a:rPr>
              <a:t>terbanyak</a:t>
            </a:r>
            <a:r>
              <a:rPr lang="en-US" sz="1100">
                <a:latin typeface="Raleway"/>
              </a:rPr>
              <a:t>, </a:t>
            </a:r>
            <a:r>
              <a:rPr lang="en-US" sz="1100" err="1">
                <a:latin typeface="Raleway"/>
              </a:rPr>
              <a:t>yaitu</a:t>
            </a:r>
            <a:r>
              <a:rPr lang="en-US" sz="1100">
                <a:latin typeface="Raleway"/>
              </a:rPr>
              <a:t> </a:t>
            </a:r>
            <a:r>
              <a:rPr lang="en-US" sz="1100" b="1">
                <a:latin typeface="Raleway"/>
              </a:rPr>
              <a:t>49 FPTK closed </a:t>
            </a:r>
            <a:r>
              <a:rPr lang="en-US" sz="1100" b="1" err="1">
                <a:latin typeface="Raleway"/>
              </a:rPr>
              <a:t>dari</a:t>
            </a:r>
            <a:r>
              <a:rPr lang="en-US" sz="1100" b="1">
                <a:latin typeface="Raleway"/>
              </a:rPr>
              <a:t> total 71 FPTK (69.01%). </a:t>
            </a:r>
            <a:endParaRPr lang="en-US" sz="1100">
              <a:latin typeface="Raleway"/>
            </a:endParaRPr>
          </a:p>
          <a:p>
            <a:pPr marL="285750" indent="-285750">
              <a:buFont typeface="Arial" panose="020B0604020202020204" pitchFamily="34" charset="0"/>
              <a:buChar char="•"/>
            </a:pPr>
            <a:r>
              <a:rPr lang="en-US" sz="1100" b="1" err="1">
                <a:latin typeface="Raleway"/>
              </a:rPr>
              <a:t>Sumbagsel</a:t>
            </a:r>
            <a:r>
              <a:rPr lang="en-US" sz="1100" b="1">
                <a:latin typeface="Raleway"/>
              </a:rPr>
              <a:t> </a:t>
            </a:r>
            <a:r>
              <a:rPr lang="en-US" sz="1100" err="1">
                <a:latin typeface="Raleway"/>
              </a:rPr>
              <a:t>memiliki</a:t>
            </a:r>
            <a:r>
              <a:rPr lang="en-US" sz="1100">
                <a:latin typeface="Raleway"/>
              </a:rPr>
              <a:t>  </a:t>
            </a:r>
            <a:r>
              <a:rPr lang="en-US" sz="1100" err="1">
                <a:latin typeface="Raleway"/>
              </a:rPr>
              <a:t>tingkat</a:t>
            </a:r>
            <a:r>
              <a:rPr lang="en-US" sz="1100">
                <a:latin typeface="Raleway"/>
              </a:rPr>
              <a:t> </a:t>
            </a:r>
            <a:r>
              <a:rPr lang="en-US" sz="1100" err="1">
                <a:latin typeface="Raleway"/>
              </a:rPr>
              <a:t>pemenuhan</a:t>
            </a:r>
            <a:r>
              <a:rPr lang="en-US" sz="1100" b="1">
                <a:latin typeface="Raleway"/>
              </a:rPr>
              <a:t> </a:t>
            </a:r>
            <a:r>
              <a:rPr lang="en-US" sz="1100" b="1" err="1">
                <a:latin typeface="Raleway"/>
              </a:rPr>
              <a:t>tertinggi</a:t>
            </a:r>
            <a:r>
              <a:rPr lang="en-US" sz="1100">
                <a:latin typeface="Raleway"/>
              </a:rPr>
              <a:t>, </a:t>
            </a:r>
            <a:r>
              <a:rPr lang="en-US" sz="1100" err="1">
                <a:latin typeface="Raleway"/>
              </a:rPr>
              <a:t>yaitu</a:t>
            </a:r>
            <a:r>
              <a:rPr lang="en-US" sz="1100">
                <a:latin typeface="Raleway"/>
              </a:rPr>
              <a:t> </a:t>
            </a:r>
            <a:r>
              <a:rPr lang="en-US" sz="1100" b="1">
                <a:latin typeface="Raleway"/>
              </a:rPr>
              <a:t>13 FPTK closed </a:t>
            </a:r>
            <a:r>
              <a:rPr lang="en-US" sz="1100" b="1" err="1">
                <a:latin typeface="Raleway"/>
              </a:rPr>
              <a:t>dari</a:t>
            </a:r>
            <a:r>
              <a:rPr lang="en-US" sz="1100" b="1">
                <a:latin typeface="Raleway"/>
              </a:rPr>
              <a:t> total 14 FPTK (92.86%)</a:t>
            </a:r>
          </a:p>
        </p:txBody>
      </p:sp>
      <p:sp>
        <p:nvSpPr>
          <p:cNvPr id="12" name="TextBox 16">
            <a:extLst>
              <a:ext uri="{FF2B5EF4-FFF2-40B4-BE49-F238E27FC236}">
                <a16:creationId xmlns:a16="http://schemas.microsoft.com/office/drawing/2014/main" id="{95767FBD-4C4C-DCB2-0CCF-A763B6D8ED8E}"/>
              </a:ext>
            </a:extLst>
          </p:cNvPr>
          <p:cNvSpPr txBox="1"/>
          <p:nvPr/>
        </p:nvSpPr>
        <p:spPr>
          <a:xfrm>
            <a:off x="678545" y="6275407"/>
            <a:ext cx="5705226" cy="246221"/>
          </a:xfrm>
          <a:prstGeom prst="rect">
            <a:avLst/>
          </a:prstGeom>
          <a:noFill/>
        </p:spPr>
        <p:txBody>
          <a:bodyPr wrap="square" lIns="91440" tIns="45720" rIns="91440" bIns="45720" anchor="t">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000" i="1">
                <a:latin typeface="Raleway"/>
                <a:ea typeface="Calibri"/>
                <a:cs typeface="Calibri"/>
              </a:rPr>
              <a:t>*) </a:t>
            </a:r>
            <a:r>
              <a:rPr lang="en-US" sz="1000" i="1" err="1">
                <a:latin typeface="Raleway"/>
                <a:ea typeface="Calibri"/>
                <a:cs typeface="Calibri"/>
              </a:rPr>
              <a:t>Jumlah</a:t>
            </a:r>
            <a:r>
              <a:rPr lang="en-US" sz="1000" i="1">
                <a:latin typeface="Raleway"/>
                <a:ea typeface="Calibri"/>
                <a:cs typeface="Calibri"/>
              </a:rPr>
              <a:t> MPP </a:t>
            </a:r>
            <a:r>
              <a:rPr lang="en-US" sz="1000" i="1" err="1">
                <a:latin typeface="Raleway"/>
                <a:ea typeface="Calibri"/>
                <a:cs typeface="Calibri"/>
              </a:rPr>
              <a:t>diperoleh</a:t>
            </a:r>
            <a:r>
              <a:rPr lang="en-US" sz="1000" i="1">
                <a:latin typeface="Raleway"/>
                <a:ea typeface="Calibri"/>
                <a:cs typeface="Calibri"/>
              </a:rPr>
              <a:t> </a:t>
            </a:r>
            <a:r>
              <a:rPr lang="en-US" sz="1000" i="1" err="1">
                <a:latin typeface="Raleway"/>
                <a:ea typeface="Calibri"/>
                <a:cs typeface="Calibri"/>
              </a:rPr>
              <a:t>dari</a:t>
            </a:r>
            <a:r>
              <a:rPr lang="en-US" sz="1000" i="1">
                <a:latin typeface="Raleway"/>
                <a:ea typeface="Calibri"/>
                <a:cs typeface="Calibri"/>
              </a:rPr>
              <a:t> </a:t>
            </a:r>
            <a:r>
              <a:rPr lang="en-US" sz="1000" i="1" err="1">
                <a:latin typeface="Raleway"/>
                <a:ea typeface="Calibri"/>
                <a:cs typeface="Calibri"/>
              </a:rPr>
              <a:t>keseluruhan</a:t>
            </a:r>
            <a:r>
              <a:rPr lang="en-US" sz="1000" i="1">
                <a:latin typeface="Raleway"/>
                <a:ea typeface="Calibri"/>
                <a:cs typeface="Calibri"/>
              </a:rPr>
              <a:t> MPP Project STO Chilled</a:t>
            </a:r>
          </a:p>
        </p:txBody>
      </p:sp>
      <p:sp>
        <p:nvSpPr>
          <p:cNvPr id="4" name="TextBox 3">
            <a:extLst>
              <a:ext uri="{FF2B5EF4-FFF2-40B4-BE49-F238E27FC236}">
                <a16:creationId xmlns:a16="http://schemas.microsoft.com/office/drawing/2014/main" id="{617DEB38-24CF-DA9B-61EC-81EDB59111A1}"/>
              </a:ext>
            </a:extLst>
          </p:cNvPr>
          <p:cNvSpPr txBox="1"/>
          <p:nvPr/>
        </p:nvSpPr>
        <p:spPr>
          <a:xfrm>
            <a:off x="678545" y="3970358"/>
            <a:ext cx="6096000" cy="307777"/>
          </a:xfrm>
          <a:prstGeom prst="rect">
            <a:avLst/>
          </a:prstGeom>
          <a:noFill/>
        </p:spPr>
        <p:txBody>
          <a:bodyPr wrap="square">
            <a:spAutoFit/>
          </a:bodyPr>
          <a:lstStyle/>
          <a:p>
            <a:pPr rtl="0">
              <a:defRPr sz="1080" b="0" i="0" u="none" strike="noStrike" kern="1200" spc="0" baseline="0">
                <a:solidFill>
                  <a:prstClr val="black">
                    <a:lumMod val="65000"/>
                    <a:lumOff val="35000"/>
                  </a:prstClr>
                </a:solidFill>
                <a:latin typeface="Raleway" pitchFamily="2" charset="0"/>
                <a:ea typeface="+mn-ea"/>
                <a:cs typeface="+mn-cs"/>
              </a:defRPr>
            </a:pPr>
            <a:r>
              <a:rPr lang="en-US" sz="1400" b="1">
                <a:solidFill>
                  <a:srgbClr val="002060"/>
                </a:solidFill>
              </a:rPr>
              <a:t>PEMENUHAN SDM PER REGION</a:t>
            </a:r>
          </a:p>
        </p:txBody>
      </p:sp>
      <p:sp>
        <p:nvSpPr>
          <p:cNvPr id="2" name="TextBox 16">
            <a:extLst>
              <a:ext uri="{FF2B5EF4-FFF2-40B4-BE49-F238E27FC236}">
                <a16:creationId xmlns:a16="http://schemas.microsoft.com/office/drawing/2014/main" id="{B683C58D-5574-F2CF-385C-DD2996179F5F}"/>
              </a:ext>
            </a:extLst>
          </p:cNvPr>
          <p:cNvSpPr txBox="1"/>
          <p:nvPr/>
        </p:nvSpPr>
        <p:spPr>
          <a:xfrm>
            <a:off x="707446" y="3704454"/>
            <a:ext cx="5705226" cy="246221"/>
          </a:xfrm>
          <a:prstGeom prst="rect">
            <a:avLst/>
          </a:prstGeom>
          <a:noFill/>
        </p:spPr>
        <p:txBody>
          <a:bodyPr wrap="square" lIns="91440" tIns="45720" rIns="91440" bIns="45720" anchor="t">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000" i="1">
                <a:latin typeface="Raleway"/>
                <a:ea typeface="Calibri"/>
                <a:cs typeface="Calibri"/>
              </a:rPr>
              <a:t>*) Data </a:t>
            </a:r>
            <a:r>
              <a:rPr lang="en-US" sz="1000" i="1" err="1">
                <a:latin typeface="Raleway"/>
                <a:ea typeface="Calibri"/>
                <a:cs typeface="Calibri"/>
              </a:rPr>
              <a:t>diperoleh</a:t>
            </a:r>
            <a:r>
              <a:rPr lang="en-US" sz="1000" i="1">
                <a:latin typeface="Raleway"/>
                <a:ea typeface="Calibri"/>
                <a:cs typeface="Calibri"/>
              </a:rPr>
              <a:t> </a:t>
            </a:r>
            <a:r>
              <a:rPr lang="en-US" sz="1000" i="1" err="1">
                <a:latin typeface="Raleway"/>
                <a:ea typeface="Calibri"/>
                <a:cs typeface="Calibri"/>
              </a:rPr>
              <a:t>dari</a:t>
            </a:r>
            <a:r>
              <a:rPr lang="en-US" sz="1000" i="1">
                <a:latin typeface="Raleway"/>
                <a:ea typeface="Calibri"/>
                <a:cs typeface="Calibri"/>
              </a:rPr>
              <a:t> </a:t>
            </a:r>
            <a:r>
              <a:rPr lang="en-US" sz="1000" i="1" err="1">
                <a:latin typeface="Raleway"/>
                <a:ea typeface="Calibri"/>
                <a:cs typeface="Calibri"/>
              </a:rPr>
              <a:t>keseluruhan</a:t>
            </a:r>
            <a:r>
              <a:rPr lang="en-US" sz="1000" i="1">
                <a:latin typeface="Raleway"/>
                <a:ea typeface="Calibri"/>
                <a:cs typeface="Calibri"/>
              </a:rPr>
              <a:t> MPP Project STO Chilled – FPTK OP dan Closed</a:t>
            </a:r>
          </a:p>
        </p:txBody>
      </p:sp>
      <p:sp>
        <p:nvSpPr>
          <p:cNvPr id="7" name="TextBox 6">
            <a:extLst>
              <a:ext uri="{FF2B5EF4-FFF2-40B4-BE49-F238E27FC236}">
                <a16:creationId xmlns:a16="http://schemas.microsoft.com/office/drawing/2014/main" id="{0D7F3AB5-CC51-647F-E4C6-98239D717320}"/>
              </a:ext>
            </a:extLst>
          </p:cNvPr>
          <p:cNvSpPr txBox="1"/>
          <p:nvPr/>
        </p:nvSpPr>
        <p:spPr>
          <a:xfrm>
            <a:off x="153673" y="6461415"/>
            <a:ext cx="2907067" cy="261610"/>
          </a:xfrm>
          <a:prstGeom prst="rect">
            <a:avLst/>
          </a:prstGeom>
          <a:noFill/>
        </p:spPr>
        <p:txBody>
          <a:bodyPr wrap="square" lIns="91440" tIns="45720" rIns="91440" bIns="45720" rtlCol="0" anchor="t">
            <a:spAutoFit/>
          </a:bodyPr>
          <a:lstStyle/>
          <a:p>
            <a:pPr>
              <a:defRPr/>
            </a:pPr>
            <a:r>
              <a:rPr lang="en-US" sz="1100" i="1">
                <a:solidFill>
                  <a:prstClr val="black"/>
                </a:solidFill>
                <a:latin typeface="Raleway"/>
              </a:rPr>
              <a:t>*</a:t>
            </a:r>
            <a:r>
              <a:rPr kumimoji="0" lang="en-US" sz="1100" b="0" i="1" u="none" strike="noStrike" kern="1200" cap="none" spc="0" normalizeH="0" baseline="0" noProof="0">
                <a:ln>
                  <a:noFill/>
                </a:ln>
                <a:solidFill>
                  <a:prstClr val="black"/>
                </a:solidFill>
                <a:effectLst/>
                <a:uLnTx/>
                <a:uFillTx/>
                <a:latin typeface="Raleway"/>
                <a:ea typeface="+mn-ea"/>
                <a:cs typeface="+mn-cs"/>
              </a:rPr>
              <a:t>Update per </a:t>
            </a:r>
            <a:r>
              <a:rPr lang="en-US" sz="1100" i="1">
                <a:solidFill>
                  <a:prstClr val="black"/>
                </a:solidFill>
                <a:latin typeface="Raleway"/>
              </a:rPr>
              <a:t>7 Agustus 2026</a:t>
            </a:r>
            <a:endParaRPr lang="en-US">
              <a:solidFill>
                <a:prstClr val="black"/>
              </a:solidFill>
              <a:ea typeface="+mn-ea"/>
              <a:cs typeface="+mn-cs"/>
            </a:endParaRPr>
          </a:p>
        </p:txBody>
      </p:sp>
      <p:graphicFrame>
        <p:nvGraphicFramePr>
          <p:cNvPr id="15" name="Table 14">
            <a:extLst>
              <a:ext uri="{FF2B5EF4-FFF2-40B4-BE49-F238E27FC236}">
                <a16:creationId xmlns:a16="http://schemas.microsoft.com/office/drawing/2014/main" id="{4BC017C6-0936-C7E3-4738-11A29987EE8D}"/>
              </a:ext>
            </a:extLst>
          </p:cNvPr>
          <p:cNvGraphicFramePr>
            <a:graphicFrameLocks noGrp="1"/>
          </p:cNvGraphicFramePr>
          <p:nvPr/>
        </p:nvGraphicFramePr>
        <p:xfrm>
          <a:off x="757338" y="4219996"/>
          <a:ext cx="5796832" cy="2053449"/>
        </p:xfrm>
        <a:graphic>
          <a:graphicData uri="http://schemas.openxmlformats.org/drawingml/2006/table">
            <a:tbl>
              <a:tblPr bandRow="1">
                <a:tableStyleId>{5C22544A-7EE6-4342-B048-85BDC9FD1C3A}</a:tableStyleId>
              </a:tblPr>
              <a:tblGrid>
                <a:gridCol w="1529721">
                  <a:extLst>
                    <a:ext uri="{9D8B030D-6E8A-4147-A177-3AD203B41FA5}">
                      <a16:colId xmlns:a16="http://schemas.microsoft.com/office/drawing/2014/main" val="4207151363"/>
                    </a:ext>
                  </a:extLst>
                </a:gridCol>
                <a:gridCol w="609587">
                  <a:extLst>
                    <a:ext uri="{9D8B030D-6E8A-4147-A177-3AD203B41FA5}">
                      <a16:colId xmlns:a16="http://schemas.microsoft.com/office/drawing/2014/main" val="4246933629"/>
                    </a:ext>
                  </a:extLst>
                </a:gridCol>
                <a:gridCol w="609587">
                  <a:extLst>
                    <a:ext uri="{9D8B030D-6E8A-4147-A177-3AD203B41FA5}">
                      <a16:colId xmlns:a16="http://schemas.microsoft.com/office/drawing/2014/main" val="1913800582"/>
                    </a:ext>
                  </a:extLst>
                </a:gridCol>
                <a:gridCol w="552079">
                  <a:extLst>
                    <a:ext uri="{9D8B030D-6E8A-4147-A177-3AD203B41FA5}">
                      <a16:colId xmlns:a16="http://schemas.microsoft.com/office/drawing/2014/main" val="1794969541"/>
                    </a:ext>
                  </a:extLst>
                </a:gridCol>
                <a:gridCol w="494570">
                  <a:extLst>
                    <a:ext uri="{9D8B030D-6E8A-4147-A177-3AD203B41FA5}">
                      <a16:colId xmlns:a16="http://schemas.microsoft.com/office/drawing/2014/main" val="4052574143"/>
                    </a:ext>
                  </a:extLst>
                </a:gridCol>
                <a:gridCol w="943136">
                  <a:extLst>
                    <a:ext uri="{9D8B030D-6E8A-4147-A177-3AD203B41FA5}">
                      <a16:colId xmlns:a16="http://schemas.microsoft.com/office/drawing/2014/main" val="1704237821"/>
                    </a:ext>
                  </a:extLst>
                </a:gridCol>
                <a:gridCol w="1058152">
                  <a:extLst>
                    <a:ext uri="{9D8B030D-6E8A-4147-A177-3AD203B41FA5}">
                      <a16:colId xmlns:a16="http://schemas.microsoft.com/office/drawing/2014/main" val="1194540898"/>
                    </a:ext>
                  </a:extLst>
                </a:gridCol>
              </a:tblGrid>
              <a:tr h="358320">
                <a:tc>
                  <a:txBody>
                    <a:bodyPr/>
                    <a:lstStyle/>
                    <a:p>
                      <a:pPr algn="ctr" rtl="0" fontAlgn="ctr">
                        <a:buNone/>
                      </a:pPr>
                      <a:r>
                        <a:rPr lang="en-US" sz="900" b="1">
                          <a:solidFill>
                            <a:srgbClr val="FFFFFF"/>
                          </a:solidFill>
                          <a:effectLst/>
                          <a:latin typeface="Raleway"/>
                        </a:rPr>
                        <a:t>Region (RSM)</a:t>
                      </a:r>
                    </a:p>
                  </a:txBody>
                  <a:tcPr marL="9525" marR="9525" marT="9525" anchor="ctr">
                    <a:lnL w="12700" cap="flat" cmpd="sng" algn="ctr">
                      <a:solidFill>
                        <a:srgbClr val="C01019"/>
                      </a:solidFill>
                      <a:prstDash val="solid"/>
                      <a:round/>
                      <a:headEnd type="none" w="med" len="med"/>
                      <a:tailEnd type="none" w="med" len="med"/>
                    </a:lnL>
                    <a:lnR>
                      <a:noFill/>
                    </a:lnR>
                    <a:lnT w="12700" cap="flat" cmpd="sng" algn="ctr">
                      <a:solidFill>
                        <a:srgbClr val="C01019"/>
                      </a:solidFill>
                      <a:prstDash val="solid"/>
                      <a:round/>
                      <a:headEnd type="none" w="med" len="med"/>
                      <a:tailEnd type="none" w="med" len="med"/>
                    </a:lnT>
                    <a:lnB w="12700" cap="flat" cmpd="sng" algn="ctr">
                      <a:solidFill>
                        <a:srgbClr val="C01019"/>
                      </a:solidFill>
                      <a:prstDash val="solid"/>
                      <a:round/>
                      <a:headEnd type="none" w="med" len="med"/>
                      <a:tailEnd type="none" w="med" len="med"/>
                    </a:lnB>
                    <a:solidFill>
                      <a:srgbClr val="002060"/>
                    </a:solidFill>
                  </a:tcPr>
                </a:tc>
                <a:tc>
                  <a:txBody>
                    <a:bodyPr/>
                    <a:lstStyle/>
                    <a:p>
                      <a:pPr algn="ctr" rtl="0" fontAlgn="ctr">
                        <a:buNone/>
                      </a:pPr>
                      <a:r>
                        <a:rPr lang="en-US" sz="900" b="1">
                          <a:solidFill>
                            <a:srgbClr val="FFFFFF"/>
                          </a:solidFill>
                          <a:effectLst/>
                          <a:latin typeface="Raleway"/>
                        </a:rPr>
                        <a:t>FPTK di proses</a:t>
                      </a:r>
                    </a:p>
                  </a:txBody>
                  <a:tcPr marL="9525" marR="9525" marT="9525" anchor="ctr">
                    <a:lnL>
                      <a:noFill/>
                    </a:lnL>
                    <a:lnR>
                      <a:noFill/>
                    </a:lnR>
                    <a:lnT w="12700" cap="flat" cmpd="sng" algn="ctr">
                      <a:solidFill>
                        <a:srgbClr val="D09F54"/>
                      </a:solidFill>
                      <a:prstDash val="solid"/>
                      <a:round/>
                      <a:headEnd type="none" w="med" len="med"/>
                      <a:tailEnd type="none" w="med" len="med"/>
                    </a:lnT>
                    <a:lnB w="12700" cap="flat" cmpd="sng" algn="ctr">
                      <a:solidFill>
                        <a:srgbClr val="D09F54"/>
                      </a:solidFill>
                      <a:prstDash val="solid"/>
                      <a:round/>
                      <a:headEnd type="none" w="med" len="med"/>
                      <a:tailEnd type="none" w="med" len="med"/>
                    </a:lnB>
                    <a:solidFill>
                      <a:srgbClr val="002060"/>
                    </a:solidFill>
                  </a:tcPr>
                </a:tc>
                <a:tc>
                  <a:txBody>
                    <a:bodyPr/>
                    <a:lstStyle/>
                    <a:p>
                      <a:pPr algn="ctr" rtl="0" fontAlgn="ctr">
                        <a:buNone/>
                      </a:pPr>
                      <a:endParaRPr lang="en-US" sz="900" b="1">
                        <a:solidFill>
                          <a:srgbClr val="FFFFFF"/>
                        </a:solidFill>
                        <a:effectLst/>
                        <a:latin typeface="Raleway"/>
                      </a:endParaRPr>
                    </a:p>
                  </a:txBody>
                  <a:tcPr marL="9525" marR="9525" marT="9525" anchor="ctr">
                    <a:lnL>
                      <a:noFill/>
                    </a:lnL>
                    <a:lnR>
                      <a:noFill/>
                    </a:lnR>
                    <a:lnT w="12700" cap="flat" cmpd="sng" algn="ctr">
                      <a:solidFill>
                        <a:srgbClr val="109D54"/>
                      </a:solidFill>
                      <a:prstDash val="solid"/>
                      <a:round/>
                      <a:headEnd type="none" w="med" len="med"/>
                      <a:tailEnd type="none" w="med" len="med"/>
                    </a:lnT>
                    <a:lnB w="12700" cap="flat" cmpd="sng" algn="ctr">
                      <a:solidFill>
                        <a:srgbClr val="109D54"/>
                      </a:solidFill>
                      <a:prstDash val="solid"/>
                      <a:round/>
                      <a:headEnd type="none" w="med" len="med"/>
                      <a:tailEnd type="none" w="med" len="med"/>
                    </a:lnB>
                    <a:solidFill>
                      <a:srgbClr val="002060"/>
                    </a:solidFill>
                  </a:tcPr>
                </a:tc>
                <a:tc>
                  <a:txBody>
                    <a:bodyPr/>
                    <a:lstStyle/>
                    <a:p>
                      <a:pPr algn="ctr" rtl="0" fontAlgn="ctr">
                        <a:buNone/>
                      </a:pPr>
                      <a:r>
                        <a:rPr lang="en-US" sz="900" b="1">
                          <a:solidFill>
                            <a:srgbClr val="FFFFFF"/>
                          </a:solidFill>
                          <a:effectLst/>
                          <a:latin typeface="Raleway"/>
                        </a:rPr>
                        <a:t>Open</a:t>
                      </a:r>
                    </a:p>
                  </a:txBody>
                  <a:tcPr marL="9525" marR="9525" marT="9525" anchor="ctr">
                    <a:lnL>
                      <a:noFill/>
                    </a:lnL>
                    <a:lnR>
                      <a:noFill/>
                    </a:lnR>
                    <a:lnT w="12700" cap="flat" cmpd="sng" algn="ctr">
                      <a:solidFill>
                        <a:srgbClr val="109D54"/>
                      </a:solidFill>
                      <a:prstDash val="solid"/>
                      <a:round/>
                      <a:headEnd type="none" w="med" len="med"/>
                      <a:tailEnd type="none" w="med" len="med"/>
                    </a:lnT>
                    <a:lnB w="12700" cap="flat" cmpd="sng" algn="ctr">
                      <a:solidFill>
                        <a:srgbClr val="109D54"/>
                      </a:solidFill>
                      <a:prstDash val="solid"/>
                      <a:round/>
                      <a:headEnd type="none" w="med" len="med"/>
                      <a:tailEnd type="none" w="med" len="med"/>
                    </a:lnB>
                    <a:solidFill>
                      <a:srgbClr val="002060"/>
                    </a:solidFill>
                  </a:tcPr>
                </a:tc>
                <a:tc>
                  <a:txBody>
                    <a:bodyPr/>
                    <a:lstStyle/>
                    <a:p>
                      <a:pPr algn="ctr" rtl="0" fontAlgn="ctr">
                        <a:buNone/>
                      </a:pPr>
                      <a:r>
                        <a:rPr lang="en-US" sz="900" b="1">
                          <a:solidFill>
                            <a:srgbClr val="FFFFFF"/>
                          </a:solidFill>
                          <a:effectLst/>
                          <a:latin typeface="Raleway"/>
                        </a:rPr>
                        <a:t>Closed</a:t>
                      </a:r>
                    </a:p>
                  </a:txBody>
                  <a:tcPr marL="9525" marR="9525" marT="9525" anchor="ctr">
                    <a:lnL>
                      <a:noFill/>
                    </a:lnL>
                    <a:lnR>
                      <a:noFill/>
                    </a:lnR>
                    <a:lnT w="12700" cap="flat" cmpd="sng" algn="ctr">
                      <a:solidFill>
                        <a:srgbClr val="F09453"/>
                      </a:solidFill>
                      <a:prstDash val="solid"/>
                      <a:round/>
                      <a:headEnd type="none" w="med" len="med"/>
                      <a:tailEnd type="none" w="med" len="med"/>
                    </a:lnT>
                    <a:lnB w="12700" cap="flat" cmpd="sng" algn="ctr">
                      <a:solidFill>
                        <a:srgbClr val="F09453"/>
                      </a:solidFill>
                      <a:prstDash val="solid"/>
                      <a:round/>
                      <a:headEnd type="none" w="med" len="med"/>
                      <a:tailEnd type="none" w="med" len="med"/>
                    </a:lnB>
                    <a:solidFill>
                      <a:srgbClr val="002060"/>
                    </a:solidFill>
                  </a:tcPr>
                </a:tc>
                <a:tc>
                  <a:txBody>
                    <a:bodyPr/>
                    <a:lstStyle/>
                    <a:p>
                      <a:pPr algn="ctr" rtl="0" fontAlgn="ctr">
                        <a:buNone/>
                      </a:pPr>
                      <a:r>
                        <a:rPr lang="en-US" sz="900" b="1">
                          <a:solidFill>
                            <a:srgbClr val="FFFFFF"/>
                          </a:solidFill>
                          <a:effectLst/>
                          <a:latin typeface="Raleway"/>
                        </a:rPr>
                        <a:t>Cancel</a:t>
                      </a:r>
                    </a:p>
                  </a:txBody>
                  <a:tcPr marL="9525" marR="9525" marT="9525" anchor="ctr">
                    <a:lnL>
                      <a:noFill/>
                    </a:lnL>
                    <a:lnR>
                      <a:noFill/>
                    </a:lnR>
                    <a:lnT w="12700" cap="flat" cmpd="sng" algn="ctr">
                      <a:solidFill>
                        <a:srgbClr val="509653"/>
                      </a:solidFill>
                      <a:prstDash val="solid"/>
                      <a:round/>
                      <a:headEnd type="none" w="med" len="med"/>
                      <a:tailEnd type="none" w="med" len="med"/>
                    </a:lnT>
                    <a:lnB w="12700" cap="flat" cmpd="sng" algn="ctr">
                      <a:solidFill>
                        <a:srgbClr val="509653"/>
                      </a:solidFill>
                      <a:prstDash val="solid"/>
                      <a:round/>
                      <a:headEnd type="none" w="med" len="med"/>
                      <a:tailEnd type="none" w="med" len="med"/>
                    </a:lnB>
                    <a:solidFill>
                      <a:srgbClr val="002060"/>
                    </a:solidFill>
                  </a:tcPr>
                </a:tc>
                <a:tc>
                  <a:txBody>
                    <a:bodyPr/>
                    <a:lstStyle/>
                    <a:p>
                      <a:pPr algn="ctr" rtl="0" fontAlgn="ctr">
                        <a:buNone/>
                      </a:pPr>
                      <a:r>
                        <a:rPr lang="en-US" sz="900" b="1">
                          <a:solidFill>
                            <a:srgbClr val="FFFFFF"/>
                          </a:solidFill>
                          <a:effectLst/>
                          <a:latin typeface="Raleway"/>
                        </a:rPr>
                        <a:t>% </a:t>
                      </a:r>
                      <a:r>
                        <a:rPr lang="en-US" sz="900" b="1" err="1">
                          <a:solidFill>
                            <a:srgbClr val="FFFFFF"/>
                          </a:solidFill>
                          <a:effectLst/>
                          <a:latin typeface="Raleway"/>
                        </a:rPr>
                        <a:t>Pemenuhan</a:t>
                      </a:r>
                    </a:p>
                  </a:txBody>
                  <a:tcPr marL="9525" marR="9525" marT="9525" anchor="ctr">
                    <a:lnL>
                      <a:noFill/>
                    </a:lnL>
                    <a:lnR w="12700" cap="flat" cmpd="sng" algn="ctr">
                      <a:solidFill>
                        <a:srgbClr val="909753"/>
                      </a:solidFill>
                      <a:prstDash val="solid"/>
                      <a:round/>
                      <a:headEnd type="none" w="med" len="med"/>
                      <a:tailEnd type="none" w="med" len="med"/>
                    </a:lnR>
                    <a:lnT w="12700" cap="flat" cmpd="sng" algn="ctr">
                      <a:solidFill>
                        <a:srgbClr val="909753"/>
                      </a:solidFill>
                      <a:prstDash val="solid"/>
                      <a:round/>
                      <a:headEnd type="none" w="med" len="med"/>
                      <a:tailEnd type="none" w="med" len="med"/>
                    </a:lnT>
                    <a:lnB w="12700" cap="flat" cmpd="sng" algn="ctr">
                      <a:solidFill>
                        <a:srgbClr val="909753"/>
                      </a:solidFill>
                      <a:prstDash val="solid"/>
                      <a:round/>
                      <a:headEnd type="none" w="med" len="med"/>
                      <a:tailEnd type="none" w="med" len="med"/>
                    </a:lnB>
                    <a:solidFill>
                      <a:srgbClr val="002060"/>
                    </a:solidFill>
                  </a:tcPr>
                </a:tc>
                <a:extLst>
                  <a:ext uri="{0D108BD9-81ED-4DB2-BD59-A6C34878D82A}">
                    <a16:rowId xmlns:a16="http://schemas.microsoft.com/office/drawing/2014/main" val="455166922"/>
                  </a:ext>
                </a:extLst>
              </a:tr>
              <a:tr h="206723">
                <a:tc>
                  <a:txBody>
                    <a:bodyPr/>
                    <a:lstStyle/>
                    <a:p>
                      <a:pPr fontAlgn="b">
                        <a:buNone/>
                      </a:pPr>
                      <a:r>
                        <a:rPr lang="en-US" sz="900" err="1">
                          <a:effectLst/>
                          <a:latin typeface="Raleway"/>
                        </a:rPr>
                        <a:t>Jabodetabek</a:t>
                      </a:r>
                      <a:r>
                        <a:rPr lang="en-US" sz="900">
                          <a:effectLst/>
                          <a:latin typeface="Raleway"/>
                        </a:rPr>
                        <a:t> &amp; Banten</a:t>
                      </a:r>
                    </a:p>
                  </a:txBody>
                  <a:tcPr marL="9525" marR="9525" marT="9525" anchor="b">
                    <a:lnL w="12700" cap="flat" cmpd="sng" algn="ctr">
                      <a:solidFill>
                        <a:srgbClr val="40D108"/>
                      </a:solidFill>
                      <a:prstDash val="solid"/>
                      <a:round/>
                      <a:headEnd type="none" w="med" len="med"/>
                      <a:tailEnd type="none" w="med" len="med"/>
                    </a:lnL>
                    <a:lnR>
                      <a:noFill/>
                    </a:lnR>
                    <a:lnT w="12700" cap="flat" cmpd="sng" algn="ctr">
                      <a:solidFill>
                        <a:srgbClr val="C01019"/>
                      </a:solidFill>
                      <a:prstDash val="solid"/>
                      <a:round/>
                      <a:headEnd type="none" w="med" len="med"/>
                      <a:tailEnd type="none" w="med" len="med"/>
                    </a:lnT>
                    <a:lnB>
                      <a:noFill/>
                    </a:lnB>
                    <a:solidFill>
                      <a:srgbClr val="FFFFFF"/>
                    </a:solidFill>
                  </a:tcPr>
                </a:tc>
                <a:tc>
                  <a:txBody>
                    <a:bodyPr/>
                    <a:lstStyle/>
                    <a:p>
                      <a:pPr algn="ctr" fontAlgn="b">
                        <a:buNone/>
                      </a:pPr>
                      <a:r>
                        <a:rPr lang="en-US" sz="900">
                          <a:effectLst/>
                          <a:latin typeface="Raleway"/>
                        </a:rPr>
                        <a:t>71</a:t>
                      </a:r>
                    </a:p>
                  </a:txBody>
                  <a:tcPr marL="9525" marR="9525" marT="9525" anchor="b">
                    <a:lnL>
                      <a:noFill/>
                    </a:lnL>
                    <a:lnR>
                      <a:noFill/>
                    </a:lnR>
                    <a:lnT w="12700" cap="flat" cmpd="sng" algn="ctr">
                      <a:solidFill>
                        <a:srgbClr val="D09F54"/>
                      </a:solidFill>
                      <a:prstDash val="solid"/>
                      <a:round/>
                      <a:headEnd type="none" w="med" len="med"/>
                      <a:tailEnd type="none" w="med" len="med"/>
                    </a:lnT>
                    <a:lnB>
                      <a:noFill/>
                    </a:lnB>
                    <a:solidFill>
                      <a:srgbClr val="FFFFFF"/>
                    </a:solidFill>
                  </a:tcPr>
                </a:tc>
                <a:tc>
                  <a:txBody>
                    <a:bodyPr/>
                    <a:lstStyle/>
                    <a:p>
                      <a:pPr algn="ctr" fontAlgn="b">
                        <a:buNone/>
                      </a:pPr>
                      <a:endParaRPr lang="en-US" sz="900">
                        <a:effectLst/>
                        <a:latin typeface="Raleway"/>
                      </a:endParaRPr>
                    </a:p>
                  </a:txBody>
                  <a:tcPr marL="9525" marR="9525" marT="9525" anchor="b">
                    <a:lnL>
                      <a:noFill/>
                    </a:lnL>
                    <a:lnR>
                      <a:noFill/>
                    </a:lnR>
                    <a:lnT w="12700" cap="flat" cmpd="sng" algn="ctr">
                      <a:solidFill>
                        <a:srgbClr val="109D54"/>
                      </a:solidFill>
                      <a:prstDash val="solid"/>
                      <a:round/>
                      <a:headEnd type="none" w="med" len="med"/>
                      <a:tailEnd type="none" w="med" len="med"/>
                    </a:lnT>
                    <a:lnB>
                      <a:noFill/>
                    </a:lnB>
                    <a:solidFill>
                      <a:srgbClr val="FFFFFF"/>
                    </a:solidFill>
                  </a:tcPr>
                </a:tc>
                <a:tc>
                  <a:txBody>
                    <a:bodyPr/>
                    <a:lstStyle/>
                    <a:p>
                      <a:pPr algn="ctr" fontAlgn="b">
                        <a:buNone/>
                      </a:pPr>
                      <a:r>
                        <a:rPr lang="en-US" sz="900">
                          <a:effectLst/>
                          <a:latin typeface="Raleway"/>
                        </a:rPr>
                        <a:t>22</a:t>
                      </a:r>
                    </a:p>
                  </a:txBody>
                  <a:tcPr marL="9525" marR="9525" marT="9525" anchor="b">
                    <a:lnL>
                      <a:noFill/>
                    </a:lnL>
                    <a:lnR>
                      <a:noFill/>
                    </a:lnR>
                    <a:lnT w="12700" cap="flat" cmpd="sng" algn="ctr">
                      <a:solidFill>
                        <a:srgbClr val="109D54"/>
                      </a:solidFill>
                      <a:prstDash val="solid"/>
                      <a:round/>
                      <a:headEnd type="none" w="med" len="med"/>
                      <a:tailEnd type="none" w="med" len="med"/>
                    </a:lnT>
                    <a:lnB>
                      <a:noFill/>
                    </a:lnB>
                    <a:solidFill>
                      <a:srgbClr val="FFFFFF"/>
                    </a:solidFill>
                  </a:tcPr>
                </a:tc>
                <a:tc>
                  <a:txBody>
                    <a:bodyPr/>
                    <a:lstStyle/>
                    <a:p>
                      <a:pPr algn="ctr" fontAlgn="b">
                        <a:buNone/>
                      </a:pPr>
                      <a:r>
                        <a:rPr lang="en-US" sz="900">
                          <a:effectLst/>
                          <a:latin typeface="Raleway"/>
                        </a:rPr>
                        <a:t>49</a:t>
                      </a:r>
                    </a:p>
                  </a:txBody>
                  <a:tcPr marL="9525" marR="9525" marT="9525" anchor="b">
                    <a:lnL>
                      <a:noFill/>
                    </a:lnL>
                    <a:lnR>
                      <a:noFill/>
                    </a:lnR>
                    <a:lnT w="12700" cap="flat" cmpd="sng" algn="ctr">
                      <a:solidFill>
                        <a:srgbClr val="F09453"/>
                      </a:solidFill>
                      <a:prstDash val="solid"/>
                      <a:round/>
                      <a:headEnd type="none" w="med" len="med"/>
                      <a:tailEnd type="none" w="med" len="med"/>
                    </a:lnT>
                    <a:lnB>
                      <a:noFill/>
                    </a:lnB>
                    <a:solidFill>
                      <a:srgbClr val="FFFFFF"/>
                    </a:solidFill>
                  </a:tcPr>
                </a:tc>
                <a:tc>
                  <a:txBody>
                    <a:bodyPr/>
                    <a:lstStyle/>
                    <a:p>
                      <a:pPr algn="ctr" fontAlgn="b">
                        <a:buNone/>
                      </a:pPr>
                      <a:r>
                        <a:rPr lang="en-US" sz="900">
                          <a:effectLst/>
                          <a:latin typeface="Raleway"/>
                        </a:rPr>
                        <a:t>0</a:t>
                      </a:r>
                    </a:p>
                  </a:txBody>
                  <a:tcPr marL="9525" marR="9525" marT="9525" anchor="b">
                    <a:lnL>
                      <a:noFill/>
                    </a:lnL>
                    <a:lnR>
                      <a:noFill/>
                    </a:lnR>
                    <a:lnT w="12700" cap="flat" cmpd="sng" algn="ctr">
                      <a:solidFill>
                        <a:srgbClr val="509653"/>
                      </a:solidFill>
                      <a:prstDash val="solid"/>
                      <a:round/>
                      <a:headEnd type="none" w="med" len="med"/>
                      <a:tailEnd type="none" w="med" len="med"/>
                    </a:lnT>
                    <a:lnB>
                      <a:noFill/>
                    </a:lnB>
                    <a:solidFill>
                      <a:srgbClr val="FFFFFF"/>
                    </a:solidFill>
                  </a:tcPr>
                </a:tc>
                <a:tc>
                  <a:txBody>
                    <a:bodyPr/>
                    <a:lstStyle/>
                    <a:p>
                      <a:pPr algn="ctr" fontAlgn="b">
                        <a:buNone/>
                      </a:pPr>
                      <a:r>
                        <a:rPr lang="en-US" sz="900">
                          <a:effectLst/>
                          <a:latin typeface="Raleway"/>
                        </a:rPr>
                        <a:t>69.01%</a:t>
                      </a:r>
                    </a:p>
                  </a:txBody>
                  <a:tcPr marL="9525" marR="9525" marT="9525" anchor="b">
                    <a:lnL>
                      <a:noFill/>
                    </a:lnL>
                    <a:lnR w="12700" cap="flat" cmpd="sng" algn="ctr">
                      <a:solidFill>
                        <a:srgbClr val="A0D108"/>
                      </a:solidFill>
                      <a:prstDash val="solid"/>
                      <a:round/>
                      <a:headEnd type="none" w="med" len="med"/>
                      <a:tailEnd type="none" w="med" len="med"/>
                    </a:lnR>
                    <a:lnT w="12700" cap="flat" cmpd="sng" algn="ctr">
                      <a:solidFill>
                        <a:srgbClr val="909753"/>
                      </a:solidFill>
                      <a:prstDash val="solid"/>
                      <a:round/>
                      <a:headEnd type="none" w="med" len="med"/>
                      <a:tailEnd type="none" w="med" len="med"/>
                    </a:lnT>
                    <a:lnB>
                      <a:noFill/>
                    </a:lnB>
                    <a:solidFill>
                      <a:srgbClr val="FFFFFF"/>
                    </a:solidFill>
                  </a:tcPr>
                </a:tc>
                <a:extLst>
                  <a:ext uri="{0D108BD9-81ED-4DB2-BD59-A6C34878D82A}">
                    <a16:rowId xmlns:a16="http://schemas.microsoft.com/office/drawing/2014/main" val="444464438"/>
                  </a:ext>
                </a:extLst>
              </a:tr>
              <a:tr h="206723">
                <a:tc>
                  <a:txBody>
                    <a:bodyPr/>
                    <a:lstStyle/>
                    <a:p>
                      <a:pPr fontAlgn="b">
                        <a:buNone/>
                      </a:pPr>
                      <a:r>
                        <a:rPr lang="en-US" sz="900">
                          <a:effectLst/>
                          <a:latin typeface="Raleway"/>
                        </a:rPr>
                        <a:t>Jawa Barat</a:t>
                      </a:r>
                    </a:p>
                  </a:txBody>
                  <a:tcPr marL="9525" marR="9525" marT="9525" anchor="b">
                    <a:lnL w="12700" cap="flat" cmpd="sng" algn="ctr">
                      <a:solidFill>
                        <a:srgbClr val="80C408"/>
                      </a:solidFill>
                      <a:prstDash val="solid"/>
                      <a:round/>
                      <a:headEnd type="none" w="med" len="med"/>
                      <a:tailEnd type="none" w="med" len="med"/>
                    </a:lnL>
                    <a:lnR>
                      <a:noFill/>
                    </a:lnR>
                    <a:lnT>
                      <a:noFill/>
                    </a:lnT>
                    <a:lnB>
                      <a:noFill/>
                    </a:lnB>
                    <a:solidFill>
                      <a:srgbClr val="FFFFFF"/>
                    </a:solidFill>
                  </a:tcPr>
                </a:tc>
                <a:tc>
                  <a:txBody>
                    <a:bodyPr/>
                    <a:lstStyle/>
                    <a:p>
                      <a:pPr algn="ctr" fontAlgn="b">
                        <a:buNone/>
                      </a:pPr>
                      <a:r>
                        <a:rPr lang="en-US" sz="900">
                          <a:effectLst/>
                          <a:latin typeface="Raleway"/>
                        </a:rPr>
                        <a:t>37</a:t>
                      </a:r>
                    </a:p>
                  </a:txBody>
                  <a:tcPr marL="9525" marR="9525" marT="9525" anchor="b">
                    <a:lnL>
                      <a:noFill/>
                    </a:lnL>
                    <a:lnR>
                      <a:noFill/>
                    </a:lnR>
                    <a:lnT>
                      <a:noFill/>
                    </a:lnT>
                    <a:lnB>
                      <a:noFill/>
                    </a:lnB>
                    <a:solidFill>
                      <a:srgbClr val="FFFFFF"/>
                    </a:solidFill>
                  </a:tcPr>
                </a:tc>
                <a:tc>
                  <a:txBody>
                    <a:bodyPr/>
                    <a:lstStyle/>
                    <a:p>
                      <a:pPr algn="ctr" fontAlgn="b">
                        <a:buNone/>
                      </a:pPr>
                      <a:endParaRPr lang="en-US" sz="900">
                        <a:effectLst/>
                        <a:latin typeface="Raleway"/>
                      </a:endParaRPr>
                    </a:p>
                  </a:txBody>
                  <a:tcPr marL="9525" marR="9525" marT="9525" anchor="b">
                    <a:lnL>
                      <a:noFill/>
                    </a:lnL>
                    <a:lnR>
                      <a:noFill/>
                    </a:lnR>
                    <a:lnT>
                      <a:noFill/>
                    </a:lnT>
                    <a:lnB>
                      <a:noFill/>
                    </a:lnB>
                    <a:solidFill>
                      <a:srgbClr val="FFFFFF"/>
                    </a:solidFill>
                  </a:tcPr>
                </a:tc>
                <a:tc>
                  <a:txBody>
                    <a:bodyPr/>
                    <a:lstStyle/>
                    <a:p>
                      <a:pPr algn="ctr" fontAlgn="b">
                        <a:buNone/>
                      </a:pPr>
                      <a:r>
                        <a:rPr lang="en-US" sz="900">
                          <a:effectLst/>
                          <a:latin typeface="Raleway"/>
                        </a:rPr>
                        <a:t>13</a:t>
                      </a:r>
                    </a:p>
                  </a:txBody>
                  <a:tcPr marL="9525" marR="9525" marT="9525" anchor="b">
                    <a:lnL>
                      <a:noFill/>
                    </a:lnL>
                    <a:lnR>
                      <a:noFill/>
                    </a:lnR>
                    <a:lnT>
                      <a:noFill/>
                    </a:lnT>
                    <a:lnB>
                      <a:noFill/>
                    </a:lnB>
                    <a:solidFill>
                      <a:srgbClr val="FFFFFF"/>
                    </a:solidFill>
                  </a:tcPr>
                </a:tc>
                <a:tc>
                  <a:txBody>
                    <a:bodyPr/>
                    <a:lstStyle/>
                    <a:p>
                      <a:pPr algn="ctr" fontAlgn="b">
                        <a:buNone/>
                      </a:pPr>
                      <a:r>
                        <a:rPr lang="en-US" sz="900">
                          <a:effectLst/>
                          <a:latin typeface="Raleway"/>
                        </a:rPr>
                        <a:t>24</a:t>
                      </a:r>
                    </a:p>
                  </a:txBody>
                  <a:tcPr marL="9525" marR="9525" marT="9525" anchor="b">
                    <a:lnL>
                      <a:noFill/>
                    </a:lnL>
                    <a:lnR>
                      <a:noFill/>
                    </a:lnR>
                    <a:lnT>
                      <a:noFill/>
                    </a:lnT>
                    <a:lnB>
                      <a:noFill/>
                    </a:lnB>
                    <a:solidFill>
                      <a:srgbClr val="FFFFFF"/>
                    </a:solidFill>
                  </a:tcPr>
                </a:tc>
                <a:tc>
                  <a:txBody>
                    <a:bodyPr/>
                    <a:lstStyle/>
                    <a:p>
                      <a:pPr algn="ctr" fontAlgn="b">
                        <a:buNone/>
                      </a:pPr>
                      <a:r>
                        <a:rPr lang="en-US" sz="900">
                          <a:effectLst/>
                          <a:latin typeface="Raleway"/>
                        </a:rPr>
                        <a:t>0</a:t>
                      </a:r>
                    </a:p>
                  </a:txBody>
                  <a:tcPr marL="9525" marR="9525" marT="9525" anchor="b">
                    <a:lnL>
                      <a:noFill/>
                    </a:lnL>
                    <a:lnR>
                      <a:noFill/>
                    </a:lnR>
                    <a:lnT>
                      <a:noFill/>
                    </a:lnT>
                    <a:lnB>
                      <a:noFill/>
                    </a:lnB>
                    <a:solidFill>
                      <a:srgbClr val="FFFFFF"/>
                    </a:solidFill>
                  </a:tcPr>
                </a:tc>
                <a:tc>
                  <a:txBody>
                    <a:bodyPr/>
                    <a:lstStyle/>
                    <a:p>
                      <a:pPr algn="ctr" fontAlgn="b">
                        <a:buNone/>
                      </a:pPr>
                      <a:r>
                        <a:rPr lang="en-US" sz="900">
                          <a:effectLst/>
                          <a:latin typeface="Raleway"/>
                        </a:rPr>
                        <a:t>64.86%</a:t>
                      </a:r>
                    </a:p>
                  </a:txBody>
                  <a:tcPr marL="9525" marR="9525" marT="9525" anchor="b">
                    <a:lnL>
                      <a:noFill/>
                    </a:lnL>
                    <a:lnR w="12700" cap="flat" cmpd="sng" algn="ctr">
                      <a:solidFill>
                        <a:srgbClr val="C0C608"/>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900652488"/>
                  </a:ext>
                </a:extLst>
              </a:tr>
              <a:tr h="206723">
                <a:tc>
                  <a:txBody>
                    <a:bodyPr/>
                    <a:lstStyle/>
                    <a:p>
                      <a:pPr fontAlgn="b">
                        <a:buNone/>
                      </a:pPr>
                      <a:r>
                        <a:rPr lang="en-US" sz="900">
                          <a:effectLst/>
                          <a:latin typeface="Raleway"/>
                        </a:rPr>
                        <a:t>Jawa Tengah &amp; DIY</a:t>
                      </a:r>
                    </a:p>
                  </a:txBody>
                  <a:tcPr marL="9525" marR="9525" marT="9525" anchor="b">
                    <a:lnL w="12700" cap="flat" cmpd="sng" algn="ctr">
                      <a:solidFill>
                        <a:srgbClr val="80C408"/>
                      </a:solidFill>
                      <a:prstDash val="solid"/>
                      <a:round/>
                      <a:headEnd type="none" w="med" len="med"/>
                      <a:tailEnd type="none" w="med" len="med"/>
                    </a:lnL>
                    <a:lnR>
                      <a:noFill/>
                    </a:lnR>
                    <a:lnT>
                      <a:noFill/>
                    </a:lnT>
                    <a:lnB>
                      <a:noFill/>
                    </a:lnB>
                    <a:solidFill>
                      <a:srgbClr val="FFFFFF"/>
                    </a:solidFill>
                  </a:tcPr>
                </a:tc>
                <a:tc>
                  <a:txBody>
                    <a:bodyPr/>
                    <a:lstStyle/>
                    <a:p>
                      <a:pPr algn="ctr" fontAlgn="b">
                        <a:buNone/>
                      </a:pPr>
                      <a:r>
                        <a:rPr lang="en-US" sz="900">
                          <a:effectLst/>
                          <a:latin typeface="Raleway"/>
                        </a:rPr>
                        <a:t>52</a:t>
                      </a:r>
                    </a:p>
                  </a:txBody>
                  <a:tcPr marL="9525" marR="9525" marT="9525" anchor="b">
                    <a:lnL>
                      <a:noFill/>
                    </a:lnL>
                    <a:lnR>
                      <a:noFill/>
                    </a:lnR>
                    <a:lnT>
                      <a:noFill/>
                    </a:lnT>
                    <a:lnB>
                      <a:noFill/>
                    </a:lnB>
                    <a:solidFill>
                      <a:srgbClr val="FFFFFF"/>
                    </a:solidFill>
                  </a:tcPr>
                </a:tc>
                <a:tc>
                  <a:txBody>
                    <a:bodyPr/>
                    <a:lstStyle/>
                    <a:p>
                      <a:pPr algn="ctr" fontAlgn="b">
                        <a:buNone/>
                      </a:pPr>
                      <a:endParaRPr lang="en-US" sz="900">
                        <a:effectLst/>
                        <a:latin typeface="Raleway"/>
                      </a:endParaRPr>
                    </a:p>
                  </a:txBody>
                  <a:tcPr marL="9525" marR="9525" marT="9525" anchor="b">
                    <a:lnL>
                      <a:noFill/>
                    </a:lnL>
                    <a:lnR>
                      <a:noFill/>
                    </a:lnR>
                    <a:lnT>
                      <a:noFill/>
                    </a:lnT>
                    <a:lnB>
                      <a:noFill/>
                    </a:lnB>
                    <a:solidFill>
                      <a:srgbClr val="FFFFFF"/>
                    </a:solidFill>
                  </a:tcPr>
                </a:tc>
                <a:tc>
                  <a:txBody>
                    <a:bodyPr/>
                    <a:lstStyle/>
                    <a:p>
                      <a:pPr algn="ctr" fontAlgn="b">
                        <a:buNone/>
                      </a:pPr>
                      <a:r>
                        <a:rPr lang="en-US" sz="900">
                          <a:effectLst/>
                          <a:latin typeface="Raleway"/>
                        </a:rPr>
                        <a:t>26</a:t>
                      </a:r>
                    </a:p>
                  </a:txBody>
                  <a:tcPr marL="9525" marR="9525" marT="9525" anchor="b">
                    <a:lnL>
                      <a:noFill/>
                    </a:lnL>
                    <a:lnR>
                      <a:noFill/>
                    </a:lnR>
                    <a:lnT>
                      <a:noFill/>
                    </a:lnT>
                    <a:lnB>
                      <a:noFill/>
                    </a:lnB>
                    <a:solidFill>
                      <a:srgbClr val="FFFFFF"/>
                    </a:solidFill>
                  </a:tcPr>
                </a:tc>
                <a:tc>
                  <a:txBody>
                    <a:bodyPr/>
                    <a:lstStyle/>
                    <a:p>
                      <a:pPr algn="ctr" fontAlgn="b">
                        <a:buNone/>
                      </a:pPr>
                      <a:r>
                        <a:rPr lang="en-US" sz="900">
                          <a:effectLst/>
                          <a:latin typeface="Raleway"/>
                        </a:rPr>
                        <a:t>26</a:t>
                      </a:r>
                    </a:p>
                  </a:txBody>
                  <a:tcPr marL="9525" marR="9525" marT="9525" anchor="b">
                    <a:lnL>
                      <a:noFill/>
                    </a:lnL>
                    <a:lnR>
                      <a:noFill/>
                    </a:lnR>
                    <a:lnT>
                      <a:noFill/>
                    </a:lnT>
                    <a:lnB>
                      <a:noFill/>
                    </a:lnB>
                    <a:solidFill>
                      <a:srgbClr val="FFFFFF"/>
                    </a:solidFill>
                  </a:tcPr>
                </a:tc>
                <a:tc>
                  <a:txBody>
                    <a:bodyPr/>
                    <a:lstStyle/>
                    <a:p>
                      <a:pPr algn="ctr" fontAlgn="b">
                        <a:buNone/>
                      </a:pPr>
                      <a:r>
                        <a:rPr lang="en-US" sz="900">
                          <a:effectLst/>
                          <a:latin typeface="Raleway"/>
                        </a:rPr>
                        <a:t>0</a:t>
                      </a:r>
                    </a:p>
                  </a:txBody>
                  <a:tcPr marL="9525" marR="9525" marT="9525" anchor="b">
                    <a:lnL>
                      <a:noFill/>
                    </a:lnL>
                    <a:lnR>
                      <a:noFill/>
                    </a:lnR>
                    <a:lnT>
                      <a:noFill/>
                    </a:lnT>
                    <a:lnB>
                      <a:noFill/>
                    </a:lnB>
                    <a:solidFill>
                      <a:srgbClr val="FFFFFF"/>
                    </a:solidFill>
                  </a:tcPr>
                </a:tc>
                <a:tc>
                  <a:txBody>
                    <a:bodyPr/>
                    <a:lstStyle/>
                    <a:p>
                      <a:pPr algn="ctr" fontAlgn="b">
                        <a:buNone/>
                      </a:pPr>
                      <a:r>
                        <a:rPr lang="en-US" sz="900">
                          <a:effectLst/>
                          <a:latin typeface="Raleway"/>
                        </a:rPr>
                        <a:t>50.00%</a:t>
                      </a:r>
                    </a:p>
                  </a:txBody>
                  <a:tcPr marL="9525" marR="9525" marT="9525" anchor="b">
                    <a:lnL>
                      <a:noFill/>
                    </a:lnL>
                    <a:lnR w="12700" cap="flat" cmpd="sng" algn="ctr">
                      <a:solidFill>
                        <a:srgbClr val="80C108"/>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1083527014"/>
                  </a:ext>
                </a:extLst>
              </a:tr>
              <a:tr h="248068">
                <a:tc>
                  <a:txBody>
                    <a:bodyPr/>
                    <a:lstStyle/>
                    <a:p>
                      <a:pPr fontAlgn="b">
                        <a:buNone/>
                      </a:pPr>
                      <a:r>
                        <a:rPr lang="en-US" sz="900">
                          <a:effectLst/>
                          <a:latin typeface="Raleway"/>
                        </a:rPr>
                        <a:t>Jawa Timur Bali</a:t>
                      </a:r>
                    </a:p>
                  </a:txBody>
                  <a:tcPr marL="9525" marR="9525" marT="9525" anchor="b">
                    <a:lnL w="12700" cap="flat" cmpd="sng" algn="ctr">
                      <a:solidFill>
                        <a:srgbClr val="A0D108"/>
                      </a:solidFill>
                      <a:prstDash val="solid"/>
                      <a:round/>
                      <a:headEnd type="none" w="med" len="med"/>
                      <a:tailEnd type="none" w="med" len="med"/>
                    </a:lnL>
                    <a:lnR>
                      <a:noFill/>
                    </a:lnR>
                    <a:lnT>
                      <a:noFill/>
                    </a:lnT>
                    <a:lnB>
                      <a:noFill/>
                    </a:lnB>
                    <a:solidFill>
                      <a:srgbClr val="FFFFFF"/>
                    </a:solidFill>
                  </a:tcPr>
                </a:tc>
                <a:tc>
                  <a:txBody>
                    <a:bodyPr/>
                    <a:lstStyle/>
                    <a:p>
                      <a:pPr algn="ctr" fontAlgn="b">
                        <a:buNone/>
                      </a:pPr>
                      <a:r>
                        <a:rPr lang="en-US" sz="900">
                          <a:effectLst/>
                          <a:latin typeface="Raleway"/>
                        </a:rPr>
                        <a:t>49</a:t>
                      </a:r>
                    </a:p>
                  </a:txBody>
                  <a:tcPr marL="9525" marR="9525" marT="9525" anchor="b">
                    <a:lnL>
                      <a:noFill/>
                    </a:lnL>
                    <a:lnR>
                      <a:noFill/>
                    </a:lnR>
                    <a:lnT>
                      <a:noFill/>
                    </a:lnT>
                    <a:lnB>
                      <a:noFill/>
                    </a:lnB>
                    <a:solidFill>
                      <a:srgbClr val="FFFFFF"/>
                    </a:solidFill>
                  </a:tcPr>
                </a:tc>
                <a:tc>
                  <a:txBody>
                    <a:bodyPr/>
                    <a:lstStyle/>
                    <a:p>
                      <a:pPr algn="ctr" fontAlgn="b">
                        <a:buNone/>
                      </a:pPr>
                      <a:endParaRPr lang="en-US" sz="900">
                        <a:effectLst/>
                        <a:latin typeface="Raleway"/>
                      </a:endParaRPr>
                    </a:p>
                  </a:txBody>
                  <a:tcPr marL="9525" marR="9525" marT="9525" anchor="b">
                    <a:lnL>
                      <a:noFill/>
                    </a:lnL>
                    <a:lnR>
                      <a:noFill/>
                    </a:lnR>
                    <a:lnT>
                      <a:noFill/>
                    </a:lnT>
                    <a:lnB>
                      <a:noFill/>
                    </a:lnB>
                    <a:solidFill>
                      <a:srgbClr val="FFFFFF"/>
                    </a:solidFill>
                  </a:tcPr>
                </a:tc>
                <a:tc>
                  <a:txBody>
                    <a:bodyPr/>
                    <a:lstStyle/>
                    <a:p>
                      <a:pPr algn="ctr" fontAlgn="b">
                        <a:buNone/>
                      </a:pPr>
                      <a:r>
                        <a:rPr lang="en-US" sz="900">
                          <a:effectLst/>
                          <a:latin typeface="Raleway"/>
                        </a:rPr>
                        <a:t>11</a:t>
                      </a:r>
                    </a:p>
                  </a:txBody>
                  <a:tcPr marL="9525" marR="9525" marT="9525" anchor="b">
                    <a:lnL>
                      <a:noFill/>
                    </a:lnL>
                    <a:lnR>
                      <a:noFill/>
                    </a:lnR>
                    <a:lnT>
                      <a:noFill/>
                    </a:lnT>
                    <a:lnB>
                      <a:noFill/>
                    </a:lnB>
                    <a:solidFill>
                      <a:srgbClr val="FFFFFF"/>
                    </a:solidFill>
                  </a:tcPr>
                </a:tc>
                <a:tc>
                  <a:txBody>
                    <a:bodyPr/>
                    <a:lstStyle/>
                    <a:p>
                      <a:pPr algn="ctr" fontAlgn="b">
                        <a:buNone/>
                      </a:pPr>
                      <a:r>
                        <a:rPr lang="en-US" sz="900">
                          <a:effectLst/>
                          <a:latin typeface="Raleway"/>
                        </a:rPr>
                        <a:t>38</a:t>
                      </a:r>
                    </a:p>
                  </a:txBody>
                  <a:tcPr marL="9525" marR="9525" marT="9525" anchor="b">
                    <a:lnL>
                      <a:noFill/>
                    </a:lnL>
                    <a:lnR>
                      <a:noFill/>
                    </a:lnR>
                    <a:lnT>
                      <a:noFill/>
                    </a:lnT>
                    <a:lnB>
                      <a:noFill/>
                    </a:lnB>
                    <a:solidFill>
                      <a:srgbClr val="FFFFFF"/>
                    </a:solidFill>
                  </a:tcPr>
                </a:tc>
                <a:tc>
                  <a:txBody>
                    <a:bodyPr/>
                    <a:lstStyle/>
                    <a:p>
                      <a:pPr algn="ctr" fontAlgn="b">
                        <a:buNone/>
                      </a:pPr>
                      <a:r>
                        <a:rPr lang="en-US" sz="900">
                          <a:effectLst/>
                          <a:latin typeface="Raleway"/>
                        </a:rPr>
                        <a:t>4</a:t>
                      </a:r>
                    </a:p>
                  </a:txBody>
                  <a:tcPr marL="9525" marR="9525" marT="9525" anchor="b">
                    <a:lnL>
                      <a:noFill/>
                    </a:lnL>
                    <a:lnR>
                      <a:noFill/>
                    </a:lnR>
                    <a:lnT>
                      <a:noFill/>
                    </a:lnT>
                    <a:lnB>
                      <a:noFill/>
                    </a:lnB>
                    <a:solidFill>
                      <a:srgbClr val="FFFFFF"/>
                    </a:solidFill>
                  </a:tcPr>
                </a:tc>
                <a:tc>
                  <a:txBody>
                    <a:bodyPr/>
                    <a:lstStyle/>
                    <a:p>
                      <a:pPr algn="ctr" fontAlgn="b">
                        <a:buNone/>
                      </a:pPr>
                      <a:r>
                        <a:rPr lang="en-US" sz="900">
                          <a:effectLst/>
                          <a:latin typeface="Raleway"/>
                        </a:rPr>
                        <a:t>77.55%</a:t>
                      </a:r>
                    </a:p>
                  </a:txBody>
                  <a:tcPr marL="9525" marR="9525" marT="9525" anchor="b">
                    <a:lnL>
                      <a:noFill/>
                    </a:lnL>
                    <a:lnR w="12700" cap="flat" cmpd="sng" algn="ctr">
                      <a:solidFill>
                        <a:srgbClr val="60D508"/>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199219054"/>
                  </a:ext>
                </a:extLst>
              </a:tr>
              <a:tr h="206723">
                <a:tc>
                  <a:txBody>
                    <a:bodyPr/>
                    <a:lstStyle/>
                    <a:p>
                      <a:pPr fontAlgn="b">
                        <a:buNone/>
                      </a:pPr>
                      <a:r>
                        <a:rPr lang="en-US" sz="900">
                          <a:effectLst/>
                          <a:latin typeface="Raleway"/>
                        </a:rPr>
                        <a:t>Kalimantan</a:t>
                      </a:r>
                    </a:p>
                  </a:txBody>
                  <a:tcPr marL="9525" marR="9525" marT="9525" anchor="b">
                    <a:lnL w="12700" cap="flat" cmpd="sng" algn="ctr">
                      <a:solidFill>
                        <a:srgbClr val="80D608"/>
                      </a:solidFill>
                      <a:prstDash val="solid"/>
                      <a:round/>
                      <a:headEnd type="none" w="med" len="med"/>
                      <a:tailEnd type="none" w="med" len="med"/>
                    </a:lnL>
                    <a:lnR>
                      <a:noFill/>
                    </a:lnR>
                    <a:lnT>
                      <a:noFill/>
                    </a:lnT>
                    <a:lnB>
                      <a:noFill/>
                    </a:lnB>
                    <a:solidFill>
                      <a:srgbClr val="FFFFFF"/>
                    </a:solidFill>
                  </a:tcPr>
                </a:tc>
                <a:tc>
                  <a:txBody>
                    <a:bodyPr/>
                    <a:lstStyle/>
                    <a:p>
                      <a:pPr algn="ctr" fontAlgn="b">
                        <a:buNone/>
                      </a:pPr>
                      <a:r>
                        <a:rPr lang="en-US" sz="900">
                          <a:effectLst/>
                          <a:latin typeface="Raleway"/>
                        </a:rPr>
                        <a:t>14</a:t>
                      </a:r>
                    </a:p>
                  </a:txBody>
                  <a:tcPr marL="9525" marR="9525" marT="9525" anchor="b">
                    <a:lnL>
                      <a:noFill/>
                    </a:lnL>
                    <a:lnR>
                      <a:noFill/>
                    </a:lnR>
                    <a:lnT>
                      <a:noFill/>
                    </a:lnT>
                    <a:lnB>
                      <a:noFill/>
                    </a:lnB>
                    <a:solidFill>
                      <a:srgbClr val="FFFFFF"/>
                    </a:solidFill>
                  </a:tcPr>
                </a:tc>
                <a:tc>
                  <a:txBody>
                    <a:bodyPr/>
                    <a:lstStyle/>
                    <a:p>
                      <a:pPr algn="ctr" fontAlgn="b">
                        <a:buNone/>
                      </a:pPr>
                      <a:endParaRPr lang="en-US" sz="900">
                        <a:effectLst/>
                        <a:latin typeface="Raleway"/>
                      </a:endParaRPr>
                    </a:p>
                  </a:txBody>
                  <a:tcPr marL="9525" marR="9525" marT="9525" anchor="b">
                    <a:lnL>
                      <a:noFill/>
                    </a:lnL>
                    <a:lnR>
                      <a:noFill/>
                    </a:lnR>
                    <a:lnT>
                      <a:noFill/>
                    </a:lnT>
                    <a:lnB>
                      <a:noFill/>
                    </a:lnB>
                    <a:solidFill>
                      <a:srgbClr val="FFFFFF"/>
                    </a:solidFill>
                  </a:tcPr>
                </a:tc>
                <a:tc>
                  <a:txBody>
                    <a:bodyPr/>
                    <a:lstStyle/>
                    <a:p>
                      <a:pPr algn="ctr" fontAlgn="b">
                        <a:buNone/>
                      </a:pPr>
                      <a:r>
                        <a:rPr lang="en-US" sz="900">
                          <a:effectLst/>
                          <a:latin typeface="Raleway"/>
                        </a:rPr>
                        <a:t>4</a:t>
                      </a:r>
                    </a:p>
                  </a:txBody>
                  <a:tcPr marL="9525" marR="9525" marT="9525" anchor="b">
                    <a:lnL>
                      <a:noFill/>
                    </a:lnL>
                    <a:lnR>
                      <a:noFill/>
                    </a:lnR>
                    <a:lnT>
                      <a:noFill/>
                    </a:lnT>
                    <a:lnB>
                      <a:noFill/>
                    </a:lnB>
                    <a:solidFill>
                      <a:srgbClr val="FFFFFF"/>
                    </a:solidFill>
                  </a:tcPr>
                </a:tc>
                <a:tc>
                  <a:txBody>
                    <a:bodyPr/>
                    <a:lstStyle/>
                    <a:p>
                      <a:pPr algn="ctr" fontAlgn="b">
                        <a:buNone/>
                      </a:pPr>
                      <a:r>
                        <a:rPr lang="en-US" sz="900">
                          <a:effectLst/>
                          <a:latin typeface="Raleway"/>
                        </a:rPr>
                        <a:t>10</a:t>
                      </a:r>
                    </a:p>
                  </a:txBody>
                  <a:tcPr marL="9525" marR="9525" marT="9525" anchor="b">
                    <a:lnL>
                      <a:noFill/>
                    </a:lnL>
                    <a:lnR>
                      <a:noFill/>
                    </a:lnR>
                    <a:lnT>
                      <a:noFill/>
                    </a:lnT>
                    <a:lnB>
                      <a:noFill/>
                    </a:lnB>
                    <a:solidFill>
                      <a:srgbClr val="FFFFFF"/>
                    </a:solidFill>
                  </a:tcPr>
                </a:tc>
                <a:tc>
                  <a:txBody>
                    <a:bodyPr/>
                    <a:lstStyle/>
                    <a:p>
                      <a:pPr algn="ctr" fontAlgn="b">
                        <a:buNone/>
                      </a:pPr>
                      <a:r>
                        <a:rPr lang="en-US" sz="900">
                          <a:effectLst/>
                          <a:latin typeface="Raleway"/>
                        </a:rPr>
                        <a:t>1</a:t>
                      </a:r>
                    </a:p>
                  </a:txBody>
                  <a:tcPr marL="9525" marR="9525" marT="9525" anchor="b">
                    <a:lnL>
                      <a:noFill/>
                    </a:lnL>
                    <a:lnR>
                      <a:noFill/>
                    </a:lnR>
                    <a:lnT>
                      <a:noFill/>
                    </a:lnT>
                    <a:lnB>
                      <a:noFill/>
                    </a:lnB>
                    <a:solidFill>
                      <a:srgbClr val="FFFFFF"/>
                    </a:solidFill>
                  </a:tcPr>
                </a:tc>
                <a:tc>
                  <a:txBody>
                    <a:bodyPr/>
                    <a:lstStyle/>
                    <a:p>
                      <a:pPr algn="ctr" fontAlgn="b">
                        <a:buNone/>
                      </a:pPr>
                      <a:r>
                        <a:rPr lang="en-US" sz="900">
                          <a:effectLst/>
                          <a:latin typeface="Raleway"/>
                        </a:rPr>
                        <a:t>71.43%</a:t>
                      </a:r>
                    </a:p>
                  </a:txBody>
                  <a:tcPr marL="9525" marR="9525" marT="9525" anchor="b">
                    <a:lnL>
                      <a:noFill/>
                    </a:lnL>
                    <a:lnR w="12700" cap="flat" cmpd="sng" algn="ctr">
                      <a:solidFill>
                        <a:srgbClr val="E0D308"/>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740258999"/>
                  </a:ext>
                </a:extLst>
              </a:tr>
              <a:tr h="206723">
                <a:tc>
                  <a:txBody>
                    <a:bodyPr/>
                    <a:lstStyle/>
                    <a:p>
                      <a:pPr fontAlgn="b">
                        <a:buNone/>
                      </a:pPr>
                      <a:r>
                        <a:rPr lang="en-US" sz="900" err="1">
                          <a:effectLst/>
                          <a:latin typeface="Raleway"/>
                        </a:rPr>
                        <a:t>Sulmapa</a:t>
                      </a:r>
                      <a:r>
                        <a:rPr lang="en-US" sz="900">
                          <a:effectLst/>
                          <a:latin typeface="Raleway"/>
                        </a:rPr>
                        <a:t> Nusra</a:t>
                      </a:r>
                    </a:p>
                  </a:txBody>
                  <a:tcPr marL="9525" marR="9525" marT="9525" anchor="b">
                    <a:lnL w="12700" cap="flat" cmpd="sng" algn="ctr">
                      <a:solidFill>
                        <a:srgbClr val="C0CC08"/>
                      </a:solidFill>
                      <a:prstDash val="solid"/>
                      <a:round/>
                      <a:headEnd type="none" w="med" len="med"/>
                      <a:tailEnd type="none" w="med" len="med"/>
                    </a:lnL>
                    <a:lnR>
                      <a:noFill/>
                    </a:lnR>
                    <a:lnT>
                      <a:noFill/>
                    </a:lnT>
                    <a:lnB>
                      <a:noFill/>
                    </a:lnB>
                    <a:solidFill>
                      <a:srgbClr val="FFFFFF"/>
                    </a:solidFill>
                  </a:tcPr>
                </a:tc>
                <a:tc>
                  <a:txBody>
                    <a:bodyPr/>
                    <a:lstStyle/>
                    <a:p>
                      <a:pPr algn="ctr" fontAlgn="b">
                        <a:buNone/>
                      </a:pPr>
                      <a:r>
                        <a:rPr lang="en-US" sz="900">
                          <a:effectLst/>
                          <a:latin typeface="Raleway"/>
                        </a:rPr>
                        <a:t>15</a:t>
                      </a:r>
                    </a:p>
                  </a:txBody>
                  <a:tcPr marL="9525" marR="9525" marT="9525" anchor="b">
                    <a:lnL>
                      <a:noFill/>
                    </a:lnL>
                    <a:lnR>
                      <a:noFill/>
                    </a:lnR>
                    <a:lnT>
                      <a:noFill/>
                    </a:lnT>
                    <a:lnB>
                      <a:noFill/>
                    </a:lnB>
                    <a:solidFill>
                      <a:srgbClr val="FFFFFF"/>
                    </a:solidFill>
                  </a:tcPr>
                </a:tc>
                <a:tc>
                  <a:txBody>
                    <a:bodyPr/>
                    <a:lstStyle/>
                    <a:p>
                      <a:pPr algn="ctr" fontAlgn="b">
                        <a:buNone/>
                      </a:pPr>
                      <a:endParaRPr lang="en-US" sz="900">
                        <a:effectLst/>
                        <a:latin typeface="Raleway"/>
                      </a:endParaRPr>
                    </a:p>
                  </a:txBody>
                  <a:tcPr marL="9525" marR="9525" marT="9525" anchor="b">
                    <a:lnL>
                      <a:noFill/>
                    </a:lnL>
                    <a:lnR>
                      <a:noFill/>
                    </a:lnR>
                    <a:lnT>
                      <a:noFill/>
                    </a:lnT>
                    <a:lnB>
                      <a:noFill/>
                    </a:lnB>
                    <a:solidFill>
                      <a:srgbClr val="FFFFFF"/>
                    </a:solidFill>
                  </a:tcPr>
                </a:tc>
                <a:tc>
                  <a:txBody>
                    <a:bodyPr/>
                    <a:lstStyle/>
                    <a:p>
                      <a:pPr algn="ctr" fontAlgn="b">
                        <a:buNone/>
                      </a:pPr>
                      <a:r>
                        <a:rPr lang="en-US" sz="900">
                          <a:effectLst/>
                          <a:latin typeface="Raleway"/>
                        </a:rPr>
                        <a:t>3</a:t>
                      </a:r>
                    </a:p>
                  </a:txBody>
                  <a:tcPr marL="9525" marR="9525" marT="9525" anchor="b">
                    <a:lnL>
                      <a:noFill/>
                    </a:lnL>
                    <a:lnR>
                      <a:noFill/>
                    </a:lnR>
                    <a:lnT>
                      <a:noFill/>
                    </a:lnT>
                    <a:lnB>
                      <a:noFill/>
                    </a:lnB>
                    <a:solidFill>
                      <a:srgbClr val="FFFFFF"/>
                    </a:solidFill>
                  </a:tcPr>
                </a:tc>
                <a:tc>
                  <a:txBody>
                    <a:bodyPr/>
                    <a:lstStyle/>
                    <a:p>
                      <a:pPr algn="ctr" fontAlgn="b">
                        <a:buNone/>
                      </a:pPr>
                      <a:r>
                        <a:rPr lang="en-US" sz="900">
                          <a:effectLst/>
                          <a:latin typeface="Raleway"/>
                        </a:rPr>
                        <a:t>12</a:t>
                      </a:r>
                    </a:p>
                  </a:txBody>
                  <a:tcPr marL="9525" marR="9525" marT="9525" anchor="b">
                    <a:lnL>
                      <a:noFill/>
                    </a:lnL>
                    <a:lnR>
                      <a:noFill/>
                    </a:lnR>
                    <a:lnT>
                      <a:noFill/>
                    </a:lnT>
                    <a:lnB>
                      <a:noFill/>
                    </a:lnB>
                    <a:solidFill>
                      <a:srgbClr val="FFFFFF"/>
                    </a:solidFill>
                  </a:tcPr>
                </a:tc>
                <a:tc>
                  <a:txBody>
                    <a:bodyPr/>
                    <a:lstStyle/>
                    <a:p>
                      <a:pPr algn="ctr" fontAlgn="b">
                        <a:buNone/>
                      </a:pPr>
                      <a:r>
                        <a:rPr lang="en-US" sz="900">
                          <a:effectLst/>
                          <a:latin typeface="Raleway"/>
                        </a:rPr>
                        <a:t>1</a:t>
                      </a:r>
                    </a:p>
                  </a:txBody>
                  <a:tcPr marL="9525" marR="9525" marT="9525" anchor="b">
                    <a:lnL>
                      <a:noFill/>
                    </a:lnL>
                    <a:lnR>
                      <a:noFill/>
                    </a:lnR>
                    <a:lnT>
                      <a:noFill/>
                    </a:lnT>
                    <a:lnB>
                      <a:noFill/>
                    </a:lnB>
                    <a:solidFill>
                      <a:srgbClr val="FFFFFF"/>
                    </a:solidFill>
                  </a:tcPr>
                </a:tc>
                <a:tc>
                  <a:txBody>
                    <a:bodyPr/>
                    <a:lstStyle/>
                    <a:p>
                      <a:pPr algn="ctr" fontAlgn="b">
                        <a:buNone/>
                      </a:pPr>
                      <a:r>
                        <a:rPr lang="en-US" sz="900">
                          <a:effectLst/>
                          <a:latin typeface="Raleway"/>
                        </a:rPr>
                        <a:t>80.00%</a:t>
                      </a:r>
                    </a:p>
                  </a:txBody>
                  <a:tcPr marL="9525" marR="9525" marT="9525" anchor="b">
                    <a:lnL>
                      <a:noFill/>
                    </a:lnL>
                    <a:lnR w="12700" cap="flat" cmpd="sng" algn="ctr">
                      <a:solidFill>
                        <a:srgbClr val="80CD08"/>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55356803"/>
                  </a:ext>
                </a:extLst>
              </a:tr>
              <a:tr h="206723">
                <a:tc>
                  <a:txBody>
                    <a:bodyPr/>
                    <a:lstStyle/>
                    <a:p>
                      <a:pPr fontAlgn="b">
                        <a:buNone/>
                      </a:pPr>
                      <a:r>
                        <a:rPr lang="en-US" sz="900" err="1">
                          <a:effectLst/>
                          <a:latin typeface="Raleway"/>
                        </a:rPr>
                        <a:t>Sumbagsel</a:t>
                      </a:r>
                    </a:p>
                  </a:txBody>
                  <a:tcPr marL="9525" marR="9525" marT="9525" anchor="b">
                    <a:lnL w="12700" cap="flat" cmpd="sng" algn="ctr">
                      <a:solidFill>
                        <a:srgbClr val="A0CE08"/>
                      </a:solidFill>
                      <a:prstDash val="solid"/>
                      <a:round/>
                      <a:headEnd type="none" w="med" len="med"/>
                      <a:tailEnd type="none" w="med" len="med"/>
                    </a:lnL>
                    <a:lnR>
                      <a:noFill/>
                    </a:lnR>
                    <a:lnT>
                      <a:noFill/>
                    </a:lnT>
                    <a:lnB>
                      <a:noFill/>
                    </a:lnB>
                    <a:solidFill>
                      <a:srgbClr val="FFFFFF"/>
                    </a:solidFill>
                  </a:tcPr>
                </a:tc>
                <a:tc>
                  <a:txBody>
                    <a:bodyPr/>
                    <a:lstStyle/>
                    <a:p>
                      <a:pPr algn="ctr" fontAlgn="b">
                        <a:buNone/>
                      </a:pPr>
                      <a:r>
                        <a:rPr lang="en-US" sz="900">
                          <a:effectLst/>
                          <a:latin typeface="Raleway"/>
                        </a:rPr>
                        <a:t>14</a:t>
                      </a:r>
                    </a:p>
                  </a:txBody>
                  <a:tcPr marL="9525" marR="9525" marT="9525" anchor="b">
                    <a:lnL>
                      <a:noFill/>
                    </a:lnL>
                    <a:lnR>
                      <a:noFill/>
                    </a:lnR>
                    <a:lnT>
                      <a:noFill/>
                    </a:lnT>
                    <a:lnB>
                      <a:noFill/>
                    </a:lnB>
                    <a:solidFill>
                      <a:srgbClr val="FFFFFF"/>
                    </a:solidFill>
                  </a:tcPr>
                </a:tc>
                <a:tc>
                  <a:txBody>
                    <a:bodyPr/>
                    <a:lstStyle/>
                    <a:p>
                      <a:pPr algn="ctr" fontAlgn="b">
                        <a:buNone/>
                      </a:pPr>
                      <a:endParaRPr lang="en-US" sz="900">
                        <a:effectLst/>
                        <a:latin typeface="Raleway"/>
                      </a:endParaRPr>
                    </a:p>
                  </a:txBody>
                  <a:tcPr marL="9525" marR="9525" marT="9525" anchor="b">
                    <a:lnL>
                      <a:noFill/>
                    </a:lnL>
                    <a:lnR>
                      <a:noFill/>
                    </a:lnR>
                    <a:lnT>
                      <a:noFill/>
                    </a:lnT>
                    <a:lnB>
                      <a:noFill/>
                    </a:lnB>
                    <a:solidFill>
                      <a:srgbClr val="FFFFFF"/>
                    </a:solidFill>
                  </a:tcPr>
                </a:tc>
                <a:tc>
                  <a:txBody>
                    <a:bodyPr/>
                    <a:lstStyle/>
                    <a:p>
                      <a:pPr algn="ctr" fontAlgn="b">
                        <a:buNone/>
                      </a:pPr>
                      <a:r>
                        <a:rPr lang="en-US" sz="900">
                          <a:effectLst/>
                          <a:latin typeface="Raleway"/>
                        </a:rPr>
                        <a:t>1</a:t>
                      </a:r>
                    </a:p>
                  </a:txBody>
                  <a:tcPr marL="9525" marR="9525" marT="9525" anchor="b">
                    <a:lnL>
                      <a:noFill/>
                    </a:lnL>
                    <a:lnR>
                      <a:noFill/>
                    </a:lnR>
                    <a:lnT>
                      <a:noFill/>
                    </a:lnT>
                    <a:lnB>
                      <a:noFill/>
                    </a:lnB>
                    <a:solidFill>
                      <a:srgbClr val="FFFFFF"/>
                    </a:solidFill>
                  </a:tcPr>
                </a:tc>
                <a:tc>
                  <a:txBody>
                    <a:bodyPr/>
                    <a:lstStyle/>
                    <a:p>
                      <a:pPr algn="ctr" fontAlgn="b">
                        <a:buNone/>
                      </a:pPr>
                      <a:r>
                        <a:rPr lang="en-US" sz="900">
                          <a:effectLst/>
                          <a:latin typeface="Raleway"/>
                        </a:rPr>
                        <a:t>13</a:t>
                      </a:r>
                    </a:p>
                  </a:txBody>
                  <a:tcPr marL="9525" marR="9525" marT="9525" anchor="b">
                    <a:lnL>
                      <a:noFill/>
                    </a:lnL>
                    <a:lnR>
                      <a:noFill/>
                    </a:lnR>
                    <a:lnT>
                      <a:noFill/>
                    </a:lnT>
                    <a:lnB>
                      <a:noFill/>
                    </a:lnB>
                    <a:solidFill>
                      <a:srgbClr val="FFFFFF"/>
                    </a:solidFill>
                  </a:tcPr>
                </a:tc>
                <a:tc>
                  <a:txBody>
                    <a:bodyPr/>
                    <a:lstStyle/>
                    <a:p>
                      <a:pPr algn="ctr" fontAlgn="b">
                        <a:buNone/>
                      </a:pPr>
                      <a:r>
                        <a:rPr lang="en-US" sz="900">
                          <a:effectLst/>
                          <a:latin typeface="Raleway"/>
                        </a:rPr>
                        <a:t>0</a:t>
                      </a:r>
                    </a:p>
                  </a:txBody>
                  <a:tcPr marL="9525" marR="9525" marT="9525" anchor="b">
                    <a:lnL>
                      <a:noFill/>
                    </a:lnL>
                    <a:lnR>
                      <a:noFill/>
                    </a:lnR>
                    <a:lnT>
                      <a:noFill/>
                    </a:lnT>
                    <a:lnB>
                      <a:noFill/>
                    </a:lnB>
                    <a:solidFill>
                      <a:srgbClr val="FFFFFF"/>
                    </a:solidFill>
                  </a:tcPr>
                </a:tc>
                <a:tc>
                  <a:txBody>
                    <a:bodyPr/>
                    <a:lstStyle/>
                    <a:p>
                      <a:pPr algn="ctr" fontAlgn="b">
                        <a:buNone/>
                      </a:pPr>
                      <a:r>
                        <a:rPr lang="en-US" sz="900">
                          <a:effectLst/>
                          <a:latin typeface="Raleway"/>
                        </a:rPr>
                        <a:t>92.86%</a:t>
                      </a:r>
                    </a:p>
                  </a:txBody>
                  <a:tcPr marL="9525" marR="9525" marT="9525" anchor="b">
                    <a:lnL>
                      <a:noFill/>
                    </a:lnL>
                    <a:lnR w="12700" cap="flat" cmpd="sng" algn="ctr">
                      <a:solidFill>
                        <a:srgbClr val="20C408"/>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594358494"/>
                  </a:ext>
                </a:extLst>
              </a:tr>
              <a:tr h="206723">
                <a:tc>
                  <a:txBody>
                    <a:bodyPr/>
                    <a:lstStyle/>
                    <a:p>
                      <a:pPr fontAlgn="b">
                        <a:buNone/>
                      </a:pPr>
                      <a:r>
                        <a:rPr lang="en-US" sz="900" err="1">
                          <a:effectLst/>
                          <a:latin typeface="Raleway"/>
                        </a:rPr>
                        <a:t>Sumbagut</a:t>
                      </a:r>
                    </a:p>
                  </a:txBody>
                  <a:tcPr marL="9525" marR="9525" marT="9525" anchor="b">
                    <a:lnL w="12700" cap="flat" cmpd="sng" algn="ctr">
                      <a:solidFill>
                        <a:srgbClr val="00D808"/>
                      </a:solidFill>
                      <a:prstDash val="solid"/>
                      <a:round/>
                      <a:headEnd type="none" w="med" len="med"/>
                      <a:tailEnd type="none" w="med" len="med"/>
                    </a:lnL>
                    <a:lnR>
                      <a:noFill/>
                    </a:lnR>
                    <a:lnT>
                      <a:noFill/>
                    </a:lnT>
                    <a:lnB w="12700" cap="flat" cmpd="sng" algn="ctr">
                      <a:solidFill>
                        <a:srgbClr val="00D808"/>
                      </a:solidFill>
                      <a:prstDash val="solid"/>
                      <a:round/>
                      <a:headEnd type="none" w="med" len="med"/>
                      <a:tailEnd type="none" w="med" len="med"/>
                    </a:lnB>
                    <a:solidFill>
                      <a:srgbClr val="FFFFFF"/>
                    </a:solidFill>
                  </a:tcPr>
                </a:tc>
                <a:tc>
                  <a:txBody>
                    <a:bodyPr/>
                    <a:lstStyle/>
                    <a:p>
                      <a:pPr algn="ctr" fontAlgn="b">
                        <a:buNone/>
                      </a:pPr>
                      <a:r>
                        <a:rPr lang="en-US" sz="900">
                          <a:effectLst/>
                          <a:latin typeface="Raleway"/>
                        </a:rPr>
                        <a:t>18</a:t>
                      </a:r>
                    </a:p>
                  </a:txBody>
                  <a:tcPr marL="9525" marR="9525" marT="9525" anchor="b">
                    <a:lnL>
                      <a:noFill/>
                    </a:lnL>
                    <a:lnR>
                      <a:noFill/>
                    </a:lnR>
                    <a:lnT>
                      <a:noFill/>
                    </a:lnT>
                    <a:lnB w="12700" cap="flat" cmpd="sng" algn="ctr">
                      <a:solidFill>
                        <a:srgbClr val="106C43"/>
                      </a:solidFill>
                      <a:prstDash val="solid"/>
                      <a:round/>
                      <a:headEnd type="none" w="med" len="med"/>
                      <a:tailEnd type="none" w="med" len="med"/>
                    </a:lnB>
                    <a:solidFill>
                      <a:srgbClr val="FFFFFF"/>
                    </a:solidFill>
                  </a:tcPr>
                </a:tc>
                <a:tc>
                  <a:txBody>
                    <a:bodyPr/>
                    <a:lstStyle/>
                    <a:p>
                      <a:pPr algn="ctr" fontAlgn="b">
                        <a:buNone/>
                      </a:pPr>
                      <a:endParaRPr lang="en-US" sz="900">
                        <a:effectLst/>
                        <a:latin typeface="Raleway"/>
                      </a:endParaRPr>
                    </a:p>
                  </a:txBody>
                  <a:tcPr marL="9525" marR="9525" marT="9525" anchor="b">
                    <a:lnL>
                      <a:noFill/>
                    </a:lnL>
                    <a:lnR>
                      <a:noFill/>
                    </a:lnR>
                    <a:lnT>
                      <a:noFill/>
                    </a:lnT>
                    <a:lnB w="12700" cap="flat" cmpd="sng" algn="ctr">
                      <a:solidFill>
                        <a:srgbClr val="007743"/>
                      </a:solidFill>
                      <a:prstDash val="solid"/>
                      <a:round/>
                      <a:headEnd type="none" w="med" len="med"/>
                      <a:tailEnd type="none" w="med" len="med"/>
                    </a:lnB>
                    <a:solidFill>
                      <a:srgbClr val="FFFFFF"/>
                    </a:solidFill>
                  </a:tcPr>
                </a:tc>
                <a:tc>
                  <a:txBody>
                    <a:bodyPr/>
                    <a:lstStyle/>
                    <a:p>
                      <a:pPr algn="ctr" fontAlgn="b">
                        <a:buNone/>
                      </a:pPr>
                      <a:r>
                        <a:rPr lang="en-US" sz="900">
                          <a:effectLst/>
                          <a:latin typeface="Raleway"/>
                        </a:rPr>
                        <a:t>3</a:t>
                      </a:r>
                    </a:p>
                  </a:txBody>
                  <a:tcPr marL="9525" marR="9525" marT="9525" anchor="b">
                    <a:lnL>
                      <a:noFill/>
                    </a:lnL>
                    <a:lnR>
                      <a:noFill/>
                    </a:lnR>
                    <a:lnT>
                      <a:noFill/>
                    </a:lnT>
                    <a:lnB w="12700" cap="flat" cmpd="sng" algn="ctr">
                      <a:solidFill>
                        <a:srgbClr val="007243"/>
                      </a:solidFill>
                      <a:prstDash val="solid"/>
                      <a:round/>
                      <a:headEnd type="none" w="med" len="med"/>
                      <a:tailEnd type="none" w="med" len="med"/>
                    </a:lnB>
                    <a:solidFill>
                      <a:srgbClr val="FFFFFF"/>
                    </a:solidFill>
                  </a:tcPr>
                </a:tc>
                <a:tc>
                  <a:txBody>
                    <a:bodyPr/>
                    <a:lstStyle/>
                    <a:p>
                      <a:pPr algn="ctr" fontAlgn="b">
                        <a:buNone/>
                      </a:pPr>
                      <a:r>
                        <a:rPr lang="en-US" sz="900">
                          <a:effectLst/>
                          <a:latin typeface="Raleway"/>
                        </a:rPr>
                        <a:t>15</a:t>
                      </a:r>
                    </a:p>
                  </a:txBody>
                  <a:tcPr marL="9525" marR="9525" marT="9525" anchor="b">
                    <a:lnL>
                      <a:noFill/>
                    </a:lnL>
                    <a:lnR>
                      <a:noFill/>
                    </a:lnR>
                    <a:lnT>
                      <a:noFill/>
                    </a:lnT>
                    <a:lnB w="12700" cap="flat" cmpd="sng" algn="ctr">
                      <a:solidFill>
                        <a:srgbClr val="406943"/>
                      </a:solidFill>
                      <a:prstDash val="solid"/>
                      <a:round/>
                      <a:headEnd type="none" w="med" len="med"/>
                      <a:tailEnd type="none" w="med" len="med"/>
                    </a:lnB>
                    <a:solidFill>
                      <a:srgbClr val="FFFFFF"/>
                    </a:solidFill>
                  </a:tcPr>
                </a:tc>
                <a:tc>
                  <a:txBody>
                    <a:bodyPr/>
                    <a:lstStyle/>
                    <a:p>
                      <a:pPr algn="ctr" fontAlgn="b">
                        <a:buNone/>
                      </a:pPr>
                      <a:r>
                        <a:rPr lang="en-US" sz="900">
                          <a:effectLst/>
                          <a:latin typeface="Raleway"/>
                        </a:rPr>
                        <a:t>0</a:t>
                      </a:r>
                    </a:p>
                  </a:txBody>
                  <a:tcPr marL="9525" marR="9525" marT="9525" anchor="b">
                    <a:lnL>
                      <a:noFill/>
                    </a:lnL>
                    <a:lnR>
                      <a:noFill/>
                    </a:lnR>
                    <a:lnT>
                      <a:noFill/>
                    </a:lnT>
                    <a:lnB w="12700" cap="flat" cmpd="sng" algn="ctr">
                      <a:solidFill>
                        <a:srgbClr val="D06543"/>
                      </a:solidFill>
                      <a:prstDash val="solid"/>
                      <a:round/>
                      <a:headEnd type="none" w="med" len="med"/>
                      <a:tailEnd type="none" w="med" len="med"/>
                    </a:lnB>
                    <a:solidFill>
                      <a:srgbClr val="FFFFFF"/>
                    </a:solidFill>
                  </a:tcPr>
                </a:tc>
                <a:tc>
                  <a:txBody>
                    <a:bodyPr/>
                    <a:lstStyle/>
                    <a:p>
                      <a:pPr algn="ctr" fontAlgn="b">
                        <a:buNone/>
                      </a:pPr>
                      <a:r>
                        <a:rPr lang="en-US" sz="900">
                          <a:effectLst/>
                          <a:latin typeface="Raleway"/>
                        </a:rPr>
                        <a:t>83.33%</a:t>
                      </a:r>
                    </a:p>
                  </a:txBody>
                  <a:tcPr marL="9525" marR="9525" marT="9525" anchor="b">
                    <a:lnL>
                      <a:noFill/>
                    </a:lnL>
                    <a:lnR w="12700" cap="flat" cmpd="sng" algn="ctr">
                      <a:solidFill>
                        <a:srgbClr val="00C308"/>
                      </a:solidFill>
                      <a:prstDash val="solid"/>
                      <a:round/>
                      <a:headEnd type="none" w="med" len="med"/>
                      <a:tailEnd type="none" w="med" len="med"/>
                    </a:lnR>
                    <a:lnT>
                      <a:noFill/>
                    </a:lnT>
                    <a:lnB w="12700" cap="flat" cmpd="sng" algn="ctr">
                      <a:solidFill>
                        <a:srgbClr val="00C308"/>
                      </a:solidFill>
                      <a:prstDash val="solid"/>
                      <a:round/>
                      <a:headEnd type="none" w="med" len="med"/>
                      <a:tailEnd type="none" w="med" len="med"/>
                    </a:lnB>
                    <a:solidFill>
                      <a:srgbClr val="FFFFFF"/>
                    </a:solidFill>
                  </a:tcPr>
                </a:tc>
                <a:extLst>
                  <a:ext uri="{0D108BD9-81ED-4DB2-BD59-A6C34878D82A}">
                    <a16:rowId xmlns:a16="http://schemas.microsoft.com/office/drawing/2014/main" val="2036962350"/>
                  </a:ext>
                </a:extLst>
              </a:tr>
            </a:tbl>
          </a:graphicData>
        </a:graphic>
      </p:graphicFrame>
      <p:graphicFrame>
        <p:nvGraphicFramePr>
          <p:cNvPr id="17" name="Table 16">
            <a:extLst>
              <a:ext uri="{FF2B5EF4-FFF2-40B4-BE49-F238E27FC236}">
                <a16:creationId xmlns:a16="http://schemas.microsoft.com/office/drawing/2014/main" id="{D939EF15-F5B0-6D59-82C2-32FC88BFFFD0}"/>
              </a:ext>
            </a:extLst>
          </p:cNvPr>
          <p:cNvGraphicFramePr>
            <a:graphicFrameLocks noGrp="1"/>
          </p:cNvGraphicFramePr>
          <p:nvPr/>
        </p:nvGraphicFramePr>
        <p:xfrm>
          <a:off x="753640" y="1112858"/>
          <a:ext cx="5548079" cy="2610966"/>
        </p:xfrm>
        <a:graphic>
          <a:graphicData uri="http://schemas.openxmlformats.org/drawingml/2006/table">
            <a:tbl>
              <a:tblPr bandRow="1">
                <a:tableStyleId>{5C22544A-7EE6-4342-B048-85BDC9FD1C3A}</a:tableStyleId>
              </a:tblPr>
              <a:tblGrid>
                <a:gridCol w="1042225">
                  <a:extLst>
                    <a:ext uri="{9D8B030D-6E8A-4147-A177-3AD203B41FA5}">
                      <a16:colId xmlns:a16="http://schemas.microsoft.com/office/drawing/2014/main" val="4241912273"/>
                    </a:ext>
                  </a:extLst>
                </a:gridCol>
                <a:gridCol w="415322">
                  <a:extLst>
                    <a:ext uri="{9D8B030D-6E8A-4147-A177-3AD203B41FA5}">
                      <a16:colId xmlns:a16="http://schemas.microsoft.com/office/drawing/2014/main" val="4268855437"/>
                    </a:ext>
                  </a:extLst>
                </a:gridCol>
                <a:gridCol w="415322">
                  <a:extLst>
                    <a:ext uri="{9D8B030D-6E8A-4147-A177-3AD203B41FA5}">
                      <a16:colId xmlns:a16="http://schemas.microsoft.com/office/drawing/2014/main" val="2187028438"/>
                    </a:ext>
                  </a:extLst>
                </a:gridCol>
                <a:gridCol w="376139">
                  <a:extLst>
                    <a:ext uri="{9D8B030D-6E8A-4147-A177-3AD203B41FA5}">
                      <a16:colId xmlns:a16="http://schemas.microsoft.com/office/drawing/2014/main" val="3810402283"/>
                    </a:ext>
                  </a:extLst>
                </a:gridCol>
                <a:gridCol w="336959">
                  <a:extLst>
                    <a:ext uri="{9D8B030D-6E8A-4147-A177-3AD203B41FA5}">
                      <a16:colId xmlns:a16="http://schemas.microsoft.com/office/drawing/2014/main" val="3026891457"/>
                    </a:ext>
                  </a:extLst>
                </a:gridCol>
                <a:gridCol w="642574">
                  <a:extLst>
                    <a:ext uri="{9D8B030D-6E8A-4147-A177-3AD203B41FA5}">
                      <a16:colId xmlns:a16="http://schemas.microsoft.com/office/drawing/2014/main" val="2491012982"/>
                    </a:ext>
                  </a:extLst>
                </a:gridCol>
                <a:gridCol w="720938">
                  <a:extLst>
                    <a:ext uri="{9D8B030D-6E8A-4147-A177-3AD203B41FA5}">
                      <a16:colId xmlns:a16="http://schemas.microsoft.com/office/drawing/2014/main" val="186850374"/>
                    </a:ext>
                  </a:extLst>
                </a:gridCol>
                <a:gridCol w="846318">
                  <a:extLst>
                    <a:ext uri="{9D8B030D-6E8A-4147-A177-3AD203B41FA5}">
                      <a16:colId xmlns:a16="http://schemas.microsoft.com/office/drawing/2014/main" val="177101951"/>
                    </a:ext>
                  </a:extLst>
                </a:gridCol>
                <a:gridCol w="752282">
                  <a:extLst>
                    <a:ext uri="{9D8B030D-6E8A-4147-A177-3AD203B41FA5}">
                      <a16:colId xmlns:a16="http://schemas.microsoft.com/office/drawing/2014/main" val="199074532"/>
                    </a:ext>
                  </a:extLst>
                </a:gridCol>
              </a:tblGrid>
              <a:tr h="197158">
                <a:tc rowSpan="2">
                  <a:txBody>
                    <a:bodyPr/>
                    <a:lstStyle/>
                    <a:p>
                      <a:pPr algn="ctr" rtl="0" fontAlgn="ctr">
                        <a:buNone/>
                      </a:pPr>
                      <a:r>
                        <a:rPr lang="en-US" sz="900" b="1">
                          <a:solidFill>
                            <a:srgbClr val="FFFFFF"/>
                          </a:solidFill>
                          <a:effectLst/>
                          <a:latin typeface="Raleway"/>
                        </a:rPr>
                        <a:t>Region (RSM)</a:t>
                      </a:r>
                    </a:p>
                  </a:txBody>
                  <a:tcPr marL="9525" marR="9525" marT="9525" anchor="ctr">
                    <a:lnL w="12700" cap="flat" cmpd="sng" algn="ctr">
                      <a:solidFill>
                        <a:srgbClr val="80429C"/>
                      </a:solidFill>
                      <a:prstDash val="solid"/>
                      <a:round/>
                      <a:headEnd type="none" w="med" len="med"/>
                      <a:tailEnd type="none" w="med" len="med"/>
                    </a:lnL>
                    <a:lnR>
                      <a:noFill/>
                    </a:lnR>
                    <a:lnT w="12700" cap="flat" cmpd="sng" algn="ctr">
                      <a:solidFill>
                        <a:srgbClr val="80429C"/>
                      </a:solidFill>
                      <a:prstDash val="solid"/>
                      <a:round/>
                      <a:headEnd type="none" w="med" len="med"/>
                      <a:tailEnd type="none" w="med" len="med"/>
                    </a:lnT>
                    <a:lnB>
                      <a:noFill/>
                    </a:lnB>
                    <a:solidFill>
                      <a:srgbClr val="002060"/>
                    </a:solidFill>
                  </a:tcPr>
                </a:tc>
                <a:tc gridSpan="5">
                  <a:txBody>
                    <a:bodyPr/>
                    <a:lstStyle/>
                    <a:p>
                      <a:pPr algn="ctr" rtl="0" fontAlgn="ctr">
                        <a:buNone/>
                      </a:pPr>
                      <a:r>
                        <a:rPr lang="en-US" sz="900" b="1" err="1">
                          <a:solidFill>
                            <a:srgbClr val="FFFFFF"/>
                          </a:solidFill>
                          <a:effectLst/>
                          <a:latin typeface="Raleway"/>
                        </a:rPr>
                        <a:t>Gelombang</a:t>
                      </a:r>
                    </a:p>
                  </a:txBody>
                  <a:tcPr marL="9525" marR="9525" marT="9525" anchor="ctr">
                    <a:lnL>
                      <a:noFill/>
                    </a:lnL>
                    <a:lnR>
                      <a:noFill/>
                    </a:lnR>
                    <a:lnT w="12700" cap="flat" cmpd="sng" algn="ctr">
                      <a:solidFill>
                        <a:srgbClr val="F0DAB5"/>
                      </a:solidFill>
                      <a:prstDash val="solid"/>
                      <a:round/>
                      <a:headEnd type="none" w="med" len="med"/>
                      <a:tailEnd type="none" w="med" len="med"/>
                    </a:lnT>
                    <a:lnB>
                      <a:noFill/>
                    </a:lnB>
                    <a:solidFill>
                      <a:srgbClr val="002060"/>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rowSpan="2">
                  <a:txBody>
                    <a:bodyPr/>
                    <a:lstStyle/>
                    <a:p>
                      <a:pPr algn="ctr" rtl="0" fontAlgn="ctr">
                        <a:buNone/>
                      </a:pPr>
                      <a:r>
                        <a:rPr lang="en-US" sz="900" b="1">
                          <a:solidFill>
                            <a:srgbClr val="FFFFFF"/>
                          </a:solidFill>
                          <a:effectLst/>
                          <a:latin typeface="Raleway"/>
                        </a:rPr>
                        <a:t>FPTK Priority</a:t>
                      </a:r>
                    </a:p>
                  </a:txBody>
                  <a:tcPr marL="9525" marR="9525" marT="9525" anchor="ctr">
                    <a:lnL>
                      <a:noFill/>
                    </a:lnL>
                    <a:lnR>
                      <a:noFill/>
                    </a:lnR>
                    <a:lnT w="12700" cap="flat" cmpd="sng" algn="ctr">
                      <a:solidFill>
                        <a:srgbClr val="30E8B5"/>
                      </a:solidFill>
                      <a:prstDash val="solid"/>
                      <a:round/>
                      <a:headEnd type="none" w="med" len="med"/>
                      <a:tailEnd type="none" w="med" len="med"/>
                    </a:lnT>
                    <a:lnB>
                      <a:noFill/>
                    </a:lnB>
                    <a:solidFill>
                      <a:srgbClr val="002060"/>
                    </a:solidFill>
                  </a:tcPr>
                </a:tc>
                <a:tc rowSpan="2">
                  <a:txBody>
                    <a:bodyPr/>
                    <a:lstStyle/>
                    <a:p>
                      <a:pPr algn="ctr" rtl="0" fontAlgn="ctr">
                        <a:buNone/>
                      </a:pPr>
                      <a:r>
                        <a:rPr lang="en-US" sz="900" b="1">
                          <a:solidFill>
                            <a:srgbClr val="FFFFFF"/>
                          </a:solidFill>
                          <a:effectLst/>
                          <a:latin typeface="Raleway"/>
                        </a:rPr>
                        <a:t>Replacement</a:t>
                      </a:r>
                    </a:p>
                  </a:txBody>
                  <a:tcPr marL="9525" marR="9525" marT="9525" anchor="ctr">
                    <a:lnL>
                      <a:noFill/>
                    </a:lnL>
                    <a:lnR>
                      <a:noFill/>
                    </a:lnR>
                    <a:lnT w="12700" cap="flat" cmpd="sng" algn="ctr">
                      <a:solidFill>
                        <a:srgbClr val="B0D9B5"/>
                      </a:solidFill>
                      <a:prstDash val="solid"/>
                      <a:round/>
                      <a:headEnd type="none" w="med" len="med"/>
                      <a:tailEnd type="none" w="med" len="med"/>
                    </a:lnT>
                    <a:lnB>
                      <a:noFill/>
                    </a:lnB>
                    <a:solidFill>
                      <a:srgbClr val="002060"/>
                    </a:solidFill>
                  </a:tcPr>
                </a:tc>
                <a:tc rowSpan="2">
                  <a:txBody>
                    <a:bodyPr/>
                    <a:lstStyle/>
                    <a:p>
                      <a:pPr algn="ctr" rtl="0" fontAlgn="ctr">
                        <a:buNone/>
                      </a:pPr>
                      <a:r>
                        <a:rPr lang="en-US" sz="900" b="1">
                          <a:solidFill>
                            <a:srgbClr val="FFFFFF"/>
                          </a:solidFill>
                          <a:effectLst/>
                          <a:latin typeface="Raleway"/>
                        </a:rPr>
                        <a:t>Grand Total</a:t>
                      </a:r>
                    </a:p>
                  </a:txBody>
                  <a:tcPr marL="9525" marR="9525" marT="9525" anchor="ctr">
                    <a:lnL>
                      <a:noFill/>
                    </a:lnL>
                    <a:lnR w="12700" cap="flat" cmpd="sng" algn="ctr">
                      <a:solidFill>
                        <a:srgbClr val="F0E2B5"/>
                      </a:solidFill>
                      <a:prstDash val="solid"/>
                      <a:round/>
                      <a:headEnd type="none" w="med" len="med"/>
                      <a:tailEnd type="none" w="med" len="med"/>
                    </a:lnR>
                    <a:lnT w="12700" cap="flat" cmpd="sng" algn="ctr">
                      <a:solidFill>
                        <a:srgbClr val="F0E2B5"/>
                      </a:solidFill>
                      <a:prstDash val="solid"/>
                      <a:round/>
                      <a:headEnd type="none" w="med" len="med"/>
                      <a:tailEnd type="none" w="med" len="med"/>
                    </a:lnT>
                    <a:lnB>
                      <a:noFill/>
                    </a:lnB>
                    <a:solidFill>
                      <a:srgbClr val="002060"/>
                    </a:solidFill>
                  </a:tcPr>
                </a:tc>
                <a:extLst>
                  <a:ext uri="{0D108BD9-81ED-4DB2-BD59-A6C34878D82A}">
                    <a16:rowId xmlns:a16="http://schemas.microsoft.com/office/drawing/2014/main" val="3960825121"/>
                  </a:ext>
                </a:extLst>
              </a:tr>
              <a:tr h="197158">
                <a:tc vMerge="1">
                  <a:txBody>
                    <a:bodyPr/>
                    <a:lstStyle/>
                    <a:p>
                      <a:endParaRPr lang="en-US"/>
                    </a:p>
                  </a:txBody>
                  <a:tcPr/>
                </a:tc>
                <a:tc>
                  <a:txBody>
                    <a:bodyPr/>
                    <a:lstStyle/>
                    <a:p>
                      <a:pPr algn="ctr" rtl="0" fontAlgn="ctr">
                        <a:buNone/>
                      </a:pPr>
                      <a:r>
                        <a:rPr lang="en-US" sz="900" b="1">
                          <a:solidFill>
                            <a:srgbClr val="FFFFFF"/>
                          </a:solidFill>
                          <a:effectLst/>
                          <a:latin typeface="Raleway"/>
                        </a:rPr>
                        <a:t>1</a:t>
                      </a:r>
                    </a:p>
                  </a:txBody>
                  <a:tcPr marL="9525" marR="9525" marT="9525" anchor="ctr">
                    <a:lnL>
                      <a:noFill/>
                    </a:lnL>
                    <a:lnR>
                      <a:noFill/>
                    </a:lnR>
                    <a:lnT>
                      <a:noFill/>
                    </a:lnT>
                    <a:lnB w="12700" cap="flat" cmpd="sng" algn="ctr">
                      <a:solidFill>
                        <a:srgbClr val="D0659C"/>
                      </a:solidFill>
                      <a:prstDash val="solid"/>
                      <a:round/>
                      <a:headEnd type="none" w="med" len="med"/>
                      <a:tailEnd type="none" w="med" len="med"/>
                    </a:lnB>
                    <a:solidFill>
                      <a:srgbClr val="002060"/>
                    </a:solidFill>
                  </a:tcPr>
                </a:tc>
                <a:tc>
                  <a:txBody>
                    <a:bodyPr/>
                    <a:lstStyle/>
                    <a:p>
                      <a:pPr algn="ctr" rtl="0" fontAlgn="ctr">
                        <a:buNone/>
                      </a:pPr>
                      <a:r>
                        <a:rPr lang="en-US" sz="900" b="1">
                          <a:solidFill>
                            <a:srgbClr val="FFFFFF"/>
                          </a:solidFill>
                          <a:effectLst/>
                          <a:latin typeface="Raleway"/>
                        </a:rPr>
                        <a:t>2</a:t>
                      </a:r>
                    </a:p>
                  </a:txBody>
                  <a:tcPr marL="9525" marR="9525" marT="9525" anchor="ctr">
                    <a:lnL>
                      <a:noFill/>
                    </a:lnL>
                    <a:lnR>
                      <a:noFill/>
                    </a:lnR>
                    <a:lnT>
                      <a:noFill/>
                    </a:lnT>
                    <a:lnB w="12700" cap="flat" cmpd="sng" algn="ctr">
                      <a:solidFill>
                        <a:srgbClr val="90559C"/>
                      </a:solidFill>
                      <a:prstDash val="solid"/>
                      <a:round/>
                      <a:headEnd type="none" w="med" len="med"/>
                      <a:tailEnd type="none" w="med" len="med"/>
                    </a:lnB>
                    <a:solidFill>
                      <a:srgbClr val="002060"/>
                    </a:solidFill>
                  </a:tcPr>
                </a:tc>
                <a:tc>
                  <a:txBody>
                    <a:bodyPr/>
                    <a:lstStyle/>
                    <a:p>
                      <a:pPr algn="ctr" rtl="0" fontAlgn="ctr">
                        <a:buNone/>
                      </a:pPr>
                      <a:r>
                        <a:rPr lang="en-US" sz="900" b="1">
                          <a:solidFill>
                            <a:srgbClr val="FFFFFF"/>
                          </a:solidFill>
                          <a:effectLst/>
                          <a:latin typeface="Raleway"/>
                        </a:rPr>
                        <a:t>3</a:t>
                      </a:r>
                    </a:p>
                  </a:txBody>
                  <a:tcPr marL="9525" marR="9525" marT="9525" anchor="ctr">
                    <a:lnL>
                      <a:noFill/>
                    </a:lnL>
                    <a:lnR>
                      <a:noFill/>
                    </a:lnR>
                    <a:lnT>
                      <a:noFill/>
                    </a:lnT>
                    <a:lnB w="12700" cap="flat" cmpd="sng" algn="ctr">
                      <a:solidFill>
                        <a:srgbClr val="50599C"/>
                      </a:solidFill>
                      <a:prstDash val="solid"/>
                      <a:round/>
                      <a:headEnd type="none" w="med" len="med"/>
                      <a:tailEnd type="none" w="med" len="med"/>
                    </a:lnB>
                    <a:solidFill>
                      <a:srgbClr val="002060"/>
                    </a:solidFill>
                  </a:tcPr>
                </a:tc>
                <a:tc>
                  <a:txBody>
                    <a:bodyPr/>
                    <a:lstStyle/>
                    <a:p>
                      <a:pPr algn="ctr" rtl="0" fontAlgn="ctr">
                        <a:buNone/>
                      </a:pPr>
                      <a:r>
                        <a:rPr lang="en-US" sz="900" b="1">
                          <a:solidFill>
                            <a:srgbClr val="FFFFFF"/>
                          </a:solidFill>
                          <a:effectLst/>
                          <a:latin typeface="Raleway"/>
                        </a:rPr>
                        <a:t>4</a:t>
                      </a:r>
                    </a:p>
                  </a:txBody>
                  <a:tcPr marL="9525" marR="9525" marT="9525" anchor="ctr">
                    <a:lnL>
                      <a:noFill/>
                    </a:lnL>
                    <a:lnR>
                      <a:noFill/>
                    </a:lnR>
                    <a:lnT>
                      <a:noFill/>
                    </a:lnT>
                    <a:lnB w="12700" cap="flat" cmpd="sng" algn="ctr">
                      <a:solidFill>
                        <a:srgbClr val="C05C9C"/>
                      </a:solidFill>
                      <a:prstDash val="solid"/>
                      <a:round/>
                      <a:headEnd type="none" w="med" len="med"/>
                      <a:tailEnd type="none" w="med" len="med"/>
                    </a:lnB>
                    <a:solidFill>
                      <a:srgbClr val="002060"/>
                    </a:solidFill>
                  </a:tcPr>
                </a:tc>
                <a:tc>
                  <a:txBody>
                    <a:bodyPr/>
                    <a:lstStyle/>
                    <a:p>
                      <a:pPr algn="ctr" rtl="0" fontAlgn="ctr">
                        <a:buNone/>
                      </a:pPr>
                      <a:r>
                        <a:rPr lang="en-US" sz="900" b="1">
                          <a:solidFill>
                            <a:srgbClr val="FFFFFF"/>
                          </a:solidFill>
                          <a:effectLst/>
                          <a:latin typeface="Raleway"/>
                        </a:rPr>
                        <a:t>5</a:t>
                      </a:r>
                    </a:p>
                  </a:txBody>
                  <a:tcPr marL="9525" marR="9525" marT="9525" anchor="ctr">
                    <a:lnL>
                      <a:noFill/>
                    </a:lnL>
                    <a:lnR>
                      <a:noFill/>
                    </a:lnR>
                    <a:lnT>
                      <a:noFill/>
                    </a:lnT>
                    <a:lnB w="12700" cap="flat" cmpd="sng" algn="ctr">
                      <a:solidFill>
                        <a:srgbClr val="90559C"/>
                      </a:solidFill>
                      <a:prstDash val="solid"/>
                      <a:round/>
                      <a:headEnd type="none" w="med" len="med"/>
                      <a:tailEnd type="none" w="med" len="med"/>
                    </a:lnB>
                    <a:solidFill>
                      <a:srgbClr val="002060"/>
                    </a:solidFill>
                  </a:tcPr>
                </a:tc>
                <a:tc vMerge="1">
                  <a:txBody>
                    <a:bodyPr/>
                    <a:lstStyle/>
                    <a:p>
                      <a:endParaRPr lang="en-US"/>
                    </a:p>
                  </a:txBody>
                  <a:tcPr/>
                </a:tc>
                <a:tc vMerge="1">
                  <a:txBody>
                    <a:bodyPr/>
                    <a:lstStyle/>
                    <a:p>
                      <a:endParaRPr lang="en-US"/>
                    </a:p>
                  </a:txBody>
                  <a:tcPr/>
                </a:tc>
                <a:tc vMerge="1">
                  <a:txBody>
                    <a:bodyPr/>
                    <a:lstStyle/>
                    <a:p>
                      <a:endParaRPr lang="en-US"/>
                    </a:p>
                  </a:txBody>
                  <a:tcPr/>
                </a:tc>
                <a:extLst>
                  <a:ext uri="{0D108BD9-81ED-4DB2-BD59-A6C34878D82A}">
                    <a16:rowId xmlns:a16="http://schemas.microsoft.com/office/drawing/2014/main" val="3453650459"/>
                  </a:ext>
                </a:extLst>
              </a:tr>
              <a:tr h="309821">
                <a:tc>
                  <a:txBody>
                    <a:bodyPr/>
                    <a:lstStyle/>
                    <a:p>
                      <a:pPr fontAlgn="ctr">
                        <a:buNone/>
                      </a:pPr>
                      <a:r>
                        <a:rPr lang="en-US" sz="900" err="1">
                          <a:effectLst/>
                          <a:latin typeface="Raleway"/>
                        </a:rPr>
                        <a:t>Jabodetabek</a:t>
                      </a:r>
                      <a:r>
                        <a:rPr lang="en-US" sz="900">
                          <a:effectLst/>
                          <a:latin typeface="Raleway"/>
                        </a:rPr>
                        <a:t> &amp; Banten</a:t>
                      </a:r>
                    </a:p>
                  </a:txBody>
                  <a:tcPr marL="9525" marR="9525" marT="9525" anchor="ctr">
                    <a:lnL w="12700" cap="flat" cmpd="sng" algn="ctr">
                      <a:solidFill>
                        <a:srgbClr val="F0C993"/>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r>
                        <a:rPr lang="en-US" sz="900">
                          <a:effectLst/>
                          <a:latin typeface="Raleway"/>
                        </a:rPr>
                        <a:t>26</a:t>
                      </a:r>
                    </a:p>
                  </a:txBody>
                  <a:tcPr marL="9525" marR="9525" marT="9525" anchor="ctr">
                    <a:lnL>
                      <a:noFill/>
                    </a:lnL>
                    <a:lnR>
                      <a:noFill/>
                    </a:lnR>
                    <a:lnT w="12700" cap="flat" cmpd="sng" algn="ctr">
                      <a:solidFill>
                        <a:srgbClr val="D0659C"/>
                      </a:solidFill>
                      <a:prstDash val="solid"/>
                      <a:round/>
                      <a:headEnd type="none" w="med" len="med"/>
                      <a:tailEnd type="none" w="med" len="med"/>
                    </a:lnT>
                    <a:lnB>
                      <a:noFill/>
                    </a:lnB>
                    <a:solidFill>
                      <a:srgbClr val="FFFFFF"/>
                    </a:solidFill>
                  </a:tcPr>
                </a:tc>
                <a:tc>
                  <a:txBody>
                    <a:bodyPr/>
                    <a:lstStyle/>
                    <a:p>
                      <a:pPr algn="ctr" fontAlgn="ctr">
                        <a:buNone/>
                      </a:pPr>
                      <a:endParaRPr lang="en-US" sz="900">
                        <a:effectLst/>
                        <a:latin typeface="Raleway"/>
                      </a:endParaRPr>
                    </a:p>
                  </a:txBody>
                  <a:tcPr marL="9525" marR="9525" marT="9525" anchor="ctr">
                    <a:lnL>
                      <a:noFill/>
                    </a:lnL>
                    <a:lnR>
                      <a:noFill/>
                    </a:lnR>
                    <a:lnT w="12700" cap="flat" cmpd="sng" algn="ctr">
                      <a:solidFill>
                        <a:srgbClr val="90559C"/>
                      </a:solidFill>
                      <a:prstDash val="solid"/>
                      <a:round/>
                      <a:headEnd type="none" w="med" len="med"/>
                      <a:tailEnd type="none" w="med" len="med"/>
                    </a:lnT>
                    <a:lnB>
                      <a:noFill/>
                    </a:lnB>
                    <a:solidFill>
                      <a:srgbClr val="FFFFFF"/>
                    </a:solidFill>
                  </a:tcPr>
                </a:tc>
                <a:tc>
                  <a:txBody>
                    <a:bodyPr/>
                    <a:lstStyle/>
                    <a:p>
                      <a:pPr algn="ctr" fontAlgn="ctr">
                        <a:buNone/>
                      </a:pPr>
                      <a:endParaRPr lang="en-US" sz="900">
                        <a:effectLst/>
                        <a:latin typeface="Raleway"/>
                      </a:endParaRPr>
                    </a:p>
                  </a:txBody>
                  <a:tcPr marL="9525" marR="9525" marT="9525" anchor="ctr">
                    <a:lnL>
                      <a:noFill/>
                    </a:lnL>
                    <a:lnR>
                      <a:noFill/>
                    </a:lnR>
                    <a:lnT w="12700" cap="flat" cmpd="sng" algn="ctr">
                      <a:solidFill>
                        <a:srgbClr val="50599C"/>
                      </a:solidFill>
                      <a:prstDash val="solid"/>
                      <a:round/>
                      <a:headEnd type="none" w="med" len="med"/>
                      <a:tailEnd type="none" w="med" len="med"/>
                    </a:lnT>
                    <a:lnB>
                      <a:noFill/>
                    </a:lnB>
                    <a:solidFill>
                      <a:srgbClr val="FFFFFF"/>
                    </a:solidFill>
                  </a:tcPr>
                </a:tc>
                <a:tc>
                  <a:txBody>
                    <a:bodyPr/>
                    <a:lstStyle/>
                    <a:p>
                      <a:pPr algn="ctr" fontAlgn="ctr">
                        <a:buNone/>
                      </a:pPr>
                      <a:r>
                        <a:rPr lang="en-US" sz="900">
                          <a:effectLst/>
                          <a:latin typeface="Raleway"/>
                        </a:rPr>
                        <a:t>17</a:t>
                      </a:r>
                    </a:p>
                  </a:txBody>
                  <a:tcPr marL="9525" marR="9525" marT="9525" anchor="ctr">
                    <a:lnL>
                      <a:noFill/>
                    </a:lnL>
                    <a:lnR>
                      <a:noFill/>
                    </a:lnR>
                    <a:lnT w="12700" cap="flat" cmpd="sng" algn="ctr">
                      <a:solidFill>
                        <a:srgbClr val="C05C9C"/>
                      </a:solidFill>
                      <a:prstDash val="solid"/>
                      <a:round/>
                      <a:headEnd type="none" w="med" len="med"/>
                      <a:tailEnd type="none" w="med" len="med"/>
                    </a:lnT>
                    <a:lnB>
                      <a:noFill/>
                    </a:lnB>
                    <a:solidFill>
                      <a:srgbClr val="FFFFFF"/>
                    </a:solidFill>
                  </a:tcPr>
                </a:tc>
                <a:tc>
                  <a:txBody>
                    <a:bodyPr/>
                    <a:lstStyle/>
                    <a:p>
                      <a:pPr algn="ctr" fontAlgn="ctr">
                        <a:buNone/>
                      </a:pPr>
                      <a:r>
                        <a:rPr lang="en-US" sz="900">
                          <a:effectLst/>
                          <a:latin typeface="Raleway"/>
                        </a:rPr>
                        <a:t>7</a:t>
                      </a:r>
                    </a:p>
                  </a:txBody>
                  <a:tcPr marL="9525" marR="9525" marT="9525" anchor="ctr">
                    <a:lnL>
                      <a:noFill/>
                    </a:lnL>
                    <a:lnR>
                      <a:noFill/>
                    </a:lnR>
                    <a:lnT w="12700" cap="flat" cmpd="sng" algn="ctr">
                      <a:solidFill>
                        <a:srgbClr val="90559C"/>
                      </a:solidFill>
                      <a:prstDash val="solid"/>
                      <a:round/>
                      <a:headEnd type="none" w="med" len="med"/>
                      <a:tailEnd type="none" w="med" len="med"/>
                    </a:lnT>
                    <a:lnB>
                      <a:noFill/>
                    </a:lnB>
                    <a:solidFill>
                      <a:srgbClr val="FFFFFF"/>
                    </a:solidFill>
                  </a:tcPr>
                </a:tc>
                <a:tc>
                  <a:txBody>
                    <a:bodyPr/>
                    <a:lstStyle/>
                    <a:p>
                      <a:pPr algn="ctr" fontAlgn="ctr">
                        <a:buNone/>
                      </a:pPr>
                      <a:r>
                        <a:rPr lang="en-US" sz="900">
                          <a:effectLst/>
                          <a:latin typeface="Raleway"/>
                        </a:rPr>
                        <a:t>20</a:t>
                      </a: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71</a:t>
                      </a:r>
                    </a:p>
                  </a:txBody>
                  <a:tcPr marL="9525" marR="9525" marT="9525" anchor="ctr">
                    <a:lnL>
                      <a:noFill/>
                    </a:lnL>
                    <a:lnR w="12700" cap="flat" cmpd="sng" algn="ctr">
                      <a:solidFill>
                        <a:srgbClr val="90D293"/>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752275056"/>
                  </a:ext>
                </a:extLst>
              </a:tr>
              <a:tr h="506979">
                <a:tc>
                  <a:txBody>
                    <a:bodyPr/>
                    <a:lstStyle/>
                    <a:p>
                      <a:pPr fontAlgn="ctr">
                        <a:buNone/>
                      </a:pPr>
                      <a:r>
                        <a:rPr lang="en-US" sz="900">
                          <a:effectLst/>
                          <a:latin typeface="Raleway"/>
                        </a:rPr>
                        <a:t>Jawa Barat</a:t>
                      </a:r>
                    </a:p>
                  </a:txBody>
                  <a:tcPr marL="9525" marR="9525" marT="9525" anchor="ctr">
                    <a:lnL w="12700" cap="flat" cmpd="sng" algn="ctr">
                      <a:solidFill>
                        <a:srgbClr val="F0C993"/>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r>
                        <a:rPr lang="en-US" sz="900">
                          <a:effectLst/>
                          <a:latin typeface="Raleway"/>
                        </a:rPr>
                        <a:t>5</a:t>
                      </a: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7</a:t>
                      </a:r>
                    </a:p>
                  </a:txBody>
                  <a:tcPr marL="9525" marR="9525" marT="9525" anchor="ctr">
                    <a:lnL>
                      <a:noFill/>
                    </a:lnL>
                    <a:lnR>
                      <a:noFill/>
                    </a:lnR>
                    <a:lnT>
                      <a:noFill/>
                    </a:lnT>
                    <a:lnB>
                      <a:noFill/>
                    </a:lnB>
                    <a:solidFill>
                      <a:srgbClr val="FFFFFF"/>
                    </a:solidFill>
                  </a:tcPr>
                </a:tc>
                <a:tc>
                  <a:txBody>
                    <a:bodyPr/>
                    <a:lstStyle/>
                    <a:p>
                      <a:pPr algn="ctr" fontAlgn="ctr">
                        <a:buNone/>
                      </a:pPr>
                      <a:endParaRPr lang="en-US" sz="900">
                        <a:effectLst/>
                        <a:latin typeface="Raleway"/>
                      </a:endParaRP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15</a:t>
                      </a: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8</a:t>
                      </a:r>
                    </a:p>
                  </a:txBody>
                  <a:tcPr marL="9525" marR="9525" marT="9525" anchor="ctr">
                    <a:lnL>
                      <a:noFill/>
                    </a:lnL>
                    <a:lnR>
                      <a:noFill/>
                    </a:lnR>
                    <a:lnT>
                      <a:noFill/>
                    </a:lnT>
                    <a:lnB>
                      <a:noFill/>
                    </a:lnB>
                    <a:solidFill>
                      <a:srgbClr val="FFFFFF"/>
                    </a:solidFill>
                  </a:tcPr>
                </a:tc>
                <a:tc>
                  <a:txBody>
                    <a:bodyPr/>
                    <a:lstStyle/>
                    <a:p>
                      <a:pPr algn="ctr" fontAlgn="ctr">
                        <a:buNone/>
                      </a:pPr>
                      <a:endParaRPr lang="en-US" sz="900">
                        <a:effectLst/>
                        <a:latin typeface="Raleway"/>
                      </a:endParaRP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37</a:t>
                      </a:r>
                    </a:p>
                  </a:txBody>
                  <a:tcPr marL="9525" marR="9525" marT="9525" anchor="ctr">
                    <a:lnL>
                      <a:noFill/>
                    </a:lnL>
                    <a:lnR w="12700" cap="flat" cmpd="sng" algn="ctr">
                      <a:solidFill>
                        <a:srgbClr val="90C393"/>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842624589"/>
                  </a:ext>
                </a:extLst>
              </a:tr>
              <a:tr h="197158">
                <a:tc>
                  <a:txBody>
                    <a:bodyPr/>
                    <a:lstStyle/>
                    <a:p>
                      <a:pPr fontAlgn="ctr">
                        <a:buNone/>
                      </a:pPr>
                      <a:r>
                        <a:rPr lang="en-US" sz="900">
                          <a:effectLst/>
                          <a:latin typeface="Raleway"/>
                        </a:rPr>
                        <a:t>Jawa Tengah &amp; DIY</a:t>
                      </a:r>
                    </a:p>
                  </a:txBody>
                  <a:tcPr marL="9525" marR="9525" marT="9525" anchor="ctr">
                    <a:lnL w="12700" cap="flat" cmpd="sng" algn="ctr">
                      <a:solidFill>
                        <a:srgbClr val="D0CB93"/>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r>
                        <a:rPr lang="en-US" sz="900">
                          <a:effectLst/>
                          <a:latin typeface="Raleway"/>
                        </a:rPr>
                        <a:t>7</a:t>
                      </a: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10</a:t>
                      </a:r>
                    </a:p>
                  </a:txBody>
                  <a:tcPr marL="9525" marR="9525" marT="9525" anchor="ctr">
                    <a:lnL>
                      <a:noFill/>
                    </a:lnL>
                    <a:lnR>
                      <a:noFill/>
                    </a:lnR>
                    <a:lnT>
                      <a:noFill/>
                    </a:lnT>
                    <a:lnB>
                      <a:noFill/>
                    </a:lnB>
                    <a:solidFill>
                      <a:srgbClr val="FFFFFF"/>
                    </a:solidFill>
                  </a:tcPr>
                </a:tc>
                <a:tc>
                  <a:txBody>
                    <a:bodyPr/>
                    <a:lstStyle/>
                    <a:p>
                      <a:pPr algn="ctr" fontAlgn="ctr">
                        <a:buNone/>
                      </a:pPr>
                      <a:endParaRPr lang="en-US" sz="900">
                        <a:effectLst/>
                        <a:latin typeface="Raleway"/>
                      </a:endParaRP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18</a:t>
                      </a: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14</a:t>
                      </a:r>
                    </a:p>
                  </a:txBody>
                  <a:tcPr marL="9525" marR="9525" marT="9525" anchor="ctr">
                    <a:lnL>
                      <a:noFill/>
                    </a:lnL>
                    <a:lnR>
                      <a:noFill/>
                    </a:lnR>
                    <a:lnT>
                      <a:noFill/>
                    </a:lnT>
                    <a:lnB>
                      <a:noFill/>
                    </a:lnB>
                    <a:solidFill>
                      <a:srgbClr val="FFFFFF"/>
                    </a:solidFill>
                  </a:tcPr>
                </a:tc>
                <a:tc>
                  <a:txBody>
                    <a:bodyPr/>
                    <a:lstStyle/>
                    <a:p>
                      <a:pPr algn="ctr" fontAlgn="ctr">
                        <a:buNone/>
                      </a:pPr>
                      <a:endParaRPr lang="en-US" sz="900">
                        <a:effectLst/>
                        <a:latin typeface="Raleway"/>
                      </a:endParaRP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3</a:t>
                      </a: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52</a:t>
                      </a:r>
                    </a:p>
                  </a:txBody>
                  <a:tcPr marL="9525" marR="9525" marT="9525" anchor="ctr">
                    <a:lnL>
                      <a:noFill/>
                    </a:lnL>
                    <a:lnR w="12700" cap="flat" cmpd="sng" algn="ctr">
                      <a:solidFill>
                        <a:srgbClr val="90CF93"/>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419267163"/>
                  </a:ext>
                </a:extLst>
              </a:tr>
              <a:tr h="197158">
                <a:tc>
                  <a:txBody>
                    <a:bodyPr/>
                    <a:lstStyle/>
                    <a:p>
                      <a:pPr fontAlgn="ctr">
                        <a:buNone/>
                      </a:pPr>
                      <a:r>
                        <a:rPr lang="en-US" sz="900">
                          <a:effectLst/>
                          <a:latin typeface="Raleway"/>
                        </a:rPr>
                        <a:t>Jawa Timur Bali</a:t>
                      </a:r>
                    </a:p>
                  </a:txBody>
                  <a:tcPr marL="9525" marR="9525" marT="9525" anchor="ctr">
                    <a:lnL w="12700" cap="flat" cmpd="sng" algn="ctr">
                      <a:solidFill>
                        <a:srgbClr val="D0CE93"/>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r>
                        <a:rPr lang="en-US" sz="900">
                          <a:effectLst/>
                          <a:latin typeface="Raleway"/>
                        </a:rPr>
                        <a:t>8</a:t>
                      </a: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20</a:t>
                      </a:r>
                    </a:p>
                  </a:txBody>
                  <a:tcPr marL="9525" marR="9525" marT="9525" anchor="ctr">
                    <a:lnL>
                      <a:noFill/>
                    </a:lnL>
                    <a:lnR>
                      <a:noFill/>
                    </a:lnR>
                    <a:lnT>
                      <a:noFill/>
                    </a:lnT>
                    <a:lnB>
                      <a:noFill/>
                    </a:lnB>
                    <a:solidFill>
                      <a:srgbClr val="FFFFFF"/>
                    </a:solidFill>
                  </a:tcPr>
                </a:tc>
                <a:tc>
                  <a:txBody>
                    <a:bodyPr/>
                    <a:lstStyle/>
                    <a:p>
                      <a:pPr algn="ctr" fontAlgn="ctr">
                        <a:buNone/>
                      </a:pPr>
                      <a:endParaRPr lang="en-US" sz="900">
                        <a:effectLst/>
                        <a:latin typeface="Raleway"/>
                      </a:endParaRP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8</a:t>
                      </a: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4</a:t>
                      </a:r>
                    </a:p>
                  </a:txBody>
                  <a:tcPr marL="9525" marR="9525" marT="9525" anchor="ctr">
                    <a:lnL>
                      <a:noFill/>
                    </a:lnL>
                    <a:lnR>
                      <a:noFill/>
                    </a:lnR>
                    <a:lnT>
                      <a:noFill/>
                    </a:lnT>
                    <a:lnB>
                      <a:noFill/>
                    </a:lnB>
                    <a:solidFill>
                      <a:srgbClr val="FFFFFF"/>
                    </a:solidFill>
                  </a:tcPr>
                </a:tc>
                <a:tc>
                  <a:txBody>
                    <a:bodyPr/>
                    <a:lstStyle/>
                    <a:p>
                      <a:pPr algn="ctr" fontAlgn="ctr">
                        <a:buNone/>
                      </a:pPr>
                      <a:endParaRPr lang="en-US" sz="900">
                        <a:effectLst/>
                        <a:latin typeface="Raleway"/>
                      </a:endParaRP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9</a:t>
                      </a: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49</a:t>
                      </a:r>
                    </a:p>
                  </a:txBody>
                  <a:tcPr marL="9525" marR="9525" marT="9525" anchor="ctr">
                    <a:lnL>
                      <a:noFill/>
                    </a:lnL>
                    <a:lnR w="12700" cap="flat" cmpd="sng" algn="ctr">
                      <a:solidFill>
                        <a:srgbClr val="30C693"/>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761077114"/>
                  </a:ext>
                </a:extLst>
              </a:tr>
              <a:tr h="197158">
                <a:tc>
                  <a:txBody>
                    <a:bodyPr/>
                    <a:lstStyle/>
                    <a:p>
                      <a:pPr fontAlgn="ctr">
                        <a:buNone/>
                      </a:pPr>
                      <a:r>
                        <a:rPr lang="en-US" sz="900">
                          <a:effectLst/>
                          <a:latin typeface="Raleway"/>
                        </a:rPr>
                        <a:t>Kalimantan</a:t>
                      </a:r>
                    </a:p>
                  </a:txBody>
                  <a:tcPr marL="9525" marR="9525" marT="9525" anchor="ctr">
                    <a:lnL w="12700" cap="flat" cmpd="sng" algn="ctr">
                      <a:solidFill>
                        <a:srgbClr val="50D393"/>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endParaRPr lang="en-US" sz="900">
                        <a:effectLst/>
                        <a:latin typeface="Raleway"/>
                      </a:endParaRPr>
                    </a:p>
                  </a:txBody>
                  <a:tcPr marL="9525" marR="9525" marT="9525" anchor="ctr">
                    <a:lnL>
                      <a:noFill/>
                    </a:lnL>
                    <a:lnR>
                      <a:noFill/>
                    </a:lnR>
                    <a:lnT>
                      <a:noFill/>
                    </a:lnT>
                    <a:lnB>
                      <a:noFill/>
                    </a:lnB>
                    <a:solidFill>
                      <a:srgbClr val="FFFFFF"/>
                    </a:solidFill>
                  </a:tcPr>
                </a:tc>
                <a:tc>
                  <a:txBody>
                    <a:bodyPr/>
                    <a:lstStyle/>
                    <a:p>
                      <a:pPr algn="ctr" fontAlgn="ctr">
                        <a:buNone/>
                      </a:pPr>
                      <a:endParaRPr lang="en-US" sz="900">
                        <a:effectLst/>
                        <a:latin typeface="Raleway"/>
                      </a:endParaRP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5</a:t>
                      </a:r>
                    </a:p>
                  </a:txBody>
                  <a:tcPr marL="9525" marR="9525" marT="9525" anchor="ctr">
                    <a:lnL>
                      <a:noFill/>
                    </a:lnL>
                    <a:lnR>
                      <a:noFill/>
                    </a:lnR>
                    <a:lnT>
                      <a:noFill/>
                    </a:lnT>
                    <a:lnB>
                      <a:noFill/>
                    </a:lnB>
                    <a:solidFill>
                      <a:srgbClr val="FFFFFF"/>
                    </a:solidFill>
                  </a:tcPr>
                </a:tc>
                <a:tc>
                  <a:txBody>
                    <a:bodyPr/>
                    <a:lstStyle/>
                    <a:p>
                      <a:pPr algn="ctr" fontAlgn="ctr">
                        <a:buNone/>
                      </a:pPr>
                      <a:endParaRPr lang="en-US" sz="900">
                        <a:effectLst/>
                        <a:latin typeface="Raleway"/>
                      </a:endParaRP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6</a:t>
                      </a:r>
                    </a:p>
                  </a:txBody>
                  <a:tcPr marL="9525" marR="9525" marT="9525" anchor="ctr">
                    <a:lnL>
                      <a:noFill/>
                    </a:lnL>
                    <a:lnR>
                      <a:noFill/>
                    </a:lnR>
                    <a:lnT>
                      <a:noFill/>
                    </a:lnT>
                    <a:lnB>
                      <a:noFill/>
                    </a:lnB>
                    <a:solidFill>
                      <a:srgbClr val="FFFFFF"/>
                    </a:solidFill>
                  </a:tcPr>
                </a:tc>
                <a:tc>
                  <a:txBody>
                    <a:bodyPr/>
                    <a:lstStyle/>
                    <a:p>
                      <a:pPr algn="ctr" fontAlgn="ctr">
                        <a:buNone/>
                      </a:pPr>
                      <a:endParaRPr lang="en-US" sz="900">
                        <a:effectLst/>
                        <a:latin typeface="Raleway"/>
                      </a:endParaRP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3</a:t>
                      </a: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14</a:t>
                      </a:r>
                    </a:p>
                  </a:txBody>
                  <a:tcPr marL="9525" marR="9525" marT="9525" anchor="ctr">
                    <a:lnL>
                      <a:noFill/>
                    </a:lnL>
                    <a:lnR w="12700" cap="flat" cmpd="sng" algn="ctr">
                      <a:solidFill>
                        <a:srgbClr val="50D093"/>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1659213356"/>
                  </a:ext>
                </a:extLst>
              </a:tr>
              <a:tr h="197158">
                <a:tc>
                  <a:txBody>
                    <a:bodyPr/>
                    <a:lstStyle/>
                    <a:p>
                      <a:pPr fontAlgn="ctr">
                        <a:buNone/>
                      </a:pPr>
                      <a:r>
                        <a:rPr lang="en-US" sz="900" err="1">
                          <a:effectLst/>
                          <a:latin typeface="Raleway"/>
                        </a:rPr>
                        <a:t>Sulmapa</a:t>
                      </a:r>
                      <a:r>
                        <a:rPr lang="en-US" sz="900">
                          <a:effectLst/>
                          <a:latin typeface="Raleway"/>
                        </a:rPr>
                        <a:t> Nusra</a:t>
                      </a:r>
                    </a:p>
                  </a:txBody>
                  <a:tcPr marL="9525" marR="9525" marT="9525" anchor="ctr">
                    <a:lnL w="12700" cap="flat" cmpd="sng" algn="ctr">
                      <a:solidFill>
                        <a:srgbClr val="90D893"/>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endParaRPr lang="en-US" sz="900">
                        <a:effectLst/>
                        <a:latin typeface="Raleway"/>
                      </a:endParaRPr>
                    </a:p>
                  </a:txBody>
                  <a:tcPr marL="9525" marR="9525" marT="9525" anchor="ctr">
                    <a:lnL>
                      <a:noFill/>
                    </a:lnL>
                    <a:lnR>
                      <a:noFill/>
                    </a:lnR>
                    <a:lnT>
                      <a:noFill/>
                    </a:lnT>
                    <a:lnB>
                      <a:noFill/>
                    </a:lnB>
                    <a:solidFill>
                      <a:srgbClr val="FFFFFF"/>
                    </a:solidFill>
                  </a:tcPr>
                </a:tc>
                <a:tc>
                  <a:txBody>
                    <a:bodyPr/>
                    <a:lstStyle/>
                    <a:p>
                      <a:pPr algn="ctr" fontAlgn="ctr">
                        <a:buNone/>
                      </a:pPr>
                      <a:endParaRPr lang="en-US" sz="900">
                        <a:effectLst/>
                        <a:latin typeface="Raleway"/>
                      </a:endParaRP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11</a:t>
                      </a:r>
                    </a:p>
                  </a:txBody>
                  <a:tcPr marL="9525" marR="9525" marT="9525" anchor="ctr">
                    <a:lnL>
                      <a:noFill/>
                    </a:lnL>
                    <a:lnR>
                      <a:noFill/>
                    </a:lnR>
                    <a:lnT>
                      <a:noFill/>
                    </a:lnT>
                    <a:lnB>
                      <a:noFill/>
                    </a:lnB>
                    <a:solidFill>
                      <a:srgbClr val="FFFFFF"/>
                    </a:solidFill>
                  </a:tcPr>
                </a:tc>
                <a:tc>
                  <a:txBody>
                    <a:bodyPr/>
                    <a:lstStyle/>
                    <a:p>
                      <a:pPr algn="ctr" fontAlgn="ctr">
                        <a:buNone/>
                      </a:pPr>
                      <a:endParaRPr lang="en-US" sz="900">
                        <a:effectLst/>
                        <a:latin typeface="Raleway"/>
                      </a:endParaRP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solidFill>
                      <a:srgbClr val="FFFFFF"/>
                    </a:solidFill>
                  </a:tcPr>
                </a:tc>
                <a:tc>
                  <a:txBody>
                    <a:bodyPr/>
                    <a:lstStyle/>
                    <a:p>
                      <a:pPr algn="ctr" fontAlgn="ctr">
                        <a:buNone/>
                      </a:pPr>
                      <a:endParaRPr lang="en-US" sz="900">
                        <a:effectLst/>
                        <a:latin typeface="Raleway"/>
                      </a:endParaRP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15</a:t>
                      </a:r>
                    </a:p>
                  </a:txBody>
                  <a:tcPr marL="9525" marR="9525" marT="9525" anchor="ctr">
                    <a:lnL>
                      <a:noFill/>
                    </a:lnL>
                    <a:lnR w="12700" cap="flat" cmpd="sng" algn="ctr">
                      <a:solidFill>
                        <a:srgbClr val="90C393"/>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81893424"/>
                  </a:ext>
                </a:extLst>
              </a:tr>
              <a:tr h="197158">
                <a:tc>
                  <a:txBody>
                    <a:bodyPr/>
                    <a:lstStyle/>
                    <a:p>
                      <a:pPr fontAlgn="ctr">
                        <a:buNone/>
                      </a:pPr>
                      <a:r>
                        <a:rPr lang="en-US" sz="900" err="1">
                          <a:effectLst/>
                          <a:latin typeface="Raleway"/>
                        </a:rPr>
                        <a:t>Sumbagsel</a:t>
                      </a:r>
                    </a:p>
                  </a:txBody>
                  <a:tcPr marL="9525" marR="9525" marT="9525" anchor="ctr">
                    <a:lnL w="12700" cap="flat" cmpd="sng" algn="ctr">
                      <a:solidFill>
                        <a:srgbClr val="30C693"/>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endParaRPr lang="en-US" sz="900">
                        <a:effectLst/>
                        <a:latin typeface="Raleway"/>
                      </a:endParaRPr>
                    </a:p>
                  </a:txBody>
                  <a:tcPr marL="9525" marR="9525" marT="9525" anchor="ctr">
                    <a:lnL>
                      <a:noFill/>
                    </a:lnL>
                    <a:lnR>
                      <a:noFill/>
                    </a:lnR>
                    <a:lnT>
                      <a:noFill/>
                    </a:lnT>
                    <a:lnB>
                      <a:noFill/>
                    </a:lnB>
                    <a:solidFill>
                      <a:srgbClr val="FFFFFF"/>
                    </a:solidFill>
                  </a:tcPr>
                </a:tc>
                <a:tc>
                  <a:txBody>
                    <a:bodyPr/>
                    <a:lstStyle/>
                    <a:p>
                      <a:pPr algn="ctr" fontAlgn="ctr">
                        <a:buNone/>
                      </a:pPr>
                      <a:endParaRPr lang="en-US" sz="900">
                        <a:effectLst/>
                        <a:latin typeface="Raleway"/>
                      </a:endParaRP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3</a:t>
                      </a:r>
                    </a:p>
                  </a:txBody>
                  <a:tcPr marL="9525" marR="9525" marT="9525" anchor="ctr">
                    <a:lnL>
                      <a:noFill/>
                    </a:lnL>
                    <a:lnR>
                      <a:noFill/>
                    </a:lnR>
                    <a:lnT>
                      <a:noFill/>
                    </a:lnT>
                    <a:lnB>
                      <a:noFill/>
                    </a:lnB>
                    <a:solidFill>
                      <a:srgbClr val="FFFFFF"/>
                    </a:solidFill>
                  </a:tcPr>
                </a:tc>
                <a:tc>
                  <a:txBody>
                    <a:bodyPr/>
                    <a:lstStyle/>
                    <a:p>
                      <a:pPr algn="ctr" fontAlgn="ctr">
                        <a:buNone/>
                      </a:pPr>
                      <a:endParaRPr lang="en-US" sz="900">
                        <a:effectLst/>
                        <a:latin typeface="Raleway"/>
                      </a:endParaRP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solidFill>
                      <a:srgbClr val="FFFFFF"/>
                    </a:solidFill>
                  </a:tcPr>
                </a:tc>
                <a:tc>
                  <a:txBody>
                    <a:bodyPr/>
                    <a:lstStyle/>
                    <a:p>
                      <a:pPr algn="ctr" fontAlgn="ctr">
                        <a:buNone/>
                      </a:pPr>
                      <a:endParaRPr lang="en-US" sz="900">
                        <a:effectLst/>
                        <a:latin typeface="Raleway"/>
                      </a:endParaRP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9</a:t>
                      </a: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14</a:t>
                      </a:r>
                    </a:p>
                  </a:txBody>
                  <a:tcPr marL="9525" marR="9525" marT="9525" anchor="ctr">
                    <a:lnL>
                      <a:noFill/>
                    </a:lnL>
                    <a:lnR w="12700" cap="flat" cmpd="sng" algn="ctr">
                      <a:solidFill>
                        <a:srgbClr val="50C193"/>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477142782"/>
                  </a:ext>
                </a:extLst>
              </a:tr>
              <a:tr h="197158">
                <a:tc>
                  <a:txBody>
                    <a:bodyPr/>
                    <a:lstStyle/>
                    <a:p>
                      <a:pPr fontAlgn="ctr">
                        <a:buNone/>
                      </a:pPr>
                      <a:r>
                        <a:rPr lang="en-US" sz="900" err="1">
                          <a:effectLst/>
                          <a:latin typeface="Raleway"/>
                        </a:rPr>
                        <a:t>Sumbagut</a:t>
                      </a:r>
                    </a:p>
                  </a:txBody>
                  <a:tcPr marL="9525" marR="9525" marT="9525" anchor="ctr">
                    <a:lnL w="12700" cap="flat" cmpd="sng" algn="ctr">
                      <a:solidFill>
                        <a:srgbClr val="50C493"/>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endParaRPr lang="en-US" sz="900">
                        <a:effectLst/>
                        <a:latin typeface="Raleway"/>
                      </a:endParaRPr>
                    </a:p>
                  </a:txBody>
                  <a:tcPr marL="9525" marR="9525" marT="9525" anchor="ctr">
                    <a:lnL>
                      <a:noFill/>
                    </a:lnL>
                    <a:lnR>
                      <a:noFill/>
                    </a:lnR>
                    <a:lnT>
                      <a:noFill/>
                    </a:lnT>
                    <a:lnB>
                      <a:noFill/>
                    </a:lnB>
                    <a:solidFill>
                      <a:srgbClr val="FFFFFF"/>
                    </a:solidFill>
                  </a:tcPr>
                </a:tc>
                <a:tc>
                  <a:txBody>
                    <a:bodyPr/>
                    <a:lstStyle/>
                    <a:p>
                      <a:pPr algn="ctr" fontAlgn="ctr">
                        <a:buNone/>
                      </a:pPr>
                      <a:endParaRPr lang="en-US" sz="900">
                        <a:effectLst/>
                        <a:latin typeface="Raleway"/>
                      </a:endParaRP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4</a:t>
                      </a: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3</a:t>
                      </a:r>
                    </a:p>
                  </a:txBody>
                  <a:tcPr marL="9525" marR="9525" marT="9525" anchor="ctr">
                    <a:lnL>
                      <a:noFill/>
                    </a:lnL>
                    <a:lnR>
                      <a:noFill/>
                    </a:lnR>
                    <a:lnT>
                      <a:noFill/>
                    </a:lnT>
                    <a:lnB>
                      <a:noFill/>
                    </a:lnB>
                    <a:solidFill>
                      <a:srgbClr val="FFFFFF"/>
                    </a:solidFill>
                  </a:tcPr>
                </a:tc>
                <a:tc>
                  <a:txBody>
                    <a:bodyPr/>
                    <a:lstStyle/>
                    <a:p>
                      <a:pPr algn="ctr" fontAlgn="ctr">
                        <a:buNone/>
                      </a:pPr>
                      <a:endParaRPr lang="en-US" sz="900">
                        <a:effectLst/>
                        <a:latin typeface="Raleway"/>
                      </a:endParaRP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10</a:t>
                      </a: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18</a:t>
                      </a:r>
                    </a:p>
                  </a:txBody>
                  <a:tcPr marL="9525" marR="9525" marT="9525" anchor="ctr">
                    <a:lnL>
                      <a:noFill/>
                    </a:lnL>
                    <a:lnR w="12700" cap="flat" cmpd="sng" algn="ctr">
                      <a:solidFill>
                        <a:srgbClr val="D0CB93"/>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580935166"/>
                  </a:ext>
                </a:extLst>
              </a:tr>
              <a:tr h="197158">
                <a:tc>
                  <a:txBody>
                    <a:bodyPr/>
                    <a:lstStyle/>
                    <a:p>
                      <a:pPr algn="ctr" fontAlgn="ctr">
                        <a:buNone/>
                      </a:pPr>
                      <a:r>
                        <a:rPr lang="en-US" sz="900" b="1">
                          <a:solidFill>
                            <a:srgbClr val="FF0000"/>
                          </a:solidFill>
                          <a:effectLst/>
                          <a:latin typeface="Raleway"/>
                        </a:rPr>
                        <a:t>Grand Total</a:t>
                      </a:r>
                    </a:p>
                  </a:txBody>
                  <a:tcPr marL="9525" marR="9525" marT="9525" anchor="ctr">
                    <a:lnL w="12700" cap="flat" cmpd="sng" algn="ctr">
                      <a:solidFill>
                        <a:srgbClr val="90D893"/>
                      </a:solidFill>
                      <a:prstDash val="solid"/>
                      <a:round/>
                      <a:headEnd type="none" w="med" len="med"/>
                      <a:tailEnd type="none" w="med" len="med"/>
                    </a:lnL>
                    <a:lnR>
                      <a:noFill/>
                    </a:lnR>
                    <a:lnT>
                      <a:noFill/>
                    </a:lnT>
                    <a:lnB w="12700" cap="flat" cmpd="sng" algn="ctr">
                      <a:solidFill>
                        <a:srgbClr val="90D893"/>
                      </a:solidFill>
                      <a:prstDash val="solid"/>
                      <a:round/>
                      <a:headEnd type="none" w="med" len="med"/>
                      <a:tailEnd type="none" w="med" len="med"/>
                    </a:lnB>
                    <a:solidFill>
                      <a:srgbClr val="FFFFFF"/>
                    </a:solidFill>
                  </a:tcPr>
                </a:tc>
                <a:tc>
                  <a:txBody>
                    <a:bodyPr/>
                    <a:lstStyle/>
                    <a:p>
                      <a:pPr algn="ctr" fontAlgn="ctr">
                        <a:buNone/>
                      </a:pPr>
                      <a:r>
                        <a:rPr lang="en-US" sz="900" b="1">
                          <a:solidFill>
                            <a:srgbClr val="FF0000"/>
                          </a:solidFill>
                          <a:effectLst/>
                          <a:latin typeface="Raleway"/>
                        </a:rPr>
                        <a:t>46</a:t>
                      </a:r>
                    </a:p>
                  </a:txBody>
                  <a:tcPr marL="9525" marR="9525" marT="9525" anchor="ctr">
                    <a:lnL>
                      <a:noFill/>
                    </a:lnL>
                    <a:lnR>
                      <a:noFill/>
                    </a:lnR>
                    <a:lnT>
                      <a:noFill/>
                    </a:lnT>
                    <a:lnB w="12700" cap="flat" cmpd="sng" algn="ctr">
                      <a:solidFill>
                        <a:srgbClr val="30839C"/>
                      </a:solidFill>
                      <a:prstDash val="solid"/>
                      <a:round/>
                      <a:headEnd type="none" w="med" len="med"/>
                      <a:tailEnd type="none" w="med" len="med"/>
                    </a:lnB>
                    <a:solidFill>
                      <a:srgbClr val="FFFFFF"/>
                    </a:solidFill>
                  </a:tcPr>
                </a:tc>
                <a:tc>
                  <a:txBody>
                    <a:bodyPr/>
                    <a:lstStyle/>
                    <a:p>
                      <a:pPr algn="ctr" fontAlgn="ctr">
                        <a:buNone/>
                      </a:pPr>
                      <a:r>
                        <a:rPr lang="en-US" sz="900" b="1">
                          <a:solidFill>
                            <a:srgbClr val="FF0000"/>
                          </a:solidFill>
                          <a:effectLst/>
                          <a:latin typeface="Raleway"/>
                        </a:rPr>
                        <a:t>37</a:t>
                      </a:r>
                    </a:p>
                  </a:txBody>
                  <a:tcPr marL="9525" marR="9525" marT="9525" anchor="ctr">
                    <a:lnL>
                      <a:noFill/>
                    </a:lnL>
                    <a:lnR>
                      <a:noFill/>
                    </a:lnR>
                    <a:lnT>
                      <a:noFill/>
                    </a:lnT>
                    <a:lnB w="12700" cap="flat" cmpd="sng" algn="ctr">
                      <a:solidFill>
                        <a:srgbClr val="207F9C"/>
                      </a:solidFill>
                      <a:prstDash val="solid"/>
                      <a:round/>
                      <a:headEnd type="none" w="med" len="med"/>
                      <a:tailEnd type="none" w="med" len="med"/>
                    </a:lnB>
                    <a:solidFill>
                      <a:srgbClr val="FFFFFF"/>
                    </a:solidFill>
                  </a:tcPr>
                </a:tc>
                <a:tc>
                  <a:txBody>
                    <a:bodyPr/>
                    <a:lstStyle/>
                    <a:p>
                      <a:pPr algn="ctr" fontAlgn="ctr">
                        <a:buNone/>
                      </a:pPr>
                      <a:r>
                        <a:rPr lang="en-US" sz="900" b="1">
                          <a:solidFill>
                            <a:srgbClr val="FF0000"/>
                          </a:solidFill>
                          <a:effectLst/>
                          <a:latin typeface="Raleway"/>
                        </a:rPr>
                        <a:t>23</a:t>
                      </a:r>
                    </a:p>
                  </a:txBody>
                  <a:tcPr marL="9525" marR="9525" marT="9525" anchor="ctr">
                    <a:lnL>
                      <a:noFill/>
                    </a:lnL>
                    <a:lnR>
                      <a:noFill/>
                    </a:lnR>
                    <a:lnT>
                      <a:noFill/>
                    </a:lnT>
                    <a:lnB w="12700" cap="flat" cmpd="sng" algn="ctr">
                      <a:solidFill>
                        <a:srgbClr val="608A9C"/>
                      </a:solidFill>
                      <a:prstDash val="solid"/>
                      <a:round/>
                      <a:headEnd type="none" w="med" len="med"/>
                      <a:tailEnd type="none" w="med" len="med"/>
                    </a:lnB>
                    <a:solidFill>
                      <a:srgbClr val="FFFFFF"/>
                    </a:solidFill>
                  </a:tcPr>
                </a:tc>
                <a:tc>
                  <a:txBody>
                    <a:bodyPr/>
                    <a:lstStyle/>
                    <a:p>
                      <a:pPr algn="ctr" fontAlgn="ctr">
                        <a:buNone/>
                      </a:pPr>
                      <a:r>
                        <a:rPr lang="en-US" sz="900" b="1">
                          <a:solidFill>
                            <a:srgbClr val="FF0000"/>
                          </a:solidFill>
                          <a:effectLst/>
                          <a:latin typeface="Raleway"/>
                        </a:rPr>
                        <a:t>59</a:t>
                      </a:r>
                    </a:p>
                  </a:txBody>
                  <a:tcPr marL="9525" marR="9525" marT="9525" anchor="ctr">
                    <a:lnL>
                      <a:noFill/>
                    </a:lnL>
                    <a:lnR>
                      <a:noFill/>
                    </a:lnR>
                    <a:lnT>
                      <a:noFill/>
                    </a:lnT>
                    <a:lnB w="12700" cap="flat" cmpd="sng" algn="ctr">
                      <a:solidFill>
                        <a:srgbClr val="C0849C"/>
                      </a:solidFill>
                      <a:prstDash val="solid"/>
                      <a:round/>
                      <a:headEnd type="none" w="med" len="med"/>
                      <a:tailEnd type="none" w="med" len="med"/>
                    </a:lnB>
                    <a:solidFill>
                      <a:srgbClr val="FFFFFF"/>
                    </a:solidFill>
                  </a:tcPr>
                </a:tc>
                <a:tc>
                  <a:txBody>
                    <a:bodyPr/>
                    <a:lstStyle/>
                    <a:p>
                      <a:pPr algn="ctr" fontAlgn="ctr">
                        <a:buNone/>
                      </a:pPr>
                      <a:r>
                        <a:rPr lang="en-US" sz="900" b="1">
                          <a:solidFill>
                            <a:srgbClr val="FF0000"/>
                          </a:solidFill>
                          <a:effectLst/>
                          <a:latin typeface="Raleway"/>
                        </a:rPr>
                        <a:t>46</a:t>
                      </a:r>
                    </a:p>
                  </a:txBody>
                  <a:tcPr marL="9525" marR="9525" marT="9525" anchor="ctr">
                    <a:lnL>
                      <a:noFill/>
                    </a:lnL>
                    <a:lnR>
                      <a:noFill/>
                    </a:lnR>
                    <a:lnT>
                      <a:noFill/>
                    </a:lnT>
                    <a:lnB w="12700" cap="flat" cmpd="sng" algn="ctr">
                      <a:solidFill>
                        <a:srgbClr val="908C9C"/>
                      </a:solidFill>
                      <a:prstDash val="solid"/>
                      <a:round/>
                      <a:headEnd type="none" w="med" len="med"/>
                      <a:tailEnd type="none" w="med" len="med"/>
                    </a:lnB>
                    <a:solidFill>
                      <a:srgbClr val="FFFFFF"/>
                    </a:solidFill>
                  </a:tcPr>
                </a:tc>
                <a:tc>
                  <a:txBody>
                    <a:bodyPr/>
                    <a:lstStyle/>
                    <a:p>
                      <a:pPr algn="ctr" fontAlgn="ctr">
                        <a:buNone/>
                      </a:pPr>
                      <a:r>
                        <a:rPr lang="en-US" sz="900" b="1">
                          <a:solidFill>
                            <a:srgbClr val="FF0000"/>
                          </a:solidFill>
                          <a:effectLst/>
                          <a:latin typeface="Raleway"/>
                        </a:rPr>
                        <a:t>20</a:t>
                      </a:r>
                    </a:p>
                  </a:txBody>
                  <a:tcPr marL="9525" marR="9525" marT="9525" anchor="ctr">
                    <a:lnL>
                      <a:noFill/>
                    </a:lnL>
                    <a:lnR>
                      <a:noFill/>
                    </a:lnR>
                    <a:lnT>
                      <a:noFill/>
                    </a:lnT>
                    <a:lnB w="12700" cap="flat" cmpd="sng" algn="ctr">
                      <a:solidFill>
                        <a:srgbClr val="00869C"/>
                      </a:solidFill>
                      <a:prstDash val="solid"/>
                      <a:round/>
                      <a:headEnd type="none" w="med" len="med"/>
                      <a:tailEnd type="none" w="med" len="med"/>
                    </a:lnB>
                    <a:solidFill>
                      <a:srgbClr val="FFFFFF"/>
                    </a:solidFill>
                  </a:tcPr>
                </a:tc>
                <a:tc>
                  <a:txBody>
                    <a:bodyPr/>
                    <a:lstStyle/>
                    <a:p>
                      <a:pPr algn="ctr" fontAlgn="ctr">
                        <a:buNone/>
                      </a:pPr>
                      <a:r>
                        <a:rPr lang="en-US" sz="900" b="1">
                          <a:solidFill>
                            <a:srgbClr val="FF0000"/>
                          </a:solidFill>
                          <a:effectLst/>
                          <a:latin typeface="Raleway"/>
                        </a:rPr>
                        <a:t>39</a:t>
                      </a:r>
                    </a:p>
                  </a:txBody>
                  <a:tcPr marL="9525" marR="9525" marT="9525" anchor="ctr">
                    <a:lnL>
                      <a:noFill/>
                    </a:lnL>
                    <a:lnR>
                      <a:noFill/>
                    </a:lnR>
                    <a:lnT>
                      <a:noFill/>
                    </a:lnT>
                    <a:lnB w="12700" cap="flat" cmpd="sng" algn="ctr">
                      <a:solidFill>
                        <a:srgbClr val="308D9C"/>
                      </a:solidFill>
                      <a:prstDash val="solid"/>
                      <a:round/>
                      <a:headEnd type="none" w="med" len="med"/>
                      <a:tailEnd type="none" w="med" len="med"/>
                    </a:lnB>
                    <a:solidFill>
                      <a:srgbClr val="FFFFFF"/>
                    </a:solidFill>
                  </a:tcPr>
                </a:tc>
                <a:tc>
                  <a:txBody>
                    <a:bodyPr/>
                    <a:lstStyle/>
                    <a:p>
                      <a:pPr algn="ctr" fontAlgn="ctr">
                        <a:buNone/>
                      </a:pPr>
                      <a:r>
                        <a:rPr lang="en-US" sz="900" b="1">
                          <a:solidFill>
                            <a:srgbClr val="FF0000"/>
                          </a:solidFill>
                          <a:effectLst/>
                          <a:latin typeface="Raleway"/>
                        </a:rPr>
                        <a:t>270</a:t>
                      </a:r>
                    </a:p>
                  </a:txBody>
                  <a:tcPr marL="9525" marR="9525" marT="9525" anchor="ctr">
                    <a:lnL>
                      <a:noFill/>
                    </a:lnL>
                    <a:lnR w="12700" cap="flat" cmpd="sng" algn="ctr">
                      <a:solidFill>
                        <a:srgbClr val="10C293"/>
                      </a:solidFill>
                      <a:prstDash val="solid"/>
                      <a:round/>
                      <a:headEnd type="none" w="med" len="med"/>
                      <a:tailEnd type="none" w="med" len="med"/>
                    </a:lnR>
                    <a:lnT>
                      <a:noFill/>
                    </a:lnT>
                    <a:lnB w="12700" cap="flat" cmpd="sng" algn="ctr">
                      <a:solidFill>
                        <a:srgbClr val="10C293"/>
                      </a:solidFill>
                      <a:prstDash val="solid"/>
                      <a:round/>
                      <a:headEnd type="none" w="med" len="med"/>
                      <a:tailEnd type="none" w="med" len="med"/>
                    </a:lnB>
                    <a:solidFill>
                      <a:srgbClr val="FFFFFF"/>
                    </a:solidFill>
                  </a:tcPr>
                </a:tc>
                <a:extLst>
                  <a:ext uri="{0D108BD9-81ED-4DB2-BD59-A6C34878D82A}">
                    <a16:rowId xmlns:a16="http://schemas.microsoft.com/office/drawing/2014/main" val="3782583972"/>
                  </a:ext>
                </a:extLst>
              </a:tr>
            </a:tbl>
          </a:graphicData>
        </a:graphic>
      </p:graphicFrame>
    </p:spTree>
    <p:extLst>
      <p:ext uri="{BB962C8B-B14F-4D97-AF65-F5344CB8AC3E}">
        <p14:creationId xmlns:p14="http://schemas.microsoft.com/office/powerpoint/2010/main" val="1027558949"/>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690924-CB6B-76C0-2AB7-008E0D98D36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744566A-FD5D-09B3-CAAE-CC2796AC002C}"/>
              </a:ext>
            </a:extLst>
          </p:cNvPr>
          <p:cNvSpPr txBox="1">
            <a:spLocks/>
          </p:cNvSpPr>
          <p:nvPr/>
        </p:nvSpPr>
        <p:spPr>
          <a:xfrm>
            <a:off x="3031926" y="2702620"/>
            <a:ext cx="6128147" cy="1452759"/>
          </a:xfrm>
          <a:prstGeom prst="rect">
            <a:avLst/>
          </a:prstGeom>
        </p:spPr>
        <p:txBody>
          <a:bodyPr lIns="91440" tIns="45720" rIns="91440" bIns="45720" anchor="t">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3200" b="1" i="0" u="none" strike="noStrike" kern="1200" cap="none" spc="0" normalizeH="0" baseline="0" noProof="0">
                <a:ln>
                  <a:noFill/>
                </a:ln>
                <a:solidFill>
                  <a:srgbClr val="002060"/>
                </a:solidFill>
                <a:effectLst/>
                <a:uLnTx/>
                <a:uFillTx/>
                <a:latin typeface="Futura Condensed Extra" pitchFamily="50" charset="0"/>
                <a:ea typeface="+mj-ea"/>
                <a:cs typeface="+mj-cs"/>
              </a:rPr>
              <a:t>UPDATE PROGRESS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3200" b="1" i="0" u="none" strike="noStrike" kern="1200" cap="none" spc="0" normalizeH="0" baseline="0" noProof="0">
                <a:ln>
                  <a:noFill/>
                </a:ln>
                <a:solidFill>
                  <a:srgbClr val="002060"/>
                </a:solidFill>
                <a:effectLst/>
                <a:uLnTx/>
                <a:uFillTx/>
                <a:latin typeface="Futura Condensed Extra" pitchFamily="50" charset="0"/>
                <a:ea typeface="+mj-ea"/>
                <a:cs typeface="+mj-cs"/>
              </a:rPr>
              <a:t>PEMENUHAN SDM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3200" b="1" i="0" u="none" strike="noStrike" kern="1200" cap="none" spc="0" normalizeH="0" baseline="0" noProof="0">
                <a:ln>
                  <a:noFill/>
                </a:ln>
                <a:solidFill>
                  <a:srgbClr val="002060"/>
                </a:solidFill>
                <a:effectLst/>
                <a:uLnTx/>
                <a:uFillTx/>
                <a:latin typeface="Futura Condensed Extra" pitchFamily="50" charset="0"/>
                <a:ea typeface="+mj-ea"/>
                <a:cs typeface="+mj-cs"/>
              </a:rPr>
              <a:t>SALES GT – STO CHILLED</a:t>
            </a:r>
          </a:p>
          <a:p>
            <a:pPr marL="0" marR="0" lvl="0" indent="0" algn="ctr" defTabSz="914400" rtl="0" eaLnBrk="1" fontAlgn="auto" latinLnBrk="0" hangingPunct="1">
              <a:lnSpc>
                <a:spcPct val="80000"/>
              </a:lnSpc>
              <a:spcBef>
                <a:spcPts val="0"/>
              </a:spcBef>
              <a:spcAft>
                <a:spcPts val="0"/>
              </a:spcAft>
              <a:buClrTx/>
              <a:buSzTx/>
              <a:buFontTx/>
              <a:buNone/>
              <a:tabLst/>
              <a:defRPr/>
            </a:pPr>
            <a:endParaRPr lang="en-US" sz="3200" b="1">
              <a:solidFill>
                <a:srgbClr val="002060"/>
              </a:solidFill>
              <a:latin typeface="Futura Condensed Extra" pitchFamily="50" charset="0"/>
            </a:endParaRPr>
          </a:p>
          <a:p>
            <a:pPr algn="ctr">
              <a:lnSpc>
                <a:spcPct val="80000"/>
              </a:lnSpc>
              <a:spcBef>
                <a:spcPts val="0"/>
              </a:spcBef>
              <a:defRPr/>
            </a:pPr>
            <a:r>
              <a:rPr lang="en-US" sz="3200" b="1">
                <a:solidFill>
                  <a:srgbClr val="002060"/>
                </a:solidFill>
                <a:latin typeface="Futura Condensed Extra"/>
              </a:rPr>
              <a:t>FPTK PRIORITY</a:t>
            </a:r>
            <a:endParaRPr lang="en-US">
              <a:ea typeface="+mj-ea"/>
              <a:cs typeface="+mj-cs"/>
            </a:endParaRPr>
          </a:p>
        </p:txBody>
      </p:sp>
    </p:spTree>
    <p:extLst>
      <p:ext uri="{BB962C8B-B14F-4D97-AF65-F5344CB8AC3E}">
        <p14:creationId xmlns:p14="http://schemas.microsoft.com/office/powerpoint/2010/main" val="3622041588"/>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6E9D01-78CC-3136-4D5E-D24B20410944}"/>
            </a:ext>
          </a:extLst>
        </p:cNvPr>
        <p:cNvGrpSpPr/>
        <p:nvPr/>
      </p:nvGrpSpPr>
      <p:grpSpPr>
        <a:xfrm>
          <a:off x="0" y="0"/>
          <a:ext cx="0" cy="0"/>
          <a:chOff x="0" y="0"/>
          <a:chExt cx="0" cy="0"/>
        </a:xfrm>
      </p:grpSpPr>
      <p:graphicFrame>
        <p:nvGraphicFramePr>
          <p:cNvPr id="3" name="Table 2">
            <a:extLst>
              <a:ext uri="{FF2B5EF4-FFF2-40B4-BE49-F238E27FC236}">
                <a16:creationId xmlns:a16="http://schemas.microsoft.com/office/drawing/2014/main" id="{B57F631E-C56A-CFCE-039C-F59D646DB0D0}"/>
              </a:ext>
            </a:extLst>
          </p:cNvPr>
          <p:cNvGraphicFramePr>
            <a:graphicFrameLocks noGrp="1"/>
          </p:cNvGraphicFramePr>
          <p:nvPr/>
        </p:nvGraphicFramePr>
        <p:xfrm>
          <a:off x="722366" y="3801829"/>
          <a:ext cx="10747267" cy="1763224"/>
        </p:xfrm>
        <a:graphic>
          <a:graphicData uri="http://schemas.openxmlformats.org/drawingml/2006/table">
            <a:tbl>
              <a:tblPr/>
              <a:tblGrid>
                <a:gridCol w="274347">
                  <a:extLst>
                    <a:ext uri="{9D8B030D-6E8A-4147-A177-3AD203B41FA5}">
                      <a16:colId xmlns:a16="http://schemas.microsoft.com/office/drawing/2014/main" val="673700984"/>
                    </a:ext>
                  </a:extLst>
                </a:gridCol>
                <a:gridCol w="990037">
                  <a:extLst>
                    <a:ext uri="{9D8B030D-6E8A-4147-A177-3AD203B41FA5}">
                      <a16:colId xmlns:a16="http://schemas.microsoft.com/office/drawing/2014/main" val="382280335"/>
                    </a:ext>
                  </a:extLst>
                </a:gridCol>
                <a:gridCol w="3029753">
                  <a:extLst>
                    <a:ext uri="{9D8B030D-6E8A-4147-A177-3AD203B41FA5}">
                      <a16:colId xmlns:a16="http://schemas.microsoft.com/office/drawing/2014/main" val="2394800142"/>
                    </a:ext>
                  </a:extLst>
                </a:gridCol>
                <a:gridCol w="369773">
                  <a:extLst>
                    <a:ext uri="{9D8B030D-6E8A-4147-A177-3AD203B41FA5}">
                      <a16:colId xmlns:a16="http://schemas.microsoft.com/office/drawing/2014/main" val="3689926238"/>
                    </a:ext>
                  </a:extLst>
                </a:gridCol>
                <a:gridCol w="1061607">
                  <a:extLst>
                    <a:ext uri="{9D8B030D-6E8A-4147-A177-3AD203B41FA5}">
                      <a16:colId xmlns:a16="http://schemas.microsoft.com/office/drawing/2014/main" val="1743853912"/>
                    </a:ext>
                  </a:extLst>
                </a:gridCol>
                <a:gridCol w="656049">
                  <a:extLst>
                    <a:ext uri="{9D8B030D-6E8A-4147-A177-3AD203B41FA5}">
                      <a16:colId xmlns:a16="http://schemas.microsoft.com/office/drawing/2014/main" val="1907989805"/>
                    </a:ext>
                  </a:extLst>
                </a:gridCol>
                <a:gridCol w="694594">
                  <a:extLst>
                    <a:ext uri="{9D8B030D-6E8A-4147-A177-3AD203B41FA5}">
                      <a16:colId xmlns:a16="http://schemas.microsoft.com/office/drawing/2014/main" val="315497249"/>
                    </a:ext>
                  </a:extLst>
                </a:gridCol>
                <a:gridCol w="694594">
                  <a:extLst>
                    <a:ext uri="{9D8B030D-6E8A-4147-A177-3AD203B41FA5}">
                      <a16:colId xmlns:a16="http://schemas.microsoft.com/office/drawing/2014/main" val="234624113"/>
                    </a:ext>
                  </a:extLst>
                </a:gridCol>
                <a:gridCol w="2976513">
                  <a:extLst>
                    <a:ext uri="{9D8B030D-6E8A-4147-A177-3AD203B41FA5}">
                      <a16:colId xmlns:a16="http://schemas.microsoft.com/office/drawing/2014/main" val="2511538393"/>
                    </a:ext>
                  </a:extLst>
                </a:gridCol>
              </a:tblGrid>
              <a:tr h="178388">
                <a:tc>
                  <a:txBody>
                    <a:bodyPr/>
                    <a:lstStyle/>
                    <a:p>
                      <a:pPr algn="ctr" fontAlgn="ctr">
                        <a:buNone/>
                      </a:pPr>
                      <a:r>
                        <a:rPr lang="en-US" sz="900" b="1" i="0" u="none" strike="noStrike">
                          <a:solidFill>
                            <a:srgbClr val="FFFFFF"/>
                          </a:solidFill>
                          <a:effectLst/>
                          <a:latin typeface="Raleway"/>
                        </a:rPr>
                        <a:t>No</a:t>
                      </a:r>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900" b="1" i="0" u="none" strike="noStrike" err="1">
                          <a:solidFill>
                            <a:srgbClr val="FFFFFF"/>
                          </a:solidFill>
                          <a:effectLst/>
                          <a:latin typeface="Raleway"/>
                        </a:rPr>
                        <a:t>Gelombang</a:t>
                      </a:r>
                      <a:endParaRPr lang="en-US" sz="900" b="1" i="0" u="none" strike="noStrike">
                        <a:solidFill>
                          <a:srgbClr val="FFFFFF"/>
                        </a:solidFill>
                        <a:effectLst/>
                        <a:latin typeface="Raleway"/>
                      </a:endParaRPr>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900" b="1" i="0" u="none" strike="noStrike" err="1">
                          <a:solidFill>
                            <a:srgbClr val="FFFFFF"/>
                          </a:solidFill>
                          <a:effectLst/>
                          <a:latin typeface="Raleway"/>
                        </a:rPr>
                        <a:t>Posisi</a:t>
                      </a:r>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900" b="1" i="0" u="none" strike="noStrike">
                          <a:solidFill>
                            <a:srgbClr val="FFFFFF"/>
                          </a:solidFill>
                          <a:effectLst/>
                          <a:latin typeface="Raleway"/>
                        </a:rPr>
                        <a:t>Level</a:t>
                      </a:r>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900" b="1" i="0" u="none" strike="noStrike">
                          <a:solidFill>
                            <a:srgbClr val="FFFFFF"/>
                          </a:solidFill>
                          <a:effectLst/>
                          <a:latin typeface="Raleway"/>
                        </a:rPr>
                        <a:t>Lokasi</a:t>
                      </a:r>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900" b="1" i="0" u="none" strike="noStrike">
                          <a:solidFill>
                            <a:srgbClr val="FFFFFF"/>
                          </a:solidFill>
                          <a:effectLst/>
                          <a:latin typeface="Raleway"/>
                        </a:rPr>
                        <a:t>PIC TA</a:t>
                      </a:r>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900" b="1" i="0" u="none" strike="noStrike" err="1">
                          <a:solidFill>
                            <a:srgbClr val="FFFFFF"/>
                          </a:solidFill>
                          <a:effectLst/>
                          <a:latin typeface="Raleway"/>
                        </a:rPr>
                        <a:t>Jumlah</a:t>
                      </a:r>
                      <a:r>
                        <a:rPr lang="en-US" sz="900" b="1" i="0" u="none" strike="noStrike">
                          <a:solidFill>
                            <a:srgbClr val="FFFFFF"/>
                          </a:solidFill>
                          <a:effectLst/>
                          <a:latin typeface="Raleway"/>
                        </a:rPr>
                        <a:t> </a:t>
                      </a:r>
                      <a:r>
                        <a:rPr lang="en-US" sz="900" b="1" i="0" u="none" strike="noStrike" err="1">
                          <a:solidFill>
                            <a:srgbClr val="FFFFFF"/>
                          </a:solidFill>
                          <a:effectLst/>
                          <a:latin typeface="Raleway"/>
                        </a:rPr>
                        <a:t>Permintaan</a:t>
                      </a:r>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900" b="1" i="0" u="none" strike="noStrike">
                          <a:solidFill>
                            <a:srgbClr val="FFFFFF"/>
                          </a:solidFill>
                          <a:effectLst/>
                          <a:latin typeface="Raleway"/>
                        </a:rPr>
                        <a:t>Status </a:t>
                      </a:r>
                      <a:r>
                        <a:rPr lang="en-US" sz="900" b="1" i="0" u="none" strike="noStrike" err="1">
                          <a:solidFill>
                            <a:srgbClr val="FFFFFF"/>
                          </a:solidFill>
                          <a:effectLst/>
                          <a:latin typeface="Raleway"/>
                        </a:rPr>
                        <a:t>Rekrutmen</a:t>
                      </a:r>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900" b="1" i="0" u="none" strike="noStrike">
                          <a:solidFill>
                            <a:srgbClr val="FFFFFF"/>
                          </a:solidFill>
                          <a:effectLst/>
                          <a:latin typeface="Raleway"/>
                        </a:rPr>
                        <a:t>Recruitment Update</a:t>
                      </a:r>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extLst>
                  <a:ext uri="{0D108BD9-81ED-4DB2-BD59-A6C34878D82A}">
                    <a16:rowId xmlns:a16="http://schemas.microsoft.com/office/drawing/2014/main" val="2709537566"/>
                  </a:ext>
                </a:extLst>
              </a:tr>
              <a:tr h="507720">
                <a:tc>
                  <a:txBody>
                    <a:bodyPr/>
                    <a:lstStyle/>
                    <a:p>
                      <a:pPr algn="ctr" fontAlgn="ctr">
                        <a:buNone/>
                      </a:pPr>
                      <a:r>
                        <a:rPr lang="en-US" sz="900" b="0" i="0" u="none" strike="noStrike">
                          <a:solidFill>
                            <a:srgbClr val="000000"/>
                          </a:solidFill>
                          <a:effectLst/>
                          <a:latin typeface="Raleway"/>
                        </a:rPr>
                        <a:t>1</a:t>
                      </a:r>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Raleway"/>
                        </a:rPr>
                        <a:t>FPTK Priority</a:t>
                      </a:r>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Raleway"/>
                        </a:rPr>
                        <a:t>Sales Taking Order Staff (Chilled) - Jakarta Timur</a:t>
                      </a:r>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Raleway"/>
                        </a:rPr>
                        <a:t>2A</a:t>
                      </a:r>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Raleway"/>
                        </a:rPr>
                        <a:t>Jakarta</a:t>
                      </a:r>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Raleway"/>
                        </a:rPr>
                        <a:t>Gracia</a:t>
                      </a:r>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900" b="0" i="0" u="none" strike="noStrike">
                          <a:solidFill>
                            <a:srgbClr val="000000"/>
                          </a:solidFill>
                          <a:effectLst/>
                          <a:latin typeface="Raleway"/>
                        </a:rPr>
                        <a:t>2</a:t>
                      </a:r>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Raleway"/>
                        </a:rPr>
                        <a:t>OP</a:t>
                      </a:r>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l">
                        <a:lnSpc>
                          <a:spcPct val="100000"/>
                        </a:lnSpc>
                        <a:spcBef>
                          <a:spcPts val="0"/>
                        </a:spcBef>
                        <a:spcAft>
                          <a:spcPts val="0"/>
                        </a:spcAft>
                        <a:buNone/>
                      </a:pPr>
                      <a:r>
                        <a:rPr lang="en-US" sz="800" b="0" i="0" u="none" strike="noStrike" noProof="0">
                          <a:solidFill>
                            <a:srgbClr val="000000"/>
                          </a:solidFill>
                          <a:effectLst/>
                          <a:highlight>
                            <a:srgbClr val="FFFFFF"/>
                          </a:highlight>
                          <a:latin typeface="Raleway"/>
                        </a:rPr>
                        <a:t>Pemberkasan a.n Agusti Maulana di Week 332, WITHDRAW</a:t>
                      </a:r>
                    </a:p>
                    <a:p>
                      <a:pPr lvl="0" algn="l">
                        <a:lnSpc>
                          <a:spcPct val="100000"/>
                        </a:lnSpc>
                        <a:spcBef>
                          <a:spcPts val="0"/>
                        </a:spcBef>
                        <a:spcAft>
                          <a:spcPts val="0"/>
                        </a:spcAft>
                        <a:buNone/>
                      </a:pPr>
                      <a:r>
                        <a:rPr lang="en-US" sz="800" b="0" i="0" u="none" strike="noStrike" noProof="0">
                          <a:solidFill>
                            <a:srgbClr val="000000"/>
                          </a:solidFill>
                          <a:effectLst/>
                          <a:highlight>
                            <a:srgbClr val="FFFFFF"/>
                          </a:highlight>
                          <a:latin typeface="Raleway"/>
                        </a:rPr>
                        <a:t>Send 15 CVs ke user di week 32</a:t>
                      </a:r>
                      <a:endParaRPr lang="en-US"/>
                    </a:p>
                    <a:p>
                      <a:pPr lvl="0" algn="l">
                        <a:lnSpc>
                          <a:spcPct val="100000"/>
                        </a:lnSpc>
                        <a:spcBef>
                          <a:spcPts val="0"/>
                        </a:spcBef>
                        <a:spcAft>
                          <a:spcPts val="0"/>
                        </a:spcAft>
                        <a:buNone/>
                      </a:pPr>
                      <a:r>
                        <a:rPr lang="en-US" sz="800" b="1" i="0" u="none" strike="noStrike" noProof="0">
                          <a:solidFill>
                            <a:srgbClr val="000000"/>
                          </a:solidFill>
                          <a:effectLst/>
                          <a:highlight>
                            <a:srgbClr val="FFFFFF"/>
                          </a:highlight>
                          <a:latin typeface="Raleway"/>
                        </a:rPr>
                        <a:t>Next Action: </a:t>
                      </a:r>
                      <a:r>
                        <a:rPr lang="en-US" sz="800" b="0" i="0" u="none" strike="noStrike" noProof="0">
                          <a:solidFill>
                            <a:srgbClr val="000000"/>
                          </a:solidFill>
                          <a:effectLst/>
                          <a:highlight>
                            <a:srgbClr val="FFFFFF"/>
                          </a:highlight>
                          <a:latin typeface="Raleway"/>
                        </a:rPr>
                        <a:t>HR Interview kandidat shortlisted User di Week 33</a:t>
                      </a:r>
                      <a:endParaRPr lang="en-US"/>
                    </a:p>
                    <a:p>
                      <a:pPr lvl="0" algn="l">
                        <a:lnSpc>
                          <a:spcPct val="100000"/>
                        </a:lnSpc>
                        <a:spcBef>
                          <a:spcPts val="0"/>
                        </a:spcBef>
                        <a:spcAft>
                          <a:spcPts val="0"/>
                        </a:spcAft>
                        <a:buNone/>
                      </a:pPr>
                      <a:endParaRPr lang="en-US" sz="800" b="1" i="0" u="none" strike="noStrike" noProof="0">
                        <a:solidFill>
                          <a:srgbClr val="000000"/>
                        </a:solidFill>
                        <a:effectLst/>
                        <a:highlight>
                          <a:srgbClr val="FFFFFF"/>
                        </a:highlight>
                        <a:latin typeface="Raleway"/>
                      </a:endParaRPr>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462179518"/>
                  </a:ext>
                </a:extLst>
              </a:tr>
              <a:tr h="583192">
                <a:tc>
                  <a:txBody>
                    <a:bodyPr/>
                    <a:lstStyle/>
                    <a:p>
                      <a:pPr algn="ctr" fontAlgn="ctr">
                        <a:buNone/>
                      </a:pPr>
                      <a:r>
                        <a:rPr lang="en-US" sz="900" b="0" i="0" u="none" strike="noStrike">
                          <a:solidFill>
                            <a:srgbClr val="000000"/>
                          </a:solidFill>
                          <a:effectLst/>
                          <a:latin typeface="Raleway"/>
                        </a:rPr>
                        <a:t>2</a:t>
                      </a:r>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Raleway"/>
                        </a:rPr>
                        <a:t>FPTK Priority</a:t>
                      </a:r>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ctr">
                        <a:buNone/>
                      </a:pPr>
                      <a:r>
                        <a:rPr lang="en-US" sz="900" b="0" i="0" u="none" strike="noStrike">
                          <a:solidFill>
                            <a:srgbClr val="000000"/>
                          </a:solidFill>
                          <a:effectLst/>
                          <a:latin typeface="Raleway"/>
                        </a:rPr>
                        <a:t>Sales Taking Order Staff (Chilled) - Jakarta Barat</a:t>
                      </a:r>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Raleway"/>
                        </a:rPr>
                        <a:t>2A</a:t>
                      </a:r>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Raleway"/>
                        </a:rPr>
                        <a:t>Jakarta</a:t>
                      </a:r>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Raleway"/>
                        </a:rPr>
                        <a:t>Gracia</a:t>
                      </a:r>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900" b="0" i="0" u="none" strike="noStrike">
                          <a:solidFill>
                            <a:srgbClr val="000000"/>
                          </a:solidFill>
                          <a:effectLst/>
                          <a:latin typeface="Raleway"/>
                        </a:rPr>
                        <a:t>3</a:t>
                      </a:r>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900" b="0" i="0" u="none" strike="noStrike">
                          <a:solidFill>
                            <a:srgbClr val="000000"/>
                          </a:solidFill>
                          <a:effectLst/>
                          <a:latin typeface="Raleway"/>
                        </a:rPr>
                        <a:t>OP</a:t>
                      </a:r>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l">
                        <a:lnSpc>
                          <a:spcPct val="100000"/>
                        </a:lnSpc>
                        <a:spcBef>
                          <a:spcPts val="0"/>
                        </a:spcBef>
                        <a:spcAft>
                          <a:spcPts val="0"/>
                        </a:spcAft>
                        <a:buNone/>
                      </a:pPr>
                      <a:r>
                        <a:rPr lang="en-US" sz="800" b="0" i="0" u="none" strike="noStrike" noProof="0">
                          <a:solidFill>
                            <a:srgbClr val="000000"/>
                          </a:solidFill>
                          <a:effectLst/>
                          <a:highlight>
                            <a:srgbClr val="FFFFFF"/>
                          </a:highlight>
                          <a:latin typeface="Raleway"/>
                        </a:rPr>
                        <a:t>Send 5 CVs ke user di week 32</a:t>
                      </a:r>
                      <a:endParaRPr lang="en-US"/>
                    </a:p>
                    <a:p>
                      <a:pPr lvl="0" algn="l">
                        <a:lnSpc>
                          <a:spcPct val="100000"/>
                        </a:lnSpc>
                        <a:spcBef>
                          <a:spcPts val="0"/>
                        </a:spcBef>
                        <a:spcAft>
                          <a:spcPts val="0"/>
                        </a:spcAft>
                        <a:buNone/>
                      </a:pPr>
                      <a:r>
                        <a:rPr lang="en-US" sz="800" b="1" i="0" u="none" strike="noStrike" noProof="0">
                          <a:solidFill>
                            <a:srgbClr val="000000"/>
                          </a:solidFill>
                          <a:effectLst/>
                          <a:highlight>
                            <a:srgbClr val="FFFFFF"/>
                          </a:highlight>
                          <a:latin typeface="Raleway"/>
                        </a:rPr>
                        <a:t>Next Action: </a:t>
                      </a:r>
                      <a:r>
                        <a:rPr lang="en-US" sz="800" b="0" i="0" u="none" strike="noStrike" noProof="0">
                          <a:solidFill>
                            <a:srgbClr val="000000"/>
                          </a:solidFill>
                          <a:effectLst/>
                          <a:highlight>
                            <a:srgbClr val="FFFFFF"/>
                          </a:highlight>
                          <a:latin typeface="Raleway"/>
                        </a:rPr>
                        <a:t>HR Interview dan psikotes kandidat shortlisted User di Week 33</a:t>
                      </a:r>
                      <a:endParaRPr lang="en-US"/>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088735724"/>
                  </a:ext>
                </a:extLst>
              </a:tr>
              <a:tr h="178388">
                <a:tc>
                  <a:txBody>
                    <a:bodyPr/>
                    <a:lstStyle/>
                    <a:p>
                      <a:pPr lvl="0" algn="ctr">
                        <a:buNone/>
                      </a:pPr>
                      <a:r>
                        <a:rPr lang="en-US" sz="900" b="0" i="0" u="none" strike="noStrike">
                          <a:solidFill>
                            <a:srgbClr val="000000"/>
                          </a:solidFill>
                          <a:effectLst/>
                          <a:latin typeface="Raleway"/>
                        </a:rPr>
                        <a:t>3</a:t>
                      </a:r>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900" b="0" i="0" u="none" strike="noStrike">
                          <a:solidFill>
                            <a:srgbClr val="000000"/>
                          </a:solidFill>
                          <a:effectLst/>
                          <a:latin typeface="Raleway"/>
                        </a:rPr>
                        <a:t>FPTK Priority</a:t>
                      </a:r>
                      <a:endParaRPr lang="en-US" sz="900"/>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l">
                        <a:buNone/>
                      </a:pPr>
                      <a:r>
                        <a:rPr lang="en-US" sz="900" b="0" i="0" u="none" strike="noStrike">
                          <a:solidFill>
                            <a:srgbClr val="000000"/>
                          </a:solidFill>
                          <a:effectLst/>
                          <a:latin typeface="Raleway"/>
                        </a:rPr>
                        <a:t>Sales Taking Order Staff (Chilled) - Tangerang Kota</a:t>
                      </a:r>
                      <a:endParaRPr lang="en-US" sz="900"/>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900" b="0" i="0" u="none" strike="noStrike">
                          <a:solidFill>
                            <a:srgbClr val="000000"/>
                          </a:solidFill>
                          <a:effectLst/>
                          <a:latin typeface="Raleway"/>
                        </a:rPr>
                        <a:t>2A</a:t>
                      </a:r>
                      <a:endParaRPr lang="en-US" sz="900"/>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900" b="0" i="0" u="none" strike="noStrike">
                          <a:solidFill>
                            <a:srgbClr val="000000"/>
                          </a:solidFill>
                          <a:effectLst/>
                          <a:latin typeface="Raleway"/>
                        </a:rPr>
                        <a:t>Tangerang</a:t>
                      </a:r>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900" b="0" i="0" u="none" strike="noStrike">
                          <a:solidFill>
                            <a:srgbClr val="000000"/>
                          </a:solidFill>
                          <a:effectLst/>
                          <a:latin typeface="Raleway"/>
                        </a:rPr>
                        <a:t>Zwei</a:t>
                      </a:r>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900" b="0" i="0" u="none" strike="noStrike">
                          <a:solidFill>
                            <a:srgbClr val="000000"/>
                          </a:solidFill>
                          <a:effectLst/>
                          <a:latin typeface="Raleway"/>
                        </a:rPr>
                        <a:t>1</a:t>
                      </a:r>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900" b="0" i="0" u="none" strike="noStrike">
                          <a:solidFill>
                            <a:srgbClr val="000000"/>
                          </a:solidFill>
                          <a:effectLst/>
                          <a:latin typeface="Raleway"/>
                        </a:rPr>
                        <a:t>OP</a:t>
                      </a:r>
                      <a:endParaRPr lang="en-US" sz="900"/>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l">
                        <a:buNone/>
                      </a:pPr>
                      <a:r>
                        <a:rPr lang="en-US" sz="900" b="0" i="0" u="none" strike="noStrike">
                          <a:solidFill>
                            <a:srgbClr val="000000"/>
                          </a:solidFill>
                          <a:effectLst/>
                          <a:latin typeface="Raleway"/>
                        </a:rPr>
                        <a:t>Send 10 CV to User 32</a:t>
                      </a:r>
                      <a:br>
                        <a:rPr lang="en-US" sz="900" b="0" i="0" u="none" strike="noStrike">
                          <a:solidFill>
                            <a:srgbClr val="000000"/>
                          </a:solidFill>
                          <a:effectLst/>
                          <a:latin typeface="Raleway"/>
                        </a:rPr>
                      </a:br>
                      <a:r>
                        <a:rPr lang="en-US" sz="900" b="1" i="0" u="none" strike="noStrike">
                          <a:solidFill>
                            <a:srgbClr val="000000"/>
                          </a:solidFill>
                          <a:effectLst/>
                          <a:latin typeface="Raleway"/>
                        </a:rPr>
                        <a:t>Next Action</a:t>
                      </a:r>
                      <a:r>
                        <a:rPr lang="en-US" sz="900" b="0" i="0" u="none" strike="noStrike">
                          <a:solidFill>
                            <a:srgbClr val="000000"/>
                          </a:solidFill>
                          <a:effectLst/>
                          <a:latin typeface="Raleway"/>
                        </a:rPr>
                        <a:t>: User shortcall &amp; interview di Week 33</a:t>
                      </a:r>
                      <a:endParaRPr lang="en-US"/>
                    </a:p>
                  </a:txBody>
                  <a:tcPr marL="5842" marR="5842" marT="5842" marB="42062"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689937705"/>
                  </a:ext>
                </a:extLst>
              </a:tr>
            </a:tbl>
          </a:graphicData>
        </a:graphic>
      </p:graphicFrame>
      <p:sp>
        <p:nvSpPr>
          <p:cNvPr id="4" name="TextBox 3">
            <a:extLst>
              <a:ext uri="{FF2B5EF4-FFF2-40B4-BE49-F238E27FC236}">
                <a16:creationId xmlns:a16="http://schemas.microsoft.com/office/drawing/2014/main" id="{D079EE1C-081C-B488-8462-2D6A50E4A8EF}"/>
              </a:ext>
            </a:extLst>
          </p:cNvPr>
          <p:cNvSpPr txBox="1"/>
          <p:nvPr/>
        </p:nvSpPr>
        <p:spPr>
          <a:xfrm>
            <a:off x="2714172" y="330199"/>
            <a:ext cx="6640285" cy="120032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2400" b="1" i="0" u="none" strike="noStrike" baseline="0">
                <a:solidFill>
                  <a:srgbClr val="000000"/>
                </a:solidFill>
                <a:latin typeface="Raleway"/>
              </a:rPr>
              <a:t>Recruitment Progress </a:t>
            </a:r>
            <a:r>
              <a:rPr lang="en-US" sz="2400" b="1">
                <a:solidFill>
                  <a:srgbClr val="000000"/>
                </a:solidFill>
                <a:latin typeface="Raleway"/>
              </a:rPr>
              <a:t>– Project STO Chilled</a:t>
            </a:r>
          </a:p>
          <a:p>
            <a:pPr algn="ctr"/>
            <a:r>
              <a:rPr lang="en-US" sz="2400" b="1">
                <a:latin typeface="Raleway"/>
              </a:rPr>
              <a:t>FPTK Priority​</a:t>
            </a:r>
          </a:p>
          <a:p>
            <a:endParaRPr lang="en-US" sz="2400" b="1">
              <a:latin typeface="Raleway"/>
            </a:endParaRPr>
          </a:p>
        </p:txBody>
      </p:sp>
      <p:sp>
        <p:nvSpPr>
          <p:cNvPr id="8" name="TextBox 7">
            <a:extLst>
              <a:ext uri="{FF2B5EF4-FFF2-40B4-BE49-F238E27FC236}">
                <a16:creationId xmlns:a16="http://schemas.microsoft.com/office/drawing/2014/main" id="{B636D542-4720-1CF1-AC57-3383F692DF5E}"/>
              </a:ext>
            </a:extLst>
          </p:cNvPr>
          <p:cNvSpPr txBox="1"/>
          <p:nvPr/>
        </p:nvSpPr>
        <p:spPr>
          <a:xfrm>
            <a:off x="506297" y="2039130"/>
            <a:ext cx="2201818" cy="523220"/>
          </a:xfrm>
          <a:prstGeom prst="rect">
            <a:avLst/>
          </a:prstGeom>
          <a:noFill/>
        </p:spPr>
        <p:txBody>
          <a:bodyPr wrap="square" lIns="91440" tIns="45720" rIns="91440" bIns="45720" anchor="t">
            <a:spAutoFit/>
          </a:bodyPr>
          <a:lstStyle/>
          <a:p>
            <a:r>
              <a:rPr lang="en-US" sz="1400" b="1">
                <a:solidFill>
                  <a:srgbClr val="002060"/>
                </a:solidFill>
                <a:latin typeface="Raleway"/>
              </a:rPr>
              <a:t>Open: 6 FPTK</a:t>
            </a:r>
            <a:endParaRPr lang="en-US" sz="1400">
              <a:ea typeface="Calibri"/>
              <a:cs typeface="Calibri"/>
            </a:endParaRPr>
          </a:p>
          <a:p>
            <a:r>
              <a:rPr lang="en-US" sz="1400" b="1">
                <a:solidFill>
                  <a:srgbClr val="002060"/>
                </a:solidFill>
                <a:latin typeface="Raleway"/>
                <a:ea typeface="Calibri" panose="020F0502020204030204"/>
                <a:cs typeface="Calibri" panose="020F0502020204030204"/>
              </a:rPr>
              <a:t>Closed: 14 FPTK</a:t>
            </a:r>
          </a:p>
        </p:txBody>
      </p:sp>
      <p:sp>
        <p:nvSpPr>
          <p:cNvPr id="6" name="TextBox 5">
            <a:extLst>
              <a:ext uri="{FF2B5EF4-FFF2-40B4-BE49-F238E27FC236}">
                <a16:creationId xmlns:a16="http://schemas.microsoft.com/office/drawing/2014/main" id="{669F36E0-3488-E949-E025-5A6D0B77D657}"/>
              </a:ext>
            </a:extLst>
          </p:cNvPr>
          <p:cNvSpPr txBox="1"/>
          <p:nvPr/>
        </p:nvSpPr>
        <p:spPr>
          <a:xfrm>
            <a:off x="153673" y="6471184"/>
            <a:ext cx="2907067" cy="261610"/>
          </a:xfrm>
          <a:prstGeom prst="rect">
            <a:avLst/>
          </a:prstGeom>
          <a:noFill/>
        </p:spPr>
        <p:txBody>
          <a:bodyPr wrap="square" lIns="91440" tIns="45720" rIns="91440" bIns="45720" rtlCol="0" anchor="t">
            <a:spAutoFit/>
          </a:bodyPr>
          <a:lstStyle/>
          <a:p>
            <a:pPr>
              <a:defRPr/>
            </a:pPr>
            <a:r>
              <a:rPr lang="en-US" sz="1100" i="1">
                <a:solidFill>
                  <a:prstClr val="black"/>
                </a:solidFill>
                <a:latin typeface="Raleway"/>
              </a:rPr>
              <a:t>*</a:t>
            </a:r>
            <a:r>
              <a:rPr kumimoji="0" lang="en-US" sz="1100" b="0" i="1" u="none" strike="noStrike" kern="1200" cap="none" spc="0" normalizeH="0" baseline="0" noProof="0">
                <a:ln>
                  <a:noFill/>
                </a:ln>
                <a:solidFill>
                  <a:prstClr val="black"/>
                </a:solidFill>
                <a:effectLst/>
                <a:uLnTx/>
                <a:uFillTx/>
                <a:latin typeface="Raleway"/>
                <a:ea typeface="+mn-ea"/>
                <a:cs typeface="+mn-cs"/>
              </a:rPr>
              <a:t>Update per </a:t>
            </a:r>
            <a:r>
              <a:rPr lang="en-US" sz="1100" i="1">
                <a:solidFill>
                  <a:prstClr val="black"/>
                </a:solidFill>
                <a:latin typeface="Raleway"/>
              </a:rPr>
              <a:t>7 Agustus 2026</a:t>
            </a:r>
            <a:endParaRPr lang="en-US">
              <a:solidFill>
                <a:prstClr val="black"/>
              </a:solidFill>
              <a:ea typeface="+mn-ea"/>
              <a:cs typeface="+mn-cs"/>
            </a:endParaRPr>
          </a:p>
        </p:txBody>
      </p:sp>
      <p:graphicFrame>
        <p:nvGraphicFramePr>
          <p:cNvPr id="2" name="Chart 1">
            <a:extLst>
              <a:ext uri="{FF2B5EF4-FFF2-40B4-BE49-F238E27FC236}">
                <a16:creationId xmlns:a16="http://schemas.microsoft.com/office/drawing/2014/main" id="{8B45B59D-1416-4A73-AF31-F969E7F01271}"/>
              </a:ext>
              <a:ext uri="{147F2762-F138-4A5C-976F-8EAC2B608ADB}">
                <a16:predDERef xmlns:a16="http://schemas.microsoft.com/office/drawing/2014/main" pred="{109B6A54-716E-4E87-B298-341E617E7CD6}"/>
              </a:ext>
            </a:extLst>
          </p:cNvPr>
          <p:cNvGraphicFramePr>
            <a:graphicFrameLocks/>
          </p:cNvGraphicFramePr>
          <p:nvPr/>
        </p:nvGraphicFramePr>
        <p:xfrm>
          <a:off x="1478293" y="1296884"/>
          <a:ext cx="9236158" cy="2295649"/>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209448205"/>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5392E9-AE82-7AF3-1CBB-1C34A7C2C3F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6E350D4-52E6-B0A0-788D-1BE0DC8BE875}"/>
              </a:ext>
            </a:extLst>
          </p:cNvPr>
          <p:cNvSpPr txBox="1">
            <a:spLocks/>
          </p:cNvSpPr>
          <p:nvPr/>
        </p:nvSpPr>
        <p:spPr>
          <a:xfrm>
            <a:off x="3031926" y="2702620"/>
            <a:ext cx="6128147" cy="1452759"/>
          </a:xfrm>
          <a:prstGeom prst="rect">
            <a:avLst/>
          </a:prstGeom>
        </p:spPr>
        <p:txBody>
          <a:bodyP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3200" b="1" i="0" u="none" strike="noStrike" kern="1200" cap="none" spc="0" normalizeH="0" baseline="0" noProof="0">
                <a:ln>
                  <a:noFill/>
                </a:ln>
                <a:solidFill>
                  <a:srgbClr val="002060"/>
                </a:solidFill>
                <a:effectLst/>
                <a:uLnTx/>
                <a:uFillTx/>
                <a:latin typeface="Futura Condensed Extra" pitchFamily="50" charset="0"/>
                <a:ea typeface="+mj-ea"/>
                <a:cs typeface="+mj-cs"/>
              </a:rPr>
              <a:t>UPDATE PROGRESS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3200" b="1" i="0" u="none" strike="noStrike" kern="1200" cap="none" spc="0" normalizeH="0" baseline="0" noProof="0">
                <a:ln>
                  <a:noFill/>
                </a:ln>
                <a:solidFill>
                  <a:srgbClr val="002060"/>
                </a:solidFill>
                <a:effectLst/>
                <a:uLnTx/>
                <a:uFillTx/>
                <a:latin typeface="Futura Condensed Extra" pitchFamily="50" charset="0"/>
                <a:ea typeface="+mj-ea"/>
                <a:cs typeface="+mj-cs"/>
              </a:rPr>
              <a:t>PEMENUHAN SDM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3200" b="1" i="0" u="none" strike="noStrike" kern="1200" cap="none" spc="0" normalizeH="0" baseline="0" noProof="0">
                <a:ln>
                  <a:noFill/>
                </a:ln>
                <a:solidFill>
                  <a:srgbClr val="002060"/>
                </a:solidFill>
                <a:effectLst/>
                <a:uLnTx/>
                <a:uFillTx/>
                <a:latin typeface="Futura Condensed Extra" pitchFamily="50" charset="0"/>
                <a:ea typeface="+mj-ea"/>
                <a:cs typeface="+mj-cs"/>
              </a:rPr>
              <a:t>SALES GT – STO CHILLED</a:t>
            </a:r>
          </a:p>
          <a:p>
            <a:pPr marL="0" marR="0" lvl="0" indent="0" algn="ctr" defTabSz="914400" rtl="0" eaLnBrk="1" fontAlgn="auto" latinLnBrk="0" hangingPunct="1">
              <a:lnSpc>
                <a:spcPct val="80000"/>
              </a:lnSpc>
              <a:spcBef>
                <a:spcPts val="0"/>
              </a:spcBef>
              <a:spcAft>
                <a:spcPts val="0"/>
              </a:spcAft>
              <a:buClrTx/>
              <a:buSzTx/>
              <a:buFontTx/>
              <a:buNone/>
              <a:tabLst/>
              <a:defRPr/>
            </a:pPr>
            <a:endParaRPr lang="en-US" sz="3200" b="1">
              <a:solidFill>
                <a:srgbClr val="002060"/>
              </a:solidFill>
              <a:latin typeface="Futura Condensed Extra" pitchFamily="50" charset="0"/>
            </a:endParaRP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3200" b="1" i="0" u="none" strike="noStrike" kern="1200" cap="none" spc="0" normalizeH="0" baseline="0" noProof="0">
                <a:ln>
                  <a:noFill/>
                </a:ln>
                <a:solidFill>
                  <a:srgbClr val="002060"/>
                </a:solidFill>
                <a:effectLst/>
                <a:uLnTx/>
                <a:uFillTx/>
                <a:latin typeface="Futura Condensed Extra" pitchFamily="50" charset="0"/>
                <a:ea typeface="+mj-ea"/>
                <a:cs typeface="+mj-cs"/>
              </a:rPr>
              <a:t>GELOMBANG 2</a:t>
            </a:r>
          </a:p>
        </p:txBody>
      </p:sp>
    </p:spTree>
    <p:extLst>
      <p:ext uri="{BB962C8B-B14F-4D97-AF65-F5344CB8AC3E}">
        <p14:creationId xmlns:p14="http://schemas.microsoft.com/office/powerpoint/2010/main" val="3887741130"/>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AEE1B2-5DEA-92A2-CB48-4F5C2F1A5B7F}"/>
            </a:ext>
          </a:extLst>
        </p:cNvPr>
        <p:cNvGrpSpPr/>
        <p:nvPr/>
      </p:nvGrpSpPr>
      <p:grpSpPr>
        <a:xfrm>
          <a:off x="0" y="0"/>
          <a:ext cx="0" cy="0"/>
          <a:chOff x="0" y="0"/>
          <a:chExt cx="0" cy="0"/>
        </a:xfrm>
      </p:grpSpPr>
      <p:sp>
        <p:nvSpPr>
          <p:cNvPr id="16" name="TextBox 15">
            <a:extLst>
              <a:ext uri="{FF2B5EF4-FFF2-40B4-BE49-F238E27FC236}">
                <a16:creationId xmlns:a16="http://schemas.microsoft.com/office/drawing/2014/main" id="{3E73680D-17A5-B3DF-6363-894F32B2DCCD}"/>
              </a:ext>
            </a:extLst>
          </p:cNvPr>
          <p:cNvSpPr txBox="1"/>
          <p:nvPr/>
        </p:nvSpPr>
        <p:spPr>
          <a:xfrm>
            <a:off x="512354" y="2955081"/>
            <a:ext cx="2201818" cy="738664"/>
          </a:xfrm>
          <a:prstGeom prst="rect">
            <a:avLst/>
          </a:prstGeom>
          <a:noFill/>
        </p:spPr>
        <p:txBody>
          <a:bodyPr wrap="square" lIns="91440" tIns="45720" rIns="91440" bIns="45720" anchor="t">
            <a:spAutoFit/>
          </a:bodyPr>
          <a:lstStyle/>
          <a:p>
            <a:r>
              <a:rPr lang="en-US" sz="1400" b="1">
                <a:solidFill>
                  <a:srgbClr val="002060"/>
                </a:solidFill>
                <a:latin typeface="Raleway"/>
              </a:rPr>
              <a:t>Open: 2 FPTK</a:t>
            </a:r>
            <a:endParaRPr lang="en-US" sz="1400">
              <a:ea typeface="Calibri"/>
              <a:cs typeface="Calibri"/>
            </a:endParaRPr>
          </a:p>
          <a:p>
            <a:r>
              <a:rPr lang="en-US" sz="1400" b="1">
                <a:solidFill>
                  <a:srgbClr val="002060"/>
                </a:solidFill>
                <a:latin typeface="Raleway"/>
                <a:ea typeface="Calibri" panose="020F0502020204030204"/>
                <a:cs typeface="Calibri" panose="020F0502020204030204"/>
              </a:rPr>
              <a:t>Closed: 35 FPTK</a:t>
            </a:r>
          </a:p>
          <a:p>
            <a:r>
              <a:rPr lang="en-US" sz="1400" b="1">
                <a:solidFill>
                  <a:srgbClr val="002060"/>
                </a:solidFill>
                <a:latin typeface="Raleway"/>
                <a:ea typeface="Calibri" panose="020F0502020204030204"/>
                <a:cs typeface="Calibri" panose="020F0502020204030204"/>
              </a:rPr>
              <a:t>Cancel: 4 FPTK</a:t>
            </a:r>
          </a:p>
        </p:txBody>
      </p:sp>
      <p:sp>
        <p:nvSpPr>
          <p:cNvPr id="8" name="TextBox 7">
            <a:extLst>
              <a:ext uri="{FF2B5EF4-FFF2-40B4-BE49-F238E27FC236}">
                <a16:creationId xmlns:a16="http://schemas.microsoft.com/office/drawing/2014/main" id="{5D30A563-7A7A-7CC5-7757-0514805D707A}"/>
              </a:ext>
            </a:extLst>
          </p:cNvPr>
          <p:cNvSpPr txBox="1"/>
          <p:nvPr/>
        </p:nvSpPr>
        <p:spPr>
          <a:xfrm>
            <a:off x="2714172" y="330199"/>
            <a:ext cx="6640285" cy="120032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2400" b="1" i="0" u="none" strike="noStrike" baseline="0">
                <a:solidFill>
                  <a:srgbClr val="000000"/>
                </a:solidFill>
                <a:latin typeface="Raleway"/>
              </a:rPr>
              <a:t>Recruitment Progress </a:t>
            </a:r>
            <a:r>
              <a:rPr lang="en-US" sz="2400" b="1">
                <a:solidFill>
                  <a:srgbClr val="000000"/>
                </a:solidFill>
                <a:latin typeface="Raleway"/>
              </a:rPr>
              <a:t>– Project STO Chilled</a:t>
            </a:r>
          </a:p>
          <a:p>
            <a:pPr algn="ctr"/>
            <a:r>
              <a:rPr lang="en-US" sz="2400" b="1" err="1">
                <a:latin typeface="Raleway"/>
              </a:rPr>
              <a:t>Gelombang</a:t>
            </a:r>
            <a:r>
              <a:rPr lang="en-US" sz="2400" b="1">
                <a:latin typeface="Raleway"/>
              </a:rPr>
              <a:t> 2</a:t>
            </a:r>
          </a:p>
          <a:p>
            <a:endParaRPr lang="en-US" sz="2400" b="1">
              <a:latin typeface="Raleway"/>
            </a:endParaRPr>
          </a:p>
        </p:txBody>
      </p:sp>
      <p:sp>
        <p:nvSpPr>
          <p:cNvPr id="9" name="TextBox 8">
            <a:extLst>
              <a:ext uri="{FF2B5EF4-FFF2-40B4-BE49-F238E27FC236}">
                <a16:creationId xmlns:a16="http://schemas.microsoft.com/office/drawing/2014/main" id="{85821529-C852-092F-22C3-2ED3EF0F0103}"/>
              </a:ext>
            </a:extLst>
          </p:cNvPr>
          <p:cNvSpPr txBox="1"/>
          <p:nvPr/>
        </p:nvSpPr>
        <p:spPr>
          <a:xfrm>
            <a:off x="3786944" y="4946543"/>
            <a:ext cx="4734560" cy="523220"/>
          </a:xfrm>
          <a:prstGeom prst="rect">
            <a:avLst/>
          </a:prstGeom>
          <a:noFill/>
        </p:spPr>
        <p:txBody>
          <a:bodyPr wrap="square" lIns="91440" tIns="45720" rIns="91440" bIns="45720" anchor="t">
            <a:spAutoFit/>
          </a:bodyPr>
          <a:lstStyle/>
          <a:p>
            <a:r>
              <a:rPr lang="en-US" sz="1400" b="1" err="1">
                <a:solidFill>
                  <a:srgbClr val="002060"/>
                </a:solidFill>
                <a:latin typeface="Raleway"/>
              </a:rPr>
              <a:t>Gelombang</a:t>
            </a:r>
            <a:r>
              <a:rPr lang="en-US" sz="1400" b="1">
                <a:solidFill>
                  <a:srgbClr val="002060"/>
                </a:solidFill>
                <a:latin typeface="Raleway"/>
              </a:rPr>
              <a:t> 2 – Start 19 Juni 2026</a:t>
            </a:r>
          </a:p>
          <a:p>
            <a:r>
              <a:rPr lang="en-US" sz="1400" b="1">
                <a:solidFill>
                  <a:srgbClr val="002060"/>
                </a:solidFill>
                <a:latin typeface="Raleway"/>
              </a:rPr>
              <a:t>Deadline </a:t>
            </a:r>
            <a:r>
              <a:rPr lang="en-US" sz="1400" b="1" err="1">
                <a:solidFill>
                  <a:srgbClr val="002060"/>
                </a:solidFill>
                <a:latin typeface="Raleway"/>
              </a:rPr>
              <a:t>Pemenuhan</a:t>
            </a:r>
            <a:r>
              <a:rPr lang="en-US" sz="1400" b="1">
                <a:solidFill>
                  <a:srgbClr val="002060"/>
                </a:solidFill>
                <a:latin typeface="Raleway"/>
              </a:rPr>
              <a:t> – 20 Juli 2026</a:t>
            </a:r>
          </a:p>
        </p:txBody>
      </p:sp>
      <p:sp>
        <p:nvSpPr>
          <p:cNvPr id="10" name="Rectangle 9">
            <a:extLst>
              <a:ext uri="{FF2B5EF4-FFF2-40B4-BE49-F238E27FC236}">
                <a16:creationId xmlns:a16="http://schemas.microsoft.com/office/drawing/2014/main" id="{61A90A5F-FAFF-5417-6ABC-55B5918D5679}"/>
              </a:ext>
            </a:extLst>
          </p:cNvPr>
          <p:cNvSpPr/>
          <p:nvPr/>
        </p:nvSpPr>
        <p:spPr>
          <a:xfrm>
            <a:off x="3784383" y="4515463"/>
            <a:ext cx="513220" cy="304885"/>
          </a:xfrm>
          <a:prstGeom prst="rect">
            <a:avLst/>
          </a:prstGeom>
          <a:noFill/>
          <a:ln w="5715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Box 3">
            <a:extLst>
              <a:ext uri="{FF2B5EF4-FFF2-40B4-BE49-F238E27FC236}">
                <a16:creationId xmlns:a16="http://schemas.microsoft.com/office/drawing/2014/main" id="{B0F07333-F950-C6A8-8582-FA8E2FD61C12}"/>
              </a:ext>
            </a:extLst>
          </p:cNvPr>
          <p:cNvSpPr txBox="1"/>
          <p:nvPr/>
        </p:nvSpPr>
        <p:spPr>
          <a:xfrm>
            <a:off x="153673" y="6461415"/>
            <a:ext cx="2907067" cy="261610"/>
          </a:xfrm>
          <a:prstGeom prst="rect">
            <a:avLst/>
          </a:prstGeom>
          <a:noFill/>
        </p:spPr>
        <p:txBody>
          <a:bodyPr wrap="square" lIns="91440" tIns="45720" rIns="91440" bIns="45720" rtlCol="0" anchor="t">
            <a:spAutoFit/>
          </a:bodyPr>
          <a:lstStyle/>
          <a:p>
            <a:pPr>
              <a:defRPr/>
            </a:pPr>
            <a:r>
              <a:rPr lang="en-US" sz="1100" i="1">
                <a:solidFill>
                  <a:prstClr val="black"/>
                </a:solidFill>
                <a:latin typeface="Raleway"/>
              </a:rPr>
              <a:t>*</a:t>
            </a:r>
            <a:r>
              <a:rPr kumimoji="0" lang="en-US" sz="1100" b="0" i="1" u="none" strike="noStrike" kern="1200" cap="none" spc="0" normalizeH="0" baseline="0" noProof="0">
                <a:ln>
                  <a:noFill/>
                </a:ln>
                <a:solidFill>
                  <a:prstClr val="black"/>
                </a:solidFill>
                <a:effectLst/>
                <a:uLnTx/>
                <a:uFillTx/>
                <a:latin typeface="Raleway"/>
                <a:ea typeface="+mn-ea"/>
                <a:cs typeface="+mn-cs"/>
              </a:rPr>
              <a:t>Update per </a:t>
            </a:r>
            <a:r>
              <a:rPr lang="en-US" sz="1100" i="1">
                <a:solidFill>
                  <a:prstClr val="black"/>
                </a:solidFill>
                <a:latin typeface="Raleway"/>
              </a:rPr>
              <a:t>7 Agustus 2026</a:t>
            </a:r>
            <a:endParaRPr lang="en-US">
              <a:solidFill>
                <a:prstClr val="black"/>
              </a:solidFill>
              <a:ea typeface="+mn-ea"/>
              <a:cs typeface="+mn-cs"/>
            </a:endParaRPr>
          </a:p>
        </p:txBody>
      </p:sp>
      <p:graphicFrame>
        <p:nvGraphicFramePr>
          <p:cNvPr id="2" name="Chart 1">
            <a:extLst>
              <a:ext uri="{FF2B5EF4-FFF2-40B4-BE49-F238E27FC236}">
                <a16:creationId xmlns:a16="http://schemas.microsoft.com/office/drawing/2014/main" id="{A9E1A7A8-8984-9732-778D-2B2F15F78ADB}"/>
              </a:ext>
              <a:ext uri="{147F2762-F138-4A5C-976F-8EAC2B608ADB}">
                <a16:predDERef xmlns:a16="http://schemas.microsoft.com/office/drawing/2014/main" pred="{109B6A54-716E-4E87-B298-341E617E7CD6}"/>
              </a:ext>
            </a:extLst>
          </p:cNvPr>
          <p:cNvGraphicFramePr>
            <a:graphicFrameLocks/>
          </p:cNvGraphicFramePr>
          <p:nvPr/>
        </p:nvGraphicFramePr>
        <p:xfrm>
          <a:off x="1300163" y="2019300"/>
          <a:ext cx="9572625" cy="2800350"/>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560802868"/>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D7ECF9-E65B-DEB7-2BCD-E40195726A44}"/>
            </a:ext>
          </a:extLst>
        </p:cNvPr>
        <p:cNvGrpSpPr/>
        <p:nvPr/>
      </p:nvGrpSpPr>
      <p:grpSpPr>
        <a:xfrm>
          <a:off x="0" y="0"/>
          <a:ext cx="0" cy="0"/>
          <a:chOff x="0" y="0"/>
          <a:chExt cx="0" cy="0"/>
        </a:xfrm>
      </p:grpSpPr>
      <p:sp>
        <p:nvSpPr>
          <p:cNvPr id="15" name="Text 0">
            <a:extLst>
              <a:ext uri="{FF2B5EF4-FFF2-40B4-BE49-F238E27FC236}">
                <a16:creationId xmlns:a16="http://schemas.microsoft.com/office/drawing/2014/main" id="{6629A11B-346E-6E96-5E59-6A4720D1F25C}"/>
              </a:ext>
            </a:extLst>
          </p:cNvPr>
          <p:cNvSpPr/>
          <p:nvPr/>
        </p:nvSpPr>
        <p:spPr>
          <a:xfrm>
            <a:off x="268258" y="-101600"/>
            <a:ext cx="9692640" cy="772439"/>
          </a:xfrm>
          <a:prstGeom prst="rect">
            <a:avLst/>
          </a:prstGeom>
          <a:noFill/>
          <a:ln/>
        </p:spPr>
        <p:txBody>
          <a:bodyPr wrap="square" lIns="0" tIns="0" rIns="0" bIns="0" rtlCol="0" anchor="ctr"/>
          <a:lstStyle/>
          <a:p>
            <a:pPr>
              <a:defRPr/>
            </a:pPr>
            <a:r>
              <a:rPr kumimoji="0" lang="en-US" sz="2400" b="1" i="0" u="none" strike="noStrike" kern="1200" cap="none" spc="0" normalizeH="0" baseline="0" noProof="0">
                <a:ln>
                  <a:noFill/>
                </a:ln>
                <a:effectLst/>
                <a:uLnTx/>
                <a:uFillTx/>
                <a:latin typeface="Raleway"/>
                <a:ea typeface="Raleway" pitchFamily="34" charset="-122"/>
                <a:cs typeface="Raleway" pitchFamily="34" charset="-120"/>
              </a:rPr>
              <a:t>STO Chilled: </a:t>
            </a:r>
            <a:r>
              <a:rPr lang="en-US" sz="2400" b="1">
                <a:latin typeface="Raleway"/>
                <a:ea typeface="Raleway" pitchFamily="34" charset="-122"/>
                <a:cs typeface="Raleway" pitchFamily="34" charset="-120"/>
              </a:rPr>
              <a:t>Man Power Planning</a:t>
            </a:r>
            <a:endParaRPr lang="en-US" sz="2400" b="0" i="0" u="none" strike="noStrike" kern="1200" cap="none" spc="0" normalizeH="0" baseline="0" noProof="0">
              <a:ln>
                <a:noFill/>
              </a:ln>
              <a:effectLst/>
              <a:uLnTx/>
              <a:uFillTx/>
              <a:latin typeface="Raleway"/>
            </a:endParaRPr>
          </a:p>
        </p:txBody>
      </p:sp>
      <p:sp>
        <p:nvSpPr>
          <p:cNvPr id="16" name="TextBox 15">
            <a:extLst>
              <a:ext uri="{FF2B5EF4-FFF2-40B4-BE49-F238E27FC236}">
                <a16:creationId xmlns:a16="http://schemas.microsoft.com/office/drawing/2014/main" id="{0456F01E-8519-8C62-2EF6-27E7B2B1F94D}"/>
              </a:ext>
            </a:extLst>
          </p:cNvPr>
          <p:cNvSpPr txBox="1"/>
          <p:nvPr/>
        </p:nvSpPr>
        <p:spPr>
          <a:xfrm>
            <a:off x="229326" y="393310"/>
            <a:ext cx="9357360" cy="276999"/>
          </a:xfrm>
          <a:prstGeom prst="rect">
            <a:avLst/>
          </a:prstGeom>
          <a:noFill/>
        </p:spPr>
        <p:txBody>
          <a:bodyPr wrap="square" lIns="91440" tIns="45720" rIns="91440" bIns="45720" anchor="t">
            <a:spAutoFit/>
          </a:bodyPr>
          <a:lstStyle/>
          <a:p>
            <a:r>
              <a:rPr lang="en-US" sz="1200">
                <a:solidFill>
                  <a:srgbClr val="002060"/>
                </a:solidFill>
                <a:latin typeface="Raleway"/>
              </a:rPr>
              <a:t>Mapping</a:t>
            </a:r>
            <a:r>
              <a:rPr lang="en-US" sz="1200">
                <a:solidFill>
                  <a:srgbClr val="002060"/>
                </a:solidFill>
                <a:effectLst/>
                <a:latin typeface="Raleway"/>
              </a:rPr>
              <a:t> manpower </a:t>
            </a:r>
            <a:r>
              <a:rPr lang="en-US" sz="1200">
                <a:solidFill>
                  <a:srgbClr val="002060"/>
                </a:solidFill>
                <a:latin typeface="Raleway"/>
              </a:rPr>
              <a:t>Project STO</a:t>
            </a:r>
            <a:r>
              <a:rPr lang="en-US" sz="1200">
                <a:solidFill>
                  <a:srgbClr val="002060"/>
                </a:solidFill>
                <a:effectLst/>
                <a:latin typeface="Raleway"/>
              </a:rPr>
              <a:t> (Chilled) </a:t>
            </a:r>
            <a:r>
              <a:rPr lang="en-US" sz="1200">
                <a:solidFill>
                  <a:srgbClr val="002060"/>
                </a:solidFill>
                <a:latin typeface="Raleway"/>
              </a:rPr>
              <a:t>- </a:t>
            </a:r>
            <a:r>
              <a:rPr lang="en-US" sz="1200" b="1" err="1">
                <a:solidFill>
                  <a:srgbClr val="002060"/>
                </a:solidFill>
                <a:latin typeface="Raleway"/>
              </a:rPr>
              <a:t>Gelombang</a:t>
            </a:r>
            <a:r>
              <a:rPr lang="en-US" sz="1200" b="1">
                <a:solidFill>
                  <a:srgbClr val="002060"/>
                </a:solidFill>
                <a:latin typeface="Raleway"/>
              </a:rPr>
              <a:t> 2 </a:t>
            </a:r>
            <a:r>
              <a:rPr lang="en-US" sz="1200">
                <a:solidFill>
                  <a:srgbClr val="002060"/>
                </a:solidFill>
                <a:latin typeface="Raleway"/>
              </a:rPr>
              <a:t>–</a:t>
            </a:r>
            <a:r>
              <a:rPr lang="en-US" sz="1200" b="1">
                <a:solidFill>
                  <a:srgbClr val="002060"/>
                </a:solidFill>
                <a:latin typeface="Raleway"/>
              </a:rPr>
              <a:t> Start 20 Juni </a:t>
            </a:r>
            <a:r>
              <a:rPr lang="en-US" sz="1200" b="1">
                <a:solidFill>
                  <a:srgbClr val="002060"/>
                </a:solidFill>
                <a:effectLst/>
                <a:latin typeface="Raleway"/>
              </a:rPr>
              <a:t>2026.</a:t>
            </a:r>
            <a:endParaRPr lang="en-US" sz="1200" b="1">
              <a:solidFill>
                <a:srgbClr val="002060"/>
              </a:solidFill>
            </a:endParaRPr>
          </a:p>
        </p:txBody>
      </p:sp>
      <p:sp>
        <p:nvSpPr>
          <p:cNvPr id="4" name="TextBox 16">
            <a:extLst>
              <a:ext uri="{FF2B5EF4-FFF2-40B4-BE49-F238E27FC236}">
                <a16:creationId xmlns:a16="http://schemas.microsoft.com/office/drawing/2014/main" id="{DBB8246A-E6A0-66D0-B80B-CDD9C0C91ADC}"/>
              </a:ext>
            </a:extLst>
          </p:cNvPr>
          <p:cNvSpPr txBox="1"/>
          <p:nvPr/>
        </p:nvSpPr>
        <p:spPr>
          <a:xfrm>
            <a:off x="7637034" y="2303741"/>
            <a:ext cx="3897732" cy="2246769"/>
          </a:xfrm>
          <a:prstGeom prst="rect">
            <a:avLst/>
          </a:prstGeom>
          <a:noFill/>
        </p:spPr>
        <p:txBody>
          <a:bodyPr wrap="square" lIns="91440" tIns="45720" rIns="91440" bIns="45720" anchor="t">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171450" indent="-171450">
              <a:buFont typeface="Arial" panose="020B0604020202020204" pitchFamily="34" charset="0"/>
              <a:buChar char="•"/>
            </a:pPr>
            <a:r>
              <a:rPr lang="en-US" sz="1400" b="1" err="1">
                <a:solidFill>
                  <a:srgbClr val="000000"/>
                </a:solidFill>
                <a:latin typeface="Raleway"/>
              </a:rPr>
              <a:t>Gelombang</a:t>
            </a:r>
            <a:r>
              <a:rPr lang="en-US" sz="1400" b="1">
                <a:solidFill>
                  <a:srgbClr val="000000"/>
                </a:solidFill>
                <a:latin typeface="Raleway"/>
              </a:rPr>
              <a:t> 2 </a:t>
            </a:r>
            <a:r>
              <a:rPr lang="en-US" sz="1400" err="1">
                <a:solidFill>
                  <a:srgbClr val="000000"/>
                </a:solidFill>
                <a:latin typeface="Raleway"/>
              </a:rPr>
              <a:t>dimulai</a:t>
            </a:r>
            <a:r>
              <a:rPr lang="en-US" sz="1400">
                <a:solidFill>
                  <a:srgbClr val="000000"/>
                </a:solidFill>
                <a:latin typeface="Raleway"/>
              </a:rPr>
              <a:t> pada </a:t>
            </a:r>
            <a:r>
              <a:rPr lang="en-US" sz="1400" b="1">
                <a:solidFill>
                  <a:srgbClr val="000000"/>
                </a:solidFill>
                <a:latin typeface="Raleway"/>
              </a:rPr>
              <a:t>19 Juni 2026</a:t>
            </a:r>
            <a:r>
              <a:rPr lang="en-US" sz="1400">
                <a:solidFill>
                  <a:srgbClr val="000000"/>
                </a:solidFill>
                <a:latin typeface="Raleway"/>
              </a:rPr>
              <a:t>, </a:t>
            </a:r>
            <a:r>
              <a:rPr lang="en-US" sz="1400" err="1">
                <a:solidFill>
                  <a:srgbClr val="000000"/>
                </a:solidFill>
                <a:latin typeface="Raleway"/>
              </a:rPr>
              <a:t>dengan</a:t>
            </a:r>
            <a:r>
              <a:rPr lang="en-US" sz="1400">
                <a:solidFill>
                  <a:srgbClr val="000000"/>
                </a:solidFill>
                <a:latin typeface="Raleway"/>
              </a:rPr>
              <a:t> total FPTK yang </a:t>
            </a:r>
            <a:r>
              <a:rPr lang="en-US" sz="1400" err="1">
                <a:solidFill>
                  <a:srgbClr val="000000"/>
                </a:solidFill>
                <a:latin typeface="Raleway"/>
              </a:rPr>
              <a:t>perlu</a:t>
            </a:r>
            <a:r>
              <a:rPr lang="en-US" sz="1400">
                <a:solidFill>
                  <a:srgbClr val="000000"/>
                </a:solidFill>
                <a:latin typeface="Raleway"/>
              </a:rPr>
              <a:t> </a:t>
            </a:r>
            <a:r>
              <a:rPr lang="en-US" sz="1400" err="1">
                <a:solidFill>
                  <a:srgbClr val="000000"/>
                </a:solidFill>
                <a:latin typeface="Raleway"/>
              </a:rPr>
              <a:t>dipenuhi</a:t>
            </a:r>
            <a:r>
              <a:rPr lang="en-US" sz="1400">
                <a:solidFill>
                  <a:srgbClr val="000000"/>
                </a:solidFill>
                <a:latin typeface="Raleway"/>
              </a:rPr>
              <a:t> </a:t>
            </a:r>
            <a:r>
              <a:rPr lang="en-US" sz="1400" err="1">
                <a:solidFill>
                  <a:srgbClr val="000000"/>
                </a:solidFill>
                <a:latin typeface="Raleway"/>
              </a:rPr>
              <a:t>sebanyak</a:t>
            </a:r>
            <a:r>
              <a:rPr lang="en-US" sz="1400">
                <a:solidFill>
                  <a:srgbClr val="000000"/>
                </a:solidFill>
                <a:latin typeface="Raleway"/>
              </a:rPr>
              <a:t> </a:t>
            </a:r>
            <a:r>
              <a:rPr lang="en-US" sz="1400" b="1">
                <a:solidFill>
                  <a:srgbClr val="000000"/>
                </a:solidFill>
                <a:latin typeface="Raleway"/>
              </a:rPr>
              <a:t>41 FPTK, </a:t>
            </a:r>
            <a:r>
              <a:rPr lang="en-US" sz="1400" err="1">
                <a:solidFill>
                  <a:srgbClr val="000000"/>
                </a:solidFill>
                <a:latin typeface="Raleway"/>
              </a:rPr>
              <a:t>dengan</a:t>
            </a:r>
            <a:r>
              <a:rPr lang="en-US" sz="1400">
                <a:solidFill>
                  <a:srgbClr val="000000"/>
                </a:solidFill>
                <a:latin typeface="Raleway"/>
              </a:rPr>
              <a:t> </a:t>
            </a:r>
            <a:r>
              <a:rPr lang="en-US" sz="1400" err="1">
                <a:solidFill>
                  <a:srgbClr val="000000"/>
                </a:solidFill>
                <a:latin typeface="Raleway"/>
              </a:rPr>
              <a:t>rincian</a:t>
            </a:r>
            <a:r>
              <a:rPr lang="en-US" sz="1400">
                <a:solidFill>
                  <a:srgbClr val="000000"/>
                </a:solidFill>
                <a:latin typeface="Raleway"/>
              </a:rPr>
              <a:t> </a:t>
            </a:r>
            <a:endParaRPr lang="en-US" sz="1400" b="1">
              <a:solidFill>
                <a:srgbClr val="000000"/>
              </a:solidFill>
              <a:latin typeface="Raleway"/>
            </a:endParaRPr>
          </a:p>
          <a:p>
            <a:pPr marL="628650" lvl="1" indent="-171450">
              <a:buFont typeface="Courier New" panose="020B0604020202020204" pitchFamily="34" charset="0"/>
              <a:buChar char="o"/>
            </a:pPr>
            <a:r>
              <a:rPr lang="en-US" sz="1400" b="1">
                <a:solidFill>
                  <a:srgbClr val="000000"/>
                </a:solidFill>
                <a:latin typeface="Raleway"/>
              </a:rPr>
              <a:t>35 FPTK Closed</a:t>
            </a:r>
          </a:p>
          <a:p>
            <a:pPr marL="628650" lvl="1" indent="-171450">
              <a:buFont typeface="Courier New" panose="020B0604020202020204" pitchFamily="34" charset="0"/>
              <a:buChar char="o"/>
            </a:pPr>
            <a:r>
              <a:rPr lang="en-US" sz="1400" b="1">
                <a:solidFill>
                  <a:srgbClr val="000000"/>
                </a:solidFill>
                <a:latin typeface="Raleway"/>
              </a:rPr>
              <a:t>2 FPTK Open</a:t>
            </a:r>
            <a:endParaRPr lang="en-US" sz="1400" b="1">
              <a:latin typeface="Raleway"/>
            </a:endParaRPr>
          </a:p>
          <a:p>
            <a:pPr marL="628650" lvl="1" indent="-171450">
              <a:buFont typeface="Courier New" panose="020B0604020202020204" pitchFamily="34" charset="0"/>
              <a:buChar char="o"/>
            </a:pPr>
            <a:r>
              <a:rPr lang="en-US" sz="1400" b="1">
                <a:solidFill>
                  <a:srgbClr val="000000"/>
                </a:solidFill>
                <a:latin typeface="Raleway"/>
                <a:ea typeface="Calibri"/>
                <a:cs typeface="Calibri"/>
              </a:rPr>
              <a:t>4 FPTK Cancel</a:t>
            </a:r>
          </a:p>
          <a:p>
            <a:endParaRPr lang="en-US" sz="1400" b="1">
              <a:solidFill>
                <a:srgbClr val="000000"/>
              </a:solidFill>
              <a:latin typeface="Raleway"/>
              <a:ea typeface="Calibri"/>
              <a:cs typeface="Calibri"/>
            </a:endParaRPr>
          </a:p>
          <a:p>
            <a:pPr marL="171450" indent="-171450">
              <a:buFont typeface="Arial" panose="020B0604020202020204" pitchFamily="34" charset="0"/>
              <a:buChar char="•"/>
            </a:pPr>
            <a:r>
              <a:rPr lang="en-US" sz="1400" err="1">
                <a:solidFill>
                  <a:srgbClr val="000000"/>
                </a:solidFill>
                <a:latin typeface="Raleway"/>
                <a:ea typeface="Calibri"/>
                <a:cs typeface="Calibri"/>
              </a:rPr>
              <a:t>Pemenuhan</a:t>
            </a:r>
            <a:r>
              <a:rPr lang="en-US" sz="1400">
                <a:solidFill>
                  <a:srgbClr val="000000"/>
                </a:solidFill>
                <a:latin typeface="Raleway"/>
                <a:ea typeface="Calibri"/>
                <a:cs typeface="Calibri"/>
              </a:rPr>
              <a:t> </a:t>
            </a:r>
            <a:r>
              <a:rPr lang="en-US" sz="1400" b="1" err="1">
                <a:solidFill>
                  <a:srgbClr val="000000"/>
                </a:solidFill>
                <a:latin typeface="Raleway"/>
                <a:ea typeface="Calibri"/>
                <a:cs typeface="Calibri"/>
              </a:rPr>
              <a:t>gelombang</a:t>
            </a:r>
            <a:r>
              <a:rPr lang="en-US" sz="1400" b="1">
                <a:solidFill>
                  <a:srgbClr val="000000"/>
                </a:solidFill>
                <a:latin typeface="Raleway"/>
                <a:ea typeface="Calibri"/>
                <a:cs typeface="Calibri"/>
              </a:rPr>
              <a:t> 2 </a:t>
            </a:r>
            <a:r>
              <a:rPr lang="en-US" sz="1400" b="1" err="1">
                <a:solidFill>
                  <a:srgbClr val="000000"/>
                </a:solidFill>
                <a:latin typeface="Raleway"/>
                <a:ea typeface="Calibri"/>
                <a:cs typeface="Calibri"/>
              </a:rPr>
              <a:t>dimulai</a:t>
            </a:r>
            <a:r>
              <a:rPr lang="en-US" sz="1400" b="1">
                <a:solidFill>
                  <a:srgbClr val="000000"/>
                </a:solidFill>
                <a:latin typeface="Raleway"/>
                <a:ea typeface="Calibri"/>
                <a:cs typeface="Calibri"/>
              </a:rPr>
              <a:t> </a:t>
            </a:r>
            <a:r>
              <a:rPr lang="en-US" sz="1400" b="1" err="1">
                <a:solidFill>
                  <a:srgbClr val="000000"/>
                </a:solidFill>
                <a:latin typeface="Raleway"/>
                <a:ea typeface="Calibri"/>
                <a:cs typeface="Calibri"/>
              </a:rPr>
              <a:t>lebih</a:t>
            </a:r>
            <a:r>
              <a:rPr lang="en-US" sz="1400" b="1">
                <a:solidFill>
                  <a:srgbClr val="000000"/>
                </a:solidFill>
                <a:latin typeface="Raleway"/>
                <a:ea typeface="Calibri"/>
                <a:cs typeface="Calibri"/>
              </a:rPr>
              <a:t> </a:t>
            </a:r>
            <a:r>
              <a:rPr lang="en-US" sz="1400" b="1" err="1">
                <a:solidFill>
                  <a:srgbClr val="000000"/>
                </a:solidFill>
                <a:latin typeface="Raleway"/>
                <a:ea typeface="Calibri"/>
                <a:cs typeface="Calibri"/>
              </a:rPr>
              <a:t>awal</a:t>
            </a:r>
            <a:r>
              <a:rPr lang="en-US" sz="1400">
                <a:solidFill>
                  <a:srgbClr val="000000"/>
                </a:solidFill>
                <a:latin typeface="Raleway"/>
                <a:ea typeface="Calibri"/>
                <a:cs typeface="Calibri"/>
              </a:rPr>
              <a:t> </a:t>
            </a:r>
            <a:r>
              <a:rPr lang="en-US" sz="1400" err="1">
                <a:solidFill>
                  <a:srgbClr val="000000"/>
                </a:solidFill>
                <a:latin typeface="Raleway"/>
                <a:ea typeface="Calibri"/>
                <a:cs typeface="Calibri"/>
              </a:rPr>
              <a:t>karena</a:t>
            </a:r>
            <a:r>
              <a:rPr lang="en-US" sz="1400">
                <a:solidFill>
                  <a:srgbClr val="000000"/>
                </a:solidFill>
                <a:latin typeface="Raleway"/>
                <a:ea typeface="Calibri"/>
                <a:cs typeface="Calibri"/>
              </a:rPr>
              <a:t> </a:t>
            </a:r>
            <a:r>
              <a:rPr lang="en-US" sz="1400" b="1" err="1">
                <a:solidFill>
                  <a:srgbClr val="000000"/>
                </a:solidFill>
                <a:latin typeface="Raleway"/>
                <a:ea typeface="Calibri"/>
                <a:cs typeface="Calibri"/>
              </a:rPr>
              <a:t>beberapa</a:t>
            </a:r>
            <a:r>
              <a:rPr lang="en-US" sz="1400" b="1">
                <a:solidFill>
                  <a:srgbClr val="000000"/>
                </a:solidFill>
                <a:latin typeface="Raleway"/>
                <a:ea typeface="Calibri"/>
                <a:cs typeface="Calibri"/>
              </a:rPr>
              <a:t> FPTK</a:t>
            </a:r>
            <a:r>
              <a:rPr lang="en-US" sz="1400">
                <a:solidFill>
                  <a:srgbClr val="000000"/>
                </a:solidFill>
                <a:latin typeface="Raleway"/>
                <a:ea typeface="Calibri"/>
                <a:cs typeface="Calibri"/>
              </a:rPr>
              <a:t> </a:t>
            </a:r>
            <a:r>
              <a:rPr lang="en-US" sz="1400" err="1">
                <a:solidFill>
                  <a:srgbClr val="000000"/>
                </a:solidFill>
                <a:latin typeface="Raleway"/>
                <a:ea typeface="Calibri"/>
                <a:cs typeface="Calibri"/>
              </a:rPr>
              <a:t>sudah</a:t>
            </a:r>
            <a:r>
              <a:rPr lang="en-US" sz="1400">
                <a:solidFill>
                  <a:srgbClr val="000000"/>
                </a:solidFill>
                <a:latin typeface="Raleway"/>
                <a:ea typeface="Calibri"/>
                <a:cs typeface="Calibri"/>
              </a:rPr>
              <a:t> </a:t>
            </a:r>
            <a:r>
              <a:rPr lang="en-US" sz="1400" b="1" err="1">
                <a:solidFill>
                  <a:srgbClr val="000000"/>
                </a:solidFill>
                <a:latin typeface="Raleway"/>
                <a:ea typeface="Calibri"/>
                <a:cs typeface="Calibri"/>
              </a:rPr>
              <a:t>memiliki</a:t>
            </a:r>
            <a:r>
              <a:rPr lang="en-US" sz="1400" b="1">
                <a:solidFill>
                  <a:srgbClr val="000000"/>
                </a:solidFill>
                <a:latin typeface="Raleway"/>
                <a:ea typeface="Calibri"/>
                <a:cs typeface="Calibri"/>
              </a:rPr>
              <a:t> </a:t>
            </a:r>
            <a:r>
              <a:rPr lang="en-US" sz="1400" b="1" err="1">
                <a:solidFill>
                  <a:srgbClr val="000000"/>
                </a:solidFill>
                <a:latin typeface="Raleway"/>
                <a:ea typeface="Calibri"/>
                <a:cs typeface="Calibri"/>
              </a:rPr>
              <a:t>kandidat</a:t>
            </a:r>
            <a:r>
              <a:rPr lang="en-US" sz="1400" b="1">
                <a:solidFill>
                  <a:srgbClr val="000000"/>
                </a:solidFill>
                <a:latin typeface="Raleway"/>
                <a:ea typeface="Calibri"/>
                <a:cs typeface="Calibri"/>
              </a:rPr>
              <a:t> yang </a:t>
            </a:r>
            <a:r>
              <a:rPr lang="en-US" sz="1400" b="1" err="1">
                <a:solidFill>
                  <a:srgbClr val="000000"/>
                </a:solidFill>
                <a:latin typeface="Raleway"/>
                <a:ea typeface="Calibri"/>
                <a:cs typeface="Calibri"/>
              </a:rPr>
              <a:t>dapat</a:t>
            </a:r>
            <a:r>
              <a:rPr lang="en-US" sz="1400" b="1">
                <a:solidFill>
                  <a:srgbClr val="000000"/>
                </a:solidFill>
                <a:latin typeface="Raleway"/>
                <a:ea typeface="Calibri"/>
                <a:cs typeface="Calibri"/>
              </a:rPr>
              <a:t> </a:t>
            </a:r>
            <a:r>
              <a:rPr lang="en-US" sz="1400" b="1" err="1">
                <a:solidFill>
                  <a:srgbClr val="000000"/>
                </a:solidFill>
                <a:latin typeface="Raleway"/>
                <a:ea typeface="Calibri"/>
                <a:cs typeface="Calibri"/>
              </a:rPr>
              <a:t>diproses</a:t>
            </a:r>
            <a:r>
              <a:rPr lang="en-US" sz="1400" b="1">
                <a:solidFill>
                  <a:srgbClr val="000000"/>
                </a:solidFill>
                <a:latin typeface="Raleway"/>
                <a:ea typeface="Calibri"/>
                <a:cs typeface="Calibri"/>
              </a:rPr>
              <a:t>. </a:t>
            </a:r>
          </a:p>
        </p:txBody>
      </p:sp>
      <p:sp>
        <p:nvSpPr>
          <p:cNvPr id="2" name="TextBox 1">
            <a:extLst>
              <a:ext uri="{FF2B5EF4-FFF2-40B4-BE49-F238E27FC236}">
                <a16:creationId xmlns:a16="http://schemas.microsoft.com/office/drawing/2014/main" id="{9709E854-37B5-5D75-09C0-ADAF98CF5454}"/>
              </a:ext>
            </a:extLst>
          </p:cNvPr>
          <p:cNvSpPr txBox="1"/>
          <p:nvPr/>
        </p:nvSpPr>
        <p:spPr>
          <a:xfrm>
            <a:off x="7737641" y="6368234"/>
            <a:ext cx="2907067" cy="261610"/>
          </a:xfrm>
          <a:prstGeom prst="rect">
            <a:avLst/>
          </a:prstGeom>
          <a:noFill/>
        </p:spPr>
        <p:txBody>
          <a:bodyPr wrap="square" lIns="91440" tIns="45720" rIns="91440" bIns="45720" rtlCol="0" anchor="t">
            <a:spAutoFit/>
          </a:bodyPr>
          <a:lstStyle/>
          <a:p>
            <a:pPr>
              <a:defRPr/>
            </a:pPr>
            <a:r>
              <a:rPr lang="en-US" sz="1100" i="1">
                <a:solidFill>
                  <a:prstClr val="black"/>
                </a:solidFill>
                <a:latin typeface="Raleway"/>
              </a:rPr>
              <a:t>*</a:t>
            </a:r>
            <a:r>
              <a:rPr kumimoji="0" lang="en-US" sz="1100" b="0" i="1" u="none" strike="noStrike" kern="1200" cap="none" spc="0" normalizeH="0" baseline="0" noProof="0">
                <a:ln>
                  <a:noFill/>
                </a:ln>
                <a:solidFill>
                  <a:prstClr val="black"/>
                </a:solidFill>
                <a:effectLst/>
                <a:uLnTx/>
                <a:uFillTx/>
                <a:latin typeface="Raleway"/>
                <a:ea typeface="+mn-ea"/>
                <a:cs typeface="+mn-cs"/>
              </a:rPr>
              <a:t>Update per </a:t>
            </a:r>
            <a:r>
              <a:rPr lang="en-US" sz="1100" i="1">
                <a:solidFill>
                  <a:prstClr val="black"/>
                </a:solidFill>
                <a:latin typeface="Raleway"/>
              </a:rPr>
              <a:t>7 Agustus 2026</a:t>
            </a:r>
            <a:endParaRPr lang="en-US">
              <a:solidFill>
                <a:prstClr val="black"/>
              </a:solidFill>
              <a:ea typeface="+mn-ea"/>
              <a:cs typeface="+mn-cs"/>
            </a:endParaRPr>
          </a:p>
        </p:txBody>
      </p:sp>
      <p:graphicFrame>
        <p:nvGraphicFramePr>
          <p:cNvPr id="6" name="Table 5">
            <a:extLst>
              <a:ext uri="{FF2B5EF4-FFF2-40B4-BE49-F238E27FC236}">
                <a16:creationId xmlns:a16="http://schemas.microsoft.com/office/drawing/2014/main" id="{D05025DA-F232-4F01-6DCC-C08A8D063756}"/>
              </a:ext>
            </a:extLst>
          </p:cNvPr>
          <p:cNvGraphicFramePr>
            <a:graphicFrameLocks noGrp="1"/>
          </p:cNvGraphicFramePr>
          <p:nvPr/>
        </p:nvGraphicFramePr>
        <p:xfrm>
          <a:off x="225665" y="675188"/>
          <a:ext cx="7340203" cy="6020016"/>
        </p:xfrm>
        <a:graphic>
          <a:graphicData uri="http://schemas.openxmlformats.org/drawingml/2006/table">
            <a:tbl>
              <a:tblPr bandRow="1">
                <a:tableStyleId>{5C22544A-7EE6-4342-B048-85BDC9FD1C3A}</a:tableStyleId>
              </a:tblPr>
              <a:tblGrid>
                <a:gridCol w="888815">
                  <a:extLst>
                    <a:ext uri="{9D8B030D-6E8A-4147-A177-3AD203B41FA5}">
                      <a16:colId xmlns:a16="http://schemas.microsoft.com/office/drawing/2014/main" val="1535621222"/>
                    </a:ext>
                  </a:extLst>
                </a:gridCol>
                <a:gridCol w="1244278">
                  <a:extLst>
                    <a:ext uri="{9D8B030D-6E8A-4147-A177-3AD203B41FA5}">
                      <a16:colId xmlns:a16="http://schemas.microsoft.com/office/drawing/2014/main" val="501297739"/>
                    </a:ext>
                  </a:extLst>
                </a:gridCol>
                <a:gridCol w="549797">
                  <a:extLst>
                    <a:ext uri="{9D8B030D-6E8A-4147-A177-3AD203B41FA5}">
                      <a16:colId xmlns:a16="http://schemas.microsoft.com/office/drawing/2014/main" val="1671487141"/>
                    </a:ext>
                  </a:extLst>
                </a:gridCol>
                <a:gridCol w="491923">
                  <a:extLst>
                    <a:ext uri="{9D8B030D-6E8A-4147-A177-3AD203B41FA5}">
                      <a16:colId xmlns:a16="http://schemas.microsoft.com/office/drawing/2014/main" val="1112100808"/>
                    </a:ext>
                  </a:extLst>
                </a:gridCol>
                <a:gridCol w="593202">
                  <a:extLst>
                    <a:ext uri="{9D8B030D-6E8A-4147-A177-3AD203B41FA5}">
                      <a16:colId xmlns:a16="http://schemas.microsoft.com/office/drawing/2014/main" val="3210393097"/>
                    </a:ext>
                  </a:extLst>
                </a:gridCol>
                <a:gridCol w="1461303">
                  <a:extLst>
                    <a:ext uri="{9D8B030D-6E8A-4147-A177-3AD203B41FA5}">
                      <a16:colId xmlns:a16="http://schemas.microsoft.com/office/drawing/2014/main" val="2902381367"/>
                    </a:ext>
                  </a:extLst>
                </a:gridCol>
                <a:gridCol w="532988">
                  <a:extLst>
                    <a:ext uri="{9D8B030D-6E8A-4147-A177-3AD203B41FA5}">
                      <a16:colId xmlns:a16="http://schemas.microsoft.com/office/drawing/2014/main" val="165258918"/>
                    </a:ext>
                  </a:extLst>
                </a:gridCol>
                <a:gridCol w="589215">
                  <a:extLst>
                    <a:ext uri="{9D8B030D-6E8A-4147-A177-3AD203B41FA5}">
                      <a16:colId xmlns:a16="http://schemas.microsoft.com/office/drawing/2014/main" val="4239880357"/>
                    </a:ext>
                  </a:extLst>
                </a:gridCol>
                <a:gridCol w="988682">
                  <a:extLst>
                    <a:ext uri="{9D8B030D-6E8A-4147-A177-3AD203B41FA5}">
                      <a16:colId xmlns:a16="http://schemas.microsoft.com/office/drawing/2014/main" val="518194702"/>
                    </a:ext>
                  </a:extLst>
                </a:gridCol>
              </a:tblGrid>
              <a:tr h="435216">
                <a:tc>
                  <a:txBody>
                    <a:bodyPr/>
                    <a:lstStyle/>
                    <a:p>
                      <a:pPr algn="ctr" rtl="0" fontAlgn="ctr">
                        <a:buNone/>
                      </a:pPr>
                      <a:r>
                        <a:rPr lang="en-US" sz="900" b="1">
                          <a:solidFill>
                            <a:srgbClr val="FFFFFF"/>
                          </a:solidFill>
                          <a:effectLst/>
                          <a:latin typeface="Raleway"/>
                        </a:rPr>
                        <a:t>RSM</a:t>
                      </a:r>
                    </a:p>
                  </a:txBody>
                  <a:tcPr marL="9525" marR="9525" marT="9525" anchor="ctr">
                    <a:lnL w="12700" cap="flat" cmpd="sng" algn="ctr">
                      <a:solidFill>
                        <a:srgbClr val="B0E9B5"/>
                      </a:solidFill>
                      <a:prstDash val="solid"/>
                      <a:round/>
                      <a:headEnd type="none" w="med" len="med"/>
                      <a:tailEnd type="none" w="med" len="med"/>
                    </a:lnL>
                    <a:lnR>
                      <a:noFill/>
                    </a:lnR>
                    <a:lnT w="12700" cap="flat" cmpd="sng" algn="ctr">
                      <a:solidFill>
                        <a:srgbClr val="B0E9B5"/>
                      </a:solidFill>
                      <a:prstDash val="solid"/>
                      <a:round/>
                      <a:headEnd type="none" w="med" len="med"/>
                      <a:tailEnd type="none" w="med" len="med"/>
                    </a:lnT>
                    <a:lnB>
                      <a:noFill/>
                    </a:lnB>
                    <a:solidFill>
                      <a:srgbClr val="002060"/>
                    </a:solidFill>
                  </a:tcPr>
                </a:tc>
                <a:tc>
                  <a:txBody>
                    <a:bodyPr/>
                    <a:lstStyle/>
                    <a:p>
                      <a:pPr algn="ctr" rtl="0" fontAlgn="ctr">
                        <a:buNone/>
                      </a:pPr>
                      <a:r>
                        <a:rPr lang="en-US" sz="900" b="1">
                          <a:solidFill>
                            <a:srgbClr val="FFFFFF"/>
                          </a:solidFill>
                          <a:effectLst/>
                          <a:latin typeface="Raleway"/>
                        </a:rPr>
                        <a:t>Area</a:t>
                      </a:r>
                    </a:p>
                  </a:txBody>
                  <a:tcPr marL="9525" marR="9525" marT="9525" anchor="ctr">
                    <a:lnL>
                      <a:noFill/>
                    </a:lnL>
                    <a:lnR>
                      <a:noFill/>
                    </a:lnR>
                    <a:lnT w="12700" cap="flat" cmpd="sng" algn="ctr">
                      <a:solidFill>
                        <a:srgbClr val="20D3A2"/>
                      </a:solidFill>
                      <a:prstDash val="solid"/>
                      <a:round/>
                      <a:headEnd type="none" w="med" len="med"/>
                      <a:tailEnd type="none" w="med" len="med"/>
                    </a:lnT>
                    <a:lnB>
                      <a:noFill/>
                    </a:lnB>
                    <a:solidFill>
                      <a:srgbClr val="002060"/>
                    </a:solidFill>
                  </a:tcPr>
                </a:tc>
                <a:tc>
                  <a:txBody>
                    <a:bodyPr/>
                    <a:lstStyle/>
                    <a:p>
                      <a:pPr algn="ctr" rtl="0" fontAlgn="ctr">
                        <a:buNone/>
                      </a:pPr>
                      <a:r>
                        <a:rPr lang="en-US" sz="900" b="1">
                          <a:solidFill>
                            <a:srgbClr val="FFFFFF"/>
                          </a:solidFill>
                          <a:effectLst/>
                          <a:latin typeface="Raleway"/>
                        </a:rPr>
                        <a:t>MPP</a:t>
                      </a:r>
                    </a:p>
                  </a:txBody>
                  <a:tcPr marL="9525" marR="9525" marT="9525" anchor="ctr">
                    <a:lnL>
                      <a:noFill/>
                    </a:lnL>
                    <a:lnR>
                      <a:noFill/>
                    </a:lnR>
                    <a:lnT w="12700" cap="flat" cmpd="sng" algn="ctr">
                      <a:solidFill>
                        <a:srgbClr val="20D3A2"/>
                      </a:solidFill>
                      <a:prstDash val="solid"/>
                      <a:round/>
                      <a:headEnd type="none" w="med" len="med"/>
                      <a:tailEnd type="none" w="med" len="med"/>
                    </a:lnT>
                    <a:lnB>
                      <a:noFill/>
                    </a:lnB>
                    <a:solidFill>
                      <a:srgbClr val="002060"/>
                    </a:solidFill>
                  </a:tcPr>
                </a:tc>
                <a:tc>
                  <a:txBody>
                    <a:bodyPr/>
                    <a:lstStyle/>
                    <a:p>
                      <a:pPr algn="ctr" rtl="0" fontAlgn="ctr">
                        <a:buNone/>
                      </a:pPr>
                      <a:r>
                        <a:rPr lang="en-US" sz="900" b="1">
                          <a:solidFill>
                            <a:srgbClr val="FFFFFF"/>
                          </a:solidFill>
                          <a:effectLst/>
                          <a:latin typeface="Raleway"/>
                        </a:rPr>
                        <a:t>ASM</a:t>
                      </a:r>
                    </a:p>
                  </a:txBody>
                  <a:tcPr marL="9525" marR="9525" marT="9525" anchor="ctr">
                    <a:lnL>
                      <a:noFill/>
                    </a:lnL>
                    <a:lnR>
                      <a:noFill/>
                    </a:lnR>
                    <a:lnT w="12700" cap="flat" cmpd="sng" algn="ctr">
                      <a:solidFill>
                        <a:srgbClr val="20D2A2"/>
                      </a:solidFill>
                      <a:prstDash val="solid"/>
                      <a:round/>
                      <a:headEnd type="none" w="med" len="med"/>
                      <a:tailEnd type="none" w="med" len="med"/>
                    </a:lnT>
                    <a:lnB>
                      <a:noFill/>
                    </a:lnB>
                    <a:solidFill>
                      <a:srgbClr val="002060"/>
                    </a:solidFill>
                  </a:tcPr>
                </a:tc>
                <a:tc>
                  <a:txBody>
                    <a:bodyPr/>
                    <a:lstStyle/>
                    <a:p>
                      <a:pPr algn="ctr" rtl="0" fontAlgn="ctr">
                        <a:buNone/>
                      </a:pPr>
                      <a:r>
                        <a:rPr lang="en-US" sz="900" b="1">
                          <a:solidFill>
                            <a:srgbClr val="FFFFFF"/>
                          </a:solidFill>
                          <a:effectLst/>
                          <a:latin typeface="Raleway"/>
                        </a:rPr>
                        <a:t>PIC </a:t>
                      </a:r>
                      <a:r>
                        <a:rPr lang="en-US" sz="900" b="1" err="1">
                          <a:solidFill>
                            <a:srgbClr val="FFFFFF"/>
                          </a:solidFill>
                          <a:effectLst/>
                          <a:latin typeface="Raleway"/>
                        </a:rPr>
                        <a:t>Rekruter</a:t>
                      </a:r>
                    </a:p>
                  </a:txBody>
                  <a:tcPr marL="9525" marR="9525" marT="9525" anchor="ctr">
                    <a:lnL>
                      <a:noFill/>
                    </a:lnL>
                    <a:lnR>
                      <a:noFill/>
                    </a:lnR>
                    <a:lnT w="12700" cap="flat" cmpd="sng" algn="ctr">
                      <a:solidFill>
                        <a:srgbClr val="20E2A2"/>
                      </a:solidFill>
                      <a:prstDash val="solid"/>
                      <a:round/>
                      <a:headEnd type="none" w="med" len="med"/>
                      <a:tailEnd type="none" w="med" len="med"/>
                    </a:lnT>
                    <a:lnB>
                      <a:noFill/>
                    </a:lnB>
                    <a:solidFill>
                      <a:srgbClr val="002060"/>
                    </a:solidFill>
                  </a:tcPr>
                </a:tc>
                <a:tc>
                  <a:txBody>
                    <a:bodyPr/>
                    <a:lstStyle/>
                    <a:p>
                      <a:pPr algn="ctr" rtl="0" fontAlgn="ctr">
                        <a:buNone/>
                      </a:pPr>
                      <a:r>
                        <a:rPr lang="en-US" sz="900" b="1">
                          <a:solidFill>
                            <a:srgbClr val="FFFFFF"/>
                          </a:solidFill>
                          <a:effectLst/>
                          <a:latin typeface="Raleway"/>
                        </a:rPr>
                        <a:t>Status</a:t>
                      </a:r>
                    </a:p>
                  </a:txBody>
                  <a:tcPr marL="9525" marR="9525" marT="9525" anchor="ctr">
                    <a:lnL>
                      <a:noFill/>
                    </a:lnL>
                    <a:lnR>
                      <a:noFill/>
                    </a:lnR>
                    <a:lnT w="12700" cap="flat" cmpd="sng" algn="ctr">
                      <a:solidFill>
                        <a:srgbClr val="20E8A2"/>
                      </a:solidFill>
                      <a:prstDash val="solid"/>
                      <a:round/>
                      <a:headEnd type="none" w="med" len="med"/>
                      <a:tailEnd type="none" w="med" len="med"/>
                    </a:lnT>
                    <a:lnB>
                      <a:noFill/>
                    </a:lnB>
                    <a:solidFill>
                      <a:srgbClr val="002060"/>
                    </a:solidFill>
                  </a:tcPr>
                </a:tc>
                <a:tc>
                  <a:txBody>
                    <a:bodyPr/>
                    <a:lstStyle/>
                    <a:p>
                      <a:pPr algn="ctr" rtl="0" fontAlgn="ctr">
                        <a:buNone/>
                      </a:pPr>
                      <a:r>
                        <a:rPr lang="en-US" sz="900" b="1">
                          <a:solidFill>
                            <a:srgbClr val="FFFFFF"/>
                          </a:solidFill>
                          <a:effectLst/>
                          <a:latin typeface="Raleway"/>
                        </a:rPr>
                        <a:t>FPTK Closed</a:t>
                      </a:r>
                    </a:p>
                  </a:txBody>
                  <a:tcPr marL="9525" marR="9525" marT="9525" anchor="ctr">
                    <a:lnL>
                      <a:noFill/>
                    </a:lnL>
                    <a:lnR>
                      <a:noFill/>
                    </a:lnR>
                    <a:lnT w="12700" cap="flat" cmpd="sng" algn="ctr">
                      <a:solidFill>
                        <a:srgbClr val="60EBA2"/>
                      </a:solidFill>
                      <a:prstDash val="solid"/>
                      <a:round/>
                      <a:headEnd type="none" w="med" len="med"/>
                      <a:tailEnd type="none" w="med" len="med"/>
                    </a:lnT>
                    <a:lnB>
                      <a:noFill/>
                    </a:lnB>
                    <a:solidFill>
                      <a:srgbClr val="002060"/>
                    </a:solidFill>
                  </a:tcPr>
                </a:tc>
                <a:tc>
                  <a:txBody>
                    <a:bodyPr/>
                    <a:lstStyle/>
                    <a:p>
                      <a:pPr algn="ctr" rtl="0" fontAlgn="ctr">
                        <a:buNone/>
                      </a:pPr>
                      <a:r>
                        <a:rPr lang="en-US" sz="900" b="1">
                          <a:solidFill>
                            <a:srgbClr val="FFFFFF"/>
                          </a:solidFill>
                          <a:effectLst/>
                          <a:latin typeface="Raleway"/>
                        </a:rPr>
                        <a:t>Sisa MPP</a:t>
                      </a:r>
                    </a:p>
                  </a:txBody>
                  <a:tcPr marL="9525" marR="9525" marT="9525" anchor="ctr">
                    <a:lnL>
                      <a:noFill/>
                    </a:lnL>
                    <a:lnR>
                      <a:noFill/>
                    </a:lnR>
                    <a:lnT w="12700" cap="flat" cmpd="sng" algn="ctr">
                      <a:solidFill>
                        <a:srgbClr val="20E4A2"/>
                      </a:solidFill>
                      <a:prstDash val="solid"/>
                      <a:round/>
                      <a:headEnd type="none" w="med" len="med"/>
                      <a:tailEnd type="none" w="med" len="med"/>
                    </a:lnT>
                    <a:lnB>
                      <a:noFill/>
                    </a:lnB>
                    <a:solidFill>
                      <a:srgbClr val="002060"/>
                    </a:solidFill>
                  </a:tcPr>
                </a:tc>
                <a:tc>
                  <a:txBody>
                    <a:bodyPr/>
                    <a:lstStyle/>
                    <a:p>
                      <a:pPr algn="ctr" rtl="0" fontAlgn="ctr">
                        <a:buNone/>
                      </a:pPr>
                      <a:r>
                        <a:rPr lang="en-US" sz="900" b="1" err="1">
                          <a:solidFill>
                            <a:srgbClr val="FFFFFF"/>
                          </a:solidFill>
                          <a:effectLst/>
                          <a:latin typeface="Raleway"/>
                        </a:rPr>
                        <a:t>Tgl</a:t>
                      </a:r>
                      <a:br>
                        <a:rPr lang="en-US" sz="900" b="1">
                          <a:solidFill>
                            <a:srgbClr val="FFFFFF"/>
                          </a:solidFill>
                          <a:effectLst/>
                          <a:latin typeface="Raleway"/>
                        </a:rPr>
                      </a:br>
                      <a:r>
                        <a:rPr lang="en-US" sz="900" b="1" err="1">
                          <a:solidFill>
                            <a:srgbClr val="FFFFFF"/>
                          </a:solidFill>
                          <a:effectLst/>
                          <a:latin typeface="Raleway"/>
                        </a:rPr>
                        <a:t>Dibutuhkan</a:t>
                      </a:r>
                    </a:p>
                  </a:txBody>
                  <a:tcPr marL="9525" marR="9525" marT="9525" anchor="ctr">
                    <a:lnL>
                      <a:noFill/>
                    </a:lnL>
                    <a:lnR w="12700" cap="flat" cmpd="sng" algn="ctr">
                      <a:solidFill>
                        <a:srgbClr val="60ECA2"/>
                      </a:solidFill>
                      <a:prstDash val="solid"/>
                      <a:round/>
                      <a:headEnd type="none" w="med" len="med"/>
                      <a:tailEnd type="none" w="med" len="med"/>
                    </a:lnR>
                    <a:lnT w="12700" cap="flat" cmpd="sng" algn="ctr">
                      <a:solidFill>
                        <a:srgbClr val="60ECA2"/>
                      </a:solidFill>
                      <a:prstDash val="solid"/>
                      <a:round/>
                      <a:headEnd type="none" w="med" len="med"/>
                      <a:tailEnd type="none" w="med" len="med"/>
                    </a:lnT>
                    <a:lnB>
                      <a:noFill/>
                    </a:lnB>
                    <a:solidFill>
                      <a:srgbClr val="002060"/>
                    </a:solidFill>
                  </a:tcPr>
                </a:tc>
                <a:extLst>
                  <a:ext uri="{0D108BD9-81ED-4DB2-BD59-A6C34878D82A}">
                    <a16:rowId xmlns:a16="http://schemas.microsoft.com/office/drawing/2014/main" val="2530941259"/>
                  </a:ext>
                </a:extLst>
              </a:tr>
              <a:tr h="252705">
                <a:tc>
                  <a:txBody>
                    <a:bodyPr/>
                    <a:lstStyle/>
                    <a:p>
                      <a:pPr rtl="0" fontAlgn="ctr">
                        <a:buNone/>
                      </a:pPr>
                      <a:r>
                        <a:rPr lang="en-US" sz="900">
                          <a:effectLst/>
                          <a:latin typeface="Raleway"/>
                        </a:rPr>
                        <a:t>Jawa Barat</a:t>
                      </a:r>
                    </a:p>
                  </a:txBody>
                  <a:tcPr marL="9525" marR="9525" marT="9525" anchor="ctr">
                    <a:lnL w="12700" cap="flat" cmpd="sng" algn="ctr">
                      <a:solidFill>
                        <a:srgbClr val="E03FBD"/>
                      </a:solidFill>
                      <a:prstDash val="solid"/>
                      <a:round/>
                      <a:headEnd type="none" w="med" len="med"/>
                      <a:tailEnd type="none" w="med" len="med"/>
                    </a:lnL>
                    <a:lnR>
                      <a:noFill/>
                    </a:lnR>
                    <a:lnT>
                      <a:noFill/>
                    </a:lnT>
                    <a:lnB>
                      <a:noFill/>
                    </a:lnB>
                    <a:noFill/>
                  </a:tcPr>
                </a:tc>
                <a:tc>
                  <a:txBody>
                    <a:bodyPr/>
                    <a:lstStyle/>
                    <a:p>
                      <a:pPr rtl="0" fontAlgn="ctr">
                        <a:buNone/>
                      </a:pPr>
                      <a:r>
                        <a:rPr lang="en-US" sz="900" err="1">
                          <a:effectLst/>
                          <a:latin typeface="Raleway"/>
                        </a:rPr>
                        <a:t>Tasikmalaya</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Hanafi</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Brittney</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20-Jul-26</a:t>
                      </a:r>
                    </a:p>
                  </a:txBody>
                  <a:tcPr marL="9525" marR="9525" marT="9525" anchor="ctr">
                    <a:lnL>
                      <a:noFill/>
                    </a:lnL>
                    <a:lnR w="12700" cap="flat" cmpd="sng" algn="ctr">
                      <a:solidFill>
                        <a:srgbClr val="E03FBD"/>
                      </a:solidFill>
                      <a:prstDash val="solid"/>
                      <a:round/>
                      <a:headEnd type="none" w="med" len="med"/>
                      <a:tailEnd type="none" w="med" len="med"/>
                    </a:lnR>
                    <a:lnT>
                      <a:noFill/>
                    </a:lnT>
                    <a:lnB>
                      <a:noFill/>
                    </a:lnB>
                    <a:noFill/>
                  </a:tcPr>
                </a:tc>
                <a:extLst>
                  <a:ext uri="{0D108BD9-81ED-4DB2-BD59-A6C34878D82A}">
                    <a16:rowId xmlns:a16="http://schemas.microsoft.com/office/drawing/2014/main" val="4138507669"/>
                  </a:ext>
                </a:extLst>
              </a:tr>
              <a:tr h="182509">
                <a:tc>
                  <a:txBody>
                    <a:bodyPr/>
                    <a:lstStyle/>
                    <a:p>
                      <a:pPr rtl="0" fontAlgn="ctr">
                        <a:buNone/>
                      </a:pPr>
                      <a:r>
                        <a:rPr lang="en-US" sz="900">
                          <a:effectLst/>
                          <a:latin typeface="Raleway"/>
                        </a:rPr>
                        <a:t>Jawa Tengah</a:t>
                      </a:r>
                    </a:p>
                  </a:txBody>
                  <a:tcPr marL="9525" marR="9525" marT="9525" anchor="ctr">
                    <a:lnL w="12700" cap="flat" cmpd="sng" algn="ctr">
                      <a:solidFill>
                        <a:srgbClr val="E03FBD"/>
                      </a:solidFill>
                      <a:prstDash val="solid"/>
                      <a:round/>
                      <a:headEnd type="none" w="med" len="med"/>
                      <a:tailEnd type="none" w="med" len="med"/>
                    </a:lnL>
                    <a:lnR>
                      <a:noFill/>
                    </a:lnR>
                    <a:lnT>
                      <a:noFill/>
                    </a:lnT>
                    <a:lnB>
                      <a:noFill/>
                    </a:lnB>
                    <a:noFill/>
                  </a:tcPr>
                </a:tc>
                <a:tc>
                  <a:txBody>
                    <a:bodyPr/>
                    <a:lstStyle/>
                    <a:p>
                      <a:pPr rtl="0" fontAlgn="ctr">
                        <a:buNone/>
                      </a:pPr>
                      <a:r>
                        <a:rPr lang="en-US" sz="900">
                          <a:effectLst/>
                          <a:latin typeface="Raleway"/>
                        </a:rPr>
                        <a:t>Kudus</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Dicky</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Brittney</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20-Jul-26</a:t>
                      </a:r>
                    </a:p>
                  </a:txBody>
                  <a:tcPr marL="9525" marR="9525" marT="9525" anchor="ctr">
                    <a:lnL>
                      <a:noFill/>
                    </a:lnL>
                    <a:lnR w="12700" cap="flat" cmpd="sng" algn="ctr">
                      <a:solidFill>
                        <a:srgbClr val="E03FBD"/>
                      </a:solidFill>
                      <a:prstDash val="solid"/>
                      <a:round/>
                      <a:headEnd type="none" w="med" len="med"/>
                      <a:tailEnd type="none" w="med" len="med"/>
                    </a:lnR>
                    <a:lnT>
                      <a:noFill/>
                    </a:lnT>
                    <a:lnB>
                      <a:noFill/>
                    </a:lnB>
                    <a:noFill/>
                  </a:tcPr>
                </a:tc>
                <a:extLst>
                  <a:ext uri="{0D108BD9-81ED-4DB2-BD59-A6C34878D82A}">
                    <a16:rowId xmlns:a16="http://schemas.microsoft.com/office/drawing/2014/main" val="1851344555"/>
                  </a:ext>
                </a:extLst>
              </a:tr>
              <a:tr h="182509">
                <a:tc>
                  <a:txBody>
                    <a:bodyPr/>
                    <a:lstStyle/>
                    <a:p>
                      <a:pPr rtl="0" fontAlgn="ctr">
                        <a:buNone/>
                      </a:pPr>
                      <a:r>
                        <a:rPr lang="en-US" sz="900">
                          <a:effectLst/>
                          <a:latin typeface="Raleway"/>
                        </a:rPr>
                        <a:t>Jawa Tengah</a:t>
                      </a:r>
                    </a:p>
                  </a:txBody>
                  <a:tcPr marL="9525" marR="9525" marT="9525" anchor="ctr">
                    <a:lnL w="12700" cap="flat" cmpd="sng" algn="ctr">
                      <a:solidFill>
                        <a:srgbClr val="E03FBD"/>
                      </a:solidFill>
                      <a:prstDash val="solid"/>
                      <a:round/>
                      <a:headEnd type="none" w="med" len="med"/>
                      <a:tailEnd type="none" w="med" len="med"/>
                    </a:lnL>
                    <a:lnR>
                      <a:noFill/>
                    </a:lnR>
                    <a:lnT>
                      <a:noFill/>
                    </a:lnT>
                    <a:lnB>
                      <a:noFill/>
                    </a:lnB>
                    <a:noFill/>
                  </a:tcPr>
                </a:tc>
                <a:tc>
                  <a:txBody>
                    <a:bodyPr/>
                    <a:lstStyle/>
                    <a:p>
                      <a:pPr rtl="0" fontAlgn="ctr">
                        <a:buNone/>
                      </a:pPr>
                      <a:r>
                        <a:rPr lang="en-US" sz="900" err="1">
                          <a:effectLst/>
                          <a:latin typeface="Raleway"/>
                        </a:rPr>
                        <a:t>Purbalingga</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Dyta</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Brittney</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20-Jul-26</a:t>
                      </a:r>
                    </a:p>
                  </a:txBody>
                  <a:tcPr marL="9525" marR="9525" marT="9525" anchor="ctr">
                    <a:lnL>
                      <a:noFill/>
                    </a:lnL>
                    <a:lnR w="12700" cap="flat" cmpd="sng" algn="ctr">
                      <a:solidFill>
                        <a:srgbClr val="E03FBD"/>
                      </a:solidFill>
                      <a:prstDash val="solid"/>
                      <a:round/>
                      <a:headEnd type="none" w="med" len="med"/>
                      <a:tailEnd type="none" w="med" len="med"/>
                    </a:lnR>
                    <a:lnT>
                      <a:noFill/>
                    </a:lnT>
                    <a:lnB>
                      <a:noFill/>
                    </a:lnB>
                    <a:noFill/>
                  </a:tcPr>
                </a:tc>
                <a:extLst>
                  <a:ext uri="{0D108BD9-81ED-4DB2-BD59-A6C34878D82A}">
                    <a16:rowId xmlns:a16="http://schemas.microsoft.com/office/drawing/2014/main" val="3664163400"/>
                  </a:ext>
                </a:extLst>
              </a:tr>
              <a:tr h="182509">
                <a:tc>
                  <a:txBody>
                    <a:bodyPr/>
                    <a:lstStyle/>
                    <a:p>
                      <a:pPr rtl="0" fontAlgn="ctr">
                        <a:buNone/>
                      </a:pPr>
                      <a:r>
                        <a:rPr lang="en-US" sz="900">
                          <a:effectLst/>
                          <a:latin typeface="Raleway"/>
                        </a:rPr>
                        <a:t>Jawa Tengah</a:t>
                      </a:r>
                    </a:p>
                  </a:txBody>
                  <a:tcPr marL="9525" marR="9525" marT="9525" anchor="ctr">
                    <a:lnL w="12700" cap="flat" cmpd="sng" algn="ctr">
                      <a:solidFill>
                        <a:srgbClr val="E03FBD"/>
                      </a:solidFill>
                      <a:prstDash val="solid"/>
                      <a:round/>
                      <a:headEnd type="none" w="med" len="med"/>
                      <a:tailEnd type="none" w="med" len="med"/>
                    </a:lnL>
                    <a:lnR>
                      <a:noFill/>
                    </a:lnR>
                    <a:lnT>
                      <a:noFill/>
                    </a:lnT>
                    <a:lnB>
                      <a:noFill/>
                    </a:lnB>
                    <a:noFill/>
                  </a:tcPr>
                </a:tc>
                <a:tc>
                  <a:txBody>
                    <a:bodyPr/>
                    <a:lstStyle/>
                    <a:p>
                      <a:pPr rtl="0" fontAlgn="ctr">
                        <a:buNone/>
                      </a:pPr>
                      <a:r>
                        <a:rPr lang="en-US" sz="900">
                          <a:effectLst/>
                          <a:latin typeface="Raleway"/>
                        </a:rPr>
                        <a:t>Yogyakarta</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err="1">
                          <a:effectLst/>
                          <a:latin typeface="Raleway"/>
                        </a:rPr>
                        <a:t>Zaniar</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Brittney</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20-Jul-26</a:t>
                      </a:r>
                    </a:p>
                  </a:txBody>
                  <a:tcPr marL="9525" marR="9525" marT="9525" anchor="ctr">
                    <a:lnL>
                      <a:noFill/>
                    </a:lnL>
                    <a:lnR w="12700" cap="flat" cmpd="sng" algn="ctr">
                      <a:solidFill>
                        <a:srgbClr val="E03FBD"/>
                      </a:solidFill>
                      <a:prstDash val="solid"/>
                      <a:round/>
                      <a:headEnd type="none" w="med" len="med"/>
                      <a:tailEnd type="none" w="med" len="med"/>
                    </a:lnR>
                    <a:lnT>
                      <a:noFill/>
                    </a:lnT>
                    <a:lnB>
                      <a:noFill/>
                    </a:lnB>
                    <a:noFill/>
                  </a:tcPr>
                </a:tc>
                <a:extLst>
                  <a:ext uri="{0D108BD9-81ED-4DB2-BD59-A6C34878D82A}">
                    <a16:rowId xmlns:a16="http://schemas.microsoft.com/office/drawing/2014/main" val="2429133451"/>
                  </a:ext>
                </a:extLst>
              </a:tr>
              <a:tr h="182509">
                <a:tc>
                  <a:txBody>
                    <a:bodyPr/>
                    <a:lstStyle/>
                    <a:p>
                      <a:pPr rtl="0" fontAlgn="ctr">
                        <a:buNone/>
                      </a:pPr>
                      <a:r>
                        <a:rPr lang="en-US" sz="900">
                          <a:effectLst/>
                          <a:latin typeface="Raleway"/>
                        </a:rPr>
                        <a:t>Jawa Tengah</a:t>
                      </a:r>
                    </a:p>
                  </a:txBody>
                  <a:tcPr marL="9525" marR="9525" marT="9525" anchor="ctr">
                    <a:lnL w="12700" cap="flat" cmpd="sng" algn="ctr">
                      <a:solidFill>
                        <a:srgbClr val="E03FBD"/>
                      </a:solidFill>
                      <a:prstDash val="solid"/>
                      <a:round/>
                      <a:headEnd type="none" w="med" len="med"/>
                      <a:tailEnd type="none" w="med" len="med"/>
                    </a:lnL>
                    <a:lnR>
                      <a:noFill/>
                    </a:lnR>
                    <a:lnT>
                      <a:noFill/>
                    </a:lnT>
                    <a:lnB>
                      <a:noFill/>
                    </a:lnB>
                    <a:noFill/>
                  </a:tcPr>
                </a:tc>
                <a:tc>
                  <a:txBody>
                    <a:bodyPr/>
                    <a:lstStyle/>
                    <a:p>
                      <a:pPr rtl="0" fontAlgn="ctr">
                        <a:buNone/>
                      </a:pPr>
                      <a:r>
                        <a:rPr lang="en-US" sz="900">
                          <a:effectLst/>
                          <a:latin typeface="Raleway"/>
                        </a:rPr>
                        <a:t>Solo</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err="1">
                          <a:effectLst/>
                          <a:latin typeface="Raleway"/>
                        </a:rPr>
                        <a:t>Zaniar</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Brittney</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20-Jul-26</a:t>
                      </a:r>
                    </a:p>
                  </a:txBody>
                  <a:tcPr marL="9525" marR="9525" marT="9525" anchor="ctr">
                    <a:lnL>
                      <a:noFill/>
                    </a:lnL>
                    <a:lnR w="12700" cap="flat" cmpd="sng" algn="ctr">
                      <a:solidFill>
                        <a:srgbClr val="E03FBD"/>
                      </a:solidFill>
                      <a:prstDash val="solid"/>
                      <a:round/>
                      <a:headEnd type="none" w="med" len="med"/>
                      <a:tailEnd type="none" w="med" len="med"/>
                    </a:lnR>
                    <a:lnT>
                      <a:noFill/>
                    </a:lnT>
                    <a:lnB>
                      <a:noFill/>
                    </a:lnB>
                    <a:noFill/>
                  </a:tcPr>
                </a:tc>
                <a:extLst>
                  <a:ext uri="{0D108BD9-81ED-4DB2-BD59-A6C34878D82A}">
                    <a16:rowId xmlns:a16="http://schemas.microsoft.com/office/drawing/2014/main" val="4096752792"/>
                  </a:ext>
                </a:extLst>
              </a:tr>
              <a:tr h="182509">
                <a:tc>
                  <a:txBody>
                    <a:bodyPr/>
                    <a:lstStyle/>
                    <a:p>
                      <a:pPr rtl="0" fontAlgn="ctr">
                        <a:buNone/>
                      </a:pPr>
                      <a:r>
                        <a:rPr lang="en-US" sz="900">
                          <a:effectLst/>
                          <a:latin typeface="Raleway"/>
                        </a:rPr>
                        <a:t>Jawa Barat</a:t>
                      </a:r>
                    </a:p>
                  </a:txBody>
                  <a:tcPr marL="9525" marR="9525" marT="9525" anchor="ctr">
                    <a:lnL w="12700" cap="flat" cmpd="sng" algn="ctr">
                      <a:solidFill>
                        <a:srgbClr val="E03FBD"/>
                      </a:solidFill>
                      <a:prstDash val="solid"/>
                      <a:round/>
                      <a:headEnd type="none" w="med" len="med"/>
                      <a:tailEnd type="none" w="med" len="med"/>
                    </a:lnL>
                    <a:lnR>
                      <a:noFill/>
                    </a:lnR>
                    <a:lnT>
                      <a:noFill/>
                    </a:lnT>
                    <a:lnB>
                      <a:noFill/>
                    </a:lnB>
                    <a:noFill/>
                  </a:tcPr>
                </a:tc>
                <a:tc>
                  <a:txBody>
                    <a:bodyPr/>
                    <a:lstStyle/>
                    <a:p>
                      <a:pPr rtl="0" fontAlgn="ctr">
                        <a:buNone/>
                      </a:pPr>
                      <a:r>
                        <a:rPr lang="en-US" sz="900" err="1">
                          <a:effectLst/>
                          <a:latin typeface="Raleway"/>
                        </a:rPr>
                        <a:t>Sumedang</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Hanafi</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Brittney</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20-Jul-26</a:t>
                      </a:r>
                    </a:p>
                  </a:txBody>
                  <a:tcPr marL="9525" marR="9525" marT="9525" anchor="ctr">
                    <a:lnL>
                      <a:noFill/>
                    </a:lnL>
                    <a:lnR w="12700" cap="flat" cmpd="sng" algn="ctr">
                      <a:solidFill>
                        <a:srgbClr val="E03FBD"/>
                      </a:solidFill>
                      <a:prstDash val="solid"/>
                      <a:round/>
                      <a:headEnd type="none" w="med" len="med"/>
                      <a:tailEnd type="none" w="med" len="med"/>
                    </a:lnR>
                    <a:lnT>
                      <a:noFill/>
                    </a:lnT>
                    <a:lnB>
                      <a:noFill/>
                    </a:lnB>
                    <a:noFill/>
                  </a:tcPr>
                </a:tc>
                <a:extLst>
                  <a:ext uri="{0D108BD9-81ED-4DB2-BD59-A6C34878D82A}">
                    <a16:rowId xmlns:a16="http://schemas.microsoft.com/office/drawing/2014/main" val="1713846352"/>
                  </a:ext>
                </a:extLst>
              </a:tr>
              <a:tr h="182509">
                <a:tc>
                  <a:txBody>
                    <a:bodyPr/>
                    <a:lstStyle/>
                    <a:p>
                      <a:pPr rtl="0" fontAlgn="ctr">
                        <a:buNone/>
                      </a:pPr>
                      <a:r>
                        <a:rPr lang="en-US" sz="900">
                          <a:effectLst/>
                          <a:latin typeface="Raleway"/>
                        </a:rPr>
                        <a:t>Jawa Tengah</a:t>
                      </a:r>
                    </a:p>
                  </a:txBody>
                  <a:tcPr marL="9525" marR="9525" marT="9525" anchor="ctr">
                    <a:lnL w="12700" cap="flat" cmpd="sng" algn="ctr">
                      <a:solidFill>
                        <a:srgbClr val="E03FBD"/>
                      </a:solidFill>
                      <a:prstDash val="solid"/>
                      <a:round/>
                      <a:headEnd type="none" w="med" len="med"/>
                      <a:tailEnd type="none" w="med" len="med"/>
                    </a:lnL>
                    <a:lnR>
                      <a:noFill/>
                    </a:lnR>
                    <a:lnT>
                      <a:noFill/>
                    </a:lnT>
                    <a:lnB>
                      <a:noFill/>
                    </a:lnB>
                    <a:noFill/>
                  </a:tcPr>
                </a:tc>
                <a:tc>
                  <a:txBody>
                    <a:bodyPr/>
                    <a:lstStyle/>
                    <a:p>
                      <a:pPr rtl="0" fontAlgn="ctr">
                        <a:buNone/>
                      </a:pPr>
                      <a:r>
                        <a:rPr lang="en-US" sz="900" err="1">
                          <a:effectLst/>
                          <a:latin typeface="Raleway"/>
                        </a:rPr>
                        <a:t>Purwodadi</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Dicky</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Brittney</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20-Jul-26</a:t>
                      </a:r>
                    </a:p>
                  </a:txBody>
                  <a:tcPr marL="9525" marR="9525" marT="9525" anchor="ctr">
                    <a:lnL>
                      <a:noFill/>
                    </a:lnL>
                    <a:lnR w="12700" cap="flat" cmpd="sng" algn="ctr">
                      <a:solidFill>
                        <a:srgbClr val="E03FBD"/>
                      </a:solidFill>
                      <a:prstDash val="solid"/>
                      <a:round/>
                      <a:headEnd type="none" w="med" len="med"/>
                      <a:tailEnd type="none" w="med" len="med"/>
                    </a:lnR>
                    <a:lnT>
                      <a:noFill/>
                    </a:lnT>
                    <a:lnB>
                      <a:noFill/>
                    </a:lnB>
                    <a:noFill/>
                  </a:tcPr>
                </a:tc>
                <a:extLst>
                  <a:ext uri="{0D108BD9-81ED-4DB2-BD59-A6C34878D82A}">
                    <a16:rowId xmlns:a16="http://schemas.microsoft.com/office/drawing/2014/main" val="1458461669"/>
                  </a:ext>
                </a:extLst>
              </a:tr>
              <a:tr h="182509">
                <a:tc>
                  <a:txBody>
                    <a:bodyPr/>
                    <a:lstStyle/>
                    <a:p>
                      <a:pPr rtl="0" fontAlgn="ctr">
                        <a:buNone/>
                      </a:pPr>
                      <a:r>
                        <a:rPr lang="en-US" sz="900">
                          <a:effectLst/>
                          <a:latin typeface="Raleway"/>
                        </a:rPr>
                        <a:t>Jawa Tengah</a:t>
                      </a:r>
                    </a:p>
                  </a:txBody>
                  <a:tcPr marL="9525" marR="9525" marT="9525" anchor="ctr">
                    <a:lnL w="12700" cap="flat" cmpd="sng" algn="ctr">
                      <a:solidFill>
                        <a:srgbClr val="E03FBD"/>
                      </a:solidFill>
                      <a:prstDash val="solid"/>
                      <a:round/>
                      <a:headEnd type="none" w="med" len="med"/>
                      <a:tailEnd type="none" w="med" len="med"/>
                    </a:lnL>
                    <a:lnR>
                      <a:noFill/>
                    </a:lnR>
                    <a:lnT>
                      <a:noFill/>
                    </a:lnT>
                    <a:lnB>
                      <a:noFill/>
                    </a:lnB>
                    <a:noFill/>
                  </a:tcPr>
                </a:tc>
                <a:tc>
                  <a:txBody>
                    <a:bodyPr/>
                    <a:lstStyle/>
                    <a:p>
                      <a:pPr rtl="0" fontAlgn="ctr">
                        <a:buNone/>
                      </a:pPr>
                      <a:r>
                        <a:rPr lang="en-US" sz="900" err="1">
                          <a:effectLst/>
                          <a:latin typeface="Raleway"/>
                        </a:rPr>
                        <a:t>Blora</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Dicky</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Brittney</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20-Jul-26</a:t>
                      </a:r>
                    </a:p>
                  </a:txBody>
                  <a:tcPr marL="9525" marR="9525" marT="9525" anchor="ctr">
                    <a:lnL>
                      <a:noFill/>
                    </a:lnL>
                    <a:lnR w="12700" cap="flat" cmpd="sng" algn="ctr">
                      <a:solidFill>
                        <a:srgbClr val="E03FBD"/>
                      </a:solidFill>
                      <a:prstDash val="solid"/>
                      <a:round/>
                      <a:headEnd type="none" w="med" len="med"/>
                      <a:tailEnd type="none" w="med" len="med"/>
                    </a:lnR>
                    <a:lnT>
                      <a:noFill/>
                    </a:lnT>
                    <a:lnB>
                      <a:noFill/>
                    </a:lnB>
                    <a:noFill/>
                  </a:tcPr>
                </a:tc>
                <a:extLst>
                  <a:ext uri="{0D108BD9-81ED-4DB2-BD59-A6C34878D82A}">
                    <a16:rowId xmlns:a16="http://schemas.microsoft.com/office/drawing/2014/main" val="2058950157"/>
                  </a:ext>
                </a:extLst>
              </a:tr>
              <a:tr h="182509">
                <a:tc>
                  <a:txBody>
                    <a:bodyPr/>
                    <a:lstStyle/>
                    <a:p>
                      <a:pPr rtl="0" fontAlgn="ctr">
                        <a:buNone/>
                      </a:pPr>
                      <a:r>
                        <a:rPr lang="en-US" sz="900">
                          <a:effectLst/>
                          <a:latin typeface="Raleway"/>
                        </a:rPr>
                        <a:t>Jawa Tengah</a:t>
                      </a:r>
                    </a:p>
                  </a:txBody>
                  <a:tcPr marL="9525" marR="9525" marT="9525" anchor="ctr">
                    <a:lnL w="12700" cap="flat" cmpd="sng" algn="ctr">
                      <a:solidFill>
                        <a:srgbClr val="E03FBD"/>
                      </a:solidFill>
                      <a:prstDash val="solid"/>
                      <a:round/>
                      <a:headEnd type="none" w="med" len="med"/>
                      <a:tailEnd type="none" w="med" len="med"/>
                    </a:lnL>
                    <a:lnR>
                      <a:noFill/>
                    </a:lnR>
                    <a:lnT>
                      <a:noFill/>
                    </a:lnT>
                    <a:lnB>
                      <a:noFill/>
                    </a:lnB>
                    <a:noFill/>
                  </a:tcPr>
                </a:tc>
                <a:tc>
                  <a:txBody>
                    <a:bodyPr/>
                    <a:lstStyle/>
                    <a:p>
                      <a:pPr rtl="0" fontAlgn="ctr">
                        <a:buNone/>
                      </a:pPr>
                      <a:r>
                        <a:rPr lang="en-US" sz="900" err="1">
                          <a:effectLst/>
                          <a:latin typeface="Raleway"/>
                        </a:rPr>
                        <a:t>Magelang</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err="1">
                          <a:effectLst/>
                          <a:latin typeface="Raleway"/>
                        </a:rPr>
                        <a:t>Zaniar</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Brittney</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20-Jul-26</a:t>
                      </a:r>
                    </a:p>
                  </a:txBody>
                  <a:tcPr marL="9525" marR="9525" marT="9525" anchor="ctr">
                    <a:lnL>
                      <a:noFill/>
                    </a:lnL>
                    <a:lnR w="12700" cap="flat" cmpd="sng" algn="ctr">
                      <a:solidFill>
                        <a:srgbClr val="E03FBD"/>
                      </a:solidFill>
                      <a:prstDash val="solid"/>
                      <a:round/>
                      <a:headEnd type="none" w="med" len="med"/>
                      <a:tailEnd type="none" w="med" len="med"/>
                    </a:lnR>
                    <a:lnT>
                      <a:noFill/>
                    </a:lnT>
                    <a:lnB>
                      <a:noFill/>
                    </a:lnB>
                    <a:noFill/>
                  </a:tcPr>
                </a:tc>
                <a:extLst>
                  <a:ext uri="{0D108BD9-81ED-4DB2-BD59-A6C34878D82A}">
                    <a16:rowId xmlns:a16="http://schemas.microsoft.com/office/drawing/2014/main" val="4157539222"/>
                  </a:ext>
                </a:extLst>
              </a:tr>
              <a:tr h="182509">
                <a:tc>
                  <a:txBody>
                    <a:bodyPr/>
                    <a:lstStyle/>
                    <a:p>
                      <a:pPr rtl="0" fontAlgn="ctr">
                        <a:buNone/>
                      </a:pPr>
                      <a:r>
                        <a:rPr lang="en-US" sz="900">
                          <a:effectLst/>
                          <a:latin typeface="Raleway"/>
                        </a:rPr>
                        <a:t>Jawa Timur Bali</a:t>
                      </a:r>
                    </a:p>
                  </a:txBody>
                  <a:tcPr marL="9525" marR="9525" marT="9525" anchor="ctr">
                    <a:lnL w="12700" cap="flat" cmpd="sng" algn="ctr">
                      <a:solidFill>
                        <a:srgbClr val="E03FBD"/>
                      </a:solidFill>
                      <a:prstDash val="solid"/>
                      <a:round/>
                      <a:headEnd type="none" w="med" len="med"/>
                      <a:tailEnd type="none" w="med" len="med"/>
                    </a:lnL>
                    <a:lnR>
                      <a:noFill/>
                    </a:lnR>
                    <a:lnT>
                      <a:noFill/>
                    </a:lnT>
                    <a:lnB>
                      <a:noFill/>
                    </a:lnB>
                    <a:noFill/>
                  </a:tcPr>
                </a:tc>
                <a:tc>
                  <a:txBody>
                    <a:bodyPr/>
                    <a:lstStyle/>
                    <a:p>
                      <a:pPr rtl="0" fontAlgn="ctr">
                        <a:buNone/>
                      </a:pPr>
                      <a:r>
                        <a:rPr lang="en-US" sz="900" err="1">
                          <a:effectLst/>
                          <a:latin typeface="Raleway"/>
                        </a:rPr>
                        <a:t>Madiun</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Evi</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Brittney</a:t>
                      </a:r>
                    </a:p>
                  </a:txBody>
                  <a:tcPr marL="9525" marR="9525" marT="9525" anchor="ctr">
                    <a:lnL>
                      <a:noFill/>
                    </a:lnL>
                    <a:lnR>
                      <a:noFill/>
                    </a:lnR>
                    <a:lnT>
                      <a:noFill/>
                    </a:lnT>
                    <a:lnB>
                      <a:noFill/>
                    </a:lnB>
                    <a:noFill/>
                  </a:tcPr>
                </a:tc>
                <a:tc>
                  <a:txBody>
                    <a:bodyPr/>
                    <a:lstStyle/>
                    <a:p>
                      <a:pPr fontAlgn="ctr">
                        <a:buNone/>
                      </a:pPr>
                      <a:r>
                        <a:rPr lang="en-US" sz="900">
                          <a:effectLst/>
                          <a:latin typeface="Raleway"/>
                        </a:rPr>
                        <a:t>Closed 2, Cancel 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20-Jul-26</a:t>
                      </a:r>
                    </a:p>
                  </a:txBody>
                  <a:tcPr marL="9525" marR="9525" marT="9525" anchor="ctr">
                    <a:lnL>
                      <a:noFill/>
                    </a:lnL>
                    <a:lnR w="12700" cap="flat" cmpd="sng" algn="ctr">
                      <a:solidFill>
                        <a:srgbClr val="E03FBD"/>
                      </a:solidFill>
                      <a:prstDash val="solid"/>
                      <a:round/>
                      <a:headEnd type="none" w="med" len="med"/>
                      <a:tailEnd type="none" w="med" len="med"/>
                    </a:lnR>
                    <a:lnT>
                      <a:noFill/>
                    </a:lnT>
                    <a:lnB>
                      <a:noFill/>
                    </a:lnB>
                    <a:noFill/>
                  </a:tcPr>
                </a:tc>
                <a:extLst>
                  <a:ext uri="{0D108BD9-81ED-4DB2-BD59-A6C34878D82A}">
                    <a16:rowId xmlns:a16="http://schemas.microsoft.com/office/drawing/2014/main" val="3569674743"/>
                  </a:ext>
                </a:extLst>
              </a:tr>
              <a:tr h="182509">
                <a:tc>
                  <a:txBody>
                    <a:bodyPr/>
                    <a:lstStyle/>
                    <a:p>
                      <a:pPr rtl="0" fontAlgn="ctr">
                        <a:buNone/>
                      </a:pPr>
                      <a:r>
                        <a:rPr lang="en-US" sz="900">
                          <a:effectLst/>
                          <a:latin typeface="Raleway"/>
                        </a:rPr>
                        <a:t>Jawa Timur Bali</a:t>
                      </a:r>
                    </a:p>
                  </a:txBody>
                  <a:tcPr marL="9525" marR="9525" marT="9525" anchor="ctr">
                    <a:lnL w="12700" cap="flat" cmpd="sng" algn="ctr">
                      <a:solidFill>
                        <a:srgbClr val="E03FBD"/>
                      </a:solidFill>
                      <a:prstDash val="solid"/>
                      <a:round/>
                      <a:headEnd type="none" w="med" len="med"/>
                      <a:tailEnd type="none" w="med" len="med"/>
                    </a:lnL>
                    <a:lnR>
                      <a:noFill/>
                    </a:lnR>
                    <a:lnT>
                      <a:noFill/>
                    </a:lnT>
                    <a:lnB>
                      <a:noFill/>
                    </a:lnB>
                    <a:noFill/>
                  </a:tcPr>
                </a:tc>
                <a:tc>
                  <a:txBody>
                    <a:bodyPr/>
                    <a:lstStyle/>
                    <a:p>
                      <a:pPr rtl="0" fontAlgn="ctr">
                        <a:buNone/>
                      </a:pPr>
                      <a:r>
                        <a:rPr lang="en-US" sz="900" err="1">
                          <a:effectLst/>
                          <a:latin typeface="Raleway"/>
                        </a:rPr>
                        <a:t>Lamongan</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Evi</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Brittney</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20-Jul-26</a:t>
                      </a:r>
                    </a:p>
                  </a:txBody>
                  <a:tcPr marL="9525" marR="9525" marT="9525" anchor="ctr">
                    <a:lnL>
                      <a:noFill/>
                    </a:lnL>
                    <a:lnR w="12700" cap="flat" cmpd="sng" algn="ctr">
                      <a:solidFill>
                        <a:srgbClr val="E03FBD"/>
                      </a:solidFill>
                      <a:prstDash val="solid"/>
                      <a:round/>
                      <a:headEnd type="none" w="med" len="med"/>
                      <a:tailEnd type="none" w="med" len="med"/>
                    </a:lnR>
                    <a:lnT>
                      <a:noFill/>
                    </a:lnT>
                    <a:lnB>
                      <a:noFill/>
                    </a:lnB>
                    <a:noFill/>
                  </a:tcPr>
                </a:tc>
                <a:extLst>
                  <a:ext uri="{0D108BD9-81ED-4DB2-BD59-A6C34878D82A}">
                    <a16:rowId xmlns:a16="http://schemas.microsoft.com/office/drawing/2014/main" val="2056711985"/>
                  </a:ext>
                </a:extLst>
              </a:tr>
              <a:tr h="182509">
                <a:tc>
                  <a:txBody>
                    <a:bodyPr/>
                    <a:lstStyle/>
                    <a:p>
                      <a:pPr rtl="0" fontAlgn="ctr">
                        <a:buNone/>
                      </a:pPr>
                      <a:r>
                        <a:rPr lang="en-US" sz="900">
                          <a:effectLst/>
                          <a:latin typeface="Raleway"/>
                        </a:rPr>
                        <a:t>Jawa Timur Bali</a:t>
                      </a:r>
                    </a:p>
                  </a:txBody>
                  <a:tcPr marL="9525" marR="9525" marT="9525" anchor="ctr">
                    <a:lnL w="12700" cap="flat" cmpd="sng" algn="ctr">
                      <a:solidFill>
                        <a:srgbClr val="E03FBD"/>
                      </a:solidFill>
                      <a:prstDash val="solid"/>
                      <a:round/>
                      <a:headEnd type="none" w="med" len="med"/>
                      <a:tailEnd type="none" w="med" len="med"/>
                    </a:lnL>
                    <a:lnR>
                      <a:noFill/>
                    </a:lnR>
                    <a:lnT>
                      <a:noFill/>
                    </a:lnT>
                    <a:lnB>
                      <a:noFill/>
                    </a:lnB>
                    <a:noFill/>
                  </a:tcPr>
                </a:tc>
                <a:tc>
                  <a:txBody>
                    <a:bodyPr/>
                    <a:lstStyle/>
                    <a:p>
                      <a:pPr rtl="0" fontAlgn="ctr">
                        <a:buNone/>
                      </a:pPr>
                      <a:r>
                        <a:rPr lang="en-US" sz="900" err="1">
                          <a:effectLst/>
                          <a:latin typeface="Raleway"/>
                        </a:rPr>
                        <a:t>Ponorogo</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Evi</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Brittney</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Closed - </a:t>
                      </a:r>
                      <a:r>
                        <a:rPr lang="en-US" sz="900" err="1">
                          <a:effectLst/>
                          <a:latin typeface="Raleway"/>
                        </a:rPr>
                        <a:t>Pacitan</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20-Jul-26</a:t>
                      </a:r>
                    </a:p>
                  </a:txBody>
                  <a:tcPr marL="9525" marR="9525" marT="9525" anchor="ctr">
                    <a:lnL>
                      <a:noFill/>
                    </a:lnL>
                    <a:lnR w="12700" cap="flat" cmpd="sng" algn="ctr">
                      <a:solidFill>
                        <a:srgbClr val="E03FBD"/>
                      </a:solidFill>
                      <a:prstDash val="solid"/>
                      <a:round/>
                      <a:headEnd type="none" w="med" len="med"/>
                      <a:tailEnd type="none" w="med" len="med"/>
                    </a:lnR>
                    <a:lnT>
                      <a:noFill/>
                    </a:lnT>
                    <a:lnB>
                      <a:noFill/>
                    </a:lnB>
                    <a:noFill/>
                  </a:tcPr>
                </a:tc>
                <a:extLst>
                  <a:ext uri="{0D108BD9-81ED-4DB2-BD59-A6C34878D82A}">
                    <a16:rowId xmlns:a16="http://schemas.microsoft.com/office/drawing/2014/main" val="3619629680"/>
                  </a:ext>
                </a:extLst>
              </a:tr>
              <a:tr h="182509">
                <a:tc>
                  <a:txBody>
                    <a:bodyPr/>
                    <a:lstStyle/>
                    <a:p>
                      <a:pPr rtl="0" fontAlgn="ctr">
                        <a:buNone/>
                      </a:pPr>
                      <a:r>
                        <a:rPr lang="en-US" sz="900">
                          <a:effectLst/>
                          <a:latin typeface="Raleway"/>
                        </a:rPr>
                        <a:t>Jawa Barat</a:t>
                      </a:r>
                    </a:p>
                  </a:txBody>
                  <a:tcPr marL="9525" marR="9525" marT="9525" anchor="ctr">
                    <a:lnL w="12700" cap="flat" cmpd="sng" algn="ctr">
                      <a:solidFill>
                        <a:srgbClr val="E03FBD"/>
                      </a:solidFill>
                      <a:prstDash val="solid"/>
                      <a:round/>
                      <a:headEnd type="none" w="med" len="med"/>
                      <a:tailEnd type="none" w="med" len="med"/>
                    </a:lnL>
                    <a:lnR>
                      <a:noFill/>
                    </a:lnR>
                    <a:lnT>
                      <a:noFill/>
                    </a:lnT>
                    <a:lnB>
                      <a:noFill/>
                    </a:lnB>
                    <a:noFill/>
                  </a:tcPr>
                </a:tc>
                <a:tc>
                  <a:txBody>
                    <a:bodyPr/>
                    <a:lstStyle/>
                    <a:p>
                      <a:pPr rtl="0" fontAlgn="ctr">
                        <a:buNone/>
                      </a:pPr>
                      <a:r>
                        <a:rPr lang="en-US" sz="900">
                          <a:effectLst/>
                          <a:latin typeface="Raleway"/>
                        </a:rPr>
                        <a:t>Garut</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Rony</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Brittney</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20-Jul-26</a:t>
                      </a:r>
                    </a:p>
                  </a:txBody>
                  <a:tcPr marL="9525" marR="9525" marT="9525" anchor="ctr">
                    <a:lnL>
                      <a:noFill/>
                    </a:lnL>
                    <a:lnR w="12700" cap="flat" cmpd="sng" algn="ctr">
                      <a:solidFill>
                        <a:srgbClr val="E03FBD"/>
                      </a:solidFill>
                      <a:prstDash val="solid"/>
                      <a:round/>
                      <a:headEnd type="none" w="med" len="med"/>
                      <a:tailEnd type="none" w="med" len="med"/>
                    </a:lnR>
                    <a:lnT>
                      <a:noFill/>
                    </a:lnT>
                    <a:lnB>
                      <a:noFill/>
                    </a:lnB>
                    <a:noFill/>
                  </a:tcPr>
                </a:tc>
                <a:extLst>
                  <a:ext uri="{0D108BD9-81ED-4DB2-BD59-A6C34878D82A}">
                    <a16:rowId xmlns:a16="http://schemas.microsoft.com/office/drawing/2014/main" val="1274341220"/>
                  </a:ext>
                </a:extLst>
              </a:tr>
              <a:tr h="182509">
                <a:tc>
                  <a:txBody>
                    <a:bodyPr/>
                    <a:lstStyle/>
                    <a:p>
                      <a:pPr rtl="0" fontAlgn="ctr">
                        <a:buNone/>
                      </a:pPr>
                      <a:r>
                        <a:rPr lang="en-US" sz="900">
                          <a:effectLst/>
                          <a:latin typeface="Raleway"/>
                        </a:rPr>
                        <a:t>Jawa Barat</a:t>
                      </a:r>
                    </a:p>
                  </a:txBody>
                  <a:tcPr marL="9525" marR="9525" marT="9525" anchor="ctr">
                    <a:lnL w="12700" cap="flat" cmpd="sng" algn="ctr">
                      <a:solidFill>
                        <a:srgbClr val="E03FBD"/>
                      </a:solidFill>
                      <a:prstDash val="solid"/>
                      <a:round/>
                      <a:headEnd type="none" w="med" len="med"/>
                      <a:tailEnd type="none" w="med" len="med"/>
                    </a:lnL>
                    <a:lnR>
                      <a:noFill/>
                    </a:lnR>
                    <a:lnT>
                      <a:noFill/>
                    </a:lnT>
                    <a:lnB>
                      <a:noFill/>
                    </a:lnB>
                    <a:noFill/>
                  </a:tcPr>
                </a:tc>
                <a:tc>
                  <a:txBody>
                    <a:bodyPr/>
                    <a:lstStyle/>
                    <a:p>
                      <a:pPr rtl="0" fontAlgn="ctr">
                        <a:buNone/>
                      </a:pPr>
                      <a:r>
                        <a:rPr lang="en-US" sz="900" err="1">
                          <a:effectLst/>
                          <a:latin typeface="Raleway"/>
                        </a:rPr>
                        <a:t>Sukabumi</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Gerry</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Gracia</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20-Jul-26</a:t>
                      </a:r>
                    </a:p>
                  </a:txBody>
                  <a:tcPr marL="9525" marR="9525" marT="9525" anchor="ctr">
                    <a:lnL>
                      <a:noFill/>
                    </a:lnL>
                    <a:lnR w="12700" cap="flat" cmpd="sng" algn="ctr">
                      <a:solidFill>
                        <a:srgbClr val="E03FBD"/>
                      </a:solidFill>
                      <a:prstDash val="solid"/>
                      <a:round/>
                      <a:headEnd type="none" w="med" len="med"/>
                      <a:tailEnd type="none" w="med" len="med"/>
                    </a:lnR>
                    <a:lnT>
                      <a:noFill/>
                    </a:lnT>
                    <a:lnB>
                      <a:noFill/>
                    </a:lnB>
                    <a:noFill/>
                  </a:tcPr>
                </a:tc>
                <a:extLst>
                  <a:ext uri="{0D108BD9-81ED-4DB2-BD59-A6C34878D82A}">
                    <a16:rowId xmlns:a16="http://schemas.microsoft.com/office/drawing/2014/main" val="908755877"/>
                  </a:ext>
                </a:extLst>
              </a:tr>
              <a:tr h="182509">
                <a:tc>
                  <a:txBody>
                    <a:bodyPr/>
                    <a:lstStyle/>
                    <a:p>
                      <a:pPr rtl="0" fontAlgn="ctr">
                        <a:buNone/>
                      </a:pPr>
                      <a:r>
                        <a:rPr lang="en-US" sz="900">
                          <a:effectLst/>
                          <a:latin typeface="Raleway"/>
                        </a:rPr>
                        <a:t>Jawa Timur Bali</a:t>
                      </a:r>
                    </a:p>
                  </a:txBody>
                  <a:tcPr marL="9525" marR="9525" marT="9525" anchor="ctr">
                    <a:lnL w="12700" cap="flat" cmpd="sng" algn="ctr">
                      <a:solidFill>
                        <a:srgbClr val="E03FBD"/>
                      </a:solidFill>
                      <a:prstDash val="solid"/>
                      <a:round/>
                      <a:headEnd type="none" w="med" len="med"/>
                      <a:tailEnd type="none" w="med" len="med"/>
                    </a:lnL>
                    <a:lnR>
                      <a:noFill/>
                    </a:lnR>
                    <a:lnT>
                      <a:noFill/>
                    </a:lnT>
                    <a:lnB>
                      <a:noFill/>
                    </a:lnB>
                    <a:noFill/>
                  </a:tcPr>
                </a:tc>
                <a:tc>
                  <a:txBody>
                    <a:bodyPr/>
                    <a:lstStyle/>
                    <a:p>
                      <a:pPr rtl="0" fontAlgn="ctr">
                        <a:buNone/>
                      </a:pPr>
                      <a:r>
                        <a:rPr lang="en-US" sz="900">
                          <a:effectLst/>
                          <a:latin typeface="Raleway"/>
                        </a:rPr>
                        <a:t>Banyuwangi</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err="1">
                          <a:effectLst/>
                          <a:latin typeface="Raleway"/>
                        </a:rPr>
                        <a:t>Arga</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Gracia</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20-Jul-26</a:t>
                      </a:r>
                    </a:p>
                  </a:txBody>
                  <a:tcPr marL="9525" marR="9525" marT="9525" anchor="ctr">
                    <a:lnL>
                      <a:noFill/>
                    </a:lnL>
                    <a:lnR w="12700" cap="flat" cmpd="sng" algn="ctr">
                      <a:solidFill>
                        <a:srgbClr val="E03FBD"/>
                      </a:solidFill>
                      <a:prstDash val="solid"/>
                      <a:round/>
                      <a:headEnd type="none" w="med" len="med"/>
                      <a:tailEnd type="none" w="med" len="med"/>
                    </a:lnR>
                    <a:lnT>
                      <a:noFill/>
                    </a:lnT>
                    <a:lnB>
                      <a:noFill/>
                    </a:lnB>
                    <a:noFill/>
                  </a:tcPr>
                </a:tc>
                <a:extLst>
                  <a:ext uri="{0D108BD9-81ED-4DB2-BD59-A6C34878D82A}">
                    <a16:rowId xmlns:a16="http://schemas.microsoft.com/office/drawing/2014/main" val="660361887"/>
                  </a:ext>
                </a:extLst>
              </a:tr>
              <a:tr h="182509">
                <a:tc>
                  <a:txBody>
                    <a:bodyPr/>
                    <a:lstStyle/>
                    <a:p>
                      <a:pPr rtl="0" fontAlgn="ctr">
                        <a:buNone/>
                      </a:pPr>
                      <a:r>
                        <a:rPr lang="en-US" sz="900">
                          <a:effectLst/>
                          <a:latin typeface="Raleway"/>
                        </a:rPr>
                        <a:t>Jawa Timur Bali</a:t>
                      </a:r>
                    </a:p>
                  </a:txBody>
                  <a:tcPr marL="9525" marR="9525" marT="9525" anchor="ctr">
                    <a:lnL w="12700" cap="flat" cmpd="sng" algn="ctr">
                      <a:solidFill>
                        <a:srgbClr val="E03FBD"/>
                      </a:solidFill>
                      <a:prstDash val="solid"/>
                      <a:round/>
                      <a:headEnd type="none" w="med" len="med"/>
                      <a:tailEnd type="none" w="med" len="med"/>
                    </a:lnL>
                    <a:lnR>
                      <a:noFill/>
                    </a:lnR>
                    <a:lnT>
                      <a:noFill/>
                    </a:lnT>
                    <a:lnB>
                      <a:noFill/>
                    </a:lnB>
                    <a:noFill/>
                  </a:tcPr>
                </a:tc>
                <a:tc>
                  <a:txBody>
                    <a:bodyPr/>
                    <a:lstStyle/>
                    <a:p>
                      <a:pPr rtl="0" fontAlgn="ctr">
                        <a:buNone/>
                      </a:pPr>
                      <a:r>
                        <a:rPr lang="en-US" sz="900">
                          <a:effectLst/>
                          <a:latin typeface="Raleway"/>
                        </a:rPr>
                        <a:t>Jember</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err="1">
                          <a:effectLst/>
                          <a:latin typeface="Raleway"/>
                        </a:rPr>
                        <a:t>Arga</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Gracia</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20-Jul-26</a:t>
                      </a:r>
                    </a:p>
                  </a:txBody>
                  <a:tcPr marL="9525" marR="9525" marT="9525" anchor="ctr">
                    <a:lnL>
                      <a:noFill/>
                    </a:lnL>
                    <a:lnR w="12700" cap="flat" cmpd="sng" algn="ctr">
                      <a:solidFill>
                        <a:srgbClr val="E03FBD"/>
                      </a:solidFill>
                      <a:prstDash val="solid"/>
                      <a:round/>
                      <a:headEnd type="none" w="med" len="med"/>
                      <a:tailEnd type="none" w="med" len="med"/>
                    </a:lnR>
                    <a:lnT>
                      <a:noFill/>
                    </a:lnT>
                    <a:lnB>
                      <a:noFill/>
                    </a:lnB>
                    <a:noFill/>
                  </a:tcPr>
                </a:tc>
                <a:extLst>
                  <a:ext uri="{0D108BD9-81ED-4DB2-BD59-A6C34878D82A}">
                    <a16:rowId xmlns:a16="http://schemas.microsoft.com/office/drawing/2014/main" val="3323536608"/>
                  </a:ext>
                </a:extLst>
              </a:tr>
              <a:tr h="182509">
                <a:tc>
                  <a:txBody>
                    <a:bodyPr/>
                    <a:lstStyle/>
                    <a:p>
                      <a:pPr rtl="0" fontAlgn="ctr">
                        <a:buNone/>
                      </a:pPr>
                      <a:r>
                        <a:rPr lang="en-US" sz="900">
                          <a:effectLst/>
                          <a:latin typeface="Raleway"/>
                        </a:rPr>
                        <a:t>Jawa Timur Bali</a:t>
                      </a:r>
                    </a:p>
                  </a:txBody>
                  <a:tcPr marL="9525" marR="9525" marT="9525" anchor="ctr">
                    <a:lnL w="12700" cap="flat" cmpd="sng" algn="ctr">
                      <a:solidFill>
                        <a:srgbClr val="E03FBD"/>
                      </a:solidFill>
                      <a:prstDash val="solid"/>
                      <a:round/>
                      <a:headEnd type="none" w="med" len="med"/>
                      <a:tailEnd type="none" w="med" len="med"/>
                    </a:lnL>
                    <a:lnR>
                      <a:noFill/>
                    </a:lnR>
                    <a:lnT>
                      <a:noFill/>
                    </a:lnT>
                    <a:lnB>
                      <a:noFill/>
                    </a:lnB>
                    <a:solidFill>
                      <a:srgbClr val="C0E6F5"/>
                    </a:solidFill>
                  </a:tcPr>
                </a:tc>
                <a:tc>
                  <a:txBody>
                    <a:bodyPr/>
                    <a:lstStyle/>
                    <a:p>
                      <a:pPr rtl="0" fontAlgn="ctr">
                        <a:buNone/>
                      </a:pPr>
                      <a:r>
                        <a:rPr lang="en-US" sz="900" err="1">
                          <a:effectLst/>
                          <a:latin typeface="Raleway"/>
                        </a:rPr>
                        <a:t>Probolinggo</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0E6F5"/>
                    </a:solidFill>
                  </a:tcPr>
                </a:tc>
                <a:tc>
                  <a:txBody>
                    <a:bodyPr/>
                    <a:lstStyle/>
                    <a:p>
                      <a:pPr algn="ctr" fontAlgn="ctr">
                        <a:buNone/>
                      </a:pPr>
                      <a:r>
                        <a:rPr lang="en-US" sz="900" err="1">
                          <a:effectLst/>
                          <a:latin typeface="Raleway"/>
                        </a:rPr>
                        <a:t>Arga</a:t>
                      </a:r>
                    </a:p>
                  </a:txBody>
                  <a:tcPr marL="9525" marR="9525" marT="9525" anchor="ctr">
                    <a:lnL>
                      <a:noFill/>
                    </a:lnL>
                    <a:lnR>
                      <a:noFill/>
                    </a:lnR>
                    <a:lnT>
                      <a:noFill/>
                    </a:lnT>
                    <a:lnB>
                      <a:noFill/>
                    </a:lnB>
                    <a:solidFill>
                      <a:srgbClr val="C0E6F5"/>
                    </a:solidFill>
                  </a:tcPr>
                </a:tc>
                <a:tc>
                  <a:txBody>
                    <a:bodyPr/>
                    <a:lstStyle/>
                    <a:p>
                      <a:pPr rtl="0" fontAlgn="ctr">
                        <a:buNone/>
                      </a:pPr>
                      <a:r>
                        <a:rPr lang="en-US" sz="900">
                          <a:effectLst/>
                          <a:latin typeface="Raleway"/>
                        </a:rPr>
                        <a:t>Gracia</a:t>
                      </a:r>
                    </a:p>
                  </a:txBody>
                  <a:tcPr marL="9525" marR="9525" marT="9525" anchor="ctr">
                    <a:lnL>
                      <a:noFill/>
                    </a:lnL>
                    <a:lnR>
                      <a:noFill/>
                    </a:lnR>
                    <a:lnT>
                      <a:noFill/>
                    </a:lnT>
                    <a:lnB>
                      <a:noFill/>
                    </a:lnB>
                    <a:solidFill>
                      <a:srgbClr val="C0E6F5"/>
                    </a:solidFill>
                  </a:tcPr>
                </a:tc>
                <a:tc>
                  <a:txBody>
                    <a:bodyPr/>
                    <a:lstStyle/>
                    <a:p>
                      <a:pPr rtl="0" fontAlgn="ctr">
                        <a:buNone/>
                      </a:pPr>
                      <a:r>
                        <a:rPr lang="en-US" sz="900" err="1">
                          <a:effectLst/>
                          <a:latin typeface="Raleway"/>
                        </a:rPr>
                        <a:t>Pemberkasan</a:t>
                      </a:r>
                      <a:r>
                        <a:rPr lang="en-US" sz="900">
                          <a:effectLst/>
                          <a:latin typeface="Raleway"/>
                        </a:rPr>
                        <a:t> 1</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20-Jul-26</a:t>
                      </a:r>
                    </a:p>
                  </a:txBody>
                  <a:tcPr marL="9525" marR="9525" marT="9525" anchor="ctr">
                    <a:lnL>
                      <a:noFill/>
                    </a:lnL>
                    <a:lnR w="12700" cap="flat" cmpd="sng" algn="ctr">
                      <a:solidFill>
                        <a:srgbClr val="E03FBD"/>
                      </a:solidFill>
                      <a:prstDash val="solid"/>
                      <a:round/>
                      <a:headEnd type="none" w="med" len="med"/>
                      <a:tailEnd type="none" w="med" len="med"/>
                    </a:lnR>
                    <a:lnT>
                      <a:noFill/>
                    </a:lnT>
                    <a:lnB>
                      <a:noFill/>
                    </a:lnB>
                    <a:solidFill>
                      <a:srgbClr val="C0E6F5"/>
                    </a:solidFill>
                  </a:tcPr>
                </a:tc>
                <a:extLst>
                  <a:ext uri="{0D108BD9-81ED-4DB2-BD59-A6C34878D82A}">
                    <a16:rowId xmlns:a16="http://schemas.microsoft.com/office/drawing/2014/main" val="250910357"/>
                  </a:ext>
                </a:extLst>
              </a:tr>
              <a:tr h="182509">
                <a:tc>
                  <a:txBody>
                    <a:bodyPr/>
                    <a:lstStyle/>
                    <a:p>
                      <a:pPr rtl="0" fontAlgn="ctr">
                        <a:buNone/>
                      </a:pPr>
                      <a:r>
                        <a:rPr lang="en-US" sz="900">
                          <a:effectLst/>
                          <a:latin typeface="Raleway"/>
                        </a:rPr>
                        <a:t>Jawa Timur Bali</a:t>
                      </a:r>
                    </a:p>
                  </a:txBody>
                  <a:tcPr marL="9525" marR="9525" marT="9525" anchor="ctr">
                    <a:lnL w="12700" cap="flat" cmpd="sng" algn="ctr">
                      <a:solidFill>
                        <a:srgbClr val="E03FBD"/>
                      </a:solidFill>
                      <a:prstDash val="solid"/>
                      <a:round/>
                      <a:headEnd type="none" w="med" len="med"/>
                      <a:tailEnd type="none" w="med" len="med"/>
                    </a:lnL>
                    <a:lnR>
                      <a:noFill/>
                    </a:lnR>
                    <a:lnT>
                      <a:noFill/>
                    </a:lnT>
                    <a:lnB>
                      <a:noFill/>
                    </a:lnB>
                    <a:noFill/>
                  </a:tcPr>
                </a:tc>
                <a:tc>
                  <a:txBody>
                    <a:bodyPr/>
                    <a:lstStyle/>
                    <a:p>
                      <a:pPr rtl="0" fontAlgn="ctr">
                        <a:buNone/>
                      </a:pPr>
                      <a:r>
                        <a:rPr lang="en-US" sz="900" err="1">
                          <a:effectLst/>
                          <a:latin typeface="Raleway"/>
                        </a:rPr>
                        <a:t>Situbondo</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err="1">
                          <a:effectLst/>
                          <a:latin typeface="Raleway"/>
                        </a:rPr>
                        <a:t>Arga</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Gracia</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20-Jul-26</a:t>
                      </a:r>
                    </a:p>
                  </a:txBody>
                  <a:tcPr marL="9525" marR="9525" marT="9525" anchor="ctr">
                    <a:lnL>
                      <a:noFill/>
                    </a:lnL>
                    <a:lnR w="12700" cap="flat" cmpd="sng" algn="ctr">
                      <a:solidFill>
                        <a:srgbClr val="E03FBD"/>
                      </a:solidFill>
                      <a:prstDash val="solid"/>
                      <a:round/>
                      <a:headEnd type="none" w="med" len="med"/>
                      <a:tailEnd type="none" w="med" len="med"/>
                    </a:lnR>
                    <a:lnT>
                      <a:noFill/>
                    </a:lnT>
                    <a:lnB>
                      <a:noFill/>
                    </a:lnB>
                    <a:noFill/>
                  </a:tcPr>
                </a:tc>
                <a:extLst>
                  <a:ext uri="{0D108BD9-81ED-4DB2-BD59-A6C34878D82A}">
                    <a16:rowId xmlns:a16="http://schemas.microsoft.com/office/drawing/2014/main" val="3078535323"/>
                  </a:ext>
                </a:extLst>
              </a:tr>
              <a:tr h="182509">
                <a:tc>
                  <a:txBody>
                    <a:bodyPr/>
                    <a:lstStyle/>
                    <a:p>
                      <a:pPr rtl="0" fontAlgn="ctr">
                        <a:buNone/>
                      </a:pPr>
                      <a:r>
                        <a:rPr lang="en-US" sz="900">
                          <a:effectLst/>
                          <a:latin typeface="Raleway"/>
                        </a:rPr>
                        <a:t>Jawa Timur Bali</a:t>
                      </a:r>
                    </a:p>
                  </a:txBody>
                  <a:tcPr marL="9525" marR="9525" marT="9525" anchor="ctr">
                    <a:lnL w="12700" cap="flat" cmpd="sng" algn="ctr">
                      <a:solidFill>
                        <a:srgbClr val="E03FBD"/>
                      </a:solidFill>
                      <a:prstDash val="solid"/>
                      <a:round/>
                      <a:headEnd type="none" w="med" len="med"/>
                      <a:tailEnd type="none" w="med" len="med"/>
                    </a:lnL>
                    <a:lnR>
                      <a:noFill/>
                    </a:lnR>
                    <a:lnT>
                      <a:noFill/>
                    </a:lnT>
                    <a:lnB>
                      <a:noFill/>
                    </a:lnB>
                    <a:noFill/>
                  </a:tcPr>
                </a:tc>
                <a:tc>
                  <a:txBody>
                    <a:bodyPr/>
                    <a:lstStyle/>
                    <a:p>
                      <a:pPr rtl="0" fontAlgn="ctr">
                        <a:buNone/>
                      </a:pPr>
                      <a:r>
                        <a:rPr lang="en-US" sz="900" err="1">
                          <a:effectLst/>
                          <a:latin typeface="Raleway"/>
                        </a:rPr>
                        <a:t>Bojonegoro</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Evi</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Kent</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Closed - </a:t>
                      </a:r>
                      <a:r>
                        <a:rPr lang="en-US" sz="900" err="1">
                          <a:effectLst/>
                          <a:latin typeface="Raleway"/>
                        </a:rPr>
                        <a:t>Tuban</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20-Jul-26</a:t>
                      </a:r>
                    </a:p>
                  </a:txBody>
                  <a:tcPr marL="9525" marR="9525" marT="9525" anchor="ctr">
                    <a:lnL>
                      <a:noFill/>
                    </a:lnL>
                    <a:lnR w="12700" cap="flat" cmpd="sng" algn="ctr">
                      <a:solidFill>
                        <a:srgbClr val="E03FBD"/>
                      </a:solidFill>
                      <a:prstDash val="solid"/>
                      <a:round/>
                      <a:headEnd type="none" w="med" len="med"/>
                      <a:tailEnd type="none" w="med" len="med"/>
                    </a:lnR>
                    <a:lnT>
                      <a:noFill/>
                    </a:lnT>
                    <a:lnB>
                      <a:noFill/>
                    </a:lnB>
                    <a:noFill/>
                  </a:tcPr>
                </a:tc>
                <a:extLst>
                  <a:ext uri="{0D108BD9-81ED-4DB2-BD59-A6C34878D82A}">
                    <a16:rowId xmlns:a16="http://schemas.microsoft.com/office/drawing/2014/main" val="472262377"/>
                  </a:ext>
                </a:extLst>
              </a:tr>
              <a:tr h="182509">
                <a:tc>
                  <a:txBody>
                    <a:bodyPr/>
                    <a:lstStyle/>
                    <a:p>
                      <a:pPr rtl="0" fontAlgn="ctr">
                        <a:buNone/>
                      </a:pPr>
                      <a:r>
                        <a:rPr lang="en-US" sz="900">
                          <a:effectLst/>
                          <a:latin typeface="Raleway"/>
                        </a:rPr>
                        <a:t>Jawa Timur Bali</a:t>
                      </a:r>
                    </a:p>
                  </a:txBody>
                  <a:tcPr marL="9525" marR="9525" marT="9525" anchor="ctr">
                    <a:lnL w="12700" cap="flat" cmpd="sng" algn="ctr">
                      <a:solidFill>
                        <a:srgbClr val="E03FBD"/>
                      </a:solidFill>
                      <a:prstDash val="solid"/>
                      <a:round/>
                      <a:headEnd type="none" w="med" len="med"/>
                      <a:tailEnd type="none" w="med" len="med"/>
                    </a:lnL>
                    <a:lnR>
                      <a:noFill/>
                    </a:lnR>
                    <a:lnT>
                      <a:noFill/>
                    </a:lnT>
                    <a:lnB>
                      <a:noFill/>
                    </a:lnB>
                    <a:noFill/>
                  </a:tcPr>
                </a:tc>
                <a:tc>
                  <a:txBody>
                    <a:bodyPr/>
                    <a:lstStyle/>
                    <a:p>
                      <a:pPr rtl="0" fontAlgn="ctr">
                        <a:buNone/>
                      </a:pPr>
                      <a:r>
                        <a:rPr lang="en-US" sz="900">
                          <a:effectLst/>
                          <a:latin typeface="Raleway"/>
                        </a:rPr>
                        <a:t>Kediri</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Edwin</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Kent</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20-Jul-26</a:t>
                      </a:r>
                    </a:p>
                  </a:txBody>
                  <a:tcPr marL="9525" marR="9525" marT="9525" anchor="ctr">
                    <a:lnL>
                      <a:noFill/>
                    </a:lnL>
                    <a:lnR w="12700" cap="flat" cmpd="sng" algn="ctr">
                      <a:solidFill>
                        <a:srgbClr val="E03FBD"/>
                      </a:solidFill>
                      <a:prstDash val="solid"/>
                      <a:round/>
                      <a:headEnd type="none" w="med" len="med"/>
                      <a:tailEnd type="none" w="med" len="med"/>
                    </a:lnR>
                    <a:lnT>
                      <a:noFill/>
                    </a:lnT>
                    <a:lnB>
                      <a:noFill/>
                    </a:lnB>
                    <a:noFill/>
                  </a:tcPr>
                </a:tc>
                <a:extLst>
                  <a:ext uri="{0D108BD9-81ED-4DB2-BD59-A6C34878D82A}">
                    <a16:rowId xmlns:a16="http://schemas.microsoft.com/office/drawing/2014/main" val="1096728696"/>
                  </a:ext>
                </a:extLst>
              </a:tr>
              <a:tr h="182509">
                <a:tc>
                  <a:txBody>
                    <a:bodyPr/>
                    <a:lstStyle/>
                    <a:p>
                      <a:pPr rtl="0" fontAlgn="ctr">
                        <a:buNone/>
                      </a:pPr>
                      <a:r>
                        <a:rPr lang="en-US" sz="900">
                          <a:effectLst/>
                          <a:latin typeface="Raleway"/>
                        </a:rPr>
                        <a:t>Jawa Timur Bali</a:t>
                      </a:r>
                    </a:p>
                  </a:txBody>
                  <a:tcPr marL="9525" marR="9525" marT="9525" anchor="ctr">
                    <a:lnL w="12700" cap="flat" cmpd="sng" algn="ctr">
                      <a:solidFill>
                        <a:srgbClr val="E03FBD"/>
                      </a:solidFill>
                      <a:prstDash val="solid"/>
                      <a:round/>
                      <a:headEnd type="none" w="med" len="med"/>
                      <a:tailEnd type="none" w="med" len="med"/>
                    </a:lnL>
                    <a:lnR>
                      <a:noFill/>
                    </a:lnR>
                    <a:lnT>
                      <a:noFill/>
                    </a:lnT>
                    <a:lnB>
                      <a:noFill/>
                    </a:lnB>
                    <a:noFill/>
                  </a:tcPr>
                </a:tc>
                <a:tc>
                  <a:txBody>
                    <a:bodyPr/>
                    <a:lstStyle/>
                    <a:p>
                      <a:pPr rtl="0" fontAlgn="ctr">
                        <a:buNone/>
                      </a:pPr>
                      <a:r>
                        <a:rPr lang="en-US" sz="900">
                          <a:effectLst/>
                          <a:latin typeface="Raleway"/>
                        </a:rPr>
                        <a:t>Malang</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Edwin</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Kent</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20-Jul-26</a:t>
                      </a:r>
                    </a:p>
                  </a:txBody>
                  <a:tcPr marL="9525" marR="9525" marT="9525" anchor="ctr">
                    <a:lnL>
                      <a:noFill/>
                    </a:lnL>
                    <a:lnR w="12700" cap="flat" cmpd="sng" algn="ctr">
                      <a:solidFill>
                        <a:srgbClr val="E03FBD"/>
                      </a:solidFill>
                      <a:prstDash val="solid"/>
                      <a:round/>
                      <a:headEnd type="none" w="med" len="med"/>
                      <a:tailEnd type="none" w="med" len="med"/>
                    </a:lnR>
                    <a:lnT>
                      <a:noFill/>
                    </a:lnT>
                    <a:lnB>
                      <a:noFill/>
                    </a:lnB>
                    <a:noFill/>
                  </a:tcPr>
                </a:tc>
                <a:extLst>
                  <a:ext uri="{0D108BD9-81ED-4DB2-BD59-A6C34878D82A}">
                    <a16:rowId xmlns:a16="http://schemas.microsoft.com/office/drawing/2014/main" val="135936726"/>
                  </a:ext>
                </a:extLst>
              </a:tr>
              <a:tr h="308863">
                <a:tc>
                  <a:txBody>
                    <a:bodyPr/>
                    <a:lstStyle/>
                    <a:p>
                      <a:pPr rtl="0" fontAlgn="ctr">
                        <a:buNone/>
                      </a:pPr>
                      <a:r>
                        <a:rPr lang="en-US" sz="900">
                          <a:effectLst/>
                          <a:latin typeface="Raleway"/>
                        </a:rPr>
                        <a:t>Jawa Timur Bali</a:t>
                      </a:r>
                    </a:p>
                  </a:txBody>
                  <a:tcPr marL="9525" marR="9525" marT="9525" anchor="ctr">
                    <a:lnL w="12700" cap="flat" cmpd="sng" algn="ctr">
                      <a:solidFill>
                        <a:srgbClr val="E03FBD"/>
                      </a:solidFill>
                      <a:prstDash val="solid"/>
                      <a:round/>
                      <a:headEnd type="none" w="med" len="med"/>
                      <a:tailEnd type="none" w="med" len="med"/>
                    </a:lnL>
                    <a:lnR>
                      <a:noFill/>
                    </a:lnR>
                    <a:lnT>
                      <a:noFill/>
                    </a:lnT>
                    <a:lnB>
                      <a:noFill/>
                    </a:lnB>
                    <a:noFill/>
                  </a:tcPr>
                </a:tc>
                <a:tc>
                  <a:txBody>
                    <a:bodyPr/>
                    <a:lstStyle/>
                    <a:p>
                      <a:pPr rtl="0" fontAlgn="ctr">
                        <a:buNone/>
                      </a:pPr>
                      <a:r>
                        <a:rPr lang="en-US" sz="900">
                          <a:effectLst/>
                          <a:latin typeface="Raleway"/>
                        </a:rPr>
                        <a:t>Madura Timur</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3</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Juang</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Kent</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Closed</a:t>
                      </a:r>
                      <a:br>
                        <a:rPr lang="en-US" sz="900">
                          <a:effectLst/>
                          <a:latin typeface="Raleway"/>
                        </a:rPr>
                      </a:br>
                      <a:r>
                        <a:rPr lang="en-US" sz="900">
                          <a:effectLst/>
                          <a:latin typeface="Raleway"/>
                        </a:rPr>
                        <a:t>Closed 1 - Madura Barat</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3</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20-Jul-26</a:t>
                      </a:r>
                    </a:p>
                  </a:txBody>
                  <a:tcPr marL="9525" marR="9525" marT="9525" anchor="ctr">
                    <a:lnL>
                      <a:noFill/>
                    </a:lnL>
                    <a:lnR w="12700" cap="flat" cmpd="sng" algn="ctr">
                      <a:solidFill>
                        <a:srgbClr val="E03FBD"/>
                      </a:solidFill>
                      <a:prstDash val="solid"/>
                      <a:round/>
                      <a:headEnd type="none" w="med" len="med"/>
                      <a:tailEnd type="none" w="med" len="med"/>
                    </a:lnR>
                    <a:lnT>
                      <a:noFill/>
                    </a:lnT>
                    <a:lnB>
                      <a:noFill/>
                    </a:lnB>
                    <a:noFill/>
                  </a:tcPr>
                </a:tc>
                <a:extLst>
                  <a:ext uri="{0D108BD9-81ED-4DB2-BD59-A6C34878D82A}">
                    <a16:rowId xmlns:a16="http://schemas.microsoft.com/office/drawing/2014/main" val="3595815100"/>
                  </a:ext>
                </a:extLst>
              </a:tr>
              <a:tr h="182509">
                <a:tc>
                  <a:txBody>
                    <a:bodyPr/>
                    <a:lstStyle/>
                    <a:p>
                      <a:pPr rtl="0" fontAlgn="ctr">
                        <a:buNone/>
                      </a:pPr>
                      <a:r>
                        <a:rPr lang="en-US" sz="900">
                          <a:effectLst/>
                          <a:latin typeface="Raleway"/>
                        </a:rPr>
                        <a:t>Jawa Timur Bali</a:t>
                      </a:r>
                    </a:p>
                  </a:txBody>
                  <a:tcPr marL="9525" marR="9525" marT="9525" anchor="ctr">
                    <a:lnL w="12700" cap="flat" cmpd="sng" algn="ctr">
                      <a:solidFill>
                        <a:srgbClr val="E03FBD"/>
                      </a:solidFill>
                      <a:prstDash val="solid"/>
                      <a:round/>
                      <a:headEnd type="none" w="med" len="med"/>
                      <a:tailEnd type="none" w="med" len="med"/>
                    </a:lnL>
                    <a:lnR>
                      <a:noFill/>
                    </a:lnR>
                    <a:lnT>
                      <a:noFill/>
                    </a:lnT>
                    <a:lnB>
                      <a:noFill/>
                    </a:lnB>
                    <a:noFill/>
                  </a:tcPr>
                </a:tc>
                <a:tc>
                  <a:txBody>
                    <a:bodyPr/>
                    <a:lstStyle/>
                    <a:p>
                      <a:pPr rtl="0" fontAlgn="ctr">
                        <a:buNone/>
                      </a:pPr>
                      <a:r>
                        <a:rPr lang="en-US" sz="900" err="1">
                          <a:effectLst/>
                          <a:latin typeface="Raleway"/>
                        </a:rPr>
                        <a:t>Jombang</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Edwin</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Kent</a:t>
                      </a:r>
                    </a:p>
                  </a:txBody>
                  <a:tcPr marL="9525" marR="9525" marT="9525" anchor="ctr">
                    <a:lnL>
                      <a:noFill/>
                    </a:lnL>
                    <a:lnR>
                      <a:noFill/>
                    </a:lnR>
                    <a:lnT>
                      <a:noFill/>
                    </a:lnT>
                    <a:lnB>
                      <a:noFill/>
                    </a:lnB>
                    <a:noFill/>
                  </a:tcPr>
                </a:tc>
                <a:tc>
                  <a:txBody>
                    <a:bodyPr/>
                    <a:lstStyle/>
                    <a:p>
                      <a:pPr rtl="0" fontAlgn="ctr">
                        <a:buNone/>
                      </a:pPr>
                      <a:endParaRPr lang="en-US" sz="900">
                        <a:effectLst/>
                        <a:latin typeface="Raleway"/>
                      </a:endParaRP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Cancel</a:t>
                      </a:r>
                    </a:p>
                  </a:txBody>
                  <a:tcPr marL="9525" marR="9525" marT="9525" anchor="ctr">
                    <a:lnL>
                      <a:noFill/>
                    </a:lnL>
                    <a:lnR>
                      <a:noFill/>
                    </a:lnR>
                    <a:lnT>
                      <a:noFill/>
                    </a:lnT>
                    <a:lnB>
                      <a:noFill/>
                    </a:lnB>
                    <a:solidFill>
                      <a:srgbClr val="F2CEEF"/>
                    </a:solidFill>
                  </a:tcPr>
                </a:tc>
                <a:tc>
                  <a:txBody>
                    <a:bodyPr/>
                    <a:lstStyle/>
                    <a:p>
                      <a:pPr algn="ctr" fontAlgn="ctr">
                        <a:buNone/>
                      </a:pPr>
                      <a:endParaRPr lang="en-US" sz="900">
                        <a:effectLst/>
                        <a:latin typeface="Raleway"/>
                      </a:endParaRP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20-Jul-26</a:t>
                      </a:r>
                    </a:p>
                  </a:txBody>
                  <a:tcPr marL="9525" marR="9525" marT="9525" anchor="ctr">
                    <a:lnL>
                      <a:noFill/>
                    </a:lnL>
                    <a:lnR w="12700" cap="flat" cmpd="sng" algn="ctr">
                      <a:solidFill>
                        <a:srgbClr val="E03FBD"/>
                      </a:solidFill>
                      <a:prstDash val="solid"/>
                      <a:round/>
                      <a:headEnd type="none" w="med" len="med"/>
                      <a:tailEnd type="none" w="med" len="med"/>
                    </a:lnR>
                    <a:lnT>
                      <a:noFill/>
                    </a:lnT>
                    <a:lnB>
                      <a:noFill/>
                    </a:lnB>
                    <a:noFill/>
                  </a:tcPr>
                </a:tc>
                <a:extLst>
                  <a:ext uri="{0D108BD9-81ED-4DB2-BD59-A6C34878D82A}">
                    <a16:rowId xmlns:a16="http://schemas.microsoft.com/office/drawing/2014/main" val="3065105090"/>
                  </a:ext>
                </a:extLst>
              </a:tr>
              <a:tr h="182509">
                <a:tc>
                  <a:txBody>
                    <a:bodyPr/>
                    <a:lstStyle/>
                    <a:p>
                      <a:pPr rtl="0" fontAlgn="ctr">
                        <a:buNone/>
                      </a:pPr>
                      <a:r>
                        <a:rPr lang="en-US" sz="900">
                          <a:effectLst/>
                          <a:latin typeface="Raleway"/>
                        </a:rPr>
                        <a:t>Jawa Timur Bali</a:t>
                      </a:r>
                    </a:p>
                  </a:txBody>
                  <a:tcPr marL="9525" marR="9525" marT="9525" anchor="ctr">
                    <a:lnL w="12700" cap="flat" cmpd="sng" algn="ctr">
                      <a:solidFill>
                        <a:srgbClr val="E03FBD"/>
                      </a:solidFill>
                      <a:prstDash val="solid"/>
                      <a:round/>
                      <a:headEnd type="none" w="med" len="med"/>
                      <a:tailEnd type="none" w="med" len="med"/>
                    </a:lnL>
                    <a:lnR>
                      <a:noFill/>
                    </a:lnR>
                    <a:lnT>
                      <a:noFill/>
                    </a:lnT>
                    <a:lnB>
                      <a:noFill/>
                    </a:lnB>
                    <a:noFill/>
                  </a:tcPr>
                </a:tc>
                <a:tc>
                  <a:txBody>
                    <a:bodyPr/>
                    <a:lstStyle/>
                    <a:p>
                      <a:pPr rtl="0" fontAlgn="ctr">
                        <a:buNone/>
                      </a:pPr>
                      <a:r>
                        <a:rPr lang="en-US" sz="900" err="1">
                          <a:effectLst/>
                          <a:latin typeface="Raleway"/>
                        </a:rPr>
                        <a:t>Tulungagung</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3</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Edwin</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Kent</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3</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20-Jul-26</a:t>
                      </a:r>
                    </a:p>
                  </a:txBody>
                  <a:tcPr marL="9525" marR="9525" marT="9525" anchor="ctr">
                    <a:lnL>
                      <a:noFill/>
                    </a:lnL>
                    <a:lnR w="12700" cap="flat" cmpd="sng" algn="ctr">
                      <a:solidFill>
                        <a:srgbClr val="E03FBD"/>
                      </a:solidFill>
                      <a:prstDash val="solid"/>
                      <a:round/>
                      <a:headEnd type="none" w="med" len="med"/>
                      <a:tailEnd type="none" w="med" len="med"/>
                    </a:lnR>
                    <a:lnT>
                      <a:noFill/>
                    </a:lnT>
                    <a:lnB>
                      <a:noFill/>
                    </a:lnB>
                    <a:noFill/>
                  </a:tcPr>
                </a:tc>
                <a:extLst>
                  <a:ext uri="{0D108BD9-81ED-4DB2-BD59-A6C34878D82A}">
                    <a16:rowId xmlns:a16="http://schemas.microsoft.com/office/drawing/2014/main" val="2895479139"/>
                  </a:ext>
                </a:extLst>
              </a:tr>
              <a:tr h="182509">
                <a:tc>
                  <a:txBody>
                    <a:bodyPr/>
                    <a:lstStyle/>
                    <a:p>
                      <a:pPr rtl="0" fontAlgn="ctr">
                        <a:buNone/>
                      </a:pPr>
                      <a:r>
                        <a:rPr lang="en-US" sz="900">
                          <a:effectLst/>
                          <a:latin typeface="Raleway"/>
                        </a:rPr>
                        <a:t>Jawa Barat</a:t>
                      </a:r>
                    </a:p>
                  </a:txBody>
                  <a:tcPr marL="9525" marR="9525" marT="9525" anchor="ctr">
                    <a:lnL w="12700" cap="flat" cmpd="sng" algn="ctr">
                      <a:solidFill>
                        <a:srgbClr val="E03FBD"/>
                      </a:solidFill>
                      <a:prstDash val="solid"/>
                      <a:round/>
                      <a:headEnd type="none" w="med" len="med"/>
                      <a:tailEnd type="none" w="med" len="med"/>
                    </a:lnL>
                    <a:lnR>
                      <a:noFill/>
                    </a:lnR>
                    <a:lnT>
                      <a:noFill/>
                    </a:lnT>
                    <a:lnB>
                      <a:noFill/>
                    </a:lnB>
                    <a:noFill/>
                  </a:tcPr>
                </a:tc>
                <a:tc>
                  <a:txBody>
                    <a:bodyPr/>
                    <a:lstStyle/>
                    <a:p>
                      <a:pPr rtl="0" fontAlgn="ctr">
                        <a:buNone/>
                      </a:pPr>
                      <a:r>
                        <a:rPr lang="en-US" sz="900">
                          <a:effectLst/>
                          <a:latin typeface="Raleway"/>
                        </a:rPr>
                        <a:t>Cirebon</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Rony</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Zwei</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20-Jul-26</a:t>
                      </a:r>
                    </a:p>
                  </a:txBody>
                  <a:tcPr marL="9525" marR="9525" marT="9525" anchor="ctr">
                    <a:lnL>
                      <a:noFill/>
                    </a:lnL>
                    <a:lnR w="12700" cap="flat" cmpd="sng" algn="ctr">
                      <a:solidFill>
                        <a:srgbClr val="E03FBD"/>
                      </a:solidFill>
                      <a:prstDash val="solid"/>
                      <a:round/>
                      <a:headEnd type="none" w="med" len="med"/>
                      <a:tailEnd type="none" w="med" len="med"/>
                    </a:lnR>
                    <a:lnT>
                      <a:noFill/>
                    </a:lnT>
                    <a:lnB>
                      <a:noFill/>
                    </a:lnB>
                    <a:noFill/>
                  </a:tcPr>
                </a:tc>
                <a:extLst>
                  <a:ext uri="{0D108BD9-81ED-4DB2-BD59-A6C34878D82A}">
                    <a16:rowId xmlns:a16="http://schemas.microsoft.com/office/drawing/2014/main" val="4091724349"/>
                  </a:ext>
                </a:extLst>
              </a:tr>
              <a:tr h="182509">
                <a:tc>
                  <a:txBody>
                    <a:bodyPr/>
                    <a:lstStyle/>
                    <a:p>
                      <a:pPr rtl="0" fontAlgn="ctr">
                        <a:buNone/>
                      </a:pPr>
                      <a:r>
                        <a:rPr lang="en-US" sz="900">
                          <a:effectLst/>
                          <a:latin typeface="Raleway"/>
                        </a:rPr>
                        <a:t>Jawa Barat</a:t>
                      </a:r>
                    </a:p>
                  </a:txBody>
                  <a:tcPr marL="9525" marR="9525" marT="9525" anchor="ctr">
                    <a:lnL w="12700" cap="flat" cmpd="sng" algn="ctr">
                      <a:solidFill>
                        <a:srgbClr val="E03FBD"/>
                      </a:solidFill>
                      <a:prstDash val="solid"/>
                      <a:round/>
                      <a:headEnd type="none" w="med" len="med"/>
                      <a:tailEnd type="none" w="med" len="med"/>
                    </a:lnL>
                    <a:lnR>
                      <a:noFill/>
                    </a:lnR>
                    <a:lnT>
                      <a:noFill/>
                    </a:lnT>
                    <a:lnB>
                      <a:noFill/>
                    </a:lnB>
                    <a:noFill/>
                  </a:tcPr>
                </a:tc>
                <a:tc>
                  <a:txBody>
                    <a:bodyPr/>
                    <a:lstStyle/>
                    <a:p>
                      <a:pPr rtl="0" fontAlgn="ctr">
                        <a:buNone/>
                      </a:pPr>
                      <a:r>
                        <a:rPr lang="en-US" sz="900">
                          <a:effectLst/>
                          <a:latin typeface="Raleway"/>
                        </a:rPr>
                        <a:t>Subang</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Rony</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Zwei</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20-Jul-26</a:t>
                      </a:r>
                    </a:p>
                  </a:txBody>
                  <a:tcPr marL="9525" marR="9525" marT="9525" anchor="ctr">
                    <a:lnL>
                      <a:noFill/>
                    </a:lnL>
                    <a:lnR w="12700" cap="flat" cmpd="sng" algn="ctr">
                      <a:solidFill>
                        <a:srgbClr val="E03FBD"/>
                      </a:solidFill>
                      <a:prstDash val="solid"/>
                      <a:round/>
                      <a:headEnd type="none" w="med" len="med"/>
                      <a:tailEnd type="none" w="med" len="med"/>
                    </a:lnR>
                    <a:lnT>
                      <a:noFill/>
                    </a:lnT>
                    <a:lnB>
                      <a:noFill/>
                    </a:lnB>
                    <a:noFill/>
                  </a:tcPr>
                </a:tc>
                <a:extLst>
                  <a:ext uri="{0D108BD9-81ED-4DB2-BD59-A6C34878D82A}">
                    <a16:rowId xmlns:a16="http://schemas.microsoft.com/office/drawing/2014/main" val="667622326"/>
                  </a:ext>
                </a:extLst>
              </a:tr>
              <a:tr h="182509">
                <a:tc>
                  <a:txBody>
                    <a:bodyPr/>
                    <a:lstStyle/>
                    <a:p>
                      <a:pPr rtl="0" fontAlgn="ctr">
                        <a:buNone/>
                      </a:pPr>
                      <a:r>
                        <a:rPr lang="en-US" sz="900">
                          <a:effectLst/>
                          <a:latin typeface="Raleway"/>
                        </a:rPr>
                        <a:t>Jawa Tengah</a:t>
                      </a:r>
                    </a:p>
                  </a:txBody>
                  <a:tcPr marL="9525" marR="9525" marT="9525" anchor="ctr">
                    <a:lnL w="12700" cap="flat" cmpd="sng" algn="ctr">
                      <a:solidFill>
                        <a:srgbClr val="E03FBD"/>
                      </a:solidFill>
                      <a:prstDash val="solid"/>
                      <a:round/>
                      <a:headEnd type="none" w="med" len="med"/>
                      <a:tailEnd type="none" w="med" len="med"/>
                    </a:lnL>
                    <a:lnR>
                      <a:noFill/>
                    </a:lnR>
                    <a:lnT>
                      <a:noFill/>
                    </a:lnT>
                    <a:lnB w="12700" cap="flat" cmpd="sng" algn="ctr">
                      <a:solidFill>
                        <a:srgbClr val="20D5BA"/>
                      </a:solidFill>
                      <a:prstDash val="solid"/>
                      <a:round/>
                      <a:headEnd type="none" w="med" len="med"/>
                      <a:tailEnd type="none" w="med" len="med"/>
                    </a:lnB>
                    <a:solidFill>
                      <a:srgbClr val="C0E6F5"/>
                    </a:solidFill>
                  </a:tcPr>
                </a:tc>
                <a:tc>
                  <a:txBody>
                    <a:bodyPr/>
                    <a:lstStyle/>
                    <a:p>
                      <a:pPr rtl="0" fontAlgn="ctr">
                        <a:buNone/>
                      </a:pPr>
                      <a:r>
                        <a:rPr lang="en-US" sz="900" err="1">
                          <a:effectLst/>
                          <a:latin typeface="Raleway"/>
                        </a:rPr>
                        <a:t>Kebumen</a:t>
                      </a:r>
                    </a:p>
                  </a:txBody>
                  <a:tcPr marL="9525" marR="9525" marT="9525" anchor="ctr">
                    <a:lnL>
                      <a:noFill/>
                    </a:lnL>
                    <a:lnR>
                      <a:noFill/>
                    </a:lnR>
                    <a:lnT>
                      <a:noFill/>
                    </a:lnT>
                    <a:lnB w="12700" cap="flat" cmpd="sng" algn="ctr">
                      <a:solidFill>
                        <a:srgbClr val="F0A5B7"/>
                      </a:solidFill>
                      <a:prstDash val="solid"/>
                      <a:round/>
                      <a:headEnd type="none" w="med" len="med"/>
                      <a:tailEnd type="none" w="med" len="med"/>
                    </a:lnB>
                    <a:solidFill>
                      <a:srgbClr val="C0E6F5"/>
                    </a:solidFill>
                  </a:tcPr>
                </a:tc>
                <a:tc>
                  <a:txBody>
                    <a:bodyPr/>
                    <a:lstStyle/>
                    <a:p>
                      <a:pPr algn="ctr" fontAlgn="ctr">
                        <a:buNone/>
                      </a:pPr>
                      <a:r>
                        <a:rPr lang="en-US" sz="900">
                          <a:effectLst/>
                          <a:latin typeface="Raleway"/>
                        </a:rPr>
                        <a:t>3</a:t>
                      </a:r>
                    </a:p>
                  </a:txBody>
                  <a:tcPr marL="9525" marR="9525" marT="9525" anchor="ctr">
                    <a:lnL>
                      <a:noFill/>
                    </a:lnL>
                    <a:lnR>
                      <a:noFill/>
                    </a:lnR>
                    <a:lnT>
                      <a:noFill/>
                    </a:lnT>
                    <a:lnB w="12700" cap="flat" cmpd="sng" algn="ctr">
                      <a:solidFill>
                        <a:srgbClr val="F0A1B7"/>
                      </a:solidFill>
                      <a:prstDash val="solid"/>
                      <a:round/>
                      <a:headEnd type="none" w="med" len="med"/>
                      <a:tailEnd type="none" w="med" len="med"/>
                    </a:lnB>
                    <a:solidFill>
                      <a:srgbClr val="C0E6F5"/>
                    </a:solidFill>
                  </a:tcPr>
                </a:tc>
                <a:tc>
                  <a:txBody>
                    <a:bodyPr/>
                    <a:lstStyle/>
                    <a:p>
                      <a:pPr algn="ctr" fontAlgn="ctr">
                        <a:buNone/>
                      </a:pPr>
                      <a:r>
                        <a:rPr lang="en-US" sz="900">
                          <a:effectLst/>
                          <a:latin typeface="Raleway"/>
                        </a:rPr>
                        <a:t>Dyta</a:t>
                      </a:r>
                    </a:p>
                  </a:txBody>
                  <a:tcPr marL="9525" marR="9525" marT="9525" anchor="ctr">
                    <a:lnL>
                      <a:noFill/>
                    </a:lnL>
                    <a:lnR>
                      <a:noFill/>
                    </a:lnR>
                    <a:lnT>
                      <a:noFill/>
                    </a:lnT>
                    <a:lnB w="12700" cap="flat" cmpd="sng" algn="ctr">
                      <a:solidFill>
                        <a:srgbClr val="50A5B7"/>
                      </a:solidFill>
                      <a:prstDash val="solid"/>
                      <a:round/>
                      <a:headEnd type="none" w="med" len="med"/>
                      <a:tailEnd type="none" w="med" len="med"/>
                    </a:lnB>
                    <a:solidFill>
                      <a:srgbClr val="C0E6F5"/>
                    </a:solidFill>
                  </a:tcPr>
                </a:tc>
                <a:tc>
                  <a:txBody>
                    <a:bodyPr/>
                    <a:lstStyle/>
                    <a:p>
                      <a:pPr rtl="0" fontAlgn="ctr">
                        <a:buNone/>
                      </a:pPr>
                      <a:r>
                        <a:rPr lang="en-US" sz="900">
                          <a:effectLst/>
                          <a:latin typeface="Raleway"/>
                        </a:rPr>
                        <a:t>Zwei</a:t>
                      </a:r>
                    </a:p>
                  </a:txBody>
                  <a:tcPr marL="9525" marR="9525" marT="9525" anchor="ctr">
                    <a:lnL>
                      <a:noFill/>
                    </a:lnL>
                    <a:lnR>
                      <a:noFill/>
                    </a:lnR>
                    <a:lnT>
                      <a:noFill/>
                    </a:lnT>
                    <a:lnB w="12700" cap="flat" cmpd="sng" algn="ctr">
                      <a:solidFill>
                        <a:srgbClr val="D0A1B7"/>
                      </a:solidFill>
                      <a:prstDash val="solid"/>
                      <a:round/>
                      <a:headEnd type="none" w="med" len="med"/>
                      <a:tailEnd type="none" w="med" len="med"/>
                    </a:lnB>
                    <a:solidFill>
                      <a:srgbClr val="C0E6F5"/>
                    </a:solidFill>
                  </a:tcPr>
                </a:tc>
                <a:tc>
                  <a:txBody>
                    <a:bodyPr/>
                    <a:lstStyle/>
                    <a:p>
                      <a:pPr rtl="0" fontAlgn="ctr">
                        <a:buNone/>
                      </a:pPr>
                      <a:r>
                        <a:rPr lang="en-US" sz="900">
                          <a:effectLst/>
                          <a:latin typeface="Raleway"/>
                        </a:rPr>
                        <a:t>Closed 2</a:t>
                      </a:r>
                    </a:p>
                  </a:txBody>
                  <a:tcPr marL="9525" marR="9525" marT="9525" anchor="ctr">
                    <a:lnL>
                      <a:noFill/>
                    </a:lnL>
                    <a:lnR>
                      <a:noFill/>
                    </a:lnR>
                    <a:lnT>
                      <a:noFill/>
                    </a:lnT>
                    <a:lnB w="12700" cap="flat" cmpd="sng" algn="ctr">
                      <a:solidFill>
                        <a:srgbClr val="70A5B7"/>
                      </a:solidFill>
                      <a:prstDash val="solid"/>
                      <a:round/>
                      <a:headEnd type="none" w="med" len="med"/>
                      <a:tailEnd type="none" w="med" len="med"/>
                    </a:lnB>
                    <a:solidFill>
                      <a:srgbClr val="C0E6F5"/>
                    </a:solidFill>
                  </a:tcPr>
                </a:tc>
                <a:tc>
                  <a:txBody>
                    <a:bodyPr/>
                    <a:lstStyle/>
                    <a:p>
                      <a:pPr algn="ctr" fontAlgn="ctr">
                        <a:buNone/>
                      </a:pPr>
                      <a:r>
                        <a:rPr lang="en-US" sz="900">
                          <a:effectLst/>
                          <a:latin typeface="Raleway"/>
                        </a:rPr>
                        <a:t>2</a:t>
                      </a:r>
                    </a:p>
                  </a:txBody>
                  <a:tcPr marL="9525" marR="9525" marT="9525" anchor="ctr">
                    <a:lnL>
                      <a:noFill/>
                    </a:lnL>
                    <a:lnR>
                      <a:noFill/>
                    </a:lnR>
                    <a:lnT>
                      <a:noFill/>
                    </a:lnT>
                    <a:lnB w="12700" cap="flat" cmpd="sng" algn="ctr">
                      <a:solidFill>
                        <a:srgbClr val="F0A1B7"/>
                      </a:solidFill>
                      <a:prstDash val="solid"/>
                      <a:round/>
                      <a:headEnd type="none" w="med" len="med"/>
                      <a:tailEnd type="none" w="med" len="med"/>
                    </a:lnB>
                    <a:solidFill>
                      <a:srgbClr val="C0E6F5"/>
                    </a:solidFill>
                  </a:tcPr>
                </a:tc>
                <a:tc>
                  <a:txBody>
                    <a:bodyPr/>
                    <a:lstStyle/>
                    <a:p>
                      <a:pPr algn="ctr" fontAlgn="ctr">
                        <a:buNone/>
                      </a:pPr>
                      <a:r>
                        <a:rPr lang="en-US" sz="900">
                          <a:effectLst/>
                          <a:latin typeface="Raleway"/>
                        </a:rPr>
                        <a:t>1</a:t>
                      </a:r>
                    </a:p>
                  </a:txBody>
                  <a:tcPr marL="9525" marR="9525" marT="9525" anchor="ctr">
                    <a:lnL>
                      <a:noFill/>
                    </a:lnL>
                    <a:lnR>
                      <a:noFill/>
                    </a:lnR>
                    <a:lnT>
                      <a:noFill/>
                    </a:lnT>
                    <a:lnB w="12700" cap="flat" cmpd="sng" algn="ctr">
                      <a:solidFill>
                        <a:srgbClr val="50A3B7"/>
                      </a:solidFill>
                      <a:prstDash val="solid"/>
                      <a:round/>
                      <a:headEnd type="none" w="med" len="med"/>
                      <a:tailEnd type="none" w="med" len="med"/>
                    </a:lnB>
                    <a:solidFill>
                      <a:srgbClr val="C0E6F5"/>
                    </a:solidFill>
                  </a:tcPr>
                </a:tc>
                <a:tc>
                  <a:txBody>
                    <a:bodyPr/>
                    <a:lstStyle/>
                    <a:p>
                      <a:pPr algn="ctr" fontAlgn="ctr">
                        <a:buNone/>
                      </a:pPr>
                      <a:r>
                        <a:rPr lang="en-US" sz="900">
                          <a:effectLst/>
                          <a:latin typeface="Raleway"/>
                        </a:rPr>
                        <a:t>20-Jul-26</a:t>
                      </a:r>
                    </a:p>
                  </a:txBody>
                  <a:tcPr marL="9525" marR="9525" marT="9525" anchor="ctr">
                    <a:lnL>
                      <a:noFill/>
                    </a:lnL>
                    <a:lnR w="12700" cap="flat" cmpd="sng" algn="ctr">
                      <a:solidFill>
                        <a:srgbClr val="E03FBD"/>
                      </a:solidFill>
                      <a:prstDash val="solid"/>
                      <a:round/>
                      <a:headEnd type="none" w="med" len="med"/>
                      <a:tailEnd type="none" w="med" len="med"/>
                    </a:lnR>
                    <a:lnT>
                      <a:noFill/>
                    </a:lnT>
                    <a:lnB w="12700" cap="flat" cmpd="sng" algn="ctr">
                      <a:solidFill>
                        <a:srgbClr val="D0A1B7"/>
                      </a:solidFill>
                      <a:prstDash val="solid"/>
                      <a:round/>
                      <a:headEnd type="none" w="med" len="med"/>
                      <a:tailEnd type="none" w="med" len="med"/>
                    </a:lnB>
                    <a:solidFill>
                      <a:srgbClr val="C0E6F5"/>
                    </a:solidFill>
                  </a:tcPr>
                </a:tc>
                <a:extLst>
                  <a:ext uri="{0D108BD9-81ED-4DB2-BD59-A6C34878D82A}">
                    <a16:rowId xmlns:a16="http://schemas.microsoft.com/office/drawing/2014/main" val="3249337364"/>
                  </a:ext>
                </a:extLst>
              </a:tr>
              <a:tr h="182509">
                <a:tc>
                  <a:txBody>
                    <a:bodyPr/>
                    <a:lstStyle/>
                    <a:p>
                      <a:pPr rtl="0" fontAlgn="ctr">
                        <a:buNone/>
                      </a:pPr>
                      <a:endParaRPr lang="en-US" sz="900" b="1">
                        <a:effectLst/>
                        <a:latin typeface="Raleway"/>
                      </a:endParaRPr>
                    </a:p>
                  </a:txBody>
                  <a:tcPr marL="9525" marR="9525" marT="9525" anchor="ctr">
                    <a:lnL w="12700" cap="flat" cmpd="sng" algn="ctr">
                      <a:solidFill>
                        <a:srgbClr val="20D5BA"/>
                      </a:solidFill>
                      <a:prstDash val="solid"/>
                      <a:round/>
                      <a:headEnd type="none" w="med" len="med"/>
                      <a:tailEnd type="none" w="med" len="med"/>
                    </a:lnL>
                    <a:lnR>
                      <a:noFill/>
                    </a:lnR>
                    <a:lnT w="12700" cap="flat" cmpd="sng" algn="ctr">
                      <a:solidFill>
                        <a:srgbClr val="20D5BA"/>
                      </a:solidFill>
                      <a:prstDash val="solid"/>
                      <a:round/>
                      <a:headEnd type="none" w="med" len="med"/>
                      <a:tailEnd type="none" w="med" len="med"/>
                    </a:lnT>
                    <a:lnB w="12700" cap="flat" cmpd="sng" algn="ctr">
                      <a:solidFill>
                        <a:srgbClr val="20D5BA"/>
                      </a:solidFill>
                      <a:prstDash val="solid"/>
                      <a:round/>
                      <a:headEnd type="none" w="med" len="med"/>
                      <a:tailEnd type="none" w="med" len="med"/>
                    </a:lnB>
                    <a:solidFill>
                      <a:srgbClr val="FFFFFF"/>
                    </a:solidFill>
                  </a:tcPr>
                </a:tc>
                <a:tc>
                  <a:txBody>
                    <a:bodyPr/>
                    <a:lstStyle/>
                    <a:p>
                      <a:pPr rtl="0" fontAlgn="ctr">
                        <a:buNone/>
                      </a:pPr>
                      <a:r>
                        <a:rPr lang="en-US" sz="900" b="1">
                          <a:effectLst/>
                          <a:latin typeface="Raleway"/>
                        </a:rPr>
                        <a:t>Total</a:t>
                      </a:r>
                    </a:p>
                  </a:txBody>
                  <a:tcPr marL="9525" marR="9525" marT="9525" anchor="ctr">
                    <a:lnL>
                      <a:noFill/>
                    </a:lnL>
                    <a:lnR>
                      <a:noFill/>
                    </a:lnR>
                    <a:lnT w="12700" cap="flat" cmpd="sng" algn="ctr">
                      <a:solidFill>
                        <a:srgbClr val="F0A5B7"/>
                      </a:solidFill>
                      <a:prstDash val="solid"/>
                      <a:round/>
                      <a:headEnd type="none" w="med" len="med"/>
                      <a:tailEnd type="none" w="med" len="med"/>
                    </a:lnT>
                    <a:lnB w="12700" cap="flat" cmpd="sng" algn="ctr">
                      <a:solidFill>
                        <a:srgbClr val="F0A5B7"/>
                      </a:solidFill>
                      <a:prstDash val="solid"/>
                      <a:round/>
                      <a:headEnd type="none" w="med" len="med"/>
                      <a:tailEnd type="none" w="med" len="med"/>
                    </a:lnB>
                    <a:solidFill>
                      <a:srgbClr val="FFFFFF"/>
                    </a:solidFill>
                  </a:tcPr>
                </a:tc>
                <a:tc>
                  <a:txBody>
                    <a:bodyPr/>
                    <a:lstStyle/>
                    <a:p>
                      <a:pPr algn="ctr" fontAlgn="ctr">
                        <a:buNone/>
                      </a:pPr>
                      <a:r>
                        <a:rPr lang="en-US" sz="900" b="1">
                          <a:effectLst/>
                          <a:latin typeface="Raleway"/>
                        </a:rPr>
                        <a:t>37</a:t>
                      </a:r>
                    </a:p>
                  </a:txBody>
                  <a:tcPr marL="9525" marR="9525" marT="9525" anchor="ctr">
                    <a:lnL>
                      <a:noFill/>
                    </a:lnL>
                    <a:lnR>
                      <a:noFill/>
                    </a:lnR>
                    <a:lnT w="12700" cap="flat" cmpd="sng" algn="ctr">
                      <a:solidFill>
                        <a:srgbClr val="F0A1B7"/>
                      </a:solidFill>
                      <a:prstDash val="solid"/>
                      <a:round/>
                      <a:headEnd type="none" w="med" len="med"/>
                      <a:tailEnd type="none" w="med" len="med"/>
                    </a:lnT>
                    <a:lnB w="12700" cap="flat" cmpd="sng" algn="ctr">
                      <a:solidFill>
                        <a:srgbClr val="F0A1B7"/>
                      </a:solidFill>
                      <a:prstDash val="solid"/>
                      <a:round/>
                      <a:headEnd type="none" w="med" len="med"/>
                      <a:tailEnd type="none" w="med" len="med"/>
                    </a:lnB>
                    <a:solidFill>
                      <a:srgbClr val="FFFFFF"/>
                    </a:solidFill>
                  </a:tcPr>
                </a:tc>
                <a:tc>
                  <a:txBody>
                    <a:bodyPr/>
                    <a:lstStyle/>
                    <a:p>
                      <a:pPr rtl="0" fontAlgn="ctr">
                        <a:buNone/>
                      </a:pPr>
                      <a:endParaRPr lang="en-US" sz="900" b="1">
                        <a:effectLst/>
                        <a:latin typeface="Raleway"/>
                      </a:endParaRPr>
                    </a:p>
                  </a:txBody>
                  <a:tcPr marL="9525" marR="9525" marT="9525" anchor="ctr">
                    <a:lnL>
                      <a:noFill/>
                    </a:lnL>
                    <a:lnR>
                      <a:noFill/>
                    </a:lnR>
                    <a:lnT w="12700" cap="flat" cmpd="sng" algn="ctr">
                      <a:solidFill>
                        <a:srgbClr val="50A5B7"/>
                      </a:solidFill>
                      <a:prstDash val="solid"/>
                      <a:round/>
                      <a:headEnd type="none" w="med" len="med"/>
                      <a:tailEnd type="none" w="med" len="med"/>
                    </a:lnT>
                    <a:lnB w="12700" cap="flat" cmpd="sng" algn="ctr">
                      <a:solidFill>
                        <a:srgbClr val="50A5B7"/>
                      </a:solidFill>
                      <a:prstDash val="solid"/>
                      <a:round/>
                      <a:headEnd type="none" w="med" len="med"/>
                      <a:tailEnd type="none" w="med" len="med"/>
                    </a:lnB>
                    <a:solidFill>
                      <a:srgbClr val="FFFFFF"/>
                    </a:solidFill>
                  </a:tcPr>
                </a:tc>
                <a:tc>
                  <a:txBody>
                    <a:bodyPr/>
                    <a:lstStyle/>
                    <a:p>
                      <a:pPr rtl="0" fontAlgn="ctr">
                        <a:buNone/>
                      </a:pPr>
                      <a:endParaRPr lang="en-US" sz="900" b="1">
                        <a:effectLst/>
                        <a:latin typeface="Raleway"/>
                      </a:endParaRPr>
                    </a:p>
                  </a:txBody>
                  <a:tcPr marL="9525" marR="9525" marT="9525" anchor="ctr">
                    <a:lnL>
                      <a:noFill/>
                    </a:lnL>
                    <a:lnR>
                      <a:noFill/>
                    </a:lnR>
                    <a:lnT w="12700" cap="flat" cmpd="sng" algn="ctr">
                      <a:solidFill>
                        <a:srgbClr val="D0A1B7"/>
                      </a:solidFill>
                      <a:prstDash val="solid"/>
                      <a:round/>
                      <a:headEnd type="none" w="med" len="med"/>
                      <a:tailEnd type="none" w="med" len="med"/>
                    </a:lnT>
                    <a:lnB w="12700" cap="flat" cmpd="sng" algn="ctr">
                      <a:solidFill>
                        <a:srgbClr val="D0A1B7"/>
                      </a:solidFill>
                      <a:prstDash val="solid"/>
                      <a:round/>
                      <a:headEnd type="none" w="med" len="med"/>
                      <a:tailEnd type="none" w="med" len="med"/>
                    </a:lnB>
                    <a:solidFill>
                      <a:srgbClr val="FFFFFF"/>
                    </a:solidFill>
                  </a:tcPr>
                </a:tc>
                <a:tc>
                  <a:txBody>
                    <a:bodyPr/>
                    <a:lstStyle/>
                    <a:p>
                      <a:pPr algn="ctr" fontAlgn="ctr">
                        <a:buNone/>
                      </a:pPr>
                      <a:endParaRPr lang="en-US" sz="900" b="1">
                        <a:effectLst/>
                        <a:latin typeface="Raleway"/>
                      </a:endParaRPr>
                    </a:p>
                  </a:txBody>
                  <a:tcPr marL="9525" marR="9525" marT="9525" anchor="ctr">
                    <a:lnL>
                      <a:noFill/>
                    </a:lnL>
                    <a:lnR>
                      <a:noFill/>
                    </a:lnR>
                    <a:lnT w="12700" cap="flat" cmpd="sng" algn="ctr">
                      <a:solidFill>
                        <a:srgbClr val="70A5B7"/>
                      </a:solidFill>
                      <a:prstDash val="solid"/>
                      <a:round/>
                      <a:headEnd type="none" w="med" len="med"/>
                      <a:tailEnd type="none" w="med" len="med"/>
                    </a:lnT>
                    <a:lnB w="12700" cap="flat" cmpd="sng" algn="ctr">
                      <a:solidFill>
                        <a:srgbClr val="70A5B7"/>
                      </a:solidFill>
                      <a:prstDash val="solid"/>
                      <a:round/>
                      <a:headEnd type="none" w="med" len="med"/>
                      <a:tailEnd type="none" w="med" len="med"/>
                    </a:lnB>
                    <a:solidFill>
                      <a:srgbClr val="FFFFFF"/>
                    </a:solidFill>
                  </a:tcPr>
                </a:tc>
                <a:tc>
                  <a:txBody>
                    <a:bodyPr/>
                    <a:lstStyle/>
                    <a:p>
                      <a:pPr algn="ctr" fontAlgn="ctr">
                        <a:buNone/>
                      </a:pPr>
                      <a:r>
                        <a:rPr lang="en-US" sz="900" b="1">
                          <a:effectLst/>
                          <a:latin typeface="Raleway"/>
                        </a:rPr>
                        <a:t>35</a:t>
                      </a:r>
                    </a:p>
                  </a:txBody>
                  <a:tcPr marL="9525" marR="9525" marT="9525" anchor="ctr">
                    <a:lnL>
                      <a:noFill/>
                    </a:lnL>
                    <a:lnR>
                      <a:noFill/>
                    </a:lnR>
                    <a:lnT w="12700" cap="flat" cmpd="sng" algn="ctr">
                      <a:solidFill>
                        <a:srgbClr val="F0A1B7"/>
                      </a:solidFill>
                      <a:prstDash val="solid"/>
                      <a:round/>
                      <a:headEnd type="none" w="med" len="med"/>
                      <a:tailEnd type="none" w="med" len="med"/>
                    </a:lnT>
                    <a:lnB w="12700" cap="flat" cmpd="sng" algn="ctr">
                      <a:solidFill>
                        <a:srgbClr val="F0A1B7"/>
                      </a:solidFill>
                      <a:prstDash val="solid"/>
                      <a:round/>
                      <a:headEnd type="none" w="med" len="med"/>
                      <a:tailEnd type="none" w="med" len="med"/>
                    </a:lnB>
                    <a:solidFill>
                      <a:srgbClr val="FFFFFF"/>
                    </a:solidFill>
                  </a:tcPr>
                </a:tc>
                <a:tc>
                  <a:txBody>
                    <a:bodyPr/>
                    <a:lstStyle/>
                    <a:p>
                      <a:pPr algn="ctr" fontAlgn="ctr">
                        <a:buNone/>
                      </a:pPr>
                      <a:r>
                        <a:rPr lang="en-US" sz="900" b="1">
                          <a:effectLst/>
                          <a:latin typeface="Raleway"/>
                        </a:rPr>
                        <a:t>2</a:t>
                      </a:r>
                    </a:p>
                  </a:txBody>
                  <a:tcPr marL="9525" marR="9525" marT="9525" anchor="ctr">
                    <a:lnL>
                      <a:noFill/>
                    </a:lnL>
                    <a:lnR>
                      <a:noFill/>
                    </a:lnR>
                    <a:lnT w="12700" cap="flat" cmpd="sng" algn="ctr">
                      <a:solidFill>
                        <a:srgbClr val="50A3B7"/>
                      </a:solidFill>
                      <a:prstDash val="solid"/>
                      <a:round/>
                      <a:headEnd type="none" w="med" len="med"/>
                      <a:tailEnd type="none" w="med" len="med"/>
                    </a:lnT>
                    <a:lnB w="12700" cap="flat" cmpd="sng" algn="ctr">
                      <a:solidFill>
                        <a:srgbClr val="50A3B7"/>
                      </a:solidFill>
                      <a:prstDash val="solid"/>
                      <a:round/>
                      <a:headEnd type="none" w="med" len="med"/>
                      <a:tailEnd type="none" w="med" len="med"/>
                    </a:lnB>
                    <a:solidFill>
                      <a:srgbClr val="FFFFFF"/>
                    </a:solidFill>
                  </a:tcPr>
                </a:tc>
                <a:tc>
                  <a:txBody>
                    <a:bodyPr/>
                    <a:lstStyle/>
                    <a:p>
                      <a:pPr algn="ctr" fontAlgn="ctr">
                        <a:buNone/>
                      </a:pPr>
                      <a:endParaRPr lang="en-US" sz="900" b="1">
                        <a:effectLst/>
                        <a:latin typeface="Aptos Narrow"/>
                      </a:endParaRPr>
                    </a:p>
                  </a:txBody>
                  <a:tcPr marL="9525" marR="9525" marT="9525" anchor="ctr">
                    <a:lnL>
                      <a:noFill/>
                    </a:lnL>
                    <a:lnR w="12700" cap="flat" cmpd="sng" algn="ctr">
                      <a:solidFill>
                        <a:srgbClr val="D0A1B7"/>
                      </a:solidFill>
                      <a:prstDash val="solid"/>
                      <a:round/>
                      <a:headEnd type="none" w="med" len="med"/>
                      <a:tailEnd type="none" w="med" len="med"/>
                    </a:lnR>
                    <a:lnT w="12700" cap="flat" cmpd="sng" algn="ctr">
                      <a:solidFill>
                        <a:srgbClr val="D0A1B7"/>
                      </a:solidFill>
                      <a:prstDash val="solid"/>
                      <a:round/>
                      <a:headEnd type="none" w="med" len="med"/>
                      <a:tailEnd type="none" w="med" len="med"/>
                    </a:lnT>
                    <a:lnB w="12700" cap="flat" cmpd="sng" algn="ctr">
                      <a:solidFill>
                        <a:srgbClr val="D0A1B7"/>
                      </a:solidFill>
                      <a:prstDash val="solid"/>
                      <a:round/>
                      <a:headEnd type="none" w="med" len="med"/>
                      <a:tailEnd type="none" w="med" len="med"/>
                    </a:lnB>
                    <a:noFill/>
                  </a:tcPr>
                </a:tc>
                <a:extLst>
                  <a:ext uri="{0D108BD9-81ED-4DB2-BD59-A6C34878D82A}">
                    <a16:rowId xmlns:a16="http://schemas.microsoft.com/office/drawing/2014/main" val="1597010853"/>
                  </a:ext>
                </a:extLst>
              </a:tr>
            </a:tbl>
          </a:graphicData>
        </a:graphic>
      </p:graphicFrame>
    </p:spTree>
    <p:extLst>
      <p:ext uri="{BB962C8B-B14F-4D97-AF65-F5344CB8AC3E}">
        <p14:creationId xmlns:p14="http://schemas.microsoft.com/office/powerpoint/2010/main" val="3570483747"/>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6E9D01-78CC-3136-4D5E-D24B20410944}"/>
            </a:ext>
          </a:extLst>
        </p:cNvPr>
        <p:cNvGrpSpPr/>
        <p:nvPr/>
      </p:nvGrpSpPr>
      <p:grpSpPr>
        <a:xfrm>
          <a:off x="0" y="0"/>
          <a:ext cx="0" cy="0"/>
          <a:chOff x="0" y="0"/>
          <a:chExt cx="0" cy="0"/>
        </a:xfrm>
      </p:grpSpPr>
      <p:sp>
        <p:nvSpPr>
          <p:cNvPr id="4" name="TextBox 3">
            <a:extLst>
              <a:ext uri="{FF2B5EF4-FFF2-40B4-BE49-F238E27FC236}">
                <a16:creationId xmlns:a16="http://schemas.microsoft.com/office/drawing/2014/main" id="{D079EE1C-081C-B488-8462-2D6A50E4A8EF}"/>
              </a:ext>
            </a:extLst>
          </p:cNvPr>
          <p:cNvSpPr txBox="1"/>
          <p:nvPr/>
        </p:nvSpPr>
        <p:spPr>
          <a:xfrm>
            <a:off x="2714172" y="330199"/>
            <a:ext cx="6640285" cy="461665"/>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2400" b="1" i="0" u="none" strike="noStrike" baseline="0">
                <a:solidFill>
                  <a:srgbClr val="000000"/>
                </a:solidFill>
                <a:latin typeface="Raleway"/>
              </a:rPr>
              <a:t>Recruitment Progress </a:t>
            </a:r>
            <a:r>
              <a:rPr lang="en-US" sz="2400" b="1">
                <a:solidFill>
                  <a:srgbClr val="000000"/>
                </a:solidFill>
                <a:latin typeface="Raleway"/>
              </a:rPr>
              <a:t>– Project STO Chilled</a:t>
            </a:r>
          </a:p>
        </p:txBody>
      </p:sp>
      <p:sp>
        <p:nvSpPr>
          <p:cNvPr id="5" name="TextBox 4">
            <a:extLst>
              <a:ext uri="{FF2B5EF4-FFF2-40B4-BE49-F238E27FC236}">
                <a16:creationId xmlns:a16="http://schemas.microsoft.com/office/drawing/2014/main" id="{899EA070-1841-2A7D-0D0B-88447FB7CC25}"/>
              </a:ext>
            </a:extLst>
          </p:cNvPr>
          <p:cNvSpPr txBox="1"/>
          <p:nvPr/>
        </p:nvSpPr>
        <p:spPr>
          <a:xfrm>
            <a:off x="3386183" y="777938"/>
            <a:ext cx="5300618" cy="307777"/>
          </a:xfrm>
          <a:prstGeom prst="rect">
            <a:avLst/>
          </a:prstGeom>
          <a:noFill/>
        </p:spPr>
        <p:txBody>
          <a:bodyPr wrap="square" lIns="91440" tIns="45720" rIns="91440" bIns="45720" anchor="t">
            <a:spAutoFit/>
          </a:bodyPr>
          <a:lstStyle/>
          <a:p>
            <a:pPr algn="ctr"/>
            <a:r>
              <a:rPr lang="en-US" sz="1400" b="1" err="1">
                <a:solidFill>
                  <a:srgbClr val="002060"/>
                </a:solidFill>
                <a:latin typeface="Raleway"/>
              </a:rPr>
              <a:t>Gelombang</a:t>
            </a:r>
            <a:r>
              <a:rPr lang="en-US" sz="1400" b="1">
                <a:solidFill>
                  <a:srgbClr val="002060"/>
                </a:solidFill>
                <a:latin typeface="Raleway"/>
              </a:rPr>
              <a:t> 2- 2 FPTK Open</a:t>
            </a:r>
            <a:endParaRPr lang="en-US" sz="1400">
              <a:ea typeface="Calibri"/>
              <a:cs typeface="Calibri"/>
            </a:endParaRPr>
          </a:p>
        </p:txBody>
      </p:sp>
      <p:graphicFrame>
        <p:nvGraphicFramePr>
          <p:cNvPr id="8" name="Table 7">
            <a:extLst>
              <a:ext uri="{FF2B5EF4-FFF2-40B4-BE49-F238E27FC236}">
                <a16:creationId xmlns:a16="http://schemas.microsoft.com/office/drawing/2014/main" id="{BF162C69-3608-083C-CE9B-92616BD86711}"/>
              </a:ext>
            </a:extLst>
          </p:cNvPr>
          <p:cNvGraphicFramePr>
            <a:graphicFrameLocks noGrp="1"/>
          </p:cNvGraphicFramePr>
          <p:nvPr/>
        </p:nvGraphicFramePr>
        <p:xfrm>
          <a:off x="388256" y="1302748"/>
          <a:ext cx="11429986" cy="1537335"/>
        </p:xfrm>
        <a:graphic>
          <a:graphicData uri="http://schemas.openxmlformats.org/drawingml/2006/table">
            <a:tbl>
              <a:tblPr bandRow="1">
                <a:tableStyleId>{5C22544A-7EE6-4342-B048-85BDC9FD1C3A}</a:tableStyleId>
              </a:tblPr>
              <a:tblGrid>
                <a:gridCol w="291776">
                  <a:extLst>
                    <a:ext uri="{9D8B030D-6E8A-4147-A177-3AD203B41FA5}">
                      <a16:colId xmlns:a16="http://schemas.microsoft.com/office/drawing/2014/main" val="2869581712"/>
                    </a:ext>
                  </a:extLst>
                </a:gridCol>
                <a:gridCol w="1052927">
                  <a:extLst>
                    <a:ext uri="{9D8B030D-6E8A-4147-A177-3AD203B41FA5}">
                      <a16:colId xmlns:a16="http://schemas.microsoft.com/office/drawing/2014/main" val="1330583992"/>
                    </a:ext>
                  </a:extLst>
                </a:gridCol>
                <a:gridCol w="3222219">
                  <a:extLst>
                    <a:ext uri="{9D8B030D-6E8A-4147-A177-3AD203B41FA5}">
                      <a16:colId xmlns:a16="http://schemas.microsoft.com/office/drawing/2014/main" val="1631221665"/>
                    </a:ext>
                  </a:extLst>
                </a:gridCol>
                <a:gridCol w="393260">
                  <a:extLst>
                    <a:ext uri="{9D8B030D-6E8A-4147-A177-3AD203B41FA5}">
                      <a16:colId xmlns:a16="http://schemas.microsoft.com/office/drawing/2014/main" val="3913392776"/>
                    </a:ext>
                  </a:extLst>
                </a:gridCol>
                <a:gridCol w="849526">
                  <a:extLst>
                    <a:ext uri="{9D8B030D-6E8A-4147-A177-3AD203B41FA5}">
                      <a16:colId xmlns:a16="http://schemas.microsoft.com/office/drawing/2014/main" val="3817494330"/>
                    </a:ext>
                  </a:extLst>
                </a:gridCol>
                <a:gridCol w="787742">
                  <a:extLst>
                    <a:ext uri="{9D8B030D-6E8A-4147-A177-3AD203B41FA5}">
                      <a16:colId xmlns:a16="http://schemas.microsoft.com/office/drawing/2014/main" val="40606738"/>
                    </a:ext>
                  </a:extLst>
                </a:gridCol>
                <a:gridCol w="785735">
                  <a:extLst>
                    <a:ext uri="{9D8B030D-6E8A-4147-A177-3AD203B41FA5}">
                      <a16:colId xmlns:a16="http://schemas.microsoft.com/office/drawing/2014/main" val="578030798"/>
                    </a:ext>
                  </a:extLst>
                </a:gridCol>
                <a:gridCol w="772297">
                  <a:extLst>
                    <a:ext uri="{9D8B030D-6E8A-4147-A177-3AD203B41FA5}">
                      <a16:colId xmlns:a16="http://schemas.microsoft.com/office/drawing/2014/main" val="2719636773"/>
                    </a:ext>
                  </a:extLst>
                </a:gridCol>
                <a:gridCol w="3274504">
                  <a:extLst>
                    <a:ext uri="{9D8B030D-6E8A-4147-A177-3AD203B41FA5}">
                      <a16:colId xmlns:a16="http://schemas.microsoft.com/office/drawing/2014/main" val="3110469676"/>
                    </a:ext>
                  </a:extLst>
                </a:gridCol>
              </a:tblGrid>
              <a:tr h="215591">
                <a:tc>
                  <a:txBody>
                    <a:bodyPr/>
                    <a:lstStyle/>
                    <a:p>
                      <a:pPr algn="ctr" fontAlgn="ctr">
                        <a:buNone/>
                      </a:pPr>
                      <a:r>
                        <a:rPr lang="en-US" sz="1000" b="1">
                          <a:solidFill>
                            <a:srgbClr val="FFFFFF"/>
                          </a:solidFill>
                          <a:effectLst/>
                          <a:latin typeface="Raleway"/>
                        </a:rPr>
                        <a:t>No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00" b="1" err="1">
                          <a:solidFill>
                            <a:srgbClr val="FFFFFF"/>
                          </a:solidFill>
                          <a:effectLst/>
                          <a:latin typeface="Raleway"/>
                        </a:rPr>
                        <a:t>Gelombang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00" b="1" err="1">
                          <a:solidFill>
                            <a:srgbClr val="FFFFFF"/>
                          </a:solidFill>
                          <a:effectLst/>
                          <a:latin typeface="Raleway"/>
                        </a:rPr>
                        <a:t>Posisi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00" b="1">
                          <a:solidFill>
                            <a:srgbClr val="FFFFFF"/>
                          </a:solidFill>
                          <a:effectLst/>
                          <a:latin typeface="Raleway"/>
                        </a:rPr>
                        <a:t>Level</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00" b="1">
                          <a:solidFill>
                            <a:srgbClr val="FFFFFF"/>
                          </a:solidFill>
                          <a:effectLst/>
                          <a:latin typeface="Raleway"/>
                        </a:rPr>
                        <a:t>Lokasi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00" b="1">
                          <a:solidFill>
                            <a:srgbClr val="FFFFFF"/>
                          </a:solidFill>
                          <a:effectLst/>
                          <a:latin typeface="Raleway"/>
                        </a:rPr>
                        <a:t>PIC TA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00" b="1" err="1">
                          <a:solidFill>
                            <a:srgbClr val="FFFFFF"/>
                          </a:solidFill>
                          <a:effectLst/>
                          <a:latin typeface="Raleway"/>
                        </a:rPr>
                        <a:t>Jumlah</a:t>
                      </a:r>
                      <a:r>
                        <a:rPr lang="en-US" sz="1000" b="1">
                          <a:solidFill>
                            <a:srgbClr val="FFFFFF"/>
                          </a:solidFill>
                          <a:effectLst/>
                          <a:latin typeface="Raleway"/>
                        </a:rPr>
                        <a:t> </a:t>
                      </a:r>
                      <a:r>
                        <a:rPr lang="en-US" sz="1000" b="1" err="1">
                          <a:solidFill>
                            <a:srgbClr val="FFFFFF"/>
                          </a:solidFill>
                          <a:effectLst/>
                          <a:latin typeface="Raleway"/>
                        </a:rPr>
                        <a:t>Permintaan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00" b="1">
                          <a:solidFill>
                            <a:srgbClr val="FFFFFF"/>
                          </a:solidFill>
                          <a:effectLst/>
                          <a:latin typeface="Raleway"/>
                        </a:rPr>
                        <a:t>Status </a:t>
                      </a:r>
                      <a:r>
                        <a:rPr lang="en-US" sz="1000" b="1" err="1">
                          <a:solidFill>
                            <a:srgbClr val="FFFFFF"/>
                          </a:solidFill>
                          <a:effectLst/>
                          <a:latin typeface="Raleway"/>
                        </a:rPr>
                        <a:t>Rekrutmen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00" b="1">
                          <a:solidFill>
                            <a:srgbClr val="FFFFFF"/>
                          </a:solidFill>
                          <a:effectLst/>
                          <a:latin typeface="Raleway"/>
                        </a:rPr>
                        <a:t>Recruitment Update</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extLst>
                  <a:ext uri="{0D108BD9-81ED-4DB2-BD59-A6C34878D82A}">
                    <a16:rowId xmlns:a16="http://schemas.microsoft.com/office/drawing/2014/main" val="525172118"/>
                  </a:ext>
                </a:extLst>
              </a:tr>
              <a:tr h="215591">
                <a:tc>
                  <a:txBody>
                    <a:bodyPr/>
                    <a:lstStyle/>
                    <a:p>
                      <a:pPr algn="ctr" fontAlgn="ctr">
                        <a:buNone/>
                      </a:pPr>
                      <a:r>
                        <a:rPr lang="en-US" sz="1000">
                          <a:effectLst/>
                          <a:latin typeface="Raleway"/>
                        </a:rPr>
                        <a:t>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000" err="1">
                          <a:effectLst/>
                          <a:latin typeface="Raleway"/>
                        </a:rPr>
                        <a:t>Gelombang</a:t>
                      </a:r>
                      <a:r>
                        <a:rPr lang="en-US" sz="1000">
                          <a:effectLst/>
                          <a:latin typeface="Raleway"/>
                        </a:rPr>
                        <a:t> 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000">
                          <a:effectLst/>
                          <a:latin typeface="Raleway"/>
                        </a:rPr>
                        <a:t>Sales Taking Order Staff (Chilled) - </a:t>
                      </a:r>
                      <a:r>
                        <a:rPr lang="en-US" sz="1000" err="1">
                          <a:effectLst/>
                          <a:latin typeface="Raleway"/>
                        </a:rPr>
                        <a:t>Kebumen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000">
                          <a:effectLst/>
                          <a:latin typeface="Raleway"/>
                        </a:rPr>
                        <a:t>2A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000" err="1">
                          <a:effectLst/>
                          <a:latin typeface="Raleway"/>
                        </a:rPr>
                        <a:t>Kebumen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000">
                          <a:effectLst/>
                          <a:latin typeface="Raleway"/>
                        </a:rPr>
                        <a:t>Zwei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000">
                          <a:effectLst/>
                          <a:latin typeface="Raleway"/>
                        </a:rPr>
                        <a:t>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000">
                          <a:effectLst/>
                          <a:latin typeface="Raleway"/>
                        </a:rPr>
                        <a:t>OP</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buNone/>
                      </a:pPr>
                      <a:r>
                        <a:rPr lang="en-US" sz="1000">
                          <a:effectLst/>
                          <a:latin typeface="Raleway"/>
                        </a:rPr>
                        <a:t>HR Interview 3 kandidat di Week 32</a:t>
                      </a:r>
                      <a:br>
                        <a:rPr lang="en-US" sz="1000">
                          <a:effectLst/>
                          <a:latin typeface="Raleway"/>
                        </a:rPr>
                      </a:br>
                      <a:r>
                        <a:rPr lang="en-US" sz="1000" b="1">
                          <a:effectLst/>
                          <a:latin typeface="Raleway"/>
                        </a:rPr>
                        <a:t>Next Action:</a:t>
                      </a:r>
                      <a:r>
                        <a:rPr lang="en-US" sz="1000">
                          <a:effectLst/>
                          <a:latin typeface="Raleway"/>
                        </a:rPr>
                        <a:t> </a:t>
                      </a:r>
                      <a:endParaRPr lang="en-US"/>
                    </a:p>
                    <a:p>
                      <a:pPr lvl="0">
                        <a:buNone/>
                      </a:pPr>
                      <a:r>
                        <a:rPr lang="en-US" sz="1000">
                          <a:effectLst/>
                          <a:latin typeface="Raleway"/>
                        </a:rPr>
                        <a:t>Pemberkasan dan reference check di Week 33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41248491"/>
                  </a:ext>
                </a:extLst>
              </a:tr>
              <a:tr h="583893">
                <a:tc>
                  <a:txBody>
                    <a:bodyPr/>
                    <a:lstStyle/>
                    <a:p>
                      <a:pPr lvl="0" algn="ctr">
                        <a:buNone/>
                      </a:pPr>
                      <a:r>
                        <a:rPr lang="en-US" sz="1000">
                          <a:effectLst/>
                          <a:latin typeface="Raleway"/>
                        </a:rPr>
                        <a:t>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000" err="1">
                          <a:effectLst/>
                          <a:latin typeface="Raleway"/>
                        </a:rPr>
                        <a:t>Gelombang</a:t>
                      </a:r>
                      <a:r>
                        <a:rPr lang="en-US" sz="1000">
                          <a:effectLst/>
                          <a:latin typeface="Raleway"/>
                        </a:rPr>
                        <a:t> 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000">
                          <a:effectLst/>
                          <a:latin typeface="Raleway"/>
                        </a:rPr>
                        <a:t>Sales Taking Order Staff (Chilled) - Probolinggo</a:t>
                      </a:r>
                      <a:endParaRPr lang="en-US" sz="10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000">
                          <a:effectLst/>
                          <a:latin typeface="Raleway"/>
                        </a:rPr>
                        <a:t>2A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000">
                          <a:effectLst/>
                          <a:latin typeface="Raleway"/>
                        </a:rPr>
                        <a:t>Probolinggo</a:t>
                      </a:r>
                      <a:endParaRPr lang="en-US" sz="10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000">
                          <a:effectLst/>
                          <a:latin typeface="Raleway"/>
                        </a:rPr>
                        <a:t>Gracia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000">
                          <a:effectLst/>
                          <a:latin typeface="Raleway"/>
                        </a:rPr>
                        <a:t>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000">
                          <a:effectLst/>
                          <a:latin typeface="Raleway"/>
                        </a:rPr>
                        <a:t>OP</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l">
                        <a:lnSpc>
                          <a:spcPct val="100000"/>
                        </a:lnSpc>
                        <a:spcBef>
                          <a:spcPts val="0"/>
                        </a:spcBef>
                        <a:spcAft>
                          <a:spcPts val="0"/>
                        </a:spcAft>
                        <a:buNone/>
                      </a:pPr>
                      <a:r>
                        <a:rPr lang="en-US" sz="800" b="0" i="0" u="none" strike="noStrike" noProof="0">
                          <a:solidFill>
                            <a:srgbClr val="000000"/>
                          </a:solidFill>
                          <a:effectLst/>
                          <a:highlight>
                            <a:srgbClr val="FFFFFF"/>
                          </a:highlight>
                          <a:latin typeface="Raleway"/>
                        </a:rPr>
                        <a:t>Send 5 CVs ke user di week 32</a:t>
                      </a:r>
                      <a:endParaRPr lang="en-US"/>
                    </a:p>
                    <a:p>
                      <a:pPr lvl="0" algn="l">
                        <a:lnSpc>
                          <a:spcPct val="100000"/>
                        </a:lnSpc>
                        <a:spcBef>
                          <a:spcPts val="0"/>
                        </a:spcBef>
                        <a:spcAft>
                          <a:spcPts val="0"/>
                        </a:spcAft>
                        <a:buNone/>
                      </a:pPr>
                      <a:r>
                        <a:rPr lang="en-US" sz="800" b="0" i="0" u="none" strike="noStrike" noProof="0">
                          <a:solidFill>
                            <a:srgbClr val="000000"/>
                          </a:solidFill>
                          <a:effectLst/>
                          <a:highlight>
                            <a:srgbClr val="FFFFFF"/>
                          </a:highlight>
                          <a:latin typeface="Raleway"/>
                        </a:rPr>
                        <a:t>Reference check &amp; pemberkasan a.n Ahmad Basori di week 32</a:t>
                      </a:r>
                      <a:endParaRPr lang="en-US"/>
                    </a:p>
                    <a:p>
                      <a:pPr lvl="0" algn="l">
                        <a:lnSpc>
                          <a:spcPct val="100000"/>
                        </a:lnSpc>
                        <a:spcBef>
                          <a:spcPts val="0"/>
                        </a:spcBef>
                        <a:spcAft>
                          <a:spcPts val="0"/>
                        </a:spcAft>
                        <a:buNone/>
                      </a:pPr>
                      <a:r>
                        <a:rPr lang="en-US" sz="800" b="1" i="0" u="none" strike="noStrike" noProof="0">
                          <a:solidFill>
                            <a:srgbClr val="000000"/>
                          </a:solidFill>
                          <a:effectLst/>
                          <a:highlight>
                            <a:srgbClr val="FFFFFF"/>
                          </a:highlight>
                          <a:latin typeface="Raleway"/>
                        </a:rPr>
                        <a:t>Next Action:</a:t>
                      </a:r>
                      <a:endParaRPr lang="en-US"/>
                    </a:p>
                    <a:p>
                      <a:pPr lvl="0" algn="l">
                        <a:lnSpc>
                          <a:spcPct val="100000"/>
                        </a:lnSpc>
                        <a:spcBef>
                          <a:spcPts val="0"/>
                        </a:spcBef>
                        <a:spcAft>
                          <a:spcPts val="0"/>
                        </a:spcAft>
                        <a:buNone/>
                      </a:pPr>
                      <a:r>
                        <a:rPr lang="en-US" sz="800" b="0" i="0" u="none" strike="noStrike" noProof="0">
                          <a:solidFill>
                            <a:srgbClr val="000000"/>
                          </a:solidFill>
                          <a:effectLst/>
                          <a:highlight>
                            <a:srgbClr val="FFFFFF"/>
                          </a:highlight>
                          <a:latin typeface="Raleway"/>
                        </a:rPr>
                        <a:t>Approval offering a.n Ahmad Basori di week 33</a:t>
                      </a:r>
                      <a:endParaRPr lang="en-US"/>
                    </a:p>
                    <a:p>
                      <a:pPr lvl="0" algn="l">
                        <a:lnSpc>
                          <a:spcPct val="100000"/>
                        </a:lnSpc>
                        <a:spcBef>
                          <a:spcPts val="0"/>
                        </a:spcBef>
                        <a:spcAft>
                          <a:spcPts val="0"/>
                        </a:spcAft>
                        <a:buNone/>
                      </a:pPr>
                      <a:r>
                        <a:rPr lang="en-US" sz="800" b="0" i="0" u="none" strike="noStrike" noProof="0">
                          <a:solidFill>
                            <a:srgbClr val="000000"/>
                          </a:solidFill>
                          <a:effectLst/>
                          <a:highlight>
                            <a:srgbClr val="FFFFFF"/>
                          </a:highlight>
                          <a:latin typeface="Raleway"/>
                        </a:rPr>
                        <a:t>HR Interview kandidat shortlisted User di Week 33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333186679"/>
                  </a:ext>
                </a:extLst>
              </a:tr>
            </a:tbl>
          </a:graphicData>
        </a:graphic>
      </p:graphicFrame>
      <p:sp>
        <p:nvSpPr>
          <p:cNvPr id="2" name="TextBox 1">
            <a:extLst>
              <a:ext uri="{FF2B5EF4-FFF2-40B4-BE49-F238E27FC236}">
                <a16:creationId xmlns:a16="http://schemas.microsoft.com/office/drawing/2014/main" id="{EAA11EBE-8272-944E-678F-E848A4C05441}"/>
              </a:ext>
            </a:extLst>
          </p:cNvPr>
          <p:cNvSpPr txBox="1"/>
          <p:nvPr/>
        </p:nvSpPr>
        <p:spPr>
          <a:xfrm>
            <a:off x="153673" y="6461415"/>
            <a:ext cx="2907067" cy="261610"/>
          </a:xfrm>
          <a:prstGeom prst="rect">
            <a:avLst/>
          </a:prstGeom>
          <a:noFill/>
        </p:spPr>
        <p:txBody>
          <a:bodyPr wrap="square" lIns="91440" tIns="45720" rIns="91440" bIns="45720" rtlCol="0" anchor="t">
            <a:spAutoFit/>
          </a:bodyPr>
          <a:lstStyle/>
          <a:p>
            <a:pPr>
              <a:defRPr/>
            </a:pPr>
            <a:r>
              <a:rPr lang="en-US" sz="1100" i="1">
                <a:solidFill>
                  <a:prstClr val="black"/>
                </a:solidFill>
                <a:latin typeface="Raleway"/>
              </a:rPr>
              <a:t>*</a:t>
            </a:r>
            <a:r>
              <a:rPr kumimoji="0" lang="en-US" sz="1100" b="0" i="1" u="none" strike="noStrike" kern="1200" cap="none" spc="0" normalizeH="0" baseline="0" noProof="0">
                <a:ln>
                  <a:noFill/>
                </a:ln>
                <a:solidFill>
                  <a:prstClr val="black"/>
                </a:solidFill>
                <a:effectLst/>
                <a:uLnTx/>
                <a:uFillTx/>
                <a:latin typeface="Raleway"/>
                <a:ea typeface="+mn-ea"/>
                <a:cs typeface="+mn-cs"/>
              </a:rPr>
              <a:t>Update per </a:t>
            </a:r>
            <a:r>
              <a:rPr lang="en-US" sz="1100" i="1">
                <a:solidFill>
                  <a:prstClr val="black"/>
                </a:solidFill>
                <a:latin typeface="Raleway"/>
              </a:rPr>
              <a:t>7 Agustus 2026</a:t>
            </a:r>
            <a:endParaRPr lang="en-US">
              <a:solidFill>
                <a:prstClr val="black"/>
              </a:solidFill>
              <a:ea typeface="+mn-ea"/>
              <a:cs typeface="+mn-cs"/>
            </a:endParaRPr>
          </a:p>
        </p:txBody>
      </p:sp>
    </p:spTree>
    <p:extLst>
      <p:ext uri="{BB962C8B-B14F-4D97-AF65-F5344CB8AC3E}">
        <p14:creationId xmlns:p14="http://schemas.microsoft.com/office/powerpoint/2010/main" val="1173104723"/>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3B3488-FBC7-6CE8-6C48-37152BE4719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CF9364C-BB4E-C533-4742-2125CE27B00B}"/>
              </a:ext>
            </a:extLst>
          </p:cNvPr>
          <p:cNvSpPr txBox="1">
            <a:spLocks/>
          </p:cNvSpPr>
          <p:nvPr/>
        </p:nvSpPr>
        <p:spPr>
          <a:xfrm>
            <a:off x="3031926" y="2702620"/>
            <a:ext cx="6128147" cy="1452759"/>
          </a:xfrm>
          <a:prstGeom prst="rect">
            <a:avLst/>
          </a:prstGeom>
        </p:spPr>
        <p:txBody>
          <a:bodyPr lIns="91440" tIns="45720" rIns="91440" bIns="45720" anchor="t">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3200" b="1" i="0" u="none" strike="noStrike" kern="1200" cap="none" spc="0" normalizeH="0" baseline="0" noProof="0">
                <a:ln>
                  <a:noFill/>
                </a:ln>
                <a:solidFill>
                  <a:srgbClr val="002060"/>
                </a:solidFill>
                <a:effectLst/>
                <a:uLnTx/>
                <a:uFillTx/>
                <a:latin typeface="Futura Condensed Extra" pitchFamily="50" charset="0"/>
                <a:ea typeface="+mj-ea"/>
                <a:cs typeface="+mj-cs"/>
              </a:rPr>
              <a:t>UPDATE PROGRESS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3200" b="1" i="0" u="none" strike="noStrike" kern="1200" cap="none" spc="0" normalizeH="0" baseline="0" noProof="0">
                <a:ln>
                  <a:noFill/>
                </a:ln>
                <a:solidFill>
                  <a:srgbClr val="002060"/>
                </a:solidFill>
                <a:effectLst/>
                <a:uLnTx/>
                <a:uFillTx/>
                <a:latin typeface="Futura Condensed Extra" pitchFamily="50" charset="0"/>
                <a:ea typeface="+mj-ea"/>
                <a:cs typeface="+mj-cs"/>
              </a:rPr>
              <a:t>PEMENUHAN SDM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3200" b="1" i="0" u="none" strike="noStrike" kern="1200" cap="none" spc="0" normalizeH="0" baseline="0" noProof="0">
                <a:ln>
                  <a:noFill/>
                </a:ln>
                <a:solidFill>
                  <a:srgbClr val="002060"/>
                </a:solidFill>
                <a:effectLst/>
                <a:uLnTx/>
                <a:uFillTx/>
                <a:latin typeface="Futura Condensed Extra" pitchFamily="50" charset="0"/>
                <a:ea typeface="+mj-ea"/>
                <a:cs typeface="+mj-cs"/>
              </a:rPr>
              <a:t>SALES GT – STO CHILLED</a:t>
            </a:r>
          </a:p>
          <a:p>
            <a:pPr marL="0" marR="0" lvl="0" indent="0" algn="ctr" defTabSz="914400" rtl="0" eaLnBrk="1" fontAlgn="auto" latinLnBrk="0" hangingPunct="1">
              <a:lnSpc>
                <a:spcPct val="80000"/>
              </a:lnSpc>
              <a:spcBef>
                <a:spcPts val="0"/>
              </a:spcBef>
              <a:spcAft>
                <a:spcPts val="0"/>
              </a:spcAft>
              <a:buClrTx/>
              <a:buSzTx/>
              <a:buFontTx/>
              <a:buNone/>
              <a:tabLst/>
              <a:defRPr/>
            </a:pPr>
            <a:endParaRPr lang="en-US" sz="3200" b="1">
              <a:solidFill>
                <a:srgbClr val="002060"/>
              </a:solidFill>
              <a:latin typeface="Futura Condensed Extra" pitchFamily="50" charset="0"/>
            </a:endParaRP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3200" b="1" i="0" u="none" strike="noStrike" kern="1200" cap="none" spc="0" normalizeH="0" baseline="0" noProof="0">
                <a:ln>
                  <a:noFill/>
                </a:ln>
                <a:solidFill>
                  <a:srgbClr val="002060"/>
                </a:solidFill>
                <a:effectLst/>
                <a:uLnTx/>
                <a:uFillTx/>
                <a:latin typeface="Futura Condensed Extra"/>
              </a:rPr>
              <a:t>GELOMBANG </a:t>
            </a:r>
            <a:r>
              <a:rPr lang="en-US" sz="3200" b="1">
                <a:solidFill>
                  <a:srgbClr val="002060"/>
                </a:solidFill>
                <a:latin typeface="Futura Condensed Extra"/>
              </a:rPr>
              <a:t>3</a:t>
            </a:r>
            <a:endParaRPr lang="en-US" sz="3200" b="1" i="0" u="none" strike="noStrike" kern="1200" cap="none" spc="0" normalizeH="0" baseline="0" noProof="0">
              <a:ln>
                <a:noFill/>
              </a:ln>
              <a:solidFill>
                <a:srgbClr val="002060"/>
              </a:solidFill>
              <a:effectLst/>
              <a:uLnTx/>
              <a:uFillTx/>
              <a:latin typeface="Futura Condensed Extra" pitchFamily="50" charset="0"/>
            </a:endParaRPr>
          </a:p>
        </p:txBody>
      </p:sp>
    </p:spTree>
    <p:extLst>
      <p:ext uri="{BB962C8B-B14F-4D97-AF65-F5344CB8AC3E}">
        <p14:creationId xmlns:p14="http://schemas.microsoft.com/office/powerpoint/2010/main" val="3713463428"/>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03871B-104B-3141-AC48-451204FD1A54}"/>
            </a:ext>
          </a:extLst>
        </p:cNvPr>
        <p:cNvGrpSpPr/>
        <p:nvPr/>
      </p:nvGrpSpPr>
      <p:grpSpPr>
        <a:xfrm>
          <a:off x="0" y="0"/>
          <a:ext cx="0" cy="0"/>
          <a:chOff x="0" y="0"/>
          <a:chExt cx="0" cy="0"/>
        </a:xfrm>
      </p:grpSpPr>
      <p:sp>
        <p:nvSpPr>
          <p:cNvPr id="16" name="TextBox 15">
            <a:extLst>
              <a:ext uri="{FF2B5EF4-FFF2-40B4-BE49-F238E27FC236}">
                <a16:creationId xmlns:a16="http://schemas.microsoft.com/office/drawing/2014/main" id="{F1DE7764-4CE0-9646-8E50-64F4B4F7E7B9}"/>
              </a:ext>
            </a:extLst>
          </p:cNvPr>
          <p:cNvSpPr txBox="1"/>
          <p:nvPr/>
        </p:nvSpPr>
        <p:spPr>
          <a:xfrm>
            <a:off x="442685" y="3293264"/>
            <a:ext cx="2201818" cy="738664"/>
          </a:xfrm>
          <a:prstGeom prst="rect">
            <a:avLst/>
          </a:prstGeom>
          <a:noFill/>
        </p:spPr>
        <p:txBody>
          <a:bodyPr wrap="square" lIns="91440" tIns="45720" rIns="91440" bIns="45720" anchor="t">
            <a:spAutoFit/>
          </a:bodyPr>
          <a:lstStyle/>
          <a:p>
            <a:r>
              <a:rPr lang="en-US" sz="1400" b="1">
                <a:solidFill>
                  <a:srgbClr val="002060"/>
                </a:solidFill>
                <a:latin typeface="Raleway"/>
              </a:rPr>
              <a:t>Open: 2 FPTK</a:t>
            </a:r>
            <a:endParaRPr lang="en-US" sz="1400">
              <a:ea typeface="Calibri"/>
              <a:cs typeface="Calibri"/>
            </a:endParaRPr>
          </a:p>
          <a:p>
            <a:r>
              <a:rPr lang="en-US" sz="1400" b="1">
                <a:solidFill>
                  <a:srgbClr val="002060"/>
                </a:solidFill>
                <a:latin typeface="Raleway"/>
                <a:ea typeface="Calibri" panose="020F0502020204030204"/>
                <a:cs typeface="Calibri" panose="020F0502020204030204"/>
              </a:rPr>
              <a:t>Closed: 21 FPTK </a:t>
            </a:r>
          </a:p>
          <a:p>
            <a:r>
              <a:rPr lang="en-US" sz="1400" b="1">
                <a:solidFill>
                  <a:srgbClr val="002060"/>
                </a:solidFill>
                <a:latin typeface="Raleway"/>
                <a:ea typeface="Calibri" panose="020F0502020204030204"/>
                <a:cs typeface="Calibri" panose="020F0502020204030204"/>
              </a:rPr>
              <a:t>Cancel: 2 FPTK</a:t>
            </a:r>
          </a:p>
        </p:txBody>
      </p:sp>
      <p:sp>
        <p:nvSpPr>
          <p:cNvPr id="6" name="TextBox 5">
            <a:extLst>
              <a:ext uri="{FF2B5EF4-FFF2-40B4-BE49-F238E27FC236}">
                <a16:creationId xmlns:a16="http://schemas.microsoft.com/office/drawing/2014/main" id="{D4736AA3-F98A-36A8-2438-D82AF1CDCFD8}"/>
              </a:ext>
            </a:extLst>
          </p:cNvPr>
          <p:cNvSpPr txBox="1"/>
          <p:nvPr/>
        </p:nvSpPr>
        <p:spPr>
          <a:xfrm>
            <a:off x="153673" y="6461415"/>
            <a:ext cx="2907067" cy="261610"/>
          </a:xfrm>
          <a:prstGeom prst="rect">
            <a:avLst/>
          </a:prstGeom>
          <a:noFill/>
        </p:spPr>
        <p:txBody>
          <a:bodyPr wrap="square" lIns="91440" tIns="45720" rIns="91440" bIns="45720" rtlCol="0" anchor="t">
            <a:spAutoFit/>
          </a:bodyPr>
          <a:lstStyle/>
          <a:p>
            <a:pPr>
              <a:defRPr/>
            </a:pPr>
            <a:r>
              <a:rPr lang="en-US" sz="1100" i="1">
                <a:solidFill>
                  <a:prstClr val="black"/>
                </a:solidFill>
                <a:latin typeface="Raleway"/>
              </a:rPr>
              <a:t>*</a:t>
            </a:r>
            <a:r>
              <a:rPr kumimoji="0" lang="en-US" sz="1100" b="0" i="1" u="none" strike="noStrike" kern="1200" cap="none" spc="0" normalizeH="0" baseline="0" noProof="0">
                <a:ln>
                  <a:noFill/>
                </a:ln>
                <a:solidFill>
                  <a:prstClr val="black"/>
                </a:solidFill>
                <a:effectLst/>
                <a:uLnTx/>
                <a:uFillTx/>
                <a:latin typeface="Raleway"/>
                <a:ea typeface="+mn-ea"/>
                <a:cs typeface="+mn-cs"/>
              </a:rPr>
              <a:t>Update per </a:t>
            </a:r>
            <a:r>
              <a:rPr lang="en-US" sz="1100" i="1">
                <a:solidFill>
                  <a:prstClr val="black"/>
                </a:solidFill>
                <a:latin typeface="Raleway"/>
              </a:rPr>
              <a:t>7 Agustus 2026</a:t>
            </a:r>
            <a:endParaRPr lang="en-US">
              <a:solidFill>
                <a:prstClr val="black"/>
              </a:solidFill>
              <a:ea typeface="+mn-ea"/>
              <a:cs typeface="+mn-cs"/>
            </a:endParaRPr>
          </a:p>
        </p:txBody>
      </p:sp>
      <p:sp>
        <p:nvSpPr>
          <p:cNvPr id="8" name="TextBox 7">
            <a:extLst>
              <a:ext uri="{FF2B5EF4-FFF2-40B4-BE49-F238E27FC236}">
                <a16:creationId xmlns:a16="http://schemas.microsoft.com/office/drawing/2014/main" id="{C2E47E26-4BE4-846C-3589-0C792B504EC4}"/>
              </a:ext>
            </a:extLst>
          </p:cNvPr>
          <p:cNvSpPr txBox="1"/>
          <p:nvPr/>
        </p:nvSpPr>
        <p:spPr>
          <a:xfrm>
            <a:off x="2772229" y="330199"/>
            <a:ext cx="6640285" cy="1107996"/>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2400" b="1" i="0" u="none" strike="noStrike" baseline="0">
                <a:solidFill>
                  <a:srgbClr val="000000"/>
                </a:solidFill>
                <a:latin typeface="Raleway"/>
              </a:rPr>
              <a:t>Recruitment Progress </a:t>
            </a:r>
            <a:r>
              <a:rPr lang="en-US" sz="2400" b="1">
                <a:solidFill>
                  <a:srgbClr val="000000"/>
                </a:solidFill>
                <a:latin typeface="Raleway"/>
              </a:rPr>
              <a:t>– Project STO Chilled</a:t>
            </a:r>
          </a:p>
          <a:p>
            <a:pPr algn="ctr"/>
            <a:r>
              <a:rPr lang="en-US" b="1" err="1">
                <a:latin typeface="Raleway"/>
              </a:rPr>
              <a:t>Gelombang</a:t>
            </a:r>
            <a:r>
              <a:rPr lang="en-US" b="1">
                <a:latin typeface="Raleway"/>
              </a:rPr>
              <a:t> 3</a:t>
            </a:r>
          </a:p>
          <a:p>
            <a:endParaRPr lang="en-US" sz="2400" b="1">
              <a:latin typeface="Raleway"/>
            </a:endParaRPr>
          </a:p>
        </p:txBody>
      </p:sp>
      <p:sp>
        <p:nvSpPr>
          <p:cNvPr id="9" name="TextBox 8">
            <a:extLst>
              <a:ext uri="{FF2B5EF4-FFF2-40B4-BE49-F238E27FC236}">
                <a16:creationId xmlns:a16="http://schemas.microsoft.com/office/drawing/2014/main" id="{515045F1-EF95-84DF-77A2-FC591E38E820}"/>
              </a:ext>
            </a:extLst>
          </p:cNvPr>
          <p:cNvSpPr txBox="1"/>
          <p:nvPr/>
        </p:nvSpPr>
        <p:spPr>
          <a:xfrm>
            <a:off x="6157354" y="5579273"/>
            <a:ext cx="4734560" cy="523220"/>
          </a:xfrm>
          <a:prstGeom prst="rect">
            <a:avLst/>
          </a:prstGeom>
          <a:noFill/>
        </p:spPr>
        <p:txBody>
          <a:bodyPr wrap="square" lIns="91440" tIns="45720" rIns="91440" bIns="45720" anchor="t">
            <a:spAutoFit/>
          </a:bodyPr>
          <a:lstStyle/>
          <a:p>
            <a:r>
              <a:rPr lang="en-US" sz="1400" b="1" err="1">
                <a:solidFill>
                  <a:srgbClr val="002060"/>
                </a:solidFill>
                <a:latin typeface="Raleway"/>
              </a:rPr>
              <a:t>Gelombang</a:t>
            </a:r>
            <a:r>
              <a:rPr lang="en-US" sz="1400" b="1">
                <a:solidFill>
                  <a:srgbClr val="002060"/>
                </a:solidFill>
                <a:latin typeface="Raleway"/>
              </a:rPr>
              <a:t> 3 – Start 10 Juli 2026</a:t>
            </a:r>
          </a:p>
          <a:p>
            <a:r>
              <a:rPr lang="en-US" sz="1400" b="1">
                <a:solidFill>
                  <a:srgbClr val="002060"/>
                </a:solidFill>
                <a:latin typeface="Raleway"/>
              </a:rPr>
              <a:t>Deadline </a:t>
            </a:r>
            <a:r>
              <a:rPr lang="en-US" sz="1400" b="1" err="1">
                <a:solidFill>
                  <a:srgbClr val="002060"/>
                </a:solidFill>
                <a:latin typeface="Raleway"/>
              </a:rPr>
              <a:t>Pemenuhan</a:t>
            </a:r>
            <a:r>
              <a:rPr lang="en-US" sz="1400" b="1">
                <a:solidFill>
                  <a:srgbClr val="002060"/>
                </a:solidFill>
                <a:latin typeface="Raleway"/>
              </a:rPr>
              <a:t> – 10 Agustus 2026</a:t>
            </a:r>
          </a:p>
        </p:txBody>
      </p:sp>
      <p:sp>
        <p:nvSpPr>
          <p:cNvPr id="10" name="Rectangle 9">
            <a:extLst>
              <a:ext uri="{FF2B5EF4-FFF2-40B4-BE49-F238E27FC236}">
                <a16:creationId xmlns:a16="http://schemas.microsoft.com/office/drawing/2014/main" id="{FA3622A6-91D1-6FCB-7D65-1D336E5A569B}"/>
              </a:ext>
            </a:extLst>
          </p:cNvPr>
          <p:cNvSpPr/>
          <p:nvPr/>
        </p:nvSpPr>
        <p:spPr>
          <a:xfrm>
            <a:off x="6242453" y="5024846"/>
            <a:ext cx="480564" cy="369838"/>
          </a:xfrm>
          <a:prstGeom prst="rect">
            <a:avLst/>
          </a:prstGeom>
          <a:noFill/>
          <a:ln w="5715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3" name="Chart 2">
            <a:extLst>
              <a:ext uri="{FF2B5EF4-FFF2-40B4-BE49-F238E27FC236}">
                <a16:creationId xmlns:a16="http://schemas.microsoft.com/office/drawing/2014/main" id="{109B6A54-716E-4E87-B298-341E617E7CD6}"/>
              </a:ext>
              <a:ext uri="{147F2762-F138-4A5C-976F-8EAC2B608ADB}">
                <a16:predDERef xmlns:a16="http://schemas.microsoft.com/office/drawing/2014/main" pred="{72149312-EA94-4910-ACEC-5C9C1F829DA9}"/>
              </a:ext>
            </a:extLst>
          </p:cNvPr>
          <p:cNvGraphicFramePr>
            <a:graphicFrameLocks/>
          </p:cNvGraphicFramePr>
          <p:nvPr/>
        </p:nvGraphicFramePr>
        <p:xfrm>
          <a:off x="1251131" y="1622784"/>
          <a:ext cx="9550400" cy="3771900"/>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2842665420"/>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152300-4774-DA25-C04A-6DCA8E84C317}"/>
            </a:ext>
          </a:extLst>
        </p:cNvPr>
        <p:cNvGrpSpPr/>
        <p:nvPr/>
      </p:nvGrpSpPr>
      <p:grpSpPr>
        <a:xfrm>
          <a:off x="0" y="0"/>
          <a:ext cx="0" cy="0"/>
          <a:chOff x="0" y="0"/>
          <a:chExt cx="0" cy="0"/>
        </a:xfrm>
      </p:grpSpPr>
      <p:sp>
        <p:nvSpPr>
          <p:cNvPr id="15" name="Text 0">
            <a:extLst>
              <a:ext uri="{FF2B5EF4-FFF2-40B4-BE49-F238E27FC236}">
                <a16:creationId xmlns:a16="http://schemas.microsoft.com/office/drawing/2014/main" id="{0D953922-0804-84CB-4694-752DCE5E7FAD}"/>
              </a:ext>
            </a:extLst>
          </p:cNvPr>
          <p:cNvSpPr/>
          <p:nvPr/>
        </p:nvSpPr>
        <p:spPr>
          <a:xfrm>
            <a:off x="268258" y="-101600"/>
            <a:ext cx="9692640" cy="772439"/>
          </a:xfrm>
          <a:prstGeom prst="rect">
            <a:avLst/>
          </a:prstGeom>
          <a:noFill/>
          <a:ln/>
        </p:spPr>
        <p:txBody>
          <a:bodyPr wrap="square" lIns="0" tIns="0" rIns="0" bIns="0" rtlCol="0" anchor="ctr"/>
          <a:lstStyle/>
          <a:p>
            <a:pPr>
              <a:defRPr/>
            </a:pPr>
            <a:r>
              <a:rPr kumimoji="0" lang="en-US" sz="2400" b="1" i="0" u="none" strike="noStrike" kern="1200" cap="none" spc="0" normalizeH="0" baseline="0" noProof="0">
                <a:ln>
                  <a:noFill/>
                </a:ln>
                <a:effectLst/>
                <a:uLnTx/>
                <a:uFillTx/>
                <a:latin typeface="Raleway"/>
                <a:ea typeface="Raleway" pitchFamily="34" charset="-122"/>
                <a:cs typeface="Raleway" pitchFamily="34" charset="-120"/>
              </a:rPr>
              <a:t>STO Chilled: </a:t>
            </a:r>
            <a:r>
              <a:rPr lang="en-US" sz="2400" b="1">
                <a:latin typeface="Raleway"/>
                <a:ea typeface="Raleway" pitchFamily="34" charset="-122"/>
                <a:cs typeface="Raleway" pitchFamily="34" charset="-120"/>
              </a:rPr>
              <a:t>Man Power Planning</a:t>
            </a:r>
            <a:endParaRPr lang="en-US" sz="2400" b="0" i="0" u="none" strike="noStrike" kern="1200" cap="none" spc="0" normalizeH="0" baseline="0" noProof="0">
              <a:ln>
                <a:noFill/>
              </a:ln>
              <a:effectLst/>
              <a:uLnTx/>
              <a:uFillTx/>
              <a:latin typeface="Raleway"/>
            </a:endParaRPr>
          </a:p>
        </p:txBody>
      </p:sp>
      <p:sp>
        <p:nvSpPr>
          <p:cNvPr id="16" name="TextBox 15">
            <a:extLst>
              <a:ext uri="{FF2B5EF4-FFF2-40B4-BE49-F238E27FC236}">
                <a16:creationId xmlns:a16="http://schemas.microsoft.com/office/drawing/2014/main" id="{A340E98D-7DA4-7F71-9AC2-DF280EE9134C}"/>
              </a:ext>
            </a:extLst>
          </p:cNvPr>
          <p:cNvSpPr txBox="1"/>
          <p:nvPr/>
        </p:nvSpPr>
        <p:spPr>
          <a:xfrm>
            <a:off x="229326" y="393310"/>
            <a:ext cx="9357360" cy="276999"/>
          </a:xfrm>
          <a:prstGeom prst="rect">
            <a:avLst/>
          </a:prstGeom>
          <a:noFill/>
        </p:spPr>
        <p:txBody>
          <a:bodyPr wrap="square" lIns="91440" tIns="45720" rIns="91440" bIns="45720" anchor="t">
            <a:spAutoFit/>
          </a:bodyPr>
          <a:lstStyle/>
          <a:p>
            <a:r>
              <a:rPr lang="en-US" sz="1200">
                <a:solidFill>
                  <a:srgbClr val="002060"/>
                </a:solidFill>
                <a:latin typeface="Raleway"/>
              </a:rPr>
              <a:t>Mapping</a:t>
            </a:r>
            <a:r>
              <a:rPr lang="en-US" sz="1200">
                <a:solidFill>
                  <a:srgbClr val="002060"/>
                </a:solidFill>
                <a:effectLst/>
                <a:latin typeface="Raleway"/>
              </a:rPr>
              <a:t> manpower </a:t>
            </a:r>
            <a:r>
              <a:rPr lang="en-US" sz="1200">
                <a:solidFill>
                  <a:srgbClr val="002060"/>
                </a:solidFill>
                <a:latin typeface="Raleway"/>
              </a:rPr>
              <a:t>Project STO</a:t>
            </a:r>
            <a:r>
              <a:rPr lang="en-US" sz="1200">
                <a:solidFill>
                  <a:srgbClr val="002060"/>
                </a:solidFill>
                <a:effectLst/>
                <a:latin typeface="Raleway"/>
              </a:rPr>
              <a:t> (Chilled) </a:t>
            </a:r>
            <a:r>
              <a:rPr lang="en-US" sz="1200">
                <a:solidFill>
                  <a:srgbClr val="002060"/>
                </a:solidFill>
                <a:latin typeface="Raleway"/>
              </a:rPr>
              <a:t>- </a:t>
            </a:r>
            <a:r>
              <a:rPr lang="en-US" sz="1200" b="1" err="1">
                <a:solidFill>
                  <a:srgbClr val="002060"/>
                </a:solidFill>
                <a:latin typeface="Raleway"/>
              </a:rPr>
              <a:t>Gelombang</a:t>
            </a:r>
            <a:r>
              <a:rPr lang="en-US" sz="1200" b="1">
                <a:solidFill>
                  <a:srgbClr val="002060"/>
                </a:solidFill>
                <a:latin typeface="Raleway"/>
              </a:rPr>
              <a:t> 3 </a:t>
            </a:r>
            <a:r>
              <a:rPr lang="en-US" sz="1200">
                <a:solidFill>
                  <a:srgbClr val="002060"/>
                </a:solidFill>
                <a:latin typeface="Raleway"/>
              </a:rPr>
              <a:t>–</a:t>
            </a:r>
            <a:r>
              <a:rPr lang="en-US" sz="1200" b="1">
                <a:solidFill>
                  <a:srgbClr val="002060"/>
                </a:solidFill>
                <a:latin typeface="Raleway"/>
              </a:rPr>
              <a:t> Start 10 Juli </a:t>
            </a:r>
            <a:r>
              <a:rPr lang="en-US" sz="1200" b="1">
                <a:solidFill>
                  <a:srgbClr val="002060"/>
                </a:solidFill>
                <a:effectLst/>
                <a:latin typeface="Raleway"/>
              </a:rPr>
              <a:t>2026.</a:t>
            </a:r>
            <a:endParaRPr lang="en-US" sz="1200" b="1">
              <a:solidFill>
                <a:srgbClr val="002060"/>
              </a:solidFill>
            </a:endParaRPr>
          </a:p>
        </p:txBody>
      </p:sp>
      <p:sp>
        <p:nvSpPr>
          <p:cNvPr id="4" name="TextBox 16">
            <a:extLst>
              <a:ext uri="{FF2B5EF4-FFF2-40B4-BE49-F238E27FC236}">
                <a16:creationId xmlns:a16="http://schemas.microsoft.com/office/drawing/2014/main" id="{4A68BCE1-BF38-B829-A1C8-7F8E0385C243}"/>
              </a:ext>
            </a:extLst>
          </p:cNvPr>
          <p:cNvSpPr txBox="1"/>
          <p:nvPr/>
        </p:nvSpPr>
        <p:spPr>
          <a:xfrm>
            <a:off x="7766302" y="1845941"/>
            <a:ext cx="3897732" cy="2677656"/>
          </a:xfrm>
          <a:prstGeom prst="rect">
            <a:avLst/>
          </a:prstGeom>
          <a:noFill/>
        </p:spPr>
        <p:txBody>
          <a:bodyPr wrap="square" lIns="91440" tIns="45720" rIns="91440" bIns="45720" anchor="t">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171450" indent="-171450">
              <a:buFont typeface="Arial" panose="020B0604020202020204" pitchFamily="34" charset="0"/>
              <a:buChar char="•"/>
            </a:pPr>
            <a:r>
              <a:rPr lang="en-US" sz="1400" b="1" err="1">
                <a:solidFill>
                  <a:srgbClr val="000000"/>
                </a:solidFill>
                <a:latin typeface="Raleway"/>
              </a:rPr>
              <a:t>Gelombang</a:t>
            </a:r>
            <a:r>
              <a:rPr lang="en-US" sz="1400" b="1">
                <a:solidFill>
                  <a:srgbClr val="000000"/>
                </a:solidFill>
                <a:latin typeface="Raleway"/>
              </a:rPr>
              <a:t> 3 </a:t>
            </a:r>
            <a:r>
              <a:rPr lang="en-US" sz="1400" err="1">
                <a:solidFill>
                  <a:srgbClr val="000000"/>
                </a:solidFill>
                <a:latin typeface="Raleway"/>
              </a:rPr>
              <a:t>dimulai</a:t>
            </a:r>
            <a:r>
              <a:rPr lang="en-US" sz="1400">
                <a:solidFill>
                  <a:srgbClr val="000000"/>
                </a:solidFill>
                <a:latin typeface="Raleway"/>
              </a:rPr>
              <a:t> pada </a:t>
            </a:r>
            <a:r>
              <a:rPr lang="en-US" sz="1400" b="1">
                <a:solidFill>
                  <a:srgbClr val="000000"/>
                </a:solidFill>
                <a:latin typeface="Raleway"/>
              </a:rPr>
              <a:t>10 Juli 2026</a:t>
            </a:r>
            <a:r>
              <a:rPr lang="en-US" sz="1400">
                <a:solidFill>
                  <a:srgbClr val="000000"/>
                </a:solidFill>
                <a:latin typeface="Raleway"/>
              </a:rPr>
              <a:t>, </a:t>
            </a:r>
            <a:r>
              <a:rPr lang="en-US" sz="1400" err="1">
                <a:solidFill>
                  <a:srgbClr val="000000"/>
                </a:solidFill>
                <a:latin typeface="Raleway"/>
              </a:rPr>
              <a:t>dengan</a:t>
            </a:r>
            <a:r>
              <a:rPr lang="en-US" sz="1400">
                <a:solidFill>
                  <a:srgbClr val="000000"/>
                </a:solidFill>
                <a:latin typeface="Raleway"/>
              </a:rPr>
              <a:t> total FPTK yang </a:t>
            </a:r>
            <a:r>
              <a:rPr lang="en-US" sz="1400" err="1">
                <a:solidFill>
                  <a:srgbClr val="000000"/>
                </a:solidFill>
                <a:latin typeface="Raleway"/>
              </a:rPr>
              <a:t>perlu</a:t>
            </a:r>
            <a:r>
              <a:rPr lang="en-US" sz="1400">
                <a:solidFill>
                  <a:srgbClr val="000000"/>
                </a:solidFill>
                <a:latin typeface="Raleway"/>
              </a:rPr>
              <a:t> </a:t>
            </a:r>
            <a:r>
              <a:rPr lang="en-US" sz="1400" err="1">
                <a:solidFill>
                  <a:srgbClr val="000000"/>
                </a:solidFill>
                <a:latin typeface="Raleway"/>
              </a:rPr>
              <a:t>dipenuhi</a:t>
            </a:r>
            <a:r>
              <a:rPr lang="en-US" sz="1400">
                <a:solidFill>
                  <a:srgbClr val="000000"/>
                </a:solidFill>
                <a:latin typeface="Raleway"/>
              </a:rPr>
              <a:t> </a:t>
            </a:r>
            <a:r>
              <a:rPr lang="en-US" sz="1400" err="1">
                <a:solidFill>
                  <a:srgbClr val="000000"/>
                </a:solidFill>
                <a:latin typeface="Raleway"/>
              </a:rPr>
              <a:t>sebanyak</a:t>
            </a:r>
            <a:r>
              <a:rPr lang="en-US" sz="1400">
                <a:solidFill>
                  <a:srgbClr val="000000"/>
                </a:solidFill>
                <a:latin typeface="Raleway"/>
              </a:rPr>
              <a:t> </a:t>
            </a:r>
            <a:r>
              <a:rPr lang="en-US" sz="1400" b="1">
                <a:solidFill>
                  <a:srgbClr val="000000"/>
                </a:solidFill>
                <a:latin typeface="Raleway"/>
              </a:rPr>
              <a:t>25 FPTK, </a:t>
            </a:r>
            <a:r>
              <a:rPr lang="en-US" sz="1400" err="1">
                <a:solidFill>
                  <a:srgbClr val="000000"/>
                </a:solidFill>
                <a:latin typeface="Raleway"/>
              </a:rPr>
              <a:t>dengan</a:t>
            </a:r>
            <a:r>
              <a:rPr lang="en-US" sz="1400">
                <a:solidFill>
                  <a:srgbClr val="000000"/>
                </a:solidFill>
                <a:latin typeface="Raleway"/>
              </a:rPr>
              <a:t> </a:t>
            </a:r>
            <a:r>
              <a:rPr lang="en-US" sz="1400" err="1">
                <a:solidFill>
                  <a:srgbClr val="000000"/>
                </a:solidFill>
                <a:latin typeface="Raleway"/>
              </a:rPr>
              <a:t>rincian</a:t>
            </a:r>
            <a:r>
              <a:rPr lang="en-US" sz="1400">
                <a:solidFill>
                  <a:srgbClr val="000000"/>
                </a:solidFill>
                <a:latin typeface="Raleway"/>
              </a:rPr>
              <a:t> </a:t>
            </a:r>
            <a:endParaRPr lang="en-US" sz="1400" b="1">
              <a:solidFill>
                <a:srgbClr val="000000"/>
              </a:solidFill>
              <a:latin typeface="Raleway"/>
            </a:endParaRPr>
          </a:p>
          <a:p>
            <a:pPr marL="628650" lvl="1" indent="-171450">
              <a:buFont typeface="Courier New" panose="020B0604020202020204" pitchFamily="34" charset="0"/>
              <a:buChar char="o"/>
            </a:pPr>
            <a:r>
              <a:rPr lang="en-US" sz="1400" b="1">
                <a:solidFill>
                  <a:srgbClr val="000000"/>
                </a:solidFill>
                <a:latin typeface="Raleway"/>
              </a:rPr>
              <a:t>21 FPTK Closed</a:t>
            </a:r>
          </a:p>
          <a:p>
            <a:pPr marL="628650" lvl="1" indent="-171450">
              <a:buFont typeface="Courier New" panose="020B0604020202020204" pitchFamily="34" charset="0"/>
              <a:buChar char="o"/>
            </a:pPr>
            <a:r>
              <a:rPr lang="en-US" sz="1400" b="1">
                <a:solidFill>
                  <a:srgbClr val="000000"/>
                </a:solidFill>
                <a:latin typeface="Raleway"/>
              </a:rPr>
              <a:t>2 FPTK Open</a:t>
            </a:r>
            <a:endParaRPr lang="en-US" sz="1400" b="1">
              <a:latin typeface="Raleway"/>
            </a:endParaRPr>
          </a:p>
          <a:p>
            <a:pPr marL="628650" lvl="1" indent="-171450">
              <a:buFont typeface="Courier New" panose="020B0604020202020204" pitchFamily="34" charset="0"/>
              <a:buChar char="o"/>
            </a:pPr>
            <a:r>
              <a:rPr lang="en-US" sz="1400" b="1">
                <a:solidFill>
                  <a:srgbClr val="000000"/>
                </a:solidFill>
                <a:latin typeface="Raleway"/>
                <a:ea typeface="Calibri"/>
                <a:cs typeface="Calibri"/>
              </a:rPr>
              <a:t>2 FPTK Cancel</a:t>
            </a:r>
          </a:p>
          <a:p>
            <a:pPr marL="1085850" lvl="2" indent="-171450">
              <a:buFont typeface="Wingdings" panose="020B0604020202020204" pitchFamily="34" charset="0"/>
              <a:buChar char="§"/>
            </a:pPr>
            <a:r>
              <a:rPr lang="en-US" sz="1400" b="1" err="1">
                <a:solidFill>
                  <a:srgbClr val="000000"/>
                </a:solidFill>
                <a:latin typeface="Raleway"/>
                <a:ea typeface="Calibri"/>
                <a:cs typeface="Calibri"/>
              </a:rPr>
              <a:t>Sampit</a:t>
            </a:r>
            <a:r>
              <a:rPr lang="en-US" sz="1400" b="1">
                <a:solidFill>
                  <a:srgbClr val="000000"/>
                </a:solidFill>
                <a:latin typeface="Raleway"/>
                <a:ea typeface="Calibri"/>
                <a:cs typeface="Calibri"/>
              </a:rPr>
              <a:t> – 1 FPTK</a:t>
            </a:r>
          </a:p>
          <a:p>
            <a:pPr marL="1085850" lvl="2" indent="-171450">
              <a:buFont typeface="Wingdings" panose="020B0604020202020204" pitchFamily="34" charset="0"/>
              <a:buChar char="§"/>
            </a:pPr>
            <a:r>
              <a:rPr lang="en-US" sz="1400" b="1" err="1">
                <a:solidFill>
                  <a:srgbClr val="000000"/>
                </a:solidFill>
                <a:latin typeface="Raleway"/>
                <a:ea typeface="Calibri"/>
                <a:cs typeface="Calibri"/>
              </a:rPr>
              <a:t>Palopo</a:t>
            </a:r>
            <a:r>
              <a:rPr lang="en-US" sz="1400" b="1">
                <a:solidFill>
                  <a:srgbClr val="000000"/>
                </a:solidFill>
                <a:latin typeface="Raleway"/>
                <a:ea typeface="Calibri"/>
                <a:cs typeface="Calibri"/>
              </a:rPr>
              <a:t> – 1 FPTK</a:t>
            </a:r>
          </a:p>
          <a:p>
            <a:pPr marL="1085850" lvl="2" indent="-171450">
              <a:buFont typeface="Wingdings" panose="020B0604020202020204" pitchFamily="34" charset="0"/>
              <a:buChar char="§"/>
            </a:pPr>
            <a:endParaRPr lang="en-US" sz="1400" b="1">
              <a:solidFill>
                <a:srgbClr val="000000"/>
              </a:solidFill>
              <a:latin typeface="Raleway"/>
              <a:ea typeface="Calibri"/>
              <a:cs typeface="Calibri"/>
            </a:endParaRPr>
          </a:p>
          <a:p>
            <a:pPr marL="171450" indent="-171450">
              <a:buFont typeface="Arial" panose="020B0604020202020204" pitchFamily="34" charset="0"/>
              <a:buChar char="•"/>
            </a:pPr>
            <a:r>
              <a:rPr lang="en-US" sz="1400" err="1">
                <a:solidFill>
                  <a:srgbClr val="000000"/>
                </a:solidFill>
                <a:latin typeface="Raleway"/>
                <a:ea typeface="Calibri"/>
                <a:cs typeface="Calibri"/>
              </a:rPr>
              <a:t>Pemenuhan</a:t>
            </a:r>
            <a:r>
              <a:rPr lang="en-US" sz="1400">
                <a:solidFill>
                  <a:srgbClr val="000000"/>
                </a:solidFill>
                <a:latin typeface="Raleway"/>
                <a:ea typeface="Calibri"/>
                <a:cs typeface="Calibri"/>
              </a:rPr>
              <a:t> </a:t>
            </a:r>
            <a:r>
              <a:rPr lang="en-US" sz="1400" b="1" err="1">
                <a:solidFill>
                  <a:srgbClr val="000000"/>
                </a:solidFill>
                <a:latin typeface="Raleway"/>
                <a:ea typeface="Calibri"/>
                <a:cs typeface="Calibri"/>
              </a:rPr>
              <a:t>gelombang</a:t>
            </a:r>
            <a:r>
              <a:rPr lang="en-US" sz="1400" b="1">
                <a:solidFill>
                  <a:srgbClr val="000000"/>
                </a:solidFill>
                <a:latin typeface="Raleway"/>
                <a:ea typeface="Calibri"/>
                <a:cs typeface="Calibri"/>
              </a:rPr>
              <a:t> 3 </a:t>
            </a:r>
            <a:r>
              <a:rPr lang="en-US" sz="1400" b="1" err="1">
                <a:solidFill>
                  <a:srgbClr val="000000"/>
                </a:solidFill>
                <a:latin typeface="Raleway"/>
                <a:ea typeface="Calibri"/>
                <a:cs typeface="Calibri"/>
              </a:rPr>
              <a:t>dimulai</a:t>
            </a:r>
            <a:r>
              <a:rPr lang="en-US" sz="1400" b="1">
                <a:solidFill>
                  <a:srgbClr val="000000"/>
                </a:solidFill>
                <a:latin typeface="Raleway"/>
                <a:ea typeface="Calibri"/>
                <a:cs typeface="Calibri"/>
              </a:rPr>
              <a:t> </a:t>
            </a:r>
            <a:r>
              <a:rPr lang="en-US" sz="1400" b="1" err="1">
                <a:solidFill>
                  <a:srgbClr val="000000"/>
                </a:solidFill>
                <a:latin typeface="Raleway"/>
                <a:ea typeface="Calibri"/>
                <a:cs typeface="Calibri"/>
              </a:rPr>
              <a:t>lebih</a:t>
            </a:r>
            <a:r>
              <a:rPr lang="en-US" sz="1400" b="1">
                <a:solidFill>
                  <a:srgbClr val="000000"/>
                </a:solidFill>
                <a:latin typeface="Raleway"/>
                <a:ea typeface="Calibri"/>
                <a:cs typeface="Calibri"/>
              </a:rPr>
              <a:t> </a:t>
            </a:r>
            <a:r>
              <a:rPr lang="en-US" sz="1400" b="1" err="1">
                <a:solidFill>
                  <a:srgbClr val="000000"/>
                </a:solidFill>
                <a:latin typeface="Raleway"/>
                <a:ea typeface="Calibri"/>
                <a:cs typeface="Calibri"/>
              </a:rPr>
              <a:t>awal</a:t>
            </a:r>
            <a:r>
              <a:rPr lang="en-US" sz="1400">
                <a:solidFill>
                  <a:srgbClr val="000000"/>
                </a:solidFill>
                <a:latin typeface="Raleway"/>
                <a:ea typeface="Calibri"/>
                <a:cs typeface="Calibri"/>
              </a:rPr>
              <a:t> </a:t>
            </a:r>
            <a:r>
              <a:rPr lang="en-US" sz="1400" err="1">
                <a:solidFill>
                  <a:srgbClr val="000000"/>
                </a:solidFill>
                <a:latin typeface="Raleway"/>
                <a:ea typeface="Calibri"/>
                <a:cs typeface="Calibri"/>
              </a:rPr>
              <a:t>karena</a:t>
            </a:r>
            <a:r>
              <a:rPr lang="en-US" sz="1400">
                <a:solidFill>
                  <a:srgbClr val="000000"/>
                </a:solidFill>
                <a:latin typeface="Raleway"/>
                <a:ea typeface="Calibri"/>
                <a:cs typeface="Calibri"/>
              </a:rPr>
              <a:t> </a:t>
            </a:r>
            <a:r>
              <a:rPr lang="en-US" sz="1400" b="1" err="1">
                <a:solidFill>
                  <a:srgbClr val="000000"/>
                </a:solidFill>
                <a:latin typeface="Raleway"/>
                <a:ea typeface="Calibri"/>
                <a:cs typeface="Calibri"/>
              </a:rPr>
              <a:t>beberapa</a:t>
            </a:r>
            <a:r>
              <a:rPr lang="en-US" sz="1400" b="1">
                <a:solidFill>
                  <a:srgbClr val="000000"/>
                </a:solidFill>
                <a:latin typeface="Raleway"/>
                <a:ea typeface="Calibri"/>
                <a:cs typeface="Calibri"/>
              </a:rPr>
              <a:t> FPTK</a:t>
            </a:r>
            <a:r>
              <a:rPr lang="en-US" sz="1400">
                <a:solidFill>
                  <a:srgbClr val="000000"/>
                </a:solidFill>
                <a:latin typeface="Raleway"/>
                <a:ea typeface="Calibri"/>
                <a:cs typeface="Calibri"/>
              </a:rPr>
              <a:t> </a:t>
            </a:r>
            <a:r>
              <a:rPr lang="en-US" sz="1400" err="1">
                <a:solidFill>
                  <a:srgbClr val="000000"/>
                </a:solidFill>
                <a:latin typeface="Raleway"/>
                <a:ea typeface="Calibri"/>
                <a:cs typeface="Calibri"/>
              </a:rPr>
              <a:t>sudah</a:t>
            </a:r>
            <a:r>
              <a:rPr lang="en-US" sz="1400">
                <a:solidFill>
                  <a:srgbClr val="000000"/>
                </a:solidFill>
                <a:latin typeface="Raleway"/>
                <a:ea typeface="Calibri"/>
                <a:cs typeface="Calibri"/>
              </a:rPr>
              <a:t> </a:t>
            </a:r>
            <a:r>
              <a:rPr lang="en-US" sz="1400" b="1" err="1">
                <a:solidFill>
                  <a:srgbClr val="000000"/>
                </a:solidFill>
                <a:latin typeface="Raleway"/>
                <a:ea typeface="Calibri"/>
                <a:cs typeface="Calibri"/>
              </a:rPr>
              <a:t>memiliki</a:t>
            </a:r>
            <a:r>
              <a:rPr lang="en-US" sz="1400" b="1">
                <a:solidFill>
                  <a:srgbClr val="000000"/>
                </a:solidFill>
                <a:latin typeface="Raleway"/>
                <a:ea typeface="Calibri"/>
                <a:cs typeface="Calibri"/>
              </a:rPr>
              <a:t> </a:t>
            </a:r>
            <a:r>
              <a:rPr lang="en-US" sz="1400" b="1" err="1">
                <a:solidFill>
                  <a:srgbClr val="000000"/>
                </a:solidFill>
                <a:latin typeface="Raleway"/>
                <a:ea typeface="Calibri"/>
                <a:cs typeface="Calibri"/>
              </a:rPr>
              <a:t>kandidat</a:t>
            </a:r>
            <a:r>
              <a:rPr lang="en-US" sz="1400" b="1">
                <a:solidFill>
                  <a:srgbClr val="000000"/>
                </a:solidFill>
                <a:latin typeface="Raleway"/>
                <a:ea typeface="Calibri"/>
                <a:cs typeface="Calibri"/>
              </a:rPr>
              <a:t> yang </a:t>
            </a:r>
            <a:r>
              <a:rPr lang="en-US" sz="1400" b="1" err="1">
                <a:solidFill>
                  <a:srgbClr val="000000"/>
                </a:solidFill>
                <a:latin typeface="Raleway"/>
                <a:ea typeface="Calibri"/>
                <a:cs typeface="Calibri"/>
              </a:rPr>
              <a:t>dapat</a:t>
            </a:r>
            <a:r>
              <a:rPr lang="en-US" sz="1400" b="1">
                <a:solidFill>
                  <a:srgbClr val="000000"/>
                </a:solidFill>
                <a:latin typeface="Raleway"/>
                <a:ea typeface="Calibri"/>
                <a:cs typeface="Calibri"/>
              </a:rPr>
              <a:t> </a:t>
            </a:r>
            <a:r>
              <a:rPr lang="en-US" sz="1400" b="1" err="1">
                <a:solidFill>
                  <a:srgbClr val="000000"/>
                </a:solidFill>
                <a:latin typeface="Raleway"/>
                <a:ea typeface="Calibri"/>
                <a:cs typeface="Calibri"/>
              </a:rPr>
              <a:t>diproses</a:t>
            </a:r>
            <a:r>
              <a:rPr lang="en-US" sz="1400" b="1">
                <a:solidFill>
                  <a:srgbClr val="000000"/>
                </a:solidFill>
                <a:latin typeface="Raleway"/>
                <a:ea typeface="Calibri"/>
                <a:cs typeface="Calibri"/>
              </a:rPr>
              <a:t>. </a:t>
            </a:r>
          </a:p>
        </p:txBody>
      </p:sp>
      <p:sp>
        <p:nvSpPr>
          <p:cNvPr id="2" name="TextBox 1">
            <a:extLst>
              <a:ext uri="{FF2B5EF4-FFF2-40B4-BE49-F238E27FC236}">
                <a16:creationId xmlns:a16="http://schemas.microsoft.com/office/drawing/2014/main" id="{3449C3B8-DC95-49F2-38C8-650581F4AA65}"/>
              </a:ext>
            </a:extLst>
          </p:cNvPr>
          <p:cNvSpPr txBox="1"/>
          <p:nvPr/>
        </p:nvSpPr>
        <p:spPr>
          <a:xfrm>
            <a:off x="153673" y="6461415"/>
            <a:ext cx="2907067" cy="261610"/>
          </a:xfrm>
          <a:prstGeom prst="rect">
            <a:avLst/>
          </a:prstGeom>
          <a:noFill/>
        </p:spPr>
        <p:txBody>
          <a:bodyPr wrap="square" lIns="91440" tIns="45720" rIns="91440" bIns="45720" rtlCol="0" anchor="t">
            <a:spAutoFit/>
          </a:bodyPr>
          <a:lstStyle/>
          <a:p>
            <a:pPr>
              <a:defRPr/>
            </a:pPr>
            <a:r>
              <a:rPr lang="en-US" sz="1100" i="1">
                <a:solidFill>
                  <a:prstClr val="black"/>
                </a:solidFill>
                <a:latin typeface="Raleway"/>
              </a:rPr>
              <a:t>*</a:t>
            </a:r>
            <a:r>
              <a:rPr kumimoji="0" lang="en-US" sz="1100" b="0" i="1" u="none" strike="noStrike" kern="1200" cap="none" spc="0" normalizeH="0" baseline="0" noProof="0">
                <a:ln>
                  <a:noFill/>
                </a:ln>
                <a:solidFill>
                  <a:prstClr val="black"/>
                </a:solidFill>
                <a:effectLst/>
                <a:uLnTx/>
                <a:uFillTx/>
                <a:latin typeface="Raleway"/>
                <a:ea typeface="+mn-ea"/>
                <a:cs typeface="+mn-cs"/>
              </a:rPr>
              <a:t>Update per </a:t>
            </a:r>
            <a:r>
              <a:rPr lang="en-US" sz="1100" i="1">
                <a:solidFill>
                  <a:prstClr val="black"/>
                </a:solidFill>
                <a:latin typeface="Raleway"/>
              </a:rPr>
              <a:t>7 Agustus 2026</a:t>
            </a:r>
            <a:endParaRPr lang="en-US">
              <a:solidFill>
                <a:prstClr val="black"/>
              </a:solidFill>
              <a:ea typeface="+mn-ea"/>
              <a:cs typeface="+mn-cs"/>
            </a:endParaRPr>
          </a:p>
        </p:txBody>
      </p:sp>
      <p:graphicFrame>
        <p:nvGraphicFramePr>
          <p:cNvPr id="6" name="Table 5">
            <a:extLst>
              <a:ext uri="{FF2B5EF4-FFF2-40B4-BE49-F238E27FC236}">
                <a16:creationId xmlns:a16="http://schemas.microsoft.com/office/drawing/2014/main" id="{6B5B63AC-BFDD-ABAA-5477-356E3B0B4C55}"/>
              </a:ext>
            </a:extLst>
          </p:cNvPr>
          <p:cNvGraphicFramePr>
            <a:graphicFrameLocks noGrp="1"/>
          </p:cNvGraphicFramePr>
          <p:nvPr/>
        </p:nvGraphicFramePr>
        <p:xfrm>
          <a:off x="269986" y="852767"/>
          <a:ext cx="7206379" cy="5508270"/>
        </p:xfrm>
        <a:graphic>
          <a:graphicData uri="http://schemas.openxmlformats.org/drawingml/2006/table">
            <a:tbl>
              <a:tblPr bandRow="1">
                <a:tableStyleId>{5C22544A-7EE6-4342-B048-85BDC9FD1C3A}</a:tableStyleId>
              </a:tblPr>
              <a:tblGrid>
                <a:gridCol w="1173133">
                  <a:extLst>
                    <a:ext uri="{9D8B030D-6E8A-4147-A177-3AD203B41FA5}">
                      <a16:colId xmlns:a16="http://schemas.microsoft.com/office/drawing/2014/main" val="1328958338"/>
                    </a:ext>
                  </a:extLst>
                </a:gridCol>
                <a:gridCol w="1120760">
                  <a:extLst>
                    <a:ext uri="{9D8B030D-6E8A-4147-A177-3AD203B41FA5}">
                      <a16:colId xmlns:a16="http://schemas.microsoft.com/office/drawing/2014/main" val="818858100"/>
                    </a:ext>
                  </a:extLst>
                </a:gridCol>
                <a:gridCol w="817002">
                  <a:extLst>
                    <a:ext uri="{9D8B030D-6E8A-4147-A177-3AD203B41FA5}">
                      <a16:colId xmlns:a16="http://schemas.microsoft.com/office/drawing/2014/main" val="2769896258"/>
                    </a:ext>
                  </a:extLst>
                </a:gridCol>
                <a:gridCol w="911272">
                  <a:extLst>
                    <a:ext uri="{9D8B030D-6E8A-4147-A177-3AD203B41FA5}">
                      <a16:colId xmlns:a16="http://schemas.microsoft.com/office/drawing/2014/main" val="814766689"/>
                    </a:ext>
                  </a:extLst>
                </a:gridCol>
                <a:gridCol w="890323">
                  <a:extLst>
                    <a:ext uri="{9D8B030D-6E8A-4147-A177-3AD203B41FA5}">
                      <a16:colId xmlns:a16="http://schemas.microsoft.com/office/drawing/2014/main" val="3301929265"/>
                    </a:ext>
                  </a:extLst>
                </a:gridCol>
                <a:gridCol w="701783">
                  <a:extLst>
                    <a:ext uri="{9D8B030D-6E8A-4147-A177-3AD203B41FA5}">
                      <a16:colId xmlns:a16="http://schemas.microsoft.com/office/drawing/2014/main" val="3763088989"/>
                    </a:ext>
                  </a:extLst>
                </a:gridCol>
                <a:gridCol w="764629">
                  <a:extLst>
                    <a:ext uri="{9D8B030D-6E8A-4147-A177-3AD203B41FA5}">
                      <a16:colId xmlns:a16="http://schemas.microsoft.com/office/drawing/2014/main" val="3773145827"/>
                    </a:ext>
                  </a:extLst>
                </a:gridCol>
                <a:gridCol w="827477">
                  <a:extLst>
                    <a:ext uri="{9D8B030D-6E8A-4147-A177-3AD203B41FA5}">
                      <a16:colId xmlns:a16="http://schemas.microsoft.com/office/drawing/2014/main" val="771185799"/>
                    </a:ext>
                  </a:extLst>
                </a:gridCol>
              </a:tblGrid>
              <a:tr h="542266">
                <a:tc>
                  <a:txBody>
                    <a:bodyPr/>
                    <a:lstStyle/>
                    <a:p>
                      <a:pPr algn="ctr" rtl="0" fontAlgn="ctr">
                        <a:buNone/>
                      </a:pPr>
                      <a:r>
                        <a:rPr lang="en-US" sz="900" b="1">
                          <a:solidFill>
                            <a:srgbClr val="FFFFFF"/>
                          </a:solidFill>
                          <a:effectLst/>
                          <a:latin typeface="Raleway"/>
                        </a:rPr>
                        <a:t>RSM</a:t>
                      </a:r>
                    </a:p>
                  </a:txBody>
                  <a:tcPr marL="9525" marR="9525" marT="9525"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a:noFill/>
                    </a:lnB>
                    <a:solidFill>
                      <a:srgbClr val="002060"/>
                    </a:solidFill>
                  </a:tcPr>
                </a:tc>
                <a:tc>
                  <a:txBody>
                    <a:bodyPr/>
                    <a:lstStyle/>
                    <a:p>
                      <a:pPr algn="ctr" rtl="0" fontAlgn="ctr">
                        <a:buNone/>
                      </a:pPr>
                      <a:r>
                        <a:rPr lang="en-US" sz="900" b="1">
                          <a:solidFill>
                            <a:srgbClr val="FFFFFF"/>
                          </a:solidFill>
                          <a:effectLst/>
                          <a:latin typeface="Raleway"/>
                        </a:rPr>
                        <a:t>Area</a:t>
                      </a:r>
                    </a:p>
                  </a:txBody>
                  <a:tcPr marL="9525" marR="9525" marT="9525" anchor="ctr">
                    <a:lnL>
                      <a:noFill/>
                    </a:lnL>
                    <a:lnR>
                      <a:noFill/>
                    </a:lnR>
                    <a:lnT w="12700" cap="flat" cmpd="sng" algn="ctr">
                      <a:solidFill>
                        <a:schemeClr val="tx1"/>
                      </a:solidFill>
                      <a:prstDash val="solid"/>
                      <a:round/>
                      <a:headEnd type="none" w="med" len="med"/>
                      <a:tailEnd type="none" w="med" len="med"/>
                    </a:lnT>
                    <a:lnB>
                      <a:noFill/>
                    </a:lnB>
                    <a:solidFill>
                      <a:srgbClr val="002060"/>
                    </a:solidFill>
                  </a:tcPr>
                </a:tc>
                <a:tc>
                  <a:txBody>
                    <a:bodyPr/>
                    <a:lstStyle/>
                    <a:p>
                      <a:pPr algn="ctr" rtl="0" fontAlgn="ctr">
                        <a:buNone/>
                      </a:pPr>
                      <a:r>
                        <a:rPr lang="en-US" sz="900" b="1">
                          <a:solidFill>
                            <a:srgbClr val="FFFFFF"/>
                          </a:solidFill>
                          <a:effectLst/>
                          <a:latin typeface="Raleway"/>
                        </a:rPr>
                        <a:t>MPP</a:t>
                      </a:r>
                    </a:p>
                  </a:txBody>
                  <a:tcPr marL="9525" marR="9525" marT="9525" anchor="ctr">
                    <a:lnL>
                      <a:noFill/>
                    </a:lnL>
                    <a:lnR>
                      <a:noFill/>
                    </a:lnR>
                    <a:lnT w="12700" cap="flat" cmpd="sng" algn="ctr">
                      <a:solidFill>
                        <a:schemeClr val="tx1"/>
                      </a:solidFill>
                      <a:prstDash val="solid"/>
                      <a:round/>
                      <a:headEnd type="none" w="med" len="med"/>
                      <a:tailEnd type="none" w="med" len="med"/>
                    </a:lnT>
                    <a:lnB>
                      <a:noFill/>
                    </a:lnB>
                    <a:solidFill>
                      <a:srgbClr val="002060"/>
                    </a:solidFill>
                  </a:tcPr>
                </a:tc>
                <a:tc>
                  <a:txBody>
                    <a:bodyPr/>
                    <a:lstStyle/>
                    <a:p>
                      <a:pPr algn="ctr" rtl="0" fontAlgn="ctr">
                        <a:buNone/>
                      </a:pPr>
                      <a:r>
                        <a:rPr lang="en-US" sz="900" b="1">
                          <a:solidFill>
                            <a:srgbClr val="FFFFFF"/>
                          </a:solidFill>
                          <a:effectLst/>
                          <a:latin typeface="Raleway"/>
                        </a:rPr>
                        <a:t>PIC </a:t>
                      </a:r>
                      <a:r>
                        <a:rPr lang="en-US" sz="900" b="1" err="1">
                          <a:solidFill>
                            <a:srgbClr val="FFFFFF"/>
                          </a:solidFill>
                          <a:effectLst/>
                          <a:latin typeface="Raleway"/>
                        </a:rPr>
                        <a:t>Rekruter</a:t>
                      </a:r>
                    </a:p>
                  </a:txBody>
                  <a:tcPr marL="9525" marR="9525" marT="9525" anchor="ctr">
                    <a:lnL>
                      <a:noFill/>
                    </a:lnL>
                    <a:lnR>
                      <a:noFill/>
                    </a:lnR>
                    <a:lnT w="12700" cap="flat" cmpd="sng" algn="ctr">
                      <a:solidFill>
                        <a:schemeClr val="tx1"/>
                      </a:solidFill>
                      <a:prstDash val="solid"/>
                      <a:round/>
                      <a:headEnd type="none" w="med" len="med"/>
                      <a:tailEnd type="none" w="med" len="med"/>
                    </a:lnT>
                    <a:lnB>
                      <a:noFill/>
                    </a:lnB>
                    <a:solidFill>
                      <a:srgbClr val="002060"/>
                    </a:solidFill>
                  </a:tcPr>
                </a:tc>
                <a:tc>
                  <a:txBody>
                    <a:bodyPr/>
                    <a:lstStyle/>
                    <a:p>
                      <a:pPr algn="ctr" rtl="0" fontAlgn="ctr">
                        <a:buNone/>
                      </a:pPr>
                      <a:r>
                        <a:rPr lang="en-US" sz="900" b="1">
                          <a:solidFill>
                            <a:srgbClr val="FFFFFF"/>
                          </a:solidFill>
                          <a:effectLst/>
                          <a:latin typeface="Raleway"/>
                        </a:rPr>
                        <a:t>Status</a:t>
                      </a:r>
                    </a:p>
                  </a:txBody>
                  <a:tcPr marL="9525" marR="9525" marT="9525" anchor="ctr">
                    <a:lnL>
                      <a:noFill/>
                    </a:lnL>
                    <a:lnR>
                      <a:noFill/>
                    </a:lnR>
                    <a:lnT w="12700" cap="flat" cmpd="sng" algn="ctr">
                      <a:solidFill>
                        <a:schemeClr val="tx1"/>
                      </a:solidFill>
                      <a:prstDash val="solid"/>
                      <a:round/>
                      <a:headEnd type="none" w="med" len="med"/>
                      <a:tailEnd type="none" w="med" len="med"/>
                    </a:lnT>
                    <a:lnB>
                      <a:noFill/>
                    </a:lnB>
                    <a:solidFill>
                      <a:srgbClr val="002060"/>
                    </a:solidFill>
                  </a:tcPr>
                </a:tc>
                <a:tc>
                  <a:txBody>
                    <a:bodyPr/>
                    <a:lstStyle/>
                    <a:p>
                      <a:pPr algn="ctr" rtl="0" fontAlgn="ctr">
                        <a:buNone/>
                      </a:pPr>
                      <a:r>
                        <a:rPr lang="en-US" sz="900" b="1">
                          <a:solidFill>
                            <a:srgbClr val="FFFFFF"/>
                          </a:solidFill>
                          <a:effectLst/>
                          <a:latin typeface="Raleway"/>
                        </a:rPr>
                        <a:t>FPTK Closed</a:t>
                      </a:r>
                    </a:p>
                  </a:txBody>
                  <a:tcPr marL="9525" marR="9525" marT="9525" anchor="ctr">
                    <a:lnL>
                      <a:noFill/>
                    </a:lnL>
                    <a:lnR>
                      <a:noFill/>
                    </a:lnR>
                    <a:lnT w="12700" cap="flat" cmpd="sng" algn="ctr">
                      <a:solidFill>
                        <a:schemeClr val="tx1"/>
                      </a:solidFill>
                      <a:prstDash val="solid"/>
                      <a:round/>
                      <a:headEnd type="none" w="med" len="med"/>
                      <a:tailEnd type="none" w="med" len="med"/>
                    </a:lnT>
                    <a:lnB>
                      <a:noFill/>
                    </a:lnB>
                    <a:solidFill>
                      <a:srgbClr val="002060"/>
                    </a:solidFill>
                  </a:tcPr>
                </a:tc>
                <a:tc>
                  <a:txBody>
                    <a:bodyPr/>
                    <a:lstStyle/>
                    <a:p>
                      <a:pPr algn="ctr" rtl="0" fontAlgn="ctr">
                        <a:buNone/>
                      </a:pPr>
                      <a:r>
                        <a:rPr lang="en-US" sz="900" b="1">
                          <a:solidFill>
                            <a:srgbClr val="FFFFFF"/>
                          </a:solidFill>
                          <a:effectLst/>
                          <a:latin typeface="Raleway"/>
                        </a:rPr>
                        <a:t>Sisa MPP</a:t>
                      </a:r>
                    </a:p>
                  </a:txBody>
                  <a:tcPr marL="9525" marR="9525" marT="9525" anchor="ctr">
                    <a:lnL>
                      <a:noFill/>
                    </a:lnL>
                    <a:lnR>
                      <a:noFill/>
                    </a:lnR>
                    <a:lnT w="12700" cap="flat" cmpd="sng" algn="ctr">
                      <a:solidFill>
                        <a:schemeClr val="tx1"/>
                      </a:solidFill>
                      <a:prstDash val="solid"/>
                      <a:round/>
                      <a:headEnd type="none" w="med" len="med"/>
                      <a:tailEnd type="none" w="med" len="med"/>
                    </a:lnT>
                    <a:lnB>
                      <a:noFill/>
                    </a:lnB>
                    <a:solidFill>
                      <a:srgbClr val="002060"/>
                    </a:solidFill>
                  </a:tcPr>
                </a:tc>
                <a:tc>
                  <a:txBody>
                    <a:bodyPr/>
                    <a:lstStyle/>
                    <a:p>
                      <a:pPr algn="ctr" rtl="0" fontAlgn="ctr">
                        <a:buNone/>
                      </a:pPr>
                      <a:r>
                        <a:rPr lang="en-US" sz="900" b="1" err="1">
                          <a:solidFill>
                            <a:srgbClr val="FFFFFF"/>
                          </a:solidFill>
                          <a:effectLst/>
                          <a:latin typeface="Raleway"/>
                        </a:rPr>
                        <a:t>Tgl</a:t>
                      </a:r>
                      <a:br>
                        <a:rPr lang="en-US" sz="900" b="1">
                          <a:solidFill>
                            <a:srgbClr val="FFFFFF"/>
                          </a:solidFill>
                          <a:effectLst/>
                          <a:latin typeface="Raleway"/>
                        </a:rPr>
                      </a:br>
                      <a:r>
                        <a:rPr lang="en-US" sz="900" b="1" err="1">
                          <a:solidFill>
                            <a:srgbClr val="FFFFFF"/>
                          </a:solidFill>
                          <a:effectLst/>
                          <a:latin typeface="Raleway"/>
                        </a:rPr>
                        <a:t>Dibutuhkan</a:t>
                      </a:r>
                    </a:p>
                  </a:txBody>
                  <a:tcPr marL="9525" marR="9525" marT="9525"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solidFill>
                      <a:srgbClr val="002060"/>
                    </a:solidFill>
                  </a:tcPr>
                </a:tc>
                <a:extLst>
                  <a:ext uri="{0D108BD9-81ED-4DB2-BD59-A6C34878D82A}">
                    <a16:rowId xmlns:a16="http://schemas.microsoft.com/office/drawing/2014/main" val="1567977167"/>
                  </a:ext>
                </a:extLst>
              </a:tr>
              <a:tr h="356754">
                <a:tc>
                  <a:txBody>
                    <a:bodyPr/>
                    <a:lstStyle/>
                    <a:p>
                      <a:pPr rtl="0" fontAlgn="ctr">
                        <a:buNone/>
                      </a:pPr>
                      <a:r>
                        <a:rPr lang="en-US" sz="900" err="1">
                          <a:effectLst/>
                          <a:latin typeface="Raleway"/>
                        </a:rPr>
                        <a:t>Sumbagut</a:t>
                      </a:r>
                    </a:p>
                  </a:txBody>
                  <a:tcPr marL="9525" marR="9525" marT="9525" anchor="ctr">
                    <a:lnL w="12700" cap="flat" cmpd="sng" algn="ctr">
                      <a:solidFill>
                        <a:schemeClr val="tx1"/>
                      </a:solidFill>
                      <a:prstDash val="solid"/>
                      <a:round/>
                      <a:headEnd type="none" w="med" len="med"/>
                      <a:tailEnd type="none" w="med" len="med"/>
                    </a:lnL>
                    <a:lnR>
                      <a:noFill/>
                    </a:lnR>
                    <a:lnT>
                      <a:noFill/>
                    </a:lnT>
                    <a:lnB>
                      <a:noFill/>
                    </a:lnB>
                    <a:noFill/>
                  </a:tcPr>
                </a:tc>
                <a:tc>
                  <a:txBody>
                    <a:bodyPr/>
                    <a:lstStyle/>
                    <a:p>
                      <a:pPr rtl="0" fontAlgn="ctr">
                        <a:buNone/>
                      </a:pPr>
                      <a:r>
                        <a:rPr lang="en-US" sz="900" err="1">
                          <a:effectLst/>
                          <a:latin typeface="Raleway"/>
                        </a:rPr>
                        <a:t>Meulaboh</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Zwei</a:t>
                      </a:r>
                    </a:p>
                  </a:txBody>
                  <a:tcPr marL="9525" marR="9525" marT="9525" anchor="ctr">
                    <a:lnL>
                      <a:noFill/>
                    </a:lnL>
                    <a:lnR>
                      <a:noFill/>
                    </a:lnR>
                    <a:lnT>
                      <a:noFill/>
                    </a:lnT>
                    <a:lnB>
                      <a:noFill/>
                    </a:lnB>
                    <a:noFill/>
                  </a:tcPr>
                </a:tc>
                <a:tc>
                  <a:txBody>
                    <a:bodyPr/>
                    <a:lstStyle/>
                    <a:p>
                      <a:pPr algn="ct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10-Aug-26</a:t>
                      </a:r>
                    </a:p>
                  </a:txBody>
                  <a:tcPr marL="9525" marR="9525" marT="9525" anchor="ctr">
                    <a:lnL>
                      <a:noFill/>
                    </a:lnL>
                    <a:lnR w="12700" cap="flat" cmpd="sng" algn="ctr">
                      <a:solidFill>
                        <a:schemeClr val="tx1"/>
                      </a:solidFill>
                      <a:prstDash val="solid"/>
                      <a:round/>
                      <a:headEnd type="none" w="med" len="med"/>
                      <a:tailEnd type="none" w="med" len="med"/>
                    </a:lnR>
                    <a:lnT>
                      <a:noFill/>
                    </a:lnT>
                    <a:lnB>
                      <a:noFill/>
                    </a:lnB>
                    <a:noFill/>
                  </a:tcPr>
                </a:tc>
                <a:extLst>
                  <a:ext uri="{0D108BD9-81ED-4DB2-BD59-A6C34878D82A}">
                    <a16:rowId xmlns:a16="http://schemas.microsoft.com/office/drawing/2014/main" val="3199132359"/>
                  </a:ext>
                </a:extLst>
              </a:tr>
              <a:tr h="228322">
                <a:tc>
                  <a:txBody>
                    <a:bodyPr/>
                    <a:lstStyle/>
                    <a:p>
                      <a:pPr rtl="0" fontAlgn="ctr">
                        <a:buNone/>
                      </a:pPr>
                      <a:r>
                        <a:rPr lang="en-US" sz="900" err="1">
                          <a:effectLst/>
                          <a:latin typeface="Raleway"/>
                        </a:rPr>
                        <a:t>Sumbagsel</a:t>
                      </a:r>
                    </a:p>
                  </a:txBody>
                  <a:tcPr marL="9525" marR="9525" marT="9525" anchor="ctr">
                    <a:lnL w="12700" cap="flat" cmpd="sng" algn="ctr">
                      <a:solidFill>
                        <a:schemeClr val="tx1"/>
                      </a:solidFill>
                      <a:prstDash val="solid"/>
                      <a:round/>
                      <a:headEnd type="none" w="med" len="med"/>
                      <a:tailEnd type="none" w="med" len="med"/>
                    </a:lnL>
                    <a:lnR>
                      <a:noFill/>
                    </a:lnR>
                    <a:lnT>
                      <a:noFill/>
                    </a:lnT>
                    <a:lnB>
                      <a:noFill/>
                    </a:lnB>
                    <a:noFill/>
                  </a:tcPr>
                </a:tc>
                <a:tc>
                  <a:txBody>
                    <a:bodyPr/>
                    <a:lstStyle/>
                    <a:p>
                      <a:pPr rtl="0" fontAlgn="ctr">
                        <a:buNone/>
                      </a:pPr>
                      <a:r>
                        <a:rPr lang="en-US" sz="900">
                          <a:effectLst/>
                          <a:latin typeface="Raleway"/>
                        </a:rPr>
                        <a:t>Lampung</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Zwei</a:t>
                      </a:r>
                    </a:p>
                  </a:txBody>
                  <a:tcPr marL="9525" marR="9525" marT="9525" anchor="ctr">
                    <a:lnL>
                      <a:noFill/>
                    </a:lnL>
                    <a:lnR>
                      <a:noFill/>
                    </a:lnR>
                    <a:lnT>
                      <a:noFill/>
                    </a:lnT>
                    <a:lnB>
                      <a:noFill/>
                    </a:lnB>
                    <a:noFill/>
                  </a:tcPr>
                </a:tc>
                <a:tc>
                  <a:txBody>
                    <a:bodyPr/>
                    <a:lstStyle/>
                    <a:p>
                      <a:pPr algn="ct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10-Aug-26</a:t>
                      </a:r>
                    </a:p>
                  </a:txBody>
                  <a:tcPr marL="9525" marR="9525" marT="9525" anchor="ctr">
                    <a:lnL>
                      <a:noFill/>
                    </a:lnL>
                    <a:lnR w="12700" cap="flat" cmpd="sng" algn="ctr">
                      <a:solidFill>
                        <a:schemeClr val="tx1"/>
                      </a:solidFill>
                      <a:prstDash val="solid"/>
                      <a:round/>
                      <a:headEnd type="none" w="med" len="med"/>
                      <a:tailEnd type="none" w="med" len="med"/>
                    </a:lnR>
                    <a:lnT>
                      <a:noFill/>
                    </a:lnT>
                    <a:lnB>
                      <a:noFill/>
                    </a:lnB>
                    <a:noFill/>
                  </a:tcPr>
                </a:tc>
                <a:extLst>
                  <a:ext uri="{0D108BD9-81ED-4DB2-BD59-A6C34878D82A}">
                    <a16:rowId xmlns:a16="http://schemas.microsoft.com/office/drawing/2014/main" val="1320930217"/>
                  </a:ext>
                </a:extLst>
              </a:tr>
              <a:tr h="228322">
                <a:tc>
                  <a:txBody>
                    <a:bodyPr/>
                    <a:lstStyle/>
                    <a:p>
                      <a:pPr rtl="0" fontAlgn="ctr">
                        <a:buNone/>
                      </a:pPr>
                      <a:r>
                        <a:rPr lang="en-US" sz="900">
                          <a:effectLst/>
                          <a:latin typeface="Raleway"/>
                        </a:rPr>
                        <a:t>Kalimantan</a:t>
                      </a:r>
                    </a:p>
                  </a:txBody>
                  <a:tcPr marL="9525" marR="9525" marT="9525" anchor="ctr">
                    <a:lnL w="12700" cap="flat" cmpd="sng" algn="ctr">
                      <a:solidFill>
                        <a:schemeClr val="tx1"/>
                      </a:solidFill>
                      <a:prstDash val="solid"/>
                      <a:round/>
                      <a:headEnd type="none" w="med" len="med"/>
                      <a:tailEnd type="none" w="med" len="med"/>
                    </a:lnL>
                    <a:lnR>
                      <a:noFill/>
                    </a:lnR>
                    <a:lnT>
                      <a:noFill/>
                    </a:lnT>
                    <a:lnB>
                      <a:noFill/>
                    </a:lnB>
                    <a:noFill/>
                  </a:tcPr>
                </a:tc>
                <a:tc>
                  <a:txBody>
                    <a:bodyPr/>
                    <a:lstStyle/>
                    <a:p>
                      <a:pPr rtl="0" fontAlgn="ctr">
                        <a:buNone/>
                      </a:pPr>
                      <a:r>
                        <a:rPr lang="en-US" sz="900">
                          <a:effectLst/>
                          <a:latin typeface="Raleway"/>
                        </a:rPr>
                        <a:t>Pontianak</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Brittney</a:t>
                      </a:r>
                    </a:p>
                  </a:txBody>
                  <a:tcPr marL="9525" marR="9525" marT="9525" anchor="ctr">
                    <a:lnL>
                      <a:noFill/>
                    </a:lnL>
                    <a:lnR>
                      <a:noFill/>
                    </a:lnR>
                    <a:lnT>
                      <a:noFill/>
                    </a:lnT>
                    <a:lnB>
                      <a:noFill/>
                    </a:lnB>
                    <a:noFill/>
                  </a:tcPr>
                </a:tc>
                <a:tc>
                  <a:txBody>
                    <a:bodyPr/>
                    <a:lstStyle/>
                    <a:p>
                      <a:pPr algn="ct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10-Aug-26</a:t>
                      </a:r>
                    </a:p>
                  </a:txBody>
                  <a:tcPr marL="9525" marR="9525" marT="9525" anchor="ctr">
                    <a:lnL>
                      <a:noFill/>
                    </a:lnL>
                    <a:lnR w="12700" cap="flat" cmpd="sng" algn="ctr">
                      <a:solidFill>
                        <a:schemeClr val="tx1"/>
                      </a:solidFill>
                      <a:prstDash val="solid"/>
                      <a:round/>
                      <a:headEnd type="none" w="med" len="med"/>
                      <a:tailEnd type="none" w="med" len="med"/>
                    </a:lnR>
                    <a:lnT>
                      <a:noFill/>
                    </a:lnT>
                    <a:lnB>
                      <a:noFill/>
                    </a:lnB>
                    <a:noFill/>
                  </a:tcPr>
                </a:tc>
                <a:extLst>
                  <a:ext uri="{0D108BD9-81ED-4DB2-BD59-A6C34878D82A}">
                    <a16:rowId xmlns:a16="http://schemas.microsoft.com/office/drawing/2014/main" val="1336517922"/>
                  </a:ext>
                </a:extLst>
              </a:tr>
              <a:tr h="228322">
                <a:tc>
                  <a:txBody>
                    <a:bodyPr/>
                    <a:lstStyle/>
                    <a:p>
                      <a:pPr rtl="0" fontAlgn="ctr">
                        <a:buNone/>
                      </a:pPr>
                      <a:r>
                        <a:rPr lang="en-US" sz="900">
                          <a:effectLst/>
                          <a:latin typeface="Raleway"/>
                        </a:rPr>
                        <a:t>Kalimantan</a:t>
                      </a:r>
                    </a:p>
                  </a:txBody>
                  <a:tcPr marL="9525" marR="9525" marT="9525" anchor="ctr">
                    <a:lnL w="12700" cap="flat" cmpd="sng" algn="ctr">
                      <a:solidFill>
                        <a:schemeClr val="tx1"/>
                      </a:solidFill>
                      <a:prstDash val="solid"/>
                      <a:round/>
                      <a:headEnd type="none" w="med" len="med"/>
                      <a:tailEnd type="none" w="med" len="med"/>
                    </a:lnL>
                    <a:lnR>
                      <a:noFill/>
                    </a:lnR>
                    <a:lnT>
                      <a:noFill/>
                    </a:lnT>
                    <a:lnB>
                      <a:noFill/>
                    </a:lnB>
                    <a:noFill/>
                  </a:tcPr>
                </a:tc>
                <a:tc>
                  <a:txBody>
                    <a:bodyPr/>
                    <a:lstStyle/>
                    <a:p>
                      <a:pPr rtl="0" fontAlgn="ctr">
                        <a:buNone/>
                      </a:pPr>
                      <a:r>
                        <a:rPr lang="en-US" sz="900">
                          <a:effectLst/>
                          <a:latin typeface="Raleway"/>
                        </a:rPr>
                        <a:t>Balikpapan</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Brittney</a:t>
                      </a:r>
                    </a:p>
                  </a:txBody>
                  <a:tcPr marL="9525" marR="9525" marT="9525" anchor="ctr">
                    <a:lnL>
                      <a:noFill/>
                    </a:lnL>
                    <a:lnR>
                      <a:noFill/>
                    </a:lnR>
                    <a:lnT>
                      <a:noFill/>
                    </a:lnT>
                    <a:lnB>
                      <a:noFill/>
                    </a:lnB>
                    <a:noFill/>
                  </a:tcPr>
                </a:tc>
                <a:tc>
                  <a:txBody>
                    <a:bodyPr/>
                    <a:lstStyle/>
                    <a:p>
                      <a:pPr algn="ct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10-Aug-26</a:t>
                      </a:r>
                    </a:p>
                  </a:txBody>
                  <a:tcPr marL="9525" marR="9525" marT="9525" anchor="ctr">
                    <a:lnL>
                      <a:noFill/>
                    </a:lnL>
                    <a:lnR w="12700" cap="flat" cmpd="sng" algn="ctr">
                      <a:solidFill>
                        <a:schemeClr val="tx1"/>
                      </a:solidFill>
                      <a:prstDash val="solid"/>
                      <a:round/>
                      <a:headEnd type="none" w="med" len="med"/>
                      <a:tailEnd type="none" w="med" len="med"/>
                    </a:lnR>
                    <a:lnT>
                      <a:noFill/>
                    </a:lnT>
                    <a:lnB>
                      <a:noFill/>
                    </a:lnB>
                    <a:noFill/>
                  </a:tcPr>
                </a:tc>
                <a:extLst>
                  <a:ext uri="{0D108BD9-81ED-4DB2-BD59-A6C34878D82A}">
                    <a16:rowId xmlns:a16="http://schemas.microsoft.com/office/drawing/2014/main" val="4078567565"/>
                  </a:ext>
                </a:extLst>
              </a:tr>
              <a:tr h="228322">
                <a:tc>
                  <a:txBody>
                    <a:bodyPr/>
                    <a:lstStyle/>
                    <a:p>
                      <a:pPr rtl="0" fontAlgn="ctr">
                        <a:buNone/>
                      </a:pPr>
                      <a:r>
                        <a:rPr lang="en-US" sz="900" err="1">
                          <a:effectLst/>
                          <a:latin typeface="Raleway"/>
                        </a:rPr>
                        <a:t>Sulmalpa</a:t>
                      </a:r>
                      <a:r>
                        <a:rPr lang="en-US" sz="900">
                          <a:effectLst/>
                          <a:latin typeface="Raleway"/>
                        </a:rPr>
                        <a:t> </a:t>
                      </a:r>
                      <a:r>
                        <a:rPr lang="en-US" sz="900" err="1">
                          <a:effectLst/>
                          <a:latin typeface="Raleway"/>
                        </a:rPr>
                        <a:t>Balnus</a:t>
                      </a:r>
                    </a:p>
                  </a:txBody>
                  <a:tcPr marL="9525" marR="9525" marT="9525" anchor="ctr">
                    <a:lnL w="12700" cap="flat" cmpd="sng" algn="ctr">
                      <a:solidFill>
                        <a:schemeClr val="tx1"/>
                      </a:solidFill>
                      <a:prstDash val="solid"/>
                      <a:round/>
                      <a:headEnd type="none" w="med" len="med"/>
                      <a:tailEnd type="none" w="med" len="med"/>
                    </a:lnL>
                    <a:lnR>
                      <a:noFill/>
                    </a:lnR>
                    <a:lnT>
                      <a:noFill/>
                    </a:lnT>
                    <a:lnB>
                      <a:noFill/>
                    </a:lnB>
                    <a:noFill/>
                  </a:tcPr>
                </a:tc>
                <a:tc>
                  <a:txBody>
                    <a:bodyPr/>
                    <a:lstStyle/>
                    <a:p>
                      <a:pPr rtl="0" fontAlgn="ctr">
                        <a:buNone/>
                      </a:pPr>
                      <a:r>
                        <a:rPr lang="en-US" sz="900">
                          <a:effectLst/>
                          <a:latin typeface="Raleway"/>
                        </a:rPr>
                        <a:t>Makassar Selatan</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Gracia</a:t>
                      </a:r>
                    </a:p>
                  </a:txBody>
                  <a:tcPr marL="9525" marR="9525" marT="9525" anchor="ctr">
                    <a:lnL>
                      <a:noFill/>
                    </a:lnL>
                    <a:lnR>
                      <a:noFill/>
                    </a:lnR>
                    <a:lnT>
                      <a:noFill/>
                    </a:lnT>
                    <a:lnB>
                      <a:noFill/>
                    </a:lnB>
                    <a:noFill/>
                  </a:tcPr>
                </a:tc>
                <a:tc>
                  <a:txBody>
                    <a:bodyPr/>
                    <a:lstStyle/>
                    <a:p>
                      <a:pPr algn="ctr" rtl="0" fontAlgn="ctr">
                        <a:buNone/>
                      </a:pPr>
                      <a:endParaRPr lang="en-US" sz="900">
                        <a:effectLst/>
                        <a:latin typeface="Raleway"/>
                      </a:endParaRP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10-Aug-26</a:t>
                      </a:r>
                    </a:p>
                  </a:txBody>
                  <a:tcPr marL="9525" marR="9525" marT="9525" anchor="ctr">
                    <a:lnL>
                      <a:noFill/>
                    </a:lnL>
                    <a:lnR w="12700" cap="flat" cmpd="sng" algn="ctr">
                      <a:solidFill>
                        <a:schemeClr val="tx1"/>
                      </a:solidFill>
                      <a:prstDash val="solid"/>
                      <a:round/>
                      <a:headEnd type="none" w="med" len="med"/>
                      <a:tailEnd type="none" w="med" len="med"/>
                    </a:lnR>
                    <a:lnT>
                      <a:noFill/>
                    </a:lnT>
                    <a:lnB>
                      <a:noFill/>
                    </a:lnB>
                    <a:noFill/>
                  </a:tcPr>
                </a:tc>
                <a:extLst>
                  <a:ext uri="{0D108BD9-81ED-4DB2-BD59-A6C34878D82A}">
                    <a16:rowId xmlns:a16="http://schemas.microsoft.com/office/drawing/2014/main" val="3978432720"/>
                  </a:ext>
                </a:extLst>
              </a:tr>
              <a:tr h="228322">
                <a:tc>
                  <a:txBody>
                    <a:bodyPr/>
                    <a:lstStyle/>
                    <a:p>
                      <a:pPr rtl="0" fontAlgn="ctr">
                        <a:buNone/>
                      </a:pPr>
                      <a:r>
                        <a:rPr lang="en-US" sz="900" err="1">
                          <a:effectLst/>
                          <a:latin typeface="Raleway"/>
                        </a:rPr>
                        <a:t>Sulmalpa</a:t>
                      </a:r>
                      <a:r>
                        <a:rPr lang="en-US" sz="900">
                          <a:effectLst/>
                          <a:latin typeface="Raleway"/>
                        </a:rPr>
                        <a:t> </a:t>
                      </a:r>
                      <a:r>
                        <a:rPr lang="en-US" sz="900" err="1">
                          <a:effectLst/>
                          <a:latin typeface="Raleway"/>
                        </a:rPr>
                        <a:t>Balnus</a:t>
                      </a:r>
                    </a:p>
                  </a:txBody>
                  <a:tcPr marL="9525" marR="9525" marT="9525" anchor="ctr">
                    <a:lnL w="12700" cap="flat" cmpd="sng" algn="ctr">
                      <a:solidFill>
                        <a:schemeClr val="tx1"/>
                      </a:solidFill>
                      <a:prstDash val="solid"/>
                      <a:round/>
                      <a:headEnd type="none" w="med" len="med"/>
                      <a:tailEnd type="none" w="med" len="med"/>
                    </a:lnL>
                    <a:lnR>
                      <a:noFill/>
                    </a:lnR>
                    <a:lnT>
                      <a:noFill/>
                    </a:lnT>
                    <a:lnB>
                      <a:noFill/>
                    </a:lnB>
                    <a:noFill/>
                  </a:tcPr>
                </a:tc>
                <a:tc>
                  <a:txBody>
                    <a:bodyPr/>
                    <a:lstStyle/>
                    <a:p>
                      <a:pPr rtl="0" fontAlgn="ctr">
                        <a:buNone/>
                      </a:pPr>
                      <a:r>
                        <a:rPr lang="en-US" sz="900">
                          <a:effectLst/>
                          <a:latin typeface="Raleway"/>
                        </a:rPr>
                        <a:t>Makassar Utara</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rtl="0" fontAlgn="ctr">
                        <a:buNone/>
                      </a:pPr>
                      <a:r>
                        <a:rPr lang="en-US" sz="900" err="1">
                          <a:effectLst/>
                          <a:latin typeface="Raleway"/>
                        </a:rPr>
                        <a:t>Kenthansen</a:t>
                      </a:r>
                    </a:p>
                  </a:txBody>
                  <a:tcPr marL="9525" marR="9525" marT="9525" anchor="ctr">
                    <a:lnL>
                      <a:noFill/>
                    </a:lnL>
                    <a:lnR>
                      <a:noFill/>
                    </a:lnR>
                    <a:lnT>
                      <a:noFill/>
                    </a:lnT>
                    <a:lnB>
                      <a:noFill/>
                    </a:lnB>
                    <a:noFill/>
                  </a:tcPr>
                </a:tc>
                <a:tc>
                  <a:txBody>
                    <a:bodyPr/>
                    <a:lstStyle/>
                    <a:p>
                      <a:pPr algn="ct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10-Aug-26</a:t>
                      </a:r>
                    </a:p>
                  </a:txBody>
                  <a:tcPr marL="9525" marR="9525" marT="9525" anchor="ctr">
                    <a:lnL>
                      <a:noFill/>
                    </a:lnL>
                    <a:lnR w="12700" cap="flat" cmpd="sng" algn="ctr">
                      <a:solidFill>
                        <a:schemeClr val="tx1"/>
                      </a:solidFill>
                      <a:prstDash val="solid"/>
                      <a:round/>
                      <a:headEnd type="none" w="med" len="med"/>
                      <a:tailEnd type="none" w="med" len="med"/>
                    </a:lnR>
                    <a:lnT>
                      <a:noFill/>
                    </a:lnT>
                    <a:lnB>
                      <a:noFill/>
                    </a:lnB>
                    <a:noFill/>
                  </a:tcPr>
                </a:tc>
                <a:extLst>
                  <a:ext uri="{0D108BD9-81ED-4DB2-BD59-A6C34878D82A}">
                    <a16:rowId xmlns:a16="http://schemas.microsoft.com/office/drawing/2014/main" val="1428937893"/>
                  </a:ext>
                </a:extLst>
              </a:tr>
              <a:tr h="271132">
                <a:tc>
                  <a:txBody>
                    <a:bodyPr/>
                    <a:lstStyle/>
                    <a:p>
                      <a:pPr rtl="0" fontAlgn="ctr">
                        <a:buNone/>
                      </a:pPr>
                      <a:r>
                        <a:rPr lang="en-US" sz="900" err="1">
                          <a:effectLst/>
                          <a:latin typeface="Raleway"/>
                        </a:rPr>
                        <a:t>Sulmalpa</a:t>
                      </a:r>
                      <a:r>
                        <a:rPr lang="en-US" sz="900">
                          <a:effectLst/>
                          <a:latin typeface="Raleway"/>
                        </a:rPr>
                        <a:t> </a:t>
                      </a:r>
                      <a:r>
                        <a:rPr lang="en-US" sz="900" err="1">
                          <a:effectLst/>
                          <a:latin typeface="Raleway"/>
                        </a:rPr>
                        <a:t>Balnus</a:t>
                      </a:r>
                    </a:p>
                  </a:txBody>
                  <a:tcPr marL="9525" marR="9525" marT="9525" anchor="ctr">
                    <a:lnL w="12700" cap="flat" cmpd="sng" algn="ctr">
                      <a:solidFill>
                        <a:schemeClr val="tx1"/>
                      </a:solidFill>
                      <a:prstDash val="solid"/>
                      <a:round/>
                      <a:headEnd type="none" w="med" len="med"/>
                      <a:tailEnd type="none" w="med" len="med"/>
                    </a:lnL>
                    <a:lnR>
                      <a:noFill/>
                    </a:lnR>
                    <a:lnT>
                      <a:noFill/>
                    </a:lnT>
                    <a:lnB>
                      <a:noFill/>
                    </a:lnB>
                    <a:noFill/>
                  </a:tcPr>
                </a:tc>
                <a:tc>
                  <a:txBody>
                    <a:bodyPr/>
                    <a:lstStyle/>
                    <a:p>
                      <a:pPr rtl="0" fontAlgn="ctr">
                        <a:buNone/>
                      </a:pPr>
                      <a:r>
                        <a:rPr lang="en-US" sz="900">
                          <a:effectLst/>
                          <a:latin typeface="Raleway"/>
                        </a:rPr>
                        <a:t>Kendari</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noFill/>
                  </a:tcPr>
                </a:tc>
                <a:tc>
                  <a:txBody>
                    <a:bodyPr/>
                    <a:lstStyle/>
                    <a:p>
                      <a:pPr rtl="0" fontAlgn="ctr">
                        <a:buNone/>
                      </a:pPr>
                      <a:r>
                        <a:rPr lang="en-US" sz="900" err="1">
                          <a:effectLst/>
                          <a:latin typeface="Raleway"/>
                        </a:rPr>
                        <a:t>Kenthansen</a:t>
                      </a:r>
                    </a:p>
                  </a:txBody>
                  <a:tcPr marL="9525" marR="9525" marT="9525" anchor="ctr">
                    <a:lnL>
                      <a:noFill/>
                    </a:lnL>
                    <a:lnR>
                      <a:noFill/>
                    </a:lnR>
                    <a:lnT>
                      <a:noFill/>
                    </a:lnT>
                    <a:lnB>
                      <a:noFill/>
                    </a:lnB>
                    <a:noFill/>
                  </a:tcPr>
                </a:tc>
                <a:tc>
                  <a:txBody>
                    <a:bodyPr/>
                    <a:lstStyle/>
                    <a:p>
                      <a:pPr algn="ct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10-Aug-26</a:t>
                      </a:r>
                    </a:p>
                  </a:txBody>
                  <a:tcPr marL="9525" marR="9525" marT="9525" anchor="ctr">
                    <a:lnL>
                      <a:noFill/>
                    </a:lnL>
                    <a:lnR w="12700" cap="flat" cmpd="sng" algn="ctr">
                      <a:solidFill>
                        <a:schemeClr val="tx1"/>
                      </a:solidFill>
                      <a:prstDash val="solid"/>
                      <a:round/>
                      <a:headEnd type="none" w="med" len="med"/>
                      <a:tailEnd type="none" w="med" len="med"/>
                    </a:lnR>
                    <a:lnT>
                      <a:noFill/>
                    </a:lnT>
                    <a:lnB>
                      <a:noFill/>
                    </a:lnB>
                    <a:noFill/>
                  </a:tcPr>
                </a:tc>
                <a:extLst>
                  <a:ext uri="{0D108BD9-81ED-4DB2-BD59-A6C34878D82A}">
                    <a16:rowId xmlns:a16="http://schemas.microsoft.com/office/drawing/2014/main" val="1048387063"/>
                  </a:ext>
                </a:extLst>
              </a:tr>
              <a:tr h="228322">
                <a:tc>
                  <a:txBody>
                    <a:bodyPr/>
                    <a:lstStyle/>
                    <a:p>
                      <a:pPr rtl="0" fontAlgn="ctr">
                        <a:buNone/>
                      </a:pPr>
                      <a:r>
                        <a:rPr lang="en-US" sz="900" err="1">
                          <a:effectLst/>
                          <a:latin typeface="Raleway"/>
                        </a:rPr>
                        <a:t>Sumbagsel</a:t>
                      </a:r>
                    </a:p>
                  </a:txBody>
                  <a:tcPr marL="9525" marR="9525" marT="9525" anchor="ctr">
                    <a:lnL w="12700" cap="flat" cmpd="sng" algn="ctr">
                      <a:solidFill>
                        <a:schemeClr val="tx1"/>
                      </a:solidFill>
                      <a:prstDash val="solid"/>
                      <a:round/>
                      <a:headEnd type="none" w="med" len="med"/>
                      <a:tailEnd type="none" w="med" len="med"/>
                    </a:lnL>
                    <a:lnR>
                      <a:noFill/>
                    </a:lnR>
                    <a:lnT>
                      <a:noFill/>
                    </a:lnT>
                    <a:lnB>
                      <a:noFill/>
                    </a:lnB>
                    <a:noFill/>
                  </a:tcPr>
                </a:tc>
                <a:tc>
                  <a:txBody>
                    <a:bodyPr/>
                    <a:lstStyle/>
                    <a:p>
                      <a:pPr rtl="0" fontAlgn="ctr">
                        <a:buNone/>
                      </a:pPr>
                      <a:r>
                        <a:rPr lang="en-US" sz="900">
                          <a:effectLst/>
                          <a:latin typeface="Raleway"/>
                        </a:rPr>
                        <a:t>Jambi</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Gracia</a:t>
                      </a:r>
                    </a:p>
                  </a:txBody>
                  <a:tcPr marL="9525" marR="9525" marT="9525" anchor="ctr">
                    <a:lnL>
                      <a:noFill/>
                    </a:lnL>
                    <a:lnR>
                      <a:noFill/>
                    </a:lnR>
                    <a:lnT>
                      <a:noFill/>
                    </a:lnT>
                    <a:lnB>
                      <a:noFill/>
                    </a:lnB>
                    <a:noFill/>
                  </a:tcPr>
                </a:tc>
                <a:tc>
                  <a:txBody>
                    <a:bodyPr/>
                    <a:lstStyle/>
                    <a:p>
                      <a:pPr algn="ct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10-Aug-26</a:t>
                      </a:r>
                    </a:p>
                  </a:txBody>
                  <a:tcPr marL="9525" marR="9525" marT="9525" anchor="ctr">
                    <a:lnL>
                      <a:noFill/>
                    </a:lnL>
                    <a:lnR w="12700" cap="flat" cmpd="sng" algn="ctr">
                      <a:solidFill>
                        <a:schemeClr val="tx1"/>
                      </a:solidFill>
                      <a:prstDash val="solid"/>
                      <a:round/>
                      <a:headEnd type="none" w="med" len="med"/>
                      <a:tailEnd type="none" w="med" len="med"/>
                    </a:lnR>
                    <a:lnT>
                      <a:noFill/>
                    </a:lnT>
                    <a:lnB>
                      <a:noFill/>
                    </a:lnB>
                    <a:noFill/>
                  </a:tcPr>
                </a:tc>
                <a:extLst>
                  <a:ext uri="{0D108BD9-81ED-4DB2-BD59-A6C34878D82A}">
                    <a16:rowId xmlns:a16="http://schemas.microsoft.com/office/drawing/2014/main" val="2495006574"/>
                  </a:ext>
                </a:extLst>
              </a:tr>
              <a:tr h="228322">
                <a:tc>
                  <a:txBody>
                    <a:bodyPr/>
                    <a:lstStyle/>
                    <a:p>
                      <a:pPr rtl="0" fontAlgn="ctr">
                        <a:buNone/>
                      </a:pPr>
                      <a:r>
                        <a:rPr lang="en-US" sz="900" err="1">
                          <a:effectLst/>
                          <a:latin typeface="Raleway"/>
                        </a:rPr>
                        <a:t>Sulmalpa</a:t>
                      </a:r>
                      <a:r>
                        <a:rPr lang="en-US" sz="900">
                          <a:effectLst/>
                          <a:latin typeface="Raleway"/>
                        </a:rPr>
                        <a:t> </a:t>
                      </a:r>
                      <a:r>
                        <a:rPr lang="en-US" sz="900" err="1">
                          <a:effectLst/>
                          <a:latin typeface="Raleway"/>
                        </a:rPr>
                        <a:t>Balnus</a:t>
                      </a:r>
                    </a:p>
                  </a:txBody>
                  <a:tcPr marL="9525" marR="9525" marT="9525" anchor="ctr">
                    <a:lnL w="12700" cap="flat" cmpd="sng" algn="ctr">
                      <a:solidFill>
                        <a:schemeClr val="tx1"/>
                      </a:solidFill>
                      <a:prstDash val="solid"/>
                      <a:round/>
                      <a:headEnd type="none" w="med" len="med"/>
                      <a:tailEnd type="none" w="med" len="med"/>
                    </a:lnL>
                    <a:lnR>
                      <a:noFill/>
                    </a:lnR>
                    <a:lnT>
                      <a:noFill/>
                    </a:lnT>
                    <a:lnB>
                      <a:noFill/>
                    </a:lnB>
                    <a:noFill/>
                  </a:tcPr>
                </a:tc>
                <a:tc>
                  <a:txBody>
                    <a:bodyPr/>
                    <a:lstStyle/>
                    <a:p>
                      <a:pPr rtl="0" fontAlgn="ctr">
                        <a:buNone/>
                      </a:pPr>
                      <a:r>
                        <a:rPr lang="en-US" sz="900">
                          <a:effectLst/>
                          <a:latin typeface="Raleway"/>
                        </a:rPr>
                        <a:t>Gorontalo</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Gracia</a:t>
                      </a:r>
                    </a:p>
                  </a:txBody>
                  <a:tcPr marL="9525" marR="9525" marT="9525" anchor="ctr">
                    <a:lnL>
                      <a:noFill/>
                    </a:lnL>
                    <a:lnR>
                      <a:noFill/>
                    </a:lnR>
                    <a:lnT>
                      <a:noFill/>
                    </a:lnT>
                    <a:lnB>
                      <a:noFill/>
                    </a:lnB>
                    <a:noFill/>
                  </a:tcPr>
                </a:tc>
                <a:tc>
                  <a:txBody>
                    <a:bodyPr/>
                    <a:lstStyle/>
                    <a:p>
                      <a:pPr algn="ct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10-Aug-26</a:t>
                      </a:r>
                    </a:p>
                  </a:txBody>
                  <a:tcPr marL="9525" marR="9525" marT="9525" anchor="ctr">
                    <a:lnL>
                      <a:noFill/>
                    </a:lnL>
                    <a:lnR w="12700" cap="flat" cmpd="sng" algn="ctr">
                      <a:solidFill>
                        <a:schemeClr val="tx1"/>
                      </a:solidFill>
                      <a:prstDash val="solid"/>
                      <a:round/>
                      <a:headEnd type="none" w="med" len="med"/>
                      <a:tailEnd type="none" w="med" len="med"/>
                    </a:lnR>
                    <a:lnT>
                      <a:noFill/>
                    </a:lnT>
                    <a:lnB>
                      <a:noFill/>
                    </a:lnB>
                    <a:noFill/>
                  </a:tcPr>
                </a:tc>
                <a:extLst>
                  <a:ext uri="{0D108BD9-81ED-4DB2-BD59-A6C34878D82A}">
                    <a16:rowId xmlns:a16="http://schemas.microsoft.com/office/drawing/2014/main" val="2410853657"/>
                  </a:ext>
                </a:extLst>
              </a:tr>
              <a:tr h="228322">
                <a:tc>
                  <a:txBody>
                    <a:bodyPr/>
                    <a:lstStyle/>
                    <a:p>
                      <a:pPr rtl="0" fontAlgn="ctr">
                        <a:buNone/>
                      </a:pPr>
                      <a:r>
                        <a:rPr lang="en-US" sz="900" err="1">
                          <a:effectLst/>
                          <a:latin typeface="Raleway"/>
                        </a:rPr>
                        <a:t>Sulmalpa</a:t>
                      </a:r>
                      <a:r>
                        <a:rPr lang="en-US" sz="900">
                          <a:effectLst/>
                          <a:latin typeface="Raleway"/>
                        </a:rPr>
                        <a:t> </a:t>
                      </a:r>
                      <a:r>
                        <a:rPr lang="en-US" sz="900" err="1">
                          <a:effectLst/>
                          <a:latin typeface="Raleway"/>
                        </a:rPr>
                        <a:t>Balnus</a:t>
                      </a:r>
                    </a:p>
                  </a:txBody>
                  <a:tcPr marL="9525" marR="9525" marT="9525" anchor="ctr">
                    <a:lnL w="12700" cap="flat" cmpd="sng" algn="ctr">
                      <a:solidFill>
                        <a:schemeClr val="tx1"/>
                      </a:solidFill>
                      <a:prstDash val="solid"/>
                      <a:round/>
                      <a:headEnd type="none" w="med" len="med"/>
                      <a:tailEnd type="none" w="med" len="med"/>
                    </a:lnL>
                    <a:lnR>
                      <a:noFill/>
                    </a:lnR>
                    <a:lnT>
                      <a:noFill/>
                    </a:lnT>
                    <a:lnB>
                      <a:noFill/>
                    </a:lnB>
                    <a:solidFill>
                      <a:srgbClr val="FFFFFF"/>
                    </a:solidFill>
                  </a:tcPr>
                </a:tc>
                <a:tc>
                  <a:txBody>
                    <a:bodyPr/>
                    <a:lstStyle/>
                    <a:p>
                      <a:pPr rtl="0" fontAlgn="ctr">
                        <a:buNone/>
                      </a:pPr>
                      <a:r>
                        <a:rPr lang="en-US" sz="900">
                          <a:effectLst/>
                          <a:latin typeface="Raleway"/>
                        </a:rPr>
                        <a:t>Bima</a:t>
                      </a: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FFFFFF"/>
                    </a:solidFill>
                  </a:tcPr>
                </a:tc>
                <a:tc>
                  <a:txBody>
                    <a:bodyPr/>
                    <a:lstStyle/>
                    <a:p>
                      <a:pPr rtl="0" fontAlgn="ctr">
                        <a:buNone/>
                      </a:pPr>
                      <a:r>
                        <a:rPr lang="en-US" sz="900" err="1">
                          <a:effectLst/>
                          <a:latin typeface="Raleway"/>
                        </a:rPr>
                        <a:t>Kenthansen</a:t>
                      </a:r>
                    </a:p>
                  </a:txBody>
                  <a:tcPr marL="9525" marR="9525" marT="9525" anchor="ctr">
                    <a:lnL>
                      <a:noFill/>
                    </a:lnL>
                    <a:lnR>
                      <a:noFill/>
                    </a:lnR>
                    <a:lnT>
                      <a:noFill/>
                    </a:lnT>
                    <a:lnB>
                      <a:noFill/>
                    </a:lnB>
                    <a:solidFill>
                      <a:srgbClr val="FFFFFF"/>
                    </a:solidFill>
                  </a:tcPr>
                </a:tc>
                <a:tc>
                  <a:txBody>
                    <a:bodyPr/>
                    <a:lstStyle/>
                    <a:p>
                      <a:pPr algn="ctr" rtl="0" fontAlgn="ctr">
                        <a:buNone/>
                      </a:pPr>
                      <a:r>
                        <a:rPr lang="en-US" sz="900">
                          <a:effectLst/>
                          <a:latin typeface="Raleway"/>
                        </a:rPr>
                        <a:t>Closed</a:t>
                      </a: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10-Aug-26</a:t>
                      </a:r>
                    </a:p>
                  </a:txBody>
                  <a:tcPr marL="9525" marR="9525" marT="9525" anchor="ctr">
                    <a:lnL>
                      <a:noFill/>
                    </a:lnL>
                    <a:lnR w="12700" cap="flat" cmpd="sng" algn="ctr">
                      <a:solidFill>
                        <a:schemeClr val="tx1"/>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1316101619"/>
                  </a:ext>
                </a:extLst>
              </a:tr>
              <a:tr h="228322">
                <a:tc>
                  <a:txBody>
                    <a:bodyPr/>
                    <a:lstStyle/>
                    <a:p>
                      <a:pPr rtl="0" fontAlgn="ctr">
                        <a:buNone/>
                      </a:pPr>
                      <a:r>
                        <a:rPr lang="en-US" sz="900" err="1">
                          <a:effectLst/>
                          <a:latin typeface="Raleway"/>
                        </a:rPr>
                        <a:t>Sumbagut</a:t>
                      </a:r>
                    </a:p>
                  </a:txBody>
                  <a:tcPr marL="9525" marR="9525" marT="9525" anchor="ctr">
                    <a:lnL w="12700" cap="flat" cmpd="sng" algn="ctr">
                      <a:solidFill>
                        <a:schemeClr val="tx1"/>
                      </a:solidFill>
                      <a:prstDash val="solid"/>
                      <a:round/>
                      <a:headEnd type="none" w="med" len="med"/>
                      <a:tailEnd type="none" w="med" len="med"/>
                    </a:lnL>
                    <a:lnR>
                      <a:noFill/>
                    </a:lnR>
                    <a:lnT>
                      <a:noFill/>
                    </a:lnT>
                    <a:lnB>
                      <a:noFill/>
                    </a:lnB>
                    <a:noFill/>
                  </a:tcPr>
                </a:tc>
                <a:tc>
                  <a:txBody>
                    <a:bodyPr/>
                    <a:lstStyle/>
                    <a:p>
                      <a:pPr rtl="0" fontAlgn="ctr">
                        <a:buNone/>
                      </a:pPr>
                      <a:r>
                        <a:rPr lang="en-US" sz="900">
                          <a:effectLst/>
                          <a:latin typeface="Raleway"/>
                        </a:rPr>
                        <a:t>Langsa</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Zwei</a:t>
                      </a:r>
                    </a:p>
                  </a:txBody>
                  <a:tcPr marL="9525" marR="9525" marT="9525" anchor="ctr">
                    <a:lnL>
                      <a:noFill/>
                    </a:lnL>
                    <a:lnR>
                      <a:noFill/>
                    </a:lnR>
                    <a:lnT>
                      <a:noFill/>
                    </a:lnT>
                    <a:lnB>
                      <a:noFill/>
                    </a:lnB>
                    <a:noFill/>
                  </a:tcPr>
                </a:tc>
                <a:tc>
                  <a:txBody>
                    <a:bodyPr/>
                    <a:lstStyle/>
                    <a:p>
                      <a:pPr algn="ct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10-Aug-26</a:t>
                      </a:r>
                    </a:p>
                  </a:txBody>
                  <a:tcPr marL="9525" marR="9525" marT="9525" anchor="ctr">
                    <a:lnL>
                      <a:noFill/>
                    </a:lnL>
                    <a:lnR w="12700" cap="flat" cmpd="sng" algn="ctr">
                      <a:solidFill>
                        <a:schemeClr val="tx1"/>
                      </a:solidFill>
                      <a:prstDash val="solid"/>
                      <a:round/>
                      <a:headEnd type="none" w="med" len="med"/>
                      <a:tailEnd type="none" w="med" len="med"/>
                    </a:lnR>
                    <a:lnT>
                      <a:noFill/>
                    </a:lnT>
                    <a:lnB>
                      <a:noFill/>
                    </a:lnB>
                    <a:noFill/>
                  </a:tcPr>
                </a:tc>
                <a:extLst>
                  <a:ext uri="{0D108BD9-81ED-4DB2-BD59-A6C34878D82A}">
                    <a16:rowId xmlns:a16="http://schemas.microsoft.com/office/drawing/2014/main" val="1181889605"/>
                  </a:ext>
                </a:extLst>
              </a:tr>
              <a:tr h="228322">
                <a:tc>
                  <a:txBody>
                    <a:bodyPr/>
                    <a:lstStyle/>
                    <a:p>
                      <a:pPr rtl="0" fontAlgn="ctr">
                        <a:buNone/>
                      </a:pPr>
                      <a:r>
                        <a:rPr lang="en-US" sz="900" err="1">
                          <a:effectLst/>
                          <a:latin typeface="Raleway"/>
                        </a:rPr>
                        <a:t>Sumbagut</a:t>
                      </a:r>
                    </a:p>
                  </a:txBody>
                  <a:tcPr marL="9525" marR="9525" marT="9525" anchor="ctr">
                    <a:lnL w="12700" cap="flat" cmpd="sng" algn="ctr">
                      <a:solidFill>
                        <a:schemeClr val="tx1"/>
                      </a:solidFill>
                      <a:prstDash val="solid"/>
                      <a:round/>
                      <a:headEnd type="none" w="med" len="med"/>
                      <a:tailEnd type="none" w="med" len="med"/>
                    </a:lnL>
                    <a:lnR>
                      <a:noFill/>
                    </a:lnR>
                    <a:lnT>
                      <a:noFill/>
                    </a:lnT>
                    <a:lnB>
                      <a:noFill/>
                    </a:lnB>
                    <a:noFill/>
                  </a:tcPr>
                </a:tc>
                <a:tc>
                  <a:txBody>
                    <a:bodyPr/>
                    <a:lstStyle/>
                    <a:p>
                      <a:pPr rtl="0" fontAlgn="ctr">
                        <a:buNone/>
                      </a:pPr>
                      <a:r>
                        <a:rPr lang="en-US" sz="900" err="1">
                          <a:effectLst/>
                          <a:latin typeface="Raleway"/>
                        </a:rPr>
                        <a:t>Dumai</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Zwei</a:t>
                      </a:r>
                    </a:p>
                  </a:txBody>
                  <a:tcPr marL="9525" marR="9525" marT="9525" anchor="ctr">
                    <a:lnL>
                      <a:noFill/>
                    </a:lnL>
                    <a:lnR>
                      <a:noFill/>
                    </a:lnR>
                    <a:lnT>
                      <a:noFill/>
                    </a:lnT>
                    <a:lnB>
                      <a:noFill/>
                    </a:lnB>
                    <a:noFill/>
                  </a:tcPr>
                </a:tc>
                <a:tc>
                  <a:txBody>
                    <a:bodyPr/>
                    <a:lstStyle/>
                    <a:p>
                      <a:pPr algn="ctr" fontAlgn="b">
                        <a:buNone/>
                      </a:pPr>
                      <a:r>
                        <a:rPr lang="en-US" sz="900">
                          <a:effectLst/>
                          <a:latin typeface="Raleway"/>
                        </a:rPr>
                        <a:t>Closed</a:t>
                      </a:r>
                    </a:p>
                  </a:txBody>
                  <a:tcPr marL="9525" marR="9525" marT="9525" anchor="b">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10-Aug-26</a:t>
                      </a:r>
                    </a:p>
                  </a:txBody>
                  <a:tcPr marL="9525" marR="9525" marT="9525" anchor="ctr">
                    <a:lnL>
                      <a:noFill/>
                    </a:lnL>
                    <a:lnR w="12700" cap="flat" cmpd="sng" algn="ctr">
                      <a:solidFill>
                        <a:schemeClr val="tx1"/>
                      </a:solidFill>
                      <a:prstDash val="solid"/>
                      <a:round/>
                      <a:headEnd type="none" w="med" len="med"/>
                      <a:tailEnd type="none" w="med" len="med"/>
                    </a:lnR>
                    <a:lnT>
                      <a:noFill/>
                    </a:lnT>
                    <a:lnB>
                      <a:noFill/>
                    </a:lnB>
                    <a:noFill/>
                  </a:tcPr>
                </a:tc>
                <a:extLst>
                  <a:ext uri="{0D108BD9-81ED-4DB2-BD59-A6C34878D82A}">
                    <a16:rowId xmlns:a16="http://schemas.microsoft.com/office/drawing/2014/main" val="4007975326"/>
                  </a:ext>
                </a:extLst>
              </a:tr>
              <a:tr h="228322">
                <a:tc>
                  <a:txBody>
                    <a:bodyPr/>
                    <a:lstStyle/>
                    <a:p>
                      <a:pPr rtl="0" fontAlgn="ctr">
                        <a:buNone/>
                      </a:pPr>
                      <a:r>
                        <a:rPr lang="en-US" sz="900" err="1">
                          <a:effectLst/>
                          <a:latin typeface="Raleway"/>
                        </a:rPr>
                        <a:t>Sumbagsel</a:t>
                      </a:r>
                    </a:p>
                  </a:txBody>
                  <a:tcPr marL="9525" marR="9525" marT="9525" anchor="ctr">
                    <a:lnL w="12700" cap="flat" cmpd="sng" algn="ctr">
                      <a:solidFill>
                        <a:schemeClr val="tx1"/>
                      </a:solidFill>
                      <a:prstDash val="solid"/>
                      <a:round/>
                      <a:headEnd type="none" w="med" len="med"/>
                      <a:tailEnd type="none" w="med" len="med"/>
                    </a:lnL>
                    <a:lnR>
                      <a:noFill/>
                    </a:lnR>
                    <a:lnT>
                      <a:noFill/>
                    </a:lnT>
                    <a:lnB>
                      <a:noFill/>
                    </a:lnB>
                    <a:noFill/>
                  </a:tcPr>
                </a:tc>
                <a:tc>
                  <a:txBody>
                    <a:bodyPr/>
                    <a:lstStyle/>
                    <a:p>
                      <a:pPr rtl="0" fontAlgn="ctr">
                        <a:buNone/>
                      </a:pPr>
                      <a:r>
                        <a:rPr lang="en-US" sz="900" err="1">
                          <a:effectLst/>
                          <a:latin typeface="Raleway"/>
                        </a:rPr>
                        <a:t>Lubuk</a:t>
                      </a:r>
                      <a:r>
                        <a:rPr lang="en-US" sz="900">
                          <a:effectLst/>
                          <a:latin typeface="Raleway"/>
                        </a:rPr>
                        <a:t> </a:t>
                      </a:r>
                      <a:r>
                        <a:rPr lang="en-US" sz="900" err="1">
                          <a:effectLst/>
                          <a:latin typeface="Raleway"/>
                        </a:rPr>
                        <a:t>Linggau</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Zwei</a:t>
                      </a:r>
                    </a:p>
                  </a:txBody>
                  <a:tcPr marL="9525" marR="9525" marT="9525" anchor="ctr">
                    <a:lnL>
                      <a:noFill/>
                    </a:lnL>
                    <a:lnR>
                      <a:noFill/>
                    </a:lnR>
                    <a:lnT>
                      <a:noFill/>
                    </a:lnT>
                    <a:lnB>
                      <a:noFill/>
                    </a:lnB>
                    <a:noFill/>
                  </a:tcPr>
                </a:tc>
                <a:tc>
                  <a:txBody>
                    <a:bodyPr/>
                    <a:lstStyle/>
                    <a:p>
                      <a:pPr algn="ct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10-Aug-26</a:t>
                      </a:r>
                    </a:p>
                  </a:txBody>
                  <a:tcPr marL="9525" marR="9525" marT="9525" anchor="ctr">
                    <a:lnL>
                      <a:noFill/>
                    </a:lnL>
                    <a:lnR w="12700" cap="flat" cmpd="sng" algn="ctr">
                      <a:solidFill>
                        <a:schemeClr val="tx1"/>
                      </a:solidFill>
                      <a:prstDash val="solid"/>
                      <a:round/>
                      <a:headEnd type="none" w="med" len="med"/>
                      <a:tailEnd type="none" w="med" len="med"/>
                    </a:lnR>
                    <a:lnT>
                      <a:noFill/>
                    </a:lnT>
                    <a:lnB>
                      <a:noFill/>
                    </a:lnB>
                    <a:noFill/>
                  </a:tcPr>
                </a:tc>
                <a:extLst>
                  <a:ext uri="{0D108BD9-81ED-4DB2-BD59-A6C34878D82A}">
                    <a16:rowId xmlns:a16="http://schemas.microsoft.com/office/drawing/2014/main" val="3070751105"/>
                  </a:ext>
                </a:extLst>
              </a:tr>
              <a:tr h="228322">
                <a:tc>
                  <a:txBody>
                    <a:bodyPr/>
                    <a:lstStyle/>
                    <a:p>
                      <a:pPr rtl="0" fontAlgn="ctr">
                        <a:buNone/>
                      </a:pPr>
                      <a:r>
                        <a:rPr lang="en-US" sz="900">
                          <a:effectLst/>
                          <a:latin typeface="Raleway"/>
                        </a:rPr>
                        <a:t>Kalimantan</a:t>
                      </a:r>
                    </a:p>
                  </a:txBody>
                  <a:tcPr marL="9525" marR="9525" marT="9525" anchor="ctr">
                    <a:lnL w="12700" cap="flat" cmpd="sng" algn="ctr">
                      <a:solidFill>
                        <a:schemeClr val="tx1"/>
                      </a:solidFill>
                      <a:prstDash val="solid"/>
                      <a:round/>
                      <a:headEnd type="none" w="med" len="med"/>
                      <a:tailEnd type="none" w="med" len="med"/>
                    </a:lnL>
                    <a:lnR>
                      <a:noFill/>
                    </a:lnR>
                    <a:lnT>
                      <a:noFill/>
                    </a:lnT>
                    <a:lnB>
                      <a:noFill/>
                    </a:lnB>
                    <a:noFill/>
                  </a:tcPr>
                </a:tc>
                <a:tc>
                  <a:txBody>
                    <a:bodyPr/>
                    <a:lstStyle/>
                    <a:p>
                      <a:pPr rtl="0" fontAlgn="ctr">
                        <a:buNone/>
                      </a:pPr>
                      <a:r>
                        <a:rPr lang="en-US" sz="900" err="1">
                          <a:effectLst/>
                          <a:latin typeface="Raleway"/>
                        </a:rPr>
                        <a:t>Sampit</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rtl="0" fontAlgn="ctr">
                        <a:buNone/>
                      </a:pPr>
                      <a:r>
                        <a:rPr lang="en-US" sz="900" err="1">
                          <a:effectLst/>
                          <a:latin typeface="Raleway"/>
                        </a:rPr>
                        <a:t>Kenthansen</a:t>
                      </a:r>
                    </a:p>
                  </a:txBody>
                  <a:tcPr marL="9525" marR="9525" marT="9525" anchor="ctr">
                    <a:lnL>
                      <a:noFill/>
                    </a:lnL>
                    <a:lnR>
                      <a:noFill/>
                    </a:lnR>
                    <a:lnT>
                      <a:noFill/>
                    </a:lnT>
                    <a:lnB>
                      <a:noFill/>
                    </a:lnB>
                    <a:noFill/>
                  </a:tcPr>
                </a:tc>
                <a:tc>
                  <a:txBody>
                    <a:bodyPr/>
                    <a:lstStyle/>
                    <a:p>
                      <a:pPr algn="ctr" rtl="0" fontAlgn="ctr">
                        <a:buNone/>
                      </a:pPr>
                      <a:r>
                        <a:rPr lang="en-US" sz="900">
                          <a:effectLst/>
                          <a:latin typeface="Raleway"/>
                        </a:rPr>
                        <a:t>Cancel</a:t>
                      </a:r>
                    </a:p>
                  </a:txBody>
                  <a:tcPr marL="9525" marR="9525" marT="9525" anchor="ctr">
                    <a:lnL>
                      <a:noFill/>
                    </a:lnL>
                    <a:lnR>
                      <a:noFill/>
                    </a:lnR>
                    <a:lnT>
                      <a:noFill/>
                    </a:lnT>
                    <a:lnB>
                      <a:noFill/>
                    </a:lnB>
                    <a:solidFill>
                      <a:srgbClr val="F2CEEF"/>
                    </a:solid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10-Aug-26</a:t>
                      </a:r>
                    </a:p>
                  </a:txBody>
                  <a:tcPr marL="9525" marR="9525" marT="9525" anchor="ctr">
                    <a:lnL>
                      <a:noFill/>
                    </a:lnL>
                    <a:lnR w="12700" cap="flat" cmpd="sng" algn="ctr">
                      <a:solidFill>
                        <a:schemeClr val="tx1"/>
                      </a:solidFill>
                      <a:prstDash val="solid"/>
                      <a:round/>
                      <a:headEnd type="none" w="med" len="med"/>
                      <a:tailEnd type="none" w="med" len="med"/>
                    </a:lnR>
                    <a:lnT>
                      <a:noFill/>
                    </a:lnT>
                    <a:lnB>
                      <a:noFill/>
                    </a:lnB>
                    <a:noFill/>
                  </a:tcPr>
                </a:tc>
                <a:extLst>
                  <a:ext uri="{0D108BD9-81ED-4DB2-BD59-A6C34878D82A}">
                    <a16:rowId xmlns:a16="http://schemas.microsoft.com/office/drawing/2014/main" val="2616766774"/>
                  </a:ext>
                </a:extLst>
              </a:tr>
              <a:tr h="228322">
                <a:tc>
                  <a:txBody>
                    <a:bodyPr/>
                    <a:lstStyle/>
                    <a:p>
                      <a:pPr rtl="0" fontAlgn="ctr">
                        <a:buNone/>
                      </a:pPr>
                      <a:r>
                        <a:rPr lang="en-US" sz="900">
                          <a:effectLst/>
                          <a:latin typeface="Raleway"/>
                        </a:rPr>
                        <a:t>Kalimantan</a:t>
                      </a:r>
                    </a:p>
                  </a:txBody>
                  <a:tcPr marL="9525" marR="9525" marT="9525" anchor="ctr">
                    <a:lnL w="12700" cap="flat" cmpd="sng" algn="ctr">
                      <a:solidFill>
                        <a:schemeClr val="tx1"/>
                      </a:solidFill>
                      <a:prstDash val="solid"/>
                      <a:round/>
                      <a:headEnd type="none" w="med" len="med"/>
                      <a:tailEnd type="none" w="med" len="med"/>
                    </a:lnL>
                    <a:lnR>
                      <a:noFill/>
                    </a:lnR>
                    <a:lnT>
                      <a:noFill/>
                    </a:lnT>
                    <a:lnB>
                      <a:noFill/>
                    </a:lnB>
                    <a:solidFill>
                      <a:srgbClr val="CAEDFB"/>
                    </a:solidFill>
                  </a:tcPr>
                </a:tc>
                <a:tc>
                  <a:txBody>
                    <a:bodyPr/>
                    <a:lstStyle/>
                    <a:p>
                      <a:pPr rtl="0" fontAlgn="ctr">
                        <a:buNone/>
                      </a:pPr>
                      <a:r>
                        <a:rPr lang="en-US" sz="900">
                          <a:effectLst/>
                          <a:latin typeface="Raleway"/>
                        </a:rPr>
                        <a:t>Tanjung</a:t>
                      </a:r>
                    </a:p>
                  </a:txBody>
                  <a:tcPr marL="9525" marR="9525" marT="9525" anchor="ctr">
                    <a:lnL>
                      <a:noFill/>
                    </a:lnL>
                    <a:lnR>
                      <a:noFill/>
                    </a:lnR>
                    <a:lnT>
                      <a:noFill/>
                    </a:lnT>
                    <a:lnB>
                      <a:noFill/>
                    </a:lnB>
                    <a:solidFill>
                      <a:srgbClr val="CAEDFB"/>
                    </a:solid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solidFill>
                      <a:srgbClr val="CAEDFB"/>
                    </a:solidFill>
                  </a:tcPr>
                </a:tc>
                <a:tc>
                  <a:txBody>
                    <a:bodyPr/>
                    <a:lstStyle/>
                    <a:p>
                      <a:pPr rtl="0" fontAlgn="ctr">
                        <a:buNone/>
                      </a:pPr>
                      <a:r>
                        <a:rPr lang="en-US" sz="900" err="1">
                          <a:effectLst/>
                          <a:latin typeface="Raleway"/>
                        </a:rPr>
                        <a:t>Kenthansen</a:t>
                      </a:r>
                    </a:p>
                  </a:txBody>
                  <a:tcPr marL="9525" marR="9525" marT="9525" anchor="ctr">
                    <a:lnL>
                      <a:noFill/>
                    </a:lnL>
                    <a:lnR>
                      <a:noFill/>
                    </a:lnR>
                    <a:lnT>
                      <a:noFill/>
                    </a:lnT>
                    <a:lnB>
                      <a:noFill/>
                    </a:lnB>
                    <a:solidFill>
                      <a:srgbClr val="CAEDFB"/>
                    </a:solidFill>
                  </a:tcPr>
                </a:tc>
                <a:tc>
                  <a:txBody>
                    <a:bodyPr/>
                    <a:lstStyle/>
                    <a:p>
                      <a:pPr algn="ctr" rtl="0" fontAlgn="ctr">
                        <a:buNone/>
                      </a:pPr>
                      <a:r>
                        <a:rPr lang="en-US" sz="900">
                          <a:effectLst/>
                          <a:latin typeface="Raleway"/>
                        </a:rPr>
                        <a:t>Closed 1</a:t>
                      </a:r>
                    </a:p>
                  </a:txBody>
                  <a:tcPr marL="9525" marR="9525" marT="9525" anchor="ctr">
                    <a:lnL>
                      <a:noFill/>
                    </a:lnL>
                    <a:lnR>
                      <a:noFill/>
                    </a:lnR>
                    <a:lnT>
                      <a:noFill/>
                    </a:lnT>
                    <a:lnB>
                      <a:noFill/>
                    </a:lnB>
                    <a:solidFill>
                      <a:srgbClr val="CAEDFB"/>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AEDFB"/>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AEDFB"/>
                    </a:solidFill>
                  </a:tcPr>
                </a:tc>
                <a:tc>
                  <a:txBody>
                    <a:bodyPr/>
                    <a:lstStyle/>
                    <a:p>
                      <a:pPr algn="ctr" fontAlgn="ctr">
                        <a:buNone/>
                      </a:pPr>
                      <a:r>
                        <a:rPr lang="en-US" sz="900">
                          <a:effectLst/>
                          <a:latin typeface="Raleway"/>
                        </a:rPr>
                        <a:t>10-Aug-26</a:t>
                      </a:r>
                    </a:p>
                  </a:txBody>
                  <a:tcPr marL="9525" marR="9525" marT="9525" anchor="ctr">
                    <a:lnL>
                      <a:noFill/>
                    </a:lnL>
                    <a:lnR w="12700" cap="flat" cmpd="sng" algn="ctr">
                      <a:solidFill>
                        <a:schemeClr val="tx1"/>
                      </a:solidFill>
                      <a:prstDash val="solid"/>
                      <a:round/>
                      <a:headEnd type="none" w="med" len="med"/>
                      <a:tailEnd type="none" w="med" len="med"/>
                    </a:lnR>
                    <a:lnT>
                      <a:noFill/>
                    </a:lnT>
                    <a:lnB>
                      <a:noFill/>
                    </a:lnB>
                    <a:solidFill>
                      <a:srgbClr val="CAEDFB"/>
                    </a:solidFill>
                  </a:tcPr>
                </a:tc>
                <a:extLst>
                  <a:ext uri="{0D108BD9-81ED-4DB2-BD59-A6C34878D82A}">
                    <a16:rowId xmlns:a16="http://schemas.microsoft.com/office/drawing/2014/main" val="990390176"/>
                  </a:ext>
                </a:extLst>
              </a:tr>
              <a:tr h="228322">
                <a:tc>
                  <a:txBody>
                    <a:bodyPr/>
                    <a:lstStyle/>
                    <a:p>
                      <a:pPr rtl="0" fontAlgn="ctr">
                        <a:buNone/>
                      </a:pPr>
                      <a:r>
                        <a:rPr lang="en-US" sz="900" err="1">
                          <a:effectLst/>
                          <a:latin typeface="Raleway"/>
                        </a:rPr>
                        <a:t>Sulmalpa</a:t>
                      </a:r>
                      <a:r>
                        <a:rPr lang="en-US" sz="900">
                          <a:effectLst/>
                          <a:latin typeface="Raleway"/>
                        </a:rPr>
                        <a:t> </a:t>
                      </a:r>
                      <a:r>
                        <a:rPr lang="en-US" sz="900" err="1">
                          <a:effectLst/>
                          <a:latin typeface="Raleway"/>
                        </a:rPr>
                        <a:t>Balnus</a:t>
                      </a:r>
                    </a:p>
                  </a:txBody>
                  <a:tcPr marL="9525" marR="9525" marT="9525" anchor="ctr">
                    <a:lnL w="12700" cap="flat" cmpd="sng" algn="ctr">
                      <a:solidFill>
                        <a:schemeClr val="tx1"/>
                      </a:solidFill>
                      <a:prstDash val="solid"/>
                      <a:round/>
                      <a:headEnd type="none" w="med" len="med"/>
                      <a:tailEnd type="none" w="med" len="med"/>
                    </a:lnL>
                    <a:lnR>
                      <a:noFill/>
                    </a:lnR>
                    <a:lnT>
                      <a:noFill/>
                    </a:lnT>
                    <a:lnB>
                      <a:noFill/>
                    </a:lnB>
                    <a:solidFill>
                      <a:srgbClr val="C0E6F5"/>
                    </a:solidFill>
                  </a:tcPr>
                </a:tc>
                <a:tc>
                  <a:txBody>
                    <a:bodyPr/>
                    <a:lstStyle/>
                    <a:p>
                      <a:pPr rtl="0" fontAlgn="ctr">
                        <a:buNone/>
                      </a:pPr>
                      <a:r>
                        <a:rPr lang="en-US" sz="900" err="1">
                          <a:effectLst/>
                          <a:latin typeface="Raleway"/>
                        </a:rPr>
                        <a:t>Palopo</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0E6F5"/>
                    </a:solidFill>
                  </a:tcPr>
                </a:tc>
                <a:tc>
                  <a:txBody>
                    <a:bodyPr/>
                    <a:lstStyle/>
                    <a:p>
                      <a:pPr rtl="0" fontAlgn="ctr">
                        <a:buNone/>
                      </a:pPr>
                      <a:r>
                        <a:rPr lang="en-US" sz="900">
                          <a:effectLst/>
                          <a:latin typeface="Raleway"/>
                        </a:rPr>
                        <a:t>Gracia</a:t>
                      </a:r>
                    </a:p>
                  </a:txBody>
                  <a:tcPr marL="9525" marR="9525" marT="9525" anchor="ctr">
                    <a:lnL>
                      <a:noFill/>
                    </a:lnL>
                    <a:lnR>
                      <a:noFill/>
                    </a:lnR>
                    <a:lnT>
                      <a:noFill/>
                    </a:lnT>
                    <a:lnB>
                      <a:noFill/>
                    </a:lnB>
                    <a:solidFill>
                      <a:srgbClr val="C0E6F5"/>
                    </a:solidFill>
                  </a:tcPr>
                </a:tc>
                <a:tc>
                  <a:txBody>
                    <a:bodyPr/>
                    <a:lstStyle/>
                    <a:p>
                      <a:pPr algn="ctr" rtl="0" fontAlgn="ctr">
                        <a:buNone/>
                      </a:pPr>
                      <a:r>
                        <a:rPr lang="en-US" sz="900">
                          <a:effectLst/>
                          <a:latin typeface="Raleway"/>
                        </a:rPr>
                        <a:t>Cancel 1</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10-Aug-26</a:t>
                      </a:r>
                    </a:p>
                  </a:txBody>
                  <a:tcPr marL="9525" marR="9525" marT="9525" anchor="ctr">
                    <a:lnL>
                      <a:noFill/>
                    </a:lnL>
                    <a:lnR w="12700" cap="flat" cmpd="sng" algn="ctr">
                      <a:solidFill>
                        <a:schemeClr val="tx1"/>
                      </a:solidFill>
                      <a:prstDash val="solid"/>
                      <a:round/>
                      <a:headEnd type="none" w="med" len="med"/>
                      <a:tailEnd type="none" w="med" len="med"/>
                    </a:lnR>
                    <a:lnT>
                      <a:noFill/>
                    </a:lnT>
                    <a:lnB>
                      <a:noFill/>
                    </a:lnB>
                    <a:solidFill>
                      <a:srgbClr val="C0E6F5"/>
                    </a:solidFill>
                  </a:tcPr>
                </a:tc>
                <a:extLst>
                  <a:ext uri="{0D108BD9-81ED-4DB2-BD59-A6C34878D82A}">
                    <a16:rowId xmlns:a16="http://schemas.microsoft.com/office/drawing/2014/main" val="3626599176"/>
                  </a:ext>
                </a:extLst>
              </a:tr>
              <a:tr h="228322">
                <a:tc>
                  <a:txBody>
                    <a:bodyPr/>
                    <a:lstStyle/>
                    <a:p>
                      <a:pPr rtl="0" fontAlgn="ctr">
                        <a:buNone/>
                      </a:pPr>
                      <a:r>
                        <a:rPr lang="en-US" sz="900" err="1">
                          <a:effectLst/>
                          <a:latin typeface="Raleway"/>
                        </a:rPr>
                        <a:t>Sulmalpa</a:t>
                      </a:r>
                      <a:r>
                        <a:rPr lang="en-US" sz="900">
                          <a:effectLst/>
                          <a:latin typeface="Raleway"/>
                        </a:rPr>
                        <a:t> </a:t>
                      </a:r>
                      <a:r>
                        <a:rPr lang="en-US" sz="900" err="1">
                          <a:effectLst/>
                          <a:latin typeface="Raleway"/>
                        </a:rPr>
                        <a:t>Balnus</a:t>
                      </a:r>
                    </a:p>
                  </a:txBody>
                  <a:tcPr marL="9525" marR="9525" marT="9525" anchor="ctr">
                    <a:lnL w="12700" cap="flat" cmpd="sng" algn="ctr">
                      <a:solidFill>
                        <a:schemeClr val="tx1"/>
                      </a:solidFill>
                      <a:prstDash val="solid"/>
                      <a:round/>
                      <a:headEnd type="none" w="med" len="med"/>
                      <a:tailEnd type="none" w="med" len="med"/>
                    </a:lnL>
                    <a:lnR>
                      <a:noFill/>
                    </a:lnR>
                    <a:lnT>
                      <a:noFill/>
                    </a:lnT>
                    <a:lnB>
                      <a:noFill/>
                    </a:lnB>
                    <a:noFill/>
                  </a:tcPr>
                </a:tc>
                <a:tc>
                  <a:txBody>
                    <a:bodyPr/>
                    <a:lstStyle/>
                    <a:p>
                      <a:pPr rtl="0" fontAlgn="ctr">
                        <a:buNone/>
                      </a:pPr>
                      <a:r>
                        <a:rPr lang="en-US" sz="900" err="1">
                          <a:effectLst/>
                          <a:latin typeface="Raleway"/>
                        </a:rPr>
                        <a:t>Kolaka</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Gracia</a:t>
                      </a:r>
                    </a:p>
                  </a:txBody>
                  <a:tcPr marL="9525" marR="9525" marT="9525" anchor="ctr">
                    <a:lnL>
                      <a:noFill/>
                    </a:lnL>
                    <a:lnR>
                      <a:noFill/>
                    </a:lnR>
                    <a:lnT>
                      <a:noFill/>
                    </a:lnT>
                    <a:lnB>
                      <a:noFill/>
                    </a:lnB>
                    <a:noFill/>
                  </a:tcPr>
                </a:tc>
                <a:tc>
                  <a:txBody>
                    <a:bodyPr/>
                    <a:lstStyle/>
                    <a:p>
                      <a:pPr algn="ct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10-Aug-26</a:t>
                      </a:r>
                    </a:p>
                  </a:txBody>
                  <a:tcPr marL="9525" marR="9525" marT="9525" anchor="ctr">
                    <a:lnL>
                      <a:noFill/>
                    </a:lnL>
                    <a:lnR w="12700" cap="flat" cmpd="sng" algn="ctr">
                      <a:solidFill>
                        <a:schemeClr val="tx1"/>
                      </a:solidFill>
                      <a:prstDash val="solid"/>
                      <a:round/>
                      <a:headEnd type="none" w="med" len="med"/>
                      <a:tailEnd type="none" w="med" len="med"/>
                    </a:lnR>
                    <a:lnT>
                      <a:noFill/>
                    </a:lnT>
                    <a:lnB>
                      <a:noFill/>
                    </a:lnB>
                    <a:noFill/>
                  </a:tcPr>
                </a:tc>
                <a:extLst>
                  <a:ext uri="{0D108BD9-81ED-4DB2-BD59-A6C34878D82A}">
                    <a16:rowId xmlns:a16="http://schemas.microsoft.com/office/drawing/2014/main" val="944110390"/>
                  </a:ext>
                </a:extLst>
              </a:tr>
              <a:tr h="228322">
                <a:tc>
                  <a:txBody>
                    <a:bodyPr/>
                    <a:lstStyle/>
                    <a:p>
                      <a:pPr rtl="0" fontAlgn="ctr">
                        <a:buNone/>
                      </a:pPr>
                      <a:r>
                        <a:rPr lang="en-US" sz="900" err="1">
                          <a:effectLst/>
                          <a:latin typeface="Raleway"/>
                        </a:rPr>
                        <a:t>Sulmalpa</a:t>
                      </a:r>
                      <a:r>
                        <a:rPr lang="en-US" sz="900">
                          <a:effectLst/>
                          <a:latin typeface="Raleway"/>
                        </a:rPr>
                        <a:t> </a:t>
                      </a:r>
                      <a:r>
                        <a:rPr lang="en-US" sz="900" err="1">
                          <a:effectLst/>
                          <a:latin typeface="Raleway"/>
                        </a:rPr>
                        <a:t>Balnus</a:t>
                      </a:r>
                    </a:p>
                  </a:txBody>
                  <a:tcPr marL="9525" marR="9525" marT="9525" anchor="ctr">
                    <a:lnL w="12700" cap="flat" cmpd="sng" algn="ctr">
                      <a:solidFill>
                        <a:schemeClr val="tx1"/>
                      </a:solidFill>
                      <a:prstDash val="solid"/>
                      <a:round/>
                      <a:headEnd type="none" w="med" len="med"/>
                      <a:tailEnd type="none" w="med" len="med"/>
                    </a:lnL>
                    <a:lnR>
                      <a:noFill/>
                    </a:lnR>
                    <a:lnT>
                      <a:noFill/>
                    </a:lnT>
                    <a:lnB>
                      <a:noFill/>
                    </a:lnB>
                    <a:noFill/>
                  </a:tcPr>
                </a:tc>
                <a:tc>
                  <a:txBody>
                    <a:bodyPr/>
                    <a:lstStyle/>
                    <a:p>
                      <a:pPr rtl="0" fontAlgn="ctr">
                        <a:buNone/>
                      </a:pPr>
                      <a:r>
                        <a:rPr lang="en-US" sz="900">
                          <a:effectLst/>
                          <a:latin typeface="Raleway"/>
                        </a:rPr>
                        <a:t>Palu</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rtl="0" fontAlgn="ctr">
                        <a:buNone/>
                      </a:pPr>
                      <a:endParaRPr lang="en-US" sz="900">
                        <a:effectLst/>
                        <a:latin typeface="Raleway"/>
                      </a:endParaRPr>
                    </a:p>
                  </a:txBody>
                  <a:tcPr marL="9525" marR="9525" marT="9525" anchor="ctr">
                    <a:lnL>
                      <a:noFill/>
                    </a:lnL>
                    <a:lnR>
                      <a:noFill/>
                    </a:lnR>
                    <a:lnT>
                      <a:noFill/>
                    </a:lnT>
                    <a:lnB>
                      <a:noFill/>
                    </a:lnB>
                    <a:noFill/>
                  </a:tcPr>
                </a:tc>
                <a:tc>
                  <a:txBody>
                    <a:bodyPr/>
                    <a:lstStyle/>
                    <a:p>
                      <a:pPr algn="ct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10-Aug-26</a:t>
                      </a:r>
                    </a:p>
                  </a:txBody>
                  <a:tcPr marL="9525" marR="9525" marT="9525" anchor="ctr">
                    <a:lnL>
                      <a:noFill/>
                    </a:lnL>
                    <a:lnR w="12700" cap="flat" cmpd="sng" algn="ctr">
                      <a:solidFill>
                        <a:schemeClr val="tx1"/>
                      </a:solidFill>
                      <a:prstDash val="solid"/>
                      <a:round/>
                      <a:headEnd type="none" w="med" len="med"/>
                      <a:tailEnd type="none" w="med" len="med"/>
                    </a:lnR>
                    <a:lnT>
                      <a:noFill/>
                    </a:lnT>
                    <a:lnB>
                      <a:noFill/>
                    </a:lnB>
                    <a:noFill/>
                  </a:tcPr>
                </a:tc>
                <a:extLst>
                  <a:ext uri="{0D108BD9-81ED-4DB2-BD59-A6C34878D82A}">
                    <a16:rowId xmlns:a16="http://schemas.microsoft.com/office/drawing/2014/main" val="3550357130"/>
                  </a:ext>
                </a:extLst>
              </a:tr>
              <a:tr h="228322">
                <a:tc>
                  <a:txBody>
                    <a:bodyPr/>
                    <a:lstStyle/>
                    <a:p>
                      <a:pPr rtl="0" fontAlgn="ctr">
                        <a:buNone/>
                      </a:pPr>
                      <a:r>
                        <a:rPr lang="en-US" sz="900" err="1">
                          <a:effectLst/>
                          <a:latin typeface="Raleway"/>
                        </a:rPr>
                        <a:t>Sulmalpa</a:t>
                      </a:r>
                      <a:r>
                        <a:rPr lang="en-US" sz="900">
                          <a:effectLst/>
                          <a:latin typeface="Raleway"/>
                        </a:rPr>
                        <a:t> </a:t>
                      </a:r>
                      <a:r>
                        <a:rPr lang="en-US" sz="900" err="1">
                          <a:effectLst/>
                          <a:latin typeface="Raleway"/>
                        </a:rPr>
                        <a:t>Balnus</a:t>
                      </a:r>
                    </a:p>
                  </a:txBody>
                  <a:tcPr marL="9525" marR="9525" marT="9525" anchor="ctr">
                    <a:lnL w="12700" cap="flat" cmpd="sng" algn="ctr">
                      <a:solidFill>
                        <a:schemeClr val="tx1"/>
                      </a:solidFill>
                      <a:prstDash val="solid"/>
                      <a:round/>
                      <a:headEnd type="none" w="med" len="med"/>
                      <a:tailEnd type="none" w="med" len="med"/>
                    </a:lnL>
                    <a:lnR>
                      <a:noFill/>
                    </a:lnR>
                    <a:lnT>
                      <a:noFill/>
                    </a:lnT>
                    <a:lnB>
                      <a:noFill/>
                    </a:lnB>
                    <a:noFill/>
                  </a:tcPr>
                </a:tc>
                <a:tc>
                  <a:txBody>
                    <a:bodyPr/>
                    <a:lstStyle/>
                    <a:p>
                      <a:pPr rtl="0" fontAlgn="ctr">
                        <a:buNone/>
                      </a:pPr>
                      <a:r>
                        <a:rPr lang="en-US" sz="900">
                          <a:effectLst/>
                          <a:latin typeface="Raleway"/>
                        </a:rPr>
                        <a:t>Merauke</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Gracia</a:t>
                      </a:r>
                    </a:p>
                  </a:txBody>
                  <a:tcPr marL="9525" marR="9525" marT="9525" anchor="ctr">
                    <a:lnL>
                      <a:noFill/>
                    </a:lnL>
                    <a:lnR>
                      <a:noFill/>
                    </a:lnR>
                    <a:lnT>
                      <a:noFill/>
                    </a:lnT>
                    <a:lnB>
                      <a:noFill/>
                    </a:lnB>
                    <a:noFill/>
                  </a:tcPr>
                </a:tc>
                <a:tc>
                  <a:txBody>
                    <a:bodyPr/>
                    <a:lstStyle/>
                    <a:p>
                      <a:pPr algn="ct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10-Aug-26</a:t>
                      </a:r>
                    </a:p>
                  </a:txBody>
                  <a:tcPr marL="9525" marR="9525" marT="9525" anchor="ctr">
                    <a:lnL>
                      <a:noFill/>
                    </a:lnL>
                    <a:lnR w="12700" cap="flat" cmpd="sng" algn="ctr">
                      <a:solidFill>
                        <a:schemeClr val="tx1"/>
                      </a:solidFill>
                      <a:prstDash val="solid"/>
                      <a:round/>
                      <a:headEnd type="none" w="med" len="med"/>
                      <a:tailEnd type="none" w="med" len="med"/>
                    </a:lnR>
                    <a:lnT>
                      <a:noFill/>
                    </a:lnT>
                    <a:lnB>
                      <a:noFill/>
                    </a:lnB>
                    <a:noFill/>
                  </a:tcPr>
                </a:tc>
                <a:extLst>
                  <a:ext uri="{0D108BD9-81ED-4DB2-BD59-A6C34878D82A}">
                    <a16:rowId xmlns:a16="http://schemas.microsoft.com/office/drawing/2014/main" val="2103147750"/>
                  </a:ext>
                </a:extLst>
              </a:tr>
              <a:tr h="228322">
                <a:tc>
                  <a:txBody>
                    <a:bodyPr/>
                    <a:lstStyle/>
                    <a:p>
                      <a:pPr rtl="0" fontAlgn="ctr">
                        <a:buNone/>
                      </a:pPr>
                      <a:r>
                        <a:rPr lang="en-US" sz="900" err="1">
                          <a:effectLst/>
                          <a:latin typeface="Raleway"/>
                        </a:rPr>
                        <a:t>Sulmalpa</a:t>
                      </a:r>
                      <a:r>
                        <a:rPr lang="en-US" sz="900">
                          <a:effectLst/>
                          <a:latin typeface="Raleway"/>
                        </a:rPr>
                        <a:t> </a:t>
                      </a:r>
                      <a:r>
                        <a:rPr lang="en-US" sz="900" err="1">
                          <a:effectLst/>
                          <a:latin typeface="Raleway"/>
                        </a:rPr>
                        <a:t>Balnus</a:t>
                      </a:r>
                    </a:p>
                  </a:txBody>
                  <a:tcPr marL="9525" marR="9525" marT="9525" anchor="ctr">
                    <a:lnL w="12700" cap="flat" cmpd="sng" algn="ctr">
                      <a:solidFill>
                        <a:schemeClr val="tx1"/>
                      </a:solidFill>
                      <a:prstDash val="solid"/>
                      <a:round/>
                      <a:headEnd type="none" w="med" len="med"/>
                      <a:tailEnd type="none" w="med" len="med"/>
                    </a:lnL>
                    <a:lnR>
                      <a:noFill/>
                    </a:lnR>
                    <a:lnT>
                      <a:noFill/>
                    </a:lnT>
                    <a:lnB w="12700" cap="flat" cmpd="sng" algn="ctr">
                      <a:solidFill>
                        <a:schemeClr val="tx1"/>
                      </a:solidFill>
                      <a:prstDash val="solid"/>
                      <a:round/>
                      <a:headEnd type="none" w="med" len="med"/>
                      <a:tailEnd type="none" w="med" len="med"/>
                    </a:lnB>
                    <a:noFill/>
                  </a:tcPr>
                </a:tc>
                <a:tc>
                  <a:txBody>
                    <a:bodyPr/>
                    <a:lstStyle/>
                    <a:p>
                      <a:pPr rtl="0" fontAlgn="ctr">
                        <a:buNone/>
                      </a:pPr>
                      <a:r>
                        <a:rPr lang="en-US" sz="900" err="1">
                          <a:effectLst/>
                          <a:latin typeface="Raleway"/>
                        </a:rPr>
                        <a:t>Kupang</a:t>
                      </a:r>
                    </a:p>
                  </a:txBody>
                  <a:tcPr marL="9525" marR="9525" marT="9525" anchor="ctr">
                    <a:lnL>
                      <a:noFill/>
                    </a:lnL>
                    <a:lnR>
                      <a:noFill/>
                    </a:lnR>
                    <a:lnT>
                      <a:noFill/>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900">
                          <a:effectLst/>
                          <a:latin typeface="Raleway"/>
                        </a:rPr>
                        <a:t>1</a:t>
                      </a:r>
                    </a:p>
                  </a:txBody>
                  <a:tcPr marL="9525" marR="9525" marT="9525" anchor="ctr">
                    <a:lnL>
                      <a:noFill/>
                    </a:lnL>
                    <a:lnR>
                      <a:noFill/>
                    </a:lnR>
                    <a:lnT>
                      <a:noFill/>
                    </a:lnT>
                    <a:lnB w="12700" cap="flat" cmpd="sng" algn="ctr">
                      <a:solidFill>
                        <a:schemeClr val="tx1"/>
                      </a:solidFill>
                      <a:prstDash val="solid"/>
                      <a:round/>
                      <a:headEnd type="none" w="med" len="med"/>
                      <a:tailEnd type="none" w="med" len="med"/>
                    </a:lnB>
                    <a:noFill/>
                  </a:tcPr>
                </a:tc>
                <a:tc>
                  <a:txBody>
                    <a:bodyPr/>
                    <a:lstStyle/>
                    <a:p>
                      <a:pPr rtl="0" fontAlgn="ctr">
                        <a:buNone/>
                      </a:pPr>
                      <a:r>
                        <a:rPr lang="en-US" sz="900" err="1">
                          <a:effectLst/>
                          <a:latin typeface="Raleway"/>
                        </a:rPr>
                        <a:t>Kenthansen</a:t>
                      </a:r>
                    </a:p>
                  </a:txBody>
                  <a:tcPr marL="9525" marR="9525" marT="9525" anchor="ctr">
                    <a:lnL>
                      <a:noFill/>
                    </a:lnL>
                    <a:lnR>
                      <a:noFill/>
                    </a:lnR>
                    <a:lnT>
                      <a:noFill/>
                    </a:lnT>
                    <a:lnB w="12700" cap="flat" cmpd="sng" algn="ctr">
                      <a:solidFill>
                        <a:schemeClr val="tx1"/>
                      </a:solidFill>
                      <a:prstDash val="solid"/>
                      <a:round/>
                      <a:headEnd type="none" w="med" len="med"/>
                      <a:tailEnd type="none" w="med" len="med"/>
                    </a:lnB>
                    <a:noFill/>
                  </a:tcPr>
                </a:tc>
                <a:tc>
                  <a:txBody>
                    <a:bodyPr/>
                    <a:lstStyle/>
                    <a:p>
                      <a:pPr algn="ctr" rtl="0" fontAlgn="ctr">
                        <a:buNone/>
                      </a:pPr>
                      <a:r>
                        <a:rPr lang="en-US" sz="900">
                          <a:effectLst/>
                          <a:latin typeface="Raleway"/>
                        </a:rPr>
                        <a:t>Closed</a:t>
                      </a:r>
                    </a:p>
                  </a:txBody>
                  <a:tcPr marL="9525" marR="9525" marT="9525" anchor="ctr">
                    <a:lnL>
                      <a:noFill/>
                    </a:lnL>
                    <a:lnR>
                      <a:noFill/>
                    </a:lnR>
                    <a:lnT>
                      <a:noFill/>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900">
                          <a:effectLst/>
                          <a:latin typeface="Raleway"/>
                        </a:rPr>
                        <a:t>1</a:t>
                      </a:r>
                    </a:p>
                  </a:txBody>
                  <a:tcPr marL="9525" marR="9525" marT="9525" anchor="ctr">
                    <a:lnL>
                      <a:noFill/>
                    </a:lnL>
                    <a:lnR>
                      <a:noFill/>
                    </a:lnR>
                    <a:lnT>
                      <a:noFill/>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900">
                          <a:effectLst/>
                          <a:latin typeface="Raleway"/>
                        </a:rPr>
                        <a:t>0</a:t>
                      </a:r>
                    </a:p>
                  </a:txBody>
                  <a:tcPr marL="9525" marR="9525" marT="9525" anchor="ctr">
                    <a:lnL>
                      <a:noFill/>
                    </a:lnL>
                    <a:lnR>
                      <a:noFill/>
                    </a:lnR>
                    <a:lnT>
                      <a:noFill/>
                    </a:lnT>
                    <a:lnB w="12700" cap="flat" cmpd="sng" algn="ctr">
                      <a:solidFill>
                        <a:schemeClr val="tx1"/>
                      </a:solidFill>
                      <a:prstDash val="solid"/>
                      <a:round/>
                      <a:headEnd type="none" w="med" len="med"/>
                      <a:tailEnd type="none" w="med" len="med"/>
                    </a:lnB>
                    <a:noFill/>
                  </a:tcPr>
                </a:tc>
                <a:tc>
                  <a:txBody>
                    <a:bodyPr/>
                    <a:lstStyle/>
                    <a:p>
                      <a:pPr algn="ctr" fontAlgn="ctr">
                        <a:buNone/>
                      </a:pPr>
                      <a:r>
                        <a:rPr lang="en-US" sz="900">
                          <a:effectLst/>
                          <a:latin typeface="Raleway"/>
                        </a:rPr>
                        <a:t>10-Aug-26</a:t>
                      </a:r>
                    </a:p>
                  </a:txBody>
                  <a:tcPr marL="9525" marR="9525" marT="9525" anchor="ctr">
                    <a:lnL>
                      <a:noFill/>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98512587"/>
                  </a:ext>
                </a:extLst>
              </a:tr>
              <a:tr h="228322">
                <a:tc>
                  <a:txBody>
                    <a:bodyPr/>
                    <a:lstStyle/>
                    <a:p>
                      <a:pPr fontAlgn="ctr">
                        <a:buNone/>
                      </a:pPr>
                      <a:endParaRPr lang="en-US" sz="900">
                        <a:effectLst/>
                        <a:latin typeface="Raleway"/>
                      </a:endParaRPr>
                    </a:p>
                  </a:txBody>
                  <a:tcPr marL="9525" marR="9525" marT="9525" anchor="ctr">
                    <a:lnL>
                      <a:noFill/>
                    </a:lnL>
                    <a:lnR>
                      <a:noFill/>
                    </a:lnR>
                    <a:lnT w="12700" cap="flat" cmpd="sng" algn="ctr">
                      <a:solidFill>
                        <a:schemeClr val="tx1"/>
                      </a:solidFill>
                      <a:prstDash val="solid"/>
                      <a:round/>
                      <a:headEnd type="none" w="med" len="med"/>
                      <a:tailEnd type="none" w="med" len="med"/>
                    </a:lnT>
                    <a:lnB>
                      <a:noFill/>
                    </a:lnB>
                    <a:noFill/>
                  </a:tcPr>
                </a:tc>
                <a:tc>
                  <a:txBody>
                    <a:bodyPr/>
                    <a:lstStyle/>
                    <a:p>
                      <a:pPr fontAlgn="ctr">
                        <a:buNone/>
                      </a:pPr>
                      <a:endParaRPr lang="en-US" sz="900">
                        <a:effectLst/>
                        <a:latin typeface="Raleway"/>
                      </a:endParaRPr>
                    </a:p>
                  </a:txBody>
                  <a:tcPr marL="9525" marR="9525" marT="9525" anchor="ctr">
                    <a:lnL>
                      <a:noFill/>
                    </a:lnL>
                    <a:lnR>
                      <a:noFill/>
                    </a:lnR>
                    <a:lnT w="12700" cap="flat" cmpd="sng" algn="ctr">
                      <a:solidFill>
                        <a:schemeClr val="tx1"/>
                      </a:solidFill>
                      <a:prstDash val="solid"/>
                      <a:round/>
                      <a:headEnd type="none" w="med" len="med"/>
                      <a:tailEnd type="none" w="med" len="med"/>
                    </a:lnT>
                    <a:lnB>
                      <a:noFill/>
                    </a:lnB>
                    <a:noFill/>
                  </a:tcPr>
                </a:tc>
                <a:tc>
                  <a:txBody>
                    <a:bodyPr/>
                    <a:lstStyle/>
                    <a:p>
                      <a:pPr algn="ctr" fontAlgn="ctr">
                        <a:buNone/>
                      </a:pPr>
                      <a:r>
                        <a:rPr lang="en-US" sz="900" b="1">
                          <a:solidFill>
                            <a:srgbClr val="FF0000"/>
                          </a:solidFill>
                          <a:effectLst/>
                          <a:latin typeface="Raleway"/>
                        </a:rPr>
                        <a:t>23</a:t>
                      </a:r>
                    </a:p>
                  </a:txBody>
                  <a:tcPr marL="9525" marR="9525" marT="9525" anchor="ctr">
                    <a:lnL>
                      <a:noFill/>
                    </a:lnL>
                    <a:lnR>
                      <a:noFill/>
                    </a:lnR>
                    <a:lnT w="12700" cap="flat" cmpd="sng" algn="ctr">
                      <a:solidFill>
                        <a:schemeClr val="tx1"/>
                      </a:solidFill>
                      <a:prstDash val="solid"/>
                      <a:round/>
                      <a:headEnd type="none" w="med" len="med"/>
                      <a:tailEnd type="none" w="med" len="med"/>
                    </a:lnT>
                    <a:lnB>
                      <a:noFill/>
                    </a:lnB>
                    <a:noFill/>
                  </a:tcPr>
                </a:tc>
                <a:tc>
                  <a:txBody>
                    <a:bodyPr/>
                    <a:lstStyle/>
                    <a:p>
                      <a:pPr algn="ctr" fontAlgn="ctr">
                        <a:buNone/>
                      </a:pPr>
                      <a:endParaRPr lang="en-US" sz="900" b="1">
                        <a:solidFill>
                          <a:srgbClr val="FF0000"/>
                        </a:solidFill>
                        <a:effectLst/>
                        <a:latin typeface="Raleway"/>
                      </a:endParaRPr>
                    </a:p>
                  </a:txBody>
                  <a:tcPr marL="9525" marR="9525" marT="9525" anchor="ctr">
                    <a:lnL>
                      <a:noFill/>
                    </a:lnL>
                    <a:lnR>
                      <a:noFill/>
                    </a:lnR>
                    <a:lnT w="12700" cap="flat" cmpd="sng" algn="ctr">
                      <a:solidFill>
                        <a:schemeClr val="tx1"/>
                      </a:solidFill>
                      <a:prstDash val="solid"/>
                      <a:round/>
                      <a:headEnd type="none" w="med" len="med"/>
                      <a:tailEnd type="none" w="med" len="med"/>
                    </a:lnT>
                    <a:lnB>
                      <a:noFill/>
                    </a:lnB>
                    <a:noFill/>
                  </a:tcPr>
                </a:tc>
                <a:tc>
                  <a:txBody>
                    <a:bodyPr/>
                    <a:lstStyle/>
                    <a:p>
                      <a:pPr algn="ctr" fontAlgn="ctr">
                        <a:buNone/>
                      </a:pPr>
                      <a:endParaRPr lang="en-US" sz="900" b="1">
                        <a:solidFill>
                          <a:srgbClr val="FF0000"/>
                        </a:solidFill>
                        <a:effectLst/>
                        <a:latin typeface="Raleway"/>
                      </a:endParaRPr>
                    </a:p>
                  </a:txBody>
                  <a:tcPr marL="9525" marR="9525" marT="9525" anchor="ctr">
                    <a:lnL>
                      <a:noFill/>
                    </a:lnL>
                    <a:lnR>
                      <a:noFill/>
                    </a:lnR>
                    <a:lnT w="12700" cap="flat" cmpd="sng" algn="ctr">
                      <a:solidFill>
                        <a:schemeClr val="tx1"/>
                      </a:solidFill>
                      <a:prstDash val="solid"/>
                      <a:round/>
                      <a:headEnd type="none" w="med" len="med"/>
                      <a:tailEnd type="none" w="med" len="med"/>
                    </a:lnT>
                    <a:lnB>
                      <a:noFill/>
                    </a:lnB>
                    <a:noFill/>
                  </a:tcPr>
                </a:tc>
                <a:tc>
                  <a:txBody>
                    <a:bodyPr/>
                    <a:lstStyle/>
                    <a:p>
                      <a:pPr algn="ctr" fontAlgn="ctr">
                        <a:buNone/>
                      </a:pPr>
                      <a:r>
                        <a:rPr lang="en-US" sz="900" b="1">
                          <a:solidFill>
                            <a:srgbClr val="FF0000"/>
                          </a:solidFill>
                          <a:effectLst/>
                          <a:latin typeface="Raleway"/>
                        </a:rPr>
                        <a:t>21</a:t>
                      </a:r>
                    </a:p>
                  </a:txBody>
                  <a:tcPr marL="9525" marR="9525" marT="9525" anchor="ctr">
                    <a:lnL>
                      <a:noFill/>
                    </a:lnL>
                    <a:lnR>
                      <a:noFill/>
                    </a:lnR>
                    <a:lnT w="12700" cap="flat" cmpd="sng" algn="ctr">
                      <a:solidFill>
                        <a:schemeClr val="tx1"/>
                      </a:solidFill>
                      <a:prstDash val="solid"/>
                      <a:round/>
                      <a:headEnd type="none" w="med" len="med"/>
                      <a:tailEnd type="none" w="med" len="med"/>
                    </a:lnT>
                    <a:lnB>
                      <a:noFill/>
                    </a:lnB>
                    <a:noFill/>
                  </a:tcPr>
                </a:tc>
                <a:tc>
                  <a:txBody>
                    <a:bodyPr/>
                    <a:lstStyle/>
                    <a:p>
                      <a:pPr algn="ctr" fontAlgn="ctr">
                        <a:buNone/>
                      </a:pPr>
                      <a:r>
                        <a:rPr lang="en-US" sz="900" b="1">
                          <a:solidFill>
                            <a:srgbClr val="FF0000"/>
                          </a:solidFill>
                          <a:effectLst/>
                          <a:latin typeface="Raleway"/>
                        </a:rPr>
                        <a:t>2</a:t>
                      </a:r>
                    </a:p>
                  </a:txBody>
                  <a:tcPr marL="9525" marR="9525" marT="9525" anchor="ctr">
                    <a:lnL>
                      <a:noFill/>
                    </a:lnL>
                    <a:lnR>
                      <a:noFill/>
                    </a:lnR>
                    <a:lnT w="12700" cap="flat" cmpd="sng" algn="ctr">
                      <a:solidFill>
                        <a:schemeClr val="tx1"/>
                      </a:solidFill>
                      <a:prstDash val="solid"/>
                      <a:round/>
                      <a:headEnd type="none" w="med" len="med"/>
                      <a:tailEnd type="none" w="med" len="med"/>
                    </a:lnT>
                    <a:lnB>
                      <a:noFill/>
                    </a:lnB>
                    <a:noFill/>
                  </a:tcPr>
                </a:tc>
                <a:tc>
                  <a:txBody>
                    <a:bodyPr/>
                    <a:lstStyle/>
                    <a:p>
                      <a:pPr fontAlgn="ctr">
                        <a:buNone/>
                      </a:pPr>
                      <a:endParaRPr lang="en-US" sz="900">
                        <a:effectLst/>
                        <a:latin typeface="Raleway"/>
                      </a:endParaRPr>
                    </a:p>
                  </a:txBody>
                  <a:tcPr marL="9525" marR="9525" marT="9525" anchor="ctr">
                    <a:lnL>
                      <a:noFill/>
                    </a:lnL>
                    <a:lnR>
                      <a:noFill/>
                    </a:lnR>
                    <a:lnT w="12700" cap="flat" cmpd="sng" algn="ctr">
                      <a:solidFill>
                        <a:schemeClr val="tx1"/>
                      </a:solidFill>
                      <a:prstDash val="solid"/>
                      <a:round/>
                      <a:headEnd type="none" w="med" len="med"/>
                      <a:tailEnd type="none" w="med" len="med"/>
                    </a:lnT>
                    <a:lnB>
                      <a:noFill/>
                    </a:lnB>
                    <a:noFill/>
                  </a:tcPr>
                </a:tc>
                <a:extLst>
                  <a:ext uri="{0D108BD9-81ED-4DB2-BD59-A6C34878D82A}">
                    <a16:rowId xmlns:a16="http://schemas.microsoft.com/office/drawing/2014/main" val="2466088006"/>
                  </a:ext>
                </a:extLst>
              </a:tr>
            </a:tbl>
          </a:graphicData>
        </a:graphic>
      </p:graphicFrame>
    </p:spTree>
    <p:extLst>
      <p:ext uri="{BB962C8B-B14F-4D97-AF65-F5344CB8AC3E}">
        <p14:creationId xmlns:p14="http://schemas.microsoft.com/office/powerpoint/2010/main" val="1455939415"/>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Content Placeholder 4">
            <a:extLst>
              <a:ext uri="{FF2B5EF4-FFF2-40B4-BE49-F238E27FC236}">
                <a16:creationId xmlns:a16="http://schemas.microsoft.com/office/drawing/2014/main" id="{DBD0CBCF-88E7-8AE1-4725-6206254A281B}"/>
              </a:ext>
            </a:extLst>
          </p:cNvPr>
          <p:cNvGraphicFramePr>
            <a:graphicFrameLocks noGrp="1"/>
          </p:cNvGraphicFramePr>
          <p:nvPr>
            <p:ph idx="1"/>
          </p:nvPr>
        </p:nvGraphicFramePr>
        <p:xfrm>
          <a:off x="304799" y="1444171"/>
          <a:ext cx="11589820" cy="1956825"/>
        </p:xfrm>
        <a:graphic>
          <a:graphicData uri="http://schemas.openxmlformats.org/drawingml/2006/table">
            <a:tbl>
              <a:tblPr bandRow="1">
                <a:tableStyleId>{5C22544A-7EE6-4342-B048-85BDC9FD1C3A}</a:tableStyleId>
              </a:tblPr>
              <a:tblGrid>
                <a:gridCol w="295854">
                  <a:extLst>
                    <a:ext uri="{9D8B030D-6E8A-4147-A177-3AD203B41FA5}">
                      <a16:colId xmlns:a16="http://schemas.microsoft.com/office/drawing/2014/main" val="3179509833"/>
                    </a:ext>
                  </a:extLst>
                </a:gridCol>
                <a:gridCol w="1067651">
                  <a:extLst>
                    <a:ext uri="{9D8B030D-6E8A-4147-A177-3AD203B41FA5}">
                      <a16:colId xmlns:a16="http://schemas.microsoft.com/office/drawing/2014/main" val="688553569"/>
                    </a:ext>
                  </a:extLst>
                </a:gridCol>
                <a:gridCol w="3267280">
                  <a:extLst>
                    <a:ext uri="{9D8B030D-6E8A-4147-A177-3AD203B41FA5}">
                      <a16:colId xmlns:a16="http://schemas.microsoft.com/office/drawing/2014/main" val="1402443639"/>
                    </a:ext>
                  </a:extLst>
                </a:gridCol>
                <a:gridCol w="398759">
                  <a:extLst>
                    <a:ext uri="{9D8B030D-6E8A-4147-A177-3AD203B41FA5}">
                      <a16:colId xmlns:a16="http://schemas.microsoft.com/office/drawing/2014/main" val="256060799"/>
                    </a:ext>
                  </a:extLst>
                </a:gridCol>
                <a:gridCol w="987382">
                  <a:extLst>
                    <a:ext uri="{9D8B030D-6E8A-4147-A177-3AD203B41FA5}">
                      <a16:colId xmlns:a16="http://schemas.microsoft.com/office/drawing/2014/main" val="1026950775"/>
                    </a:ext>
                  </a:extLst>
                </a:gridCol>
                <a:gridCol w="781382">
                  <a:extLst>
                    <a:ext uri="{9D8B030D-6E8A-4147-A177-3AD203B41FA5}">
                      <a16:colId xmlns:a16="http://schemas.microsoft.com/office/drawing/2014/main" val="1517574419"/>
                    </a:ext>
                  </a:extLst>
                </a:gridCol>
                <a:gridCol w="688121">
                  <a:extLst>
                    <a:ext uri="{9D8B030D-6E8A-4147-A177-3AD203B41FA5}">
                      <a16:colId xmlns:a16="http://schemas.microsoft.com/office/drawing/2014/main" val="1398598018"/>
                    </a:ext>
                  </a:extLst>
                </a:gridCol>
                <a:gridCol w="685701">
                  <a:extLst>
                    <a:ext uri="{9D8B030D-6E8A-4147-A177-3AD203B41FA5}">
                      <a16:colId xmlns:a16="http://schemas.microsoft.com/office/drawing/2014/main" val="3321460569"/>
                    </a:ext>
                  </a:extLst>
                </a:gridCol>
                <a:gridCol w="3417690">
                  <a:extLst>
                    <a:ext uri="{9D8B030D-6E8A-4147-A177-3AD203B41FA5}">
                      <a16:colId xmlns:a16="http://schemas.microsoft.com/office/drawing/2014/main" val="1358536102"/>
                    </a:ext>
                  </a:extLst>
                </a:gridCol>
              </a:tblGrid>
              <a:tr h="337575">
                <a:tc>
                  <a:txBody>
                    <a:bodyPr/>
                    <a:lstStyle/>
                    <a:p>
                      <a:pPr algn="ctr" fontAlgn="ctr">
                        <a:buNone/>
                      </a:pPr>
                      <a:r>
                        <a:rPr lang="en-US" sz="900" b="1">
                          <a:solidFill>
                            <a:srgbClr val="FFFFFF"/>
                          </a:solidFill>
                          <a:effectLst/>
                          <a:latin typeface="Raleway"/>
                        </a:rPr>
                        <a:t>No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900" b="1" err="1">
                          <a:solidFill>
                            <a:srgbClr val="FFFFFF"/>
                          </a:solidFill>
                          <a:effectLst/>
                          <a:latin typeface="Raleway"/>
                        </a:rPr>
                        <a:t>Gelombang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900" b="1" err="1">
                          <a:solidFill>
                            <a:srgbClr val="FFFFFF"/>
                          </a:solidFill>
                          <a:effectLst/>
                          <a:latin typeface="Raleway"/>
                        </a:rPr>
                        <a:t>Posisi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900" b="1">
                          <a:solidFill>
                            <a:srgbClr val="FFFFFF"/>
                          </a:solidFill>
                          <a:effectLst/>
                          <a:latin typeface="Raleway"/>
                        </a:rPr>
                        <a:t>Level</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900" b="1">
                          <a:solidFill>
                            <a:srgbClr val="FFFFFF"/>
                          </a:solidFill>
                          <a:effectLst/>
                          <a:latin typeface="Raleway"/>
                        </a:rPr>
                        <a:t>Lokasi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900" b="1">
                          <a:solidFill>
                            <a:srgbClr val="FFFFFF"/>
                          </a:solidFill>
                          <a:effectLst/>
                          <a:latin typeface="Raleway"/>
                        </a:rPr>
                        <a:t>PIC TA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900" b="1" err="1">
                          <a:solidFill>
                            <a:srgbClr val="FFFFFF"/>
                          </a:solidFill>
                          <a:effectLst/>
                          <a:latin typeface="Raleway"/>
                        </a:rPr>
                        <a:t>Jumlah</a:t>
                      </a:r>
                      <a:r>
                        <a:rPr lang="en-US" sz="900" b="1">
                          <a:solidFill>
                            <a:srgbClr val="FFFFFF"/>
                          </a:solidFill>
                          <a:effectLst/>
                          <a:latin typeface="Raleway"/>
                        </a:rPr>
                        <a:t> </a:t>
                      </a:r>
                      <a:r>
                        <a:rPr lang="en-US" sz="900" b="1" err="1">
                          <a:solidFill>
                            <a:srgbClr val="FFFFFF"/>
                          </a:solidFill>
                          <a:effectLst/>
                          <a:latin typeface="Raleway"/>
                        </a:rPr>
                        <a:t>Permintaan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900" b="1">
                          <a:solidFill>
                            <a:srgbClr val="FFFFFF"/>
                          </a:solidFill>
                          <a:effectLst/>
                          <a:latin typeface="Raleway"/>
                        </a:rPr>
                        <a:t>Status </a:t>
                      </a:r>
                      <a:r>
                        <a:rPr lang="en-US" sz="900" b="1" err="1">
                          <a:solidFill>
                            <a:srgbClr val="FFFFFF"/>
                          </a:solidFill>
                          <a:effectLst/>
                          <a:latin typeface="Raleway"/>
                        </a:rPr>
                        <a:t>Rekrutmen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900" b="1">
                          <a:solidFill>
                            <a:srgbClr val="FFFFFF"/>
                          </a:solidFill>
                          <a:effectLst/>
                          <a:latin typeface="Raleway"/>
                        </a:rPr>
                        <a:t>Recruitment Update</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extLst>
                  <a:ext uri="{0D108BD9-81ED-4DB2-BD59-A6C34878D82A}">
                    <a16:rowId xmlns:a16="http://schemas.microsoft.com/office/drawing/2014/main" val="1685730970"/>
                  </a:ext>
                </a:extLst>
              </a:tr>
              <a:tr h="238289">
                <a:tc>
                  <a:txBody>
                    <a:bodyPr/>
                    <a:lstStyle/>
                    <a:p>
                      <a:pPr algn="ctr" fontAlgn="ctr">
                        <a:buNone/>
                      </a:pPr>
                      <a:r>
                        <a:rPr lang="en-US" sz="900">
                          <a:effectLst/>
                          <a:latin typeface="Raleway"/>
                        </a:rPr>
                        <a:t>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900" err="1">
                          <a:effectLst/>
                          <a:latin typeface="Raleway"/>
                        </a:rPr>
                        <a:t>Gelombang</a:t>
                      </a:r>
                      <a:r>
                        <a:rPr lang="en-US" sz="900">
                          <a:effectLst/>
                          <a:latin typeface="Raleway"/>
                        </a:rPr>
                        <a:t> 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buNone/>
                      </a:pPr>
                      <a:r>
                        <a:rPr lang="en-US" sz="900">
                          <a:effectLst/>
                          <a:latin typeface="Raleway"/>
                        </a:rPr>
                        <a:t>Sales Taking Order Staff (Chilled) - </a:t>
                      </a:r>
                      <a:r>
                        <a:rPr lang="en-US" sz="900" err="1">
                          <a:effectLst/>
                          <a:latin typeface="Raleway"/>
                        </a:rPr>
                        <a:t>Palopo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900">
                          <a:effectLst/>
                          <a:latin typeface="Raleway"/>
                        </a:rPr>
                        <a:t>2A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900" err="1">
                          <a:effectLst/>
                          <a:latin typeface="Raleway"/>
                        </a:rPr>
                        <a:t>Palopo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900">
                          <a:effectLst/>
                          <a:latin typeface="Raleway"/>
                        </a:rPr>
                        <a:t>Gracia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900">
                          <a:effectLst/>
                          <a:latin typeface="Raleway"/>
                        </a:rPr>
                        <a:t>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900">
                          <a:effectLst/>
                          <a:latin typeface="Raleway"/>
                        </a:rPr>
                        <a:t>OP</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l">
                        <a:lnSpc>
                          <a:spcPct val="100000"/>
                        </a:lnSpc>
                        <a:spcBef>
                          <a:spcPts val="0"/>
                        </a:spcBef>
                        <a:spcAft>
                          <a:spcPts val="0"/>
                        </a:spcAft>
                        <a:buNone/>
                      </a:pPr>
                      <a:r>
                        <a:rPr lang="en-US" sz="900" b="0" i="0" u="none" strike="noStrike" noProof="0">
                          <a:solidFill>
                            <a:srgbClr val="000000"/>
                          </a:solidFill>
                          <a:effectLst/>
                          <a:highlight>
                            <a:srgbClr val="FFFFFF"/>
                          </a:highlight>
                          <a:latin typeface="Raleway"/>
                        </a:rPr>
                        <a:t>Send 3 CVs ke user di week 32</a:t>
                      </a:r>
                      <a:endParaRPr lang="en-US" sz="900" b="0" i="0" u="none" strike="noStrike" noProof="0">
                        <a:solidFill>
                          <a:srgbClr val="000000"/>
                        </a:solidFill>
                        <a:effectLst/>
                        <a:latin typeface="Raleway"/>
                      </a:endParaRPr>
                    </a:p>
                    <a:p>
                      <a:pPr lvl="0" algn="l">
                        <a:lnSpc>
                          <a:spcPct val="100000"/>
                        </a:lnSpc>
                        <a:spcBef>
                          <a:spcPts val="0"/>
                        </a:spcBef>
                        <a:spcAft>
                          <a:spcPts val="0"/>
                        </a:spcAft>
                        <a:buNone/>
                      </a:pPr>
                      <a:r>
                        <a:rPr lang="en-US" sz="900" b="1" i="0" u="none" strike="noStrike" noProof="0">
                          <a:solidFill>
                            <a:srgbClr val="000000"/>
                          </a:solidFill>
                          <a:effectLst/>
                          <a:highlight>
                            <a:srgbClr val="FFFFFF"/>
                          </a:highlight>
                          <a:latin typeface="Raleway"/>
                        </a:rPr>
                        <a:t>Next Action: </a:t>
                      </a:r>
                      <a:r>
                        <a:rPr lang="en-US" sz="900" b="0" i="0" u="none" strike="noStrike" noProof="0">
                          <a:solidFill>
                            <a:srgbClr val="000000"/>
                          </a:solidFill>
                          <a:effectLst/>
                          <a:highlight>
                            <a:srgbClr val="FFFFFF"/>
                          </a:highlight>
                          <a:latin typeface="Raleway"/>
                        </a:rPr>
                        <a:t>HR Interview dan psikotes kandidat shortlisted User di Week 33</a:t>
                      </a:r>
                      <a:endParaRPr lang="en-US" sz="900"/>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662856399"/>
                  </a:ext>
                </a:extLst>
              </a:tr>
              <a:tr h="337575">
                <a:tc>
                  <a:txBody>
                    <a:bodyPr/>
                    <a:lstStyle/>
                    <a:p>
                      <a:pPr algn="ctr" fontAlgn="ctr">
                        <a:buNone/>
                      </a:pPr>
                      <a:r>
                        <a:rPr lang="en-US" sz="900">
                          <a:effectLst/>
                          <a:latin typeface="Raleway"/>
                        </a:rPr>
                        <a:t>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900" err="1">
                          <a:effectLst/>
                          <a:latin typeface="Raleway"/>
                        </a:rPr>
                        <a:t>Gelombang</a:t>
                      </a:r>
                      <a:r>
                        <a:rPr lang="en-US" sz="900">
                          <a:effectLst/>
                          <a:latin typeface="Raleway"/>
                        </a:rPr>
                        <a:t> 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buNone/>
                      </a:pPr>
                      <a:r>
                        <a:rPr lang="en-US" sz="900">
                          <a:effectLst/>
                          <a:latin typeface="Raleway"/>
                        </a:rPr>
                        <a:t>Sales Taking Order Staff (Chilled) - Tanjung</a:t>
                      </a:r>
                      <a:endParaRPr lang="en-US" sz="9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900">
                          <a:effectLst/>
                          <a:latin typeface="Raleway"/>
                        </a:rPr>
                        <a:t>2A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900">
                          <a:effectLst/>
                          <a:latin typeface="Raleway"/>
                        </a:rPr>
                        <a:t>Tanjung</a:t>
                      </a:r>
                      <a:endParaRPr lang="en-US" sz="9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900">
                          <a:effectLst/>
                          <a:latin typeface="Raleway"/>
                        </a:rPr>
                        <a:t>Kenthansen</a:t>
                      </a:r>
                      <a:endParaRPr lang="en-US" sz="9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900">
                          <a:effectLst/>
                          <a:latin typeface="Raleway"/>
                        </a:rPr>
                        <a:t>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900">
                          <a:effectLst/>
                          <a:latin typeface="Raleway"/>
                        </a:rPr>
                        <a:t>OP</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lvl="0" indent="0" algn="l">
                        <a:lnSpc>
                          <a:spcPct val="100000"/>
                        </a:lnSpc>
                        <a:buNone/>
                      </a:pPr>
                      <a:r>
                        <a:rPr lang="en-US" sz="900" b="0" i="0" u="none" strike="noStrike" baseline="0" noProof="0">
                          <a:solidFill>
                            <a:srgbClr val="000000"/>
                          </a:solidFill>
                          <a:effectLst/>
                          <a:latin typeface="Raleway"/>
                        </a:rPr>
                        <a:t>- </a:t>
                      </a:r>
                      <a:r>
                        <a:rPr lang="en-US" sz="900" b="0" i="0" u="none" strike="noStrike" baseline="0" noProof="0" err="1">
                          <a:solidFill>
                            <a:srgbClr val="000000"/>
                          </a:solidFill>
                          <a:effectLst/>
                          <a:latin typeface="Raleway"/>
                        </a:rPr>
                        <a:t>Kandidat</a:t>
                      </a:r>
                      <a:r>
                        <a:rPr lang="en-US" sz="900" b="0" i="0" u="none" strike="noStrike" baseline="0" noProof="0">
                          <a:solidFill>
                            <a:srgbClr val="000000"/>
                          </a:solidFill>
                          <a:effectLst/>
                          <a:latin typeface="Raleway"/>
                        </a:rPr>
                        <a:t> </a:t>
                      </a:r>
                      <a:r>
                        <a:rPr lang="en-US" sz="900" b="0" i="0" u="none" strike="noStrike" baseline="0" noProof="0" err="1">
                          <a:solidFill>
                            <a:srgbClr val="000000"/>
                          </a:solidFill>
                          <a:effectLst/>
                          <a:latin typeface="Raleway"/>
                        </a:rPr>
                        <a:t>a.n</a:t>
                      </a:r>
                      <a:r>
                        <a:rPr lang="en-US" sz="900" b="0" i="0" u="none" strike="noStrike" baseline="0" noProof="0">
                          <a:solidFill>
                            <a:srgbClr val="000000"/>
                          </a:solidFill>
                          <a:effectLst/>
                          <a:latin typeface="Raleway"/>
                        </a:rPr>
                        <a:t> </a:t>
                      </a:r>
                      <a:r>
                        <a:rPr lang="en-US" sz="900" b="0" i="0" u="none" strike="noStrike" baseline="0" noProof="0" err="1">
                          <a:solidFill>
                            <a:srgbClr val="000000"/>
                          </a:solidFill>
                          <a:effectLst/>
                          <a:latin typeface="Raleway"/>
                        </a:rPr>
                        <a:t>Pramadianto</a:t>
                      </a:r>
                      <a:r>
                        <a:rPr lang="en-US" sz="900" b="0" i="0" u="none" strike="noStrike" baseline="0" noProof="0">
                          <a:solidFill>
                            <a:srgbClr val="000000"/>
                          </a:solidFill>
                          <a:effectLst/>
                          <a:latin typeface="Raleway"/>
                        </a:rPr>
                        <a:t> =&gt; Withdraw (</a:t>
                      </a:r>
                      <a:r>
                        <a:rPr lang="en-US" sz="900" b="0" i="0" u="none" strike="noStrike" baseline="0" noProof="0" err="1">
                          <a:solidFill>
                            <a:srgbClr val="000000"/>
                          </a:solidFill>
                          <a:effectLst/>
                          <a:latin typeface="Raleway"/>
                        </a:rPr>
                        <a:t>jarak</a:t>
                      </a:r>
                      <a:r>
                        <a:rPr lang="en-US" sz="900" b="0" i="0" u="none" strike="noStrike" baseline="0" noProof="0">
                          <a:solidFill>
                            <a:srgbClr val="000000"/>
                          </a:solidFill>
                          <a:effectLst/>
                          <a:latin typeface="Raleway"/>
                        </a:rPr>
                        <a:t>)</a:t>
                      </a:r>
                      <a:endParaRPr lang="en-US"/>
                    </a:p>
                    <a:p>
                      <a:pPr marL="0" lvl="0" indent="0" algn="l">
                        <a:lnSpc>
                          <a:spcPct val="100000"/>
                        </a:lnSpc>
                        <a:buNone/>
                      </a:pPr>
                      <a:r>
                        <a:rPr lang="en-US" sz="900" b="0" i="0" u="none" strike="noStrike" baseline="0" noProof="0">
                          <a:solidFill>
                            <a:srgbClr val="000000"/>
                          </a:solidFill>
                          <a:latin typeface="Raleway"/>
                        </a:rPr>
                        <a:t>- </a:t>
                      </a:r>
                      <a:r>
                        <a:rPr lang="en-US" sz="900" b="0" i="0" u="none" strike="noStrike" baseline="0" noProof="0" err="1">
                          <a:solidFill>
                            <a:srgbClr val="000000"/>
                          </a:solidFill>
                          <a:latin typeface="Raleway"/>
                        </a:rPr>
                        <a:t>Kandidat</a:t>
                      </a:r>
                      <a:r>
                        <a:rPr lang="en-US" sz="900" b="0" i="0" u="none" strike="noStrike" baseline="0" noProof="0">
                          <a:solidFill>
                            <a:srgbClr val="000000"/>
                          </a:solidFill>
                          <a:latin typeface="Raleway"/>
                        </a:rPr>
                        <a:t> </a:t>
                      </a:r>
                      <a:r>
                        <a:rPr lang="en-US" sz="900" b="0" i="0" u="none" strike="noStrike" baseline="0" noProof="0" err="1">
                          <a:solidFill>
                            <a:srgbClr val="000000"/>
                          </a:solidFill>
                          <a:latin typeface="Raleway"/>
                        </a:rPr>
                        <a:t>a.n</a:t>
                      </a:r>
                      <a:r>
                        <a:rPr lang="en-US" sz="900" b="0" i="0" u="none" strike="noStrike" baseline="0" noProof="0">
                          <a:solidFill>
                            <a:srgbClr val="000000"/>
                          </a:solidFill>
                          <a:latin typeface="Raleway"/>
                        </a:rPr>
                        <a:t> Ahmad Aziz Pratama =&gt; DROP (user) </a:t>
                      </a:r>
                      <a:r>
                        <a:rPr lang="en-US" sz="900" b="0" i="0" u="none" strike="noStrike" baseline="0" noProof="0" err="1">
                          <a:solidFill>
                            <a:srgbClr val="000000"/>
                          </a:solidFill>
                          <a:latin typeface="Raleway"/>
                        </a:rPr>
                        <a:t>potensi</a:t>
                      </a:r>
                      <a:r>
                        <a:rPr lang="en-US" sz="900" b="0" i="0" u="none" strike="noStrike" baseline="0" noProof="0">
                          <a:solidFill>
                            <a:srgbClr val="000000"/>
                          </a:solidFill>
                          <a:latin typeface="Raleway"/>
                        </a:rPr>
                        <a:t> Fraud</a:t>
                      </a:r>
                      <a:endParaRPr lang="en-US"/>
                    </a:p>
                    <a:p>
                      <a:pPr marL="0" lvl="0" indent="0" algn="l">
                        <a:lnSpc>
                          <a:spcPct val="100000"/>
                        </a:lnSpc>
                        <a:buNone/>
                      </a:pPr>
                      <a:r>
                        <a:rPr lang="en-US" sz="900" b="0" i="0" u="none" strike="noStrike" baseline="0" noProof="0">
                          <a:solidFill>
                            <a:srgbClr val="000000"/>
                          </a:solidFill>
                          <a:latin typeface="Raleway"/>
                        </a:rPr>
                        <a:t>- </a:t>
                      </a:r>
                      <a:r>
                        <a:rPr lang="en-US" sz="900" b="0" i="0" u="none" strike="noStrike" baseline="0" noProof="0" err="1">
                          <a:solidFill>
                            <a:srgbClr val="000000"/>
                          </a:solidFill>
                          <a:latin typeface="Raleway"/>
                        </a:rPr>
                        <a:t>Kandidat</a:t>
                      </a:r>
                      <a:r>
                        <a:rPr lang="en-US" sz="900" b="0" i="0" u="none" strike="noStrike" baseline="0" noProof="0">
                          <a:solidFill>
                            <a:srgbClr val="000000"/>
                          </a:solidFill>
                          <a:latin typeface="Raleway"/>
                        </a:rPr>
                        <a:t> </a:t>
                      </a:r>
                      <a:r>
                        <a:rPr lang="en-US" sz="900" b="0" i="0" u="none" strike="noStrike" baseline="0" noProof="0" err="1">
                          <a:solidFill>
                            <a:srgbClr val="000000"/>
                          </a:solidFill>
                          <a:latin typeface="Raleway"/>
                        </a:rPr>
                        <a:t>a.n</a:t>
                      </a:r>
                      <a:r>
                        <a:rPr lang="en-US" sz="900" b="0" i="0" u="none" strike="noStrike" baseline="0" noProof="0">
                          <a:solidFill>
                            <a:srgbClr val="000000"/>
                          </a:solidFill>
                          <a:latin typeface="Raleway"/>
                        </a:rPr>
                        <a:t> Iqbal </a:t>
                      </a:r>
                      <a:r>
                        <a:rPr lang="en-US" sz="900" b="0" i="0" u="none" strike="noStrike" baseline="0" noProof="0" err="1">
                          <a:solidFill>
                            <a:srgbClr val="000000"/>
                          </a:solidFill>
                          <a:latin typeface="Raleway"/>
                        </a:rPr>
                        <a:t>Purwa</a:t>
                      </a:r>
                      <a:r>
                        <a:rPr lang="en-US" sz="900" b="0" i="0" u="none" strike="noStrike" baseline="0" noProof="0">
                          <a:solidFill>
                            <a:srgbClr val="000000"/>
                          </a:solidFill>
                          <a:latin typeface="Raleway"/>
                        </a:rPr>
                        <a:t> </a:t>
                      </a:r>
                      <a:r>
                        <a:rPr lang="en-US" sz="900" b="0" i="0" u="none" strike="noStrike" baseline="0" noProof="0" err="1">
                          <a:solidFill>
                            <a:srgbClr val="000000"/>
                          </a:solidFill>
                          <a:latin typeface="Raleway"/>
                        </a:rPr>
                        <a:t>akan</a:t>
                      </a:r>
                      <a:r>
                        <a:rPr lang="en-US" sz="900" b="0" i="0" u="none" strike="noStrike" baseline="0" noProof="0">
                          <a:solidFill>
                            <a:srgbClr val="000000"/>
                          </a:solidFill>
                          <a:latin typeface="Raleway"/>
                        </a:rPr>
                        <a:t> join 1 Sep 2026</a:t>
                      </a:r>
                    </a:p>
                    <a:p>
                      <a:pPr marL="0" lvl="0" indent="0" algn="l">
                        <a:lnSpc>
                          <a:spcPct val="100000"/>
                        </a:lnSpc>
                        <a:buNone/>
                      </a:pPr>
                      <a:r>
                        <a:rPr lang="en-US" sz="900" b="0" i="0" u="none" strike="noStrike" baseline="0" noProof="0">
                          <a:solidFill>
                            <a:srgbClr val="000000"/>
                          </a:solidFill>
                          <a:latin typeface="Raleway"/>
                        </a:rPr>
                        <a:t>- </a:t>
                      </a:r>
                      <a:r>
                        <a:rPr lang="en-US" sz="900" b="0" i="0" u="none" strike="noStrike" baseline="0" noProof="0" err="1">
                          <a:solidFill>
                            <a:srgbClr val="000000"/>
                          </a:solidFill>
                          <a:latin typeface="Raleway"/>
                        </a:rPr>
                        <a:t>Kandidat</a:t>
                      </a:r>
                      <a:r>
                        <a:rPr lang="en-US" sz="900" b="0" i="0" u="none" strike="noStrike" baseline="0" noProof="0">
                          <a:solidFill>
                            <a:srgbClr val="000000"/>
                          </a:solidFill>
                          <a:latin typeface="Raleway"/>
                        </a:rPr>
                        <a:t> </a:t>
                      </a:r>
                      <a:r>
                        <a:rPr lang="en-US" sz="900" b="0" i="0" u="none" strike="noStrike" baseline="0" noProof="0" err="1">
                          <a:solidFill>
                            <a:srgbClr val="000000"/>
                          </a:solidFill>
                          <a:latin typeface="Raleway"/>
                        </a:rPr>
                        <a:t>a.n</a:t>
                      </a:r>
                      <a:r>
                        <a:rPr lang="en-US" sz="900" b="0" i="0" u="none" strike="noStrike" baseline="0" noProof="0">
                          <a:solidFill>
                            <a:srgbClr val="000000"/>
                          </a:solidFill>
                          <a:latin typeface="Raleway"/>
                        </a:rPr>
                        <a:t> </a:t>
                      </a:r>
                      <a:r>
                        <a:rPr lang="en-US" sz="900" b="0" i="0" u="none" strike="noStrike" baseline="0" noProof="0" err="1">
                          <a:solidFill>
                            <a:srgbClr val="000000"/>
                          </a:solidFill>
                          <a:latin typeface="Raleway"/>
                        </a:rPr>
                        <a:t>Riniwati</a:t>
                      </a:r>
                      <a:r>
                        <a:rPr lang="en-US" sz="900" b="0" i="0" u="none" strike="noStrike" baseline="0" noProof="0">
                          <a:solidFill>
                            <a:srgbClr val="000000"/>
                          </a:solidFill>
                          <a:latin typeface="Raleway"/>
                        </a:rPr>
                        <a:t> </a:t>
                      </a:r>
                      <a:r>
                        <a:rPr lang="en-US" sz="900" b="0" i="0" u="none" strike="noStrike" baseline="0" noProof="0" err="1">
                          <a:solidFill>
                            <a:srgbClr val="000000"/>
                          </a:solidFill>
                          <a:latin typeface="Raleway"/>
                        </a:rPr>
                        <a:t>dalam</a:t>
                      </a:r>
                      <a:r>
                        <a:rPr lang="en-US" sz="900" b="0" i="0" u="none" strike="noStrike" baseline="0" noProof="0">
                          <a:solidFill>
                            <a:srgbClr val="000000"/>
                          </a:solidFill>
                          <a:latin typeface="Raleway"/>
                        </a:rPr>
                        <a:t> proses </a:t>
                      </a:r>
                      <a:r>
                        <a:rPr lang="en-US" sz="900" b="0" i="0" u="none" strike="noStrike" baseline="0" noProof="0" err="1">
                          <a:solidFill>
                            <a:srgbClr val="000000"/>
                          </a:solidFill>
                          <a:latin typeface="Raleway"/>
                        </a:rPr>
                        <a:t>pemberkasan</a:t>
                      </a:r>
                      <a:endParaRPr lang="en-US" sz="900" b="0" i="0" u="none" strike="noStrike" baseline="0" noProof="0">
                        <a:solidFill>
                          <a:srgbClr val="000000"/>
                        </a:solidFill>
                        <a:latin typeface="Raleway"/>
                      </a:endParaRPr>
                    </a:p>
                    <a:p>
                      <a:pPr marL="0" lvl="0" indent="0" algn="l">
                        <a:lnSpc>
                          <a:spcPct val="100000"/>
                        </a:lnSpc>
                        <a:buNone/>
                      </a:pPr>
                      <a:r>
                        <a:rPr lang="en-US" sz="900" b="0" i="0" u="none" strike="noStrike" baseline="0" noProof="0">
                          <a:solidFill>
                            <a:srgbClr val="000000"/>
                          </a:solidFill>
                          <a:latin typeface="Raleway"/>
                        </a:rPr>
                        <a:t>- 5 </a:t>
                      </a:r>
                      <a:r>
                        <a:rPr lang="en-US" sz="900" b="0" i="0" u="none" strike="noStrike" baseline="0" noProof="0" err="1">
                          <a:solidFill>
                            <a:srgbClr val="000000"/>
                          </a:solidFill>
                          <a:latin typeface="Raleway"/>
                        </a:rPr>
                        <a:t>kandidat</a:t>
                      </a:r>
                      <a:r>
                        <a:rPr lang="en-US" sz="900" b="0" i="0" u="none" strike="noStrike" baseline="0" noProof="0">
                          <a:solidFill>
                            <a:srgbClr val="000000"/>
                          </a:solidFill>
                          <a:latin typeface="Raleway"/>
                        </a:rPr>
                        <a:t> shortlisted </a:t>
                      </a:r>
                      <a:r>
                        <a:rPr lang="en-US" sz="900" b="0" i="0" u="none" strike="noStrike" baseline="0" noProof="0" err="1">
                          <a:solidFill>
                            <a:srgbClr val="000000"/>
                          </a:solidFill>
                          <a:latin typeface="Raleway"/>
                        </a:rPr>
                        <a:t>dalam</a:t>
                      </a:r>
                      <a:r>
                        <a:rPr lang="en-US" sz="900" b="0" i="0" u="none" strike="noStrike" baseline="0" noProof="0">
                          <a:solidFill>
                            <a:srgbClr val="000000"/>
                          </a:solidFill>
                          <a:latin typeface="Raleway"/>
                        </a:rPr>
                        <a:t> proses </a:t>
                      </a:r>
                      <a:r>
                        <a:rPr lang="en-US" sz="900" b="0" i="0" u="none" strike="noStrike" baseline="0" noProof="0" err="1">
                          <a:solidFill>
                            <a:srgbClr val="000000"/>
                          </a:solidFill>
                          <a:latin typeface="Raleway"/>
                        </a:rPr>
                        <a:t>pemberkasan</a:t>
                      </a:r>
                      <a:endParaRPr lang="en-US" sz="900" b="0" i="0" u="none" strike="noStrike" baseline="0" noProof="0">
                        <a:solidFill>
                          <a:srgbClr val="000000"/>
                        </a:solidFill>
                        <a:latin typeface="Raleway"/>
                      </a:endParaRPr>
                    </a:p>
                    <a:p>
                      <a:pPr marL="0" lvl="0" indent="0" algn="l">
                        <a:lnSpc>
                          <a:spcPct val="100000"/>
                        </a:lnSpc>
                        <a:buNone/>
                      </a:pPr>
                      <a:r>
                        <a:rPr lang="en-US" sz="900" b="1" i="0" u="none" strike="noStrike" baseline="0" noProof="0">
                          <a:solidFill>
                            <a:srgbClr val="000000"/>
                          </a:solidFill>
                          <a:latin typeface="Raleway"/>
                        </a:rPr>
                        <a:t>Next Action</a:t>
                      </a:r>
                      <a:r>
                        <a:rPr lang="en-US" sz="900" b="0" i="0" u="none" strike="noStrike" baseline="0" noProof="0">
                          <a:solidFill>
                            <a:srgbClr val="000000"/>
                          </a:solidFill>
                          <a:latin typeface="Raleway"/>
                        </a:rPr>
                        <a:t>: Follow up </a:t>
                      </a:r>
                      <a:r>
                        <a:rPr lang="en-US" sz="900" b="0" i="0" u="none" strike="noStrike" baseline="0" noProof="0" err="1">
                          <a:solidFill>
                            <a:srgbClr val="000000"/>
                          </a:solidFill>
                          <a:latin typeface="Raleway"/>
                        </a:rPr>
                        <a:t>pemberkasan</a:t>
                      </a:r>
                      <a:r>
                        <a:rPr lang="en-US" sz="900" b="0" i="0" u="none" strike="noStrike" baseline="0" noProof="0">
                          <a:solidFill>
                            <a:srgbClr val="000000"/>
                          </a:solidFill>
                          <a:latin typeface="Raleway"/>
                        </a:rPr>
                        <a:t> dan Approval offer di Week 33</a:t>
                      </a:r>
                      <a:endParaRPr lang="en-US" sz="900">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911695667"/>
                  </a:ext>
                </a:extLst>
              </a:tr>
            </a:tbl>
          </a:graphicData>
        </a:graphic>
      </p:graphicFrame>
      <p:sp>
        <p:nvSpPr>
          <p:cNvPr id="7" name="TextBox 6">
            <a:extLst>
              <a:ext uri="{FF2B5EF4-FFF2-40B4-BE49-F238E27FC236}">
                <a16:creationId xmlns:a16="http://schemas.microsoft.com/office/drawing/2014/main" id="{2BB26FA4-9128-CB04-D6C0-2B5618AE065A}"/>
              </a:ext>
            </a:extLst>
          </p:cNvPr>
          <p:cNvSpPr txBox="1"/>
          <p:nvPr/>
        </p:nvSpPr>
        <p:spPr>
          <a:xfrm>
            <a:off x="2714172" y="330199"/>
            <a:ext cx="6640285" cy="461665"/>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2400" b="1" i="0" u="none" strike="noStrike" baseline="0">
                <a:solidFill>
                  <a:srgbClr val="000000"/>
                </a:solidFill>
                <a:latin typeface="Raleway"/>
              </a:rPr>
              <a:t>Recruitment Progress </a:t>
            </a:r>
            <a:r>
              <a:rPr lang="en-US" sz="2400" b="1">
                <a:solidFill>
                  <a:srgbClr val="000000"/>
                </a:solidFill>
                <a:latin typeface="Raleway"/>
              </a:rPr>
              <a:t>– Project STO Chilled</a:t>
            </a:r>
          </a:p>
        </p:txBody>
      </p:sp>
      <p:sp>
        <p:nvSpPr>
          <p:cNvPr id="9" name="TextBox 8">
            <a:extLst>
              <a:ext uri="{FF2B5EF4-FFF2-40B4-BE49-F238E27FC236}">
                <a16:creationId xmlns:a16="http://schemas.microsoft.com/office/drawing/2014/main" id="{DC4D7BB0-CFEA-12BB-60ED-CF08E2DB3C0C}"/>
              </a:ext>
            </a:extLst>
          </p:cNvPr>
          <p:cNvSpPr txBox="1"/>
          <p:nvPr/>
        </p:nvSpPr>
        <p:spPr>
          <a:xfrm>
            <a:off x="3386183" y="777938"/>
            <a:ext cx="5300618" cy="307777"/>
          </a:xfrm>
          <a:prstGeom prst="rect">
            <a:avLst/>
          </a:prstGeom>
          <a:noFill/>
        </p:spPr>
        <p:txBody>
          <a:bodyPr wrap="square" lIns="91440" tIns="45720" rIns="91440" bIns="45720" anchor="t">
            <a:spAutoFit/>
          </a:bodyPr>
          <a:lstStyle/>
          <a:p>
            <a:pPr algn="ctr"/>
            <a:r>
              <a:rPr lang="en-US" sz="1400" b="1" err="1">
                <a:solidFill>
                  <a:srgbClr val="002060"/>
                </a:solidFill>
                <a:latin typeface="Raleway"/>
              </a:rPr>
              <a:t>Gelombang</a:t>
            </a:r>
            <a:r>
              <a:rPr lang="en-US" sz="1400" b="1">
                <a:solidFill>
                  <a:srgbClr val="002060"/>
                </a:solidFill>
                <a:latin typeface="Raleway"/>
              </a:rPr>
              <a:t> 3- 3 FPTK Open</a:t>
            </a:r>
            <a:endParaRPr lang="en-US" sz="1400">
              <a:ea typeface="Calibri"/>
              <a:cs typeface="Calibri"/>
            </a:endParaRPr>
          </a:p>
        </p:txBody>
      </p:sp>
      <p:sp>
        <p:nvSpPr>
          <p:cNvPr id="2" name="TextBox 1">
            <a:extLst>
              <a:ext uri="{FF2B5EF4-FFF2-40B4-BE49-F238E27FC236}">
                <a16:creationId xmlns:a16="http://schemas.microsoft.com/office/drawing/2014/main" id="{13A01772-3FC0-A09E-3619-3E634BAB9D43}"/>
              </a:ext>
            </a:extLst>
          </p:cNvPr>
          <p:cNvSpPr txBox="1"/>
          <p:nvPr/>
        </p:nvSpPr>
        <p:spPr>
          <a:xfrm>
            <a:off x="153673" y="6461415"/>
            <a:ext cx="2907067" cy="261610"/>
          </a:xfrm>
          <a:prstGeom prst="rect">
            <a:avLst/>
          </a:prstGeom>
          <a:noFill/>
        </p:spPr>
        <p:txBody>
          <a:bodyPr wrap="square" lIns="91440" tIns="45720" rIns="91440" bIns="45720" rtlCol="0" anchor="t">
            <a:spAutoFit/>
          </a:bodyPr>
          <a:lstStyle/>
          <a:p>
            <a:pPr>
              <a:defRPr/>
            </a:pPr>
            <a:r>
              <a:rPr lang="en-US" sz="1100" i="1">
                <a:solidFill>
                  <a:prstClr val="black"/>
                </a:solidFill>
                <a:latin typeface="Raleway"/>
              </a:rPr>
              <a:t>*</a:t>
            </a:r>
            <a:r>
              <a:rPr kumimoji="0" lang="en-US" sz="1100" b="0" i="1" u="none" strike="noStrike" kern="1200" cap="none" spc="0" normalizeH="0" baseline="0" noProof="0">
                <a:ln>
                  <a:noFill/>
                </a:ln>
                <a:solidFill>
                  <a:prstClr val="black"/>
                </a:solidFill>
                <a:effectLst/>
                <a:uLnTx/>
                <a:uFillTx/>
                <a:latin typeface="Raleway"/>
                <a:ea typeface="+mn-ea"/>
                <a:cs typeface="+mn-cs"/>
              </a:rPr>
              <a:t>Update per </a:t>
            </a:r>
            <a:r>
              <a:rPr lang="en-US" sz="1100" i="1">
                <a:solidFill>
                  <a:prstClr val="black"/>
                </a:solidFill>
                <a:latin typeface="Raleway"/>
              </a:rPr>
              <a:t>7 Agustus 2026</a:t>
            </a:r>
            <a:endParaRPr lang="en-US">
              <a:solidFill>
                <a:prstClr val="black"/>
              </a:solidFill>
              <a:ea typeface="+mn-ea"/>
              <a:cs typeface="+mn-cs"/>
            </a:endParaRPr>
          </a:p>
        </p:txBody>
      </p:sp>
    </p:spTree>
    <p:extLst>
      <p:ext uri="{BB962C8B-B14F-4D97-AF65-F5344CB8AC3E}">
        <p14:creationId xmlns:p14="http://schemas.microsoft.com/office/powerpoint/2010/main" val="2195283515"/>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971FB3-F577-C1A0-CBA7-6AFD801E9D4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3FF7A4F-A7FA-9155-33CF-E78F580F55FA}"/>
              </a:ext>
            </a:extLst>
          </p:cNvPr>
          <p:cNvSpPr txBox="1">
            <a:spLocks/>
          </p:cNvSpPr>
          <p:nvPr/>
        </p:nvSpPr>
        <p:spPr>
          <a:xfrm>
            <a:off x="3031926" y="2702620"/>
            <a:ext cx="6128147" cy="1452759"/>
          </a:xfrm>
          <a:prstGeom prst="rect">
            <a:avLst/>
          </a:prstGeom>
        </p:spPr>
        <p:txBody>
          <a:bodyPr lIns="91440" tIns="45720" rIns="91440" bIns="45720" anchor="t">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3200" b="1" i="0" u="none" strike="noStrike" kern="1200" cap="none" spc="0" normalizeH="0" baseline="0" noProof="0">
                <a:ln>
                  <a:noFill/>
                </a:ln>
                <a:solidFill>
                  <a:srgbClr val="002060"/>
                </a:solidFill>
                <a:effectLst/>
                <a:uLnTx/>
                <a:uFillTx/>
                <a:latin typeface="Futura Condensed Extra" pitchFamily="50" charset="0"/>
                <a:ea typeface="+mj-ea"/>
                <a:cs typeface="+mj-cs"/>
              </a:rPr>
              <a:t>UPDATE PROGRESS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3200" b="1" i="0" u="none" strike="noStrike" kern="1200" cap="none" spc="0" normalizeH="0" baseline="0" noProof="0">
                <a:ln>
                  <a:noFill/>
                </a:ln>
                <a:solidFill>
                  <a:srgbClr val="002060"/>
                </a:solidFill>
                <a:effectLst/>
                <a:uLnTx/>
                <a:uFillTx/>
                <a:latin typeface="Futura Condensed Extra" pitchFamily="50" charset="0"/>
                <a:ea typeface="+mj-ea"/>
                <a:cs typeface="+mj-cs"/>
              </a:rPr>
              <a:t>PEMENUHAN SDM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3200" b="1" i="0" u="none" strike="noStrike" kern="1200" cap="none" spc="0" normalizeH="0" baseline="0" noProof="0">
                <a:ln>
                  <a:noFill/>
                </a:ln>
                <a:solidFill>
                  <a:srgbClr val="002060"/>
                </a:solidFill>
                <a:effectLst/>
                <a:uLnTx/>
                <a:uFillTx/>
                <a:latin typeface="Futura Condensed Extra" pitchFamily="50" charset="0"/>
                <a:ea typeface="+mj-ea"/>
                <a:cs typeface="+mj-cs"/>
              </a:rPr>
              <a:t>SALES GT – STO CHILLED</a:t>
            </a:r>
          </a:p>
          <a:p>
            <a:pPr marL="0" marR="0" lvl="0" indent="0" algn="ctr" defTabSz="914400" rtl="0" eaLnBrk="1" fontAlgn="auto" latinLnBrk="0" hangingPunct="1">
              <a:lnSpc>
                <a:spcPct val="80000"/>
              </a:lnSpc>
              <a:spcBef>
                <a:spcPts val="0"/>
              </a:spcBef>
              <a:spcAft>
                <a:spcPts val="0"/>
              </a:spcAft>
              <a:buClrTx/>
              <a:buSzTx/>
              <a:buFontTx/>
              <a:buNone/>
              <a:tabLst/>
              <a:defRPr/>
            </a:pPr>
            <a:endParaRPr lang="en-US" sz="3200" b="1">
              <a:solidFill>
                <a:srgbClr val="002060"/>
              </a:solidFill>
              <a:latin typeface="Futura Condensed Extra" pitchFamily="50" charset="0"/>
            </a:endParaRP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3200" b="1" i="0" u="none" strike="noStrike" kern="1200" cap="none" spc="0" normalizeH="0" baseline="0" noProof="0">
                <a:ln>
                  <a:noFill/>
                </a:ln>
                <a:solidFill>
                  <a:srgbClr val="002060"/>
                </a:solidFill>
                <a:effectLst/>
                <a:uLnTx/>
                <a:uFillTx/>
                <a:latin typeface="Futura Condensed Extra"/>
              </a:rPr>
              <a:t>GELOMBANG </a:t>
            </a:r>
            <a:r>
              <a:rPr lang="en-US" sz="3200" b="1">
                <a:solidFill>
                  <a:srgbClr val="002060"/>
                </a:solidFill>
                <a:latin typeface="Futura Condensed Extra"/>
              </a:rPr>
              <a:t>4</a:t>
            </a:r>
            <a:endParaRPr lang="en-US" sz="3200" b="1" i="0" u="none" strike="noStrike" kern="1200" cap="none" spc="0" normalizeH="0" baseline="0" noProof="0">
              <a:ln>
                <a:noFill/>
              </a:ln>
              <a:solidFill>
                <a:srgbClr val="002060"/>
              </a:solidFill>
              <a:effectLst/>
              <a:uLnTx/>
              <a:uFillTx/>
              <a:latin typeface="Futura Condensed Extra" pitchFamily="50" charset="0"/>
            </a:endParaRPr>
          </a:p>
        </p:txBody>
      </p:sp>
    </p:spTree>
    <p:extLst>
      <p:ext uri="{BB962C8B-B14F-4D97-AF65-F5344CB8AC3E}">
        <p14:creationId xmlns:p14="http://schemas.microsoft.com/office/powerpoint/2010/main" val="3072164672"/>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1FA65C-DCB9-0074-195E-43875EDEEACE}"/>
            </a:ext>
          </a:extLst>
        </p:cNvPr>
        <p:cNvGrpSpPr/>
        <p:nvPr/>
      </p:nvGrpSpPr>
      <p:grpSpPr>
        <a:xfrm>
          <a:off x="0" y="0"/>
          <a:ext cx="0" cy="0"/>
          <a:chOff x="0" y="0"/>
          <a:chExt cx="0" cy="0"/>
        </a:xfrm>
      </p:grpSpPr>
      <p:sp>
        <p:nvSpPr>
          <p:cNvPr id="15" name="Text 0">
            <a:extLst>
              <a:ext uri="{FF2B5EF4-FFF2-40B4-BE49-F238E27FC236}">
                <a16:creationId xmlns:a16="http://schemas.microsoft.com/office/drawing/2014/main" id="{8611A959-D6EA-93BC-F3F9-E750FF0FE1FB}"/>
              </a:ext>
            </a:extLst>
          </p:cNvPr>
          <p:cNvSpPr/>
          <p:nvPr/>
        </p:nvSpPr>
        <p:spPr>
          <a:xfrm>
            <a:off x="268258" y="-101600"/>
            <a:ext cx="9692640" cy="772439"/>
          </a:xfrm>
          <a:prstGeom prst="rect">
            <a:avLst/>
          </a:prstGeom>
          <a:noFill/>
          <a:ln/>
        </p:spPr>
        <p:txBody>
          <a:bodyPr wrap="square" lIns="0" tIns="0" rIns="0" bIns="0" rtlCol="0" anchor="ctr"/>
          <a:lstStyle/>
          <a:p>
            <a:pPr>
              <a:defRPr/>
            </a:pPr>
            <a:r>
              <a:rPr kumimoji="0" lang="en-US" sz="2400" b="1" i="0" u="none" strike="noStrike" kern="1200" cap="none" spc="0" normalizeH="0" baseline="0" noProof="0">
                <a:ln>
                  <a:noFill/>
                </a:ln>
                <a:effectLst/>
                <a:uLnTx/>
                <a:uFillTx/>
                <a:latin typeface="Raleway"/>
                <a:ea typeface="Raleway" pitchFamily="34" charset="-122"/>
                <a:cs typeface="Raleway" pitchFamily="34" charset="-120"/>
              </a:rPr>
              <a:t>STO Chilled: </a:t>
            </a:r>
            <a:r>
              <a:rPr lang="en-US" sz="2400" b="1">
                <a:latin typeface="Raleway"/>
                <a:ea typeface="Raleway" pitchFamily="34" charset="-122"/>
                <a:cs typeface="Raleway" pitchFamily="34" charset="-120"/>
              </a:rPr>
              <a:t>Man Power Planning</a:t>
            </a:r>
            <a:endParaRPr lang="en-US" sz="2400" b="0" i="0" u="none" strike="noStrike" kern="1200" cap="none" spc="0" normalizeH="0" baseline="0" noProof="0">
              <a:ln>
                <a:noFill/>
              </a:ln>
              <a:effectLst/>
              <a:uLnTx/>
              <a:uFillTx/>
              <a:latin typeface="Raleway"/>
            </a:endParaRPr>
          </a:p>
        </p:txBody>
      </p:sp>
      <p:sp>
        <p:nvSpPr>
          <p:cNvPr id="16" name="TextBox 15">
            <a:extLst>
              <a:ext uri="{FF2B5EF4-FFF2-40B4-BE49-F238E27FC236}">
                <a16:creationId xmlns:a16="http://schemas.microsoft.com/office/drawing/2014/main" id="{490A432F-36D1-614C-25FE-04973274A447}"/>
              </a:ext>
            </a:extLst>
          </p:cNvPr>
          <p:cNvSpPr txBox="1"/>
          <p:nvPr/>
        </p:nvSpPr>
        <p:spPr>
          <a:xfrm>
            <a:off x="229326" y="393310"/>
            <a:ext cx="9357360" cy="276999"/>
          </a:xfrm>
          <a:prstGeom prst="rect">
            <a:avLst/>
          </a:prstGeom>
          <a:noFill/>
        </p:spPr>
        <p:txBody>
          <a:bodyPr wrap="square" lIns="91440" tIns="45720" rIns="91440" bIns="45720" anchor="t">
            <a:spAutoFit/>
          </a:bodyPr>
          <a:lstStyle/>
          <a:p>
            <a:r>
              <a:rPr lang="en-US" sz="1200">
                <a:solidFill>
                  <a:srgbClr val="002060"/>
                </a:solidFill>
                <a:latin typeface="Raleway"/>
              </a:rPr>
              <a:t>Mapping</a:t>
            </a:r>
            <a:r>
              <a:rPr lang="en-US" sz="1200">
                <a:solidFill>
                  <a:srgbClr val="002060"/>
                </a:solidFill>
                <a:effectLst/>
                <a:latin typeface="Raleway"/>
              </a:rPr>
              <a:t> manpower </a:t>
            </a:r>
            <a:r>
              <a:rPr lang="en-US" sz="1200">
                <a:solidFill>
                  <a:srgbClr val="002060"/>
                </a:solidFill>
                <a:latin typeface="Raleway"/>
              </a:rPr>
              <a:t>Project STO</a:t>
            </a:r>
            <a:r>
              <a:rPr lang="en-US" sz="1200">
                <a:solidFill>
                  <a:srgbClr val="002060"/>
                </a:solidFill>
                <a:effectLst/>
                <a:latin typeface="Raleway"/>
              </a:rPr>
              <a:t> (Chilled) </a:t>
            </a:r>
            <a:r>
              <a:rPr lang="en-US" sz="1200">
                <a:solidFill>
                  <a:srgbClr val="002060"/>
                </a:solidFill>
                <a:latin typeface="Raleway"/>
              </a:rPr>
              <a:t>- </a:t>
            </a:r>
            <a:r>
              <a:rPr lang="en-US" sz="1200" b="1" err="1">
                <a:solidFill>
                  <a:srgbClr val="002060"/>
                </a:solidFill>
                <a:latin typeface="Raleway"/>
              </a:rPr>
              <a:t>Gelombang</a:t>
            </a:r>
            <a:r>
              <a:rPr lang="en-US" sz="1200" b="1">
                <a:solidFill>
                  <a:srgbClr val="002060"/>
                </a:solidFill>
                <a:latin typeface="Raleway"/>
              </a:rPr>
              <a:t> 4 </a:t>
            </a:r>
            <a:r>
              <a:rPr lang="en-US" sz="1200">
                <a:solidFill>
                  <a:srgbClr val="002060"/>
                </a:solidFill>
                <a:latin typeface="Raleway"/>
              </a:rPr>
              <a:t>–</a:t>
            </a:r>
            <a:r>
              <a:rPr lang="en-US" sz="1200" b="1">
                <a:solidFill>
                  <a:srgbClr val="002060"/>
                </a:solidFill>
                <a:latin typeface="Raleway"/>
              </a:rPr>
              <a:t> Start 1 Agustus </a:t>
            </a:r>
            <a:r>
              <a:rPr lang="en-US" sz="1200" b="1">
                <a:solidFill>
                  <a:srgbClr val="002060"/>
                </a:solidFill>
                <a:effectLst/>
                <a:latin typeface="Raleway"/>
              </a:rPr>
              <a:t>2026.</a:t>
            </a:r>
            <a:endParaRPr lang="en-US" sz="1200" b="1">
              <a:solidFill>
                <a:srgbClr val="002060"/>
              </a:solidFill>
            </a:endParaRPr>
          </a:p>
        </p:txBody>
      </p:sp>
      <p:sp>
        <p:nvSpPr>
          <p:cNvPr id="4" name="TextBox 16">
            <a:extLst>
              <a:ext uri="{FF2B5EF4-FFF2-40B4-BE49-F238E27FC236}">
                <a16:creationId xmlns:a16="http://schemas.microsoft.com/office/drawing/2014/main" id="{85D93659-4455-70E4-377D-D16B530E01AD}"/>
              </a:ext>
            </a:extLst>
          </p:cNvPr>
          <p:cNvSpPr txBox="1"/>
          <p:nvPr/>
        </p:nvSpPr>
        <p:spPr>
          <a:xfrm>
            <a:off x="7766302" y="1845941"/>
            <a:ext cx="3897732" cy="2246769"/>
          </a:xfrm>
          <a:prstGeom prst="rect">
            <a:avLst/>
          </a:prstGeom>
          <a:noFill/>
        </p:spPr>
        <p:txBody>
          <a:bodyPr wrap="square" lIns="91440" tIns="45720" rIns="91440" bIns="45720" anchor="t">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171450" indent="-171450">
              <a:buFont typeface="Arial" panose="020B0604020202020204" pitchFamily="34" charset="0"/>
              <a:buChar char="•"/>
            </a:pPr>
            <a:r>
              <a:rPr lang="en-US" sz="1400" b="1" err="1">
                <a:solidFill>
                  <a:srgbClr val="000000"/>
                </a:solidFill>
                <a:latin typeface="Raleway"/>
              </a:rPr>
              <a:t>Gelombang</a:t>
            </a:r>
            <a:r>
              <a:rPr lang="en-US" sz="1400" b="1">
                <a:solidFill>
                  <a:srgbClr val="000000"/>
                </a:solidFill>
                <a:latin typeface="Raleway"/>
              </a:rPr>
              <a:t> 4 </a:t>
            </a:r>
            <a:r>
              <a:rPr lang="en-US" sz="1400" err="1">
                <a:solidFill>
                  <a:srgbClr val="000000"/>
                </a:solidFill>
                <a:latin typeface="Raleway"/>
              </a:rPr>
              <a:t>dimulai</a:t>
            </a:r>
            <a:r>
              <a:rPr lang="en-US" sz="1400">
                <a:solidFill>
                  <a:srgbClr val="000000"/>
                </a:solidFill>
                <a:latin typeface="Raleway"/>
              </a:rPr>
              <a:t> pada </a:t>
            </a:r>
            <a:r>
              <a:rPr lang="en-US" sz="1400" b="1">
                <a:solidFill>
                  <a:srgbClr val="000000"/>
                </a:solidFill>
                <a:latin typeface="Raleway"/>
              </a:rPr>
              <a:t>1 Agustus 2026</a:t>
            </a:r>
            <a:r>
              <a:rPr lang="en-US" sz="1400">
                <a:solidFill>
                  <a:srgbClr val="000000"/>
                </a:solidFill>
                <a:latin typeface="Raleway"/>
              </a:rPr>
              <a:t>, </a:t>
            </a:r>
            <a:r>
              <a:rPr lang="en-US" sz="1400" err="1">
                <a:solidFill>
                  <a:srgbClr val="000000"/>
                </a:solidFill>
                <a:latin typeface="Raleway"/>
              </a:rPr>
              <a:t>dengan</a:t>
            </a:r>
            <a:r>
              <a:rPr lang="en-US" sz="1400">
                <a:solidFill>
                  <a:srgbClr val="000000"/>
                </a:solidFill>
                <a:latin typeface="Raleway"/>
              </a:rPr>
              <a:t> total FPTK yang </a:t>
            </a:r>
            <a:r>
              <a:rPr lang="en-US" sz="1400" err="1">
                <a:solidFill>
                  <a:srgbClr val="000000"/>
                </a:solidFill>
                <a:latin typeface="Raleway"/>
              </a:rPr>
              <a:t>perlu</a:t>
            </a:r>
            <a:r>
              <a:rPr lang="en-US" sz="1400">
                <a:solidFill>
                  <a:srgbClr val="000000"/>
                </a:solidFill>
                <a:latin typeface="Raleway"/>
              </a:rPr>
              <a:t> </a:t>
            </a:r>
            <a:r>
              <a:rPr lang="en-US" sz="1400" err="1">
                <a:solidFill>
                  <a:srgbClr val="000000"/>
                </a:solidFill>
                <a:latin typeface="Raleway"/>
              </a:rPr>
              <a:t>dipenuhi</a:t>
            </a:r>
            <a:r>
              <a:rPr lang="en-US" sz="1400">
                <a:solidFill>
                  <a:srgbClr val="000000"/>
                </a:solidFill>
                <a:latin typeface="Raleway"/>
              </a:rPr>
              <a:t> </a:t>
            </a:r>
            <a:r>
              <a:rPr lang="en-US" sz="1400" err="1">
                <a:solidFill>
                  <a:srgbClr val="000000"/>
                </a:solidFill>
                <a:latin typeface="Raleway"/>
              </a:rPr>
              <a:t>sebanyak</a:t>
            </a:r>
            <a:r>
              <a:rPr lang="en-US" sz="1400">
                <a:solidFill>
                  <a:srgbClr val="000000"/>
                </a:solidFill>
                <a:latin typeface="Raleway"/>
              </a:rPr>
              <a:t> </a:t>
            </a:r>
            <a:r>
              <a:rPr lang="en-US" sz="1400" b="1">
                <a:solidFill>
                  <a:srgbClr val="000000"/>
                </a:solidFill>
                <a:latin typeface="Raleway"/>
              </a:rPr>
              <a:t>59 FPTK, </a:t>
            </a:r>
            <a:r>
              <a:rPr lang="en-US" sz="1400" err="1">
                <a:solidFill>
                  <a:srgbClr val="000000"/>
                </a:solidFill>
                <a:latin typeface="Raleway"/>
              </a:rPr>
              <a:t>dengan</a:t>
            </a:r>
            <a:r>
              <a:rPr lang="en-US" sz="1400">
                <a:solidFill>
                  <a:srgbClr val="000000"/>
                </a:solidFill>
                <a:latin typeface="Raleway"/>
              </a:rPr>
              <a:t> </a:t>
            </a:r>
            <a:r>
              <a:rPr lang="en-US" sz="1400" err="1">
                <a:solidFill>
                  <a:srgbClr val="000000"/>
                </a:solidFill>
                <a:latin typeface="Raleway"/>
              </a:rPr>
              <a:t>rincian</a:t>
            </a:r>
            <a:r>
              <a:rPr lang="en-US" sz="1400">
                <a:solidFill>
                  <a:srgbClr val="000000"/>
                </a:solidFill>
                <a:latin typeface="Raleway"/>
              </a:rPr>
              <a:t> </a:t>
            </a:r>
            <a:endParaRPr lang="en-US" sz="1400" b="1">
              <a:solidFill>
                <a:srgbClr val="000000"/>
              </a:solidFill>
              <a:latin typeface="Raleway"/>
            </a:endParaRPr>
          </a:p>
          <a:p>
            <a:pPr marL="628650" lvl="1" indent="-171450">
              <a:buFont typeface="Courier New" panose="020B0604020202020204" pitchFamily="34" charset="0"/>
              <a:buChar char="o"/>
            </a:pPr>
            <a:r>
              <a:rPr lang="en-US" sz="1400" b="1">
                <a:solidFill>
                  <a:srgbClr val="000000"/>
                </a:solidFill>
                <a:latin typeface="Raleway"/>
              </a:rPr>
              <a:t>20 FPTK Closed</a:t>
            </a:r>
          </a:p>
          <a:p>
            <a:pPr marL="628650" lvl="1" indent="-171450">
              <a:buFont typeface="Courier New" panose="020B0604020202020204" pitchFamily="34" charset="0"/>
              <a:buChar char="o"/>
            </a:pPr>
            <a:r>
              <a:rPr lang="en-US" sz="1400" b="1">
                <a:solidFill>
                  <a:srgbClr val="000000"/>
                </a:solidFill>
                <a:latin typeface="Raleway"/>
              </a:rPr>
              <a:t>39 FPTK Open</a:t>
            </a:r>
            <a:endParaRPr lang="en-US" sz="1400" b="1">
              <a:latin typeface="Raleway"/>
            </a:endParaRPr>
          </a:p>
          <a:p>
            <a:pPr lvl="2"/>
            <a:endParaRPr lang="en-US" sz="1400" b="1">
              <a:solidFill>
                <a:srgbClr val="000000"/>
              </a:solidFill>
              <a:latin typeface="Raleway"/>
              <a:ea typeface="Calibri"/>
              <a:cs typeface="Calibri"/>
            </a:endParaRPr>
          </a:p>
          <a:p>
            <a:pPr marL="171450" indent="-171450">
              <a:buFont typeface="Arial" panose="020B0604020202020204" pitchFamily="34" charset="0"/>
              <a:buChar char="•"/>
            </a:pPr>
            <a:r>
              <a:rPr lang="en-US" sz="1400" err="1">
                <a:solidFill>
                  <a:srgbClr val="000000"/>
                </a:solidFill>
                <a:latin typeface="Raleway"/>
                <a:ea typeface="Calibri"/>
                <a:cs typeface="Calibri"/>
              </a:rPr>
              <a:t>Pemenuhan</a:t>
            </a:r>
            <a:r>
              <a:rPr lang="en-US" sz="1400">
                <a:solidFill>
                  <a:srgbClr val="000000"/>
                </a:solidFill>
                <a:latin typeface="Raleway"/>
                <a:ea typeface="Calibri"/>
                <a:cs typeface="Calibri"/>
              </a:rPr>
              <a:t> </a:t>
            </a:r>
            <a:r>
              <a:rPr lang="en-US" sz="1400" b="1" err="1">
                <a:solidFill>
                  <a:srgbClr val="000000"/>
                </a:solidFill>
                <a:latin typeface="Raleway"/>
                <a:ea typeface="Calibri"/>
                <a:cs typeface="Calibri"/>
              </a:rPr>
              <a:t>gelombang</a:t>
            </a:r>
            <a:r>
              <a:rPr lang="en-US" sz="1400" b="1">
                <a:solidFill>
                  <a:srgbClr val="000000"/>
                </a:solidFill>
                <a:latin typeface="Raleway"/>
                <a:ea typeface="Calibri"/>
                <a:cs typeface="Calibri"/>
              </a:rPr>
              <a:t> 4 </a:t>
            </a:r>
            <a:r>
              <a:rPr lang="en-US" sz="1400" b="1" err="1">
                <a:solidFill>
                  <a:srgbClr val="000000"/>
                </a:solidFill>
                <a:latin typeface="Raleway"/>
                <a:ea typeface="Calibri"/>
                <a:cs typeface="Calibri"/>
              </a:rPr>
              <a:t>dimulai</a:t>
            </a:r>
            <a:r>
              <a:rPr lang="en-US" sz="1400" b="1">
                <a:solidFill>
                  <a:srgbClr val="000000"/>
                </a:solidFill>
                <a:latin typeface="Raleway"/>
                <a:ea typeface="Calibri"/>
                <a:cs typeface="Calibri"/>
              </a:rPr>
              <a:t> </a:t>
            </a:r>
            <a:r>
              <a:rPr lang="en-US" sz="1400" b="1" err="1">
                <a:solidFill>
                  <a:srgbClr val="000000"/>
                </a:solidFill>
                <a:latin typeface="Raleway"/>
                <a:ea typeface="Calibri"/>
                <a:cs typeface="Calibri"/>
              </a:rPr>
              <a:t>lebih</a:t>
            </a:r>
            <a:r>
              <a:rPr lang="en-US" sz="1400" b="1">
                <a:solidFill>
                  <a:srgbClr val="000000"/>
                </a:solidFill>
                <a:latin typeface="Raleway"/>
                <a:ea typeface="Calibri"/>
                <a:cs typeface="Calibri"/>
              </a:rPr>
              <a:t> </a:t>
            </a:r>
            <a:r>
              <a:rPr lang="en-US" sz="1400" b="1" err="1">
                <a:solidFill>
                  <a:srgbClr val="000000"/>
                </a:solidFill>
                <a:latin typeface="Raleway"/>
                <a:ea typeface="Calibri"/>
                <a:cs typeface="Calibri"/>
              </a:rPr>
              <a:t>awal</a:t>
            </a:r>
            <a:r>
              <a:rPr lang="en-US" sz="1400">
                <a:solidFill>
                  <a:srgbClr val="000000"/>
                </a:solidFill>
                <a:latin typeface="Raleway"/>
                <a:ea typeface="Calibri"/>
                <a:cs typeface="Calibri"/>
              </a:rPr>
              <a:t> </a:t>
            </a:r>
            <a:r>
              <a:rPr lang="en-US" sz="1400" err="1">
                <a:solidFill>
                  <a:srgbClr val="000000"/>
                </a:solidFill>
                <a:latin typeface="Raleway"/>
                <a:ea typeface="Calibri"/>
                <a:cs typeface="Calibri"/>
              </a:rPr>
              <a:t>karena</a:t>
            </a:r>
            <a:r>
              <a:rPr lang="en-US" sz="1400">
                <a:solidFill>
                  <a:srgbClr val="000000"/>
                </a:solidFill>
                <a:latin typeface="Raleway"/>
                <a:ea typeface="Calibri"/>
                <a:cs typeface="Calibri"/>
              </a:rPr>
              <a:t> </a:t>
            </a:r>
            <a:r>
              <a:rPr lang="en-US" sz="1400" b="1" err="1">
                <a:solidFill>
                  <a:srgbClr val="000000"/>
                </a:solidFill>
                <a:latin typeface="Raleway"/>
                <a:ea typeface="Calibri"/>
                <a:cs typeface="Calibri"/>
              </a:rPr>
              <a:t>beberapa</a:t>
            </a:r>
            <a:r>
              <a:rPr lang="en-US" sz="1400" b="1">
                <a:solidFill>
                  <a:srgbClr val="000000"/>
                </a:solidFill>
                <a:latin typeface="Raleway"/>
                <a:ea typeface="Calibri"/>
                <a:cs typeface="Calibri"/>
              </a:rPr>
              <a:t> FPTK</a:t>
            </a:r>
            <a:r>
              <a:rPr lang="en-US" sz="1400">
                <a:solidFill>
                  <a:srgbClr val="000000"/>
                </a:solidFill>
                <a:latin typeface="Raleway"/>
                <a:ea typeface="Calibri"/>
                <a:cs typeface="Calibri"/>
              </a:rPr>
              <a:t> </a:t>
            </a:r>
            <a:r>
              <a:rPr lang="en-US" sz="1400" err="1">
                <a:solidFill>
                  <a:srgbClr val="000000"/>
                </a:solidFill>
                <a:latin typeface="Raleway"/>
                <a:ea typeface="Calibri"/>
                <a:cs typeface="Calibri"/>
              </a:rPr>
              <a:t>sudah</a:t>
            </a:r>
            <a:r>
              <a:rPr lang="en-US" sz="1400">
                <a:solidFill>
                  <a:srgbClr val="000000"/>
                </a:solidFill>
                <a:latin typeface="Raleway"/>
                <a:ea typeface="Calibri"/>
                <a:cs typeface="Calibri"/>
              </a:rPr>
              <a:t> </a:t>
            </a:r>
            <a:r>
              <a:rPr lang="en-US" sz="1400" b="1" err="1">
                <a:solidFill>
                  <a:srgbClr val="000000"/>
                </a:solidFill>
                <a:latin typeface="Raleway"/>
                <a:ea typeface="Calibri"/>
                <a:cs typeface="Calibri"/>
              </a:rPr>
              <a:t>memiliki</a:t>
            </a:r>
            <a:r>
              <a:rPr lang="en-US" sz="1400" b="1">
                <a:solidFill>
                  <a:srgbClr val="000000"/>
                </a:solidFill>
                <a:latin typeface="Raleway"/>
                <a:ea typeface="Calibri"/>
                <a:cs typeface="Calibri"/>
              </a:rPr>
              <a:t> </a:t>
            </a:r>
            <a:r>
              <a:rPr lang="en-US" sz="1400" b="1" err="1">
                <a:solidFill>
                  <a:srgbClr val="000000"/>
                </a:solidFill>
                <a:latin typeface="Raleway"/>
                <a:ea typeface="Calibri"/>
                <a:cs typeface="Calibri"/>
              </a:rPr>
              <a:t>kandidat</a:t>
            </a:r>
            <a:r>
              <a:rPr lang="en-US" sz="1400" b="1">
                <a:solidFill>
                  <a:srgbClr val="000000"/>
                </a:solidFill>
                <a:latin typeface="Raleway"/>
                <a:ea typeface="Calibri"/>
                <a:cs typeface="Calibri"/>
              </a:rPr>
              <a:t> yang </a:t>
            </a:r>
            <a:r>
              <a:rPr lang="en-US" sz="1400" b="1" err="1">
                <a:solidFill>
                  <a:srgbClr val="000000"/>
                </a:solidFill>
                <a:latin typeface="Raleway"/>
                <a:ea typeface="Calibri"/>
                <a:cs typeface="Calibri"/>
              </a:rPr>
              <a:t>dapat</a:t>
            </a:r>
            <a:r>
              <a:rPr lang="en-US" sz="1400" b="1">
                <a:solidFill>
                  <a:srgbClr val="000000"/>
                </a:solidFill>
                <a:latin typeface="Raleway"/>
                <a:ea typeface="Calibri"/>
                <a:cs typeface="Calibri"/>
              </a:rPr>
              <a:t> </a:t>
            </a:r>
            <a:r>
              <a:rPr lang="en-US" sz="1400" b="1" err="1">
                <a:solidFill>
                  <a:srgbClr val="000000"/>
                </a:solidFill>
                <a:latin typeface="Raleway"/>
                <a:ea typeface="Calibri"/>
                <a:cs typeface="Calibri"/>
              </a:rPr>
              <a:t>diproses</a:t>
            </a:r>
            <a:r>
              <a:rPr lang="en-US" sz="1400" b="1">
                <a:solidFill>
                  <a:srgbClr val="000000"/>
                </a:solidFill>
                <a:latin typeface="Raleway"/>
                <a:ea typeface="Calibri"/>
                <a:cs typeface="Calibri"/>
              </a:rPr>
              <a:t>. </a:t>
            </a:r>
          </a:p>
        </p:txBody>
      </p:sp>
      <p:sp>
        <p:nvSpPr>
          <p:cNvPr id="2" name="TextBox 1">
            <a:extLst>
              <a:ext uri="{FF2B5EF4-FFF2-40B4-BE49-F238E27FC236}">
                <a16:creationId xmlns:a16="http://schemas.microsoft.com/office/drawing/2014/main" id="{66D3331F-98DC-5157-A16F-6ABB4A9979C0}"/>
              </a:ext>
            </a:extLst>
          </p:cNvPr>
          <p:cNvSpPr txBox="1"/>
          <p:nvPr/>
        </p:nvSpPr>
        <p:spPr>
          <a:xfrm>
            <a:off x="153673" y="6461415"/>
            <a:ext cx="2907067" cy="261610"/>
          </a:xfrm>
          <a:prstGeom prst="rect">
            <a:avLst/>
          </a:prstGeom>
          <a:noFill/>
        </p:spPr>
        <p:txBody>
          <a:bodyPr wrap="square" lIns="91440" tIns="45720" rIns="91440" bIns="45720" rtlCol="0" anchor="t">
            <a:spAutoFit/>
          </a:bodyPr>
          <a:lstStyle/>
          <a:p>
            <a:pPr>
              <a:defRPr/>
            </a:pPr>
            <a:r>
              <a:rPr lang="en-US" sz="1100" i="1">
                <a:solidFill>
                  <a:prstClr val="black"/>
                </a:solidFill>
                <a:latin typeface="Raleway"/>
              </a:rPr>
              <a:t>*</a:t>
            </a:r>
            <a:r>
              <a:rPr kumimoji="0" lang="en-US" sz="1100" b="0" i="1" u="none" strike="noStrike" kern="1200" cap="none" spc="0" normalizeH="0" baseline="0" noProof="0">
                <a:ln>
                  <a:noFill/>
                </a:ln>
                <a:solidFill>
                  <a:prstClr val="black"/>
                </a:solidFill>
                <a:effectLst/>
                <a:uLnTx/>
                <a:uFillTx/>
                <a:latin typeface="Raleway"/>
                <a:ea typeface="+mn-ea"/>
                <a:cs typeface="+mn-cs"/>
              </a:rPr>
              <a:t>Update per </a:t>
            </a:r>
            <a:r>
              <a:rPr lang="en-US" sz="1100" i="1">
                <a:solidFill>
                  <a:prstClr val="black"/>
                </a:solidFill>
                <a:latin typeface="Raleway"/>
              </a:rPr>
              <a:t>7 Agustus 2026</a:t>
            </a:r>
            <a:endParaRPr lang="en-US">
              <a:solidFill>
                <a:prstClr val="black"/>
              </a:solidFill>
              <a:ea typeface="+mn-ea"/>
              <a:cs typeface="+mn-cs"/>
            </a:endParaRPr>
          </a:p>
        </p:txBody>
      </p:sp>
      <p:graphicFrame>
        <p:nvGraphicFramePr>
          <p:cNvPr id="5" name="Table 4">
            <a:extLst>
              <a:ext uri="{FF2B5EF4-FFF2-40B4-BE49-F238E27FC236}">
                <a16:creationId xmlns:a16="http://schemas.microsoft.com/office/drawing/2014/main" id="{37CD8DC2-117F-72C1-631D-CD38EBED1FA6}"/>
              </a:ext>
            </a:extLst>
          </p:cNvPr>
          <p:cNvGraphicFramePr>
            <a:graphicFrameLocks noGrp="1"/>
          </p:cNvGraphicFramePr>
          <p:nvPr/>
        </p:nvGraphicFramePr>
        <p:xfrm>
          <a:off x="289379" y="752351"/>
          <a:ext cx="7281007" cy="5664654"/>
        </p:xfrm>
        <a:graphic>
          <a:graphicData uri="http://schemas.openxmlformats.org/drawingml/2006/table">
            <a:tbl>
              <a:tblPr bandRow="1">
                <a:tableStyleId>{5C22544A-7EE6-4342-B048-85BDC9FD1C3A}</a:tableStyleId>
              </a:tblPr>
              <a:tblGrid>
                <a:gridCol w="1342528">
                  <a:extLst>
                    <a:ext uri="{9D8B030D-6E8A-4147-A177-3AD203B41FA5}">
                      <a16:colId xmlns:a16="http://schemas.microsoft.com/office/drawing/2014/main" val="1306474463"/>
                    </a:ext>
                  </a:extLst>
                </a:gridCol>
                <a:gridCol w="1342528">
                  <a:extLst>
                    <a:ext uri="{9D8B030D-6E8A-4147-A177-3AD203B41FA5}">
                      <a16:colId xmlns:a16="http://schemas.microsoft.com/office/drawing/2014/main" val="2478396338"/>
                    </a:ext>
                  </a:extLst>
                </a:gridCol>
                <a:gridCol w="705561">
                  <a:extLst>
                    <a:ext uri="{9D8B030D-6E8A-4147-A177-3AD203B41FA5}">
                      <a16:colId xmlns:a16="http://schemas.microsoft.com/office/drawing/2014/main" val="3680731895"/>
                    </a:ext>
                  </a:extLst>
                </a:gridCol>
                <a:gridCol w="705561">
                  <a:extLst>
                    <a:ext uri="{9D8B030D-6E8A-4147-A177-3AD203B41FA5}">
                      <a16:colId xmlns:a16="http://schemas.microsoft.com/office/drawing/2014/main" val="2991183867"/>
                    </a:ext>
                  </a:extLst>
                </a:gridCol>
                <a:gridCol w="862353">
                  <a:extLst>
                    <a:ext uri="{9D8B030D-6E8A-4147-A177-3AD203B41FA5}">
                      <a16:colId xmlns:a16="http://schemas.microsoft.com/office/drawing/2014/main" val="2376187744"/>
                    </a:ext>
                  </a:extLst>
                </a:gridCol>
                <a:gridCol w="548771">
                  <a:extLst>
                    <a:ext uri="{9D8B030D-6E8A-4147-A177-3AD203B41FA5}">
                      <a16:colId xmlns:a16="http://schemas.microsoft.com/office/drawing/2014/main" val="1666777817"/>
                    </a:ext>
                  </a:extLst>
                </a:gridCol>
                <a:gridCol w="930950">
                  <a:extLst>
                    <a:ext uri="{9D8B030D-6E8A-4147-A177-3AD203B41FA5}">
                      <a16:colId xmlns:a16="http://schemas.microsoft.com/office/drawing/2014/main" val="123531444"/>
                    </a:ext>
                  </a:extLst>
                </a:gridCol>
                <a:gridCol w="842755">
                  <a:extLst>
                    <a:ext uri="{9D8B030D-6E8A-4147-A177-3AD203B41FA5}">
                      <a16:colId xmlns:a16="http://schemas.microsoft.com/office/drawing/2014/main" val="3571582738"/>
                    </a:ext>
                  </a:extLst>
                </a:gridCol>
              </a:tblGrid>
              <a:tr h="499706">
                <a:tc>
                  <a:txBody>
                    <a:bodyPr/>
                    <a:lstStyle/>
                    <a:p>
                      <a:pPr algn="ctr" rtl="0" fontAlgn="ctr">
                        <a:buNone/>
                      </a:pPr>
                      <a:r>
                        <a:rPr lang="en-US" sz="900" b="1">
                          <a:solidFill>
                            <a:srgbClr val="FFFFFF"/>
                          </a:solidFill>
                          <a:effectLst/>
                          <a:latin typeface="Raleway"/>
                        </a:rPr>
                        <a:t>RSM</a:t>
                      </a:r>
                    </a:p>
                  </a:txBody>
                  <a:tcPr marL="9525" marR="9525" marT="9525" anchor="ctr">
                    <a:lnL w="12700" cap="flat" cmpd="sng" algn="ctr">
                      <a:solidFill>
                        <a:srgbClr val="A07798"/>
                      </a:solidFill>
                      <a:prstDash val="solid"/>
                      <a:round/>
                      <a:headEnd type="none" w="med" len="med"/>
                      <a:tailEnd type="none" w="med" len="med"/>
                    </a:lnL>
                    <a:lnR>
                      <a:noFill/>
                    </a:lnR>
                    <a:lnT w="12700" cap="flat" cmpd="sng" algn="ctr">
                      <a:solidFill>
                        <a:srgbClr val="A07798"/>
                      </a:solidFill>
                      <a:prstDash val="solid"/>
                      <a:round/>
                      <a:headEnd type="none" w="med" len="med"/>
                      <a:tailEnd type="none" w="med" len="med"/>
                    </a:lnT>
                    <a:lnB>
                      <a:noFill/>
                    </a:lnB>
                    <a:solidFill>
                      <a:srgbClr val="002060"/>
                    </a:solidFill>
                  </a:tcPr>
                </a:tc>
                <a:tc>
                  <a:txBody>
                    <a:bodyPr/>
                    <a:lstStyle/>
                    <a:p>
                      <a:pPr algn="ctr" rtl="0" fontAlgn="ctr">
                        <a:buNone/>
                      </a:pPr>
                      <a:r>
                        <a:rPr lang="en-US" sz="900" b="1">
                          <a:solidFill>
                            <a:srgbClr val="FFFFFF"/>
                          </a:solidFill>
                          <a:effectLst/>
                          <a:latin typeface="Raleway"/>
                        </a:rPr>
                        <a:t>AREA</a:t>
                      </a:r>
                    </a:p>
                  </a:txBody>
                  <a:tcPr marL="9525" marR="9525" marT="9525" anchor="ctr">
                    <a:lnL>
                      <a:noFill/>
                    </a:lnL>
                    <a:lnR>
                      <a:noFill/>
                    </a:lnR>
                    <a:lnT w="12700" cap="flat" cmpd="sng" algn="ctr">
                      <a:solidFill>
                        <a:srgbClr val="30E3D4"/>
                      </a:solidFill>
                      <a:prstDash val="solid"/>
                      <a:round/>
                      <a:headEnd type="none" w="med" len="med"/>
                      <a:tailEnd type="none" w="med" len="med"/>
                    </a:lnT>
                    <a:lnB>
                      <a:noFill/>
                    </a:lnB>
                    <a:solidFill>
                      <a:srgbClr val="002060"/>
                    </a:solidFill>
                  </a:tcPr>
                </a:tc>
                <a:tc>
                  <a:txBody>
                    <a:bodyPr/>
                    <a:lstStyle/>
                    <a:p>
                      <a:pPr algn="ctr" rtl="0" fontAlgn="ctr">
                        <a:buNone/>
                      </a:pPr>
                      <a:r>
                        <a:rPr lang="en-US" sz="900" b="1">
                          <a:solidFill>
                            <a:srgbClr val="FFFFFF"/>
                          </a:solidFill>
                          <a:effectLst/>
                          <a:latin typeface="Raleway"/>
                        </a:rPr>
                        <a:t>MPP</a:t>
                      </a:r>
                    </a:p>
                  </a:txBody>
                  <a:tcPr marL="9525" marR="9525" marT="9525" anchor="ctr">
                    <a:lnL>
                      <a:noFill/>
                    </a:lnL>
                    <a:lnR>
                      <a:noFill/>
                    </a:lnR>
                    <a:lnT w="12700" cap="flat" cmpd="sng" algn="ctr">
                      <a:solidFill>
                        <a:srgbClr val="30F0D4"/>
                      </a:solidFill>
                      <a:prstDash val="solid"/>
                      <a:round/>
                      <a:headEnd type="none" w="med" len="med"/>
                      <a:tailEnd type="none" w="med" len="med"/>
                    </a:lnT>
                    <a:lnB>
                      <a:noFill/>
                    </a:lnB>
                    <a:solidFill>
                      <a:srgbClr val="002060"/>
                    </a:solidFill>
                  </a:tcPr>
                </a:tc>
                <a:tc>
                  <a:txBody>
                    <a:bodyPr/>
                    <a:lstStyle/>
                    <a:p>
                      <a:pPr algn="ctr" rtl="0" fontAlgn="ctr">
                        <a:buNone/>
                      </a:pPr>
                      <a:r>
                        <a:rPr lang="en-US" sz="900" b="1">
                          <a:solidFill>
                            <a:srgbClr val="FFFFFF"/>
                          </a:solidFill>
                          <a:effectLst/>
                          <a:latin typeface="Raleway"/>
                        </a:rPr>
                        <a:t>PIC </a:t>
                      </a:r>
                      <a:r>
                        <a:rPr lang="en-US" sz="900" b="1" err="1">
                          <a:solidFill>
                            <a:srgbClr val="FFFFFF"/>
                          </a:solidFill>
                          <a:effectLst/>
                          <a:latin typeface="Raleway"/>
                        </a:rPr>
                        <a:t>Rekruter</a:t>
                      </a:r>
                    </a:p>
                  </a:txBody>
                  <a:tcPr marL="9525" marR="9525" marT="9525" anchor="ctr">
                    <a:lnL>
                      <a:noFill/>
                    </a:lnL>
                    <a:lnR>
                      <a:noFill/>
                    </a:lnR>
                    <a:lnT w="12700" cap="flat" cmpd="sng" algn="ctr">
                      <a:solidFill>
                        <a:srgbClr val="30EAD4"/>
                      </a:solidFill>
                      <a:prstDash val="solid"/>
                      <a:round/>
                      <a:headEnd type="none" w="med" len="med"/>
                      <a:tailEnd type="none" w="med" len="med"/>
                    </a:lnT>
                    <a:lnB>
                      <a:noFill/>
                    </a:lnB>
                    <a:solidFill>
                      <a:srgbClr val="002060"/>
                    </a:solidFill>
                  </a:tcPr>
                </a:tc>
                <a:tc>
                  <a:txBody>
                    <a:bodyPr/>
                    <a:lstStyle/>
                    <a:p>
                      <a:pPr algn="ctr" rtl="0" fontAlgn="ctr">
                        <a:buNone/>
                      </a:pPr>
                      <a:r>
                        <a:rPr lang="en-US" sz="900" b="1">
                          <a:solidFill>
                            <a:srgbClr val="FFFFFF"/>
                          </a:solidFill>
                          <a:effectLst/>
                          <a:latin typeface="Raleway"/>
                        </a:rPr>
                        <a:t>Status</a:t>
                      </a:r>
                    </a:p>
                  </a:txBody>
                  <a:tcPr marL="9525" marR="9525" marT="9525" anchor="ctr">
                    <a:lnL>
                      <a:noFill/>
                    </a:lnL>
                    <a:lnR>
                      <a:noFill/>
                    </a:lnR>
                    <a:lnT w="12700" cap="flat" cmpd="sng" algn="ctr">
                      <a:solidFill>
                        <a:srgbClr val="30F5D4"/>
                      </a:solidFill>
                      <a:prstDash val="solid"/>
                      <a:round/>
                      <a:headEnd type="none" w="med" len="med"/>
                      <a:tailEnd type="none" w="med" len="med"/>
                    </a:lnT>
                    <a:lnB>
                      <a:noFill/>
                    </a:lnB>
                    <a:solidFill>
                      <a:srgbClr val="002060"/>
                    </a:solidFill>
                  </a:tcPr>
                </a:tc>
                <a:tc>
                  <a:txBody>
                    <a:bodyPr/>
                    <a:lstStyle/>
                    <a:p>
                      <a:pPr algn="ctr" rtl="0" fontAlgn="ctr">
                        <a:buNone/>
                      </a:pPr>
                      <a:r>
                        <a:rPr lang="en-US" sz="900" b="1">
                          <a:solidFill>
                            <a:srgbClr val="FFFFFF"/>
                          </a:solidFill>
                          <a:effectLst/>
                          <a:latin typeface="Raleway"/>
                        </a:rPr>
                        <a:t>FPTK Closed</a:t>
                      </a:r>
                    </a:p>
                  </a:txBody>
                  <a:tcPr marL="9525" marR="9525" marT="9525" anchor="ctr">
                    <a:lnL>
                      <a:noFill/>
                    </a:lnL>
                    <a:lnR>
                      <a:noFill/>
                    </a:lnR>
                    <a:lnT w="12700" cap="flat" cmpd="sng" algn="ctr">
                      <a:solidFill>
                        <a:srgbClr val="30F4D4"/>
                      </a:solidFill>
                      <a:prstDash val="solid"/>
                      <a:round/>
                      <a:headEnd type="none" w="med" len="med"/>
                      <a:tailEnd type="none" w="med" len="med"/>
                    </a:lnT>
                    <a:lnB>
                      <a:noFill/>
                    </a:lnB>
                    <a:solidFill>
                      <a:srgbClr val="002060"/>
                    </a:solidFill>
                  </a:tcPr>
                </a:tc>
                <a:tc>
                  <a:txBody>
                    <a:bodyPr/>
                    <a:lstStyle/>
                    <a:p>
                      <a:pPr algn="ctr" rtl="0" fontAlgn="ctr">
                        <a:buNone/>
                      </a:pPr>
                      <a:r>
                        <a:rPr lang="en-US" sz="900" b="1">
                          <a:solidFill>
                            <a:srgbClr val="FFFFFF"/>
                          </a:solidFill>
                          <a:effectLst/>
                          <a:latin typeface="Raleway"/>
                        </a:rPr>
                        <a:t>Sisa MPP</a:t>
                      </a:r>
                    </a:p>
                  </a:txBody>
                  <a:tcPr marL="9525" marR="9525" marT="9525" anchor="ctr">
                    <a:lnL>
                      <a:noFill/>
                    </a:lnL>
                    <a:lnR>
                      <a:noFill/>
                    </a:lnR>
                    <a:lnT w="12700" cap="flat" cmpd="sng" algn="ctr">
                      <a:solidFill>
                        <a:srgbClr val="B0FCD4"/>
                      </a:solidFill>
                      <a:prstDash val="solid"/>
                      <a:round/>
                      <a:headEnd type="none" w="med" len="med"/>
                      <a:tailEnd type="none" w="med" len="med"/>
                    </a:lnT>
                    <a:lnB>
                      <a:noFill/>
                    </a:lnB>
                    <a:solidFill>
                      <a:srgbClr val="61CBF3"/>
                    </a:solidFill>
                  </a:tcPr>
                </a:tc>
                <a:tc>
                  <a:txBody>
                    <a:bodyPr/>
                    <a:lstStyle/>
                    <a:p>
                      <a:pPr algn="ctr" rtl="0" fontAlgn="ctr">
                        <a:buNone/>
                      </a:pPr>
                      <a:r>
                        <a:rPr lang="en-US" sz="900" b="1">
                          <a:solidFill>
                            <a:srgbClr val="FFFFFF"/>
                          </a:solidFill>
                          <a:effectLst/>
                          <a:latin typeface="Raleway"/>
                        </a:rPr>
                        <a:t>TGL DIBUTUHKAN</a:t>
                      </a:r>
                    </a:p>
                  </a:txBody>
                  <a:tcPr marL="9525" marR="9525" marT="9525" anchor="ctr">
                    <a:lnL>
                      <a:noFill/>
                    </a:lnL>
                    <a:lnR w="12700" cap="flat" cmpd="sng" algn="ctr">
                      <a:solidFill>
                        <a:srgbClr val="70FED4"/>
                      </a:solidFill>
                      <a:prstDash val="solid"/>
                      <a:round/>
                      <a:headEnd type="none" w="med" len="med"/>
                      <a:tailEnd type="none" w="med" len="med"/>
                    </a:lnR>
                    <a:lnT w="12700" cap="flat" cmpd="sng" algn="ctr">
                      <a:solidFill>
                        <a:srgbClr val="70FED4"/>
                      </a:solidFill>
                      <a:prstDash val="solid"/>
                      <a:round/>
                      <a:headEnd type="none" w="med" len="med"/>
                      <a:tailEnd type="none" w="med" len="med"/>
                    </a:lnT>
                    <a:lnB>
                      <a:noFill/>
                    </a:lnB>
                    <a:solidFill>
                      <a:srgbClr val="002060"/>
                    </a:solidFill>
                  </a:tcPr>
                </a:tc>
                <a:extLst>
                  <a:ext uri="{0D108BD9-81ED-4DB2-BD59-A6C34878D82A}">
                    <a16:rowId xmlns:a16="http://schemas.microsoft.com/office/drawing/2014/main" val="2004510764"/>
                  </a:ext>
                </a:extLst>
              </a:tr>
              <a:tr h="323338">
                <a:tc>
                  <a:txBody>
                    <a:bodyPr/>
                    <a:lstStyle/>
                    <a:p>
                      <a:pPr rtl="0" fontAlgn="ctr">
                        <a:buNone/>
                      </a:pPr>
                      <a:r>
                        <a:rPr lang="en-US" sz="900" err="1">
                          <a:effectLst/>
                          <a:latin typeface="Raleway"/>
                        </a:rPr>
                        <a:t>Jabodetabek</a:t>
                      </a:r>
                      <a:r>
                        <a:rPr lang="en-US" sz="900">
                          <a:effectLst/>
                          <a:latin typeface="Raleway"/>
                        </a:rPr>
                        <a:t> Banten</a:t>
                      </a:r>
                    </a:p>
                  </a:txBody>
                  <a:tcPr marL="9525" marR="9525" marT="9525" anchor="ctr">
                    <a:lnL w="12700" cap="flat" cmpd="sng" algn="ctr">
                      <a:solidFill>
                        <a:srgbClr val="5068C0"/>
                      </a:solidFill>
                      <a:prstDash val="solid"/>
                      <a:round/>
                      <a:headEnd type="none" w="med" len="med"/>
                      <a:tailEnd type="none" w="med" len="med"/>
                    </a:lnL>
                    <a:lnR>
                      <a:noFill/>
                    </a:lnR>
                    <a:lnT>
                      <a:noFill/>
                    </a:lnT>
                    <a:lnB>
                      <a:noFill/>
                    </a:lnB>
                    <a:solidFill>
                      <a:srgbClr val="C0E6F5"/>
                    </a:solidFill>
                  </a:tcPr>
                </a:tc>
                <a:tc>
                  <a:txBody>
                    <a:bodyPr/>
                    <a:lstStyle/>
                    <a:p>
                      <a:pPr rtl="0" fontAlgn="ctr">
                        <a:buNone/>
                      </a:pPr>
                      <a:r>
                        <a:rPr lang="en-US" sz="900">
                          <a:effectLst/>
                          <a:latin typeface="Raleway"/>
                        </a:rPr>
                        <a:t>Jakarta Pusat &amp; Utara</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3</a:t>
                      </a:r>
                    </a:p>
                  </a:txBody>
                  <a:tcPr marL="9525" marR="9525" marT="9525" anchor="ctr">
                    <a:lnL>
                      <a:noFill/>
                    </a:lnL>
                    <a:lnR>
                      <a:noFill/>
                    </a:lnR>
                    <a:lnT>
                      <a:noFill/>
                    </a:lnT>
                    <a:lnB>
                      <a:noFill/>
                    </a:lnB>
                    <a:solidFill>
                      <a:srgbClr val="C0E6F5"/>
                    </a:solidFill>
                  </a:tcPr>
                </a:tc>
                <a:tc>
                  <a:txBody>
                    <a:bodyPr/>
                    <a:lstStyle/>
                    <a:p>
                      <a:pPr algn="ctr" rtl="0" fontAlgn="ctr">
                        <a:buNone/>
                      </a:pPr>
                      <a:r>
                        <a:rPr lang="en-US" sz="900">
                          <a:effectLst/>
                          <a:latin typeface="Raleway"/>
                        </a:rPr>
                        <a:t>Gracia</a:t>
                      </a:r>
                    </a:p>
                  </a:txBody>
                  <a:tcPr marL="9525" marR="9525" marT="9525" anchor="ctr">
                    <a:lnL>
                      <a:noFill/>
                    </a:lnL>
                    <a:lnR>
                      <a:noFill/>
                    </a:lnR>
                    <a:lnT>
                      <a:noFill/>
                    </a:lnT>
                    <a:lnB>
                      <a:noFill/>
                    </a:lnB>
                    <a:solidFill>
                      <a:srgbClr val="C0E6F5"/>
                    </a:solidFill>
                  </a:tcPr>
                </a:tc>
                <a:tc>
                  <a:txBody>
                    <a:bodyPr/>
                    <a:lstStyle/>
                    <a:p>
                      <a:pPr rtl="0" fontAlgn="ctr">
                        <a:buNone/>
                      </a:pPr>
                      <a:r>
                        <a:rPr lang="en-US" sz="900">
                          <a:effectLst/>
                          <a:latin typeface="Raleway"/>
                        </a:rPr>
                        <a:t>Closed 1</a:t>
                      </a:r>
                      <a:br>
                        <a:rPr lang="en-US" sz="900">
                          <a:effectLst/>
                          <a:latin typeface="Raleway"/>
                        </a:rPr>
                      </a:br>
                      <a:r>
                        <a:rPr lang="en-US" sz="900" err="1">
                          <a:effectLst/>
                          <a:latin typeface="Raleway"/>
                        </a:rPr>
                        <a:t>Pemberkasan</a:t>
                      </a:r>
                      <a:r>
                        <a:rPr lang="en-US" sz="900">
                          <a:effectLst/>
                          <a:latin typeface="Raleway"/>
                        </a:rPr>
                        <a:t> 1</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1-Sep-26</a:t>
                      </a:r>
                    </a:p>
                  </a:txBody>
                  <a:tcPr marL="9525" marR="9525" marT="9525" anchor="ctr">
                    <a:lnL>
                      <a:noFill/>
                    </a:lnL>
                    <a:lnR w="12700" cap="flat" cmpd="sng" algn="ctr">
                      <a:solidFill>
                        <a:srgbClr val="1063C0"/>
                      </a:solidFill>
                      <a:prstDash val="solid"/>
                      <a:round/>
                      <a:headEnd type="none" w="med" len="med"/>
                      <a:tailEnd type="none" w="med" len="med"/>
                    </a:lnR>
                    <a:lnT>
                      <a:noFill/>
                    </a:lnT>
                    <a:lnB>
                      <a:noFill/>
                    </a:lnB>
                    <a:solidFill>
                      <a:srgbClr val="C0E6F5"/>
                    </a:solidFill>
                  </a:tcPr>
                </a:tc>
                <a:extLst>
                  <a:ext uri="{0D108BD9-81ED-4DB2-BD59-A6C34878D82A}">
                    <a16:rowId xmlns:a16="http://schemas.microsoft.com/office/drawing/2014/main" val="1570919297"/>
                  </a:ext>
                </a:extLst>
              </a:tr>
              <a:tr h="205761">
                <a:tc>
                  <a:txBody>
                    <a:bodyPr/>
                    <a:lstStyle/>
                    <a:p>
                      <a:pPr rtl="0" fontAlgn="ctr">
                        <a:buNone/>
                      </a:pPr>
                      <a:r>
                        <a:rPr lang="en-US" sz="900" err="1">
                          <a:effectLst/>
                          <a:latin typeface="Raleway"/>
                        </a:rPr>
                        <a:t>Jabodetabek</a:t>
                      </a:r>
                      <a:r>
                        <a:rPr lang="en-US" sz="900">
                          <a:effectLst/>
                          <a:latin typeface="Raleway"/>
                        </a:rPr>
                        <a:t> Banten</a:t>
                      </a:r>
                    </a:p>
                  </a:txBody>
                  <a:tcPr marL="9525" marR="9525" marT="9525" anchor="ctr">
                    <a:lnL w="12700" cap="flat" cmpd="sng" algn="ctr">
                      <a:solidFill>
                        <a:srgbClr val="506BC0"/>
                      </a:solidFill>
                      <a:prstDash val="solid"/>
                      <a:round/>
                      <a:headEnd type="none" w="med" len="med"/>
                      <a:tailEnd type="none" w="med" len="med"/>
                    </a:lnL>
                    <a:lnR>
                      <a:noFill/>
                    </a:lnR>
                    <a:lnT>
                      <a:noFill/>
                    </a:lnT>
                    <a:lnB>
                      <a:noFill/>
                    </a:lnB>
                    <a:solidFill>
                      <a:srgbClr val="C0E6F5"/>
                    </a:solidFill>
                  </a:tcPr>
                </a:tc>
                <a:tc>
                  <a:txBody>
                    <a:bodyPr/>
                    <a:lstStyle/>
                    <a:p>
                      <a:pPr rtl="0" fontAlgn="ctr">
                        <a:buNone/>
                      </a:pPr>
                      <a:r>
                        <a:rPr lang="en-US" sz="900">
                          <a:effectLst/>
                          <a:latin typeface="Raleway"/>
                        </a:rPr>
                        <a:t>Jakarta Selatan</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0E6F5"/>
                    </a:solidFill>
                  </a:tcPr>
                </a:tc>
                <a:tc>
                  <a:txBody>
                    <a:bodyPr/>
                    <a:lstStyle/>
                    <a:p>
                      <a:pPr algn="ctr" rtl="0" fontAlgn="ctr">
                        <a:buNone/>
                      </a:pPr>
                      <a:r>
                        <a:rPr lang="en-US" sz="900">
                          <a:effectLst/>
                          <a:latin typeface="Raleway"/>
                        </a:rPr>
                        <a:t>Gracia</a:t>
                      </a:r>
                    </a:p>
                  </a:txBody>
                  <a:tcPr marL="9525" marR="9525" marT="9525" anchor="ctr">
                    <a:lnL>
                      <a:noFill/>
                    </a:lnL>
                    <a:lnR>
                      <a:noFill/>
                    </a:lnR>
                    <a:lnT>
                      <a:noFill/>
                    </a:lnT>
                    <a:lnB>
                      <a:noFill/>
                    </a:lnB>
                    <a:solidFill>
                      <a:srgbClr val="C0E6F5"/>
                    </a:solidFill>
                  </a:tcPr>
                </a:tc>
                <a:tc>
                  <a:txBody>
                    <a:bodyPr/>
                    <a:lstStyle/>
                    <a:p>
                      <a:pPr rtl="0" fontAlgn="ctr">
                        <a:buNone/>
                      </a:pPr>
                      <a:r>
                        <a:rPr lang="en-US" sz="900" err="1">
                          <a:effectLst/>
                          <a:latin typeface="Raleway"/>
                        </a:rPr>
                        <a:t>Pemberkasan</a:t>
                      </a:r>
                      <a:r>
                        <a:rPr lang="en-US" sz="900">
                          <a:effectLst/>
                          <a:latin typeface="Raleway"/>
                        </a:rPr>
                        <a:t> 1</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1-Sep-26</a:t>
                      </a:r>
                    </a:p>
                  </a:txBody>
                  <a:tcPr marL="9525" marR="9525" marT="9525" anchor="ctr">
                    <a:lnL>
                      <a:noFill/>
                    </a:lnL>
                    <a:lnR w="12700" cap="flat" cmpd="sng" algn="ctr">
                      <a:solidFill>
                        <a:srgbClr val="F05EC0"/>
                      </a:solidFill>
                      <a:prstDash val="solid"/>
                      <a:round/>
                      <a:headEnd type="none" w="med" len="med"/>
                      <a:tailEnd type="none" w="med" len="med"/>
                    </a:lnR>
                    <a:lnT>
                      <a:noFill/>
                    </a:lnT>
                    <a:lnB>
                      <a:noFill/>
                    </a:lnB>
                    <a:solidFill>
                      <a:srgbClr val="C0E6F5"/>
                    </a:solidFill>
                  </a:tcPr>
                </a:tc>
                <a:extLst>
                  <a:ext uri="{0D108BD9-81ED-4DB2-BD59-A6C34878D82A}">
                    <a16:rowId xmlns:a16="http://schemas.microsoft.com/office/drawing/2014/main" val="3001253787"/>
                  </a:ext>
                </a:extLst>
              </a:tr>
              <a:tr h="205761">
                <a:tc>
                  <a:txBody>
                    <a:bodyPr/>
                    <a:lstStyle/>
                    <a:p>
                      <a:pPr rtl="0" fontAlgn="ctr">
                        <a:buNone/>
                      </a:pPr>
                      <a:r>
                        <a:rPr lang="en-US" sz="900" err="1">
                          <a:effectLst/>
                          <a:latin typeface="Raleway"/>
                        </a:rPr>
                        <a:t>Jabodetabek</a:t>
                      </a:r>
                      <a:r>
                        <a:rPr lang="en-US" sz="900">
                          <a:effectLst/>
                          <a:latin typeface="Raleway"/>
                        </a:rPr>
                        <a:t> Banten</a:t>
                      </a:r>
                    </a:p>
                  </a:txBody>
                  <a:tcPr marL="9525" marR="9525" marT="9525" anchor="ctr">
                    <a:lnL w="12700" cap="flat" cmpd="sng" algn="ctr">
                      <a:solidFill>
                        <a:srgbClr val="1069C0"/>
                      </a:solidFill>
                      <a:prstDash val="solid"/>
                      <a:round/>
                      <a:headEnd type="none" w="med" len="med"/>
                      <a:tailEnd type="none" w="med" len="med"/>
                    </a:lnL>
                    <a:lnR>
                      <a:noFill/>
                    </a:lnR>
                    <a:lnT>
                      <a:noFill/>
                    </a:lnT>
                    <a:lnB>
                      <a:noFill/>
                    </a:lnB>
                    <a:solidFill>
                      <a:srgbClr val="C0E6F5"/>
                    </a:solidFill>
                  </a:tcPr>
                </a:tc>
                <a:tc>
                  <a:txBody>
                    <a:bodyPr/>
                    <a:lstStyle/>
                    <a:p>
                      <a:pPr rtl="0" fontAlgn="ctr">
                        <a:buNone/>
                      </a:pPr>
                      <a:r>
                        <a:rPr lang="en-US" sz="900">
                          <a:effectLst/>
                          <a:latin typeface="Raleway"/>
                        </a:rPr>
                        <a:t>Bekasi </a:t>
                      </a:r>
                      <a:r>
                        <a:rPr lang="en-US" sz="900" err="1">
                          <a:effectLst/>
                          <a:latin typeface="Raleway"/>
                        </a:rPr>
                        <a:t>Kabupaten</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5</a:t>
                      </a:r>
                    </a:p>
                  </a:txBody>
                  <a:tcPr marL="9525" marR="9525" marT="9525" anchor="ctr">
                    <a:lnL>
                      <a:noFill/>
                    </a:lnL>
                    <a:lnR>
                      <a:noFill/>
                    </a:lnR>
                    <a:lnT>
                      <a:noFill/>
                    </a:lnT>
                    <a:lnB>
                      <a:noFill/>
                    </a:lnB>
                    <a:solidFill>
                      <a:srgbClr val="C0E6F5"/>
                    </a:solidFill>
                  </a:tcPr>
                </a:tc>
                <a:tc>
                  <a:txBody>
                    <a:bodyPr/>
                    <a:lstStyle/>
                    <a:p>
                      <a:pPr algn="ctr" rtl="0" fontAlgn="ctr">
                        <a:buNone/>
                      </a:pPr>
                      <a:r>
                        <a:rPr lang="en-US" sz="900">
                          <a:effectLst/>
                          <a:latin typeface="Raleway"/>
                        </a:rPr>
                        <a:t>Gracia</a:t>
                      </a:r>
                    </a:p>
                  </a:txBody>
                  <a:tcPr marL="9525" marR="9525" marT="9525" anchor="ctr">
                    <a:lnL>
                      <a:noFill/>
                    </a:lnL>
                    <a:lnR>
                      <a:noFill/>
                    </a:lnR>
                    <a:lnT>
                      <a:noFill/>
                    </a:lnT>
                    <a:lnB>
                      <a:noFill/>
                    </a:lnB>
                    <a:solidFill>
                      <a:srgbClr val="C0E6F5"/>
                    </a:solidFill>
                  </a:tcPr>
                </a:tc>
                <a:tc>
                  <a:txBody>
                    <a:bodyPr/>
                    <a:lstStyle/>
                    <a:p>
                      <a:pPr rtl="0" fontAlgn="ctr">
                        <a:buNone/>
                      </a:pPr>
                      <a:r>
                        <a:rPr lang="en-US" sz="900">
                          <a:effectLst/>
                          <a:latin typeface="Raleway"/>
                        </a:rPr>
                        <a:t>Closed 1</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4</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1-Sep-26</a:t>
                      </a:r>
                    </a:p>
                  </a:txBody>
                  <a:tcPr marL="9525" marR="9525" marT="9525" anchor="ctr">
                    <a:lnL>
                      <a:noFill/>
                    </a:lnL>
                    <a:lnR w="12700" cap="flat" cmpd="sng" algn="ctr">
                      <a:solidFill>
                        <a:srgbClr val="506BC0"/>
                      </a:solidFill>
                      <a:prstDash val="solid"/>
                      <a:round/>
                      <a:headEnd type="none" w="med" len="med"/>
                      <a:tailEnd type="none" w="med" len="med"/>
                    </a:lnR>
                    <a:lnT>
                      <a:noFill/>
                    </a:lnT>
                    <a:lnB>
                      <a:noFill/>
                    </a:lnB>
                    <a:solidFill>
                      <a:srgbClr val="C0E6F5"/>
                    </a:solidFill>
                  </a:tcPr>
                </a:tc>
                <a:extLst>
                  <a:ext uri="{0D108BD9-81ED-4DB2-BD59-A6C34878D82A}">
                    <a16:rowId xmlns:a16="http://schemas.microsoft.com/office/drawing/2014/main" val="1419647818"/>
                  </a:ext>
                </a:extLst>
              </a:tr>
              <a:tr h="205761">
                <a:tc>
                  <a:txBody>
                    <a:bodyPr/>
                    <a:lstStyle/>
                    <a:p>
                      <a:pPr rtl="0" fontAlgn="ctr">
                        <a:buNone/>
                      </a:pPr>
                      <a:r>
                        <a:rPr lang="en-US" sz="900" err="1">
                          <a:effectLst/>
                          <a:latin typeface="Raleway"/>
                        </a:rPr>
                        <a:t>Jabodetabek</a:t>
                      </a:r>
                      <a:r>
                        <a:rPr lang="en-US" sz="900">
                          <a:effectLst/>
                          <a:latin typeface="Raleway"/>
                        </a:rPr>
                        <a:t> Banten</a:t>
                      </a:r>
                    </a:p>
                  </a:txBody>
                  <a:tcPr marL="9525" marR="9525" marT="9525" anchor="ctr">
                    <a:lnL w="12700" cap="flat" cmpd="sng" algn="ctr">
                      <a:solidFill>
                        <a:srgbClr val="3064C0"/>
                      </a:solidFill>
                      <a:prstDash val="solid"/>
                      <a:round/>
                      <a:headEnd type="none" w="med" len="med"/>
                      <a:tailEnd type="none" w="med" len="med"/>
                    </a:lnL>
                    <a:lnR>
                      <a:noFill/>
                    </a:lnR>
                    <a:lnT>
                      <a:noFill/>
                    </a:lnT>
                    <a:lnB>
                      <a:noFill/>
                    </a:lnB>
                    <a:solidFill>
                      <a:srgbClr val="C0E6F5"/>
                    </a:solidFill>
                  </a:tcPr>
                </a:tc>
                <a:tc>
                  <a:txBody>
                    <a:bodyPr/>
                    <a:lstStyle/>
                    <a:p>
                      <a:pPr rtl="0" fontAlgn="ctr">
                        <a:buNone/>
                      </a:pPr>
                      <a:r>
                        <a:rPr lang="en-US" sz="900">
                          <a:effectLst/>
                          <a:latin typeface="Raleway"/>
                        </a:rPr>
                        <a:t>Bogor Timur</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4</a:t>
                      </a:r>
                    </a:p>
                  </a:txBody>
                  <a:tcPr marL="9525" marR="9525" marT="9525" anchor="ctr">
                    <a:lnL>
                      <a:noFill/>
                    </a:lnL>
                    <a:lnR>
                      <a:noFill/>
                    </a:lnR>
                    <a:lnT>
                      <a:noFill/>
                    </a:lnT>
                    <a:lnB>
                      <a:noFill/>
                    </a:lnB>
                    <a:solidFill>
                      <a:srgbClr val="C0E6F5"/>
                    </a:solidFill>
                  </a:tcPr>
                </a:tc>
                <a:tc>
                  <a:txBody>
                    <a:bodyPr/>
                    <a:lstStyle/>
                    <a:p>
                      <a:pPr algn="ctr" rtl="0" fontAlgn="ctr">
                        <a:buNone/>
                      </a:pPr>
                      <a:r>
                        <a:rPr lang="en-US" sz="900">
                          <a:effectLst/>
                          <a:latin typeface="Raleway"/>
                        </a:rPr>
                        <a:t>Gracia</a:t>
                      </a:r>
                    </a:p>
                  </a:txBody>
                  <a:tcPr marL="9525" marR="9525" marT="9525" anchor="ctr">
                    <a:lnL>
                      <a:noFill/>
                    </a:lnL>
                    <a:lnR>
                      <a:noFill/>
                    </a:lnR>
                    <a:lnT>
                      <a:noFill/>
                    </a:lnT>
                    <a:lnB>
                      <a:noFill/>
                    </a:lnB>
                    <a:solidFill>
                      <a:srgbClr val="C0E6F5"/>
                    </a:solidFill>
                  </a:tcPr>
                </a:tc>
                <a:tc>
                  <a:txBody>
                    <a:bodyPr/>
                    <a:lstStyle/>
                    <a:p>
                      <a:pPr rtl="0" fontAlgn="ctr">
                        <a:buNone/>
                      </a:pPr>
                      <a:r>
                        <a:rPr lang="en-US" sz="900">
                          <a:effectLst/>
                          <a:latin typeface="Raleway"/>
                        </a:rPr>
                        <a:t>Closed 2</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1-Sep-26</a:t>
                      </a:r>
                    </a:p>
                  </a:txBody>
                  <a:tcPr marL="9525" marR="9525" marT="9525" anchor="ctr">
                    <a:lnL>
                      <a:noFill/>
                    </a:lnL>
                    <a:lnR w="12700" cap="flat" cmpd="sng" algn="ctr">
                      <a:solidFill>
                        <a:srgbClr val="B06BC0"/>
                      </a:solidFill>
                      <a:prstDash val="solid"/>
                      <a:round/>
                      <a:headEnd type="none" w="med" len="med"/>
                      <a:tailEnd type="none" w="med" len="med"/>
                    </a:lnR>
                    <a:lnT>
                      <a:noFill/>
                    </a:lnT>
                    <a:lnB>
                      <a:noFill/>
                    </a:lnB>
                    <a:solidFill>
                      <a:srgbClr val="C0E6F5"/>
                    </a:solidFill>
                  </a:tcPr>
                </a:tc>
                <a:extLst>
                  <a:ext uri="{0D108BD9-81ED-4DB2-BD59-A6C34878D82A}">
                    <a16:rowId xmlns:a16="http://schemas.microsoft.com/office/drawing/2014/main" val="1257557407"/>
                  </a:ext>
                </a:extLst>
              </a:tr>
              <a:tr h="205761">
                <a:tc>
                  <a:txBody>
                    <a:bodyPr/>
                    <a:lstStyle/>
                    <a:p>
                      <a:pPr rtl="0" fontAlgn="ctr">
                        <a:buNone/>
                      </a:pPr>
                      <a:r>
                        <a:rPr lang="en-US" sz="900" err="1">
                          <a:effectLst/>
                          <a:latin typeface="Raleway"/>
                        </a:rPr>
                        <a:t>Jabodetabek</a:t>
                      </a:r>
                      <a:r>
                        <a:rPr lang="en-US" sz="900">
                          <a:effectLst/>
                          <a:latin typeface="Raleway"/>
                        </a:rPr>
                        <a:t> Banten</a:t>
                      </a:r>
                    </a:p>
                  </a:txBody>
                  <a:tcPr marL="9525" marR="9525" marT="9525" anchor="ctr">
                    <a:lnL w="12700" cap="flat" cmpd="sng" algn="ctr">
                      <a:solidFill>
                        <a:srgbClr val="705AC0"/>
                      </a:solidFill>
                      <a:prstDash val="solid"/>
                      <a:round/>
                      <a:headEnd type="none" w="med" len="med"/>
                      <a:tailEnd type="none" w="med" len="med"/>
                    </a:lnL>
                    <a:lnR>
                      <a:noFill/>
                    </a:lnR>
                    <a:lnT>
                      <a:noFill/>
                    </a:lnT>
                    <a:lnB>
                      <a:noFill/>
                    </a:lnB>
                    <a:solidFill>
                      <a:srgbClr val="C0E6F5"/>
                    </a:solidFill>
                  </a:tcPr>
                </a:tc>
                <a:tc>
                  <a:txBody>
                    <a:bodyPr/>
                    <a:lstStyle/>
                    <a:p>
                      <a:pPr rtl="0" fontAlgn="ctr">
                        <a:buNone/>
                      </a:pPr>
                      <a:r>
                        <a:rPr lang="en-US" sz="900">
                          <a:effectLst/>
                          <a:latin typeface="Raleway"/>
                        </a:rPr>
                        <a:t>Bogor Barat</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solidFill>
                      <a:srgbClr val="C0E6F5"/>
                    </a:solidFill>
                  </a:tcPr>
                </a:tc>
                <a:tc>
                  <a:txBody>
                    <a:bodyPr/>
                    <a:lstStyle/>
                    <a:p>
                      <a:pPr algn="ctr" rtl="0" fontAlgn="ctr">
                        <a:buNone/>
                      </a:pPr>
                      <a:r>
                        <a:rPr lang="en-US" sz="900">
                          <a:effectLst/>
                          <a:latin typeface="Raleway"/>
                        </a:rPr>
                        <a:t>Gracia</a:t>
                      </a:r>
                    </a:p>
                  </a:txBody>
                  <a:tcPr marL="9525" marR="9525" marT="9525" anchor="ctr">
                    <a:lnL>
                      <a:noFill/>
                    </a:lnL>
                    <a:lnR>
                      <a:noFill/>
                    </a:lnR>
                    <a:lnT>
                      <a:noFill/>
                    </a:lnT>
                    <a:lnB>
                      <a:noFill/>
                    </a:lnB>
                    <a:solidFill>
                      <a:srgbClr val="C0E6F5"/>
                    </a:solidFill>
                  </a:tcPr>
                </a:tc>
                <a:tc>
                  <a:txBody>
                    <a:bodyPr/>
                    <a:lstStyle/>
                    <a:p>
                      <a:pPr rtl="0" fontAlgn="ctr">
                        <a:buNone/>
                      </a:pPr>
                      <a:endParaRPr lang="en-US" sz="900">
                        <a:effectLst/>
                        <a:latin typeface="Raleway"/>
                      </a:endParaRP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1-Sep-26</a:t>
                      </a:r>
                    </a:p>
                  </a:txBody>
                  <a:tcPr marL="9525" marR="9525" marT="9525" anchor="ctr">
                    <a:lnL>
                      <a:noFill/>
                    </a:lnL>
                    <a:lnR w="12700" cap="flat" cmpd="sng" algn="ctr">
                      <a:solidFill>
                        <a:srgbClr val="5065C0"/>
                      </a:solidFill>
                      <a:prstDash val="solid"/>
                      <a:round/>
                      <a:headEnd type="none" w="med" len="med"/>
                      <a:tailEnd type="none" w="med" len="med"/>
                    </a:lnR>
                    <a:lnT>
                      <a:noFill/>
                    </a:lnT>
                    <a:lnB>
                      <a:noFill/>
                    </a:lnB>
                    <a:solidFill>
                      <a:srgbClr val="C0E6F5"/>
                    </a:solidFill>
                  </a:tcPr>
                </a:tc>
                <a:extLst>
                  <a:ext uri="{0D108BD9-81ED-4DB2-BD59-A6C34878D82A}">
                    <a16:rowId xmlns:a16="http://schemas.microsoft.com/office/drawing/2014/main" val="4271746583"/>
                  </a:ext>
                </a:extLst>
              </a:tr>
              <a:tr h="205761">
                <a:tc>
                  <a:txBody>
                    <a:bodyPr/>
                    <a:lstStyle/>
                    <a:p>
                      <a:pPr rtl="0" fontAlgn="ctr">
                        <a:buNone/>
                      </a:pPr>
                      <a:r>
                        <a:rPr lang="en-US" sz="900" err="1">
                          <a:effectLst/>
                          <a:latin typeface="Raleway"/>
                        </a:rPr>
                        <a:t>Jabodetabek</a:t>
                      </a:r>
                      <a:r>
                        <a:rPr lang="en-US" sz="900">
                          <a:effectLst/>
                          <a:latin typeface="Raleway"/>
                        </a:rPr>
                        <a:t> Banten</a:t>
                      </a:r>
                    </a:p>
                  </a:txBody>
                  <a:tcPr marL="9525" marR="9525" marT="9525" anchor="ctr">
                    <a:lnL w="12700" cap="flat" cmpd="sng" algn="ctr">
                      <a:solidFill>
                        <a:srgbClr val="B05FC0"/>
                      </a:solidFill>
                      <a:prstDash val="solid"/>
                      <a:round/>
                      <a:headEnd type="none" w="med" len="med"/>
                      <a:tailEnd type="none" w="med" len="med"/>
                    </a:lnL>
                    <a:lnR>
                      <a:noFill/>
                    </a:lnR>
                    <a:lnT>
                      <a:noFill/>
                    </a:lnT>
                    <a:lnB>
                      <a:noFill/>
                    </a:lnB>
                    <a:solidFill>
                      <a:srgbClr val="C0E6F5"/>
                    </a:solidFill>
                  </a:tcPr>
                </a:tc>
                <a:tc>
                  <a:txBody>
                    <a:bodyPr/>
                    <a:lstStyle/>
                    <a:p>
                      <a:pPr rtl="0" fontAlgn="ctr">
                        <a:buNone/>
                      </a:pPr>
                      <a:r>
                        <a:rPr lang="en-US" sz="900">
                          <a:effectLst/>
                          <a:latin typeface="Raleway"/>
                        </a:rPr>
                        <a:t>Depok</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0E6F5"/>
                    </a:solidFill>
                  </a:tcPr>
                </a:tc>
                <a:tc>
                  <a:txBody>
                    <a:bodyPr/>
                    <a:lstStyle/>
                    <a:p>
                      <a:pPr algn="ctr" rtl="0" fontAlgn="ctr">
                        <a:buNone/>
                      </a:pPr>
                      <a:r>
                        <a:rPr lang="en-US" sz="900">
                          <a:effectLst/>
                          <a:latin typeface="Raleway"/>
                        </a:rPr>
                        <a:t>Gracia</a:t>
                      </a:r>
                    </a:p>
                  </a:txBody>
                  <a:tcPr marL="9525" marR="9525" marT="9525" anchor="ctr">
                    <a:lnL>
                      <a:noFill/>
                    </a:lnL>
                    <a:lnR>
                      <a:noFill/>
                    </a:lnR>
                    <a:lnT>
                      <a:noFill/>
                    </a:lnT>
                    <a:lnB>
                      <a:noFill/>
                    </a:lnB>
                    <a:solidFill>
                      <a:srgbClr val="C0E6F5"/>
                    </a:solidFill>
                  </a:tcPr>
                </a:tc>
                <a:tc>
                  <a:txBody>
                    <a:bodyPr/>
                    <a:lstStyle/>
                    <a:p>
                      <a:pPr rtl="0" fontAlgn="ctr">
                        <a:buNone/>
                      </a:pPr>
                      <a:endParaRPr lang="en-US" sz="900">
                        <a:effectLst/>
                        <a:latin typeface="Raleway"/>
                      </a:endParaRP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1-Sep-26</a:t>
                      </a:r>
                    </a:p>
                  </a:txBody>
                  <a:tcPr marL="9525" marR="9525" marT="9525" anchor="ctr">
                    <a:lnL>
                      <a:noFill/>
                    </a:lnL>
                    <a:lnR w="12700" cap="flat" cmpd="sng" algn="ctr">
                      <a:solidFill>
                        <a:srgbClr val="F05EC0"/>
                      </a:solidFill>
                      <a:prstDash val="solid"/>
                      <a:round/>
                      <a:headEnd type="none" w="med" len="med"/>
                      <a:tailEnd type="none" w="med" len="med"/>
                    </a:lnR>
                    <a:lnT>
                      <a:noFill/>
                    </a:lnT>
                    <a:lnB>
                      <a:noFill/>
                    </a:lnB>
                    <a:solidFill>
                      <a:srgbClr val="C0E6F5"/>
                    </a:solidFill>
                  </a:tcPr>
                </a:tc>
                <a:extLst>
                  <a:ext uri="{0D108BD9-81ED-4DB2-BD59-A6C34878D82A}">
                    <a16:rowId xmlns:a16="http://schemas.microsoft.com/office/drawing/2014/main" val="628300785"/>
                  </a:ext>
                </a:extLst>
              </a:tr>
              <a:tr h="235155">
                <a:tc>
                  <a:txBody>
                    <a:bodyPr/>
                    <a:lstStyle/>
                    <a:p>
                      <a:pPr rtl="0" fontAlgn="ctr">
                        <a:buNone/>
                      </a:pPr>
                      <a:r>
                        <a:rPr lang="en-US" sz="900" err="1">
                          <a:effectLst/>
                          <a:latin typeface="Raleway"/>
                        </a:rPr>
                        <a:t>Jabodetabek</a:t>
                      </a:r>
                      <a:r>
                        <a:rPr lang="en-US" sz="900">
                          <a:effectLst/>
                          <a:latin typeface="Raleway"/>
                        </a:rPr>
                        <a:t> Banten</a:t>
                      </a:r>
                    </a:p>
                  </a:txBody>
                  <a:tcPr marL="9525" marR="9525" marT="9525" anchor="ctr">
                    <a:lnL w="12700" cap="flat" cmpd="sng" algn="ctr">
                      <a:solidFill>
                        <a:srgbClr val="F05EC0"/>
                      </a:solidFill>
                      <a:prstDash val="solid"/>
                      <a:round/>
                      <a:headEnd type="none" w="med" len="med"/>
                      <a:tailEnd type="none" w="med" len="med"/>
                    </a:lnL>
                    <a:lnR>
                      <a:noFill/>
                    </a:lnR>
                    <a:lnT>
                      <a:noFill/>
                    </a:lnT>
                    <a:lnB>
                      <a:noFill/>
                    </a:lnB>
                    <a:solidFill>
                      <a:srgbClr val="C0E6F5"/>
                    </a:solidFill>
                  </a:tcPr>
                </a:tc>
                <a:tc>
                  <a:txBody>
                    <a:bodyPr/>
                    <a:lstStyle/>
                    <a:p>
                      <a:pPr rtl="0" fontAlgn="ctr">
                        <a:buNone/>
                      </a:pPr>
                      <a:r>
                        <a:rPr lang="en-US" sz="900">
                          <a:effectLst/>
                          <a:latin typeface="Raleway"/>
                        </a:rPr>
                        <a:t>Tangerang Selatan</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0E6F5"/>
                    </a:solidFill>
                  </a:tcPr>
                </a:tc>
                <a:tc>
                  <a:txBody>
                    <a:bodyPr/>
                    <a:lstStyle/>
                    <a:p>
                      <a:pPr algn="ctr" rtl="0" fontAlgn="ctr">
                        <a:buNone/>
                      </a:pPr>
                      <a:r>
                        <a:rPr lang="en-US" sz="900">
                          <a:effectLst/>
                          <a:latin typeface="Raleway"/>
                        </a:rPr>
                        <a:t>Zwei</a:t>
                      </a:r>
                    </a:p>
                  </a:txBody>
                  <a:tcPr marL="9525" marR="9525" marT="9525" anchor="ctr">
                    <a:lnL>
                      <a:noFill/>
                    </a:lnL>
                    <a:lnR>
                      <a:noFill/>
                    </a:lnR>
                    <a:lnT>
                      <a:noFill/>
                    </a:lnT>
                    <a:lnB>
                      <a:noFill/>
                    </a:lnB>
                    <a:solidFill>
                      <a:srgbClr val="C0E6F5"/>
                    </a:solidFill>
                  </a:tcPr>
                </a:tc>
                <a:tc>
                  <a:txBody>
                    <a:bodyPr/>
                    <a:lstStyle/>
                    <a:p>
                      <a:pPr rtl="0" fontAlgn="ctr">
                        <a:buNone/>
                      </a:pPr>
                      <a:endParaRPr lang="en-US" sz="900">
                        <a:effectLst/>
                        <a:latin typeface="Raleway"/>
                      </a:endParaRP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1-Sep-26</a:t>
                      </a:r>
                    </a:p>
                  </a:txBody>
                  <a:tcPr marL="9525" marR="9525" marT="9525" anchor="ctr">
                    <a:lnL>
                      <a:noFill/>
                    </a:lnL>
                    <a:lnR w="12700" cap="flat" cmpd="sng" algn="ctr">
                      <a:solidFill>
                        <a:srgbClr val="D063C0"/>
                      </a:solidFill>
                      <a:prstDash val="solid"/>
                      <a:round/>
                      <a:headEnd type="none" w="med" len="med"/>
                      <a:tailEnd type="none" w="med" len="med"/>
                    </a:lnR>
                    <a:lnT>
                      <a:noFill/>
                    </a:lnT>
                    <a:lnB>
                      <a:noFill/>
                    </a:lnB>
                    <a:solidFill>
                      <a:srgbClr val="C0E6F5"/>
                    </a:solidFill>
                  </a:tcPr>
                </a:tc>
                <a:extLst>
                  <a:ext uri="{0D108BD9-81ED-4DB2-BD59-A6C34878D82A}">
                    <a16:rowId xmlns:a16="http://schemas.microsoft.com/office/drawing/2014/main" val="2274102764"/>
                  </a:ext>
                </a:extLst>
              </a:tr>
              <a:tr h="205761">
                <a:tc>
                  <a:txBody>
                    <a:bodyPr/>
                    <a:lstStyle/>
                    <a:p>
                      <a:pPr rtl="0" fontAlgn="ctr">
                        <a:buNone/>
                      </a:pPr>
                      <a:r>
                        <a:rPr lang="en-US" sz="900" err="1">
                          <a:effectLst/>
                          <a:latin typeface="Raleway"/>
                        </a:rPr>
                        <a:t>Sumbagut</a:t>
                      </a:r>
                    </a:p>
                  </a:txBody>
                  <a:tcPr marL="9525" marR="9525" marT="9525" anchor="ctr">
                    <a:lnL w="12700" cap="flat" cmpd="sng" algn="ctr">
                      <a:solidFill>
                        <a:srgbClr val="3070C0"/>
                      </a:solidFill>
                      <a:prstDash val="solid"/>
                      <a:round/>
                      <a:headEnd type="none" w="med" len="med"/>
                      <a:tailEnd type="none" w="med" len="med"/>
                    </a:lnL>
                    <a:lnR>
                      <a:noFill/>
                    </a:lnR>
                    <a:lnT>
                      <a:noFill/>
                    </a:lnT>
                    <a:lnB>
                      <a:noFill/>
                    </a:lnB>
                    <a:solidFill>
                      <a:srgbClr val="C0E6F5"/>
                    </a:solidFill>
                  </a:tcPr>
                </a:tc>
                <a:tc>
                  <a:txBody>
                    <a:bodyPr/>
                    <a:lstStyle/>
                    <a:p>
                      <a:pPr rtl="0" fontAlgn="ctr">
                        <a:buNone/>
                      </a:pPr>
                      <a:r>
                        <a:rPr lang="en-US" sz="900">
                          <a:effectLst/>
                          <a:latin typeface="Raleway"/>
                        </a:rPr>
                        <a:t>Rantau Prapat</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0E6F5"/>
                    </a:solidFill>
                  </a:tcPr>
                </a:tc>
                <a:tc>
                  <a:txBody>
                    <a:bodyPr/>
                    <a:lstStyle/>
                    <a:p>
                      <a:pPr algn="ctr" rtl="0" fontAlgn="ctr">
                        <a:buNone/>
                      </a:pPr>
                      <a:r>
                        <a:rPr lang="en-US" sz="900">
                          <a:effectLst/>
                          <a:latin typeface="Raleway"/>
                        </a:rPr>
                        <a:t>Zwei</a:t>
                      </a:r>
                    </a:p>
                  </a:txBody>
                  <a:tcPr marL="9525" marR="9525" marT="9525" anchor="ctr">
                    <a:lnL>
                      <a:noFill/>
                    </a:lnL>
                    <a:lnR>
                      <a:noFill/>
                    </a:lnR>
                    <a:lnT>
                      <a:noFill/>
                    </a:lnT>
                    <a:lnB>
                      <a:noFill/>
                    </a:lnB>
                    <a:solidFill>
                      <a:srgbClr val="C0E6F5"/>
                    </a:solidFill>
                  </a:tcPr>
                </a:tc>
                <a:tc>
                  <a:txBody>
                    <a:bodyPr/>
                    <a:lstStyle/>
                    <a:p>
                      <a:pPr rtl="0" fontAlgn="ctr">
                        <a:buNone/>
                      </a:pPr>
                      <a:endParaRPr lang="en-US" sz="900">
                        <a:effectLst/>
                        <a:latin typeface="Raleway"/>
                      </a:endParaRP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1-Sep-26</a:t>
                      </a:r>
                    </a:p>
                  </a:txBody>
                  <a:tcPr marL="9525" marR="9525" marT="9525" anchor="ctr">
                    <a:lnL>
                      <a:noFill/>
                    </a:lnL>
                    <a:lnR w="12700" cap="flat" cmpd="sng" algn="ctr">
                      <a:solidFill>
                        <a:srgbClr val="5065C0"/>
                      </a:solidFill>
                      <a:prstDash val="solid"/>
                      <a:round/>
                      <a:headEnd type="none" w="med" len="med"/>
                      <a:tailEnd type="none" w="med" len="med"/>
                    </a:lnR>
                    <a:lnT>
                      <a:noFill/>
                    </a:lnT>
                    <a:lnB>
                      <a:noFill/>
                    </a:lnB>
                    <a:solidFill>
                      <a:srgbClr val="C0E6F5"/>
                    </a:solidFill>
                  </a:tcPr>
                </a:tc>
                <a:extLst>
                  <a:ext uri="{0D108BD9-81ED-4DB2-BD59-A6C34878D82A}">
                    <a16:rowId xmlns:a16="http://schemas.microsoft.com/office/drawing/2014/main" val="2644629545"/>
                  </a:ext>
                </a:extLst>
              </a:tr>
              <a:tr h="205761">
                <a:tc>
                  <a:txBody>
                    <a:bodyPr/>
                    <a:lstStyle/>
                    <a:p>
                      <a:pPr rtl="0" fontAlgn="ctr">
                        <a:buNone/>
                      </a:pPr>
                      <a:r>
                        <a:rPr lang="en-US" sz="900">
                          <a:effectLst/>
                          <a:latin typeface="Raleway"/>
                        </a:rPr>
                        <a:t>Jawa Barat</a:t>
                      </a:r>
                    </a:p>
                  </a:txBody>
                  <a:tcPr marL="9525" marR="9525" marT="9525" anchor="ctr">
                    <a:lnL w="12700" cap="flat" cmpd="sng" algn="ctr">
                      <a:solidFill>
                        <a:srgbClr val="F05EC0"/>
                      </a:solidFill>
                      <a:prstDash val="solid"/>
                      <a:round/>
                      <a:headEnd type="none" w="med" len="med"/>
                      <a:tailEnd type="none" w="med" len="med"/>
                    </a:lnL>
                    <a:lnR>
                      <a:noFill/>
                    </a:lnR>
                    <a:lnT>
                      <a:noFill/>
                    </a:lnT>
                    <a:lnB>
                      <a:noFill/>
                    </a:lnB>
                    <a:solidFill>
                      <a:srgbClr val="C0E6F5"/>
                    </a:solidFill>
                  </a:tcPr>
                </a:tc>
                <a:tc>
                  <a:txBody>
                    <a:bodyPr/>
                    <a:lstStyle/>
                    <a:p>
                      <a:pPr rtl="0" fontAlgn="ctr">
                        <a:buNone/>
                      </a:pPr>
                      <a:r>
                        <a:rPr lang="en-US" sz="900">
                          <a:effectLst/>
                          <a:latin typeface="Raleway"/>
                        </a:rPr>
                        <a:t>Karawang</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3</a:t>
                      </a:r>
                    </a:p>
                  </a:txBody>
                  <a:tcPr marL="9525" marR="9525" marT="9525" anchor="ctr">
                    <a:lnL>
                      <a:noFill/>
                    </a:lnL>
                    <a:lnR>
                      <a:noFill/>
                    </a:lnR>
                    <a:lnT>
                      <a:noFill/>
                    </a:lnT>
                    <a:lnB>
                      <a:noFill/>
                    </a:lnB>
                    <a:solidFill>
                      <a:srgbClr val="C0E6F5"/>
                    </a:solidFill>
                  </a:tcPr>
                </a:tc>
                <a:tc>
                  <a:txBody>
                    <a:bodyPr/>
                    <a:lstStyle/>
                    <a:p>
                      <a:pPr algn="ctr" rtl="0" fontAlgn="ctr">
                        <a:buNone/>
                      </a:pPr>
                      <a:r>
                        <a:rPr lang="en-US" sz="900">
                          <a:effectLst/>
                          <a:latin typeface="Raleway"/>
                        </a:rPr>
                        <a:t>Brittney</a:t>
                      </a:r>
                    </a:p>
                  </a:txBody>
                  <a:tcPr marL="9525" marR="9525" marT="9525" anchor="ctr">
                    <a:lnL>
                      <a:noFill/>
                    </a:lnL>
                    <a:lnR>
                      <a:noFill/>
                    </a:lnR>
                    <a:lnT>
                      <a:noFill/>
                    </a:lnT>
                    <a:lnB>
                      <a:noFill/>
                    </a:lnB>
                    <a:solidFill>
                      <a:srgbClr val="C0E6F5"/>
                    </a:solidFill>
                  </a:tcPr>
                </a:tc>
                <a:tc>
                  <a:txBody>
                    <a:bodyPr/>
                    <a:lstStyle/>
                    <a:p>
                      <a:pPr rtl="0" fontAlgn="ctr">
                        <a:buNone/>
                      </a:pPr>
                      <a:r>
                        <a:rPr lang="en-US" sz="900">
                          <a:effectLst/>
                          <a:latin typeface="Raleway"/>
                        </a:rPr>
                        <a:t>Closed 2</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1-Sep-26</a:t>
                      </a:r>
                    </a:p>
                  </a:txBody>
                  <a:tcPr marL="9525" marR="9525" marT="9525" anchor="ctr">
                    <a:lnL>
                      <a:noFill/>
                    </a:lnL>
                    <a:lnR w="12700" cap="flat" cmpd="sng" algn="ctr">
                      <a:solidFill>
                        <a:srgbClr val="1072C0"/>
                      </a:solidFill>
                      <a:prstDash val="solid"/>
                      <a:round/>
                      <a:headEnd type="none" w="med" len="med"/>
                      <a:tailEnd type="none" w="med" len="med"/>
                    </a:lnR>
                    <a:lnT>
                      <a:noFill/>
                    </a:lnT>
                    <a:lnB>
                      <a:noFill/>
                    </a:lnB>
                    <a:solidFill>
                      <a:srgbClr val="C0E6F5"/>
                    </a:solidFill>
                  </a:tcPr>
                </a:tc>
                <a:extLst>
                  <a:ext uri="{0D108BD9-81ED-4DB2-BD59-A6C34878D82A}">
                    <a16:rowId xmlns:a16="http://schemas.microsoft.com/office/drawing/2014/main" val="2003252040"/>
                  </a:ext>
                </a:extLst>
              </a:tr>
              <a:tr h="205761">
                <a:tc>
                  <a:txBody>
                    <a:bodyPr/>
                    <a:lstStyle/>
                    <a:p>
                      <a:pPr rtl="0" fontAlgn="ctr">
                        <a:buNone/>
                      </a:pPr>
                      <a:r>
                        <a:rPr lang="en-US" sz="900">
                          <a:effectLst/>
                          <a:latin typeface="Raleway"/>
                        </a:rPr>
                        <a:t>Jawa Barat</a:t>
                      </a:r>
                    </a:p>
                  </a:txBody>
                  <a:tcPr marL="9525" marR="9525" marT="9525" anchor="ctr">
                    <a:lnL w="12700" cap="flat" cmpd="sng" algn="ctr">
                      <a:solidFill>
                        <a:srgbClr val="1069C0"/>
                      </a:solidFill>
                      <a:prstDash val="solid"/>
                      <a:round/>
                      <a:headEnd type="none" w="med" len="med"/>
                      <a:tailEnd type="none" w="med" len="med"/>
                    </a:lnL>
                    <a:lnR>
                      <a:noFill/>
                    </a:lnR>
                    <a:lnT>
                      <a:noFill/>
                    </a:lnT>
                    <a:lnB>
                      <a:noFill/>
                    </a:lnB>
                    <a:solidFill>
                      <a:srgbClr val="C0E6F5"/>
                    </a:solidFill>
                  </a:tcPr>
                </a:tc>
                <a:tc>
                  <a:txBody>
                    <a:bodyPr/>
                    <a:lstStyle/>
                    <a:p>
                      <a:pPr rtl="0" fontAlgn="ctr">
                        <a:buNone/>
                      </a:pPr>
                      <a:r>
                        <a:rPr lang="en-US" sz="900">
                          <a:effectLst/>
                          <a:latin typeface="Raleway"/>
                        </a:rPr>
                        <a:t>Bandung Timur</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5</a:t>
                      </a:r>
                    </a:p>
                  </a:txBody>
                  <a:tcPr marL="9525" marR="9525" marT="9525" anchor="ctr">
                    <a:lnL>
                      <a:noFill/>
                    </a:lnL>
                    <a:lnR>
                      <a:noFill/>
                    </a:lnR>
                    <a:lnT>
                      <a:noFill/>
                    </a:lnT>
                    <a:lnB>
                      <a:noFill/>
                    </a:lnB>
                    <a:solidFill>
                      <a:srgbClr val="C0E6F5"/>
                    </a:solidFill>
                  </a:tcPr>
                </a:tc>
                <a:tc>
                  <a:txBody>
                    <a:bodyPr/>
                    <a:lstStyle/>
                    <a:p>
                      <a:pPr algn="ctr" rtl="0" fontAlgn="ctr">
                        <a:buNone/>
                      </a:pPr>
                      <a:r>
                        <a:rPr lang="en-US" sz="900">
                          <a:effectLst/>
                          <a:latin typeface="Raleway"/>
                        </a:rPr>
                        <a:t>Brittney</a:t>
                      </a:r>
                    </a:p>
                  </a:txBody>
                  <a:tcPr marL="9525" marR="9525" marT="9525" anchor="ctr">
                    <a:lnL>
                      <a:noFill/>
                    </a:lnL>
                    <a:lnR>
                      <a:noFill/>
                    </a:lnR>
                    <a:lnT>
                      <a:noFill/>
                    </a:lnT>
                    <a:lnB>
                      <a:noFill/>
                    </a:lnB>
                    <a:solidFill>
                      <a:srgbClr val="C0E6F5"/>
                    </a:solidFill>
                  </a:tcPr>
                </a:tc>
                <a:tc>
                  <a:txBody>
                    <a:bodyPr/>
                    <a:lstStyle/>
                    <a:p>
                      <a:pPr rtl="0" fontAlgn="ctr">
                        <a:buNone/>
                      </a:pPr>
                      <a:r>
                        <a:rPr lang="en-US" sz="900">
                          <a:effectLst/>
                          <a:latin typeface="Raleway"/>
                        </a:rPr>
                        <a:t>Closed 2</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3</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1-Sep-26</a:t>
                      </a:r>
                    </a:p>
                  </a:txBody>
                  <a:tcPr marL="9525" marR="9525" marT="9525" anchor="ctr">
                    <a:lnL>
                      <a:noFill/>
                    </a:lnL>
                    <a:lnR w="12700" cap="flat" cmpd="sng" algn="ctr">
                      <a:solidFill>
                        <a:srgbClr val="F05EC0"/>
                      </a:solidFill>
                      <a:prstDash val="solid"/>
                      <a:round/>
                      <a:headEnd type="none" w="med" len="med"/>
                      <a:tailEnd type="none" w="med" len="med"/>
                    </a:lnR>
                    <a:lnT>
                      <a:noFill/>
                    </a:lnT>
                    <a:lnB>
                      <a:noFill/>
                    </a:lnB>
                    <a:solidFill>
                      <a:srgbClr val="C0E6F5"/>
                    </a:solidFill>
                  </a:tcPr>
                </a:tc>
                <a:extLst>
                  <a:ext uri="{0D108BD9-81ED-4DB2-BD59-A6C34878D82A}">
                    <a16:rowId xmlns:a16="http://schemas.microsoft.com/office/drawing/2014/main" val="355960841"/>
                  </a:ext>
                </a:extLst>
              </a:tr>
              <a:tr h="205761">
                <a:tc>
                  <a:txBody>
                    <a:bodyPr/>
                    <a:lstStyle/>
                    <a:p>
                      <a:pPr rtl="0" fontAlgn="ctr">
                        <a:buNone/>
                      </a:pPr>
                      <a:r>
                        <a:rPr lang="en-US" sz="900">
                          <a:effectLst/>
                          <a:latin typeface="Raleway"/>
                        </a:rPr>
                        <a:t>Jawa Barat</a:t>
                      </a:r>
                    </a:p>
                  </a:txBody>
                  <a:tcPr marL="9525" marR="9525" marT="9525" anchor="ctr">
                    <a:lnL w="12700" cap="flat" cmpd="sng" algn="ctr">
                      <a:solidFill>
                        <a:srgbClr val="705AC0"/>
                      </a:solidFill>
                      <a:prstDash val="solid"/>
                      <a:round/>
                      <a:headEnd type="none" w="med" len="med"/>
                      <a:tailEnd type="none" w="med" len="med"/>
                    </a:lnL>
                    <a:lnR>
                      <a:noFill/>
                    </a:lnR>
                    <a:lnT>
                      <a:noFill/>
                    </a:lnT>
                    <a:lnB>
                      <a:noFill/>
                    </a:lnB>
                    <a:solidFill>
                      <a:srgbClr val="C0E6F5"/>
                    </a:solidFill>
                  </a:tcPr>
                </a:tc>
                <a:tc>
                  <a:txBody>
                    <a:bodyPr/>
                    <a:lstStyle/>
                    <a:p>
                      <a:pPr rtl="0" fontAlgn="ctr">
                        <a:buNone/>
                      </a:pPr>
                      <a:r>
                        <a:rPr lang="en-US" sz="900">
                          <a:effectLst/>
                          <a:latin typeface="Raleway"/>
                        </a:rPr>
                        <a:t>Bandung Barat</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4</a:t>
                      </a:r>
                    </a:p>
                  </a:txBody>
                  <a:tcPr marL="9525" marR="9525" marT="9525" anchor="ctr">
                    <a:lnL>
                      <a:noFill/>
                    </a:lnL>
                    <a:lnR>
                      <a:noFill/>
                    </a:lnR>
                    <a:lnT>
                      <a:noFill/>
                    </a:lnT>
                    <a:lnB>
                      <a:noFill/>
                    </a:lnB>
                    <a:solidFill>
                      <a:srgbClr val="C0E6F5"/>
                    </a:solidFill>
                  </a:tcPr>
                </a:tc>
                <a:tc>
                  <a:txBody>
                    <a:bodyPr/>
                    <a:lstStyle/>
                    <a:p>
                      <a:pPr algn="ctr" rtl="0" fontAlgn="ctr">
                        <a:buNone/>
                      </a:pPr>
                      <a:r>
                        <a:rPr lang="en-US" sz="900">
                          <a:effectLst/>
                          <a:latin typeface="Raleway"/>
                        </a:rPr>
                        <a:t>Brittney</a:t>
                      </a:r>
                    </a:p>
                  </a:txBody>
                  <a:tcPr marL="9525" marR="9525" marT="9525" anchor="ctr">
                    <a:lnL>
                      <a:noFill/>
                    </a:lnL>
                    <a:lnR>
                      <a:noFill/>
                    </a:lnR>
                    <a:lnT>
                      <a:noFill/>
                    </a:lnT>
                    <a:lnB>
                      <a:noFill/>
                    </a:lnB>
                    <a:solidFill>
                      <a:srgbClr val="C0E6F5"/>
                    </a:solidFill>
                  </a:tcPr>
                </a:tc>
                <a:tc>
                  <a:txBody>
                    <a:bodyPr/>
                    <a:lstStyle/>
                    <a:p>
                      <a:pPr rtl="0" fontAlgn="ctr">
                        <a:buNone/>
                      </a:pPr>
                      <a:r>
                        <a:rPr lang="en-US" sz="900">
                          <a:effectLst/>
                          <a:latin typeface="Raleway"/>
                        </a:rPr>
                        <a:t>Closed 1</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3</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1-Sep-26</a:t>
                      </a:r>
                    </a:p>
                  </a:txBody>
                  <a:tcPr marL="9525" marR="9525" marT="9525" anchor="ctr">
                    <a:lnL>
                      <a:noFill/>
                    </a:lnL>
                    <a:lnR w="12700" cap="flat" cmpd="sng" algn="ctr">
                      <a:solidFill>
                        <a:srgbClr val="3061C0"/>
                      </a:solidFill>
                      <a:prstDash val="solid"/>
                      <a:round/>
                      <a:headEnd type="none" w="med" len="med"/>
                      <a:tailEnd type="none" w="med" len="med"/>
                    </a:lnR>
                    <a:lnT>
                      <a:noFill/>
                    </a:lnT>
                    <a:lnB>
                      <a:noFill/>
                    </a:lnB>
                    <a:solidFill>
                      <a:srgbClr val="C0E6F5"/>
                    </a:solidFill>
                  </a:tcPr>
                </a:tc>
                <a:extLst>
                  <a:ext uri="{0D108BD9-81ED-4DB2-BD59-A6C34878D82A}">
                    <a16:rowId xmlns:a16="http://schemas.microsoft.com/office/drawing/2014/main" val="3203785065"/>
                  </a:ext>
                </a:extLst>
              </a:tr>
              <a:tr h="205761">
                <a:tc>
                  <a:txBody>
                    <a:bodyPr/>
                    <a:lstStyle/>
                    <a:p>
                      <a:pPr rtl="0" fontAlgn="ctr">
                        <a:buNone/>
                      </a:pPr>
                      <a:r>
                        <a:rPr lang="en-US" sz="900">
                          <a:effectLst/>
                          <a:latin typeface="Raleway"/>
                        </a:rPr>
                        <a:t>Jawa Barat</a:t>
                      </a:r>
                    </a:p>
                  </a:txBody>
                  <a:tcPr marL="9525" marR="9525" marT="9525" anchor="ctr">
                    <a:lnL w="12700" cap="flat" cmpd="sng" algn="ctr">
                      <a:solidFill>
                        <a:srgbClr val="1072C0"/>
                      </a:solidFill>
                      <a:prstDash val="solid"/>
                      <a:round/>
                      <a:headEnd type="none" w="med" len="med"/>
                      <a:tailEnd type="none" w="med" len="med"/>
                    </a:lnL>
                    <a:lnR>
                      <a:noFill/>
                    </a:lnR>
                    <a:lnT>
                      <a:noFill/>
                    </a:lnT>
                    <a:lnB>
                      <a:noFill/>
                    </a:lnB>
                    <a:noFill/>
                  </a:tcPr>
                </a:tc>
                <a:tc>
                  <a:txBody>
                    <a:bodyPr/>
                    <a:lstStyle/>
                    <a:p>
                      <a:pPr rtl="0" fontAlgn="ctr">
                        <a:buNone/>
                      </a:pPr>
                      <a:r>
                        <a:rPr lang="en-US" sz="900">
                          <a:effectLst/>
                          <a:latin typeface="Raleway"/>
                        </a:rPr>
                        <a:t>Cirebon</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rtl="0" fontAlgn="ctr">
                        <a:buNone/>
                      </a:pPr>
                      <a:r>
                        <a:rPr lang="en-US" sz="900">
                          <a:effectLst/>
                          <a:latin typeface="Raleway"/>
                        </a:rPr>
                        <a:t>Zwei</a:t>
                      </a:r>
                    </a:p>
                  </a:txBody>
                  <a:tcPr marL="9525" marR="9525" marT="9525" anchor="ctr">
                    <a:lnL>
                      <a:noFill/>
                    </a:lnL>
                    <a:lnR>
                      <a:noFill/>
                    </a:lnR>
                    <a:lnT>
                      <a:noFill/>
                    </a:lnT>
                    <a:lnB>
                      <a:noFill/>
                    </a:lnB>
                    <a:noFill/>
                  </a:tcPr>
                </a:tc>
                <a:tc>
                  <a:txBody>
                    <a:bodyPr/>
                    <a:lstStyle/>
                    <a:p>
                      <a:pPr rtl="0" fontAlgn="ctr">
                        <a:buNone/>
                      </a:pPr>
                      <a:r>
                        <a:rPr lang="en-US" sz="900">
                          <a:effectLst/>
                          <a:latin typeface="Raleway"/>
                        </a:rPr>
                        <a:t>Closed</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noFill/>
                  </a:tcPr>
                </a:tc>
                <a:tc>
                  <a:txBody>
                    <a:bodyPr/>
                    <a:lstStyle/>
                    <a:p>
                      <a:pPr algn="ctr" fontAlgn="ctr">
                        <a:buNone/>
                      </a:pPr>
                      <a:r>
                        <a:rPr lang="en-US" sz="900">
                          <a:effectLst/>
                          <a:latin typeface="Raleway"/>
                        </a:rPr>
                        <a:t>1-Sep-26</a:t>
                      </a:r>
                    </a:p>
                  </a:txBody>
                  <a:tcPr marL="9525" marR="9525" marT="9525" anchor="ctr">
                    <a:lnL>
                      <a:noFill/>
                    </a:lnL>
                    <a:lnR w="12700" cap="flat" cmpd="sng" algn="ctr">
                      <a:solidFill>
                        <a:srgbClr val="D066C0"/>
                      </a:solidFill>
                      <a:prstDash val="solid"/>
                      <a:round/>
                      <a:headEnd type="none" w="med" len="med"/>
                      <a:tailEnd type="none" w="med" len="med"/>
                    </a:lnR>
                    <a:lnT>
                      <a:noFill/>
                    </a:lnT>
                    <a:lnB>
                      <a:noFill/>
                    </a:lnB>
                    <a:noFill/>
                  </a:tcPr>
                </a:tc>
                <a:extLst>
                  <a:ext uri="{0D108BD9-81ED-4DB2-BD59-A6C34878D82A}">
                    <a16:rowId xmlns:a16="http://schemas.microsoft.com/office/drawing/2014/main" val="3142521412"/>
                  </a:ext>
                </a:extLst>
              </a:tr>
              <a:tr h="205761">
                <a:tc>
                  <a:txBody>
                    <a:bodyPr/>
                    <a:lstStyle/>
                    <a:p>
                      <a:pPr rtl="0" fontAlgn="ctr">
                        <a:buNone/>
                      </a:pPr>
                      <a:r>
                        <a:rPr lang="en-US" sz="900">
                          <a:effectLst/>
                          <a:latin typeface="Raleway"/>
                        </a:rPr>
                        <a:t>Jawa Barat</a:t>
                      </a:r>
                    </a:p>
                  </a:txBody>
                  <a:tcPr marL="9525" marR="9525" marT="9525" anchor="ctr">
                    <a:lnL w="12700" cap="flat" cmpd="sng" algn="ctr">
                      <a:solidFill>
                        <a:srgbClr val="706FC0"/>
                      </a:solidFill>
                      <a:prstDash val="solid"/>
                      <a:round/>
                      <a:headEnd type="none" w="med" len="med"/>
                      <a:tailEnd type="none" w="med" len="med"/>
                    </a:lnL>
                    <a:lnR>
                      <a:noFill/>
                    </a:lnR>
                    <a:lnT>
                      <a:noFill/>
                    </a:lnT>
                    <a:lnB>
                      <a:noFill/>
                    </a:lnB>
                    <a:solidFill>
                      <a:srgbClr val="C0E6F5"/>
                    </a:solidFill>
                  </a:tcPr>
                </a:tc>
                <a:tc>
                  <a:txBody>
                    <a:bodyPr/>
                    <a:lstStyle/>
                    <a:p>
                      <a:pPr rtl="0" fontAlgn="ctr">
                        <a:buNone/>
                      </a:pPr>
                      <a:r>
                        <a:rPr lang="en-US" sz="900" err="1">
                          <a:effectLst/>
                          <a:latin typeface="Raleway"/>
                        </a:rPr>
                        <a:t>Kuningan</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0E6F5"/>
                    </a:solidFill>
                  </a:tcPr>
                </a:tc>
                <a:tc>
                  <a:txBody>
                    <a:bodyPr/>
                    <a:lstStyle/>
                    <a:p>
                      <a:pPr algn="ctr" rtl="0" fontAlgn="ctr">
                        <a:buNone/>
                      </a:pPr>
                      <a:r>
                        <a:rPr lang="en-US" sz="900">
                          <a:effectLst/>
                          <a:latin typeface="Raleway"/>
                        </a:rPr>
                        <a:t>Zwei</a:t>
                      </a:r>
                    </a:p>
                  </a:txBody>
                  <a:tcPr marL="9525" marR="9525" marT="9525" anchor="ctr">
                    <a:lnL>
                      <a:noFill/>
                    </a:lnL>
                    <a:lnR>
                      <a:noFill/>
                    </a:lnR>
                    <a:lnT>
                      <a:noFill/>
                    </a:lnT>
                    <a:lnB>
                      <a:noFill/>
                    </a:lnB>
                    <a:solidFill>
                      <a:srgbClr val="C0E6F5"/>
                    </a:solidFill>
                  </a:tcPr>
                </a:tc>
                <a:tc>
                  <a:txBody>
                    <a:bodyPr/>
                    <a:lstStyle/>
                    <a:p>
                      <a:pPr rtl="0" fontAlgn="ctr">
                        <a:buNone/>
                      </a:pPr>
                      <a:endParaRPr lang="en-US" sz="900">
                        <a:effectLst/>
                        <a:latin typeface="Raleway"/>
                      </a:endParaRP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1-Sep-26</a:t>
                      </a:r>
                    </a:p>
                  </a:txBody>
                  <a:tcPr marL="9525" marR="9525" marT="9525" anchor="ctr">
                    <a:lnL>
                      <a:noFill/>
                    </a:lnL>
                    <a:lnR w="12700" cap="flat" cmpd="sng" algn="ctr">
                      <a:solidFill>
                        <a:srgbClr val="B062C0"/>
                      </a:solidFill>
                      <a:prstDash val="solid"/>
                      <a:round/>
                      <a:headEnd type="none" w="med" len="med"/>
                      <a:tailEnd type="none" w="med" len="med"/>
                    </a:lnR>
                    <a:lnT>
                      <a:noFill/>
                    </a:lnT>
                    <a:lnB>
                      <a:noFill/>
                    </a:lnB>
                    <a:solidFill>
                      <a:srgbClr val="C0E6F5"/>
                    </a:solidFill>
                  </a:tcPr>
                </a:tc>
                <a:extLst>
                  <a:ext uri="{0D108BD9-81ED-4DB2-BD59-A6C34878D82A}">
                    <a16:rowId xmlns:a16="http://schemas.microsoft.com/office/drawing/2014/main" val="2904787070"/>
                  </a:ext>
                </a:extLst>
              </a:tr>
              <a:tr h="205761">
                <a:tc>
                  <a:txBody>
                    <a:bodyPr/>
                    <a:lstStyle/>
                    <a:p>
                      <a:pPr rtl="0" fontAlgn="ctr">
                        <a:buNone/>
                      </a:pPr>
                      <a:r>
                        <a:rPr lang="en-US" sz="900">
                          <a:effectLst/>
                          <a:latin typeface="Raleway"/>
                        </a:rPr>
                        <a:t>Jawa Barat</a:t>
                      </a:r>
                    </a:p>
                  </a:txBody>
                  <a:tcPr marL="9525" marR="9525" marT="9525" anchor="ctr">
                    <a:lnL w="12700" cap="flat" cmpd="sng" algn="ctr">
                      <a:solidFill>
                        <a:srgbClr val="505CC0"/>
                      </a:solidFill>
                      <a:prstDash val="solid"/>
                      <a:round/>
                      <a:headEnd type="none" w="med" len="med"/>
                      <a:tailEnd type="none" w="med" len="med"/>
                    </a:lnL>
                    <a:lnR>
                      <a:noFill/>
                    </a:lnR>
                    <a:lnT>
                      <a:noFill/>
                    </a:lnT>
                    <a:lnB>
                      <a:noFill/>
                    </a:lnB>
                    <a:solidFill>
                      <a:srgbClr val="C0E6F5"/>
                    </a:solidFill>
                  </a:tcPr>
                </a:tc>
                <a:tc>
                  <a:txBody>
                    <a:bodyPr/>
                    <a:lstStyle/>
                    <a:p>
                      <a:pPr rtl="0" fontAlgn="ctr">
                        <a:buNone/>
                      </a:pPr>
                      <a:r>
                        <a:rPr lang="en-US" sz="900" err="1">
                          <a:effectLst/>
                          <a:latin typeface="Raleway"/>
                        </a:rPr>
                        <a:t>Pangandaran</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0E6F5"/>
                    </a:solidFill>
                  </a:tcPr>
                </a:tc>
                <a:tc>
                  <a:txBody>
                    <a:bodyPr/>
                    <a:lstStyle/>
                    <a:p>
                      <a:pPr algn="ctr" rtl="0" fontAlgn="ctr">
                        <a:buNone/>
                      </a:pPr>
                      <a:r>
                        <a:rPr lang="en-US" sz="900">
                          <a:effectLst/>
                          <a:latin typeface="Raleway"/>
                        </a:rPr>
                        <a:t>Zwei</a:t>
                      </a:r>
                    </a:p>
                  </a:txBody>
                  <a:tcPr marL="9525" marR="9525" marT="9525" anchor="ctr">
                    <a:lnL>
                      <a:noFill/>
                    </a:lnL>
                    <a:lnR>
                      <a:noFill/>
                    </a:lnR>
                    <a:lnT>
                      <a:noFill/>
                    </a:lnT>
                    <a:lnB>
                      <a:noFill/>
                    </a:lnB>
                    <a:solidFill>
                      <a:srgbClr val="C0E6F5"/>
                    </a:solidFill>
                  </a:tcPr>
                </a:tc>
                <a:tc>
                  <a:txBody>
                    <a:bodyPr/>
                    <a:lstStyle/>
                    <a:p>
                      <a:pPr rtl="0" fontAlgn="ctr">
                        <a:buNone/>
                      </a:pPr>
                      <a:endParaRPr lang="en-US" sz="900">
                        <a:effectLst/>
                        <a:latin typeface="Raleway"/>
                      </a:endParaRP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1-Sep-26</a:t>
                      </a:r>
                    </a:p>
                  </a:txBody>
                  <a:tcPr marL="9525" marR="9525" marT="9525" anchor="ctr">
                    <a:lnL>
                      <a:noFill/>
                    </a:lnL>
                    <a:lnR w="12700" cap="flat" cmpd="sng" algn="ctr">
                      <a:solidFill>
                        <a:srgbClr val="3070C0"/>
                      </a:solidFill>
                      <a:prstDash val="solid"/>
                      <a:round/>
                      <a:headEnd type="none" w="med" len="med"/>
                      <a:tailEnd type="none" w="med" len="med"/>
                    </a:lnR>
                    <a:lnT>
                      <a:noFill/>
                    </a:lnT>
                    <a:lnB>
                      <a:noFill/>
                    </a:lnB>
                    <a:solidFill>
                      <a:srgbClr val="C0E6F5"/>
                    </a:solidFill>
                  </a:tcPr>
                </a:tc>
                <a:extLst>
                  <a:ext uri="{0D108BD9-81ED-4DB2-BD59-A6C34878D82A}">
                    <a16:rowId xmlns:a16="http://schemas.microsoft.com/office/drawing/2014/main" val="2474945469"/>
                  </a:ext>
                </a:extLst>
              </a:tr>
              <a:tr h="205761">
                <a:tc>
                  <a:txBody>
                    <a:bodyPr/>
                    <a:lstStyle/>
                    <a:p>
                      <a:pPr rtl="0" fontAlgn="ctr">
                        <a:buNone/>
                      </a:pPr>
                      <a:r>
                        <a:rPr lang="en-US" sz="900">
                          <a:effectLst/>
                          <a:latin typeface="Raleway"/>
                        </a:rPr>
                        <a:t>Jawa Tengah &amp; DIY</a:t>
                      </a:r>
                    </a:p>
                  </a:txBody>
                  <a:tcPr marL="9525" marR="9525" marT="9525" anchor="ctr">
                    <a:lnL w="12700" cap="flat" cmpd="sng" algn="ctr">
                      <a:solidFill>
                        <a:srgbClr val="1069C0"/>
                      </a:solidFill>
                      <a:prstDash val="solid"/>
                      <a:round/>
                      <a:headEnd type="none" w="med" len="med"/>
                      <a:tailEnd type="none" w="med" len="med"/>
                    </a:lnL>
                    <a:lnR>
                      <a:noFill/>
                    </a:lnR>
                    <a:lnT>
                      <a:noFill/>
                    </a:lnT>
                    <a:lnB>
                      <a:noFill/>
                    </a:lnB>
                    <a:solidFill>
                      <a:srgbClr val="C0E6F5"/>
                    </a:solidFill>
                  </a:tcPr>
                </a:tc>
                <a:tc>
                  <a:txBody>
                    <a:bodyPr/>
                    <a:lstStyle/>
                    <a:p>
                      <a:pPr rtl="0" fontAlgn="ctr">
                        <a:buNone/>
                      </a:pPr>
                      <a:r>
                        <a:rPr lang="en-US" sz="900">
                          <a:effectLst/>
                          <a:latin typeface="Raleway"/>
                        </a:rPr>
                        <a:t>Semarang Atas</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0E6F5"/>
                    </a:solidFill>
                  </a:tcPr>
                </a:tc>
                <a:tc>
                  <a:txBody>
                    <a:bodyPr/>
                    <a:lstStyle/>
                    <a:p>
                      <a:pPr algn="ctr" rtl="0" fontAlgn="ctr">
                        <a:buNone/>
                      </a:pPr>
                      <a:r>
                        <a:rPr lang="en-US" sz="900">
                          <a:effectLst/>
                          <a:latin typeface="Raleway"/>
                        </a:rPr>
                        <a:t>Brittney</a:t>
                      </a:r>
                    </a:p>
                  </a:txBody>
                  <a:tcPr marL="9525" marR="9525" marT="9525" anchor="ctr">
                    <a:lnL>
                      <a:noFill/>
                    </a:lnL>
                    <a:lnR>
                      <a:noFill/>
                    </a:lnR>
                    <a:lnT>
                      <a:noFill/>
                    </a:lnT>
                    <a:lnB>
                      <a:noFill/>
                    </a:lnB>
                    <a:solidFill>
                      <a:srgbClr val="C0E6F5"/>
                    </a:solidFill>
                  </a:tcPr>
                </a:tc>
                <a:tc>
                  <a:txBody>
                    <a:bodyPr/>
                    <a:lstStyle/>
                    <a:p>
                      <a:pPr rtl="0" fontAlgn="ctr">
                        <a:buNone/>
                      </a:pPr>
                      <a:endParaRPr lang="en-US" sz="900">
                        <a:effectLst/>
                        <a:latin typeface="Raleway"/>
                      </a:endParaRP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1-Sep-26</a:t>
                      </a:r>
                    </a:p>
                  </a:txBody>
                  <a:tcPr marL="9525" marR="9525" marT="9525" anchor="ctr">
                    <a:lnL>
                      <a:noFill/>
                    </a:lnL>
                    <a:lnR w="12700" cap="flat" cmpd="sng" algn="ctr">
                      <a:solidFill>
                        <a:srgbClr val="F05EC0"/>
                      </a:solidFill>
                      <a:prstDash val="solid"/>
                      <a:round/>
                      <a:headEnd type="none" w="med" len="med"/>
                      <a:tailEnd type="none" w="med" len="med"/>
                    </a:lnR>
                    <a:lnT>
                      <a:noFill/>
                    </a:lnT>
                    <a:lnB>
                      <a:noFill/>
                    </a:lnB>
                    <a:solidFill>
                      <a:srgbClr val="C0E6F5"/>
                    </a:solidFill>
                  </a:tcPr>
                </a:tc>
                <a:extLst>
                  <a:ext uri="{0D108BD9-81ED-4DB2-BD59-A6C34878D82A}">
                    <a16:rowId xmlns:a16="http://schemas.microsoft.com/office/drawing/2014/main" val="2213235440"/>
                  </a:ext>
                </a:extLst>
              </a:tr>
              <a:tr h="205761">
                <a:tc>
                  <a:txBody>
                    <a:bodyPr/>
                    <a:lstStyle/>
                    <a:p>
                      <a:pPr rtl="0" fontAlgn="ctr">
                        <a:buNone/>
                      </a:pPr>
                      <a:r>
                        <a:rPr lang="en-US" sz="900">
                          <a:effectLst/>
                          <a:latin typeface="Raleway"/>
                        </a:rPr>
                        <a:t>Jawa Tengah &amp; DIY</a:t>
                      </a:r>
                    </a:p>
                  </a:txBody>
                  <a:tcPr marL="9525" marR="9525" marT="9525" anchor="ctr">
                    <a:lnL w="12700" cap="flat" cmpd="sng" algn="ctr">
                      <a:solidFill>
                        <a:srgbClr val="3061C0"/>
                      </a:solidFill>
                      <a:prstDash val="solid"/>
                      <a:round/>
                      <a:headEnd type="none" w="med" len="med"/>
                      <a:tailEnd type="none" w="med" len="med"/>
                    </a:lnL>
                    <a:lnR>
                      <a:noFill/>
                    </a:lnR>
                    <a:lnT>
                      <a:noFill/>
                    </a:lnT>
                    <a:lnB>
                      <a:noFill/>
                    </a:lnB>
                    <a:solidFill>
                      <a:srgbClr val="C0E6F5"/>
                    </a:solidFill>
                  </a:tcPr>
                </a:tc>
                <a:tc>
                  <a:txBody>
                    <a:bodyPr/>
                    <a:lstStyle/>
                    <a:p>
                      <a:pPr rtl="0" fontAlgn="ctr">
                        <a:buNone/>
                      </a:pPr>
                      <a:r>
                        <a:rPr lang="en-US" sz="900">
                          <a:effectLst/>
                          <a:latin typeface="Raleway"/>
                        </a:rPr>
                        <a:t>Semarang Bawah</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7</a:t>
                      </a:r>
                    </a:p>
                  </a:txBody>
                  <a:tcPr marL="9525" marR="9525" marT="9525" anchor="ctr">
                    <a:lnL>
                      <a:noFill/>
                    </a:lnL>
                    <a:lnR>
                      <a:noFill/>
                    </a:lnR>
                    <a:lnT>
                      <a:noFill/>
                    </a:lnT>
                    <a:lnB>
                      <a:noFill/>
                    </a:lnB>
                    <a:solidFill>
                      <a:srgbClr val="C0E6F5"/>
                    </a:solidFill>
                  </a:tcPr>
                </a:tc>
                <a:tc>
                  <a:txBody>
                    <a:bodyPr/>
                    <a:lstStyle/>
                    <a:p>
                      <a:pPr algn="ctr" rtl="0" fontAlgn="ctr">
                        <a:buNone/>
                      </a:pPr>
                      <a:r>
                        <a:rPr lang="en-US" sz="900">
                          <a:effectLst/>
                          <a:latin typeface="Raleway"/>
                        </a:rPr>
                        <a:t>Brittney</a:t>
                      </a:r>
                    </a:p>
                  </a:txBody>
                  <a:tcPr marL="9525" marR="9525" marT="9525" anchor="ctr">
                    <a:lnL>
                      <a:noFill/>
                    </a:lnL>
                    <a:lnR>
                      <a:noFill/>
                    </a:lnR>
                    <a:lnT>
                      <a:noFill/>
                    </a:lnT>
                    <a:lnB>
                      <a:noFill/>
                    </a:lnB>
                    <a:solidFill>
                      <a:srgbClr val="C0E6F5"/>
                    </a:solidFill>
                  </a:tcPr>
                </a:tc>
                <a:tc>
                  <a:txBody>
                    <a:bodyPr/>
                    <a:lstStyle/>
                    <a:p>
                      <a:pPr rtl="0" fontAlgn="ctr">
                        <a:buNone/>
                      </a:pPr>
                      <a:r>
                        <a:rPr lang="en-US" sz="900">
                          <a:effectLst/>
                          <a:latin typeface="Raleway"/>
                        </a:rPr>
                        <a:t>Closed 1</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6</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1-Sep-26</a:t>
                      </a:r>
                    </a:p>
                  </a:txBody>
                  <a:tcPr marL="9525" marR="9525" marT="9525" anchor="ctr">
                    <a:lnL>
                      <a:noFill/>
                    </a:lnL>
                    <a:lnR w="12700" cap="flat" cmpd="sng" algn="ctr">
                      <a:solidFill>
                        <a:srgbClr val="505CC0"/>
                      </a:solidFill>
                      <a:prstDash val="solid"/>
                      <a:round/>
                      <a:headEnd type="none" w="med" len="med"/>
                      <a:tailEnd type="none" w="med" len="med"/>
                    </a:lnR>
                    <a:lnT>
                      <a:noFill/>
                    </a:lnT>
                    <a:lnB>
                      <a:noFill/>
                    </a:lnB>
                    <a:solidFill>
                      <a:srgbClr val="C0E6F5"/>
                    </a:solidFill>
                  </a:tcPr>
                </a:tc>
                <a:extLst>
                  <a:ext uri="{0D108BD9-81ED-4DB2-BD59-A6C34878D82A}">
                    <a16:rowId xmlns:a16="http://schemas.microsoft.com/office/drawing/2014/main" val="2522185849"/>
                  </a:ext>
                </a:extLst>
              </a:tr>
              <a:tr h="205761">
                <a:tc>
                  <a:txBody>
                    <a:bodyPr/>
                    <a:lstStyle/>
                    <a:p>
                      <a:pPr rtl="0" fontAlgn="ctr">
                        <a:buNone/>
                      </a:pPr>
                      <a:r>
                        <a:rPr lang="en-US" sz="900">
                          <a:effectLst/>
                          <a:latin typeface="Raleway"/>
                        </a:rPr>
                        <a:t>Jawa Tengah &amp; DIY</a:t>
                      </a:r>
                    </a:p>
                  </a:txBody>
                  <a:tcPr marL="9525" marR="9525" marT="9525" anchor="ctr">
                    <a:lnL w="12700" cap="flat" cmpd="sng" algn="ctr">
                      <a:solidFill>
                        <a:srgbClr val="106CC0"/>
                      </a:solidFill>
                      <a:prstDash val="solid"/>
                      <a:round/>
                      <a:headEnd type="none" w="med" len="med"/>
                      <a:tailEnd type="none" w="med" len="med"/>
                    </a:lnL>
                    <a:lnR>
                      <a:noFill/>
                    </a:lnR>
                    <a:lnT>
                      <a:noFill/>
                    </a:lnT>
                    <a:lnB>
                      <a:noFill/>
                    </a:lnB>
                    <a:solidFill>
                      <a:srgbClr val="C0E6F5"/>
                    </a:solidFill>
                  </a:tcPr>
                </a:tc>
                <a:tc>
                  <a:txBody>
                    <a:bodyPr/>
                    <a:lstStyle/>
                    <a:p>
                      <a:pPr rtl="0" fontAlgn="ctr">
                        <a:buNone/>
                      </a:pPr>
                      <a:r>
                        <a:rPr lang="en-US" sz="900">
                          <a:effectLst/>
                          <a:latin typeface="Raleway"/>
                        </a:rPr>
                        <a:t>Yogyakarta</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3</a:t>
                      </a:r>
                    </a:p>
                  </a:txBody>
                  <a:tcPr marL="9525" marR="9525" marT="9525" anchor="ctr">
                    <a:lnL>
                      <a:noFill/>
                    </a:lnL>
                    <a:lnR>
                      <a:noFill/>
                    </a:lnR>
                    <a:lnT>
                      <a:noFill/>
                    </a:lnT>
                    <a:lnB>
                      <a:noFill/>
                    </a:lnB>
                    <a:solidFill>
                      <a:srgbClr val="C0E6F5"/>
                    </a:solidFill>
                  </a:tcPr>
                </a:tc>
                <a:tc>
                  <a:txBody>
                    <a:bodyPr/>
                    <a:lstStyle/>
                    <a:p>
                      <a:pPr algn="ctr" rtl="0" fontAlgn="ctr">
                        <a:buNone/>
                      </a:pPr>
                      <a:r>
                        <a:rPr lang="en-US" sz="900">
                          <a:effectLst/>
                          <a:latin typeface="Raleway"/>
                        </a:rPr>
                        <a:t>Brittney</a:t>
                      </a:r>
                    </a:p>
                  </a:txBody>
                  <a:tcPr marL="9525" marR="9525" marT="9525" anchor="ctr">
                    <a:lnL>
                      <a:noFill/>
                    </a:lnL>
                    <a:lnR>
                      <a:noFill/>
                    </a:lnR>
                    <a:lnT>
                      <a:noFill/>
                    </a:lnT>
                    <a:lnB>
                      <a:noFill/>
                    </a:lnB>
                    <a:solidFill>
                      <a:srgbClr val="C0E6F5"/>
                    </a:solidFill>
                  </a:tcPr>
                </a:tc>
                <a:tc>
                  <a:txBody>
                    <a:bodyPr/>
                    <a:lstStyle/>
                    <a:p>
                      <a:pPr rtl="0" fontAlgn="ctr">
                        <a:buNone/>
                      </a:pPr>
                      <a:r>
                        <a:rPr lang="en-US" sz="900">
                          <a:effectLst/>
                          <a:latin typeface="Raleway"/>
                        </a:rPr>
                        <a:t>Closed 1</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1-Sep-26</a:t>
                      </a:r>
                    </a:p>
                  </a:txBody>
                  <a:tcPr marL="9525" marR="9525" marT="9525" anchor="ctr">
                    <a:lnL>
                      <a:noFill/>
                    </a:lnL>
                    <a:lnR w="12700" cap="flat" cmpd="sng" algn="ctr">
                      <a:solidFill>
                        <a:srgbClr val="1063C0"/>
                      </a:solidFill>
                      <a:prstDash val="solid"/>
                      <a:round/>
                      <a:headEnd type="none" w="med" len="med"/>
                      <a:tailEnd type="none" w="med" len="med"/>
                    </a:lnR>
                    <a:lnT>
                      <a:noFill/>
                    </a:lnT>
                    <a:lnB>
                      <a:noFill/>
                    </a:lnB>
                    <a:solidFill>
                      <a:srgbClr val="C0E6F5"/>
                    </a:solidFill>
                  </a:tcPr>
                </a:tc>
                <a:extLst>
                  <a:ext uri="{0D108BD9-81ED-4DB2-BD59-A6C34878D82A}">
                    <a16:rowId xmlns:a16="http://schemas.microsoft.com/office/drawing/2014/main" val="4042442840"/>
                  </a:ext>
                </a:extLst>
              </a:tr>
              <a:tr h="205761">
                <a:tc>
                  <a:txBody>
                    <a:bodyPr/>
                    <a:lstStyle/>
                    <a:p>
                      <a:pPr rtl="0" fontAlgn="ctr">
                        <a:buNone/>
                      </a:pPr>
                      <a:r>
                        <a:rPr lang="en-US" sz="900">
                          <a:effectLst/>
                          <a:latin typeface="Raleway"/>
                        </a:rPr>
                        <a:t>Jawa Tengah &amp; DIY</a:t>
                      </a:r>
                    </a:p>
                  </a:txBody>
                  <a:tcPr marL="9525" marR="9525" marT="9525" anchor="ctr">
                    <a:lnL w="12700" cap="flat" cmpd="sng" algn="ctr">
                      <a:solidFill>
                        <a:srgbClr val="3070C0"/>
                      </a:solidFill>
                      <a:prstDash val="solid"/>
                      <a:round/>
                      <a:headEnd type="none" w="med" len="med"/>
                      <a:tailEnd type="none" w="med" len="med"/>
                    </a:lnL>
                    <a:lnR>
                      <a:noFill/>
                    </a:lnR>
                    <a:lnT>
                      <a:noFill/>
                    </a:lnT>
                    <a:lnB>
                      <a:noFill/>
                    </a:lnB>
                    <a:solidFill>
                      <a:srgbClr val="C0E6F5"/>
                    </a:solidFill>
                  </a:tcPr>
                </a:tc>
                <a:tc>
                  <a:txBody>
                    <a:bodyPr/>
                    <a:lstStyle/>
                    <a:p>
                      <a:pPr rtl="0" fontAlgn="ctr">
                        <a:buNone/>
                      </a:pPr>
                      <a:r>
                        <a:rPr lang="en-US" sz="900">
                          <a:effectLst/>
                          <a:latin typeface="Raleway"/>
                        </a:rPr>
                        <a:t>Solo</a:t>
                      </a:r>
                    </a:p>
                  </a:txBody>
                  <a:tcPr marL="9525" marR="9525" marT="9525" anchor="ctr">
                    <a:lnL>
                      <a:noFill/>
                    </a:lnL>
                    <a:lnR>
                      <a:noFill/>
                    </a:lnR>
                    <a:lnT>
                      <a:noFill/>
                    </a:lnT>
                    <a:lnB>
                      <a:noFill/>
                    </a:lnB>
                    <a:solidFill>
                      <a:srgbClr val="C0E6F5"/>
                    </a:solidFill>
                  </a:tcPr>
                </a:tc>
                <a:tc>
                  <a:txBody>
                    <a:bodyPr/>
                    <a:lstStyle/>
                    <a:p>
                      <a:pPr algn="ctr" fontAlgn="ctr">
                        <a:buNone/>
                      </a:pPr>
                      <a:r>
                        <a:rPr lang="en-US" sz="900">
                          <a:solidFill>
                            <a:srgbClr val="FF0000"/>
                          </a:solidFill>
                          <a:effectLst/>
                          <a:latin typeface="Raleway"/>
                        </a:rPr>
                        <a:t>3</a:t>
                      </a:r>
                    </a:p>
                  </a:txBody>
                  <a:tcPr marL="9525" marR="9525" marT="9525" anchor="ctr">
                    <a:lnL>
                      <a:noFill/>
                    </a:lnL>
                    <a:lnR>
                      <a:noFill/>
                    </a:lnR>
                    <a:lnT>
                      <a:noFill/>
                    </a:lnT>
                    <a:lnB>
                      <a:noFill/>
                    </a:lnB>
                    <a:solidFill>
                      <a:srgbClr val="C0E6F5"/>
                    </a:solidFill>
                  </a:tcPr>
                </a:tc>
                <a:tc>
                  <a:txBody>
                    <a:bodyPr/>
                    <a:lstStyle/>
                    <a:p>
                      <a:pPr algn="ctr" rtl="0" fontAlgn="ctr">
                        <a:buNone/>
                      </a:pPr>
                      <a:r>
                        <a:rPr lang="en-US" sz="900">
                          <a:effectLst/>
                          <a:latin typeface="Raleway"/>
                        </a:rPr>
                        <a:t>Brittney</a:t>
                      </a:r>
                    </a:p>
                  </a:txBody>
                  <a:tcPr marL="9525" marR="9525" marT="9525" anchor="ctr">
                    <a:lnL>
                      <a:noFill/>
                    </a:lnL>
                    <a:lnR>
                      <a:noFill/>
                    </a:lnR>
                    <a:lnT>
                      <a:noFill/>
                    </a:lnT>
                    <a:lnB>
                      <a:noFill/>
                    </a:lnB>
                    <a:solidFill>
                      <a:srgbClr val="C0E6F5"/>
                    </a:solidFill>
                  </a:tcPr>
                </a:tc>
                <a:tc>
                  <a:txBody>
                    <a:bodyPr/>
                    <a:lstStyle/>
                    <a:p>
                      <a:pPr rtl="0" fontAlgn="ctr">
                        <a:buNone/>
                      </a:pPr>
                      <a:r>
                        <a:rPr lang="en-US" sz="900">
                          <a:effectLst/>
                          <a:latin typeface="Raleway"/>
                        </a:rPr>
                        <a:t>Closed 2</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1-Sep-26</a:t>
                      </a:r>
                    </a:p>
                  </a:txBody>
                  <a:tcPr marL="9525" marR="9525" marT="9525" anchor="ctr">
                    <a:lnL>
                      <a:noFill/>
                    </a:lnL>
                    <a:lnR w="12700" cap="flat" cmpd="sng" algn="ctr">
                      <a:solidFill>
                        <a:srgbClr val="B065C0"/>
                      </a:solidFill>
                      <a:prstDash val="solid"/>
                      <a:round/>
                      <a:headEnd type="none" w="med" len="med"/>
                      <a:tailEnd type="none" w="med" len="med"/>
                    </a:lnR>
                    <a:lnT>
                      <a:noFill/>
                    </a:lnT>
                    <a:lnB>
                      <a:noFill/>
                    </a:lnB>
                    <a:solidFill>
                      <a:srgbClr val="C0E6F5"/>
                    </a:solidFill>
                  </a:tcPr>
                </a:tc>
                <a:extLst>
                  <a:ext uri="{0D108BD9-81ED-4DB2-BD59-A6C34878D82A}">
                    <a16:rowId xmlns:a16="http://schemas.microsoft.com/office/drawing/2014/main" val="1319422732"/>
                  </a:ext>
                </a:extLst>
              </a:tr>
              <a:tr h="205761">
                <a:tc>
                  <a:txBody>
                    <a:bodyPr/>
                    <a:lstStyle/>
                    <a:p>
                      <a:pPr rtl="0" fontAlgn="ctr">
                        <a:buNone/>
                      </a:pPr>
                      <a:r>
                        <a:rPr lang="en-US" sz="900">
                          <a:effectLst/>
                          <a:latin typeface="Raleway"/>
                        </a:rPr>
                        <a:t>Jawa Tengah &amp; DIY</a:t>
                      </a:r>
                    </a:p>
                  </a:txBody>
                  <a:tcPr marL="9525" marR="9525" marT="9525" anchor="ctr">
                    <a:lnL w="12700" cap="flat" cmpd="sng" algn="ctr">
                      <a:solidFill>
                        <a:srgbClr val="D066C0"/>
                      </a:solidFill>
                      <a:prstDash val="solid"/>
                      <a:round/>
                      <a:headEnd type="none" w="med" len="med"/>
                      <a:tailEnd type="none" w="med" len="med"/>
                    </a:lnL>
                    <a:lnR>
                      <a:noFill/>
                    </a:lnR>
                    <a:lnT>
                      <a:noFill/>
                    </a:lnT>
                    <a:lnB>
                      <a:noFill/>
                    </a:lnB>
                    <a:solidFill>
                      <a:srgbClr val="FFFFFF"/>
                    </a:solidFill>
                  </a:tcPr>
                </a:tc>
                <a:tc>
                  <a:txBody>
                    <a:bodyPr/>
                    <a:lstStyle/>
                    <a:p>
                      <a:pPr rtl="0" fontAlgn="ctr">
                        <a:buNone/>
                      </a:pPr>
                      <a:r>
                        <a:rPr lang="en-US" sz="900" err="1">
                          <a:effectLst/>
                          <a:latin typeface="Raleway"/>
                        </a:rPr>
                        <a:t>Sukoharjo</a:t>
                      </a:r>
                    </a:p>
                  </a:txBody>
                  <a:tcPr marL="9525" marR="9525" marT="9525" anchor="ctr">
                    <a:lnL>
                      <a:noFill/>
                    </a:lnL>
                    <a:lnR>
                      <a:noFill/>
                    </a:lnR>
                    <a:lnT>
                      <a:noFill/>
                    </a:lnT>
                    <a:lnB>
                      <a:noFill/>
                    </a:lnB>
                    <a:solidFill>
                      <a:srgbClr val="FFFFFF"/>
                    </a:solidFill>
                  </a:tcPr>
                </a:tc>
                <a:tc>
                  <a:txBody>
                    <a:bodyPr/>
                    <a:lstStyle/>
                    <a:p>
                      <a:pPr algn="ctr" fontAlgn="ctr">
                        <a:buNone/>
                      </a:pPr>
                      <a:r>
                        <a:rPr lang="en-US" sz="900">
                          <a:solidFill>
                            <a:srgbClr val="FF0000"/>
                          </a:solidFill>
                          <a:effectLst/>
                          <a:latin typeface="Raleway"/>
                        </a:rPr>
                        <a:t>1</a:t>
                      </a:r>
                    </a:p>
                  </a:txBody>
                  <a:tcPr marL="9525" marR="9525" marT="9525" anchor="ctr">
                    <a:lnL>
                      <a:noFill/>
                    </a:lnL>
                    <a:lnR>
                      <a:noFill/>
                    </a:lnR>
                    <a:lnT>
                      <a:noFill/>
                    </a:lnT>
                    <a:lnB>
                      <a:noFill/>
                    </a:lnB>
                    <a:solidFill>
                      <a:srgbClr val="FFFFFF"/>
                    </a:solidFill>
                  </a:tcPr>
                </a:tc>
                <a:tc>
                  <a:txBody>
                    <a:bodyPr/>
                    <a:lstStyle/>
                    <a:p>
                      <a:pPr algn="ctr" rtl="0" fontAlgn="ctr">
                        <a:buNone/>
                      </a:pPr>
                      <a:r>
                        <a:rPr lang="en-US" sz="900">
                          <a:effectLst/>
                          <a:latin typeface="Raleway"/>
                        </a:rPr>
                        <a:t>Brittney</a:t>
                      </a:r>
                    </a:p>
                  </a:txBody>
                  <a:tcPr marL="9525" marR="9525" marT="9525" anchor="ctr">
                    <a:lnL>
                      <a:noFill/>
                    </a:lnL>
                    <a:lnR>
                      <a:noFill/>
                    </a:lnR>
                    <a:lnT>
                      <a:noFill/>
                    </a:lnT>
                    <a:lnB>
                      <a:noFill/>
                    </a:lnB>
                    <a:solidFill>
                      <a:srgbClr val="FFFFFF"/>
                    </a:solidFill>
                  </a:tcPr>
                </a:tc>
                <a:tc>
                  <a:txBody>
                    <a:bodyPr/>
                    <a:lstStyle/>
                    <a:p>
                      <a:pPr rtl="0" fontAlgn="ctr">
                        <a:buNone/>
                      </a:pPr>
                      <a:r>
                        <a:rPr lang="en-US" sz="900">
                          <a:effectLst/>
                          <a:latin typeface="Raleway"/>
                        </a:rPr>
                        <a:t>Closed</a:t>
                      </a: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solidFill>
                      <a:srgbClr val="FFFFFF"/>
                    </a:solidFill>
                  </a:tcPr>
                </a:tc>
                <a:tc>
                  <a:txBody>
                    <a:bodyPr/>
                    <a:lstStyle/>
                    <a:p>
                      <a:pPr algn="ctr" fontAlgn="ctr">
                        <a:buNone/>
                      </a:pPr>
                      <a:r>
                        <a:rPr lang="en-US" sz="900">
                          <a:effectLst/>
                          <a:latin typeface="Raleway"/>
                        </a:rPr>
                        <a:t>1-Sep-26</a:t>
                      </a:r>
                    </a:p>
                  </a:txBody>
                  <a:tcPr marL="9525" marR="9525" marT="9525" anchor="ctr">
                    <a:lnL>
                      <a:noFill/>
                    </a:lnL>
                    <a:lnR w="12700" cap="flat" cmpd="sng" algn="ctr">
                      <a:solidFill>
                        <a:srgbClr val="7069C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407003931"/>
                  </a:ext>
                </a:extLst>
              </a:tr>
              <a:tr h="205761">
                <a:tc>
                  <a:txBody>
                    <a:bodyPr/>
                    <a:lstStyle/>
                    <a:p>
                      <a:pPr rtl="0" fontAlgn="ctr">
                        <a:buNone/>
                      </a:pPr>
                      <a:r>
                        <a:rPr lang="en-US" sz="900">
                          <a:effectLst/>
                          <a:latin typeface="Raleway"/>
                        </a:rPr>
                        <a:t>Jawa Tengah &amp; DIY</a:t>
                      </a:r>
                    </a:p>
                  </a:txBody>
                  <a:tcPr marL="9525" marR="9525" marT="9525" anchor="ctr">
                    <a:lnL w="12700" cap="flat" cmpd="sng" algn="ctr">
                      <a:solidFill>
                        <a:srgbClr val="506BC0"/>
                      </a:solidFill>
                      <a:prstDash val="solid"/>
                      <a:round/>
                      <a:headEnd type="none" w="med" len="med"/>
                      <a:tailEnd type="none" w="med" len="med"/>
                    </a:lnL>
                    <a:lnR>
                      <a:noFill/>
                    </a:lnR>
                    <a:lnT>
                      <a:noFill/>
                    </a:lnT>
                    <a:lnB>
                      <a:noFill/>
                    </a:lnB>
                    <a:solidFill>
                      <a:srgbClr val="C0E6F5"/>
                    </a:solidFill>
                  </a:tcPr>
                </a:tc>
                <a:tc>
                  <a:txBody>
                    <a:bodyPr/>
                    <a:lstStyle/>
                    <a:p>
                      <a:pPr rtl="0" fontAlgn="ctr">
                        <a:buNone/>
                      </a:pPr>
                      <a:r>
                        <a:rPr lang="en-US" sz="900" err="1">
                          <a:effectLst/>
                          <a:latin typeface="Raleway"/>
                        </a:rPr>
                        <a:t>Purbalingga</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3</a:t>
                      </a:r>
                    </a:p>
                  </a:txBody>
                  <a:tcPr marL="9525" marR="9525" marT="9525" anchor="ctr">
                    <a:lnL>
                      <a:noFill/>
                    </a:lnL>
                    <a:lnR>
                      <a:noFill/>
                    </a:lnR>
                    <a:lnT>
                      <a:noFill/>
                    </a:lnT>
                    <a:lnB>
                      <a:noFill/>
                    </a:lnB>
                    <a:solidFill>
                      <a:srgbClr val="C0E6F5"/>
                    </a:solidFill>
                  </a:tcPr>
                </a:tc>
                <a:tc>
                  <a:txBody>
                    <a:bodyPr/>
                    <a:lstStyle/>
                    <a:p>
                      <a:pPr algn="ctr" rtl="0" fontAlgn="ctr">
                        <a:buNone/>
                      </a:pPr>
                      <a:r>
                        <a:rPr lang="en-US" sz="900">
                          <a:effectLst/>
                          <a:latin typeface="Raleway"/>
                        </a:rPr>
                        <a:t>Brittney</a:t>
                      </a:r>
                    </a:p>
                  </a:txBody>
                  <a:tcPr marL="9525" marR="9525" marT="9525" anchor="ctr">
                    <a:lnL>
                      <a:noFill/>
                    </a:lnL>
                    <a:lnR>
                      <a:noFill/>
                    </a:lnR>
                    <a:lnT>
                      <a:noFill/>
                    </a:lnT>
                    <a:lnB>
                      <a:noFill/>
                    </a:lnB>
                    <a:solidFill>
                      <a:srgbClr val="C0E6F5"/>
                    </a:solidFill>
                  </a:tcPr>
                </a:tc>
                <a:tc>
                  <a:txBody>
                    <a:bodyPr/>
                    <a:lstStyle/>
                    <a:p>
                      <a:pPr rtl="0" fontAlgn="ctr">
                        <a:buNone/>
                      </a:pPr>
                      <a:r>
                        <a:rPr lang="en-US" sz="900">
                          <a:effectLst/>
                          <a:latin typeface="Raleway"/>
                        </a:rPr>
                        <a:t>Closed 1</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1-Sep-26</a:t>
                      </a:r>
                    </a:p>
                  </a:txBody>
                  <a:tcPr marL="9525" marR="9525" marT="9525" anchor="ctr">
                    <a:lnL>
                      <a:noFill/>
                    </a:lnL>
                    <a:lnR w="12700" cap="flat" cmpd="sng" algn="ctr">
                      <a:solidFill>
                        <a:srgbClr val="906DC0"/>
                      </a:solidFill>
                      <a:prstDash val="solid"/>
                      <a:round/>
                      <a:headEnd type="none" w="med" len="med"/>
                      <a:tailEnd type="none" w="med" len="med"/>
                    </a:lnR>
                    <a:lnT>
                      <a:noFill/>
                    </a:lnT>
                    <a:lnB>
                      <a:noFill/>
                    </a:lnB>
                    <a:solidFill>
                      <a:srgbClr val="C0E6F5"/>
                    </a:solidFill>
                  </a:tcPr>
                </a:tc>
                <a:extLst>
                  <a:ext uri="{0D108BD9-81ED-4DB2-BD59-A6C34878D82A}">
                    <a16:rowId xmlns:a16="http://schemas.microsoft.com/office/drawing/2014/main" val="1780590926"/>
                  </a:ext>
                </a:extLst>
              </a:tr>
              <a:tr h="205761">
                <a:tc>
                  <a:txBody>
                    <a:bodyPr/>
                    <a:lstStyle/>
                    <a:p>
                      <a:pPr rtl="0" fontAlgn="ctr">
                        <a:buNone/>
                      </a:pPr>
                      <a:r>
                        <a:rPr lang="en-US" sz="900">
                          <a:effectLst/>
                          <a:latin typeface="Raleway"/>
                        </a:rPr>
                        <a:t>Jawa Timur Bali</a:t>
                      </a:r>
                    </a:p>
                  </a:txBody>
                  <a:tcPr marL="9525" marR="9525" marT="9525" anchor="ctr">
                    <a:lnL w="12700" cap="flat" cmpd="sng" algn="ctr">
                      <a:solidFill>
                        <a:srgbClr val="7069C0"/>
                      </a:solidFill>
                      <a:prstDash val="solid"/>
                      <a:round/>
                      <a:headEnd type="none" w="med" len="med"/>
                      <a:tailEnd type="none" w="med" len="med"/>
                    </a:lnL>
                    <a:lnR>
                      <a:noFill/>
                    </a:lnR>
                    <a:lnT>
                      <a:noFill/>
                    </a:lnT>
                    <a:lnB>
                      <a:noFill/>
                    </a:lnB>
                    <a:solidFill>
                      <a:srgbClr val="C0E6F5"/>
                    </a:solidFill>
                  </a:tcPr>
                </a:tc>
                <a:tc>
                  <a:txBody>
                    <a:bodyPr/>
                    <a:lstStyle/>
                    <a:p>
                      <a:pPr rtl="0" fontAlgn="ctr">
                        <a:buNone/>
                      </a:pPr>
                      <a:r>
                        <a:rPr lang="en-US" sz="900" err="1">
                          <a:effectLst/>
                          <a:latin typeface="Raleway"/>
                        </a:rPr>
                        <a:t>Sidoarjo</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3</a:t>
                      </a:r>
                    </a:p>
                  </a:txBody>
                  <a:tcPr marL="9525" marR="9525" marT="9525" anchor="ctr">
                    <a:lnL>
                      <a:noFill/>
                    </a:lnL>
                    <a:lnR>
                      <a:noFill/>
                    </a:lnR>
                    <a:lnT>
                      <a:noFill/>
                    </a:lnT>
                    <a:lnB>
                      <a:noFill/>
                    </a:lnB>
                    <a:solidFill>
                      <a:srgbClr val="C0E6F5"/>
                    </a:solidFill>
                  </a:tcPr>
                </a:tc>
                <a:tc>
                  <a:txBody>
                    <a:bodyPr/>
                    <a:lstStyle/>
                    <a:p>
                      <a:pPr algn="ctr" rtl="0" fontAlgn="ctr">
                        <a:buNone/>
                      </a:pPr>
                      <a:r>
                        <a:rPr lang="en-US" sz="900" err="1">
                          <a:effectLst/>
                          <a:latin typeface="Raleway"/>
                        </a:rPr>
                        <a:t>Kenthansen</a:t>
                      </a:r>
                    </a:p>
                  </a:txBody>
                  <a:tcPr marL="9525" marR="9525" marT="9525" anchor="ctr">
                    <a:lnL>
                      <a:noFill/>
                    </a:lnL>
                    <a:lnR>
                      <a:noFill/>
                    </a:lnR>
                    <a:lnT>
                      <a:noFill/>
                    </a:lnT>
                    <a:lnB>
                      <a:noFill/>
                    </a:lnB>
                    <a:solidFill>
                      <a:srgbClr val="C0E6F5"/>
                    </a:solidFill>
                  </a:tcPr>
                </a:tc>
                <a:tc>
                  <a:txBody>
                    <a:bodyPr/>
                    <a:lstStyle/>
                    <a:p>
                      <a:pPr rtl="0" fontAlgn="ctr">
                        <a:buNone/>
                      </a:pPr>
                      <a:endParaRPr lang="en-US" sz="900">
                        <a:effectLst/>
                        <a:latin typeface="Raleway"/>
                      </a:endParaRP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0</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3</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1-Sep-26</a:t>
                      </a:r>
                    </a:p>
                  </a:txBody>
                  <a:tcPr marL="9525" marR="9525" marT="9525" anchor="ctr">
                    <a:lnL>
                      <a:noFill/>
                    </a:lnL>
                    <a:lnR w="12700" cap="flat" cmpd="sng" algn="ctr">
                      <a:solidFill>
                        <a:srgbClr val="F061C0"/>
                      </a:solidFill>
                      <a:prstDash val="solid"/>
                      <a:round/>
                      <a:headEnd type="none" w="med" len="med"/>
                      <a:tailEnd type="none" w="med" len="med"/>
                    </a:lnR>
                    <a:lnT>
                      <a:noFill/>
                    </a:lnT>
                    <a:lnB>
                      <a:noFill/>
                    </a:lnB>
                    <a:solidFill>
                      <a:srgbClr val="C0E6F5"/>
                    </a:solidFill>
                  </a:tcPr>
                </a:tc>
                <a:extLst>
                  <a:ext uri="{0D108BD9-81ED-4DB2-BD59-A6C34878D82A}">
                    <a16:rowId xmlns:a16="http://schemas.microsoft.com/office/drawing/2014/main" val="1706084261"/>
                  </a:ext>
                </a:extLst>
              </a:tr>
              <a:tr h="279247">
                <a:tc>
                  <a:txBody>
                    <a:bodyPr/>
                    <a:lstStyle/>
                    <a:p>
                      <a:pPr rtl="0" fontAlgn="ctr">
                        <a:buNone/>
                      </a:pPr>
                      <a:r>
                        <a:rPr lang="en-US" sz="900">
                          <a:effectLst/>
                          <a:latin typeface="Raleway"/>
                        </a:rPr>
                        <a:t>Jawa Timur Bali</a:t>
                      </a:r>
                    </a:p>
                  </a:txBody>
                  <a:tcPr marL="9525" marR="9525" marT="9525" anchor="ctr">
                    <a:lnL w="12700" cap="flat" cmpd="sng" algn="ctr">
                      <a:solidFill>
                        <a:srgbClr val="F05EC0"/>
                      </a:solidFill>
                      <a:prstDash val="solid"/>
                      <a:round/>
                      <a:headEnd type="none" w="med" len="med"/>
                      <a:tailEnd type="none" w="med" len="med"/>
                    </a:lnL>
                    <a:lnR>
                      <a:noFill/>
                    </a:lnR>
                    <a:lnT>
                      <a:noFill/>
                    </a:lnT>
                    <a:lnB>
                      <a:noFill/>
                    </a:lnB>
                    <a:solidFill>
                      <a:srgbClr val="C0E6F5"/>
                    </a:solidFill>
                  </a:tcPr>
                </a:tc>
                <a:tc>
                  <a:txBody>
                    <a:bodyPr/>
                    <a:lstStyle/>
                    <a:p>
                      <a:pPr rtl="0" fontAlgn="ctr">
                        <a:buNone/>
                      </a:pPr>
                      <a:r>
                        <a:rPr lang="en-US" sz="900">
                          <a:effectLst/>
                          <a:latin typeface="Raleway"/>
                        </a:rPr>
                        <a:t>Kediri</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3</a:t>
                      </a:r>
                    </a:p>
                  </a:txBody>
                  <a:tcPr marL="9525" marR="9525" marT="9525" anchor="ctr">
                    <a:lnL>
                      <a:noFill/>
                    </a:lnL>
                    <a:lnR>
                      <a:noFill/>
                    </a:lnR>
                    <a:lnT>
                      <a:noFill/>
                    </a:lnT>
                    <a:lnB>
                      <a:noFill/>
                    </a:lnB>
                    <a:solidFill>
                      <a:srgbClr val="C0E6F5"/>
                    </a:solidFill>
                  </a:tcPr>
                </a:tc>
                <a:tc>
                  <a:txBody>
                    <a:bodyPr/>
                    <a:lstStyle/>
                    <a:p>
                      <a:pPr algn="ctr" rtl="0" fontAlgn="ctr">
                        <a:buNone/>
                      </a:pPr>
                      <a:r>
                        <a:rPr lang="en-US" sz="900" err="1">
                          <a:effectLst/>
                          <a:latin typeface="Raleway"/>
                        </a:rPr>
                        <a:t>Kenthansen</a:t>
                      </a:r>
                    </a:p>
                  </a:txBody>
                  <a:tcPr marL="9525" marR="9525" marT="9525" anchor="ctr">
                    <a:lnL>
                      <a:noFill/>
                    </a:lnL>
                    <a:lnR>
                      <a:noFill/>
                    </a:lnR>
                    <a:lnT>
                      <a:noFill/>
                    </a:lnT>
                    <a:lnB>
                      <a:noFill/>
                    </a:lnB>
                    <a:solidFill>
                      <a:srgbClr val="C0E6F5"/>
                    </a:solidFill>
                  </a:tcPr>
                </a:tc>
                <a:tc>
                  <a:txBody>
                    <a:bodyPr/>
                    <a:lstStyle/>
                    <a:p>
                      <a:pPr rtl="0" fontAlgn="ctr">
                        <a:buNone/>
                      </a:pPr>
                      <a:r>
                        <a:rPr lang="en-US" sz="900">
                          <a:effectLst/>
                          <a:latin typeface="Raleway"/>
                        </a:rPr>
                        <a:t>Closed 1</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2</a:t>
                      </a:r>
                    </a:p>
                  </a:txBody>
                  <a:tcPr marL="9525" marR="9525" marT="9525" anchor="ctr">
                    <a:lnL>
                      <a:noFill/>
                    </a:lnL>
                    <a:lnR>
                      <a:noFill/>
                    </a:lnR>
                    <a:lnT>
                      <a:noFill/>
                    </a:lnT>
                    <a:lnB>
                      <a:noFill/>
                    </a:lnB>
                    <a:solidFill>
                      <a:srgbClr val="C0E6F5"/>
                    </a:solidFill>
                  </a:tcPr>
                </a:tc>
                <a:tc>
                  <a:txBody>
                    <a:bodyPr/>
                    <a:lstStyle/>
                    <a:p>
                      <a:pPr algn="ctr" fontAlgn="ctr">
                        <a:buNone/>
                      </a:pPr>
                      <a:r>
                        <a:rPr lang="en-US" sz="900">
                          <a:effectLst/>
                          <a:latin typeface="Raleway"/>
                        </a:rPr>
                        <a:t>1-Sep-26</a:t>
                      </a:r>
                    </a:p>
                  </a:txBody>
                  <a:tcPr marL="9525" marR="9525" marT="9525" anchor="ctr">
                    <a:lnL>
                      <a:noFill/>
                    </a:lnL>
                    <a:lnR w="12700" cap="flat" cmpd="sng" algn="ctr">
                      <a:solidFill>
                        <a:srgbClr val="B06EC0"/>
                      </a:solidFill>
                      <a:prstDash val="solid"/>
                      <a:round/>
                      <a:headEnd type="none" w="med" len="med"/>
                      <a:tailEnd type="none" w="med" len="med"/>
                    </a:lnR>
                    <a:lnT>
                      <a:noFill/>
                    </a:lnT>
                    <a:lnB>
                      <a:noFill/>
                    </a:lnB>
                    <a:solidFill>
                      <a:srgbClr val="C0E6F5"/>
                    </a:solidFill>
                  </a:tcPr>
                </a:tc>
                <a:extLst>
                  <a:ext uri="{0D108BD9-81ED-4DB2-BD59-A6C34878D82A}">
                    <a16:rowId xmlns:a16="http://schemas.microsoft.com/office/drawing/2014/main" val="1341906302"/>
                  </a:ext>
                </a:extLst>
              </a:tr>
              <a:tr h="205761">
                <a:tc>
                  <a:txBody>
                    <a:bodyPr/>
                    <a:lstStyle/>
                    <a:p>
                      <a:pPr rtl="0" fontAlgn="ctr">
                        <a:buNone/>
                      </a:pPr>
                      <a:r>
                        <a:rPr lang="en-US" sz="900">
                          <a:effectLst/>
                          <a:latin typeface="Raleway"/>
                        </a:rPr>
                        <a:t>Jawa Timur Bali</a:t>
                      </a:r>
                    </a:p>
                  </a:txBody>
                  <a:tcPr marL="9525" marR="9525" marT="9525" anchor="ctr">
                    <a:lnL w="12700" cap="flat" cmpd="sng" algn="ctr">
                      <a:solidFill>
                        <a:srgbClr val="7069C0"/>
                      </a:solidFill>
                      <a:prstDash val="solid"/>
                      <a:round/>
                      <a:headEnd type="none" w="med" len="med"/>
                      <a:tailEnd type="none" w="med" len="med"/>
                    </a:lnL>
                    <a:lnR>
                      <a:noFill/>
                    </a:lnR>
                    <a:lnT>
                      <a:noFill/>
                    </a:lnT>
                    <a:lnB w="12700" cap="flat" cmpd="sng" algn="ctr">
                      <a:solidFill>
                        <a:srgbClr val="7069C0"/>
                      </a:solidFill>
                      <a:prstDash val="solid"/>
                      <a:round/>
                      <a:headEnd type="none" w="med" len="med"/>
                      <a:tailEnd type="none" w="med" len="med"/>
                    </a:lnB>
                    <a:solidFill>
                      <a:srgbClr val="C0E6F5"/>
                    </a:solidFill>
                  </a:tcPr>
                </a:tc>
                <a:tc>
                  <a:txBody>
                    <a:bodyPr/>
                    <a:lstStyle/>
                    <a:p>
                      <a:pPr rtl="0" fontAlgn="ctr">
                        <a:buNone/>
                      </a:pPr>
                      <a:r>
                        <a:rPr lang="en-US" sz="900">
                          <a:effectLst/>
                          <a:latin typeface="Raleway"/>
                        </a:rPr>
                        <a:t>Bali</a:t>
                      </a:r>
                    </a:p>
                  </a:txBody>
                  <a:tcPr marL="9525" marR="9525" marT="9525" anchor="ctr">
                    <a:lnL>
                      <a:noFill/>
                    </a:lnL>
                    <a:lnR>
                      <a:noFill/>
                    </a:lnR>
                    <a:lnT>
                      <a:noFill/>
                    </a:lnT>
                    <a:lnB w="12700" cap="flat" cmpd="sng" algn="ctr">
                      <a:solidFill>
                        <a:srgbClr val="A04197"/>
                      </a:solidFill>
                      <a:prstDash val="solid"/>
                      <a:round/>
                      <a:headEnd type="none" w="med" len="med"/>
                      <a:tailEnd type="none" w="med" len="med"/>
                    </a:lnB>
                    <a:solidFill>
                      <a:srgbClr val="C0E6F5"/>
                    </a:solidFill>
                  </a:tcPr>
                </a:tc>
                <a:tc>
                  <a:txBody>
                    <a:bodyPr/>
                    <a:lstStyle/>
                    <a:p>
                      <a:pPr algn="ctr" fontAlgn="ctr">
                        <a:buNone/>
                      </a:pPr>
                      <a:r>
                        <a:rPr lang="en-US" sz="900">
                          <a:effectLst/>
                          <a:latin typeface="Raleway"/>
                        </a:rPr>
                        <a:t>2</a:t>
                      </a:r>
                    </a:p>
                  </a:txBody>
                  <a:tcPr marL="9525" marR="9525" marT="9525" anchor="ctr">
                    <a:lnL>
                      <a:noFill/>
                    </a:lnL>
                    <a:lnR>
                      <a:noFill/>
                    </a:lnR>
                    <a:lnT>
                      <a:noFill/>
                    </a:lnT>
                    <a:lnB w="12700" cap="flat" cmpd="sng" algn="ctr">
                      <a:solidFill>
                        <a:srgbClr val="E03D97"/>
                      </a:solidFill>
                      <a:prstDash val="solid"/>
                      <a:round/>
                      <a:headEnd type="none" w="med" len="med"/>
                      <a:tailEnd type="none" w="med" len="med"/>
                    </a:lnB>
                    <a:solidFill>
                      <a:srgbClr val="C0E6F5"/>
                    </a:solidFill>
                  </a:tcPr>
                </a:tc>
                <a:tc>
                  <a:txBody>
                    <a:bodyPr/>
                    <a:lstStyle/>
                    <a:p>
                      <a:pPr algn="ctr" rtl="0" fontAlgn="ctr">
                        <a:buNone/>
                      </a:pPr>
                      <a:r>
                        <a:rPr lang="en-US" sz="900" err="1">
                          <a:effectLst/>
                          <a:latin typeface="Raleway"/>
                        </a:rPr>
                        <a:t>Kenthansen</a:t>
                      </a:r>
                    </a:p>
                  </a:txBody>
                  <a:tcPr marL="9525" marR="9525" marT="9525" anchor="ctr">
                    <a:lnL>
                      <a:noFill/>
                    </a:lnL>
                    <a:lnR>
                      <a:noFill/>
                    </a:lnR>
                    <a:lnT>
                      <a:noFill/>
                    </a:lnT>
                    <a:lnB w="12700" cap="flat" cmpd="sng" algn="ctr">
                      <a:solidFill>
                        <a:srgbClr val="004697"/>
                      </a:solidFill>
                      <a:prstDash val="solid"/>
                      <a:round/>
                      <a:headEnd type="none" w="med" len="med"/>
                      <a:tailEnd type="none" w="med" len="med"/>
                    </a:lnB>
                    <a:solidFill>
                      <a:srgbClr val="C0E6F5"/>
                    </a:solidFill>
                  </a:tcPr>
                </a:tc>
                <a:tc>
                  <a:txBody>
                    <a:bodyPr/>
                    <a:lstStyle/>
                    <a:p>
                      <a:pPr rtl="0" fontAlgn="ctr">
                        <a:buNone/>
                      </a:pPr>
                      <a:endParaRPr lang="en-US" sz="900">
                        <a:effectLst/>
                        <a:latin typeface="Raleway"/>
                      </a:endParaRPr>
                    </a:p>
                  </a:txBody>
                  <a:tcPr marL="9525" marR="9525" marT="9525" anchor="ctr">
                    <a:lnL>
                      <a:noFill/>
                    </a:lnL>
                    <a:lnR>
                      <a:noFill/>
                    </a:lnR>
                    <a:lnT>
                      <a:noFill/>
                    </a:lnT>
                    <a:lnB w="12700" cap="flat" cmpd="sng" algn="ctr">
                      <a:solidFill>
                        <a:srgbClr val="204997"/>
                      </a:solidFill>
                      <a:prstDash val="solid"/>
                      <a:round/>
                      <a:headEnd type="none" w="med" len="med"/>
                      <a:tailEnd type="none" w="med" len="med"/>
                    </a:lnB>
                    <a:solidFill>
                      <a:srgbClr val="C0E6F5"/>
                    </a:solidFill>
                  </a:tcPr>
                </a:tc>
                <a:tc>
                  <a:txBody>
                    <a:bodyPr/>
                    <a:lstStyle/>
                    <a:p>
                      <a:pPr algn="ctr" fontAlgn="ctr">
                        <a:buNone/>
                      </a:pPr>
                      <a:r>
                        <a:rPr lang="en-US" sz="900">
                          <a:effectLst/>
                          <a:latin typeface="Raleway"/>
                        </a:rPr>
                        <a:t>0</a:t>
                      </a:r>
                    </a:p>
                  </a:txBody>
                  <a:tcPr marL="9525" marR="9525" marT="9525" anchor="ctr">
                    <a:lnL>
                      <a:noFill/>
                    </a:lnL>
                    <a:lnR>
                      <a:noFill/>
                    </a:lnR>
                    <a:lnT>
                      <a:noFill/>
                    </a:lnT>
                    <a:lnB w="12700" cap="flat" cmpd="sng" algn="ctr">
                      <a:solidFill>
                        <a:srgbClr val="A04197"/>
                      </a:solidFill>
                      <a:prstDash val="solid"/>
                      <a:round/>
                      <a:headEnd type="none" w="med" len="med"/>
                      <a:tailEnd type="none" w="med" len="med"/>
                    </a:lnB>
                    <a:solidFill>
                      <a:srgbClr val="C0E6F5"/>
                    </a:solidFill>
                  </a:tcPr>
                </a:tc>
                <a:tc>
                  <a:txBody>
                    <a:bodyPr/>
                    <a:lstStyle/>
                    <a:p>
                      <a:pPr algn="ctr" fontAlgn="ctr">
                        <a:buNone/>
                      </a:pPr>
                      <a:r>
                        <a:rPr lang="en-US" sz="900">
                          <a:effectLst/>
                          <a:latin typeface="Raleway"/>
                        </a:rPr>
                        <a:t>2</a:t>
                      </a:r>
                    </a:p>
                  </a:txBody>
                  <a:tcPr marL="9525" marR="9525" marT="9525" anchor="ctr">
                    <a:lnL>
                      <a:noFill/>
                    </a:lnL>
                    <a:lnR>
                      <a:noFill/>
                    </a:lnR>
                    <a:lnT>
                      <a:noFill/>
                    </a:lnT>
                    <a:lnB w="12700" cap="flat" cmpd="sng" algn="ctr">
                      <a:solidFill>
                        <a:srgbClr val="A04197"/>
                      </a:solidFill>
                      <a:prstDash val="solid"/>
                      <a:round/>
                      <a:headEnd type="none" w="med" len="med"/>
                      <a:tailEnd type="none" w="med" len="med"/>
                    </a:lnB>
                    <a:solidFill>
                      <a:srgbClr val="C0E6F5"/>
                    </a:solidFill>
                  </a:tcPr>
                </a:tc>
                <a:tc>
                  <a:txBody>
                    <a:bodyPr/>
                    <a:lstStyle/>
                    <a:p>
                      <a:pPr algn="ctr" fontAlgn="ctr">
                        <a:buNone/>
                      </a:pPr>
                      <a:r>
                        <a:rPr lang="en-US" sz="900">
                          <a:effectLst/>
                          <a:latin typeface="Raleway"/>
                        </a:rPr>
                        <a:t>1-Sep-26</a:t>
                      </a:r>
                    </a:p>
                  </a:txBody>
                  <a:tcPr marL="9525" marR="9525" marT="9525" anchor="ctr">
                    <a:lnL>
                      <a:noFill/>
                    </a:lnL>
                    <a:lnR w="12700" cap="flat" cmpd="sng" algn="ctr">
                      <a:solidFill>
                        <a:srgbClr val="B06BC0"/>
                      </a:solidFill>
                      <a:prstDash val="solid"/>
                      <a:round/>
                      <a:headEnd type="none" w="med" len="med"/>
                      <a:tailEnd type="none" w="med" len="med"/>
                    </a:lnR>
                    <a:lnT>
                      <a:noFill/>
                    </a:lnT>
                    <a:lnB w="12700" cap="flat" cmpd="sng" algn="ctr">
                      <a:solidFill>
                        <a:srgbClr val="B06BC0"/>
                      </a:solidFill>
                      <a:prstDash val="solid"/>
                      <a:round/>
                      <a:headEnd type="none" w="med" len="med"/>
                      <a:tailEnd type="none" w="med" len="med"/>
                    </a:lnB>
                    <a:solidFill>
                      <a:srgbClr val="C0E6F5"/>
                    </a:solidFill>
                  </a:tcPr>
                </a:tc>
                <a:extLst>
                  <a:ext uri="{0D108BD9-81ED-4DB2-BD59-A6C34878D82A}">
                    <a16:rowId xmlns:a16="http://schemas.microsoft.com/office/drawing/2014/main" val="1130819931"/>
                  </a:ext>
                </a:extLst>
              </a:tr>
              <a:tr h="205761">
                <a:tc>
                  <a:txBody>
                    <a:bodyPr/>
                    <a:lstStyle/>
                    <a:p>
                      <a:pPr fontAlgn="ctr">
                        <a:buNone/>
                      </a:pPr>
                      <a:endParaRPr lang="en-US" sz="900">
                        <a:effectLst/>
                        <a:latin typeface="Aptos Narrow"/>
                      </a:endParaRPr>
                    </a:p>
                  </a:txBody>
                  <a:tcPr marL="9525" marR="9525" marT="9525" anchor="ctr">
                    <a:lnL>
                      <a:noFill/>
                    </a:lnL>
                    <a:lnR>
                      <a:noFill/>
                    </a:lnR>
                    <a:lnT w="12700" cap="flat" cmpd="sng" algn="ctr">
                      <a:solidFill>
                        <a:srgbClr val="7069C0"/>
                      </a:solidFill>
                      <a:prstDash val="solid"/>
                      <a:round/>
                      <a:headEnd type="none" w="med" len="med"/>
                      <a:tailEnd type="none" w="med" len="med"/>
                    </a:lnT>
                    <a:lnB>
                      <a:noFill/>
                    </a:lnB>
                    <a:noFill/>
                  </a:tcPr>
                </a:tc>
                <a:tc>
                  <a:txBody>
                    <a:bodyPr/>
                    <a:lstStyle/>
                    <a:p>
                      <a:pPr fontAlgn="ctr">
                        <a:buNone/>
                      </a:pPr>
                      <a:endParaRPr lang="en-US" sz="900">
                        <a:effectLst/>
                        <a:latin typeface="Aptos Narrow"/>
                      </a:endParaRPr>
                    </a:p>
                  </a:txBody>
                  <a:tcPr marL="9525" marR="9525" marT="9525" anchor="ctr">
                    <a:lnL>
                      <a:noFill/>
                    </a:lnL>
                    <a:lnR>
                      <a:noFill/>
                    </a:lnR>
                    <a:lnT w="12700" cap="flat" cmpd="sng" algn="ctr">
                      <a:solidFill>
                        <a:srgbClr val="A04197"/>
                      </a:solidFill>
                      <a:prstDash val="solid"/>
                      <a:round/>
                      <a:headEnd type="none" w="med" len="med"/>
                      <a:tailEnd type="none" w="med" len="med"/>
                    </a:lnT>
                    <a:lnB>
                      <a:noFill/>
                    </a:lnB>
                    <a:noFill/>
                  </a:tcPr>
                </a:tc>
                <a:tc>
                  <a:txBody>
                    <a:bodyPr/>
                    <a:lstStyle/>
                    <a:p>
                      <a:pPr algn="ctr" fontAlgn="ctr">
                        <a:buNone/>
                      </a:pPr>
                      <a:r>
                        <a:rPr lang="en-US" sz="900" b="1">
                          <a:solidFill>
                            <a:srgbClr val="FF0000"/>
                          </a:solidFill>
                          <a:effectLst/>
                          <a:latin typeface="Aptos Narrow"/>
                        </a:rPr>
                        <a:t>59</a:t>
                      </a:r>
                    </a:p>
                  </a:txBody>
                  <a:tcPr marL="9525" marR="9525" marT="9525" anchor="ctr">
                    <a:lnL>
                      <a:noFill/>
                    </a:lnL>
                    <a:lnR>
                      <a:noFill/>
                    </a:lnR>
                    <a:lnT w="12700" cap="flat" cmpd="sng" algn="ctr">
                      <a:solidFill>
                        <a:srgbClr val="E03D97"/>
                      </a:solidFill>
                      <a:prstDash val="solid"/>
                      <a:round/>
                      <a:headEnd type="none" w="med" len="med"/>
                      <a:tailEnd type="none" w="med" len="med"/>
                    </a:lnT>
                    <a:lnB>
                      <a:noFill/>
                    </a:lnB>
                    <a:noFill/>
                  </a:tcPr>
                </a:tc>
                <a:tc>
                  <a:txBody>
                    <a:bodyPr/>
                    <a:lstStyle/>
                    <a:p>
                      <a:pPr algn="ctr" fontAlgn="ctr">
                        <a:buNone/>
                      </a:pPr>
                      <a:endParaRPr lang="en-US" sz="900" b="1">
                        <a:solidFill>
                          <a:srgbClr val="FF0000"/>
                        </a:solidFill>
                        <a:effectLst/>
                        <a:latin typeface="Aptos Narrow"/>
                      </a:endParaRPr>
                    </a:p>
                  </a:txBody>
                  <a:tcPr marL="9525" marR="9525" marT="9525" anchor="ctr">
                    <a:lnL>
                      <a:noFill/>
                    </a:lnL>
                    <a:lnR>
                      <a:noFill/>
                    </a:lnR>
                    <a:lnT w="12700" cap="flat" cmpd="sng" algn="ctr">
                      <a:solidFill>
                        <a:srgbClr val="004697"/>
                      </a:solidFill>
                      <a:prstDash val="solid"/>
                      <a:round/>
                      <a:headEnd type="none" w="med" len="med"/>
                      <a:tailEnd type="none" w="med" len="med"/>
                    </a:lnT>
                    <a:lnB>
                      <a:noFill/>
                    </a:lnB>
                    <a:noFill/>
                  </a:tcPr>
                </a:tc>
                <a:tc>
                  <a:txBody>
                    <a:bodyPr/>
                    <a:lstStyle/>
                    <a:p>
                      <a:pPr algn="ctr" fontAlgn="ctr">
                        <a:buNone/>
                      </a:pPr>
                      <a:endParaRPr lang="en-US" sz="900" b="1">
                        <a:solidFill>
                          <a:srgbClr val="FF0000"/>
                        </a:solidFill>
                        <a:effectLst/>
                        <a:latin typeface="Aptos Narrow"/>
                      </a:endParaRPr>
                    </a:p>
                  </a:txBody>
                  <a:tcPr marL="9525" marR="9525" marT="9525" anchor="ctr">
                    <a:lnL>
                      <a:noFill/>
                    </a:lnL>
                    <a:lnR>
                      <a:noFill/>
                    </a:lnR>
                    <a:lnT w="12700" cap="flat" cmpd="sng" algn="ctr">
                      <a:solidFill>
                        <a:srgbClr val="204997"/>
                      </a:solidFill>
                      <a:prstDash val="solid"/>
                      <a:round/>
                      <a:headEnd type="none" w="med" len="med"/>
                      <a:tailEnd type="none" w="med" len="med"/>
                    </a:lnT>
                    <a:lnB>
                      <a:noFill/>
                    </a:lnB>
                    <a:noFill/>
                  </a:tcPr>
                </a:tc>
                <a:tc>
                  <a:txBody>
                    <a:bodyPr/>
                    <a:lstStyle/>
                    <a:p>
                      <a:pPr algn="ctr" fontAlgn="ctr">
                        <a:buNone/>
                      </a:pPr>
                      <a:r>
                        <a:rPr lang="en-US" sz="900" b="1">
                          <a:solidFill>
                            <a:srgbClr val="FF0000"/>
                          </a:solidFill>
                          <a:effectLst/>
                          <a:latin typeface="Aptos Narrow"/>
                        </a:rPr>
                        <a:t>20</a:t>
                      </a:r>
                    </a:p>
                  </a:txBody>
                  <a:tcPr marL="9525" marR="9525" marT="9525" anchor="ctr">
                    <a:lnL>
                      <a:noFill/>
                    </a:lnL>
                    <a:lnR>
                      <a:noFill/>
                    </a:lnR>
                    <a:lnT w="12700" cap="flat" cmpd="sng" algn="ctr">
                      <a:solidFill>
                        <a:srgbClr val="A04197"/>
                      </a:solidFill>
                      <a:prstDash val="solid"/>
                      <a:round/>
                      <a:headEnd type="none" w="med" len="med"/>
                      <a:tailEnd type="none" w="med" len="med"/>
                    </a:lnT>
                    <a:lnB>
                      <a:noFill/>
                    </a:lnB>
                    <a:noFill/>
                  </a:tcPr>
                </a:tc>
                <a:tc>
                  <a:txBody>
                    <a:bodyPr/>
                    <a:lstStyle/>
                    <a:p>
                      <a:pPr algn="ctr" fontAlgn="ctr">
                        <a:buNone/>
                      </a:pPr>
                      <a:r>
                        <a:rPr lang="en-US" sz="900" b="1">
                          <a:solidFill>
                            <a:srgbClr val="FF0000"/>
                          </a:solidFill>
                          <a:effectLst/>
                          <a:latin typeface="Aptos Narrow"/>
                        </a:rPr>
                        <a:t>39</a:t>
                      </a:r>
                    </a:p>
                  </a:txBody>
                  <a:tcPr marL="9525" marR="9525" marT="9525" anchor="ctr">
                    <a:lnL>
                      <a:noFill/>
                    </a:lnL>
                    <a:lnR>
                      <a:noFill/>
                    </a:lnR>
                    <a:lnT w="12700" cap="flat" cmpd="sng" algn="ctr">
                      <a:solidFill>
                        <a:srgbClr val="A04197"/>
                      </a:solidFill>
                      <a:prstDash val="solid"/>
                      <a:round/>
                      <a:headEnd type="none" w="med" len="med"/>
                      <a:tailEnd type="none" w="med" len="med"/>
                    </a:lnT>
                    <a:lnB>
                      <a:noFill/>
                    </a:lnB>
                    <a:noFill/>
                  </a:tcPr>
                </a:tc>
                <a:tc>
                  <a:txBody>
                    <a:bodyPr/>
                    <a:lstStyle/>
                    <a:p>
                      <a:pPr algn="ctr" fontAlgn="ctr">
                        <a:buNone/>
                      </a:pPr>
                      <a:endParaRPr lang="en-US" sz="900">
                        <a:effectLst/>
                        <a:latin typeface="Aptos Narrow"/>
                      </a:endParaRPr>
                    </a:p>
                  </a:txBody>
                  <a:tcPr marL="9525" marR="9525" marT="9525" anchor="ctr">
                    <a:lnL>
                      <a:noFill/>
                    </a:lnL>
                    <a:lnR>
                      <a:noFill/>
                    </a:lnR>
                    <a:lnT w="12700" cap="flat" cmpd="sng" algn="ctr">
                      <a:solidFill>
                        <a:srgbClr val="B06BC0"/>
                      </a:solidFill>
                      <a:prstDash val="solid"/>
                      <a:round/>
                      <a:headEnd type="none" w="med" len="med"/>
                      <a:tailEnd type="none" w="med" len="med"/>
                    </a:lnT>
                    <a:lnB>
                      <a:noFill/>
                    </a:lnB>
                    <a:noFill/>
                  </a:tcPr>
                </a:tc>
                <a:extLst>
                  <a:ext uri="{0D108BD9-81ED-4DB2-BD59-A6C34878D82A}">
                    <a16:rowId xmlns:a16="http://schemas.microsoft.com/office/drawing/2014/main" val="3542237497"/>
                  </a:ext>
                </a:extLst>
              </a:tr>
            </a:tbl>
          </a:graphicData>
        </a:graphic>
      </p:graphicFrame>
    </p:spTree>
    <p:extLst>
      <p:ext uri="{BB962C8B-B14F-4D97-AF65-F5344CB8AC3E}">
        <p14:creationId xmlns:p14="http://schemas.microsoft.com/office/powerpoint/2010/main" val="2047054175"/>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A group of people smiling&#10;&#10;Description automatically generated with medium confidence">
            <a:extLst>
              <a:ext uri="{FF2B5EF4-FFF2-40B4-BE49-F238E27FC236}">
                <a16:creationId xmlns:a16="http://schemas.microsoft.com/office/drawing/2014/main" id="{3487B253-C226-AD9D-2CDE-02227F75EE7F}"/>
              </a:ext>
            </a:extLst>
          </p:cNvPr>
          <p:cNvPicPr>
            <a:picLocks noChangeAspect="1"/>
          </p:cNvPicPr>
          <p:nvPr/>
        </p:nvPicPr>
        <p:blipFill rotWithShape="1">
          <a:blip r:embed="rId2"/>
          <a:srcRect t="13352" r="-1" b="18797"/>
          <a:stretch/>
        </p:blipFill>
        <p:spPr>
          <a:xfrm>
            <a:off x="-1" y="10"/>
            <a:ext cx="12228129" cy="4666928"/>
          </a:xfrm>
          <a:prstGeom prst="rect">
            <a:avLst/>
          </a:prstGeom>
        </p:spPr>
      </p:pic>
      <p:pic>
        <p:nvPicPr>
          <p:cNvPr id="8" name="Picture 7">
            <a:extLst>
              <a:ext uri="{FF2B5EF4-FFF2-40B4-BE49-F238E27FC236}">
                <a16:creationId xmlns:a16="http://schemas.microsoft.com/office/drawing/2014/main" id="{EBFF28A6-4896-BF01-7E1A-A5092AE7D1B5}"/>
              </a:ext>
            </a:extLst>
          </p:cNvPr>
          <p:cNvPicPr>
            <a:picLocks noChangeAspect="1"/>
          </p:cNvPicPr>
          <p:nvPr/>
        </p:nvPicPr>
        <p:blipFill>
          <a:blip r:embed="rId3"/>
          <a:stretch>
            <a:fillRect/>
          </a:stretch>
        </p:blipFill>
        <p:spPr>
          <a:xfrm>
            <a:off x="10867815" y="136525"/>
            <a:ext cx="1129451" cy="598494"/>
          </a:xfrm>
          <a:prstGeom prst="rect">
            <a:avLst/>
          </a:prstGeom>
        </p:spPr>
      </p:pic>
      <p:sp>
        <p:nvSpPr>
          <p:cNvPr id="2" name="Content Placeholder 2">
            <a:extLst>
              <a:ext uri="{FF2B5EF4-FFF2-40B4-BE49-F238E27FC236}">
                <a16:creationId xmlns:a16="http://schemas.microsoft.com/office/drawing/2014/main" id="{66D28AC8-F8BE-0626-D605-794954F8946C}"/>
              </a:ext>
            </a:extLst>
          </p:cNvPr>
          <p:cNvSpPr txBox="1">
            <a:spLocks/>
          </p:cNvSpPr>
          <p:nvPr/>
        </p:nvSpPr>
        <p:spPr>
          <a:xfrm>
            <a:off x="3159251" y="5322771"/>
            <a:ext cx="5873497" cy="106058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70000"/>
              </a:lnSpc>
              <a:spcBef>
                <a:spcPts val="1000"/>
              </a:spcBef>
              <a:spcAft>
                <a:spcPts val="0"/>
              </a:spcAft>
              <a:buClrTx/>
              <a:buSzTx/>
              <a:buFont typeface="Arial" panose="020B0604020202020204" pitchFamily="34" charset="0"/>
              <a:buNone/>
              <a:tabLst/>
              <a:defRPr/>
            </a:pPr>
            <a:r>
              <a:rPr kumimoji="0" lang="en-US" sz="4800" b="1" i="0" u="none" strike="noStrike" kern="1200" cap="none" spc="0" normalizeH="0" baseline="0" noProof="0">
                <a:ln>
                  <a:noFill/>
                </a:ln>
                <a:solidFill>
                  <a:srgbClr val="002060"/>
                </a:solidFill>
                <a:effectLst/>
                <a:uLnTx/>
                <a:uFillTx/>
                <a:latin typeface="Raleway"/>
                <a:ea typeface="+mn-ea"/>
                <a:cs typeface="+mn-cs"/>
              </a:rPr>
              <a:t>thankyou</a:t>
            </a:r>
            <a:endParaRPr kumimoji="0" lang="en-US" sz="4800" b="1" i="0" u="none" strike="noStrike" kern="1200" cap="none" spc="0" normalizeH="0" baseline="0" noProof="0">
              <a:ln>
                <a:noFill/>
              </a:ln>
              <a:solidFill>
                <a:srgbClr val="002060"/>
              </a:solidFill>
              <a:effectLst/>
              <a:uLnTx/>
              <a:uFillTx/>
              <a:latin typeface="Poppins" panose="00000500000000000000" pitchFamily="2" charset="0"/>
              <a:ea typeface="+mn-ea"/>
              <a:cs typeface="+mn-cs"/>
            </a:endParaRPr>
          </a:p>
        </p:txBody>
      </p:sp>
    </p:spTree>
    <p:extLst>
      <p:ext uri="{BB962C8B-B14F-4D97-AF65-F5344CB8AC3E}">
        <p14:creationId xmlns:p14="http://schemas.microsoft.com/office/powerpoint/2010/main" val="3930658545"/>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1F422C77-336F-28BA-B33D-DCE23C8C7E5A}"/>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DBE3A81B-2C0E-778B-849C-6F054D86EEBF}"/>
              </a:ext>
            </a:extLst>
          </p:cNvPr>
          <p:cNvSpPr txBox="1"/>
          <p:nvPr/>
        </p:nvSpPr>
        <p:spPr>
          <a:xfrm>
            <a:off x="153673" y="6461415"/>
            <a:ext cx="2907067" cy="261610"/>
          </a:xfrm>
          <a:prstGeom prst="rect">
            <a:avLst/>
          </a:prstGeom>
          <a:noFill/>
        </p:spPr>
        <p:txBody>
          <a:bodyPr wrap="square" lIns="91440" tIns="45720" rIns="91440" bIns="45720" rtlCol="0" anchor="t">
            <a:spAutoFit/>
          </a:bodyPr>
          <a:lstStyle/>
          <a:p>
            <a:pPr>
              <a:defRPr/>
            </a:pPr>
            <a:r>
              <a:rPr kumimoji="0" lang="en-US" sz="1100" b="0" i="1" u="none" strike="noStrike" kern="1200" cap="none" spc="0" normalizeH="0" baseline="0" noProof="0">
                <a:ln>
                  <a:noFill/>
                </a:ln>
                <a:solidFill>
                  <a:prstClr val="black"/>
                </a:solidFill>
                <a:effectLst/>
                <a:uLnTx/>
                <a:uFillTx/>
                <a:latin typeface="Raleway"/>
                <a:ea typeface="+mn-ea"/>
                <a:cs typeface="+mn-cs"/>
              </a:rPr>
              <a:t>Update per </a:t>
            </a:r>
            <a:r>
              <a:rPr lang="en-US" sz="1100" i="1">
                <a:solidFill>
                  <a:prstClr val="black"/>
                </a:solidFill>
                <a:latin typeface="Raleway"/>
              </a:rPr>
              <a:t>10 Juli 2026</a:t>
            </a:r>
            <a:endParaRPr lang="en-US">
              <a:solidFill>
                <a:prstClr val="black"/>
              </a:solidFill>
              <a:ea typeface="+mn-ea"/>
              <a:cs typeface="+mn-cs"/>
            </a:endParaRPr>
          </a:p>
        </p:txBody>
      </p:sp>
      <p:sp>
        <p:nvSpPr>
          <p:cNvPr id="8" name="TextBox 7">
            <a:extLst>
              <a:ext uri="{FF2B5EF4-FFF2-40B4-BE49-F238E27FC236}">
                <a16:creationId xmlns:a16="http://schemas.microsoft.com/office/drawing/2014/main" id="{8DBC2A85-1402-9353-9DDF-E6F33141F6B9}"/>
              </a:ext>
            </a:extLst>
          </p:cNvPr>
          <p:cNvSpPr txBox="1"/>
          <p:nvPr/>
        </p:nvSpPr>
        <p:spPr>
          <a:xfrm>
            <a:off x="2772229" y="330199"/>
            <a:ext cx="6640285" cy="1107996"/>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ctr"/>
            <a:r>
              <a:rPr lang="en-US" sz="2400" b="1" err="1">
                <a:latin typeface="Raleway"/>
              </a:rPr>
              <a:t>Pemenuhan</a:t>
            </a:r>
            <a:r>
              <a:rPr lang="en-US" sz="2400" b="1">
                <a:latin typeface="Raleway"/>
              </a:rPr>
              <a:t> SDM STO Chilled</a:t>
            </a:r>
            <a:endParaRPr lang="en-US"/>
          </a:p>
          <a:p>
            <a:pPr algn="ctr"/>
            <a:r>
              <a:rPr lang="en-US" b="1">
                <a:latin typeface="Raleway"/>
              </a:rPr>
              <a:t>List </a:t>
            </a:r>
            <a:r>
              <a:rPr lang="en-US" b="1" err="1">
                <a:latin typeface="Raleway"/>
              </a:rPr>
              <a:t>Kandidat</a:t>
            </a:r>
            <a:r>
              <a:rPr lang="en-US" b="1">
                <a:latin typeface="Raleway"/>
              </a:rPr>
              <a:t> Accept Offer – </a:t>
            </a:r>
            <a:r>
              <a:rPr lang="en-US" b="1" err="1">
                <a:latin typeface="Raleway"/>
              </a:rPr>
              <a:t>Gelombang</a:t>
            </a:r>
            <a:r>
              <a:rPr lang="en-US" b="1">
                <a:latin typeface="Raleway"/>
              </a:rPr>
              <a:t> 2</a:t>
            </a:r>
            <a:endParaRPr lang="en-US">
              <a:latin typeface="Raleway"/>
            </a:endParaRPr>
          </a:p>
          <a:p>
            <a:endParaRPr lang="en-US" sz="2400" b="1">
              <a:latin typeface="Raleway"/>
            </a:endParaRPr>
          </a:p>
        </p:txBody>
      </p:sp>
      <p:graphicFrame>
        <p:nvGraphicFramePr>
          <p:cNvPr id="7" name="Table 6">
            <a:extLst>
              <a:ext uri="{FF2B5EF4-FFF2-40B4-BE49-F238E27FC236}">
                <a16:creationId xmlns:a16="http://schemas.microsoft.com/office/drawing/2014/main" id="{09E746AD-C776-76C2-BE61-F108BD60681C}"/>
              </a:ext>
            </a:extLst>
          </p:cNvPr>
          <p:cNvGraphicFramePr>
            <a:graphicFrameLocks noGrp="1"/>
          </p:cNvGraphicFramePr>
          <p:nvPr/>
        </p:nvGraphicFramePr>
        <p:xfrm>
          <a:off x="2000250" y="1242786"/>
          <a:ext cx="7988300" cy="5071110"/>
        </p:xfrm>
        <a:graphic>
          <a:graphicData uri="http://schemas.openxmlformats.org/drawingml/2006/table">
            <a:tbl>
              <a:tblPr bandRow="1">
                <a:tableStyleId>{5C22544A-7EE6-4342-B048-85BDC9FD1C3A}</a:tableStyleId>
              </a:tblPr>
              <a:tblGrid>
                <a:gridCol w="406400">
                  <a:extLst>
                    <a:ext uri="{9D8B030D-6E8A-4147-A177-3AD203B41FA5}">
                      <a16:colId xmlns:a16="http://schemas.microsoft.com/office/drawing/2014/main" val="215433192"/>
                    </a:ext>
                  </a:extLst>
                </a:gridCol>
                <a:gridCol w="3721100">
                  <a:extLst>
                    <a:ext uri="{9D8B030D-6E8A-4147-A177-3AD203B41FA5}">
                      <a16:colId xmlns:a16="http://schemas.microsoft.com/office/drawing/2014/main" val="1573297282"/>
                    </a:ext>
                  </a:extLst>
                </a:gridCol>
                <a:gridCol w="774700">
                  <a:extLst>
                    <a:ext uri="{9D8B030D-6E8A-4147-A177-3AD203B41FA5}">
                      <a16:colId xmlns:a16="http://schemas.microsoft.com/office/drawing/2014/main" val="1685047945"/>
                    </a:ext>
                  </a:extLst>
                </a:gridCol>
                <a:gridCol w="774700">
                  <a:extLst>
                    <a:ext uri="{9D8B030D-6E8A-4147-A177-3AD203B41FA5}">
                      <a16:colId xmlns:a16="http://schemas.microsoft.com/office/drawing/2014/main" val="3847379845"/>
                    </a:ext>
                  </a:extLst>
                </a:gridCol>
                <a:gridCol w="2311400">
                  <a:extLst>
                    <a:ext uri="{9D8B030D-6E8A-4147-A177-3AD203B41FA5}">
                      <a16:colId xmlns:a16="http://schemas.microsoft.com/office/drawing/2014/main" val="720449678"/>
                    </a:ext>
                  </a:extLst>
                </a:gridCol>
              </a:tblGrid>
              <a:tr h="91947">
                <a:tc>
                  <a:txBody>
                    <a:bodyPr/>
                    <a:lstStyle/>
                    <a:p>
                      <a:pPr algn="ctr" fontAlgn="ctr">
                        <a:buNone/>
                      </a:pPr>
                      <a:r>
                        <a:rPr lang="en-US" sz="1100" b="1">
                          <a:solidFill>
                            <a:srgbClr val="FFFFFF"/>
                          </a:solidFill>
                          <a:effectLst/>
                          <a:latin typeface="Raleway" pitchFamily="2" charset="0"/>
                        </a:rPr>
                        <a:t>No.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pitchFamily="2" charset="0"/>
                        </a:rPr>
                        <a:t>Posisi FPTK</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err="1">
                          <a:solidFill>
                            <a:srgbClr val="FFFFFF"/>
                          </a:solidFill>
                          <a:effectLst/>
                          <a:latin typeface="Raleway"/>
                        </a:rPr>
                        <a:t>Tanggal</a:t>
                      </a:r>
                      <a:r>
                        <a:rPr lang="en-US" sz="1100" b="1">
                          <a:solidFill>
                            <a:srgbClr val="FFFFFF"/>
                          </a:solidFill>
                          <a:effectLst/>
                          <a:latin typeface="Raleway"/>
                        </a:rPr>
                        <a:t> Offering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err="1">
                          <a:solidFill>
                            <a:srgbClr val="FFFFFF"/>
                          </a:solidFill>
                          <a:effectLst/>
                          <a:latin typeface="Raleway"/>
                        </a:rPr>
                        <a:t>Tanggal</a:t>
                      </a:r>
                      <a:r>
                        <a:rPr lang="en-US" sz="1100" b="1">
                          <a:solidFill>
                            <a:srgbClr val="FFFFFF"/>
                          </a:solidFill>
                          <a:effectLst/>
                          <a:latin typeface="Raleway"/>
                        </a:rPr>
                        <a:t> Join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a:rPr>
                        <a:t>Nama </a:t>
                      </a:r>
                      <a:r>
                        <a:rPr lang="en-US" sz="1100" b="1" err="1">
                          <a:solidFill>
                            <a:srgbClr val="FFFFFF"/>
                          </a:solidFill>
                          <a:effectLst/>
                          <a:latin typeface="Raleway"/>
                        </a:rPr>
                        <a:t>Kandidat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extLst>
                  <a:ext uri="{0D108BD9-81ED-4DB2-BD59-A6C34878D82A}">
                    <a16:rowId xmlns:a16="http://schemas.microsoft.com/office/drawing/2014/main" val="216291542"/>
                  </a:ext>
                </a:extLst>
              </a:tr>
              <a:tr h="0">
                <a:tc>
                  <a:txBody>
                    <a:bodyPr/>
                    <a:lstStyle/>
                    <a:p>
                      <a:pPr algn="ctr" fontAlgn="ctr">
                        <a:buNone/>
                      </a:pPr>
                      <a:r>
                        <a:rPr lang="en-US" sz="1100">
                          <a:effectLst/>
                          <a:latin typeface="Raleway"/>
                        </a:rPr>
                        <a:t>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Kediri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9-Jun-26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Agus Putra </a:t>
                      </a:r>
                      <a:r>
                        <a:rPr lang="en-US" sz="1100" err="1">
                          <a:effectLst/>
                          <a:latin typeface="Raleway"/>
                        </a:rPr>
                        <a:t>Prihadi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887208357"/>
                  </a:ext>
                </a:extLst>
              </a:tr>
              <a:tr h="0">
                <a:tc>
                  <a:txBody>
                    <a:bodyPr/>
                    <a:lstStyle/>
                    <a:p>
                      <a:pPr algn="ctr" fontAlgn="ctr">
                        <a:buNone/>
                      </a:pPr>
                      <a:r>
                        <a:rPr lang="en-US" sz="1100">
                          <a:effectLst/>
                          <a:latin typeface="Raleway"/>
                        </a:rPr>
                        <a:t>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Sales Taking Order Staff (Chilled) - </a:t>
                      </a:r>
                      <a:r>
                        <a:rPr lang="en-US" sz="1100" err="1">
                          <a:effectLst/>
                          <a:latin typeface="Raleway"/>
                        </a:rPr>
                        <a:t>Madiun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9-Jun-26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Destanu </a:t>
                      </a:r>
                      <a:r>
                        <a:rPr lang="en-US" sz="1100" err="1">
                          <a:effectLst/>
                          <a:latin typeface="Raleway"/>
                        </a:rPr>
                        <a:t>Anggoro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44746237"/>
                  </a:ext>
                </a:extLst>
              </a:tr>
              <a:tr h="0">
                <a:tc>
                  <a:txBody>
                    <a:bodyPr/>
                    <a:lstStyle/>
                    <a:p>
                      <a:pPr algn="ctr" fontAlgn="ctr">
                        <a:buNone/>
                      </a:pPr>
                      <a:r>
                        <a:rPr lang="en-US" sz="1100">
                          <a:effectLst/>
                          <a:latin typeface="Raleway"/>
                        </a:rPr>
                        <a:t>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Sales Taking Order Staff (Chilled) - </a:t>
                      </a:r>
                      <a:r>
                        <a:rPr lang="en-US" sz="1100" err="1">
                          <a:effectLst/>
                          <a:latin typeface="Raleway"/>
                        </a:rPr>
                        <a:t>Purbalingga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9-Jun-26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Ukhib Abdullah</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67601530"/>
                  </a:ext>
                </a:extLst>
              </a:tr>
              <a:tr h="0">
                <a:tc>
                  <a:txBody>
                    <a:bodyPr/>
                    <a:lstStyle/>
                    <a:p>
                      <a:pPr algn="ctr" fontAlgn="ctr">
                        <a:buNone/>
                      </a:pPr>
                      <a:r>
                        <a:rPr lang="en-US" sz="1100">
                          <a:effectLst/>
                          <a:latin typeface="Raleway"/>
                        </a:rPr>
                        <a:t>4</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Sales Taking Order Staff (Chilled) - </a:t>
                      </a:r>
                      <a:r>
                        <a:rPr lang="en-US" sz="1100" err="1">
                          <a:effectLst/>
                          <a:latin typeface="Raleway"/>
                        </a:rPr>
                        <a:t>Sukabumi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11-Jun-26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Ardi Meridian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905398609"/>
                  </a:ext>
                </a:extLst>
              </a:tr>
              <a:tr h="0">
                <a:tc>
                  <a:txBody>
                    <a:bodyPr/>
                    <a:lstStyle/>
                    <a:p>
                      <a:pPr algn="ctr" fontAlgn="ctr">
                        <a:buNone/>
                      </a:pPr>
                      <a:r>
                        <a:rPr lang="en-US" sz="1100">
                          <a:effectLst/>
                          <a:latin typeface="Raleway"/>
                        </a:rPr>
                        <a:t>5</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Kediri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12-Jun-26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Muhamad Afif Cahyono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798531331"/>
                  </a:ext>
                </a:extLst>
              </a:tr>
              <a:tr h="0">
                <a:tc>
                  <a:txBody>
                    <a:bodyPr/>
                    <a:lstStyle/>
                    <a:p>
                      <a:pPr algn="ctr" fontAlgn="ctr">
                        <a:buNone/>
                      </a:pPr>
                      <a:r>
                        <a:rPr lang="en-US" sz="1100">
                          <a:effectLst/>
                          <a:latin typeface="Raleway"/>
                        </a:rPr>
                        <a:t>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Solo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12-Jun-26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Yehezkiel </a:t>
                      </a:r>
                      <a:r>
                        <a:rPr lang="en-US" sz="1100" err="1">
                          <a:effectLst/>
                          <a:latin typeface="Raleway"/>
                        </a:rPr>
                        <a:t>Afis</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157404100"/>
                  </a:ext>
                </a:extLst>
              </a:tr>
              <a:tr h="0">
                <a:tc>
                  <a:txBody>
                    <a:bodyPr/>
                    <a:lstStyle/>
                    <a:p>
                      <a:pPr algn="ctr" fontAlgn="ctr">
                        <a:buNone/>
                      </a:pPr>
                      <a:r>
                        <a:rPr lang="en-US" sz="1100">
                          <a:effectLst/>
                          <a:latin typeface="Raleway"/>
                        </a:rPr>
                        <a:t>7</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Sales Taking Order Staff (Chilled) - </a:t>
                      </a:r>
                      <a:r>
                        <a:rPr lang="en-US" sz="1100" err="1">
                          <a:effectLst/>
                          <a:latin typeface="Raleway"/>
                        </a:rPr>
                        <a:t>Tuban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12-Jun-26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err="1">
                          <a:effectLst/>
                          <a:latin typeface="Raleway"/>
                        </a:rPr>
                        <a:t>Irkham</a:t>
                      </a:r>
                      <a:r>
                        <a:rPr lang="en-US" sz="1100">
                          <a:effectLst/>
                          <a:latin typeface="Raleway"/>
                        </a:rPr>
                        <a:t> Fadli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915238204"/>
                  </a:ext>
                </a:extLst>
              </a:tr>
              <a:tr h="0">
                <a:tc>
                  <a:txBody>
                    <a:bodyPr/>
                    <a:lstStyle/>
                    <a:p>
                      <a:pPr algn="ctr" fontAlgn="ctr">
                        <a:buNone/>
                      </a:pPr>
                      <a:r>
                        <a:rPr lang="en-US" sz="1100">
                          <a:effectLst/>
                          <a:latin typeface="Raleway"/>
                        </a:rPr>
                        <a:t>8</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Yogyakarta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12-Jun-26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Gregorius Agung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994327921"/>
                  </a:ext>
                </a:extLst>
              </a:tr>
              <a:tr h="0">
                <a:tc>
                  <a:txBody>
                    <a:bodyPr/>
                    <a:lstStyle/>
                    <a:p>
                      <a:pPr algn="ctr" fontAlgn="ctr">
                        <a:buNone/>
                      </a:pPr>
                      <a:r>
                        <a:rPr lang="en-US" sz="1100">
                          <a:effectLst/>
                          <a:latin typeface="Raleway"/>
                        </a:rPr>
                        <a:t>9</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Sales Taking Order Staff (Chilled) - </a:t>
                      </a:r>
                      <a:r>
                        <a:rPr lang="en-US" sz="1100" err="1">
                          <a:effectLst/>
                          <a:latin typeface="Raleway"/>
                        </a:rPr>
                        <a:t>Magelang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14-Jun-26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err="1">
                          <a:effectLst/>
                          <a:latin typeface="Raleway"/>
                        </a:rPr>
                        <a:t>Mubayis</a:t>
                      </a:r>
                      <a:r>
                        <a:rPr lang="en-US" sz="1100">
                          <a:effectLst/>
                          <a:latin typeface="Raleway"/>
                        </a:rPr>
                        <a:t> Setiawan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3645744"/>
                  </a:ext>
                </a:extLst>
              </a:tr>
              <a:tr h="0">
                <a:tc>
                  <a:txBody>
                    <a:bodyPr/>
                    <a:lstStyle/>
                    <a:p>
                      <a:pPr algn="ctr" fontAlgn="ctr">
                        <a:buNone/>
                      </a:pPr>
                      <a:r>
                        <a:rPr lang="en-US" sz="1100">
                          <a:effectLst/>
                          <a:latin typeface="Raleway"/>
                        </a:rPr>
                        <a:t>10</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Sales Taking Order Staff (Chilled) - </a:t>
                      </a:r>
                      <a:r>
                        <a:rPr lang="en-US" sz="1100" err="1">
                          <a:effectLst/>
                          <a:latin typeface="Raleway"/>
                        </a:rPr>
                        <a:t>Pacitan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17-Jun-26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Diki Aris</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363480936"/>
                  </a:ext>
                </a:extLst>
              </a:tr>
              <a:tr h="0">
                <a:tc>
                  <a:txBody>
                    <a:bodyPr/>
                    <a:lstStyle/>
                    <a:p>
                      <a:pPr algn="ctr" fontAlgn="ctr">
                        <a:buNone/>
                      </a:pPr>
                      <a:r>
                        <a:rPr lang="en-US" sz="1100">
                          <a:effectLst/>
                          <a:latin typeface="Raleway"/>
                        </a:rPr>
                        <a:t>11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Cirebon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18-Jun-26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Fajar Kosasih</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595304574"/>
                  </a:ext>
                </a:extLst>
              </a:tr>
              <a:tr h="0">
                <a:tc>
                  <a:txBody>
                    <a:bodyPr/>
                    <a:lstStyle/>
                    <a:p>
                      <a:pPr algn="ctr" fontAlgn="ctr">
                        <a:buNone/>
                      </a:pPr>
                      <a:r>
                        <a:rPr lang="en-US" sz="1100">
                          <a:effectLst/>
                          <a:latin typeface="Raleway"/>
                        </a:rPr>
                        <a:t>12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Madura Timur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26-Jun-26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err="1">
                          <a:effectLst/>
                          <a:latin typeface="Raleway"/>
                        </a:rPr>
                        <a:t>Baihaki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963572773"/>
                  </a:ext>
                </a:extLst>
              </a:tr>
              <a:tr h="0">
                <a:tc>
                  <a:txBody>
                    <a:bodyPr/>
                    <a:lstStyle/>
                    <a:p>
                      <a:pPr algn="ctr" fontAlgn="ctr">
                        <a:buNone/>
                      </a:pPr>
                      <a:r>
                        <a:rPr lang="en-US" sz="1100">
                          <a:effectLst/>
                          <a:latin typeface="Raleway"/>
                        </a:rPr>
                        <a:t>13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Garut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29-Jun-26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Dika </a:t>
                      </a:r>
                      <a:r>
                        <a:rPr lang="en-US" sz="1100" err="1">
                          <a:effectLst/>
                          <a:latin typeface="Raleway"/>
                        </a:rPr>
                        <a:t>Herdian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948059817"/>
                  </a:ext>
                </a:extLst>
              </a:tr>
              <a:tr h="0">
                <a:tc>
                  <a:txBody>
                    <a:bodyPr/>
                    <a:lstStyle/>
                    <a:p>
                      <a:pPr algn="ctr" fontAlgn="ctr">
                        <a:buNone/>
                      </a:pPr>
                      <a:r>
                        <a:rPr lang="en-US" sz="1100">
                          <a:effectLst/>
                          <a:latin typeface="Raleway"/>
                        </a:rPr>
                        <a:t>14</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Sales Taking Order Staff (Chilled) - </a:t>
                      </a:r>
                      <a:r>
                        <a:rPr lang="en-US" sz="1100" err="1">
                          <a:effectLst/>
                          <a:latin typeface="Raleway"/>
                        </a:rPr>
                        <a:t>Tuban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29-Jun-26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Aris Darmawan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243372861"/>
                  </a:ext>
                </a:extLst>
              </a:tr>
              <a:tr h="0">
                <a:tc>
                  <a:txBody>
                    <a:bodyPr/>
                    <a:lstStyle/>
                    <a:p>
                      <a:pPr algn="ctr" fontAlgn="ctr">
                        <a:buNone/>
                      </a:pPr>
                      <a:r>
                        <a:rPr lang="en-US" sz="1100">
                          <a:effectLst/>
                          <a:latin typeface="Raleway"/>
                        </a:rPr>
                        <a:t>15</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Kudus</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Ahmad Rifai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313591482"/>
                  </a:ext>
                </a:extLst>
              </a:tr>
              <a:tr h="0">
                <a:tc>
                  <a:txBody>
                    <a:bodyPr/>
                    <a:lstStyle/>
                    <a:p>
                      <a:pPr algn="ctr" fontAlgn="ctr">
                        <a:buNone/>
                      </a:pPr>
                      <a:r>
                        <a:rPr lang="en-US" sz="1100">
                          <a:effectLst/>
                          <a:latin typeface="Raleway"/>
                        </a:rPr>
                        <a:t>16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Madura Barat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Alfian Adi Nugroho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982338667"/>
                  </a:ext>
                </a:extLst>
              </a:tr>
              <a:tr h="0">
                <a:tc>
                  <a:txBody>
                    <a:bodyPr/>
                    <a:lstStyle/>
                    <a:p>
                      <a:pPr algn="ctr" fontAlgn="ctr">
                        <a:buNone/>
                      </a:pPr>
                      <a:r>
                        <a:rPr lang="en-US" sz="1100">
                          <a:effectLst/>
                          <a:latin typeface="Raleway"/>
                        </a:rPr>
                        <a:t>17</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Madura Timur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Raden Faby Mulya Kusuma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90754467"/>
                  </a:ext>
                </a:extLst>
              </a:tr>
              <a:tr h="0">
                <a:tc>
                  <a:txBody>
                    <a:bodyPr/>
                    <a:lstStyle/>
                    <a:p>
                      <a:pPr algn="ctr" fontAlgn="ctr">
                        <a:buNone/>
                      </a:pPr>
                      <a:r>
                        <a:rPr lang="en-US" sz="1100">
                          <a:effectLst/>
                          <a:latin typeface="Raleway"/>
                        </a:rPr>
                        <a:t>18</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Malang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Fais Tamami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199226305"/>
                  </a:ext>
                </a:extLst>
              </a:tr>
              <a:tr h="0">
                <a:tc>
                  <a:txBody>
                    <a:bodyPr/>
                    <a:lstStyle/>
                    <a:p>
                      <a:pPr algn="ctr" fontAlgn="ctr">
                        <a:buNone/>
                      </a:pPr>
                      <a:r>
                        <a:rPr lang="en-US" sz="1100">
                          <a:effectLst/>
                          <a:latin typeface="Raleway"/>
                        </a:rPr>
                        <a:t>19</a:t>
                      </a:r>
                      <a:endParaRPr lang="en-US" sz="1100">
                        <a:effectLst/>
                        <a:latin typeface="Raleway" pitchFamily="2" charset="0"/>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Sales Taking Order Staff (Chilled) - </a:t>
                      </a:r>
                      <a:r>
                        <a:rPr lang="en-US" sz="1100" err="1">
                          <a:effectLst/>
                          <a:latin typeface="Raleway"/>
                        </a:rPr>
                        <a:t>Purbalingga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6-Jul-26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Muhamad Miftahuddin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154642181"/>
                  </a:ext>
                </a:extLst>
              </a:tr>
              <a:tr h="0">
                <a:tc>
                  <a:txBody>
                    <a:bodyPr/>
                    <a:lstStyle/>
                    <a:p>
                      <a:pPr algn="ctr" fontAlgn="ctr">
                        <a:buNone/>
                      </a:pPr>
                      <a:r>
                        <a:rPr lang="en-US" sz="1100">
                          <a:effectLst/>
                          <a:latin typeface="Raleway"/>
                        </a:rPr>
                        <a:t>20</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Sales Taking Order Staff (Chilled) - </a:t>
                      </a:r>
                      <a:r>
                        <a:rPr lang="en-US" sz="1100" err="1">
                          <a:effectLst/>
                          <a:latin typeface="Raleway"/>
                        </a:rPr>
                        <a:t>Purworejo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6-Jul-26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Ahmad Mukti </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897749166"/>
                  </a:ext>
                </a:extLst>
              </a:tr>
              <a:tr h="0">
                <a:tc>
                  <a:txBody>
                    <a:bodyPr/>
                    <a:lstStyle/>
                    <a:p>
                      <a:pPr algn="ctr" fontAlgn="ctr">
                        <a:buNone/>
                      </a:pPr>
                      <a:r>
                        <a:rPr lang="en-US" sz="1100">
                          <a:effectLst/>
                          <a:latin typeface="Raleway"/>
                        </a:rPr>
                        <a:t>21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Sales Taking Order Staff (Chilled) - </a:t>
                      </a:r>
                      <a:r>
                        <a:rPr lang="en-US" sz="1100" err="1">
                          <a:effectLst/>
                          <a:latin typeface="Raleway"/>
                        </a:rPr>
                        <a:t>Sumedang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6-Jul-26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Deni Mulyana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426578251"/>
                  </a:ext>
                </a:extLst>
              </a:tr>
            </a:tbl>
          </a:graphicData>
        </a:graphic>
      </p:graphicFrame>
    </p:spTree>
    <p:extLst>
      <p:ext uri="{BB962C8B-B14F-4D97-AF65-F5344CB8AC3E}">
        <p14:creationId xmlns:p14="http://schemas.microsoft.com/office/powerpoint/2010/main" val="61437382"/>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3E9D8094-2DB7-E528-D554-30E7E7143E8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8BCB776-9544-47A0-D0F3-B38510D45DD0}"/>
              </a:ext>
            </a:extLst>
          </p:cNvPr>
          <p:cNvSpPr txBox="1">
            <a:spLocks/>
          </p:cNvSpPr>
          <p:nvPr/>
        </p:nvSpPr>
        <p:spPr>
          <a:xfrm>
            <a:off x="3031926" y="2702620"/>
            <a:ext cx="6128147" cy="1452759"/>
          </a:xfrm>
          <a:prstGeom prst="rect">
            <a:avLst/>
          </a:prstGeom>
        </p:spPr>
        <p:txBody>
          <a:bodyPr lIns="91440" tIns="45720" rIns="91440" bIns="45720" anchor="t">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3200" b="1" i="0" u="none" strike="noStrike" kern="1200" cap="none" spc="0" normalizeH="0" baseline="0" noProof="0">
                <a:ln>
                  <a:noFill/>
                </a:ln>
                <a:solidFill>
                  <a:srgbClr val="002060"/>
                </a:solidFill>
                <a:effectLst/>
                <a:uLnTx/>
                <a:uFillTx/>
                <a:latin typeface="Futura Condensed Extra" pitchFamily="50" charset="0"/>
                <a:ea typeface="+mj-ea"/>
                <a:cs typeface="+mj-cs"/>
              </a:rPr>
              <a:t>PEMENUHAN SDM </a:t>
            </a:r>
            <a:endParaRPr lang="en-US">
              <a:ea typeface="+mj-ea"/>
              <a:cs typeface="+mj-cs"/>
            </a:endParaRP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3200" b="1" i="0" u="none" strike="noStrike" kern="1200" cap="none" spc="0" normalizeH="0" baseline="0" noProof="0">
                <a:ln>
                  <a:noFill/>
                </a:ln>
                <a:solidFill>
                  <a:srgbClr val="002060"/>
                </a:solidFill>
                <a:effectLst/>
                <a:uLnTx/>
                <a:uFillTx/>
                <a:latin typeface="Futura Condensed Extra" pitchFamily="50" charset="0"/>
                <a:ea typeface="+mj-ea"/>
                <a:cs typeface="+mj-cs"/>
              </a:rPr>
              <a:t>SALES GT – STO CHILLED</a:t>
            </a:r>
          </a:p>
          <a:p>
            <a:pPr algn="ctr">
              <a:lnSpc>
                <a:spcPct val="80000"/>
              </a:lnSpc>
              <a:spcBef>
                <a:spcPts val="0"/>
              </a:spcBef>
              <a:defRPr/>
            </a:pPr>
            <a:endParaRPr lang="en-US" sz="2400" b="1">
              <a:solidFill>
                <a:srgbClr val="002060"/>
              </a:solidFill>
              <a:latin typeface="Futura Condensed Extra"/>
            </a:endParaRPr>
          </a:p>
          <a:p>
            <a:pPr algn="ctr">
              <a:lnSpc>
                <a:spcPct val="80000"/>
              </a:lnSpc>
              <a:spcBef>
                <a:spcPts val="0"/>
              </a:spcBef>
              <a:defRPr/>
            </a:pPr>
            <a:r>
              <a:rPr lang="en-US" sz="2400" b="1">
                <a:solidFill>
                  <a:srgbClr val="002060"/>
                </a:solidFill>
                <a:latin typeface="Futura Condensed Extra"/>
              </a:rPr>
              <a:t>LIST KANDIDAT ACCEPT OFFER</a:t>
            </a:r>
            <a:endParaRPr lang="en-US" sz="2400" b="1">
              <a:solidFill>
                <a:srgbClr val="002060"/>
              </a:solidFill>
              <a:latin typeface="Futura Condensed Extra" pitchFamily="50" charset="0"/>
            </a:endParaRPr>
          </a:p>
        </p:txBody>
      </p:sp>
    </p:spTree>
    <p:extLst>
      <p:ext uri="{BB962C8B-B14F-4D97-AF65-F5344CB8AC3E}">
        <p14:creationId xmlns:p14="http://schemas.microsoft.com/office/powerpoint/2010/main" val="2450196148"/>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9054240E-FB2F-C2D5-14F0-3FF35395641E}"/>
            </a:ext>
          </a:extLst>
        </p:cNvPr>
        <p:cNvGrpSpPr/>
        <p:nvPr/>
      </p:nvGrpSpPr>
      <p:grpSpPr>
        <a:xfrm>
          <a:off x="0" y="0"/>
          <a:ext cx="0" cy="0"/>
          <a:chOff x="0" y="0"/>
          <a:chExt cx="0" cy="0"/>
        </a:xfrm>
      </p:grpSpPr>
    </p:spTree>
    <p:extLst>
      <p:ext uri="{BB962C8B-B14F-4D97-AF65-F5344CB8AC3E}">
        <p14:creationId xmlns:p14="http://schemas.microsoft.com/office/powerpoint/2010/main" val="2557683930"/>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6081B535-7CBC-2448-8A2D-3AE799E35001}"/>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F32F3786-6CD9-12DE-BB95-89E8AE2B034A}"/>
              </a:ext>
            </a:extLst>
          </p:cNvPr>
          <p:cNvSpPr txBox="1"/>
          <p:nvPr/>
        </p:nvSpPr>
        <p:spPr>
          <a:xfrm>
            <a:off x="153673" y="6461415"/>
            <a:ext cx="2907067" cy="261610"/>
          </a:xfrm>
          <a:prstGeom prst="rect">
            <a:avLst/>
          </a:prstGeom>
          <a:noFill/>
        </p:spPr>
        <p:txBody>
          <a:bodyPr wrap="square" lIns="91440" tIns="45720" rIns="91440" bIns="45720" rtlCol="0" anchor="t">
            <a:spAutoFit/>
          </a:bodyPr>
          <a:lstStyle/>
          <a:p>
            <a:pPr>
              <a:defRPr/>
            </a:pPr>
            <a:r>
              <a:rPr kumimoji="0" lang="en-US" sz="1100" b="0" i="1" u="none" strike="noStrike" kern="1200" cap="none" spc="0" normalizeH="0" baseline="0" noProof="0">
                <a:ln>
                  <a:noFill/>
                </a:ln>
                <a:solidFill>
                  <a:prstClr val="black"/>
                </a:solidFill>
                <a:effectLst/>
                <a:uLnTx/>
                <a:uFillTx/>
                <a:latin typeface="Raleway"/>
                <a:ea typeface="+mn-ea"/>
                <a:cs typeface="+mn-cs"/>
              </a:rPr>
              <a:t>Update per </a:t>
            </a:r>
            <a:r>
              <a:rPr lang="en-US" sz="1100" i="1">
                <a:solidFill>
                  <a:prstClr val="black"/>
                </a:solidFill>
                <a:latin typeface="Raleway"/>
              </a:rPr>
              <a:t>10 Juli 2026</a:t>
            </a:r>
            <a:endParaRPr lang="en-US">
              <a:solidFill>
                <a:prstClr val="black"/>
              </a:solidFill>
              <a:ea typeface="+mn-ea"/>
              <a:cs typeface="+mn-cs"/>
            </a:endParaRPr>
          </a:p>
        </p:txBody>
      </p:sp>
      <p:sp>
        <p:nvSpPr>
          <p:cNvPr id="8" name="TextBox 7">
            <a:extLst>
              <a:ext uri="{FF2B5EF4-FFF2-40B4-BE49-F238E27FC236}">
                <a16:creationId xmlns:a16="http://schemas.microsoft.com/office/drawing/2014/main" id="{603E4823-2B74-1EE9-02A1-FC86332457CD}"/>
              </a:ext>
            </a:extLst>
          </p:cNvPr>
          <p:cNvSpPr txBox="1"/>
          <p:nvPr/>
        </p:nvSpPr>
        <p:spPr>
          <a:xfrm>
            <a:off x="1153886" y="395513"/>
            <a:ext cx="9884227" cy="1107996"/>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ctr"/>
            <a:r>
              <a:rPr lang="en-US" sz="2400" b="1" err="1">
                <a:latin typeface="Raleway"/>
              </a:rPr>
              <a:t>Pemenuhan</a:t>
            </a:r>
            <a:r>
              <a:rPr lang="en-US" sz="2400" b="1">
                <a:latin typeface="Raleway"/>
              </a:rPr>
              <a:t> SDM STO Chilled</a:t>
            </a:r>
            <a:endParaRPr lang="en-US"/>
          </a:p>
          <a:p>
            <a:pPr algn="ctr"/>
            <a:r>
              <a:rPr lang="en-US" b="1">
                <a:latin typeface="Raleway"/>
              </a:rPr>
              <a:t>List </a:t>
            </a:r>
            <a:r>
              <a:rPr lang="en-US" b="1" err="1">
                <a:latin typeface="Raleway"/>
              </a:rPr>
              <a:t>Kandidat</a:t>
            </a:r>
            <a:r>
              <a:rPr lang="en-US" b="1">
                <a:latin typeface="Raleway"/>
              </a:rPr>
              <a:t> Accept Offer – All </a:t>
            </a:r>
            <a:r>
              <a:rPr lang="en-US" b="1" err="1">
                <a:latin typeface="Raleway"/>
              </a:rPr>
              <a:t>Gelombang</a:t>
            </a:r>
            <a:r>
              <a:rPr lang="en-US" b="1">
                <a:latin typeface="Raleway"/>
              </a:rPr>
              <a:t> dan Tidak </a:t>
            </a:r>
            <a:r>
              <a:rPr lang="en-US" b="1" err="1">
                <a:latin typeface="Raleway"/>
              </a:rPr>
              <a:t>Terdaftar</a:t>
            </a:r>
            <a:r>
              <a:rPr lang="en-US" b="1">
                <a:latin typeface="Raleway"/>
              </a:rPr>
              <a:t> - 116 MPP</a:t>
            </a:r>
          </a:p>
          <a:p>
            <a:endParaRPr lang="en-US" sz="2400" b="1">
              <a:latin typeface="Raleway"/>
            </a:endParaRPr>
          </a:p>
        </p:txBody>
      </p:sp>
      <p:graphicFrame>
        <p:nvGraphicFramePr>
          <p:cNvPr id="3" name="Table 2">
            <a:extLst>
              <a:ext uri="{FF2B5EF4-FFF2-40B4-BE49-F238E27FC236}">
                <a16:creationId xmlns:a16="http://schemas.microsoft.com/office/drawing/2014/main" id="{21F67299-C84E-DEDC-3144-6AD960BC27CB}"/>
              </a:ext>
            </a:extLst>
          </p:cNvPr>
          <p:cNvGraphicFramePr>
            <a:graphicFrameLocks noGrp="1"/>
          </p:cNvGraphicFramePr>
          <p:nvPr/>
        </p:nvGraphicFramePr>
        <p:xfrm>
          <a:off x="1187450" y="1398361"/>
          <a:ext cx="9817099" cy="4848822"/>
        </p:xfrm>
        <a:graphic>
          <a:graphicData uri="http://schemas.openxmlformats.org/drawingml/2006/table">
            <a:tbl>
              <a:tblPr bandRow="1">
                <a:tableStyleId>{5C22544A-7EE6-4342-B048-85BDC9FD1C3A}</a:tableStyleId>
              </a:tblPr>
              <a:tblGrid>
                <a:gridCol w="431242">
                  <a:extLst>
                    <a:ext uri="{9D8B030D-6E8A-4147-A177-3AD203B41FA5}">
                      <a16:colId xmlns:a16="http://schemas.microsoft.com/office/drawing/2014/main" val="2547371347"/>
                    </a:ext>
                  </a:extLst>
                </a:gridCol>
                <a:gridCol w="3868495">
                  <a:extLst>
                    <a:ext uri="{9D8B030D-6E8A-4147-A177-3AD203B41FA5}">
                      <a16:colId xmlns:a16="http://schemas.microsoft.com/office/drawing/2014/main" val="607887966"/>
                    </a:ext>
                  </a:extLst>
                </a:gridCol>
                <a:gridCol w="1179574">
                  <a:extLst>
                    <a:ext uri="{9D8B030D-6E8A-4147-A177-3AD203B41FA5}">
                      <a16:colId xmlns:a16="http://schemas.microsoft.com/office/drawing/2014/main" val="1217112346"/>
                    </a:ext>
                  </a:extLst>
                </a:gridCol>
                <a:gridCol w="1014687">
                  <a:extLst>
                    <a:ext uri="{9D8B030D-6E8A-4147-A177-3AD203B41FA5}">
                      <a16:colId xmlns:a16="http://schemas.microsoft.com/office/drawing/2014/main" val="3991843677"/>
                    </a:ext>
                  </a:extLst>
                </a:gridCol>
                <a:gridCol w="900535">
                  <a:extLst>
                    <a:ext uri="{9D8B030D-6E8A-4147-A177-3AD203B41FA5}">
                      <a16:colId xmlns:a16="http://schemas.microsoft.com/office/drawing/2014/main" val="2525858787"/>
                    </a:ext>
                  </a:extLst>
                </a:gridCol>
                <a:gridCol w="2422566">
                  <a:extLst>
                    <a:ext uri="{9D8B030D-6E8A-4147-A177-3AD203B41FA5}">
                      <a16:colId xmlns:a16="http://schemas.microsoft.com/office/drawing/2014/main" val="2372364004"/>
                    </a:ext>
                  </a:extLst>
                </a:gridCol>
              </a:tblGrid>
              <a:tr h="293319">
                <a:tc>
                  <a:txBody>
                    <a:bodyPr/>
                    <a:lstStyle/>
                    <a:p>
                      <a:pPr algn="ctr" fontAlgn="ctr">
                        <a:buNone/>
                      </a:pPr>
                      <a:r>
                        <a:rPr lang="en-US" sz="1100" b="1">
                          <a:solidFill>
                            <a:srgbClr val="FFFFFF"/>
                          </a:solidFill>
                          <a:effectLst/>
                          <a:latin typeface="Raleway" pitchFamily="2" charset="0"/>
                        </a:rPr>
                        <a:t>No.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pitchFamily="2" charset="0"/>
                        </a:rPr>
                        <a:t>Posisi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pitchFamily="2" charset="0"/>
                        </a:rPr>
                        <a:t>Gelombang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pitchFamily="2" charset="0"/>
                        </a:rPr>
                        <a:t>Tanggal Offering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pitchFamily="2" charset="0"/>
                        </a:rPr>
                        <a:t>Tanggal</a:t>
                      </a:r>
                      <a:br>
                        <a:rPr lang="en-US" sz="1100" b="1">
                          <a:solidFill>
                            <a:srgbClr val="FFFFFF"/>
                          </a:solidFill>
                          <a:effectLst/>
                          <a:latin typeface="Raleway" pitchFamily="2" charset="0"/>
                        </a:rPr>
                      </a:br>
                      <a:r>
                        <a:rPr lang="en-US" sz="1100" b="1">
                          <a:solidFill>
                            <a:srgbClr val="FFFFFF"/>
                          </a:solidFill>
                          <a:effectLst/>
                          <a:latin typeface="Raleway" pitchFamily="2" charset="0"/>
                        </a:rPr>
                        <a:t>Join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pitchFamily="2" charset="0"/>
                        </a:rPr>
                        <a:t>Nama Kandidat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extLst>
                  <a:ext uri="{0D108BD9-81ED-4DB2-BD59-A6C34878D82A}">
                    <a16:rowId xmlns:a16="http://schemas.microsoft.com/office/drawing/2014/main" val="954116391"/>
                  </a:ext>
                </a:extLst>
              </a:tr>
              <a:tr h="167610">
                <a:tc>
                  <a:txBody>
                    <a:bodyPr/>
                    <a:lstStyle/>
                    <a:p>
                      <a:pPr algn="ctr" fontAlgn="ctr">
                        <a:buNone/>
                      </a:pPr>
                      <a:r>
                        <a:rPr lang="en-US" sz="1100">
                          <a:effectLst/>
                          <a:latin typeface="Raleway" pitchFamily="2" charset="0"/>
                        </a:rPr>
                        <a:t>21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Sukabumi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11-Jun-26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Ardi Meridian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615863465"/>
                  </a:ext>
                </a:extLst>
              </a:tr>
              <a:tr h="167610">
                <a:tc>
                  <a:txBody>
                    <a:bodyPr/>
                    <a:lstStyle/>
                    <a:p>
                      <a:pPr algn="ctr" fontAlgn="ctr">
                        <a:buNone/>
                      </a:pPr>
                      <a:r>
                        <a:rPr lang="en-US" sz="1100">
                          <a:effectLst/>
                          <a:latin typeface="Raleway" pitchFamily="2" charset="0"/>
                        </a:rPr>
                        <a:t>22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Karawang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Tidak Terdaftar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11-Jun-26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Gigin Ginanjar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269353371"/>
                  </a:ext>
                </a:extLst>
              </a:tr>
              <a:tr h="167610">
                <a:tc>
                  <a:txBody>
                    <a:bodyPr/>
                    <a:lstStyle/>
                    <a:p>
                      <a:pPr algn="ctr" fontAlgn="ctr">
                        <a:buNone/>
                      </a:pPr>
                      <a:r>
                        <a:rPr lang="en-US" sz="1100">
                          <a:effectLst/>
                          <a:latin typeface="Raleway" pitchFamily="2" charset="0"/>
                        </a:rPr>
                        <a:t>23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Mojokerto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Tidak Terdaftar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11-Jun-26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Mohammad Rizki Hidayat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843678204"/>
                  </a:ext>
                </a:extLst>
              </a:tr>
              <a:tr h="167610">
                <a:tc>
                  <a:txBody>
                    <a:bodyPr/>
                    <a:lstStyle/>
                    <a:p>
                      <a:pPr algn="ctr" fontAlgn="ctr">
                        <a:buNone/>
                      </a:pPr>
                      <a:r>
                        <a:rPr lang="en-US" sz="1100">
                          <a:effectLst/>
                          <a:latin typeface="Raleway" pitchFamily="2" charset="0"/>
                        </a:rPr>
                        <a:t>24</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Surabaya Timur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12-Jun-26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Muhamad Rizki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353552447"/>
                  </a:ext>
                </a:extLst>
              </a:tr>
              <a:tr h="223482">
                <a:tc>
                  <a:txBody>
                    <a:bodyPr/>
                    <a:lstStyle/>
                    <a:p>
                      <a:pPr algn="ctr" fontAlgn="ctr">
                        <a:buNone/>
                      </a:pPr>
                      <a:r>
                        <a:rPr lang="en-US" sz="1100">
                          <a:effectLst/>
                          <a:latin typeface="Raleway" pitchFamily="2" charset="0"/>
                        </a:rPr>
                        <a:t>25</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Pandeglang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12-Jun-26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Endang Hidayat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577940266"/>
                  </a:ext>
                </a:extLst>
              </a:tr>
              <a:tr h="167610">
                <a:tc>
                  <a:txBody>
                    <a:bodyPr/>
                    <a:lstStyle/>
                    <a:p>
                      <a:pPr algn="ctr" fontAlgn="ctr">
                        <a:buNone/>
                      </a:pPr>
                      <a:r>
                        <a:rPr lang="en-US" sz="1100">
                          <a:effectLst/>
                          <a:latin typeface="Raleway" pitchFamily="2" charset="0"/>
                        </a:rPr>
                        <a:t>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Semarang Bawah</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12-Jun-26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Guntur Setyo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891520244"/>
                  </a:ext>
                </a:extLst>
              </a:tr>
              <a:tr h="167610">
                <a:tc>
                  <a:txBody>
                    <a:bodyPr/>
                    <a:lstStyle/>
                    <a:p>
                      <a:pPr algn="ctr" fontAlgn="ctr">
                        <a:buNone/>
                      </a:pPr>
                      <a:r>
                        <a:rPr lang="en-US" sz="1100">
                          <a:effectLst/>
                          <a:latin typeface="Raleway" pitchFamily="2" charset="0"/>
                        </a:rPr>
                        <a:t>27</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Semarang Bawah</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12-Jun-26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Ikhsan Maulana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144437934"/>
                  </a:ext>
                </a:extLst>
              </a:tr>
              <a:tr h="167610">
                <a:tc>
                  <a:txBody>
                    <a:bodyPr/>
                    <a:lstStyle/>
                    <a:p>
                      <a:pPr algn="ctr" fontAlgn="ctr">
                        <a:buNone/>
                      </a:pPr>
                      <a:r>
                        <a:rPr lang="en-US" sz="1100">
                          <a:effectLst/>
                          <a:latin typeface="Raleway" pitchFamily="2" charset="0"/>
                        </a:rPr>
                        <a:t>28</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Tangerang Selatan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12-Jun-26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Pramudya Ananta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171077481"/>
                  </a:ext>
                </a:extLst>
              </a:tr>
              <a:tr h="167610">
                <a:tc>
                  <a:txBody>
                    <a:bodyPr/>
                    <a:lstStyle/>
                    <a:p>
                      <a:pPr algn="ctr" fontAlgn="ctr">
                        <a:buNone/>
                      </a:pPr>
                      <a:r>
                        <a:rPr lang="en-US" sz="1100">
                          <a:effectLst/>
                          <a:latin typeface="Raleway" pitchFamily="2" charset="0"/>
                        </a:rPr>
                        <a:t>29</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Kediri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12-Jun-26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Muhamad Afif Cahyono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170493927"/>
                  </a:ext>
                </a:extLst>
              </a:tr>
              <a:tr h="167610">
                <a:tc>
                  <a:txBody>
                    <a:bodyPr/>
                    <a:lstStyle/>
                    <a:p>
                      <a:pPr algn="ctr" fontAlgn="ctr">
                        <a:buNone/>
                      </a:pPr>
                      <a:r>
                        <a:rPr lang="en-US" sz="1100">
                          <a:effectLst/>
                          <a:latin typeface="Raleway" pitchFamily="2" charset="0"/>
                        </a:rPr>
                        <a:t>30</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Solo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12-Jun-26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Yehezkiel Afis</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406219945"/>
                  </a:ext>
                </a:extLst>
              </a:tr>
              <a:tr h="167610">
                <a:tc>
                  <a:txBody>
                    <a:bodyPr/>
                    <a:lstStyle/>
                    <a:p>
                      <a:pPr algn="ctr" fontAlgn="ctr">
                        <a:buNone/>
                      </a:pPr>
                      <a:r>
                        <a:rPr lang="en-US" sz="1100">
                          <a:effectLst/>
                          <a:latin typeface="Raleway" pitchFamily="2" charset="0"/>
                        </a:rPr>
                        <a:t>31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Yogyakarta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12-Jun-26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Gregorius Agung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999752618"/>
                  </a:ext>
                </a:extLst>
              </a:tr>
              <a:tr h="167610">
                <a:tc>
                  <a:txBody>
                    <a:bodyPr/>
                    <a:lstStyle/>
                    <a:p>
                      <a:pPr algn="ctr" fontAlgn="ctr">
                        <a:buNone/>
                      </a:pPr>
                      <a:r>
                        <a:rPr lang="en-US" sz="1100">
                          <a:effectLst/>
                          <a:latin typeface="Raleway" pitchFamily="2" charset="0"/>
                        </a:rPr>
                        <a:t>32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Tuban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12-Jun-26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Irkham Fadli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677659118"/>
                  </a:ext>
                </a:extLst>
              </a:tr>
              <a:tr h="167610">
                <a:tc>
                  <a:txBody>
                    <a:bodyPr/>
                    <a:lstStyle/>
                    <a:p>
                      <a:pPr algn="ctr" fontAlgn="ctr">
                        <a:buNone/>
                      </a:pPr>
                      <a:r>
                        <a:rPr lang="en-US" sz="1100">
                          <a:effectLst/>
                          <a:latin typeface="Raleway" pitchFamily="2" charset="0"/>
                        </a:rPr>
                        <a:t>33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Palu + Luwuk</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12-Jun-26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Muhamad Jody Syahdani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192721224"/>
                  </a:ext>
                </a:extLst>
              </a:tr>
              <a:tr h="167610">
                <a:tc>
                  <a:txBody>
                    <a:bodyPr/>
                    <a:lstStyle/>
                    <a:p>
                      <a:pPr algn="ctr" fontAlgn="ctr">
                        <a:buNone/>
                      </a:pPr>
                      <a:r>
                        <a:rPr lang="en-US" sz="1100">
                          <a:effectLst/>
                          <a:latin typeface="Raleway" pitchFamily="2" charset="0"/>
                        </a:rPr>
                        <a:t>34</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Tangerang Selatan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13-Jun-26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Ibnu Zazuli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531305508"/>
                  </a:ext>
                </a:extLst>
              </a:tr>
              <a:tr h="167610">
                <a:tc>
                  <a:txBody>
                    <a:bodyPr/>
                    <a:lstStyle/>
                    <a:p>
                      <a:pPr algn="ctr" fontAlgn="ctr">
                        <a:buNone/>
                      </a:pPr>
                      <a:r>
                        <a:rPr lang="en-US" sz="1100">
                          <a:effectLst/>
                          <a:latin typeface="Raleway" pitchFamily="2" charset="0"/>
                        </a:rPr>
                        <a:t>35</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Bogor Barat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14-Jun-26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Dwi Hestu Priyono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646494368"/>
                  </a:ext>
                </a:extLst>
              </a:tr>
              <a:tr h="167610">
                <a:tc>
                  <a:txBody>
                    <a:bodyPr/>
                    <a:lstStyle/>
                    <a:p>
                      <a:pPr algn="ctr" fontAlgn="ctr">
                        <a:buNone/>
                      </a:pPr>
                      <a:r>
                        <a:rPr lang="en-US" sz="1100">
                          <a:effectLst/>
                          <a:latin typeface="Raleway" pitchFamily="2" charset="0"/>
                        </a:rPr>
                        <a:t>36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Depok</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14-Jun-26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Akhmad Nurokhman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684190900"/>
                  </a:ext>
                </a:extLst>
              </a:tr>
              <a:tr h="167610">
                <a:tc>
                  <a:txBody>
                    <a:bodyPr/>
                    <a:lstStyle/>
                    <a:p>
                      <a:pPr algn="ctr" fontAlgn="ctr">
                        <a:buNone/>
                      </a:pPr>
                      <a:r>
                        <a:rPr lang="en-US" sz="1100">
                          <a:effectLst/>
                          <a:latin typeface="Raleway" pitchFamily="2" charset="0"/>
                        </a:rPr>
                        <a:t>37</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Magelang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14-Jun-26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Mubayis Setiawan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659705981"/>
                  </a:ext>
                </a:extLst>
              </a:tr>
              <a:tr h="167610">
                <a:tc>
                  <a:txBody>
                    <a:bodyPr/>
                    <a:lstStyle/>
                    <a:p>
                      <a:pPr algn="ctr" fontAlgn="ctr">
                        <a:buNone/>
                      </a:pPr>
                      <a:r>
                        <a:rPr lang="en-US" sz="1100">
                          <a:effectLst/>
                          <a:latin typeface="Raleway" pitchFamily="2" charset="0"/>
                        </a:rPr>
                        <a:t>38</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GORONTALO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14-Jun-26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Dana Praptian Monorfa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508422514"/>
                  </a:ext>
                </a:extLst>
              </a:tr>
              <a:tr h="167610">
                <a:tc>
                  <a:txBody>
                    <a:bodyPr/>
                    <a:lstStyle/>
                    <a:p>
                      <a:pPr algn="ctr" fontAlgn="ctr">
                        <a:buNone/>
                      </a:pPr>
                      <a:r>
                        <a:rPr lang="en-US" sz="1100">
                          <a:effectLst/>
                          <a:latin typeface="Raleway" pitchFamily="2" charset="0"/>
                        </a:rPr>
                        <a:t>39</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Jambi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14-Jun-26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Graha Prahandika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566847816"/>
                  </a:ext>
                </a:extLst>
              </a:tr>
              <a:tr h="167610">
                <a:tc>
                  <a:txBody>
                    <a:bodyPr/>
                    <a:lstStyle/>
                    <a:p>
                      <a:pPr algn="ctr" fontAlgn="ctr">
                        <a:buNone/>
                      </a:pPr>
                      <a:r>
                        <a:rPr lang="en-US" sz="1100">
                          <a:effectLst/>
                          <a:latin typeface="Raleway" pitchFamily="2" charset="0"/>
                        </a:rPr>
                        <a:t>40</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Surabaya Barat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15-Jun-26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Robby Tegar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737229259"/>
                  </a:ext>
                </a:extLst>
              </a:tr>
            </a:tbl>
          </a:graphicData>
        </a:graphic>
      </p:graphicFrame>
    </p:spTree>
    <p:extLst>
      <p:ext uri="{BB962C8B-B14F-4D97-AF65-F5344CB8AC3E}">
        <p14:creationId xmlns:p14="http://schemas.microsoft.com/office/powerpoint/2010/main" val="1469136604"/>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2764E08E-B291-3DF3-5A1E-726010AA15A8}"/>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4AB54B8A-CACF-FBE5-56DC-93F2C802C85F}"/>
              </a:ext>
            </a:extLst>
          </p:cNvPr>
          <p:cNvSpPr txBox="1"/>
          <p:nvPr/>
        </p:nvSpPr>
        <p:spPr>
          <a:xfrm>
            <a:off x="153673" y="6461415"/>
            <a:ext cx="2907067" cy="261610"/>
          </a:xfrm>
          <a:prstGeom prst="rect">
            <a:avLst/>
          </a:prstGeom>
          <a:noFill/>
        </p:spPr>
        <p:txBody>
          <a:bodyPr wrap="square" lIns="91440" tIns="45720" rIns="91440" bIns="45720" rtlCol="0" anchor="t">
            <a:spAutoFit/>
          </a:bodyPr>
          <a:lstStyle/>
          <a:p>
            <a:pPr>
              <a:defRPr/>
            </a:pPr>
            <a:r>
              <a:rPr kumimoji="0" lang="en-US" sz="1100" b="0" i="1" u="none" strike="noStrike" kern="1200" cap="none" spc="0" normalizeH="0" baseline="0" noProof="0">
                <a:ln>
                  <a:noFill/>
                </a:ln>
                <a:solidFill>
                  <a:prstClr val="black"/>
                </a:solidFill>
                <a:effectLst/>
                <a:uLnTx/>
                <a:uFillTx/>
                <a:latin typeface="Raleway"/>
                <a:ea typeface="+mn-ea"/>
                <a:cs typeface="+mn-cs"/>
              </a:rPr>
              <a:t>Update per </a:t>
            </a:r>
            <a:r>
              <a:rPr lang="en-US" sz="1100" i="1">
                <a:solidFill>
                  <a:prstClr val="black"/>
                </a:solidFill>
                <a:latin typeface="Raleway"/>
              </a:rPr>
              <a:t>10 Juli 2026</a:t>
            </a:r>
            <a:endParaRPr lang="en-US">
              <a:solidFill>
                <a:prstClr val="black"/>
              </a:solidFill>
              <a:ea typeface="+mn-ea"/>
              <a:cs typeface="+mn-cs"/>
            </a:endParaRPr>
          </a:p>
        </p:txBody>
      </p:sp>
      <p:sp>
        <p:nvSpPr>
          <p:cNvPr id="8" name="TextBox 7">
            <a:extLst>
              <a:ext uri="{FF2B5EF4-FFF2-40B4-BE49-F238E27FC236}">
                <a16:creationId xmlns:a16="http://schemas.microsoft.com/office/drawing/2014/main" id="{CDFAC650-E328-7764-E25F-D11D2D2FF8AA}"/>
              </a:ext>
            </a:extLst>
          </p:cNvPr>
          <p:cNvSpPr txBox="1"/>
          <p:nvPr/>
        </p:nvSpPr>
        <p:spPr>
          <a:xfrm>
            <a:off x="1153886" y="395513"/>
            <a:ext cx="9884227" cy="1107996"/>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ctr"/>
            <a:r>
              <a:rPr lang="en-US" sz="2400" b="1" err="1">
                <a:latin typeface="Raleway"/>
              </a:rPr>
              <a:t>Pemenuhan</a:t>
            </a:r>
            <a:r>
              <a:rPr lang="en-US" sz="2400" b="1">
                <a:latin typeface="Raleway"/>
              </a:rPr>
              <a:t> SDM STO Chilled</a:t>
            </a:r>
            <a:endParaRPr lang="en-US"/>
          </a:p>
          <a:p>
            <a:pPr algn="ctr"/>
            <a:r>
              <a:rPr lang="en-US" b="1">
                <a:latin typeface="Raleway"/>
              </a:rPr>
              <a:t>List </a:t>
            </a:r>
            <a:r>
              <a:rPr lang="en-US" b="1" err="1">
                <a:latin typeface="Raleway"/>
              </a:rPr>
              <a:t>Kandidat</a:t>
            </a:r>
            <a:r>
              <a:rPr lang="en-US" b="1">
                <a:latin typeface="Raleway"/>
              </a:rPr>
              <a:t> Accept Offer – All </a:t>
            </a:r>
            <a:r>
              <a:rPr lang="en-US" b="1" err="1">
                <a:latin typeface="Raleway"/>
              </a:rPr>
              <a:t>Gelombang</a:t>
            </a:r>
            <a:r>
              <a:rPr lang="en-US" b="1">
                <a:latin typeface="Raleway"/>
              </a:rPr>
              <a:t> dan Tidak </a:t>
            </a:r>
            <a:r>
              <a:rPr lang="en-US" b="1" err="1">
                <a:latin typeface="Raleway"/>
              </a:rPr>
              <a:t>Terdaftar</a:t>
            </a:r>
            <a:r>
              <a:rPr lang="en-US" b="1">
                <a:latin typeface="Raleway"/>
              </a:rPr>
              <a:t> – 116 MPP</a:t>
            </a:r>
          </a:p>
          <a:p>
            <a:endParaRPr lang="en-US" sz="2400" b="1">
              <a:latin typeface="Raleway"/>
            </a:endParaRPr>
          </a:p>
        </p:txBody>
      </p:sp>
      <p:graphicFrame>
        <p:nvGraphicFramePr>
          <p:cNvPr id="3" name="Table 2">
            <a:extLst>
              <a:ext uri="{FF2B5EF4-FFF2-40B4-BE49-F238E27FC236}">
                <a16:creationId xmlns:a16="http://schemas.microsoft.com/office/drawing/2014/main" id="{5A659F8C-A2D1-9C9B-B450-6F2C451A66EC}"/>
              </a:ext>
            </a:extLst>
          </p:cNvPr>
          <p:cNvGraphicFramePr>
            <a:graphicFrameLocks noGrp="1"/>
          </p:cNvGraphicFramePr>
          <p:nvPr/>
        </p:nvGraphicFramePr>
        <p:xfrm>
          <a:off x="1187450" y="1506537"/>
          <a:ext cx="9817099" cy="4848225"/>
        </p:xfrm>
        <a:graphic>
          <a:graphicData uri="http://schemas.openxmlformats.org/drawingml/2006/table">
            <a:tbl>
              <a:tblPr bandRow="1">
                <a:tableStyleId>{5C22544A-7EE6-4342-B048-85BDC9FD1C3A}</a:tableStyleId>
              </a:tblPr>
              <a:tblGrid>
                <a:gridCol w="431242">
                  <a:extLst>
                    <a:ext uri="{9D8B030D-6E8A-4147-A177-3AD203B41FA5}">
                      <a16:colId xmlns:a16="http://schemas.microsoft.com/office/drawing/2014/main" val="97944713"/>
                    </a:ext>
                  </a:extLst>
                </a:gridCol>
                <a:gridCol w="3868495">
                  <a:extLst>
                    <a:ext uri="{9D8B030D-6E8A-4147-A177-3AD203B41FA5}">
                      <a16:colId xmlns:a16="http://schemas.microsoft.com/office/drawing/2014/main" val="3429147605"/>
                    </a:ext>
                  </a:extLst>
                </a:gridCol>
                <a:gridCol w="1179574">
                  <a:extLst>
                    <a:ext uri="{9D8B030D-6E8A-4147-A177-3AD203B41FA5}">
                      <a16:colId xmlns:a16="http://schemas.microsoft.com/office/drawing/2014/main" val="4263186353"/>
                    </a:ext>
                  </a:extLst>
                </a:gridCol>
                <a:gridCol w="1014687">
                  <a:extLst>
                    <a:ext uri="{9D8B030D-6E8A-4147-A177-3AD203B41FA5}">
                      <a16:colId xmlns:a16="http://schemas.microsoft.com/office/drawing/2014/main" val="423386763"/>
                    </a:ext>
                  </a:extLst>
                </a:gridCol>
                <a:gridCol w="900535">
                  <a:extLst>
                    <a:ext uri="{9D8B030D-6E8A-4147-A177-3AD203B41FA5}">
                      <a16:colId xmlns:a16="http://schemas.microsoft.com/office/drawing/2014/main" val="3623388852"/>
                    </a:ext>
                  </a:extLst>
                </a:gridCol>
                <a:gridCol w="2422566">
                  <a:extLst>
                    <a:ext uri="{9D8B030D-6E8A-4147-A177-3AD203B41FA5}">
                      <a16:colId xmlns:a16="http://schemas.microsoft.com/office/drawing/2014/main" val="3322382620"/>
                    </a:ext>
                  </a:extLst>
                </a:gridCol>
              </a:tblGrid>
              <a:tr h="271623">
                <a:tc>
                  <a:txBody>
                    <a:bodyPr/>
                    <a:lstStyle/>
                    <a:p>
                      <a:pPr algn="ctr" fontAlgn="ctr">
                        <a:buNone/>
                      </a:pPr>
                      <a:r>
                        <a:rPr lang="en-US" sz="1100" b="1">
                          <a:solidFill>
                            <a:srgbClr val="FFFFFF"/>
                          </a:solidFill>
                          <a:effectLst/>
                          <a:latin typeface="Raleway" pitchFamily="2" charset="0"/>
                        </a:rPr>
                        <a:t>No.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pitchFamily="2" charset="0"/>
                        </a:rPr>
                        <a:t>Posisi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pitchFamily="2" charset="0"/>
                        </a:rPr>
                        <a:t>Gelombang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pitchFamily="2" charset="0"/>
                        </a:rPr>
                        <a:t>Tanggal Offering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pitchFamily="2" charset="0"/>
                        </a:rPr>
                        <a:t>Tanggal</a:t>
                      </a:r>
                      <a:br>
                        <a:rPr lang="en-US" sz="1100" b="1">
                          <a:solidFill>
                            <a:srgbClr val="FFFFFF"/>
                          </a:solidFill>
                          <a:effectLst/>
                          <a:latin typeface="Raleway" pitchFamily="2" charset="0"/>
                        </a:rPr>
                      </a:br>
                      <a:r>
                        <a:rPr lang="en-US" sz="1100" b="1">
                          <a:solidFill>
                            <a:srgbClr val="FFFFFF"/>
                          </a:solidFill>
                          <a:effectLst/>
                          <a:latin typeface="Raleway" pitchFamily="2" charset="0"/>
                        </a:rPr>
                        <a:t>Join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pitchFamily="2" charset="0"/>
                        </a:rPr>
                        <a:t>Nama Kandidat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extLst>
                  <a:ext uri="{0D108BD9-81ED-4DB2-BD59-A6C34878D82A}">
                    <a16:rowId xmlns:a16="http://schemas.microsoft.com/office/drawing/2014/main" val="2157448913"/>
                  </a:ext>
                </a:extLst>
              </a:tr>
              <a:tr h="157717">
                <a:tc>
                  <a:txBody>
                    <a:bodyPr/>
                    <a:lstStyle/>
                    <a:p>
                      <a:pPr algn="ctr" fontAlgn="ctr">
                        <a:buNone/>
                      </a:pPr>
                      <a:r>
                        <a:rPr lang="en-US" sz="1100">
                          <a:effectLst/>
                          <a:latin typeface="Raleway" pitchFamily="2" charset="0"/>
                        </a:rPr>
                        <a:t>41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Kupang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15-Jun-26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Arya Adhi Pradhana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99975332"/>
                  </a:ext>
                </a:extLst>
              </a:tr>
              <a:tr h="157717">
                <a:tc>
                  <a:txBody>
                    <a:bodyPr/>
                    <a:lstStyle/>
                    <a:p>
                      <a:pPr algn="ctr" fontAlgn="ctr">
                        <a:buNone/>
                      </a:pPr>
                      <a:r>
                        <a:rPr lang="en-US" sz="1100">
                          <a:effectLst/>
                          <a:latin typeface="Raleway" pitchFamily="2" charset="0"/>
                        </a:rPr>
                        <a:t>42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Bogor Barat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16-Jun-26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Rafid Azmi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356097340"/>
                  </a:ext>
                </a:extLst>
              </a:tr>
              <a:tr h="157717">
                <a:tc>
                  <a:txBody>
                    <a:bodyPr/>
                    <a:lstStyle/>
                    <a:p>
                      <a:pPr algn="ctr" fontAlgn="ctr">
                        <a:buNone/>
                      </a:pPr>
                      <a:r>
                        <a:rPr lang="en-US" sz="1100">
                          <a:effectLst/>
                          <a:latin typeface="Raleway" pitchFamily="2" charset="0"/>
                        </a:rPr>
                        <a:t>43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Bogor Timur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16-Jun-26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Nur Irfan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966749946"/>
                  </a:ext>
                </a:extLst>
              </a:tr>
              <a:tr h="157717">
                <a:tc>
                  <a:txBody>
                    <a:bodyPr/>
                    <a:lstStyle/>
                    <a:p>
                      <a:pPr algn="ctr" fontAlgn="ctr">
                        <a:buNone/>
                      </a:pPr>
                      <a:r>
                        <a:rPr lang="en-US" sz="1100">
                          <a:effectLst/>
                          <a:latin typeface="Raleway" pitchFamily="2" charset="0"/>
                        </a:rPr>
                        <a:t>44</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Jakarta Pusat &amp; Utara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16-Jun-26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Muhamad Noer Kholid</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808611392"/>
                  </a:ext>
                </a:extLst>
              </a:tr>
              <a:tr h="157717">
                <a:tc>
                  <a:txBody>
                    <a:bodyPr/>
                    <a:lstStyle/>
                    <a:p>
                      <a:pPr algn="ctr" fontAlgn="ctr">
                        <a:buNone/>
                      </a:pPr>
                      <a:r>
                        <a:rPr lang="en-US" sz="1100">
                          <a:effectLst/>
                          <a:latin typeface="Raleway" pitchFamily="2" charset="0"/>
                        </a:rPr>
                        <a:t>45</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Jakarta Timur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16-Jun-26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Irfaatus Sholihah</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761854299"/>
                  </a:ext>
                </a:extLst>
              </a:tr>
              <a:tr h="157717">
                <a:tc>
                  <a:txBody>
                    <a:bodyPr/>
                    <a:lstStyle/>
                    <a:p>
                      <a:pPr algn="ctr" fontAlgn="ctr">
                        <a:buNone/>
                      </a:pPr>
                      <a:r>
                        <a:rPr lang="en-US" sz="1100">
                          <a:effectLst/>
                          <a:latin typeface="Raleway" pitchFamily="2" charset="0"/>
                        </a:rPr>
                        <a:t>46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Tangerang Kabupaten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16-Jun-26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Anggi Hermawan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854161886"/>
                  </a:ext>
                </a:extLst>
              </a:tr>
              <a:tr h="157717">
                <a:tc>
                  <a:txBody>
                    <a:bodyPr/>
                    <a:lstStyle/>
                    <a:p>
                      <a:pPr algn="ctr" fontAlgn="ctr">
                        <a:buNone/>
                      </a:pPr>
                      <a:r>
                        <a:rPr lang="en-US" sz="1100">
                          <a:effectLst/>
                          <a:latin typeface="Raleway" pitchFamily="2" charset="0"/>
                        </a:rPr>
                        <a:t>47</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Surabaya Barat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17-Jun-26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Dany Setiawan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546097283"/>
                  </a:ext>
                </a:extLst>
              </a:tr>
              <a:tr h="157717">
                <a:tc>
                  <a:txBody>
                    <a:bodyPr/>
                    <a:lstStyle/>
                    <a:p>
                      <a:pPr algn="ctr" fontAlgn="ctr">
                        <a:buNone/>
                      </a:pPr>
                      <a:r>
                        <a:rPr lang="en-US" sz="1100">
                          <a:effectLst/>
                          <a:latin typeface="Raleway" pitchFamily="2" charset="0"/>
                        </a:rPr>
                        <a:t>48</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Tangerang Kabupaten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17-Jun-26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Indra Ramadhan Siagian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280959412"/>
                  </a:ext>
                </a:extLst>
              </a:tr>
              <a:tr h="157717">
                <a:tc>
                  <a:txBody>
                    <a:bodyPr/>
                    <a:lstStyle/>
                    <a:p>
                      <a:pPr algn="ctr" fontAlgn="ctr">
                        <a:buNone/>
                      </a:pPr>
                      <a:r>
                        <a:rPr lang="en-US" sz="1100">
                          <a:effectLst/>
                          <a:latin typeface="Raleway" pitchFamily="2" charset="0"/>
                        </a:rPr>
                        <a:t>49</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Tangerang Kota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17-Jun-26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Indra Hermanius</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922637706"/>
                  </a:ext>
                </a:extLst>
              </a:tr>
              <a:tr h="157717">
                <a:tc>
                  <a:txBody>
                    <a:bodyPr/>
                    <a:lstStyle/>
                    <a:p>
                      <a:pPr algn="ctr" fontAlgn="ctr">
                        <a:buNone/>
                      </a:pPr>
                      <a:r>
                        <a:rPr lang="en-US" sz="1100">
                          <a:effectLst/>
                          <a:latin typeface="Raleway" pitchFamily="2" charset="0"/>
                        </a:rPr>
                        <a:t>50</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Pacitan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17-Jun-26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Diki Aris</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17108782"/>
                  </a:ext>
                </a:extLst>
              </a:tr>
              <a:tr h="157717">
                <a:tc>
                  <a:txBody>
                    <a:bodyPr/>
                    <a:lstStyle/>
                    <a:p>
                      <a:pPr algn="ctr" fontAlgn="ctr">
                        <a:buNone/>
                      </a:pPr>
                      <a:r>
                        <a:rPr lang="en-US" sz="1100">
                          <a:effectLst/>
                          <a:latin typeface="Raleway" pitchFamily="2" charset="0"/>
                        </a:rPr>
                        <a:t>51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Bekasi Kota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18-Jun-26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Oman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794446448"/>
                  </a:ext>
                </a:extLst>
              </a:tr>
              <a:tr h="157717">
                <a:tc>
                  <a:txBody>
                    <a:bodyPr/>
                    <a:lstStyle/>
                    <a:p>
                      <a:pPr algn="ctr" fontAlgn="ctr">
                        <a:buNone/>
                      </a:pPr>
                      <a:r>
                        <a:rPr lang="en-US" sz="1100">
                          <a:effectLst/>
                          <a:latin typeface="Raleway" pitchFamily="2" charset="0"/>
                        </a:rPr>
                        <a:t>52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Cirebon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18-Jun-26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Fajar Kosasih</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487523086"/>
                  </a:ext>
                </a:extLst>
              </a:tr>
              <a:tr h="157717">
                <a:tc>
                  <a:txBody>
                    <a:bodyPr/>
                    <a:lstStyle/>
                    <a:p>
                      <a:pPr algn="ctr" fontAlgn="ctr">
                        <a:buNone/>
                      </a:pPr>
                      <a:r>
                        <a:rPr lang="en-US" sz="1100">
                          <a:effectLst/>
                          <a:latin typeface="Raleway" pitchFamily="2" charset="0"/>
                        </a:rPr>
                        <a:t>53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Balikpapan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18-Jun-26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Rizal Agus Effendi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253821764"/>
                  </a:ext>
                </a:extLst>
              </a:tr>
              <a:tr h="157717">
                <a:tc>
                  <a:txBody>
                    <a:bodyPr/>
                    <a:lstStyle/>
                    <a:p>
                      <a:pPr algn="ctr" fontAlgn="ctr">
                        <a:buNone/>
                      </a:pPr>
                      <a:r>
                        <a:rPr lang="en-US" sz="1100">
                          <a:effectLst/>
                          <a:latin typeface="Raleway" pitchFamily="2" charset="0"/>
                        </a:rPr>
                        <a:t>54</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Semarang Bawah</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19-Jun-26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Ananda Maulana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769206110"/>
                  </a:ext>
                </a:extLst>
              </a:tr>
              <a:tr h="157717">
                <a:tc>
                  <a:txBody>
                    <a:bodyPr/>
                    <a:lstStyle/>
                    <a:p>
                      <a:pPr algn="ctr" fontAlgn="ctr">
                        <a:buNone/>
                      </a:pPr>
                      <a:r>
                        <a:rPr lang="en-US" sz="1100">
                          <a:effectLst/>
                          <a:latin typeface="Raleway" pitchFamily="2" charset="0"/>
                        </a:rPr>
                        <a:t>55</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Serang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19-Jun-26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Eka Fajar Fitriansah</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806048558"/>
                  </a:ext>
                </a:extLst>
              </a:tr>
              <a:tr h="157717">
                <a:tc>
                  <a:txBody>
                    <a:bodyPr/>
                    <a:lstStyle/>
                    <a:p>
                      <a:pPr algn="ctr" fontAlgn="ctr">
                        <a:buNone/>
                      </a:pPr>
                      <a:r>
                        <a:rPr lang="en-US" sz="1100">
                          <a:effectLst/>
                          <a:latin typeface="Raleway" pitchFamily="2" charset="0"/>
                        </a:rPr>
                        <a:t>56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Langsa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19-Jun-26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M. Anta Fauza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550211694"/>
                  </a:ext>
                </a:extLst>
              </a:tr>
              <a:tr h="157717">
                <a:tc>
                  <a:txBody>
                    <a:bodyPr/>
                    <a:lstStyle/>
                    <a:p>
                      <a:pPr algn="ctr" fontAlgn="ctr">
                        <a:buNone/>
                      </a:pPr>
                      <a:r>
                        <a:rPr lang="en-US" sz="1100">
                          <a:effectLst/>
                          <a:latin typeface="Raleway" pitchFamily="2" charset="0"/>
                        </a:rPr>
                        <a:t>57</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KENDARI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19-Jun-26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Sulistyo Pratama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023108712"/>
                  </a:ext>
                </a:extLst>
              </a:tr>
              <a:tr h="157717">
                <a:tc>
                  <a:txBody>
                    <a:bodyPr/>
                    <a:lstStyle/>
                    <a:p>
                      <a:pPr algn="ctr" fontAlgn="ctr">
                        <a:buNone/>
                      </a:pPr>
                      <a:r>
                        <a:rPr lang="en-US" sz="1100">
                          <a:effectLst/>
                          <a:latin typeface="Raleway" pitchFamily="2" charset="0"/>
                        </a:rPr>
                        <a:t>58</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(Mix) - Tanjung Pinang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Tidak Terdaftar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19-Jun-26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Tulus Roni Uli H</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11086708"/>
                  </a:ext>
                </a:extLst>
              </a:tr>
              <a:tr h="157717">
                <a:tc>
                  <a:txBody>
                    <a:bodyPr/>
                    <a:lstStyle/>
                    <a:p>
                      <a:pPr algn="ctr" fontAlgn="ctr">
                        <a:buNone/>
                      </a:pPr>
                      <a:r>
                        <a:rPr lang="en-US" sz="1100">
                          <a:effectLst/>
                          <a:latin typeface="Raleway" pitchFamily="2" charset="0"/>
                        </a:rPr>
                        <a:t>59</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(Mix) - Banda Aceh</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Tidak Terdaftar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19-Jun-26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Rendi Septian Rizki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073739913"/>
                  </a:ext>
                </a:extLst>
              </a:tr>
              <a:tr h="157717">
                <a:tc>
                  <a:txBody>
                    <a:bodyPr/>
                    <a:lstStyle/>
                    <a:p>
                      <a:pPr algn="ctr" fontAlgn="ctr">
                        <a:buNone/>
                      </a:pPr>
                      <a:r>
                        <a:rPr lang="en-US" sz="1100">
                          <a:effectLst/>
                          <a:latin typeface="Raleway" pitchFamily="2" charset="0"/>
                        </a:rPr>
                        <a:t>60</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Kendari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Tidak Terdaftar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19-Jun-26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Sulistyo Pratama Yasir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520712362"/>
                  </a:ext>
                </a:extLst>
              </a:tr>
            </a:tbl>
          </a:graphicData>
        </a:graphic>
      </p:graphicFrame>
    </p:spTree>
    <p:extLst>
      <p:ext uri="{BB962C8B-B14F-4D97-AF65-F5344CB8AC3E}">
        <p14:creationId xmlns:p14="http://schemas.microsoft.com/office/powerpoint/2010/main" val="2305820875"/>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BE5DE17C-D5F0-3E25-5606-F05BF1B65F57}"/>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2632F07E-9D5F-83AE-D94A-3010F986A576}"/>
              </a:ext>
            </a:extLst>
          </p:cNvPr>
          <p:cNvSpPr txBox="1"/>
          <p:nvPr/>
        </p:nvSpPr>
        <p:spPr>
          <a:xfrm>
            <a:off x="153673" y="6461415"/>
            <a:ext cx="2907067" cy="261610"/>
          </a:xfrm>
          <a:prstGeom prst="rect">
            <a:avLst/>
          </a:prstGeom>
          <a:noFill/>
        </p:spPr>
        <p:txBody>
          <a:bodyPr wrap="square" lIns="91440" tIns="45720" rIns="91440" bIns="45720" rtlCol="0" anchor="t">
            <a:spAutoFit/>
          </a:bodyPr>
          <a:lstStyle/>
          <a:p>
            <a:pPr>
              <a:defRPr/>
            </a:pPr>
            <a:r>
              <a:rPr kumimoji="0" lang="en-US" sz="1100" b="0" i="1" u="none" strike="noStrike" kern="1200" cap="none" spc="0" normalizeH="0" baseline="0" noProof="0">
                <a:ln>
                  <a:noFill/>
                </a:ln>
                <a:solidFill>
                  <a:prstClr val="black"/>
                </a:solidFill>
                <a:effectLst/>
                <a:uLnTx/>
                <a:uFillTx/>
                <a:latin typeface="Raleway"/>
                <a:ea typeface="+mn-ea"/>
                <a:cs typeface="+mn-cs"/>
              </a:rPr>
              <a:t>Update per </a:t>
            </a:r>
            <a:r>
              <a:rPr lang="en-US" sz="1100" i="1">
                <a:solidFill>
                  <a:prstClr val="black"/>
                </a:solidFill>
                <a:latin typeface="Raleway"/>
              </a:rPr>
              <a:t>10 Juli 2026</a:t>
            </a:r>
            <a:endParaRPr lang="en-US">
              <a:solidFill>
                <a:prstClr val="black"/>
              </a:solidFill>
              <a:ea typeface="+mn-ea"/>
              <a:cs typeface="+mn-cs"/>
            </a:endParaRPr>
          </a:p>
        </p:txBody>
      </p:sp>
      <p:sp>
        <p:nvSpPr>
          <p:cNvPr id="8" name="TextBox 7">
            <a:extLst>
              <a:ext uri="{FF2B5EF4-FFF2-40B4-BE49-F238E27FC236}">
                <a16:creationId xmlns:a16="http://schemas.microsoft.com/office/drawing/2014/main" id="{7714D656-E72C-4553-6D19-2120C1AD95D5}"/>
              </a:ext>
            </a:extLst>
          </p:cNvPr>
          <p:cNvSpPr txBox="1"/>
          <p:nvPr/>
        </p:nvSpPr>
        <p:spPr>
          <a:xfrm>
            <a:off x="1153886" y="395513"/>
            <a:ext cx="9884227" cy="1107996"/>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ctr"/>
            <a:r>
              <a:rPr lang="en-US" sz="2400" b="1" err="1">
                <a:latin typeface="Raleway"/>
              </a:rPr>
              <a:t>Pemenuhan</a:t>
            </a:r>
            <a:r>
              <a:rPr lang="en-US" sz="2400" b="1">
                <a:latin typeface="Raleway"/>
              </a:rPr>
              <a:t> SDM STO Chilled</a:t>
            </a:r>
            <a:endParaRPr lang="en-US"/>
          </a:p>
          <a:p>
            <a:pPr algn="ctr"/>
            <a:r>
              <a:rPr lang="en-US" b="1">
                <a:latin typeface="Raleway"/>
              </a:rPr>
              <a:t>List </a:t>
            </a:r>
            <a:r>
              <a:rPr lang="en-US" b="1" err="1">
                <a:latin typeface="Raleway"/>
              </a:rPr>
              <a:t>Kandidat</a:t>
            </a:r>
            <a:r>
              <a:rPr lang="en-US" b="1">
                <a:latin typeface="Raleway"/>
              </a:rPr>
              <a:t> Accept Offer – All </a:t>
            </a:r>
            <a:r>
              <a:rPr lang="en-US" b="1" err="1">
                <a:latin typeface="Raleway"/>
              </a:rPr>
              <a:t>Gelombang</a:t>
            </a:r>
            <a:r>
              <a:rPr lang="en-US" b="1">
                <a:latin typeface="Raleway"/>
              </a:rPr>
              <a:t> dan Tidak </a:t>
            </a:r>
            <a:r>
              <a:rPr lang="en-US" b="1" err="1">
                <a:latin typeface="Raleway"/>
              </a:rPr>
              <a:t>Terdaftar</a:t>
            </a:r>
            <a:r>
              <a:rPr lang="en-US" b="1">
                <a:latin typeface="Raleway"/>
              </a:rPr>
              <a:t> – 116 MPP</a:t>
            </a:r>
          </a:p>
          <a:p>
            <a:endParaRPr lang="en-US" sz="2400" b="1">
              <a:latin typeface="Raleway"/>
            </a:endParaRPr>
          </a:p>
        </p:txBody>
      </p:sp>
      <p:graphicFrame>
        <p:nvGraphicFramePr>
          <p:cNvPr id="3" name="Table 2">
            <a:extLst>
              <a:ext uri="{FF2B5EF4-FFF2-40B4-BE49-F238E27FC236}">
                <a16:creationId xmlns:a16="http://schemas.microsoft.com/office/drawing/2014/main" id="{5ECA8402-1E49-11F0-6589-306AED1A66DE}"/>
              </a:ext>
            </a:extLst>
          </p:cNvPr>
          <p:cNvGraphicFramePr>
            <a:graphicFrameLocks noGrp="1"/>
          </p:cNvGraphicFramePr>
          <p:nvPr/>
        </p:nvGraphicFramePr>
        <p:xfrm>
          <a:off x="1187450" y="1368651"/>
          <a:ext cx="9817099" cy="4962525"/>
        </p:xfrm>
        <a:graphic>
          <a:graphicData uri="http://schemas.openxmlformats.org/drawingml/2006/table">
            <a:tbl>
              <a:tblPr bandRow="1">
                <a:tableStyleId>{5C22544A-7EE6-4342-B048-85BDC9FD1C3A}</a:tableStyleId>
              </a:tblPr>
              <a:tblGrid>
                <a:gridCol w="431242">
                  <a:extLst>
                    <a:ext uri="{9D8B030D-6E8A-4147-A177-3AD203B41FA5}">
                      <a16:colId xmlns:a16="http://schemas.microsoft.com/office/drawing/2014/main" val="1885983283"/>
                    </a:ext>
                  </a:extLst>
                </a:gridCol>
                <a:gridCol w="3868495">
                  <a:extLst>
                    <a:ext uri="{9D8B030D-6E8A-4147-A177-3AD203B41FA5}">
                      <a16:colId xmlns:a16="http://schemas.microsoft.com/office/drawing/2014/main" val="2779860788"/>
                    </a:ext>
                  </a:extLst>
                </a:gridCol>
                <a:gridCol w="1179574">
                  <a:extLst>
                    <a:ext uri="{9D8B030D-6E8A-4147-A177-3AD203B41FA5}">
                      <a16:colId xmlns:a16="http://schemas.microsoft.com/office/drawing/2014/main" val="4209215651"/>
                    </a:ext>
                  </a:extLst>
                </a:gridCol>
                <a:gridCol w="1014687">
                  <a:extLst>
                    <a:ext uri="{9D8B030D-6E8A-4147-A177-3AD203B41FA5}">
                      <a16:colId xmlns:a16="http://schemas.microsoft.com/office/drawing/2014/main" val="1120778558"/>
                    </a:ext>
                  </a:extLst>
                </a:gridCol>
                <a:gridCol w="900535">
                  <a:extLst>
                    <a:ext uri="{9D8B030D-6E8A-4147-A177-3AD203B41FA5}">
                      <a16:colId xmlns:a16="http://schemas.microsoft.com/office/drawing/2014/main" val="3218119800"/>
                    </a:ext>
                  </a:extLst>
                </a:gridCol>
                <a:gridCol w="2422566">
                  <a:extLst>
                    <a:ext uri="{9D8B030D-6E8A-4147-A177-3AD203B41FA5}">
                      <a16:colId xmlns:a16="http://schemas.microsoft.com/office/drawing/2014/main" val="1519170553"/>
                    </a:ext>
                  </a:extLst>
                </a:gridCol>
              </a:tblGrid>
              <a:tr h="381000">
                <a:tc>
                  <a:txBody>
                    <a:bodyPr/>
                    <a:lstStyle/>
                    <a:p>
                      <a:pPr algn="ctr" fontAlgn="ctr">
                        <a:buNone/>
                      </a:pPr>
                      <a:r>
                        <a:rPr lang="en-US" sz="1100" b="1">
                          <a:solidFill>
                            <a:srgbClr val="FFFFFF"/>
                          </a:solidFill>
                          <a:effectLst/>
                          <a:latin typeface="Raleway" pitchFamily="2" charset="0"/>
                        </a:rPr>
                        <a:t>No.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pitchFamily="2" charset="0"/>
                        </a:rPr>
                        <a:t>Posisi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pitchFamily="2" charset="0"/>
                        </a:rPr>
                        <a:t>Gelombang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pitchFamily="2" charset="0"/>
                        </a:rPr>
                        <a:t>Tanggal Offering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pitchFamily="2" charset="0"/>
                        </a:rPr>
                        <a:t>Tanggal</a:t>
                      </a:r>
                      <a:br>
                        <a:rPr lang="en-US" sz="1100" b="1">
                          <a:solidFill>
                            <a:srgbClr val="FFFFFF"/>
                          </a:solidFill>
                          <a:effectLst/>
                          <a:latin typeface="Raleway" pitchFamily="2" charset="0"/>
                        </a:rPr>
                      </a:br>
                      <a:r>
                        <a:rPr lang="en-US" sz="1100" b="1">
                          <a:solidFill>
                            <a:srgbClr val="FFFFFF"/>
                          </a:solidFill>
                          <a:effectLst/>
                          <a:latin typeface="Raleway" pitchFamily="2" charset="0"/>
                        </a:rPr>
                        <a:t>Join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pitchFamily="2" charset="0"/>
                        </a:rPr>
                        <a:t>Nama Kandidat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extLst>
                  <a:ext uri="{0D108BD9-81ED-4DB2-BD59-A6C34878D82A}">
                    <a16:rowId xmlns:a16="http://schemas.microsoft.com/office/drawing/2014/main" val="986672917"/>
                  </a:ext>
                </a:extLst>
              </a:tr>
              <a:tr h="228600">
                <a:tc>
                  <a:txBody>
                    <a:bodyPr/>
                    <a:lstStyle/>
                    <a:p>
                      <a:pPr algn="ctr" fontAlgn="ctr">
                        <a:buNone/>
                      </a:pPr>
                      <a:r>
                        <a:rPr lang="en-US" sz="1100">
                          <a:effectLst/>
                          <a:latin typeface="Raleway" pitchFamily="2" charset="0"/>
                        </a:rPr>
                        <a:t>61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Surabaya Timur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22-Jun-26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Egar Aditya Affandi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273080708"/>
                  </a:ext>
                </a:extLst>
              </a:tr>
              <a:tr h="228600">
                <a:tc>
                  <a:txBody>
                    <a:bodyPr/>
                    <a:lstStyle/>
                    <a:p>
                      <a:pPr algn="ctr" fontAlgn="ctr">
                        <a:buNone/>
                      </a:pPr>
                      <a:r>
                        <a:rPr lang="en-US" sz="1100">
                          <a:effectLst/>
                          <a:latin typeface="Raleway" pitchFamily="2" charset="0"/>
                        </a:rPr>
                        <a:t>62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Tangerang Kota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22-Jun-26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Kevin Kristhoforous</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317384314"/>
                  </a:ext>
                </a:extLst>
              </a:tr>
              <a:tr h="228600">
                <a:tc>
                  <a:txBody>
                    <a:bodyPr/>
                    <a:lstStyle/>
                    <a:p>
                      <a:pPr algn="ctr" fontAlgn="ctr">
                        <a:buNone/>
                      </a:pPr>
                      <a:r>
                        <a:rPr lang="en-US" sz="1100">
                          <a:effectLst/>
                          <a:latin typeface="Raleway" pitchFamily="2" charset="0"/>
                        </a:rPr>
                        <a:t>63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Medan Timur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Tidak Terdaftar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22-Jun-26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Jaka Kustandi Lubis</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468340607"/>
                  </a:ext>
                </a:extLst>
              </a:tr>
              <a:tr h="228600">
                <a:tc>
                  <a:txBody>
                    <a:bodyPr/>
                    <a:lstStyle/>
                    <a:p>
                      <a:pPr algn="ctr" fontAlgn="ctr">
                        <a:buNone/>
                      </a:pPr>
                      <a:r>
                        <a:rPr lang="en-US" sz="1100">
                          <a:effectLst/>
                          <a:latin typeface="Raleway" pitchFamily="2" charset="0"/>
                        </a:rPr>
                        <a:t>64</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Padang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Tidak Terdaftar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23-Jun-26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Irwannus Pratama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340990817"/>
                  </a:ext>
                </a:extLst>
              </a:tr>
              <a:tr h="228600">
                <a:tc>
                  <a:txBody>
                    <a:bodyPr/>
                    <a:lstStyle/>
                    <a:p>
                      <a:pPr algn="ctr" fontAlgn="ctr">
                        <a:buNone/>
                      </a:pPr>
                      <a:r>
                        <a:rPr lang="en-US" sz="1100">
                          <a:effectLst/>
                          <a:latin typeface="Raleway" pitchFamily="2" charset="0"/>
                        </a:rPr>
                        <a:t>65</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Bali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24-Jun-26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Abdul Rohman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739662251"/>
                  </a:ext>
                </a:extLst>
              </a:tr>
              <a:tr h="228600">
                <a:tc>
                  <a:txBody>
                    <a:bodyPr/>
                    <a:lstStyle/>
                    <a:p>
                      <a:pPr algn="ctr" fontAlgn="ctr">
                        <a:buNone/>
                      </a:pPr>
                      <a:r>
                        <a:rPr lang="en-US" sz="1100">
                          <a:effectLst/>
                          <a:latin typeface="Raleway" pitchFamily="2" charset="0"/>
                        </a:rPr>
                        <a:t>66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Bandung Barat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24-Jun-26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Vernon Simatupang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979787473"/>
                  </a:ext>
                </a:extLst>
              </a:tr>
              <a:tr h="228600">
                <a:tc>
                  <a:txBody>
                    <a:bodyPr/>
                    <a:lstStyle/>
                    <a:p>
                      <a:pPr algn="ctr" fontAlgn="ctr">
                        <a:buNone/>
                      </a:pPr>
                      <a:r>
                        <a:rPr lang="en-US" sz="1100">
                          <a:effectLst/>
                          <a:latin typeface="Raleway" pitchFamily="2" charset="0"/>
                        </a:rPr>
                        <a:t>67</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Semarang Atas</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24-Jun-26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Nurman Santiko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154565800"/>
                  </a:ext>
                </a:extLst>
              </a:tr>
              <a:tr h="228600">
                <a:tc>
                  <a:txBody>
                    <a:bodyPr/>
                    <a:lstStyle/>
                    <a:p>
                      <a:pPr algn="ctr" fontAlgn="ctr">
                        <a:buNone/>
                      </a:pPr>
                      <a:r>
                        <a:rPr lang="en-US" sz="1100">
                          <a:effectLst/>
                          <a:latin typeface="Raleway" pitchFamily="2" charset="0"/>
                        </a:rPr>
                        <a:t>68</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Siantar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Tidak Terdaftar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25-Jun-26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Ricky Ramadhan Dalimunthe</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17970143"/>
                  </a:ext>
                </a:extLst>
              </a:tr>
              <a:tr h="228600">
                <a:tc>
                  <a:txBody>
                    <a:bodyPr/>
                    <a:lstStyle/>
                    <a:p>
                      <a:pPr algn="ctr" fontAlgn="ctr">
                        <a:buNone/>
                      </a:pPr>
                      <a:r>
                        <a:rPr lang="en-US" sz="1100">
                          <a:effectLst/>
                          <a:latin typeface="Raleway" pitchFamily="2" charset="0"/>
                        </a:rPr>
                        <a:t>69</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(Mix) - Banda Aceh</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Tidak Terdaftar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25-Jun-26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Rosita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171154073"/>
                  </a:ext>
                </a:extLst>
              </a:tr>
              <a:tr h="228600">
                <a:tc>
                  <a:txBody>
                    <a:bodyPr/>
                    <a:lstStyle/>
                    <a:p>
                      <a:pPr algn="ctr" fontAlgn="ctr">
                        <a:buNone/>
                      </a:pPr>
                      <a:r>
                        <a:rPr lang="en-US" sz="1100">
                          <a:effectLst/>
                          <a:latin typeface="Raleway" pitchFamily="2" charset="0"/>
                        </a:rPr>
                        <a:t>70</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Medan Timur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Tidak Terdaftar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25-Jun-26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Sari Putri Handayani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083565813"/>
                  </a:ext>
                </a:extLst>
              </a:tr>
              <a:tr h="228600">
                <a:tc>
                  <a:txBody>
                    <a:bodyPr/>
                    <a:lstStyle/>
                    <a:p>
                      <a:pPr algn="ctr" fontAlgn="ctr">
                        <a:buNone/>
                      </a:pPr>
                      <a:r>
                        <a:rPr lang="en-US" sz="1100">
                          <a:effectLst/>
                          <a:latin typeface="Raleway" pitchFamily="2" charset="0"/>
                        </a:rPr>
                        <a:t>71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Jakarta Barat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Tidak Terdaftar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25-Jun-26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Rio Bastara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13593672"/>
                  </a:ext>
                </a:extLst>
              </a:tr>
              <a:tr h="228600">
                <a:tc>
                  <a:txBody>
                    <a:bodyPr/>
                    <a:lstStyle/>
                    <a:p>
                      <a:pPr algn="ctr" fontAlgn="ctr">
                        <a:buNone/>
                      </a:pPr>
                      <a:r>
                        <a:rPr lang="en-US" sz="1100">
                          <a:effectLst/>
                          <a:latin typeface="Raleway" pitchFamily="2" charset="0"/>
                        </a:rPr>
                        <a:t>72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Jakarta Barat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Tidak Terdaftar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25-Jun-26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Muhamad Fauzi </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154349036"/>
                  </a:ext>
                </a:extLst>
              </a:tr>
              <a:tr h="228600">
                <a:tc>
                  <a:txBody>
                    <a:bodyPr/>
                    <a:lstStyle/>
                    <a:p>
                      <a:pPr algn="ctr" fontAlgn="ctr">
                        <a:buNone/>
                      </a:pPr>
                      <a:r>
                        <a:rPr lang="en-US" sz="1100">
                          <a:effectLst/>
                          <a:latin typeface="Raleway" pitchFamily="2" charset="0"/>
                        </a:rPr>
                        <a:t>73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Jakarta Pusat &amp; Utara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26-Jun-26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Abdul Haris Nasution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425233681"/>
                  </a:ext>
                </a:extLst>
              </a:tr>
              <a:tr h="228600">
                <a:tc>
                  <a:txBody>
                    <a:bodyPr/>
                    <a:lstStyle/>
                    <a:p>
                      <a:pPr algn="ctr" fontAlgn="ctr">
                        <a:buNone/>
                      </a:pPr>
                      <a:r>
                        <a:rPr lang="en-US" sz="1100">
                          <a:effectLst/>
                          <a:latin typeface="Raleway" pitchFamily="2" charset="0"/>
                        </a:rPr>
                        <a:t>74</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Semarang Atas</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26-Jun-26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Andi Septianto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753366792"/>
                  </a:ext>
                </a:extLst>
              </a:tr>
              <a:tr h="228600">
                <a:tc>
                  <a:txBody>
                    <a:bodyPr/>
                    <a:lstStyle/>
                    <a:p>
                      <a:pPr algn="ctr" fontAlgn="ctr">
                        <a:buNone/>
                      </a:pPr>
                      <a:r>
                        <a:rPr lang="en-US" sz="1100">
                          <a:effectLst/>
                          <a:latin typeface="Raleway" pitchFamily="2" charset="0"/>
                        </a:rPr>
                        <a:t>75</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Semarang Bawah</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26-Jun-26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Saevul Amri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036496848"/>
                  </a:ext>
                </a:extLst>
              </a:tr>
              <a:tr h="228600">
                <a:tc>
                  <a:txBody>
                    <a:bodyPr/>
                    <a:lstStyle/>
                    <a:p>
                      <a:pPr algn="ctr" fontAlgn="ctr">
                        <a:buNone/>
                      </a:pPr>
                      <a:r>
                        <a:rPr lang="en-US" sz="1100">
                          <a:effectLst/>
                          <a:latin typeface="Raleway" pitchFamily="2" charset="0"/>
                        </a:rPr>
                        <a:t>76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Madura Timur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26-Jun-26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Baihaki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308936266"/>
                  </a:ext>
                </a:extLst>
              </a:tr>
              <a:tr h="228600">
                <a:tc>
                  <a:txBody>
                    <a:bodyPr/>
                    <a:lstStyle/>
                    <a:p>
                      <a:pPr algn="ctr" fontAlgn="ctr">
                        <a:buNone/>
                      </a:pPr>
                      <a:r>
                        <a:rPr lang="en-US" sz="1100">
                          <a:effectLst/>
                          <a:latin typeface="Raleway" pitchFamily="2" charset="0"/>
                        </a:rPr>
                        <a:t>77</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Medan Timur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Tidak Terdaftar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26-Jun-26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Natanael Rajakutana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082195022"/>
                  </a:ext>
                </a:extLst>
              </a:tr>
              <a:tr h="228600">
                <a:tc>
                  <a:txBody>
                    <a:bodyPr/>
                    <a:lstStyle/>
                    <a:p>
                      <a:pPr algn="ctr" fontAlgn="ctr">
                        <a:buNone/>
                      </a:pPr>
                      <a:r>
                        <a:rPr lang="en-US" sz="1100">
                          <a:effectLst/>
                          <a:latin typeface="Raleway" pitchFamily="2" charset="0"/>
                        </a:rPr>
                        <a:t>78</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Jakarta Pusat &amp; Utara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27-Jun-26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Ravael Andika Ruwayish</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637860866"/>
                  </a:ext>
                </a:extLst>
              </a:tr>
              <a:tr h="228600">
                <a:tc>
                  <a:txBody>
                    <a:bodyPr/>
                    <a:lstStyle/>
                    <a:p>
                      <a:pPr algn="ctr" fontAlgn="ctr">
                        <a:buNone/>
                      </a:pPr>
                      <a:r>
                        <a:rPr lang="en-US" sz="1100">
                          <a:effectLst/>
                          <a:latin typeface="Raleway" pitchFamily="2" charset="0"/>
                        </a:rPr>
                        <a:t>79</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Tangerang Selatan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27-Jun-26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Pian Aprian Syah</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197880665"/>
                  </a:ext>
                </a:extLst>
              </a:tr>
              <a:tr h="228600">
                <a:tc>
                  <a:txBody>
                    <a:bodyPr/>
                    <a:lstStyle/>
                    <a:p>
                      <a:pPr algn="ctr" fontAlgn="ctr">
                        <a:buNone/>
                      </a:pPr>
                      <a:r>
                        <a:rPr lang="en-US" sz="1100">
                          <a:effectLst/>
                          <a:latin typeface="Raleway" pitchFamily="2" charset="0"/>
                        </a:rPr>
                        <a:t>80</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Bali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Gelombang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29-Jun-26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Ivan Bagas Kurniawan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26482244"/>
                  </a:ext>
                </a:extLst>
              </a:tr>
            </a:tbl>
          </a:graphicData>
        </a:graphic>
      </p:graphicFrame>
    </p:spTree>
    <p:extLst>
      <p:ext uri="{BB962C8B-B14F-4D97-AF65-F5344CB8AC3E}">
        <p14:creationId xmlns:p14="http://schemas.microsoft.com/office/powerpoint/2010/main" val="1051049616"/>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017C5089-F986-DB8B-1DCB-23FC1D33884B}"/>
            </a:ext>
          </a:extLst>
        </p:cNvPr>
        <p:cNvGrpSpPr/>
        <p:nvPr/>
      </p:nvGrpSpPr>
      <p:grpSpPr>
        <a:xfrm>
          <a:off x="0" y="0"/>
          <a:ext cx="0" cy="0"/>
          <a:chOff x="0" y="0"/>
          <a:chExt cx="0" cy="0"/>
        </a:xfrm>
      </p:grpSpPr>
      <p:sp>
        <p:nvSpPr>
          <p:cNvPr id="8" name="TextBox 7">
            <a:extLst>
              <a:ext uri="{FF2B5EF4-FFF2-40B4-BE49-F238E27FC236}">
                <a16:creationId xmlns:a16="http://schemas.microsoft.com/office/drawing/2014/main" id="{9305C677-6A95-CDD2-461A-B3F6F6336268}"/>
              </a:ext>
            </a:extLst>
          </p:cNvPr>
          <p:cNvSpPr txBox="1"/>
          <p:nvPr/>
        </p:nvSpPr>
        <p:spPr>
          <a:xfrm>
            <a:off x="1153886" y="395513"/>
            <a:ext cx="9884227" cy="1107996"/>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ctr"/>
            <a:r>
              <a:rPr lang="en-US" sz="2400" b="1" err="1">
                <a:latin typeface="Raleway"/>
              </a:rPr>
              <a:t>Pemenuhan</a:t>
            </a:r>
            <a:r>
              <a:rPr lang="en-US" sz="2400" b="1">
                <a:latin typeface="Raleway"/>
              </a:rPr>
              <a:t> SDM STO Chilled</a:t>
            </a:r>
            <a:endParaRPr lang="en-US"/>
          </a:p>
          <a:p>
            <a:pPr algn="ctr"/>
            <a:r>
              <a:rPr lang="en-US" b="1">
                <a:latin typeface="Raleway"/>
              </a:rPr>
              <a:t>List </a:t>
            </a:r>
            <a:r>
              <a:rPr lang="en-US" b="1" err="1">
                <a:latin typeface="Raleway"/>
              </a:rPr>
              <a:t>Kandidat</a:t>
            </a:r>
            <a:r>
              <a:rPr lang="en-US" b="1">
                <a:latin typeface="Raleway"/>
              </a:rPr>
              <a:t> Accept Offer – All </a:t>
            </a:r>
            <a:r>
              <a:rPr lang="en-US" b="1" err="1">
                <a:latin typeface="Raleway"/>
              </a:rPr>
              <a:t>Gelombang</a:t>
            </a:r>
            <a:r>
              <a:rPr lang="en-US" b="1">
                <a:latin typeface="Raleway"/>
              </a:rPr>
              <a:t> dan Tidak </a:t>
            </a:r>
            <a:r>
              <a:rPr lang="en-US" b="1" err="1">
                <a:latin typeface="Raleway"/>
              </a:rPr>
              <a:t>Terdaftar</a:t>
            </a:r>
            <a:r>
              <a:rPr lang="en-US" b="1">
                <a:latin typeface="Raleway"/>
              </a:rPr>
              <a:t> - 116 MPP</a:t>
            </a:r>
          </a:p>
          <a:p>
            <a:endParaRPr lang="en-US" sz="2400" b="1">
              <a:latin typeface="Raleway"/>
            </a:endParaRPr>
          </a:p>
        </p:txBody>
      </p:sp>
      <p:graphicFrame>
        <p:nvGraphicFramePr>
          <p:cNvPr id="3" name="Table 2">
            <a:extLst>
              <a:ext uri="{FF2B5EF4-FFF2-40B4-BE49-F238E27FC236}">
                <a16:creationId xmlns:a16="http://schemas.microsoft.com/office/drawing/2014/main" id="{505D4C9E-5339-48CC-5530-E8105178751B}"/>
              </a:ext>
            </a:extLst>
          </p:cNvPr>
          <p:cNvGraphicFramePr>
            <a:graphicFrameLocks noGrp="1"/>
          </p:cNvGraphicFramePr>
          <p:nvPr/>
        </p:nvGraphicFramePr>
        <p:xfrm>
          <a:off x="1187450" y="1270680"/>
          <a:ext cx="9817099" cy="5293995"/>
        </p:xfrm>
        <a:graphic>
          <a:graphicData uri="http://schemas.openxmlformats.org/drawingml/2006/table">
            <a:tbl>
              <a:tblPr bandRow="1">
                <a:tableStyleId>{5C22544A-7EE6-4342-B048-85BDC9FD1C3A}</a:tableStyleId>
              </a:tblPr>
              <a:tblGrid>
                <a:gridCol w="431242">
                  <a:extLst>
                    <a:ext uri="{9D8B030D-6E8A-4147-A177-3AD203B41FA5}">
                      <a16:colId xmlns:a16="http://schemas.microsoft.com/office/drawing/2014/main" val="328758843"/>
                    </a:ext>
                  </a:extLst>
                </a:gridCol>
                <a:gridCol w="3868495">
                  <a:extLst>
                    <a:ext uri="{9D8B030D-6E8A-4147-A177-3AD203B41FA5}">
                      <a16:colId xmlns:a16="http://schemas.microsoft.com/office/drawing/2014/main" val="1798970547"/>
                    </a:ext>
                  </a:extLst>
                </a:gridCol>
                <a:gridCol w="1179574">
                  <a:extLst>
                    <a:ext uri="{9D8B030D-6E8A-4147-A177-3AD203B41FA5}">
                      <a16:colId xmlns:a16="http://schemas.microsoft.com/office/drawing/2014/main" val="2891983961"/>
                    </a:ext>
                  </a:extLst>
                </a:gridCol>
                <a:gridCol w="1014687">
                  <a:extLst>
                    <a:ext uri="{9D8B030D-6E8A-4147-A177-3AD203B41FA5}">
                      <a16:colId xmlns:a16="http://schemas.microsoft.com/office/drawing/2014/main" val="962648791"/>
                    </a:ext>
                  </a:extLst>
                </a:gridCol>
                <a:gridCol w="900535">
                  <a:extLst>
                    <a:ext uri="{9D8B030D-6E8A-4147-A177-3AD203B41FA5}">
                      <a16:colId xmlns:a16="http://schemas.microsoft.com/office/drawing/2014/main" val="3005241363"/>
                    </a:ext>
                  </a:extLst>
                </a:gridCol>
                <a:gridCol w="2422566">
                  <a:extLst>
                    <a:ext uri="{9D8B030D-6E8A-4147-A177-3AD203B41FA5}">
                      <a16:colId xmlns:a16="http://schemas.microsoft.com/office/drawing/2014/main" val="2246847553"/>
                    </a:ext>
                  </a:extLst>
                </a:gridCol>
              </a:tblGrid>
              <a:tr h="197119">
                <a:tc>
                  <a:txBody>
                    <a:bodyPr/>
                    <a:lstStyle/>
                    <a:p>
                      <a:pPr algn="ctr" fontAlgn="ctr">
                        <a:buNone/>
                      </a:pPr>
                      <a:r>
                        <a:rPr lang="en-US" sz="1100" b="1">
                          <a:solidFill>
                            <a:srgbClr val="FFFFFF"/>
                          </a:solidFill>
                          <a:effectLst/>
                          <a:latin typeface="Raleway" pitchFamily="2" charset="0"/>
                        </a:rPr>
                        <a:t>No.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err="1">
                          <a:solidFill>
                            <a:srgbClr val="FFFFFF"/>
                          </a:solidFill>
                          <a:effectLst/>
                          <a:latin typeface="Raleway"/>
                        </a:rPr>
                        <a:t>Posisi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err="1">
                          <a:solidFill>
                            <a:srgbClr val="FFFFFF"/>
                          </a:solidFill>
                          <a:effectLst/>
                          <a:latin typeface="Raleway"/>
                        </a:rPr>
                        <a:t>Gelombang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err="1">
                          <a:solidFill>
                            <a:srgbClr val="FFFFFF"/>
                          </a:solidFill>
                          <a:effectLst/>
                          <a:latin typeface="Raleway"/>
                        </a:rPr>
                        <a:t>Tanggal</a:t>
                      </a:r>
                      <a:r>
                        <a:rPr lang="en-US" sz="1100" b="1">
                          <a:solidFill>
                            <a:srgbClr val="FFFFFF"/>
                          </a:solidFill>
                          <a:effectLst/>
                          <a:latin typeface="Raleway"/>
                        </a:rPr>
                        <a:t> Offering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err="1">
                          <a:solidFill>
                            <a:srgbClr val="FFFFFF"/>
                          </a:solidFill>
                          <a:effectLst/>
                          <a:latin typeface="Raleway"/>
                        </a:rPr>
                        <a:t>Tanggal</a:t>
                      </a:r>
                      <a:br>
                        <a:rPr lang="en-US" sz="1100" b="1">
                          <a:solidFill>
                            <a:srgbClr val="FFFFFF"/>
                          </a:solidFill>
                          <a:effectLst/>
                          <a:latin typeface="Raleway"/>
                        </a:rPr>
                      </a:br>
                      <a:r>
                        <a:rPr lang="en-US" sz="1100" b="1">
                          <a:solidFill>
                            <a:srgbClr val="FFFFFF"/>
                          </a:solidFill>
                          <a:effectLst/>
                          <a:latin typeface="Raleway"/>
                        </a:rPr>
                        <a:t>Join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a:rPr>
                        <a:t>Nama </a:t>
                      </a:r>
                      <a:r>
                        <a:rPr lang="en-US" sz="1100" b="1" err="1">
                          <a:solidFill>
                            <a:srgbClr val="FFFFFF"/>
                          </a:solidFill>
                          <a:effectLst/>
                          <a:latin typeface="Raleway"/>
                        </a:rPr>
                        <a:t>Kandidat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extLst>
                  <a:ext uri="{0D108BD9-81ED-4DB2-BD59-A6C34878D82A}">
                    <a16:rowId xmlns:a16="http://schemas.microsoft.com/office/drawing/2014/main" val="4168924289"/>
                  </a:ext>
                </a:extLst>
              </a:tr>
              <a:tr h="113161">
                <a:tc>
                  <a:txBody>
                    <a:bodyPr/>
                    <a:lstStyle/>
                    <a:p>
                      <a:pPr algn="ctr" fontAlgn="ctr">
                        <a:buNone/>
                      </a:pPr>
                      <a:r>
                        <a:rPr lang="en-US" sz="1100">
                          <a:effectLst/>
                          <a:latin typeface="Raleway" pitchFamily="2" charset="0"/>
                        </a:rPr>
                        <a:t>81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Bandung Barat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err="1">
                          <a:effectLst/>
                          <a:latin typeface="Raleway"/>
                        </a:rPr>
                        <a:t>Gelombang</a:t>
                      </a:r>
                      <a:r>
                        <a:rPr lang="en-US" sz="1100">
                          <a:effectLst/>
                          <a:latin typeface="Raleway"/>
                        </a:rPr>
                        <a:t>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29-Jun-26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Imam Zalaludin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476555154"/>
                  </a:ext>
                </a:extLst>
              </a:tr>
              <a:tr h="113161">
                <a:tc>
                  <a:txBody>
                    <a:bodyPr/>
                    <a:lstStyle/>
                    <a:p>
                      <a:pPr algn="ctr" fontAlgn="ctr">
                        <a:buNone/>
                      </a:pPr>
                      <a:r>
                        <a:rPr lang="en-US" sz="1100">
                          <a:effectLst/>
                          <a:latin typeface="Raleway" pitchFamily="2" charset="0"/>
                        </a:rPr>
                        <a:t>82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Tangerang Kota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err="1">
                          <a:effectLst/>
                          <a:latin typeface="Raleway"/>
                        </a:rPr>
                        <a:t>Gelombang</a:t>
                      </a:r>
                      <a:r>
                        <a:rPr lang="en-US" sz="1100">
                          <a:effectLst/>
                          <a:latin typeface="Raleway"/>
                        </a:rPr>
                        <a:t>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29-Jun-26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Eric Maulana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803416155"/>
                  </a:ext>
                </a:extLst>
              </a:tr>
              <a:tr h="113161">
                <a:tc>
                  <a:txBody>
                    <a:bodyPr/>
                    <a:lstStyle/>
                    <a:p>
                      <a:pPr algn="ctr" fontAlgn="ctr">
                        <a:buNone/>
                      </a:pPr>
                      <a:r>
                        <a:rPr lang="en-US" sz="1100">
                          <a:effectLst/>
                          <a:latin typeface="Raleway" pitchFamily="2" charset="0"/>
                        </a:rPr>
                        <a:t>83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Garut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err="1">
                          <a:effectLst/>
                          <a:latin typeface="Raleway"/>
                        </a:rPr>
                        <a:t>Gelombang</a:t>
                      </a:r>
                      <a:r>
                        <a:rPr lang="en-US" sz="1100">
                          <a:effectLst/>
                          <a:latin typeface="Raleway"/>
                        </a:rPr>
                        <a:t> 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29-Jun-26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Dika </a:t>
                      </a:r>
                      <a:r>
                        <a:rPr lang="en-US" sz="1100" err="1">
                          <a:effectLst/>
                          <a:latin typeface="Raleway"/>
                        </a:rPr>
                        <a:t>Herdian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14485841"/>
                  </a:ext>
                </a:extLst>
              </a:tr>
              <a:tr h="113161">
                <a:tc>
                  <a:txBody>
                    <a:bodyPr/>
                    <a:lstStyle/>
                    <a:p>
                      <a:pPr algn="ctr" fontAlgn="ctr">
                        <a:buNone/>
                      </a:pPr>
                      <a:r>
                        <a:rPr lang="en-US" sz="1100">
                          <a:effectLst/>
                          <a:latin typeface="Raleway" pitchFamily="2" charset="0"/>
                        </a:rPr>
                        <a:t>84</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Sales Taking Order Staff (Chilled) - </a:t>
                      </a:r>
                      <a:r>
                        <a:rPr lang="en-US" sz="1100" err="1">
                          <a:effectLst/>
                          <a:latin typeface="Raleway"/>
                        </a:rPr>
                        <a:t>Tuban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err="1">
                          <a:effectLst/>
                          <a:latin typeface="Raleway"/>
                        </a:rPr>
                        <a:t>Gelombang</a:t>
                      </a:r>
                      <a:r>
                        <a:rPr lang="en-US" sz="1100">
                          <a:effectLst/>
                          <a:latin typeface="Raleway"/>
                        </a:rPr>
                        <a:t> 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29-Jun-26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Aris Darmawan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960869190"/>
                  </a:ext>
                </a:extLst>
              </a:tr>
              <a:tr h="113161">
                <a:tc>
                  <a:txBody>
                    <a:bodyPr/>
                    <a:lstStyle/>
                    <a:p>
                      <a:pPr algn="ctr" fontAlgn="ctr">
                        <a:buNone/>
                      </a:pPr>
                      <a:r>
                        <a:rPr lang="en-US" sz="1100">
                          <a:effectLst/>
                          <a:latin typeface="Raleway" pitchFamily="2" charset="0"/>
                        </a:rPr>
                        <a:t>85</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Metro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Tidak </a:t>
                      </a:r>
                      <a:r>
                        <a:rPr lang="en-US" sz="1100" err="1">
                          <a:effectLst/>
                          <a:latin typeface="Raleway"/>
                        </a:rPr>
                        <a:t>Terdaftar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29-Jun-26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Ryan Dicky Rama Gunada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226037405"/>
                  </a:ext>
                </a:extLst>
              </a:tr>
              <a:tr h="113161">
                <a:tc>
                  <a:txBody>
                    <a:bodyPr/>
                    <a:lstStyle/>
                    <a:p>
                      <a:pPr algn="ctr" fontAlgn="ctr">
                        <a:buNone/>
                      </a:pPr>
                      <a:r>
                        <a:rPr lang="en-US" sz="1100">
                          <a:effectLst/>
                          <a:latin typeface="Raleway" pitchFamily="2" charset="0"/>
                        </a:rPr>
                        <a:t>86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Pontianak</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Tidak </a:t>
                      </a:r>
                      <a:r>
                        <a:rPr lang="en-US" sz="1100" err="1">
                          <a:effectLst/>
                          <a:latin typeface="Raleway"/>
                        </a:rPr>
                        <a:t>Terdaftar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29-Jun-26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Muhammad </a:t>
                      </a:r>
                      <a:r>
                        <a:rPr lang="en-US" sz="1100" err="1">
                          <a:effectLst/>
                          <a:latin typeface="Raleway"/>
                        </a:rPr>
                        <a:t>Fahrizal</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621465875"/>
                  </a:ext>
                </a:extLst>
              </a:tr>
              <a:tr h="113161">
                <a:tc>
                  <a:txBody>
                    <a:bodyPr/>
                    <a:lstStyle/>
                    <a:p>
                      <a:pPr algn="ctr" fontAlgn="ctr">
                        <a:buNone/>
                      </a:pPr>
                      <a:r>
                        <a:rPr lang="en-US" sz="1100">
                          <a:effectLst/>
                          <a:latin typeface="Raleway" pitchFamily="2" charset="0"/>
                        </a:rPr>
                        <a:t>87</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Bengkulu</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Tidak </a:t>
                      </a:r>
                      <a:r>
                        <a:rPr lang="en-US" sz="1100" err="1">
                          <a:effectLst/>
                          <a:latin typeface="Raleway"/>
                        </a:rPr>
                        <a:t>Terdaftar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29-Jun-26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Gerry Dwi Febrian Valentino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337773597"/>
                  </a:ext>
                </a:extLst>
              </a:tr>
              <a:tr h="113161">
                <a:tc>
                  <a:txBody>
                    <a:bodyPr/>
                    <a:lstStyle/>
                    <a:p>
                      <a:pPr algn="ctr" fontAlgn="ctr">
                        <a:buNone/>
                      </a:pPr>
                      <a:r>
                        <a:rPr lang="en-US" sz="1100">
                          <a:effectLst/>
                          <a:latin typeface="Raleway" pitchFamily="2" charset="0"/>
                        </a:rPr>
                        <a:t>88</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Palembang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Tidak </a:t>
                      </a:r>
                      <a:r>
                        <a:rPr lang="en-US" sz="1100" err="1">
                          <a:effectLst/>
                          <a:latin typeface="Raleway"/>
                        </a:rPr>
                        <a:t>Terdaftar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29-Jun-26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Willy Winanda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117244138"/>
                  </a:ext>
                </a:extLst>
              </a:tr>
              <a:tr h="113161">
                <a:tc>
                  <a:txBody>
                    <a:bodyPr/>
                    <a:lstStyle/>
                    <a:p>
                      <a:pPr algn="ctr" fontAlgn="ctr">
                        <a:buNone/>
                      </a:pPr>
                      <a:r>
                        <a:rPr lang="en-US" sz="1100">
                          <a:effectLst/>
                          <a:latin typeface="Raleway" pitchFamily="2" charset="0"/>
                        </a:rPr>
                        <a:t>89</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Medan Barat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Tidak </a:t>
                      </a:r>
                      <a:r>
                        <a:rPr lang="en-US" sz="1100" err="1">
                          <a:effectLst/>
                          <a:latin typeface="Raleway"/>
                        </a:rPr>
                        <a:t>Terdaftar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29-Jun-26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Siska Widya Putri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741367652"/>
                  </a:ext>
                </a:extLst>
              </a:tr>
              <a:tr h="113161">
                <a:tc>
                  <a:txBody>
                    <a:bodyPr/>
                    <a:lstStyle/>
                    <a:p>
                      <a:pPr algn="ctr" fontAlgn="ctr">
                        <a:buNone/>
                      </a:pPr>
                      <a:r>
                        <a:rPr lang="en-US" sz="1100">
                          <a:effectLst/>
                          <a:latin typeface="Raleway" pitchFamily="2" charset="0"/>
                        </a:rPr>
                        <a:t>90</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Jakarta Barat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Tidak </a:t>
                      </a:r>
                      <a:r>
                        <a:rPr lang="en-US" sz="1100" err="1">
                          <a:effectLst/>
                          <a:latin typeface="Raleway"/>
                        </a:rPr>
                        <a:t>Terdaftar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30-Jun-26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Muhammad Rafi Rayhan </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71880071"/>
                  </a:ext>
                </a:extLst>
              </a:tr>
              <a:tr h="113161">
                <a:tc>
                  <a:txBody>
                    <a:bodyPr/>
                    <a:lstStyle/>
                    <a:p>
                      <a:pPr algn="ctr" fontAlgn="ctr">
                        <a:buNone/>
                      </a:pPr>
                      <a:r>
                        <a:rPr lang="en-US" sz="1100">
                          <a:effectLst/>
                          <a:latin typeface="Raleway" pitchFamily="2" charset="0"/>
                        </a:rPr>
                        <a:t>91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Bali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err="1">
                          <a:effectLst/>
                          <a:latin typeface="Raleway"/>
                        </a:rPr>
                        <a:t>Gelombang</a:t>
                      </a:r>
                      <a:r>
                        <a:rPr lang="en-US" sz="1100">
                          <a:effectLst/>
                          <a:latin typeface="Raleway"/>
                        </a:rPr>
                        <a:t>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Dadang Haji </a:t>
                      </a:r>
                      <a:r>
                        <a:rPr lang="en-US" sz="1100" err="1">
                          <a:effectLst/>
                          <a:latin typeface="Raleway"/>
                        </a:rPr>
                        <a:t>Pengestu</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881135211"/>
                  </a:ext>
                </a:extLst>
              </a:tr>
              <a:tr h="113161">
                <a:tc>
                  <a:txBody>
                    <a:bodyPr/>
                    <a:lstStyle/>
                    <a:p>
                      <a:pPr algn="ctr" fontAlgn="ctr">
                        <a:buNone/>
                      </a:pPr>
                      <a:r>
                        <a:rPr lang="en-US" sz="1100">
                          <a:effectLst/>
                          <a:latin typeface="Raleway" pitchFamily="2" charset="0"/>
                        </a:rPr>
                        <a:t>92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Jakarta Pusat &amp; Utara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err="1">
                          <a:effectLst/>
                          <a:latin typeface="Raleway"/>
                        </a:rPr>
                        <a:t>Gelombang</a:t>
                      </a:r>
                      <a:r>
                        <a:rPr lang="en-US" sz="1100">
                          <a:effectLst/>
                          <a:latin typeface="Raleway"/>
                        </a:rPr>
                        <a:t>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Dian Maya Saputri S</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465150897"/>
                  </a:ext>
                </a:extLst>
              </a:tr>
              <a:tr h="113161">
                <a:tc>
                  <a:txBody>
                    <a:bodyPr/>
                    <a:lstStyle/>
                    <a:p>
                      <a:pPr algn="ctr" fontAlgn="ctr">
                        <a:buNone/>
                      </a:pPr>
                      <a:r>
                        <a:rPr lang="en-US" sz="1100">
                          <a:effectLst/>
                          <a:latin typeface="Raleway" pitchFamily="2" charset="0"/>
                        </a:rPr>
                        <a:t>93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Jakarta Selatan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err="1">
                          <a:effectLst/>
                          <a:latin typeface="Raleway"/>
                        </a:rPr>
                        <a:t>Gelombang</a:t>
                      </a:r>
                      <a:r>
                        <a:rPr lang="en-US" sz="1100">
                          <a:effectLst/>
                          <a:latin typeface="Raleway"/>
                        </a:rPr>
                        <a:t>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Desi </a:t>
                      </a:r>
                      <a:r>
                        <a:rPr lang="en-US" sz="1100" err="1">
                          <a:effectLst/>
                          <a:latin typeface="Raleway"/>
                        </a:rPr>
                        <a:t>Hariyanti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840674428"/>
                  </a:ext>
                </a:extLst>
              </a:tr>
              <a:tr h="113161">
                <a:tc>
                  <a:txBody>
                    <a:bodyPr/>
                    <a:lstStyle/>
                    <a:p>
                      <a:pPr algn="ctr" fontAlgn="ctr">
                        <a:buNone/>
                      </a:pPr>
                      <a:r>
                        <a:rPr lang="en-US" sz="1100">
                          <a:effectLst/>
                          <a:latin typeface="Raleway" pitchFamily="2" charset="0"/>
                        </a:rPr>
                        <a:t>94</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Kudus</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err="1">
                          <a:effectLst/>
                          <a:latin typeface="Raleway"/>
                        </a:rPr>
                        <a:t>Gelombang</a:t>
                      </a:r>
                      <a:r>
                        <a:rPr lang="en-US" sz="1100">
                          <a:effectLst/>
                          <a:latin typeface="Raleway"/>
                        </a:rPr>
                        <a:t> 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Ahmad Rifai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245838979"/>
                  </a:ext>
                </a:extLst>
              </a:tr>
              <a:tr h="113161">
                <a:tc>
                  <a:txBody>
                    <a:bodyPr/>
                    <a:lstStyle/>
                    <a:p>
                      <a:pPr algn="ctr" fontAlgn="ctr">
                        <a:buNone/>
                      </a:pPr>
                      <a:r>
                        <a:rPr lang="en-US" sz="1100">
                          <a:effectLst/>
                          <a:latin typeface="Raleway" pitchFamily="2" charset="0"/>
                        </a:rPr>
                        <a:t>95</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Jakarta Barat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Tidak </a:t>
                      </a:r>
                      <a:r>
                        <a:rPr lang="en-US" sz="1100" err="1">
                          <a:effectLst/>
                          <a:latin typeface="Raleway"/>
                        </a:rPr>
                        <a:t>Terdaftar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Rio Okta </a:t>
                      </a:r>
                      <a:r>
                        <a:rPr lang="en-US" sz="1100" err="1">
                          <a:effectLst/>
                          <a:latin typeface="Raleway"/>
                        </a:rPr>
                        <a:t>Irawadi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986778425"/>
                  </a:ext>
                </a:extLst>
              </a:tr>
              <a:tr h="113161">
                <a:tc>
                  <a:txBody>
                    <a:bodyPr/>
                    <a:lstStyle/>
                    <a:p>
                      <a:pPr algn="ctr" fontAlgn="ctr">
                        <a:buNone/>
                      </a:pPr>
                      <a:r>
                        <a:rPr lang="en-US" sz="1100">
                          <a:effectLst/>
                          <a:latin typeface="Raleway" pitchFamily="2" charset="0"/>
                        </a:rPr>
                        <a:t>96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Depok</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Tidak </a:t>
                      </a:r>
                      <a:r>
                        <a:rPr lang="en-US" sz="1100" err="1">
                          <a:effectLst/>
                          <a:latin typeface="Raleway"/>
                        </a:rPr>
                        <a:t>Terdaftar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Esmu Haji Anindita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566046557"/>
                  </a:ext>
                </a:extLst>
              </a:tr>
              <a:tr h="113161">
                <a:tc>
                  <a:txBody>
                    <a:bodyPr/>
                    <a:lstStyle/>
                    <a:p>
                      <a:pPr algn="ctr" fontAlgn="ctr">
                        <a:buNone/>
                      </a:pPr>
                      <a:r>
                        <a:rPr lang="en-US" sz="1100">
                          <a:effectLst/>
                          <a:latin typeface="Raleway" pitchFamily="2" charset="0"/>
                        </a:rPr>
                        <a:t>97</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Banda Aceh</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Tidak </a:t>
                      </a:r>
                      <a:r>
                        <a:rPr lang="en-US" sz="1100" err="1">
                          <a:effectLst/>
                          <a:latin typeface="Raleway"/>
                        </a:rPr>
                        <a:t>Terdaftar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Ryan </a:t>
                      </a:r>
                      <a:r>
                        <a:rPr lang="en-US" sz="1100" err="1">
                          <a:effectLst/>
                          <a:latin typeface="Raleway"/>
                        </a:rPr>
                        <a:t>Prastia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130120676"/>
                  </a:ext>
                </a:extLst>
              </a:tr>
              <a:tr h="113161">
                <a:tc>
                  <a:txBody>
                    <a:bodyPr/>
                    <a:lstStyle/>
                    <a:p>
                      <a:pPr algn="ctr" fontAlgn="ctr">
                        <a:buNone/>
                      </a:pPr>
                      <a:r>
                        <a:rPr lang="en-US" sz="1100">
                          <a:effectLst/>
                          <a:latin typeface="Raleway" pitchFamily="2" charset="0"/>
                        </a:rPr>
                        <a:t>98</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Sales Taking Order Staff (Chilled) - Tangerang </a:t>
                      </a:r>
                      <a:r>
                        <a:rPr lang="en-US" sz="1100" err="1">
                          <a:effectLst/>
                          <a:latin typeface="Raleway"/>
                        </a:rPr>
                        <a:t>Kabupaten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Tidak </a:t>
                      </a:r>
                      <a:r>
                        <a:rPr lang="en-US" sz="1100" err="1">
                          <a:effectLst/>
                          <a:latin typeface="Raleway"/>
                        </a:rPr>
                        <a:t>Terdaftar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Tiara </a:t>
                      </a:r>
                      <a:r>
                        <a:rPr lang="en-US" sz="1100" err="1">
                          <a:effectLst/>
                          <a:latin typeface="Raleway"/>
                        </a:rPr>
                        <a:t>Sarastiningrum</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332221071"/>
                  </a:ext>
                </a:extLst>
              </a:tr>
              <a:tr h="113161">
                <a:tc>
                  <a:txBody>
                    <a:bodyPr/>
                    <a:lstStyle/>
                    <a:p>
                      <a:pPr algn="ctr" fontAlgn="ctr">
                        <a:buNone/>
                      </a:pPr>
                      <a:r>
                        <a:rPr lang="en-US" sz="1100">
                          <a:effectLst/>
                          <a:latin typeface="Raleway" pitchFamily="2" charset="0"/>
                        </a:rPr>
                        <a:t>99</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Bogor Barat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err="1">
                          <a:effectLst/>
                          <a:latin typeface="Raleway"/>
                        </a:rPr>
                        <a:t>Gelombang</a:t>
                      </a:r>
                      <a:r>
                        <a:rPr lang="en-US" sz="1100">
                          <a:effectLst/>
                          <a:latin typeface="Raleway"/>
                        </a:rPr>
                        <a:t> 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Agung Aji Maulana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865957238"/>
                  </a:ext>
                </a:extLst>
              </a:tr>
              <a:tr h="113161">
                <a:tc>
                  <a:txBody>
                    <a:bodyPr/>
                    <a:lstStyle/>
                    <a:p>
                      <a:pPr algn="ctr" fontAlgn="ctr">
                        <a:buNone/>
                      </a:pPr>
                      <a:r>
                        <a:rPr lang="en-US" sz="1100">
                          <a:effectLst/>
                          <a:latin typeface="Raleway" pitchFamily="2" charset="0"/>
                        </a:rPr>
                        <a:t>100</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Madura Timur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err="1">
                          <a:effectLst/>
                          <a:latin typeface="Raleway"/>
                        </a:rPr>
                        <a:t>Gelombang</a:t>
                      </a:r>
                      <a:r>
                        <a:rPr lang="en-US" sz="1100">
                          <a:effectLst/>
                          <a:latin typeface="Raleway"/>
                        </a:rPr>
                        <a:t> 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Raden Faby Mulya Kusuma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87262432"/>
                  </a:ext>
                </a:extLst>
              </a:tr>
              <a:tr h="113161">
                <a:tc>
                  <a:txBody>
                    <a:bodyPr/>
                    <a:lstStyle/>
                    <a:p>
                      <a:pPr algn="ctr" fontAlgn="ctr">
                        <a:buNone/>
                      </a:pPr>
                      <a:r>
                        <a:rPr lang="en-US" sz="1100">
                          <a:effectLst/>
                          <a:latin typeface="Raleway" pitchFamily="2" charset="0"/>
                        </a:rPr>
                        <a:t>101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Madura Barat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err="1">
                          <a:effectLst/>
                          <a:latin typeface="Raleway"/>
                        </a:rPr>
                        <a:t>Gelombang</a:t>
                      </a:r>
                      <a:r>
                        <a:rPr lang="en-US" sz="1100">
                          <a:effectLst/>
                          <a:latin typeface="Raleway"/>
                        </a:rPr>
                        <a:t> 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Alfian Adi Nugroho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523226498"/>
                  </a:ext>
                </a:extLst>
              </a:tr>
              <a:tr h="113161">
                <a:tc>
                  <a:txBody>
                    <a:bodyPr/>
                    <a:lstStyle/>
                    <a:p>
                      <a:pPr algn="ctr" fontAlgn="ctr">
                        <a:buNone/>
                      </a:pPr>
                      <a:r>
                        <a:rPr lang="en-US" sz="1100">
                          <a:effectLst/>
                          <a:latin typeface="Raleway" pitchFamily="2" charset="0"/>
                        </a:rPr>
                        <a:t>102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Malang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err="1">
                          <a:effectLst/>
                          <a:latin typeface="Raleway"/>
                        </a:rPr>
                        <a:t>Gelombang</a:t>
                      </a:r>
                      <a:r>
                        <a:rPr lang="en-US" sz="1100">
                          <a:effectLst/>
                          <a:latin typeface="Raleway"/>
                        </a:rPr>
                        <a:t> 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Fais Tamami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669042747"/>
                  </a:ext>
                </a:extLst>
              </a:tr>
            </a:tbl>
          </a:graphicData>
        </a:graphic>
      </p:graphicFrame>
      <p:sp>
        <p:nvSpPr>
          <p:cNvPr id="4" name="TextBox 3">
            <a:extLst>
              <a:ext uri="{FF2B5EF4-FFF2-40B4-BE49-F238E27FC236}">
                <a16:creationId xmlns:a16="http://schemas.microsoft.com/office/drawing/2014/main" id="{4615C710-A264-C1E0-42B6-4A58A469F6AD}"/>
              </a:ext>
            </a:extLst>
          </p:cNvPr>
          <p:cNvSpPr txBox="1"/>
          <p:nvPr/>
        </p:nvSpPr>
        <p:spPr>
          <a:xfrm>
            <a:off x="139159" y="6490444"/>
            <a:ext cx="2907067" cy="261610"/>
          </a:xfrm>
          <a:prstGeom prst="rect">
            <a:avLst/>
          </a:prstGeom>
          <a:noFill/>
        </p:spPr>
        <p:txBody>
          <a:bodyPr wrap="square" lIns="91440" tIns="45720" rIns="91440" bIns="45720" rtlCol="0" anchor="t">
            <a:spAutoFit/>
          </a:bodyPr>
          <a:lstStyle/>
          <a:p>
            <a:pPr>
              <a:defRPr/>
            </a:pPr>
            <a:r>
              <a:rPr kumimoji="0" lang="en-US" sz="1100" b="0" i="1" u="none" strike="noStrike" kern="1200" cap="none" spc="0" normalizeH="0" baseline="0" noProof="0">
                <a:ln>
                  <a:noFill/>
                </a:ln>
                <a:solidFill>
                  <a:prstClr val="black"/>
                </a:solidFill>
                <a:effectLst/>
                <a:uLnTx/>
                <a:uFillTx/>
                <a:latin typeface="Raleway"/>
                <a:ea typeface="+mn-ea"/>
                <a:cs typeface="+mn-cs"/>
              </a:rPr>
              <a:t>Update per </a:t>
            </a:r>
            <a:r>
              <a:rPr lang="en-US" sz="1100" i="1">
                <a:solidFill>
                  <a:prstClr val="black"/>
                </a:solidFill>
                <a:latin typeface="Raleway"/>
              </a:rPr>
              <a:t>10 Juli 2026</a:t>
            </a:r>
            <a:endParaRPr lang="en-US">
              <a:solidFill>
                <a:prstClr val="black"/>
              </a:solidFill>
              <a:ea typeface="+mn-ea"/>
              <a:cs typeface="+mn-cs"/>
            </a:endParaRPr>
          </a:p>
        </p:txBody>
      </p:sp>
    </p:spTree>
    <p:extLst>
      <p:ext uri="{BB962C8B-B14F-4D97-AF65-F5344CB8AC3E}">
        <p14:creationId xmlns:p14="http://schemas.microsoft.com/office/powerpoint/2010/main" val="3269118037"/>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84801E4A-B07A-2F68-085B-8ACA20C990AB}"/>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22FC3BFD-6523-5E86-7A4C-A856A7032735}"/>
              </a:ext>
            </a:extLst>
          </p:cNvPr>
          <p:cNvSpPr txBox="1"/>
          <p:nvPr/>
        </p:nvSpPr>
        <p:spPr>
          <a:xfrm>
            <a:off x="139159" y="6533987"/>
            <a:ext cx="2907067" cy="261610"/>
          </a:xfrm>
          <a:prstGeom prst="rect">
            <a:avLst/>
          </a:prstGeom>
          <a:noFill/>
        </p:spPr>
        <p:txBody>
          <a:bodyPr wrap="square" lIns="91440" tIns="45720" rIns="91440" bIns="45720" rtlCol="0" anchor="t">
            <a:spAutoFit/>
          </a:bodyPr>
          <a:lstStyle/>
          <a:p>
            <a:pPr>
              <a:defRPr/>
            </a:pPr>
            <a:r>
              <a:rPr kumimoji="0" lang="en-US" sz="1100" b="0" i="1" u="none" strike="noStrike" kern="1200" cap="none" spc="0" normalizeH="0" baseline="0" noProof="0">
                <a:ln>
                  <a:noFill/>
                </a:ln>
                <a:solidFill>
                  <a:prstClr val="black"/>
                </a:solidFill>
                <a:effectLst/>
                <a:uLnTx/>
                <a:uFillTx/>
                <a:latin typeface="Raleway"/>
                <a:ea typeface="+mn-ea"/>
                <a:cs typeface="+mn-cs"/>
              </a:rPr>
              <a:t>Update per </a:t>
            </a:r>
            <a:r>
              <a:rPr lang="en-US" sz="1100" i="1">
                <a:solidFill>
                  <a:prstClr val="black"/>
                </a:solidFill>
                <a:latin typeface="Raleway"/>
              </a:rPr>
              <a:t>10 Juli 2026</a:t>
            </a:r>
            <a:endParaRPr lang="en-US">
              <a:solidFill>
                <a:prstClr val="black"/>
              </a:solidFill>
              <a:ea typeface="+mn-ea"/>
              <a:cs typeface="+mn-cs"/>
            </a:endParaRPr>
          </a:p>
        </p:txBody>
      </p:sp>
      <p:sp>
        <p:nvSpPr>
          <p:cNvPr id="8" name="TextBox 7">
            <a:extLst>
              <a:ext uri="{FF2B5EF4-FFF2-40B4-BE49-F238E27FC236}">
                <a16:creationId xmlns:a16="http://schemas.microsoft.com/office/drawing/2014/main" id="{2FA38995-1338-E926-695D-346CF2E0861F}"/>
              </a:ext>
            </a:extLst>
          </p:cNvPr>
          <p:cNvSpPr txBox="1"/>
          <p:nvPr/>
        </p:nvSpPr>
        <p:spPr>
          <a:xfrm>
            <a:off x="1153886" y="395513"/>
            <a:ext cx="9884227" cy="1107996"/>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ctr"/>
            <a:r>
              <a:rPr lang="en-US" sz="2400" b="1" err="1">
                <a:latin typeface="Raleway"/>
              </a:rPr>
              <a:t>Pemenuhan</a:t>
            </a:r>
            <a:r>
              <a:rPr lang="en-US" sz="2400" b="1">
                <a:latin typeface="Raleway"/>
              </a:rPr>
              <a:t> SDM STO Chilled</a:t>
            </a:r>
            <a:endParaRPr lang="en-US"/>
          </a:p>
          <a:p>
            <a:pPr algn="ctr"/>
            <a:r>
              <a:rPr lang="en-US" b="1">
                <a:latin typeface="Raleway"/>
              </a:rPr>
              <a:t>List </a:t>
            </a:r>
            <a:r>
              <a:rPr lang="en-US" b="1" err="1">
                <a:latin typeface="Raleway"/>
              </a:rPr>
              <a:t>Kandidat</a:t>
            </a:r>
            <a:r>
              <a:rPr lang="en-US" b="1">
                <a:latin typeface="Raleway"/>
              </a:rPr>
              <a:t> Accept Offer – All </a:t>
            </a:r>
            <a:r>
              <a:rPr lang="en-US" b="1" err="1">
                <a:latin typeface="Raleway"/>
              </a:rPr>
              <a:t>Gelombang</a:t>
            </a:r>
            <a:r>
              <a:rPr lang="en-US" b="1">
                <a:latin typeface="Raleway"/>
              </a:rPr>
              <a:t> dan Tidak </a:t>
            </a:r>
            <a:r>
              <a:rPr lang="en-US" b="1" err="1">
                <a:latin typeface="Raleway"/>
              </a:rPr>
              <a:t>Terdaftar</a:t>
            </a:r>
            <a:r>
              <a:rPr lang="en-US" b="1">
                <a:latin typeface="Raleway"/>
              </a:rPr>
              <a:t> - 116 MPP</a:t>
            </a:r>
          </a:p>
          <a:p>
            <a:endParaRPr lang="en-US" sz="2400" b="1">
              <a:latin typeface="Raleway"/>
            </a:endParaRPr>
          </a:p>
        </p:txBody>
      </p:sp>
      <p:graphicFrame>
        <p:nvGraphicFramePr>
          <p:cNvPr id="4" name="Table 3">
            <a:extLst>
              <a:ext uri="{FF2B5EF4-FFF2-40B4-BE49-F238E27FC236}">
                <a16:creationId xmlns:a16="http://schemas.microsoft.com/office/drawing/2014/main" id="{EA0DDFA3-36B7-A17F-C1B7-B61D4E8C5A10}"/>
              </a:ext>
            </a:extLst>
          </p:cNvPr>
          <p:cNvGraphicFramePr>
            <a:graphicFrameLocks noGrp="1"/>
          </p:cNvGraphicFramePr>
          <p:nvPr/>
        </p:nvGraphicFramePr>
        <p:xfrm>
          <a:off x="1543050" y="1447800"/>
          <a:ext cx="9105900" cy="3600450"/>
        </p:xfrm>
        <a:graphic>
          <a:graphicData uri="http://schemas.openxmlformats.org/drawingml/2006/table">
            <a:tbl>
              <a:tblPr bandRow="1">
                <a:tableStyleId>{5C22544A-7EE6-4342-B048-85BDC9FD1C3A}</a:tableStyleId>
              </a:tblPr>
              <a:tblGrid>
                <a:gridCol w="405834">
                  <a:extLst>
                    <a:ext uri="{9D8B030D-6E8A-4147-A177-3AD203B41FA5}">
                      <a16:colId xmlns:a16="http://schemas.microsoft.com/office/drawing/2014/main" val="1578699823"/>
                    </a:ext>
                  </a:extLst>
                </a:gridCol>
                <a:gridCol w="3715917">
                  <a:extLst>
                    <a:ext uri="{9D8B030D-6E8A-4147-A177-3AD203B41FA5}">
                      <a16:colId xmlns:a16="http://schemas.microsoft.com/office/drawing/2014/main" val="3528483570"/>
                    </a:ext>
                  </a:extLst>
                </a:gridCol>
                <a:gridCol w="1128726">
                  <a:extLst>
                    <a:ext uri="{9D8B030D-6E8A-4147-A177-3AD203B41FA5}">
                      <a16:colId xmlns:a16="http://schemas.microsoft.com/office/drawing/2014/main" val="759045524"/>
                    </a:ext>
                  </a:extLst>
                </a:gridCol>
                <a:gridCol w="773621">
                  <a:extLst>
                    <a:ext uri="{9D8B030D-6E8A-4147-A177-3AD203B41FA5}">
                      <a16:colId xmlns:a16="http://schemas.microsoft.com/office/drawing/2014/main" val="2005544790"/>
                    </a:ext>
                  </a:extLst>
                </a:gridCol>
                <a:gridCol w="773621">
                  <a:extLst>
                    <a:ext uri="{9D8B030D-6E8A-4147-A177-3AD203B41FA5}">
                      <a16:colId xmlns:a16="http://schemas.microsoft.com/office/drawing/2014/main" val="2505573726"/>
                    </a:ext>
                  </a:extLst>
                </a:gridCol>
                <a:gridCol w="2308181">
                  <a:extLst>
                    <a:ext uri="{9D8B030D-6E8A-4147-A177-3AD203B41FA5}">
                      <a16:colId xmlns:a16="http://schemas.microsoft.com/office/drawing/2014/main" val="3726257054"/>
                    </a:ext>
                  </a:extLst>
                </a:gridCol>
              </a:tblGrid>
              <a:tr h="400050">
                <a:tc>
                  <a:txBody>
                    <a:bodyPr/>
                    <a:lstStyle/>
                    <a:p>
                      <a:pPr algn="ctr" fontAlgn="ctr">
                        <a:buNone/>
                      </a:pPr>
                      <a:r>
                        <a:rPr lang="en-US" sz="1100" b="1">
                          <a:solidFill>
                            <a:srgbClr val="FFFFFF"/>
                          </a:solidFill>
                          <a:effectLst/>
                          <a:latin typeface="Raleway" pitchFamily="2" charset="0"/>
                        </a:rPr>
                        <a:t>No.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pitchFamily="2" charset="0"/>
                        </a:rPr>
                        <a:t>Posisi FPTK</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a:rPr>
                        <a:t>Gelombang</a:t>
                      </a:r>
                      <a:endParaRPr lang="en-US" sz="1100" b="1" err="1">
                        <a:solidFill>
                          <a:srgbClr val="FFFFFF"/>
                        </a:solidFill>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a:rPr>
                        <a:t>Tanggal Offering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a:rPr>
                        <a:t>Tanggal Join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a:rPr>
                        <a:t>Nama Kandidat</a:t>
                      </a:r>
                      <a:endParaRPr lang="en-US" sz="1100" b="1" err="1">
                        <a:solidFill>
                          <a:srgbClr val="FFFFFF"/>
                        </a:solidFill>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extLst>
                  <a:ext uri="{0D108BD9-81ED-4DB2-BD59-A6C34878D82A}">
                    <a16:rowId xmlns:a16="http://schemas.microsoft.com/office/drawing/2014/main" val="2377774935"/>
                  </a:ext>
                </a:extLst>
              </a:tr>
              <a:tr h="228600">
                <a:tc>
                  <a:txBody>
                    <a:bodyPr/>
                    <a:lstStyle/>
                    <a:p>
                      <a:pPr algn="ctr" fontAlgn="ctr">
                        <a:buNone/>
                      </a:pPr>
                      <a:r>
                        <a:rPr lang="en-US" sz="1100">
                          <a:effectLst/>
                          <a:latin typeface="Raleway" pitchFamily="2" charset="0"/>
                        </a:rPr>
                        <a:t>103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Sales Taking Order Staff (Chilled) - Sumedang</a:t>
                      </a:r>
                      <a:endParaRPr lang="en-US" sz="11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a:rPr>
                        <a:t>Gelombang 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6-Jul-26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Deni Mulyana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173015752"/>
                  </a:ext>
                </a:extLst>
              </a:tr>
              <a:tr h="228600">
                <a:tc>
                  <a:txBody>
                    <a:bodyPr/>
                    <a:lstStyle/>
                    <a:p>
                      <a:pPr algn="ctr" fontAlgn="ctr">
                        <a:buNone/>
                      </a:pPr>
                      <a:r>
                        <a:rPr lang="en-US" sz="1100">
                          <a:effectLst/>
                          <a:latin typeface="Raleway" pitchFamily="2" charset="0"/>
                        </a:rPr>
                        <a:t>104</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Balikpapan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a:rPr>
                        <a:t>Gelombang 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6-Jul-26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Herni Anriani</a:t>
                      </a:r>
                      <a:endParaRPr lang="en-US" sz="11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426635333"/>
                  </a:ext>
                </a:extLst>
              </a:tr>
              <a:tr h="228600">
                <a:tc>
                  <a:txBody>
                    <a:bodyPr/>
                    <a:lstStyle/>
                    <a:p>
                      <a:pPr algn="ctr" fontAlgn="ctr">
                        <a:buNone/>
                      </a:pPr>
                      <a:r>
                        <a:rPr lang="en-US" sz="1100">
                          <a:effectLst/>
                          <a:latin typeface="Raleway" pitchFamily="2" charset="0"/>
                        </a:rPr>
                        <a:t>105</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Sales Taking Order Staff (Chilled) - Meulaboh</a:t>
                      </a:r>
                      <a:endParaRPr lang="en-US" sz="11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a:rPr>
                        <a:t>Gelombang 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6-Jul-26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Farid Fadli Putra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765267034"/>
                  </a:ext>
                </a:extLst>
              </a:tr>
              <a:tr h="228600">
                <a:tc>
                  <a:txBody>
                    <a:bodyPr/>
                    <a:lstStyle/>
                    <a:p>
                      <a:pPr algn="ctr" fontAlgn="ctr">
                        <a:buNone/>
                      </a:pPr>
                      <a:r>
                        <a:rPr lang="en-US" sz="1100">
                          <a:effectLst/>
                          <a:latin typeface="Raleway" pitchFamily="2" charset="0"/>
                        </a:rPr>
                        <a:t>106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Sales Taking Order Staff (Chilled) - Cianjur</a:t>
                      </a:r>
                      <a:endParaRPr lang="en-US" sz="11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a:rPr>
                        <a:t>Tidak Terdaftar</a:t>
                      </a:r>
                      <a:endParaRPr lang="en-US" sz="11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6-Jul-26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Moh Fariz Yusup</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173313016"/>
                  </a:ext>
                </a:extLst>
              </a:tr>
              <a:tr h="228600">
                <a:tc>
                  <a:txBody>
                    <a:bodyPr/>
                    <a:lstStyle/>
                    <a:p>
                      <a:pPr algn="ctr" fontAlgn="ctr">
                        <a:buNone/>
                      </a:pPr>
                      <a:r>
                        <a:rPr lang="en-US" sz="1100">
                          <a:effectLst/>
                          <a:latin typeface="Raleway" pitchFamily="2" charset="0"/>
                        </a:rPr>
                        <a:t>107</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Jakarta Pusat &amp; Utara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a:rPr>
                        <a:t>Tidak Terdaftar</a:t>
                      </a:r>
                      <a:endParaRPr lang="en-US" sz="11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6-Jul-26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Dzaky Mufhti</a:t>
                      </a:r>
                      <a:endParaRPr lang="en-US" sz="11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878660318"/>
                  </a:ext>
                </a:extLst>
              </a:tr>
              <a:tr h="228600">
                <a:tc>
                  <a:txBody>
                    <a:bodyPr/>
                    <a:lstStyle/>
                    <a:p>
                      <a:pPr algn="ctr" fontAlgn="ctr">
                        <a:buNone/>
                      </a:pPr>
                      <a:r>
                        <a:rPr lang="en-US" sz="1100">
                          <a:effectLst/>
                          <a:latin typeface="Raleway" pitchFamily="2" charset="0"/>
                        </a:rPr>
                        <a:t>108</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Malang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a:rPr>
                        <a:t>Tidak Terdaftar</a:t>
                      </a:r>
                      <a:endParaRPr lang="en-US" sz="11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6-Jul-26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Aditya Sandi Kurniawan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088834614"/>
                  </a:ext>
                </a:extLst>
              </a:tr>
              <a:tr h="228600">
                <a:tc>
                  <a:txBody>
                    <a:bodyPr/>
                    <a:lstStyle/>
                    <a:p>
                      <a:pPr algn="ctr" fontAlgn="ctr">
                        <a:buNone/>
                      </a:pPr>
                      <a:r>
                        <a:rPr lang="en-US" sz="1100">
                          <a:effectLst/>
                          <a:latin typeface="Raleway" pitchFamily="2" charset="0"/>
                        </a:rPr>
                        <a:t>109</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Malang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a:rPr>
                        <a:t>Tidak Terdaftar</a:t>
                      </a:r>
                      <a:endParaRPr lang="en-US" sz="11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6-Jul-26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Fathor Rochman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590580616"/>
                  </a:ext>
                </a:extLst>
              </a:tr>
              <a:tr h="228600">
                <a:tc>
                  <a:txBody>
                    <a:bodyPr/>
                    <a:lstStyle/>
                    <a:p>
                      <a:pPr algn="ctr" fontAlgn="ctr">
                        <a:buNone/>
                      </a:pPr>
                      <a:r>
                        <a:rPr lang="en-US" sz="1100">
                          <a:effectLst/>
                          <a:latin typeface="Raleway" pitchFamily="2" charset="0"/>
                        </a:rPr>
                        <a:t>110</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Malang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a:rPr>
                        <a:t>Tidak Terdaftar</a:t>
                      </a:r>
                      <a:endParaRPr lang="en-US" sz="11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6-Jul-26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1-Aug-26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Moh. Fajar Rizkyanto</a:t>
                      </a:r>
                      <a:endParaRPr lang="en-US" sz="11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297148528"/>
                  </a:ext>
                </a:extLst>
              </a:tr>
              <a:tr h="228600">
                <a:tc>
                  <a:txBody>
                    <a:bodyPr/>
                    <a:lstStyle/>
                    <a:p>
                      <a:pPr algn="ctr" fontAlgn="ctr">
                        <a:buNone/>
                      </a:pPr>
                      <a:r>
                        <a:rPr lang="en-US" sz="1100">
                          <a:effectLst/>
                          <a:latin typeface="Raleway" pitchFamily="2" charset="0"/>
                        </a:rPr>
                        <a:t>111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Sales Taking Order Staff (Chilled) - Purbalingga</a:t>
                      </a:r>
                      <a:endParaRPr lang="en-US" sz="11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a:rPr>
                        <a:t>Tidak Terdaftar</a:t>
                      </a:r>
                      <a:endParaRPr lang="en-US" sz="11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6-Jul-26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Tangguh Dwi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122013521"/>
                  </a:ext>
                </a:extLst>
              </a:tr>
              <a:tr h="228600">
                <a:tc>
                  <a:txBody>
                    <a:bodyPr/>
                    <a:lstStyle/>
                    <a:p>
                      <a:pPr algn="ctr" fontAlgn="ctr">
                        <a:buNone/>
                      </a:pPr>
                      <a:r>
                        <a:rPr lang="en-US" sz="1100">
                          <a:effectLst/>
                          <a:latin typeface="Raleway" pitchFamily="2" charset="0"/>
                        </a:rPr>
                        <a:t>112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Sales Taking Order Staff (Chilled) - Kupang</a:t>
                      </a:r>
                      <a:endParaRPr lang="en-US" sz="11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a:rPr>
                        <a:t>Gelombang 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7-Jul-26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Arnando Octavianus Banoet</a:t>
                      </a:r>
                      <a:endParaRPr lang="en-US" sz="11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668489224"/>
                  </a:ext>
                </a:extLst>
              </a:tr>
              <a:tr h="228600">
                <a:tc>
                  <a:txBody>
                    <a:bodyPr/>
                    <a:lstStyle/>
                    <a:p>
                      <a:pPr algn="ctr" fontAlgn="ctr">
                        <a:buNone/>
                      </a:pPr>
                      <a:r>
                        <a:rPr lang="en-US" sz="1100">
                          <a:effectLst/>
                          <a:latin typeface="Raleway" pitchFamily="2" charset="0"/>
                        </a:rPr>
                        <a:t>113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Sales Taking Order Staff (Chilled) - Pekanbaru</a:t>
                      </a:r>
                      <a:endParaRPr lang="en-US" sz="11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a:rPr>
                        <a:t>Tidak Terdaftar</a:t>
                      </a:r>
                      <a:endParaRPr lang="en-US" sz="11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7-Jul-26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Muhammad Fahri Ramadhan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47462752"/>
                  </a:ext>
                </a:extLst>
              </a:tr>
              <a:tr h="228600">
                <a:tc>
                  <a:txBody>
                    <a:bodyPr/>
                    <a:lstStyle/>
                    <a:p>
                      <a:pPr algn="ctr" fontAlgn="ctr">
                        <a:buNone/>
                      </a:pPr>
                      <a:r>
                        <a:rPr lang="en-US" sz="1100">
                          <a:effectLst/>
                          <a:latin typeface="Raleway" pitchFamily="2" charset="0"/>
                        </a:rPr>
                        <a:t>114</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Sales Taking Order Staff (Chilled) - Sukabumi</a:t>
                      </a:r>
                      <a:endParaRPr lang="en-US" sz="11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a:rPr>
                        <a:t>Tidak Terdaftar</a:t>
                      </a:r>
                      <a:endParaRPr lang="en-US" sz="11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7-Jul-26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Yoko Susanto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657995764"/>
                  </a:ext>
                </a:extLst>
              </a:tr>
              <a:tr h="228600">
                <a:tc>
                  <a:txBody>
                    <a:bodyPr/>
                    <a:lstStyle/>
                    <a:p>
                      <a:pPr algn="ctr" fontAlgn="ctr">
                        <a:buNone/>
                      </a:pPr>
                      <a:r>
                        <a:rPr lang="en-US" sz="1100">
                          <a:effectLst/>
                          <a:latin typeface="Raleway" pitchFamily="2" charset="0"/>
                        </a:rPr>
                        <a:t>115</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Garut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a:rPr>
                        <a:t>Tidak Terdaftar</a:t>
                      </a:r>
                      <a:endParaRPr lang="en-US" sz="11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7-Jul-26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Diman Sulaeman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707478486"/>
                  </a:ext>
                </a:extLst>
              </a:tr>
              <a:tr h="228600">
                <a:tc>
                  <a:txBody>
                    <a:bodyPr/>
                    <a:lstStyle/>
                    <a:p>
                      <a:pPr algn="ctr" fontAlgn="ctr">
                        <a:buNone/>
                      </a:pPr>
                      <a:r>
                        <a:rPr lang="en-US" sz="1100">
                          <a:effectLst/>
                          <a:latin typeface="Raleway" pitchFamily="2" charset="0"/>
                        </a:rPr>
                        <a:t>116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Sales Taking Order Staff (Mix) - Bekasi Kabupaten</a:t>
                      </a:r>
                      <a:endParaRPr lang="en-US" sz="11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a:rPr>
                        <a:t>Tidak Terdaftar</a:t>
                      </a:r>
                      <a:endParaRPr lang="en-US" sz="11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Amung</a:t>
                      </a:r>
                      <a:endParaRPr lang="en-US" sz="11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729449945"/>
                  </a:ext>
                </a:extLst>
              </a:tr>
            </a:tbl>
          </a:graphicData>
        </a:graphic>
      </p:graphicFrame>
    </p:spTree>
    <p:extLst>
      <p:ext uri="{BB962C8B-B14F-4D97-AF65-F5344CB8AC3E}">
        <p14:creationId xmlns:p14="http://schemas.microsoft.com/office/powerpoint/2010/main" val="1847144390"/>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A1509AE8-A2EC-E2C4-377B-F4E0F70F9D9E}"/>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5A5E7391-4C05-1C6F-806A-A59390DE6DCC}"/>
              </a:ext>
            </a:extLst>
          </p:cNvPr>
          <p:cNvSpPr txBox="1"/>
          <p:nvPr/>
        </p:nvSpPr>
        <p:spPr>
          <a:xfrm>
            <a:off x="153673" y="6461415"/>
            <a:ext cx="2907067" cy="261610"/>
          </a:xfrm>
          <a:prstGeom prst="rect">
            <a:avLst/>
          </a:prstGeom>
          <a:noFill/>
        </p:spPr>
        <p:txBody>
          <a:bodyPr wrap="square" lIns="91440" tIns="45720" rIns="91440" bIns="45720" rtlCol="0" anchor="t">
            <a:spAutoFit/>
          </a:bodyPr>
          <a:lstStyle/>
          <a:p>
            <a:pPr>
              <a:defRPr/>
            </a:pPr>
            <a:r>
              <a:rPr kumimoji="0" lang="en-US" sz="1100" b="0" i="1" u="none" strike="noStrike" kern="1200" cap="none" spc="0" normalizeH="0" baseline="0" noProof="0">
                <a:ln>
                  <a:noFill/>
                </a:ln>
                <a:solidFill>
                  <a:prstClr val="black"/>
                </a:solidFill>
                <a:effectLst/>
                <a:uLnTx/>
                <a:uFillTx/>
                <a:latin typeface="Raleway"/>
                <a:ea typeface="+mn-ea"/>
                <a:cs typeface="+mn-cs"/>
              </a:rPr>
              <a:t>Update per </a:t>
            </a:r>
            <a:r>
              <a:rPr lang="en-US" sz="1100" i="1">
                <a:solidFill>
                  <a:prstClr val="black"/>
                </a:solidFill>
                <a:latin typeface="Raleway"/>
              </a:rPr>
              <a:t>10 Juli 2026</a:t>
            </a:r>
            <a:endParaRPr lang="en-US">
              <a:solidFill>
                <a:prstClr val="black"/>
              </a:solidFill>
              <a:ea typeface="+mn-ea"/>
              <a:cs typeface="+mn-cs"/>
            </a:endParaRPr>
          </a:p>
        </p:txBody>
      </p:sp>
      <p:sp>
        <p:nvSpPr>
          <p:cNvPr id="8" name="TextBox 7">
            <a:extLst>
              <a:ext uri="{FF2B5EF4-FFF2-40B4-BE49-F238E27FC236}">
                <a16:creationId xmlns:a16="http://schemas.microsoft.com/office/drawing/2014/main" id="{0E9ABC06-DE88-C6FC-9A1C-7CD2BB357DDE}"/>
              </a:ext>
            </a:extLst>
          </p:cNvPr>
          <p:cNvSpPr txBox="1"/>
          <p:nvPr/>
        </p:nvSpPr>
        <p:spPr>
          <a:xfrm>
            <a:off x="2772229" y="330199"/>
            <a:ext cx="6640285" cy="1107996"/>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ctr"/>
            <a:r>
              <a:rPr lang="en-US" sz="2400" b="1" err="1">
                <a:latin typeface="Raleway"/>
              </a:rPr>
              <a:t>Pemenuhan</a:t>
            </a:r>
            <a:r>
              <a:rPr lang="en-US" sz="2400" b="1">
                <a:latin typeface="Raleway"/>
              </a:rPr>
              <a:t> SDM STO Chilled</a:t>
            </a:r>
            <a:endParaRPr lang="en-US"/>
          </a:p>
          <a:p>
            <a:pPr algn="ctr"/>
            <a:r>
              <a:rPr lang="en-US" b="1">
                <a:latin typeface="Raleway"/>
              </a:rPr>
              <a:t>List </a:t>
            </a:r>
            <a:r>
              <a:rPr lang="en-US" b="1" err="1">
                <a:latin typeface="Raleway"/>
              </a:rPr>
              <a:t>Kandidat</a:t>
            </a:r>
            <a:r>
              <a:rPr lang="en-US" b="1">
                <a:latin typeface="Raleway"/>
              </a:rPr>
              <a:t> Accept Offer – </a:t>
            </a:r>
            <a:r>
              <a:rPr lang="en-US" b="1" err="1">
                <a:latin typeface="Raleway"/>
              </a:rPr>
              <a:t>Gelombang</a:t>
            </a:r>
            <a:r>
              <a:rPr lang="en-US" b="1">
                <a:latin typeface="Raleway"/>
              </a:rPr>
              <a:t> 1</a:t>
            </a:r>
            <a:endParaRPr lang="en-US">
              <a:latin typeface="Raleway"/>
            </a:endParaRPr>
          </a:p>
          <a:p>
            <a:endParaRPr lang="en-US" sz="2400" b="1">
              <a:latin typeface="Raleway"/>
            </a:endParaRPr>
          </a:p>
        </p:txBody>
      </p:sp>
      <p:graphicFrame>
        <p:nvGraphicFramePr>
          <p:cNvPr id="12" name="Table 11">
            <a:extLst>
              <a:ext uri="{FF2B5EF4-FFF2-40B4-BE49-F238E27FC236}">
                <a16:creationId xmlns:a16="http://schemas.microsoft.com/office/drawing/2014/main" id="{88B5ABC9-57AB-AB7E-422A-392F850CA743}"/>
              </a:ext>
            </a:extLst>
          </p:cNvPr>
          <p:cNvGraphicFramePr>
            <a:graphicFrameLocks noGrp="1"/>
          </p:cNvGraphicFramePr>
          <p:nvPr/>
        </p:nvGraphicFramePr>
        <p:xfrm>
          <a:off x="1770743" y="1438501"/>
          <a:ext cx="8636000" cy="4010025"/>
        </p:xfrm>
        <a:graphic>
          <a:graphicData uri="http://schemas.openxmlformats.org/drawingml/2006/table">
            <a:tbl>
              <a:tblPr bandRow="1">
                <a:tableStyleId>{5C22544A-7EE6-4342-B048-85BDC9FD1C3A}</a:tableStyleId>
              </a:tblPr>
              <a:tblGrid>
                <a:gridCol w="431166">
                  <a:extLst>
                    <a:ext uri="{9D8B030D-6E8A-4147-A177-3AD203B41FA5}">
                      <a16:colId xmlns:a16="http://schemas.microsoft.com/office/drawing/2014/main" val="1401787595"/>
                    </a:ext>
                  </a:extLst>
                </a:gridCol>
                <a:gridCol w="3867812">
                  <a:extLst>
                    <a:ext uri="{9D8B030D-6E8A-4147-A177-3AD203B41FA5}">
                      <a16:colId xmlns:a16="http://schemas.microsoft.com/office/drawing/2014/main" val="4261751021"/>
                    </a:ext>
                  </a:extLst>
                </a:gridCol>
                <a:gridCol w="1014508">
                  <a:extLst>
                    <a:ext uri="{9D8B030D-6E8A-4147-A177-3AD203B41FA5}">
                      <a16:colId xmlns:a16="http://schemas.microsoft.com/office/drawing/2014/main" val="1443974245"/>
                    </a:ext>
                  </a:extLst>
                </a:gridCol>
                <a:gridCol w="900376">
                  <a:extLst>
                    <a:ext uri="{9D8B030D-6E8A-4147-A177-3AD203B41FA5}">
                      <a16:colId xmlns:a16="http://schemas.microsoft.com/office/drawing/2014/main" val="4076019914"/>
                    </a:ext>
                  </a:extLst>
                </a:gridCol>
                <a:gridCol w="2422138">
                  <a:extLst>
                    <a:ext uri="{9D8B030D-6E8A-4147-A177-3AD203B41FA5}">
                      <a16:colId xmlns:a16="http://schemas.microsoft.com/office/drawing/2014/main" val="4067262248"/>
                    </a:ext>
                  </a:extLst>
                </a:gridCol>
              </a:tblGrid>
              <a:tr h="381000">
                <a:tc>
                  <a:txBody>
                    <a:bodyPr/>
                    <a:lstStyle/>
                    <a:p>
                      <a:pPr algn="ctr" fontAlgn="ctr">
                        <a:buNone/>
                      </a:pPr>
                      <a:r>
                        <a:rPr lang="en-US" sz="1100" b="1">
                          <a:solidFill>
                            <a:srgbClr val="FFFFFF"/>
                          </a:solidFill>
                          <a:effectLst/>
                          <a:latin typeface="Raleway" pitchFamily="2" charset="0"/>
                        </a:rPr>
                        <a:t>No.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pitchFamily="2" charset="0"/>
                        </a:rPr>
                        <a:t>Posisi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pitchFamily="2" charset="0"/>
                        </a:rPr>
                        <a:t>Tanggal Offering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pitchFamily="2" charset="0"/>
                        </a:rPr>
                        <a:t>Tanggal</a:t>
                      </a:r>
                      <a:br>
                        <a:rPr lang="en-US" sz="1100" b="1">
                          <a:solidFill>
                            <a:srgbClr val="FFFFFF"/>
                          </a:solidFill>
                          <a:effectLst/>
                          <a:latin typeface="Raleway" pitchFamily="2" charset="0"/>
                        </a:rPr>
                      </a:br>
                      <a:r>
                        <a:rPr lang="en-US" sz="1100" b="1">
                          <a:solidFill>
                            <a:srgbClr val="FFFFFF"/>
                          </a:solidFill>
                          <a:effectLst/>
                          <a:latin typeface="Raleway" pitchFamily="2" charset="0"/>
                        </a:rPr>
                        <a:t>Join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pitchFamily="2" charset="0"/>
                        </a:rPr>
                        <a:t>Nama Kandidat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extLst>
                  <a:ext uri="{0D108BD9-81ED-4DB2-BD59-A6C34878D82A}">
                    <a16:rowId xmlns:a16="http://schemas.microsoft.com/office/drawing/2014/main" val="3332058257"/>
                  </a:ext>
                </a:extLst>
              </a:tr>
              <a:tr h="228600">
                <a:tc>
                  <a:txBody>
                    <a:bodyPr/>
                    <a:lstStyle/>
                    <a:p>
                      <a:pPr algn="ctr" fontAlgn="ctr">
                        <a:buNone/>
                      </a:pPr>
                      <a:r>
                        <a:rPr lang="en-US" sz="1100">
                          <a:effectLst/>
                          <a:latin typeface="Raleway" pitchFamily="2" charset="0"/>
                        </a:rPr>
                        <a:t>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Bandung Timur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8-Jun-26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Diki Kurnia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464456875"/>
                  </a:ext>
                </a:extLst>
              </a:tr>
              <a:tr h="238125">
                <a:tc>
                  <a:txBody>
                    <a:bodyPr/>
                    <a:lstStyle/>
                    <a:p>
                      <a:pPr algn="ctr" fontAlgn="ctr">
                        <a:buNone/>
                      </a:pPr>
                      <a:r>
                        <a:rPr lang="en-US" sz="1100">
                          <a:effectLst/>
                          <a:latin typeface="Raleway" pitchFamily="2" charset="0"/>
                        </a:rPr>
                        <a:t>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Gresik</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11-Jun-26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Anisa Maulia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588856471"/>
                  </a:ext>
                </a:extLst>
              </a:tr>
              <a:tr h="238125">
                <a:tc>
                  <a:txBody>
                    <a:bodyPr/>
                    <a:lstStyle/>
                    <a:p>
                      <a:pPr algn="ctr" fontAlgn="ctr">
                        <a:buNone/>
                      </a:pPr>
                      <a:r>
                        <a:rPr lang="en-US" sz="1100">
                          <a:effectLst/>
                          <a:latin typeface="Raleway" pitchFamily="2" charset="0"/>
                        </a:rPr>
                        <a:t>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Bandung Timur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11-Jun-26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Ceceng Jahidin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236623193"/>
                  </a:ext>
                </a:extLst>
              </a:tr>
              <a:tr h="238125">
                <a:tc>
                  <a:txBody>
                    <a:bodyPr/>
                    <a:lstStyle/>
                    <a:p>
                      <a:pPr algn="ctr" fontAlgn="ctr">
                        <a:buNone/>
                      </a:pPr>
                      <a:r>
                        <a:rPr lang="en-US" sz="1100">
                          <a:effectLst/>
                          <a:latin typeface="Raleway" pitchFamily="2" charset="0"/>
                        </a:rPr>
                        <a:t>4</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Bandung Timur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11-Jun-26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Muhammad Ilham</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381627115"/>
                  </a:ext>
                </a:extLst>
              </a:tr>
              <a:tr h="238125">
                <a:tc>
                  <a:txBody>
                    <a:bodyPr/>
                    <a:lstStyle/>
                    <a:p>
                      <a:pPr algn="ctr" fontAlgn="ctr">
                        <a:buNone/>
                      </a:pPr>
                      <a:r>
                        <a:rPr lang="en-US" sz="1100">
                          <a:effectLst/>
                          <a:latin typeface="Raleway" pitchFamily="2" charset="0"/>
                        </a:rPr>
                        <a:t>5</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Bekasi Kabupaten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9-Jun-26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Iqbal Ahmad Sofiyana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073504721"/>
                  </a:ext>
                </a:extLst>
              </a:tr>
              <a:tr h="228600">
                <a:tc>
                  <a:txBody>
                    <a:bodyPr/>
                    <a:lstStyle/>
                    <a:p>
                      <a:pPr algn="ctr" fontAlgn="ctr">
                        <a:buNone/>
                      </a:pPr>
                      <a:r>
                        <a:rPr lang="en-US" sz="1100">
                          <a:effectLst/>
                          <a:latin typeface="Raleway" pitchFamily="2" charset="0"/>
                        </a:rPr>
                        <a:t>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Bogor Barat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16-Jun-26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Rafid Azmi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386851843"/>
                  </a:ext>
                </a:extLst>
              </a:tr>
              <a:tr h="314325">
                <a:tc>
                  <a:txBody>
                    <a:bodyPr/>
                    <a:lstStyle/>
                    <a:p>
                      <a:pPr algn="ctr" fontAlgn="ctr">
                        <a:buNone/>
                      </a:pPr>
                      <a:r>
                        <a:rPr lang="en-US" sz="1100">
                          <a:effectLst/>
                          <a:latin typeface="Raleway" pitchFamily="2" charset="0"/>
                        </a:rPr>
                        <a:t>7</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Depok</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14-Jun-26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Akhmad Nurokhman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332592860"/>
                  </a:ext>
                </a:extLst>
              </a:tr>
              <a:tr h="228600">
                <a:tc>
                  <a:txBody>
                    <a:bodyPr/>
                    <a:lstStyle/>
                    <a:p>
                      <a:pPr algn="ctr" fontAlgn="ctr">
                        <a:buNone/>
                      </a:pPr>
                      <a:r>
                        <a:rPr lang="en-US" sz="1100">
                          <a:effectLst/>
                          <a:latin typeface="Raleway" pitchFamily="2" charset="0"/>
                        </a:rPr>
                        <a:t>8</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Jakarta Timur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11-Jun-26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Wardoyo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17385054"/>
                  </a:ext>
                </a:extLst>
              </a:tr>
              <a:tr h="238125">
                <a:tc>
                  <a:txBody>
                    <a:bodyPr/>
                    <a:lstStyle/>
                    <a:p>
                      <a:pPr algn="ctr" fontAlgn="ctr">
                        <a:buNone/>
                      </a:pPr>
                      <a:r>
                        <a:rPr lang="en-US" sz="1100">
                          <a:effectLst/>
                          <a:latin typeface="Raleway" pitchFamily="2" charset="0"/>
                        </a:rPr>
                        <a:t>9</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Jakarta Timur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16-Jun-26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Irfaatus Sholihah</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240985429"/>
                  </a:ext>
                </a:extLst>
              </a:tr>
              <a:tr h="238125">
                <a:tc>
                  <a:txBody>
                    <a:bodyPr/>
                    <a:lstStyle/>
                    <a:p>
                      <a:pPr algn="ctr" fontAlgn="ctr">
                        <a:buNone/>
                      </a:pPr>
                      <a:r>
                        <a:rPr lang="en-US" sz="1100">
                          <a:effectLst/>
                          <a:latin typeface="Raleway" pitchFamily="2" charset="0"/>
                        </a:rPr>
                        <a:t>10</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Pandeglang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12-Jun-26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Endang Hidayat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565674509"/>
                  </a:ext>
                </a:extLst>
              </a:tr>
              <a:tr h="238125">
                <a:tc>
                  <a:txBody>
                    <a:bodyPr/>
                    <a:lstStyle/>
                    <a:p>
                      <a:pPr algn="ctr" fontAlgn="ctr">
                        <a:buNone/>
                      </a:pPr>
                      <a:r>
                        <a:rPr lang="en-US" sz="1100">
                          <a:effectLst/>
                          <a:latin typeface="Raleway" pitchFamily="2" charset="0"/>
                        </a:rPr>
                        <a:t>11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Semarang Bawah</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9-Jun-26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Fitri Baihaqi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820732766"/>
                  </a:ext>
                </a:extLst>
              </a:tr>
              <a:tr h="238125">
                <a:tc>
                  <a:txBody>
                    <a:bodyPr/>
                    <a:lstStyle/>
                    <a:p>
                      <a:pPr algn="ctr" fontAlgn="ctr">
                        <a:buNone/>
                      </a:pPr>
                      <a:r>
                        <a:rPr lang="en-US" sz="1100">
                          <a:effectLst/>
                          <a:latin typeface="Raleway" pitchFamily="2" charset="0"/>
                        </a:rPr>
                        <a:t>12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Semarang Bawah</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12-Jun-26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Guntur Setyo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599167877"/>
                  </a:ext>
                </a:extLst>
              </a:tr>
              <a:tr h="238125">
                <a:tc>
                  <a:txBody>
                    <a:bodyPr/>
                    <a:lstStyle/>
                    <a:p>
                      <a:pPr algn="ctr" fontAlgn="ctr">
                        <a:buNone/>
                      </a:pPr>
                      <a:r>
                        <a:rPr lang="en-US" sz="1100">
                          <a:effectLst/>
                          <a:latin typeface="Raleway" pitchFamily="2" charset="0"/>
                        </a:rPr>
                        <a:t>13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Semarang Bawah</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12-Jun-26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Ikhsan Maulana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734168981"/>
                  </a:ext>
                </a:extLst>
              </a:tr>
              <a:tr h="238125">
                <a:tc>
                  <a:txBody>
                    <a:bodyPr/>
                    <a:lstStyle/>
                    <a:p>
                      <a:pPr algn="ctr" fontAlgn="ctr">
                        <a:buNone/>
                      </a:pPr>
                      <a:r>
                        <a:rPr lang="en-US" sz="1100">
                          <a:effectLst/>
                          <a:latin typeface="Raleway" pitchFamily="2" charset="0"/>
                        </a:rPr>
                        <a:t>14</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Tangerang Kabupaten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16-Jun-26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Anggi Hermawan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995439222"/>
                  </a:ext>
                </a:extLst>
              </a:tr>
              <a:tr h="238125">
                <a:tc>
                  <a:txBody>
                    <a:bodyPr/>
                    <a:lstStyle/>
                    <a:p>
                      <a:pPr algn="ctr" fontAlgn="ctr">
                        <a:buNone/>
                      </a:pPr>
                      <a:r>
                        <a:rPr lang="en-US" sz="1100">
                          <a:effectLst/>
                          <a:latin typeface="Raleway" pitchFamily="2" charset="0"/>
                        </a:rPr>
                        <a:t>15</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Tangerang Kota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17-Jun-26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Indra Hermanius</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029456821"/>
                  </a:ext>
                </a:extLst>
              </a:tr>
            </a:tbl>
          </a:graphicData>
        </a:graphic>
      </p:graphicFrame>
    </p:spTree>
    <p:extLst>
      <p:ext uri="{BB962C8B-B14F-4D97-AF65-F5344CB8AC3E}">
        <p14:creationId xmlns:p14="http://schemas.microsoft.com/office/powerpoint/2010/main" val="1965137260"/>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BFA07AA5-D3C1-9A8D-B59A-80B251FD7030}"/>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5D804EB8-57DE-7BCE-1921-60BDF430D13E}"/>
              </a:ext>
            </a:extLst>
          </p:cNvPr>
          <p:cNvSpPr txBox="1"/>
          <p:nvPr/>
        </p:nvSpPr>
        <p:spPr>
          <a:xfrm>
            <a:off x="153673" y="6461415"/>
            <a:ext cx="2907067" cy="261610"/>
          </a:xfrm>
          <a:prstGeom prst="rect">
            <a:avLst/>
          </a:prstGeom>
          <a:noFill/>
        </p:spPr>
        <p:txBody>
          <a:bodyPr wrap="square" lIns="91440" tIns="45720" rIns="91440" bIns="45720" rtlCol="0" anchor="t">
            <a:spAutoFit/>
          </a:bodyPr>
          <a:lstStyle/>
          <a:p>
            <a:pPr>
              <a:defRPr/>
            </a:pPr>
            <a:r>
              <a:rPr kumimoji="0" lang="en-US" sz="1100" b="0" i="1" u="none" strike="noStrike" kern="1200" cap="none" spc="0" normalizeH="0" baseline="0" noProof="0">
                <a:ln>
                  <a:noFill/>
                </a:ln>
                <a:solidFill>
                  <a:prstClr val="black"/>
                </a:solidFill>
                <a:effectLst/>
                <a:uLnTx/>
                <a:uFillTx/>
                <a:latin typeface="Raleway"/>
                <a:ea typeface="+mn-ea"/>
                <a:cs typeface="+mn-cs"/>
              </a:rPr>
              <a:t>Update per </a:t>
            </a:r>
            <a:r>
              <a:rPr lang="en-US" sz="1100" i="1">
                <a:solidFill>
                  <a:prstClr val="black"/>
                </a:solidFill>
                <a:latin typeface="Raleway"/>
              </a:rPr>
              <a:t>10 Juli 2026</a:t>
            </a:r>
            <a:endParaRPr lang="en-US">
              <a:solidFill>
                <a:prstClr val="black"/>
              </a:solidFill>
              <a:ea typeface="+mn-ea"/>
              <a:cs typeface="+mn-cs"/>
            </a:endParaRPr>
          </a:p>
        </p:txBody>
      </p:sp>
      <p:graphicFrame>
        <p:nvGraphicFramePr>
          <p:cNvPr id="5" name="Table 4">
            <a:extLst>
              <a:ext uri="{FF2B5EF4-FFF2-40B4-BE49-F238E27FC236}">
                <a16:creationId xmlns:a16="http://schemas.microsoft.com/office/drawing/2014/main" id="{E83DD5D7-C683-E8DF-4C46-BBFA4E7ABF37}"/>
              </a:ext>
            </a:extLst>
          </p:cNvPr>
          <p:cNvGraphicFramePr>
            <a:graphicFrameLocks noGrp="1"/>
          </p:cNvGraphicFramePr>
          <p:nvPr/>
        </p:nvGraphicFramePr>
        <p:xfrm>
          <a:off x="1770743" y="1442357"/>
          <a:ext cx="8636000" cy="4067503"/>
        </p:xfrm>
        <a:graphic>
          <a:graphicData uri="http://schemas.openxmlformats.org/drawingml/2006/table">
            <a:tbl>
              <a:tblPr bandRow="1">
                <a:tableStyleId>{5C22544A-7EE6-4342-B048-85BDC9FD1C3A}</a:tableStyleId>
              </a:tblPr>
              <a:tblGrid>
                <a:gridCol w="431166">
                  <a:extLst>
                    <a:ext uri="{9D8B030D-6E8A-4147-A177-3AD203B41FA5}">
                      <a16:colId xmlns:a16="http://schemas.microsoft.com/office/drawing/2014/main" val="160896830"/>
                    </a:ext>
                  </a:extLst>
                </a:gridCol>
                <a:gridCol w="3867812">
                  <a:extLst>
                    <a:ext uri="{9D8B030D-6E8A-4147-A177-3AD203B41FA5}">
                      <a16:colId xmlns:a16="http://schemas.microsoft.com/office/drawing/2014/main" val="1671510190"/>
                    </a:ext>
                  </a:extLst>
                </a:gridCol>
                <a:gridCol w="1014508">
                  <a:extLst>
                    <a:ext uri="{9D8B030D-6E8A-4147-A177-3AD203B41FA5}">
                      <a16:colId xmlns:a16="http://schemas.microsoft.com/office/drawing/2014/main" val="1371487532"/>
                    </a:ext>
                  </a:extLst>
                </a:gridCol>
                <a:gridCol w="900376">
                  <a:extLst>
                    <a:ext uri="{9D8B030D-6E8A-4147-A177-3AD203B41FA5}">
                      <a16:colId xmlns:a16="http://schemas.microsoft.com/office/drawing/2014/main" val="3815460262"/>
                    </a:ext>
                  </a:extLst>
                </a:gridCol>
                <a:gridCol w="2422138">
                  <a:extLst>
                    <a:ext uri="{9D8B030D-6E8A-4147-A177-3AD203B41FA5}">
                      <a16:colId xmlns:a16="http://schemas.microsoft.com/office/drawing/2014/main" val="1244576144"/>
                    </a:ext>
                  </a:extLst>
                </a:gridCol>
              </a:tblGrid>
              <a:tr h="381000">
                <a:tc>
                  <a:txBody>
                    <a:bodyPr/>
                    <a:lstStyle/>
                    <a:p>
                      <a:pPr algn="ctr" fontAlgn="ctr">
                        <a:buNone/>
                      </a:pPr>
                      <a:r>
                        <a:rPr lang="en-US" sz="1100" b="1">
                          <a:solidFill>
                            <a:srgbClr val="FFFFFF"/>
                          </a:solidFill>
                          <a:effectLst/>
                          <a:latin typeface="Raleway" pitchFamily="2" charset="0"/>
                        </a:rPr>
                        <a:t>No.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pitchFamily="2" charset="0"/>
                        </a:rPr>
                        <a:t>Posisi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pitchFamily="2" charset="0"/>
                        </a:rPr>
                        <a:t>Tanggal Offering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pitchFamily="2" charset="0"/>
                        </a:rPr>
                        <a:t>Tanggal</a:t>
                      </a:r>
                      <a:br>
                        <a:rPr lang="en-US" sz="1100" b="1">
                          <a:solidFill>
                            <a:srgbClr val="FFFFFF"/>
                          </a:solidFill>
                          <a:effectLst/>
                          <a:latin typeface="Raleway" pitchFamily="2" charset="0"/>
                        </a:rPr>
                      </a:br>
                      <a:r>
                        <a:rPr lang="en-US" sz="1100" b="1">
                          <a:solidFill>
                            <a:srgbClr val="FFFFFF"/>
                          </a:solidFill>
                          <a:effectLst/>
                          <a:latin typeface="Raleway" pitchFamily="2" charset="0"/>
                        </a:rPr>
                        <a:t>Join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pitchFamily="2" charset="0"/>
                        </a:rPr>
                        <a:t>Nama Kandidat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extLst>
                  <a:ext uri="{0D108BD9-81ED-4DB2-BD59-A6C34878D82A}">
                    <a16:rowId xmlns:a16="http://schemas.microsoft.com/office/drawing/2014/main" val="1758296179"/>
                  </a:ext>
                </a:extLst>
              </a:tr>
              <a:tr h="238125">
                <a:tc>
                  <a:txBody>
                    <a:bodyPr/>
                    <a:lstStyle/>
                    <a:p>
                      <a:pPr algn="ctr" fontAlgn="ctr">
                        <a:buNone/>
                      </a:pPr>
                      <a:r>
                        <a:rPr lang="en-US" sz="1100">
                          <a:effectLst/>
                          <a:latin typeface="Raleway" pitchFamily="2" charset="0"/>
                        </a:rPr>
                        <a:t>16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Tangerang Selatan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Dwi Prasetyo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576509431"/>
                  </a:ext>
                </a:extLst>
              </a:tr>
              <a:tr h="314325">
                <a:tc>
                  <a:txBody>
                    <a:bodyPr/>
                    <a:lstStyle/>
                    <a:p>
                      <a:pPr algn="ctr" fontAlgn="ctr">
                        <a:buNone/>
                      </a:pPr>
                      <a:r>
                        <a:rPr lang="en-US" sz="1100">
                          <a:effectLst/>
                          <a:latin typeface="Raleway" pitchFamily="2" charset="0"/>
                        </a:rPr>
                        <a:t>17</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Tangerang Selatan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12-Jun-26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Pramudya Ananta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569658687"/>
                  </a:ext>
                </a:extLst>
              </a:tr>
              <a:tr h="295603">
                <a:tc>
                  <a:txBody>
                    <a:bodyPr/>
                    <a:lstStyle/>
                    <a:p>
                      <a:pPr algn="ctr" fontAlgn="ctr">
                        <a:buNone/>
                      </a:pPr>
                      <a:r>
                        <a:rPr lang="en-US" sz="1100">
                          <a:effectLst/>
                          <a:latin typeface="Raleway" pitchFamily="2" charset="0"/>
                        </a:rPr>
                        <a:t>18</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Tangerang Selatan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13-Jun-26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Ibnu Zazuli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435601575"/>
                  </a:ext>
                </a:extLst>
              </a:tr>
              <a:tr h="228600">
                <a:tc>
                  <a:txBody>
                    <a:bodyPr/>
                    <a:lstStyle/>
                    <a:p>
                      <a:pPr algn="ctr" fontAlgn="ctr">
                        <a:buNone/>
                      </a:pPr>
                      <a:r>
                        <a:rPr lang="en-US" sz="1100">
                          <a:effectLst/>
                          <a:latin typeface="Raleway" pitchFamily="2" charset="0"/>
                        </a:rPr>
                        <a:t>19</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Bandung Barat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24-Jun-26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Vernon Simatupang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698903227"/>
                  </a:ext>
                </a:extLst>
              </a:tr>
              <a:tr h="228600">
                <a:tc>
                  <a:txBody>
                    <a:bodyPr/>
                    <a:lstStyle/>
                    <a:p>
                      <a:pPr algn="ctr" fontAlgn="ctr">
                        <a:buNone/>
                      </a:pPr>
                      <a:r>
                        <a:rPr lang="en-US" sz="1100">
                          <a:effectLst/>
                          <a:latin typeface="Raleway" pitchFamily="2" charset="0"/>
                        </a:rPr>
                        <a:t>20</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Surabaya Barat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15-Jun-26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Robby Tegar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147708514"/>
                  </a:ext>
                </a:extLst>
              </a:tr>
              <a:tr h="228600">
                <a:tc>
                  <a:txBody>
                    <a:bodyPr/>
                    <a:lstStyle/>
                    <a:p>
                      <a:pPr algn="ctr" fontAlgn="ctr">
                        <a:buNone/>
                      </a:pPr>
                      <a:r>
                        <a:rPr lang="en-US" sz="1100">
                          <a:effectLst/>
                          <a:latin typeface="Raleway" pitchFamily="2" charset="0"/>
                        </a:rPr>
                        <a:t>21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Bekasi Kota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18-Jun-26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Oman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752280018"/>
                  </a:ext>
                </a:extLst>
              </a:tr>
              <a:tr h="228600">
                <a:tc>
                  <a:txBody>
                    <a:bodyPr/>
                    <a:lstStyle/>
                    <a:p>
                      <a:pPr algn="ctr" fontAlgn="ctr">
                        <a:buNone/>
                      </a:pPr>
                      <a:r>
                        <a:rPr lang="en-US" sz="1100">
                          <a:effectLst/>
                          <a:latin typeface="Raleway" pitchFamily="2" charset="0"/>
                        </a:rPr>
                        <a:t>22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Surabaya Barat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17-Jun-26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Dany Setiawan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76085711"/>
                  </a:ext>
                </a:extLst>
              </a:tr>
              <a:tr h="228600">
                <a:tc>
                  <a:txBody>
                    <a:bodyPr/>
                    <a:lstStyle/>
                    <a:p>
                      <a:pPr algn="ctr" fontAlgn="ctr">
                        <a:buNone/>
                      </a:pPr>
                      <a:r>
                        <a:rPr lang="en-US" sz="1100">
                          <a:effectLst/>
                          <a:latin typeface="Raleway" pitchFamily="2" charset="0"/>
                        </a:rPr>
                        <a:t>23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Surabaya Timur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12-Jun-26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Muhamad Rizki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742025656"/>
                  </a:ext>
                </a:extLst>
              </a:tr>
              <a:tr h="228600">
                <a:tc>
                  <a:txBody>
                    <a:bodyPr/>
                    <a:lstStyle/>
                    <a:p>
                      <a:pPr algn="ctr" fontAlgn="ctr">
                        <a:buNone/>
                      </a:pPr>
                      <a:r>
                        <a:rPr lang="en-US" sz="1100">
                          <a:effectLst/>
                          <a:latin typeface="Raleway" pitchFamily="2" charset="0"/>
                        </a:rPr>
                        <a:t>24</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Jakarta Pusat &amp; Utara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16-Jun-26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Muhamad Noer Kholid</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979335563"/>
                  </a:ext>
                </a:extLst>
              </a:tr>
              <a:tr h="314325">
                <a:tc>
                  <a:txBody>
                    <a:bodyPr/>
                    <a:lstStyle/>
                    <a:p>
                      <a:pPr algn="ctr" fontAlgn="ctr">
                        <a:buNone/>
                      </a:pPr>
                      <a:r>
                        <a:rPr lang="en-US" sz="1100">
                          <a:effectLst/>
                          <a:latin typeface="Raleway" pitchFamily="2" charset="0"/>
                        </a:rPr>
                        <a:t>25</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Jakarta Pusat &amp; Utara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26-Jun-26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Abdul Haris Nasution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515183345"/>
                  </a:ext>
                </a:extLst>
              </a:tr>
              <a:tr h="228600">
                <a:tc>
                  <a:txBody>
                    <a:bodyPr/>
                    <a:lstStyle/>
                    <a:p>
                      <a:pPr algn="ctr" fontAlgn="ctr">
                        <a:buNone/>
                      </a:pPr>
                      <a:r>
                        <a:rPr lang="en-US" sz="1100">
                          <a:effectLst/>
                          <a:latin typeface="Raleway" pitchFamily="2" charset="0"/>
                        </a:rPr>
                        <a:t>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Surabaya Timur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22-Jun-26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Egar Aditya Affandi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830788574"/>
                  </a:ext>
                </a:extLst>
              </a:tr>
              <a:tr h="228600">
                <a:tc>
                  <a:txBody>
                    <a:bodyPr/>
                    <a:lstStyle/>
                    <a:p>
                      <a:pPr algn="ctr" fontAlgn="ctr">
                        <a:buNone/>
                      </a:pPr>
                      <a:r>
                        <a:rPr lang="en-US" sz="1100">
                          <a:effectLst/>
                          <a:latin typeface="Raleway" pitchFamily="2" charset="0"/>
                        </a:rPr>
                        <a:t>27</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Semarang Atas</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24-Jun-26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Nurman Santiko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18001839"/>
                  </a:ext>
                </a:extLst>
              </a:tr>
              <a:tr h="228600">
                <a:tc>
                  <a:txBody>
                    <a:bodyPr/>
                    <a:lstStyle/>
                    <a:p>
                      <a:pPr algn="ctr" fontAlgn="ctr">
                        <a:buNone/>
                      </a:pPr>
                      <a:r>
                        <a:rPr lang="en-US" sz="1100">
                          <a:effectLst/>
                          <a:latin typeface="Raleway" pitchFamily="2" charset="0"/>
                        </a:rPr>
                        <a:t>28</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Semarang Bawah</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19-Jun-26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Ananda Maulana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149571020"/>
                  </a:ext>
                </a:extLst>
              </a:tr>
              <a:tr h="228600">
                <a:tc>
                  <a:txBody>
                    <a:bodyPr/>
                    <a:lstStyle/>
                    <a:p>
                      <a:pPr algn="ctr" fontAlgn="ctr">
                        <a:buNone/>
                      </a:pPr>
                      <a:r>
                        <a:rPr lang="en-US" sz="1100">
                          <a:effectLst/>
                          <a:latin typeface="Raleway" pitchFamily="2" charset="0"/>
                        </a:rPr>
                        <a:t>29</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Serang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19-Jun-26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Eka Fajar Fitriansah</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741832237"/>
                  </a:ext>
                </a:extLst>
              </a:tr>
              <a:tr h="228600">
                <a:tc>
                  <a:txBody>
                    <a:bodyPr/>
                    <a:lstStyle/>
                    <a:p>
                      <a:pPr algn="ctr" fontAlgn="ctr">
                        <a:buNone/>
                      </a:pPr>
                      <a:r>
                        <a:rPr lang="en-US" sz="1100">
                          <a:effectLst/>
                          <a:latin typeface="Raleway" pitchFamily="2" charset="0"/>
                        </a:rPr>
                        <a:t>30</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Semarang Atas</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26-Jun-26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Andi Septianto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105545030"/>
                  </a:ext>
                </a:extLst>
              </a:tr>
            </a:tbl>
          </a:graphicData>
        </a:graphic>
      </p:graphicFrame>
      <p:sp>
        <p:nvSpPr>
          <p:cNvPr id="9" name="TextBox 8">
            <a:extLst>
              <a:ext uri="{FF2B5EF4-FFF2-40B4-BE49-F238E27FC236}">
                <a16:creationId xmlns:a16="http://schemas.microsoft.com/office/drawing/2014/main" id="{6FE0D72D-4349-05DA-2662-7F34CBAC78A8}"/>
              </a:ext>
            </a:extLst>
          </p:cNvPr>
          <p:cNvSpPr txBox="1"/>
          <p:nvPr/>
        </p:nvSpPr>
        <p:spPr>
          <a:xfrm>
            <a:off x="2772229" y="330199"/>
            <a:ext cx="6640285" cy="1107996"/>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ctr"/>
            <a:r>
              <a:rPr lang="en-US" sz="2400" b="1" err="1">
                <a:latin typeface="Raleway"/>
              </a:rPr>
              <a:t>Pemenuhan</a:t>
            </a:r>
            <a:r>
              <a:rPr lang="en-US" sz="2400" b="1">
                <a:latin typeface="Raleway"/>
              </a:rPr>
              <a:t> SDM STO Chilled</a:t>
            </a:r>
            <a:endParaRPr lang="en-US"/>
          </a:p>
          <a:p>
            <a:pPr algn="ctr"/>
            <a:r>
              <a:rPr lang="en-US" b="1">
                <a:latin typeface="Raleway"/>
              </a:rPr>
              <a:t>List </a:t>
            </a:r>
            <a:r>
              <a:rPr lang="en-US" b="1" err="1">
                <a:latin typeface="Raleway"/>
              </a:rPr>
              <a:t>Kandidat</a:t>
            </a:r>
            <a:r>
              <a:rPr lang="en-US" b="1">
                <a:latin typeface="Raleway"/>
              </a:rPr>
              <a:t> Accept Offer – </a:t>
            </a:r>
            <a:r>
              <a:rPr lang="en-US" b="1" err="1">
                <a:latin typeface="Raleway"/>
              </a:rPr>
              <a:t>Gelombang</a:t>
            </a:r>
            <a:r>
              <a:rPr lang="en-US" b="1">
                <a:latin typeface="Raleway"/>
              </a:rPr>
              <a:t> 1</a:t>
            </a:r>
            <a:endParaRPr lang="en-US">
              <a:latin typeface="Raleway"/>
            </a:endParaRPr>
          </a:p>
          <a:p>
            <a:endParaRPr lang="en-US" sz="2400" b="1">
              <a:latin typeface="Raleway"/>
            </a:endParaRPr>
          </a:p>
        </p:txBody>
      </p:sp>
    </p:spTree>
    <p:extLst>
      <p:ext uri="{BB962C8B-B14F-4D97-AF65-F5344CB8AC3E}">
        <p14:creationId xmlns:p14="http://schemas.microsoft.com/office/powerpoint/2010/main" val="3129354324"/>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81F2E76A-C649-7C50-D1E6-1526B9C83E10}"/>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C330CFFD-76CA-4EED-E48E-8307B8BAEA50}"/>
              </a:ext>
            </a:extLst>
          </p:cNvPr>
          <p:cNvSpPr txBox="1"/>
          <p:nvPr/>
        </p:nvSpPr>
        <p:spPr>
          <a:xfrm>
            <a:off x="153673" y="6461415"/>
            <a:ext cx="2907067" cy="261610"/>
          </a:xfrm>
          <a:prstGeom prst="rect">
            <a:avLst/>
          </a:prstGeom>
          <a:noFill/>
        </p:spPr>
        <p:txBody>
          <a:bodyPr wrap="square" lIns="91440" tIns="45720" rIns="91440" bIns="45720" rtlCol="0" anchor="t">
            <a:spAutoFit/>
          </a:bodyPr>
          <a:lstStyle/>
          <a:p>
            <a:pPr>
              <a:defRPr/>
            </a:pPr>
            <a:r>
              <a:rPr kumimoji="0" lang="en-US" sz="1100" b="0" i="1" u="none" strike="noStrike" kern="1200" cap="none" spc="0" normalizeH="0" baseline="0" noProof="0">
                <a:ln>
                  <a:noFill/>
                </a:ln>
                <a:solidFill>
                  <a:prstClr val="black"/>
                </a:solidFill>
                <a:effectLst/>
                <a:uLnTx/>
                <a:uFillTx/>
                <a:latin typeface="Raleway"/>
                <a:ea typeface="+mn-ea"/>
                <a:cs typeface="+mn-cs"/>
              </a:rPr>
              <a:t>Update per </a:t>
            </a:r>
            <a:r>
              <a:rPr lang="en-US" sz="1100" i="1">
                <a:solidFill>
                  <a:prstClr val="black"/>
                </a:solidFill>
                <a:latin typeface="Raleway"/>
              </a:rPr>
              <a:t>10 Juli 2026</a:t>
            </a:r>
            <a:endParaRPr lang="en-US">
              <a:solidFill>
                <a:prstClr val="black"/>
              </a:solidFill>
              <a:ea typeface="+mn-ea"/>
              <a:cs typeface="+mn-cs"/>
            </a:endParaRPr>
          </a:p>
        </p:txBody>
      </p:sp>
      <p:graphicFrame>
        <p:nvGraphicFramePr>
          <p:cNvPr id="3" name="Table 2">
            <a:extLst>
              <a:ext uri="{FF2B5EF4-FFF2-40B4-BE49-F238E27FC236}">
                <a16:creationId xmlns:a16="http://schemas.microsoft.com/office/drawing/2014/main" id="{52A105BC-79D5-160A-1A74-B0AE25E924A3}"/>
              </a:ext>
            </a:extLst>
          </p:cNvPr>
          <p:cNvGraphicFramePr>
            <a:graphicFrameLocks noGrp="1"/>
          </p:cNvGraphicFramePr>
          <p:nvPr/>
        </p:nvGraphicFramePr>
        <p:xfrm>
          <a:off x="1770743" y="1439408"/>
          <a:ext cx="8636000" cy="3819525"/>
        </p:xfrm>
        <a:graphic>
          <a:graphicData uri="http://schemas.openxmlformats.org/drawingml/2006/table">
            <a:tbl>
              <a:tblPr bandRow="1">
                <a:tableStyleId>{5C22544A-7EE6-4342-B048-85BDC9FD1C3A}</a:tableStyleId>
              </a:tblPr>
              <a:tblGrid>
                <a:gridCol w="431166">
                  <a:extLst>
                    <a:ext uri="{9D8B030D-6E8A-4147-A177-3AD203B41FA5}">
                      <a16:colId xmlns:a16="http://schemas.microsoft.com/office/drawing/2014/main" val="370744773"/>
                    </a:ext>
                  </a:extLst>
                </a:gridCol>
                <a:gridCol w="3867812">
                  <a:extLst>
                    <a:ext uri="{9D8B030D-6E8A-4147-A177-3AD203B41FA5}">
                      <a16:colId xmlns:a16="http://schemas.microsoft.com/office/drawing/2014/main" val="1179775132"/>
                    </a:ext>
                  </a:extLst>
                </a:gridCol>
                <a:gridCol w="1014508">
                  <a:extLst>
                    <a:ext uri="{9D8B030D-6E8A-4147-A177-3AD203B41FA5}">
                      <a16:colId xmlns:a16="http://schemas.microsoft.com/office/drawing/2014/main" val="958543071"/>
                    </a:ext>
                  </a:extLst>
                </a:gridCol>
                <a:gridCol w="900376">
                  <a:extLst>
                    <a:ext uri="{9D8B030D-6E8A-4147-A177-3AD203B41FA5}">
                      <a16:colId xmlns:a16="http://schemas.microsoft.com/office/drawing/2014/main" val="2306528032"/>
                    </a:ext>
                  </a:extLst>
                </a:gridCol>
                <a:gridCol w="2422138">
                  <a:extLst>
                    <a:ext uri="{9D8B030D-6E8A-4147-A177-3AD203B41FA5}">
                      <a16:colId xmlns:a16="http://schemas.microsoft.com/office/drawing/2014/main" val="3377606120"/>
                    </a:ext>
                  </a:extLst>
                </a:gridCol>
              </a:tblGrid>
              <a:tr h="381000">
                <a:tc>
                  <a:txBody>
                    <a:bodyPr/>
                    <a:lstStyle/>
                    <a:p>
                      <a:pPr algn="ctr" fontAlgn="ctr">
                        <a:buNone/>
                      </a:pPr>
                      <a:r>
                        <a:rPr lang="en-US" sz="1100" b="1">
                          <a:solidFill>
                            <a:srgbClr val="FFFFFF"/>
                          </a:solidFill>
                          <a:effectLst/>
                          <a:latin typeface="Raleway" pitchFamily="2" charset="0"/>
                        </a:rPr>
                        <a:t>No.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a:rPr>
                        <a:t>Posisi</a:t>
                      </a:r>
                      <a:endParaRPr lang="en-US" sz="1100" b="1" err="1">
                        <a:solidFill>
                          <a:srgbClr val="FFFFFF"/>
                        </a:solidFill>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a:rPr>
                        <a:t>Tanggal Offering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a:rPr>
                        <a:t>Tanggal</a:t>
                      </a:r>
                      <a:br>
                        <a:rPr lang="en-US" sz="1100" b="1">
                          <a:solidFill>
                            <a:srgbClr val="FFFFFF"/>
                          </a:solidFill>
                          <a:effectLst/>
                          <a:latin typeface="Raleway"/>
                        </a:rPr>
                      </a:br>
                      <a:r>
                        <a:rPr lang="en-US" sz="1100" b="1">
                          <a:solidFill>
                            <a:srgbClr val="FFFFFF"/>
                          </a:solidFill>
                          <a:effectLst/>
                          <a:latin typeface="Raleway"/>
                        </a:rPr>
                        <a:t>Join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a:solidFill>
                            <a:srgbClr val="FFFFFF"/>
                          </a:solidFill>
                          <a:effectLst/>
                          <a:latin typeface="Raleway"/>
                        </a:rPr>
                        <a:t>Nama Kandidat</a:t>
                      </a:r>
                      <a:endParaRPr lang="en-US" sz="1100" b="1" err="1">
                        <a:solidFill>
                          <a:srgbClr val="FFFFFF"/>
                        </a:solidFill>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extLst>
                  <a:ext uri="{0D108BD9-81ED-4DB2-BD59-A6C34878D82A}">
                    <a16:rowId xmlns:a16="http://schemas.microsoft.com/office/drawing/2014/main" val="3001677398"/>
                  </a:ext>
                </a:extLst>
              </a:tr>
              <a:tr h="228600">
                <a:tc>
                  <a:txBody>
                    <a:bodyPr/>
                    <a:lstStyle/>
                    <a:p>
                      <a:pPr algn="ctr" fontAlgn="ctr">
                        <a:buNone/>
                      </a:pPr>
                      <a:r>
                        <a:rPr lang="en-US" sz="1100">
                          <a:effectLst/>
                          <a:latin typeface="Raleway" pitchFamily="2" charset="0"/>
                        </a:rPr>
                        <a:t>31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Semarang Bawah</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26-Jun-26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Saevul Amri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610755015"/>
                  </a:ext>
                </a:extLst>
              </a:tr>
              <a:tr h="228600">
                <a:tc>
                  <a:txBody>
                    <a:bodyPr/>
                    <a:lstStyle/>
                    <a:p>
                      <a:pPr algn="ctr" fontAlgn="ctr">
                        <a:buNone/>
                      </a:pPr>
                      <a:r>
                        <a:rPr lang="en-US" sz="1100">
                          <a:effectLst/>
                          <a:latin typeface="Raleway" pitchFamily="2" charset="0"/>
                        </a:rPr>
                        <a:t>32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Jakarta Pusat &amp; Utara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27-Jun-26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Ravael Andika Ruwayish</a:t>
                      </a:r>
                      <a:endParaRPr lang="en-US" sz="11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119046222"/>
                  </a:ext>
                </a:extLst>
              </a:tr>
              <a:tr h="228600">
                <a:tc>
                  <a:txBody>
                    <a:bodyPr/>
                    <a:lstStyle/>
                    <a:p>
                      <a:pPr algn="ctr" fontAlgn="ctr">
                        <a:buNone/>
                      </a:pPr>
                      <a:r>
                        <a:rPr lang="en-US" sz="1100">
                          <a:effectLst/>
                          <a:latin typeface="Raleway" pitchFamily="2" charset="0"/>
                        </a:rPr>
                        <a:t>33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Bali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29-Jun-26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Ivan Bagas Kurniawan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653760566"/>
                  </a:ext>
                </a:extLst>
              </a:tr>
              <a:tr h="228600">
                <a:tc>
                  <a:txBody>
                    <a:bodyPr/>
                    <a:lstStyle/>
                    <a:p>
                      <a:pPr algn="ctr" fontAlgn="ctr">
                        <a:buNone/>
                      </a:pPr>
                      <a:r>
                        <a:rPr lang="en-US" sz="1100">
                          <a:effectLst/>
                          <a:latin typeface="Raleway" pitchFamily="2" charset="0"/>
                        </a:rPr>
                        <a:t>34</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Bogor Barat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14-Jun-26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Dwi Hestu Priyono</a:t>
                      </a:r>
                      <a:endParaRPr lang="en-US" sz="11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794361995"/>
                  </a:ext>
                </a:extLst>
              </a:tr>
              <a:tr h="228600">
                <a:tc>
                  <a:txBody>
                    <a:bodyPr/>
                    <a:lstStyle/>
                    <a:p>
                      <a:pPr algn="ctr" fontAlgn="ctr">
                        <a:buNone/>
                      </a:pPr>
                      <a:r>
                        <a:rPr lang="en-US" sz="1100">
                          <a:effectLst/>
                          <a:latin typeface="Raleway" pitchFamily="2" charset="0"/>
                        </a:rPr>
                        <a:t>35</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Bandung Barat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29-Jun-26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Imam Zalaludin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602526488"/>
                  </a:ext>
                </a:extLst>
              </a:tr>
              <a:tr h="228600">
                <a:tc>
                  <a:txBody>
                    <a:bodyPr/>
                    <a:lstStyle/>
                    <a:p>
                      <a:pPr algn="ctr" fontAlgn="ctr">
                        <a:buNone/>
                      </a:pPr>
                      <a:r>
                        <a:rPr lang="en-US" sz="1100">
                          <a:effectLst/>
                          <a:latin typeface="Raleway" pitchFamily="2" charset="0"/>
                        </a:rPr>
                        <a:t>36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Bogor Barat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Agung Aji Maulana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208495646"/>
                  </a:ext>
                </a:extLst>
              </a:tr>
              <a:tr h="228600">
                <a:tc>
                  <a:txBody>
                    <a:bodyPr/>
                    <a:lstStyle/>
                    <a:p>
                      <a:pPr algn="ctr" fontAlgn="ctr">
                        <a:buNone/>
                      </a:pPr>
                      <a:r>
                        <a:rPr lang="en-US" sz="1100">
                          <a:effectLst/>
                          <a:latin typeface="Raleway" pitchFamily="2" charset="0"/>
                        </a:rPr>
                        <a:t>37</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Sales Taking Order Staff (Chilled) - Tangerang Kabupaten</a:t>
                      </a:r>
                      <a:endParaRPr lang="en-US" sz="11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17-Jun-26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Indra Ramadhan Siagian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72324340"/>
                  </a:ext>
                </a:extLst>
              </a:tr>
              <a:tr h="228600">
                <a:tc>
                  <a:txBody>
                    <a:bodyPr/>
                    <a:lstStyle/>
                    <a:p>
                      <a:pPr algn="ctr" fontAlgn="ctr">
                        <a:buNone/>
                      </a:pPr>
                      <a:r>
                        <a:rPr lang="en-US" sz="1100">
                          <a:effectLst/>
                          <a:latin typeface="Raleway" pitchFamily="2" charset="0"/>
                        </a:rPr>
                        <a:t>38</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Jakarta Pusat &amp; Utara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Dian Maya Saputri S</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865407018"/>
                  </a:ext>
                </a:extLst>
              </a:tr>
              <a:tr h="228600">
                <a:tc>
                  <a:txBody>
                    <a:bodyPr/>
                    <a:lstStyle/>
                    <a:p>
                      <a:pPr algn="ctr" fontAlgn="ctr">
                        <a:buNone/>
                      </a:pPr>
                      <a:r>
                        <a:rPr lang="en-US" sz="1100">
                          <a:effectLst/>
                          <a:latin typeface="Raleway" pitchFamily="2" charset="0"/>
                        </a:rPr>
                        <a:t>39</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Jakarta Selatan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Desi Hariyanti</a:t>
                      </a:r>
                      <a:endParaRPr lang="en-US" sz="11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898976414"/>
                  </a:ext>
                </a:extLst>
              </a:tr>
              <a:tr h="228600">
                <a:tc>
                  <a:txBody>
                    <a:bodyPr/>
                    <a:lstStyle/>
                    <a:p>
                      <a:pPr algn="ctr" fontAlgn="ctr">
                        <a:buNone/>
                      </a:pPr>
                      <a:r>
                        <a:rPr lang="en-US" sz="1100">
                          <a:effectLst/>
                          <a:latin typeface="Raleway" pitchFamily="2" charset="0"/>
                        </a:rPr>
                        <a:t>40</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Tangerang Kota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29-Jun-26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Eric Maulana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773007249"/>
                  </a:ext>
                </a:extLst>
              </a:tr>
              <a:tr h="228600">
                <a:tc>
                  <a:txBody>
                    <a:bodyPr/>
                    <a:lstStyle/>
                    <a:p>
                      <a:pPr algn="ctr" fontAlgn="ctr">
                        <a:buNone/>
                      </a:pPr>
                      <a:r>
                        <a:rPr lang="en-US" sz="1100">
                          <a:effectLst/>
                          <a:latin typeface="Raleway" pitchFamily="2" charset="0"/>
                        </a:rPr>
                        <a:t>41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Tangerang Selatan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27-Jun-26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Pian Aprian Syah</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830667928"/>
                  </a:ext>
                </a:extLst>
              </a:tr>
              <a:tr h="228600">
                <a:tc>
                  <a:txBody>
                    <a:bodyPr/>
                    <a:lstStyle/>
                    <a:p>
                      <a:pPr algn="ctr" fontAlgn="ctr">
                        <a:buNone/>
                      </a:pPr>
                      <a:r>
                        <a:rPr lang="en-US" sz="1100">
                          <a:effectLst/>
                          <a:latin typeface="Raleway" pitchFamily="2" charset="0"/>
                        </a:rPr>
                        <a:t>42</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Bali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24-Jun-26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Abdul Rohman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813033636"/>
                  </a:ext>
                </a:extLst>
              </a:tr>
              <a:tr h="228600">
                <a:tc>
                  <a:txBody>
                    <a:bodyPr/>
                    <a:lstStyle/>
                    <a:p>
                      <a:pPr algn="ctr" fontAlgn="ctr">
                        <a:buNone/>
                      </a:pPr>
                      <a:r>
                        <a:rPr lang="en-US" sz="1100">
                          <a:effectLst/>
                          <a:latin typeface="Raleway" pitchFamily="2" charset="0"/>
                        </a:rPr>
                        <a:t>43</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Bali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a:rPr>
                        <a:t>Dadang Haji Pengestu</a:t>
                      </a:r>
                      <a:endParaRPr lang="en-US" sz="1100" err="1">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342635452"/>
                  </a:ext>
                </a:extLst>
              </a:tr>
              <a:tr h="228600">
                <a:tc>
                  <a:txBody>
                    <a:bodyPr/>
                    <a:lstStyle/>
                    <a:p>
                      <a:pPr algn="ctr" fontAlgn="ctr">
                        <a:buNone/>
                      </a:pPr>
                      <a:r>
                        <a:rPr lang="en-US" sz="1100">
                          <a:effectLst/>
                          <a:latin typeface="Raleway" pitchFamily="2" charset="0"/>
                        </a:rPr>
                        <a:t>44</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Bogor Timur</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16-Jun-26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Nur Irfan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690902803"/>
                  </a:ext>
                </a:extLst>
              </a:tr>
              <a:tr h="228600">
                <a:tc>
                  <a:txBody>
                    <a:bodyPr/>
                    <a:lstStyle/>
                    <a:p>
                      <a:pPr algn="ctr" fontAlgn="ctr">
                        <a:buNone/>
                      </a:pPr>
                      <a:r>
                        <a:rPr lang="en-US" sz="1100">
                          <a:effectLst/>
                          <a:latin typeface="Raleway" pitchFamily="2" charset="0"/>
                        </a:rPr>
                        <a:t>45</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Sales Taking Order Staff (Chilled) - Tangerang Kota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22-Jun-26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100">
                          <a:effectLst/>
                          <a:latin typeface="Raleway" pitchFamily="2" charset="0"/>
                        </a:rPr>
                        <a:t>20-Jul-26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fontAlgn="ctr">
                        <a:buNone/>
                      </a:pPr>
                      <a:r>
                        <a:rPr lang="en-US" sz="1100">
                          <a:effectLst/>
                          <a:latin typeface="Raleway" pitchFamily="2" charset="0"/>
                        </a:rPr>
                        <a:t>Kevin Kristhoforous</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325418466"/>
                  </a:ext>
                </a:extLst>
              </a:tr>
            </a:tbl>
          </a:graphicData>
        </a:graphic>
      </p:graphicFrame>
      <p:sp>
        <p:nvSpPr>
          <p:cNvPr id="5" name="TextBox 4">
            <a:extLst>
              <a:ext uri="{FF2B5EF4-FFF2-40B4-BE49-F238E27FC236}">
                <a16:creationId xmlns:a16="http://schemas.microsoft.com/office/drawing/2014/main" id="{2C9BF3B8-77AC-CB3D-D18E-49696DC16C6C}"/>
              </a:ext>
            </a:extLst>
          </p:cNvPr>
          <p:cNvSpPr txBox="1"/>
          <p:nvPr/>
        </p:nvSpPr>
        <p:spPr>
          <a:xfrm>
            <a:off x="2772229" y="330199"/>
            <a:ext cx="6640285" cy="1107996"/>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ctr"/>
            <a:r>
              <a:rPr lang="en-US" sz="2400" b="1" err="1">
                <a:latin typeface="Raleway"/>
              </a:rPr>
              <a:t>Pemenuhan</a:t>
            </a:r>
            <a:r>
              <a:rPr lang="en-US" sz="2400" b="1">
                <a:latin typeface="Raleway"/>
              </a:rPr>
              <a:t> SDM STO Chilled</a:t>
            </a:r>
            <a:endParaRPr lang="en-US"/>
          </a:p>
          <a:p>
            <a:pPr algn="ctr"/>
            <a:r>
              <a:rPr lang="en-US" b="1">
                <a:latin typeface="Raleway"/>
              </a:rPr>
              <a:t>List </a:t>
            </a:r>
            <a:r>
              <a:rPr lang="en-US" b="1" err="1">
                <a:latin typeface="Raleway"/>
              </a:rPr>
              <a:t>Kandidat</a:t>
            </a:r>
            <a:r>
              <a:rPr lang="en-US" b="1">
                <a:latin typeface="Raleway"/>
              </a:rPr>
              <a:t> Accept Offer – </a:t>
            </a:r>
            <a:r>
              <a:rPr lang="en-US" b="1" err="1">
                <a:latin typeface="Raleway"/>
              </a:rPr>
              <a:t>Gelombang</a:t>
            </a:r>
            <a:r>
              <a:rPr lang="en-US" b="1">
                <a:latin typeface="Raleway"/>
              </a:rPr>
              <a:t> 1</a:t>
            </a:r>
            <a:endParaRPr lang="en-US">
              <a:latin typeface="Raleway"/>
            </a:endParaRPr>
          </a:p>
          <a:p>
            <a:endParaRPr lang="en-US" sz="2400" b="1">
              <a:latin typeface="Raleway"/>
            </a:endParaRPr>
          </a:p>
        </p:txBody>
      </p:sp>
    </p:spTree>
    <p:extLst>
      <p:ext uri="{BB962C8B-B14F-4D97-AF65-F5344CB8AC3E}">
        <p14:creationId xmlns:p14="http://schemas.microsoft.com/office/powerpoint/2010/main" val="3253940440"/>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2B4AB4A6-C065-B393-6372-D11B980E6BFA}"/>
            </a:ext>
          </a:extLst>
        </p:cNvPr>
        <p:cNvGrpSpPr/>
        <p:nvPr/>
      </p:nvGrpSpPr>
      <p:grpSpPr>
        <a:xfrm>
          <a:off x="0" y="0"/>
          <a:ext cx="0" cy="0"/>
          <a:chOff x="0" y="0"/>
          <a:chExt cx="0" cy="0"/>
        </a:xfrm>
      </p:grpSpPr>
      <p:sp>
        <p:nvSpPr>
          <p:cNvPr id="2" name="Text 0">
            <a:extLst>
              <a:ext uri="{FF2B5EF4-FFF2-40B4-BE49-F238E27FC236}">
                <a16:creationId xmlns:a16="http://schemas.microsoft.com/office/drawing/2014/main" id="{08A99442-1C63-8AA8-F7D6-FEC7E4FED399}"/>
              </a:ext>
            </a:extLst>
          </p:cNvPr>
          <p:cNvSpPr/>
          <p:nvPr/>
        </p:nvSpPr>
        <p:spPr>
          <a:xfrm>
            <a:off x="587829" y="132951"/>
            <a:ext cx="11277295" cy="548640"/>
          </a:xfrm>
          <a:prstGeom prst="rect">
            <a:avLst/>
          </a:prstGeom>
          <a:noFill/>
          <a:ln/>
        </p:spPr>
        <p:txBody>
          <a:bodyPr wrap="square" lIns="91440" tIns="45720" rIns="91440" bIns="45720" rtlCol="0" anchor="ctr"/>
          <a:lstStyle/>
          <a:p>
            <a:r>
              <a:rPr lang="en-US" sz="2600" b="1">
                <a:solidFill>
                  <a:srgbClr val="12284C"/>
                </a:solidFill>
                <a:latin typeface="Raleway"/>
              </a:rPr>
              <a:t>LINE BALANCE – FPTK TA (Closed) </a:t>
            </a:r>
          </a:p>
        </p:txBody>
      </p:sp>
      <p:graphicFrame>
        <p:nvGraphicFramePr>
          <p:cNvPr id="3" name="Table 2">
            <a:extLst>
              <a:ext uri="{FF2B5EF4-FFF2-40B4-BE49-F238E27FC236}">
                <a16:creationId xmlns:a16="http://schemas.microsoft.com/office/drawing/2014/main" id="{9C3DBBB1-A2B8-5043-F3EA-B3FD8CBFC882}"/>
              </a:ext>
            </a:extLst>
          </p:cNvPr>
          <p:cNvGraphicFramePr>
            <a:graphicFrameLocks noGrp="1"/>
          </p:cNvGraphicFramePr>
          <p:nvPr/>
        </p:nvGraphicFramePr>
        <p:xfrm>
          <a:off x="791732" y="1066804"/>
          <a:ext cx="10336513" cy="4556760"/>
        </p:xfrm>
        <a:graphic>
          <a:graphicData uri="http://schemas.openxmlformats.org/drawingml/2006/table">
            <a:tbl>
              <a:tblPr/>
              <a:tblGrid>
                <a:gridCol w="1088859">
                  <a:extLst>
                    <a:ext uri="{9D8B030D-6E8A-4147-A177-3AD203B41FA5}">
                      <a16:colId xmlns:a16="http://schemas.microsoft.com/office/drawing/2014/main" val="4243568800"/>
                    </a:ext>
                  </a:extLst>
                </a:gridCol>
                <a:gridCol w="782140">
                  <a:extLst>
                    <a:ext uri="{9D8B030D-6E8A-4147-A177-3AD203B41FA5}">
                      <a16:colId xmlns:a16="http://schemas.microsoft.com/office/drawing/2014/main" val="1178650987"/>
                    </a:ext>
                  </a:extLst>
                </a:gridCol>
                <a:gridCol w="782140">
                  <a:extLst>
                    <a:ext uri="{9D8B030D-6E8A-4147-A177-3AD203B41FA5}">
                      <a16:colId xmlns:a16="http://schemas.microsoft.com/office/drawing/2014/main" val="2747395130"/>
                    </a:ext>
                  </a:extLst>
                </a:gridCol>
                <a:gridCol w="782140">
                  <a:extLst>
                    <a:ext uri="{9D8B030D-6E8A-4147-A177-3AD203B41FA5}">
                      <a16:colId xmlns:a16="http://schemas.microsoft.com/office/drawing/2014/main" val="285624897"/>
                    </a:ext>
                  </a:extLst>
                </a:gridCol>
                <a:gridCol w="782140">
                  <a:extLst>
                    <a:ext uri="{9D8B030D-6E8A-4147-A177-3AD203B41FA5}">
                      <a16:colId xmlns:a16="http://schemas.microsoft.com/office/drawing/2014/main" val="1810994186"/>
                    </a:ext>
                  </a:extLst>
                </a:gridCol>
                <a:gridCol w="782140">
                  <a:extLst>
                    <a:ext uri="{9D8B030D-6E8A-4147-A177-3AD203B41FA5}">
                      <a16:colId xmlns:a16="http://schemas.microsoft.com/office/drawing/2014/main" val="1729949498"/>
                    </a:ext>
                  </a:extLst>
                </a:gridCol>
                <a:gridCol w="782140">
                  <a:extLst>
                    <a:ext uri="{9D8B030D-6E8A-4147-A177-3AD203B41FA5}">
                      <a16:colId xmlns:a16="http://schemas.microsoft.com/office/drawing/2014/main" val="4016816802"/>
                    </a:ext>
                  </a:extLst>
                </a:gridCol>
                <a:gridCol w="429409">
                  <a:extLst>
                    <a:ext uri="{9D8B030D-6E8A-4147-A177-3AD203B41FA5}">
                      <a16:colId xmlns:a16="http://schemas.microsoft.com/office/drawing/2014/main" val="3679758151"/>
                    </a:ext>
                  </a:extLst>
                </a:gridCol>
                <a:gridCol w="996845">
                  <a:extLst>
                    <a:ext uri="{9D8B030D-6E8A-4147-A177-3AD203B41FA5}">
                      <a16:colId xmlns:a16="http://schemas.microsoft.com/office/drawing/2014/main" val="3629352930"/>
                    </a:ext>
                  </a:extLst>
                </a:gridCol>
                <a:gridCol w="782140">
                  <a:extLst>
                    <a:ext uri="{9D8B030D-6E8A-4147-A177-3AD203B41FA5}">
                      <a16:colId xmlns:a16="http://schemas.microsoft.com/office/drawing/2014/main" val="1876167304"/>
                    </a:ext>
                  </a:extLst>
                </a:gridCol>
                <a:gridCol w="782140">
                  <a:extLst>
                    <a:ext uri="{9D8B030D-6E8A-4147-A177-3AD203B41FA5}">
                      <a16:colId xmlns:a16="http://schemas.microsoft.com/office/drawing/2014/main" val="933817580"/>
                    </a:ext>
                  </a:extLst>
                </a:gridCol>
                <a:gridCol w="782140">
                  <a:extLst>
                    <a:ext uri="{9D8B030D-6E8A-4147-A177-3AD203B41FA5}">
                      <a16:colId xmlns:a16="http://schemas.microsoft.com/office/drawing/2014/main" val="1574866013"/>
                    </a:ext>
                  </a:extLst>
                </a:gridCol>
                <a:gridCol w="782140">
                  <a:extLst>
                    <a:ext uri="{9D8B030D-6E8A-4147-A177-3AD203B41FA5}">
                      <a16:colId xmlns:a16="http://schemas.microsoft.com/office/drawing/2014/main" val="3996725018"/>
                    </a:ext>
                  </a:extLst>
                </a:gridCol>
              </a:tblGrid>
              <a:tr h="614140">
                <a:tc>
                  <a:txBody>
                    <a:bodyPr/>
                    <a:lstStyle/>
                    <a:p>
                      <a:pPr algn="ctr" rtl="0" fontAlgn="ctr">
                        <a:buNone/>
                      </a:pPr>
                      <a:r>
                        <a:rPr lang="en-US" sz="1000" b="1" i="0" u="none" strike="noStrike">
                          <a:solidFill>
                            <a:srgbClr val="FFFFFF"/>
                          </a:solidFill>
                          <a:effectLst/>
                          <a:latin typeface="Raleway" pitchFamily="2" charset="0"/>
                        </a:rPr>
                        <a:t>Nama Recruiter</a:t>
                      </a:r>
                    </a:p>
                  </a:txBody>
                  <a:tcPr marL="0" marR="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1A</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1B</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1C</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2A</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2B</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2C</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3A</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3B</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3C</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4A</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4B</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Total</a:t>
                      </a:r>
                    </a:p>
                  </a:txBody>
                  <a:tcPr marL="0" marR="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002060"/>
                    </a:solidFill>
                  </a:tcPr>
                </a:tc>
                <a:extLst>
                  <a:ext uri="{0D108BD9-81ED-4DB2-BD59-A6C34878D82A}">
                    <a16:rowId xmlns:a16="http://schemas.microsoft.com/office/drawing/2014/main" val="3531668737"/>
                  </a:ext>
                </a:extLst>
              </a:tr>
              <a:tr h="197131">
                <a:tc>
                  <a:txBody>
                    <a:bodyPr/>
                    <a:lstStyle/>
                    <a:p>
                      <a:pPr algn="l" rtl="0" fontAlgn="ctr">
                        <a:buNone/>
                      </a:pPr>
                      <a:r>
                        <a:rPr lang="en-US" sz="1000" b="0" i="0" u="none" strike="noStrike">
                          <a:solidFill>
                            <a:srgbClr val="000000"/>
                          </a:solidFill>
                          <a:effectLst/>
                          <a:latin typeface="Raleway" pitchFamily="2" charset="0"/>
                        </a:rPr>
                        <a:t>Alexa</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3</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47</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6</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2</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11</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70</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chemeClr val="accent1">
                        <a:lumMod val="20000"/>
                        <a:lumOff val="80000"/>
                      </a:schemeClr>
                    </a:solidFill>
                  </a:tcPr>
                </a:tc>
                <a:extLst>
                  <a:ext uri="{0D108BD9-81ED-4DB2-BD59-A6C34878D82A}">
                    <a16:rowId xmlns:a16="http://schemas.microsoft.com/office/drawing/2014/main" val="1114571440"/>
                  </a:ext>
                </a:extLst>
              </a:tr>
              <a:tr h="197131">
                <a:tc>
                  <a:txBody>
                    <a:bodyPr/>
                    <a:lstStyle/>
                    <a:p>
                      <a:pPr algn="l" rtl="0" fontAlgn="ctr">
                        <a:buNone/>
                      </a:pPr>
                      <a:r>
                        <a:rPr lang="en-US" sz="1000" b="0" i="0" u="none" strike="noStrike">
                          <a:solidFill>
                            <a:srgbClr val="000000"/>
                          </a:solidFill>
                          <a:effectLst/>
                          <a:latin typeface="Raleway" pitchFamily="2" charset="0"/>
                        </a:rPr>
                        <a:t>Brittney</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107</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12</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120</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chemeClr val="accent1">
                        <a:lumMod val="20000"/>
                        <a:lumOff val="80000"/>
                      </a:schemeClr>
                    </a:solidFill>
                  </a:tcPr>
                </a:tc>
                <a:extLst>
                  <a:ext uri="{0D108BD9-81ED-4DB2-BD59-A6C34878D82A}">
                    <a16:rowId xmlns:a16="http://schemas.microsoft.com/office/drawing/2014/main" val="4060997794"/>
                  </a:ext>
                </a:extLst>
              </a:tr>
              <a:tr h="197131">
                <a:tc>
                  <a:txBody>
                    <a:bodyPr/>
                    <a:lstStyle/>
                    <a:p>
                      <a:pPr algn="l" rtl="0" fontAlgn="ctr">
                        <a:buNone/>
                      </a:pPr>
                      <a:r>
                        <a:rPr lang="en-US" sz="1000" b="0" i="0" u="none" strike="noStrike">
                          <a:solidFill>
                            <a:srgbClr val="000000"/>
                          </a:solidFill>
                          <a:effectLst/>
                          <a:latin typeface="Raleway" pitchFamily="2" charset="0"/>
                        </a:rPr>
                        <a:t>Omega</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9</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106</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10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127</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chemeClr val="accent1">
                        <a:lumMod val="20000"/>
                        <a:lumOff val="80000"/>
                      </a:schemeClr>
                    </a:solidFill>
                  </a:tcPr>
                </a:tc>
                <a:extLst>
                  <a:ext uri="{0D108BD9-81ED-4DB2-BD59-A6C34878D82A}">
                    <a16:rowId xmlns:a16="http://schemas.microsoft.com/office/drawing/2014/main" val="1948352027"/>
                  </a:ext>
                </a:extLst>
              </a:tr>
              <a:tr h="197131">
                <a:tc>
                  <a:txBody>
                    <a:bodyPr/>
                    <a:lstStyle/>
                    <a:p>
                      <a:pPr algn="l" rtl="0" fontAlgn="ctr">
                        <a:buNone/>
                      </a:pPr>
                      <a:r>
                        <a:rPr lang="en-US" sz="1000" b="0" i="0" u="none" strike="noStrike">
                          <a:solidFill>
                            <a:srgbClr val="000000"/>
                          </a:solidFill>
                          <a:effectLst/>
                          <a:latin typeface="Raleway" pitchFamily="2" charset="0"/>
                        </a:rPr>
                        <a:t>Karin</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6</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6</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3</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18</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chemeClr val="accent1">
                        <a:lumMod val="20000"/>
                        <a:lumOff val="80000"/>
                      </a:schemeClr>
                    </a:solidFill>
                  </a:tcPr>
                </a:tc>
                <a:extLst>
                  <a:ext uri="{0D108BD9-81ED-4DB2-BD59-A6C34878D82A}">
                    <a16:rowId xmlns:a16="http://schemas.microsoft.com/office/drawing/2014/main" val="2085317324"/>
                  </a:ext>
                </a:extLst>
              </a:tr>
              <a:tr h="197131">
                <a:tc>
                  <a:txBody>
                    <a:bodyPr/>
                    <a:lstStyle/>
                    <a:p>
                      <a:pPr algn="l" rtl="0" fontAlgn="ctr">
                        <a:buNone/>
                      </a:pPr>
                      <a:r>
                        <a:rPr lang="en-US" sz="1000" b="0" i="0" u="none" strike="noStrike" err="1">
                          <a:solidFill>
                            <a:srgbClr val="000000"/>
                          </a:solidFill>
                          <a:effectLst/>
                          <a:latin typeface="Raleway"/>
                        </a:rPr>
                        <a:t>Kenthansen</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60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81</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2</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6</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149</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chemeClr val="accent1">
                        <a:lumMod val="20000"/>
                        <a:lumOff val="80000"/>
                      </a:schemeClr>
                    </a:solidFill>
                  </a:tcPr>
                </a:tc>
                <a:extLst>
                  <a:ext uri="{0D108BD9-81ED-4DB2-BD59-A6C34878D82A}">
                    <a16:rowId xmlns:a16="http://schemas.microsoft.com/office/drawing/2014/main" val="847426679"/>
                  </a:ext>
                </a:extLst>
              </a:tr>
              <a:tr h="197131">
                <a:tc>
                  <a:txBody>
                    <a:bodyPr/>
                    <a:lstStyle/>
                    <a:p>
                      <a:pPr algn="l" rtl="0" fontAlgn="ctr">
                        <a:buNone/>
                      </a:pPr>
                      <a:r>
                        <a:rPr lang="en-US" sz="1000" b="0" i="0" u="none" strike="noStrike">
                          <a:solidFill>
                            <a:srgbClr val="000000"/>
                          </a:solidFill>
                          <a:effectLst/>
                          <a:latin typeface="Raleway" pitchFamily="2" charset="0"/>
                        </a:rPr>
                        <a:t>Marta</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5</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84</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17</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3</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19</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128</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chemeClr val="accent1">
                        <a:lumMod val="20000"/>
                        <a:lumOff val="80000"/>
                      </a:schemeClr>
                    </a:solidFill>
                  </a:tcPr>
                </a:tc>
                <a:extLst>
                  <a:ext uri="{0D108BD9-81ED-4DB2-BD59-A6C34878D82A}">
                    <a16:rowId xmlns:a16="http://schemas.microsoft.com/office/drawing/2014/main" val="2180022972"/>
                  </a:ext>
                </a:extLst>
              </a:tr>
              <a:tr h="197131">
                <a:tc>
                  <a:txBody>
                    <a:bodyPr/>
                    <a:lstStyle/>
                    <a:p>
                      <a:pPr algn="l" rtl="0" fontAlgn="ctr">
                        <a:buNone/>
                      </a:pPr>
                      <a:r>
                        <a:rPr lang="en-US" sz="1000" b="0" i="0" u="none" strike="noStrike">
                          <a:solidFill>
                            <a:srgbClr val="000000"/>
                          </a:solidFill>
                          <a:effectLst/>
                          <a:latin typeface="Raleway" pitchFamily="2" charset="0"/>
                        </a:rPr>
                        <a:t>Desi</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chemeClr val="accent1">
                        <a:lumMod val="20000"/>
                        <a:lumOff val="80000"/>
                      </a:schemeClr>
                    </a:solidFill>
                  </a:tcPr>
                </a:tc>
                <a:extLst>
                  <a:ext uri="{0D108BD9-81ED-4DB2-BD59-A6C34878D82A}">
                    <a16:rowId xmlns:a16="http://schemas.microsoft.com/office/drawing/2014/main" val="3265579406"/>
                  </a:ext>
                </a:extLst>
              </a:tr>
              <a:tr h="197131">
                <a:tc>
                  <a:txBody>
                    <a:bodyPr/>
                    <a:lstStyle/>
                    <a:p>
                      <a:pPr algn="l" rtl="0" fontAlgn="ctr">
                        <a:buNone/>
                      </a:pPr>
                      <a:r>
                        <a:rPr lang="en-US" sz="1000" b="0" i="0" u="none" strike="noStrike">
                          <a:solidFill>
                            <a:srgbClr val="000000"/>
                          </a:solidFill>
                          <a:effectLst/>
                          <a:latin typeface="Raleway" pitchFamily="2" charset="0"/>
                        </a:rPr>
                        <a:t>Pauline</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2</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12</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3</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18</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chemeClr val="accent1">
                        <a:lumMod val="20000"/>
                        <a:lumOff val="80000"/>
                      </a:schemeClr>
                    </a:solidFill>
                  </a:tcPr>
                </a:tc>
                <a:extLst>
                  <a:ext uri="{0D108BD9-81ED-4DB2-BD59-A6C34878D82A}">
                    <a16:rowId xmlns:a16="http://schemas.microsoft.com/office/drawing/2014/main" val="3396114473"/>
                  </a:ext>
                </a:extLst>
              </a:tr>
              <a:tr h="197131">
                <a:tc>
                  <a:txBody>
                    <a:bodyPr/>
                    <a:lstStyle/>
                    <a:p>
                      <a:pPr algn="l" rtl="0" fontAlgn="ctr">
                        <a:buNone/>
                      </a:pPr>
                      <a:r>
                        <a:rPr lang="en-US" sz="1000" b="0" i="0" u="none" strike="noStrike">
                          <a:solidFill>
                            <a:srgbClr val="000000"/>
                          </a:solidFill>
                          <a:effectLst/>
                          <a:latin typeface="Raleway" pitchFamily="2" charset="0"/>
                        </a:rPr>
                        <a:t>Ratih</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57</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3</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22</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84</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chemeClr val="accent1">
                        <a:lumMod val="20000"/>
                        <a:lumOff val="80000"/>
                      </a:schemeClr>
                    </a:solidFill>
                  </a:tcPr>
                </a:tc>
                <a:extLst>
                  <a:ext uri="{0D108BD9-81ED-4DB2-BD59-A6C34878D82A}">
                    <a16:rowId xmlns:a16="http://schemas.microsoft.com/office/drawing/2014/main" val="2085077362"/>
                  </a:ext>
                </a:extLst>
              </a:tr>
              <a:tr h="197131">
                <a:tc>
                  <a:txBody>
                    <a:bodyPr/>
                    <a:lstStyle/>
                    <a:p>
                      <a:pPr algn="l" rtl="0" fontAlgn="ctr">
                        <a:buNone/>
                      </a:pPr>
                      <a:r>
                        <a:rPr lang="en-US" sz="1000" b="0" i="0" u="none" strike="noStrike">
                          <a:solidFill>
                            <a:srgbClr val="000000"/>
                          </a:solidFill>
                          <a:effectLst/>
                          <a:latin typeface="Raleway" pitchFamily="2" charset="0"/>
                        </a:rPr>
                        <a:t>Zwei</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9</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81</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8</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chemeClr val="accent1">
                        <a:lumMod val="20000"/>
                        <a:lumOff val="80000"/>
                      </a:schemeClr>
                    </a:solidFill>
                  </a:tcPr>
                </a:tc>
                <a:tc>
                  <a:txBody>
                    <a:bodyPr/>
                    <a:lstStyle/>
                    <a:p>
                      <a:pPr algn="ctr" rtl="0" fontAlgn="ctr">
                        <a:buNone/>
                      </a:pPr>
                      <a:r>
                        <a:rPr lang="en-US" sz="1000" b="0" i="0" u="none" strike="noStrike">
                          <a:solidFill>
                            <a:srgbClr val="000000"/>
                          </a:solidFill>
                          <a:effectLst/>
                          <a:latin typeface="Raleway" pitchFamily="2" charset="0"/>
                        </a:rPr>
                        <a:t>99</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chemeClr val="accent1">
                        <a:lumMod val="20000"/>
                        <a:lumOff val="80000"/>
                      </a:schemeClr>
                    </a:solidFill>
                  </a:tcPr>
                </a:tc>
                <a:extLst>
                  <a:ext uri="{0D108BD9-81ED-4DB2-BD59-A6C34878D82A}">
                    <a16:rowId xmlns:a16="http://schemas.microsoft.com/office/drawing/2014/main" val="3198182243"/>
                  </a:ext>
                </a:extLst>
              </a:tr>
              <a:tr h="197131">
                <a:tc>
                  <a:txBody>
                    <a:bodyPr/>
                    <a:lstStyle/>
                    <a:p>
                      <a:pPr algn="l" rtl="0" fontAlgn="ctr">
                        <a:buNone/>
                      </a:pPr>
                      <a:r>
                        <a:rPr lang="en-US" sz="1000" b="0" i="0" u="none" strike="noStrike">
                          <a:solidFill>
                            <a:srgbClr val="000000"/>
                          </a:solidFill>
                          <a:effectLst/>
                          <a:latin typeface="Raleway" pitchFamily="2" charset="0"/>
                        </a:rPr>
                        <a:t>Achmad</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44</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45</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946563013"/>
                  </a:ext>
                </a:extLst>
              </a:tr>
              <a:tr h="197131">
                <a:tc>
                  <a:txBody>
                    <a:bodyPr/>
                    <a:lstStyle/>
                    <a:p>
                      <a:pPr algn="l" rtl="0" fontAlgn="ctr">
                        <a:buNone/>
                      </a:pPr>
                      <a:r>
                        <a:rPr lang="en-US" sz="1000" b="0" i="0" u="none" strike="noStrike">
                          <a:solidFill>
                            <a:srgbClr val="000000"/>
                          </a:solidFill>
                          <a:effectLst/>
                          <a:latin typeface="Raleway" pitchFamily="2" charset="0"/>
                        </a:rPr>
                        <a:t>Eli</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19</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19</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4</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42</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862019642"/>
                  </a:ext>
                </a:extLst>
              </a:tr>
              <a:tr h="197131">
                <a:tc>
                  <a:txBody>
                    <a:bodyPr/>
                    <a:lstStyle/>
                    <a:p>
                      <a:pPr algn="l" rtl="0" fontAlgn="ctr">
                        <a:buNone/>
                      </a:pPr>
                      <a:r>
                        <a:rPr lang="en-US" sz="1000" b="0" i="0" u="none" strike="noStrike" err="1">
                          <a:solidFill>
                            <a:srgbClr val="000000"/>
                          </a:solidFill>
                          <a:effectLst/>
                          <a:latin typeface="Raleway"/>
                        </a:rPr>
                        <a:t>Kasanah</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12</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3</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37</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3</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57</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620527584"/>
                  </a:ext>
                </a:extLst>
              </a:tr>
              <a:tr h="197131">
                <a:tc>
                  <a:txBody>
                    <a:bodyPr/>
                    <a:lstStyle/>
                    <a:p>
                      <a:pPr algn="l" rtl="0" fontAlgn="ctr">
                        <a:buNone/>
                      </a:pPr>
                      <a:r>
                        <a:rPr lang="en-US" sz="1000" b="0" i="0" u="none" strike="noStrike" err="1">
                          <a:solidFill>
                            <a:srgbClr val="000000"/>
                          </a:solidFill>
                          <a:effectLst/>
                          <a:latin typeface="Raleway"/>
                        </a:rPr>
                        <a:t>Fiscall</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26</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4</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7</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37</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1935561562"/>
                  </a:ext>
                </a:extLst>
              </a:tr>
              <a:tr h="197131">
                <a:tc>
                  <a:txBody>
                    <a:bodyPr/>
                    <a:lstStyle/>
                    <a:p>
                      <a:pPr algn="l" rtl="0" fontAlgn="ctr">
                        <a:buNone/>
                      </a:pPr>
                      <a:r>
                        <a:rPr lang="en-US" sz="1000" b="0" i="0" u="none" strike="noStrike">
                          <a:solidFill>
                            <a:srgbClr val="000000"/>
                          </a:solidFill>
                          <a:effectLst/>
                          <a:latin typeface="Raleway" pitchFamily="2" charset="0"/>
                        </a:rPr>
                        <a:t>Gabbie</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24</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8</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5</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37</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1259110337"/>
                  </a:ext>
                </a:extLst>
              </a:tr>
              <a:tr h="197131">
                <a:tc>
                  <a:txBody>
                    <a:bodyPr/>
                    <a:lstStyle/>
                    <a:p>
                      <a:pPr algn="l" rtl="0" fontAlgn="ctr">
                        <a:buNone/>
                      </a:pPr>
                      <a:r>
                        <a:rPr lang="en-US" sz="1000" b="0" i="0" u="none" strike="noStrike">
                          <a:solidFill>
                            <a:srgbClr val="000000"/>
                          </a:solidFill>
                          <a:effectLst/>
                          <a:latin typeface="Raleway" pitchFamily="2" charset="0"/>
                        </a:rPr>
                        <a:t>Salwa</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8</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8</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86926652"/>
                  </a:ext>
                </a:extLst>
              </a:tr>
              <a:tr h="197131">
                <a:tc>
                  <a:txBody>
                    <a:bodyPr/>
                    <a:lstStyle/>
                    <a:p>
                      <a:pPr algn="l" rtl="0" fontAlgn="ctr">
                        <a:buNone/>
                      </a:pPr>
                      <a:r>
                        <a:rPr lang="en-US" sz="1000" b="0" i="0" u="none" strike="noStrike">
                          <a:solidFill>
                            <a:srgbClr val="000000"/>
                          </a:solidFill>
                          <a:effectLst/>
                          <a:latin typeface="Raleway" pitchFamily="2" charset="0"/>
                        </a:rPr>
                        <a:t>Wahyu</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3</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6</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5</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16</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31</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065535797"/>
                  </a:ext>
                </a:extLst>
              </a:tr>
              <a:tr h="197131">
                <a:tc>
                  <a:txBody>
                    <a:bodyPr/>
                    <a:lstStyle/>
                    <a:p>
                      <a:pPr algn="l" rtl="0" fontAlgn="ctr">
                        <a:buNone/>
                      </a:pPr>
                      <a:r>
                        <a:rPr lang="en-US" sz="1000" b="0" i="0" u="none" strike="noStrike">
                          <a:solidFill>
                            <a:srgbClr val="000000"/>
                          </a:solidFill>
                          <a:effectLst/>
                          <a:latin typeface="Raleway" pitchFamily="2" charset="0"/>
                        </a:rPr>
                        <a:t>Leo</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12</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19</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8</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15</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2</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57</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498083159"/>
                  </a:ext>
                </a:extLst>
              </a:tr>
              <a:tr h="197131">
                <a:tc>
                  <a:txBody>
                    <a:bodyPr/>
                    <a:lstStyle/>
                    <a:p>
                      <a:pPr algn="l" rtl="0" fontAlgn="ctr">
                        <a:buNone/>
                      </a:pPr>
                      <a:r>
                        <a:rPr lang="en-US" sz="1000" b="0" i="0" u="none" strike="noStrike">
                          <a:solidFill>
                            <a:srgbClr val="000000"/>
                          </a:solidFill>
                          <a:effectLst/>
                          <a:latin typeface="Raleway" pitchFamily="2" charset="0"/>
                        </a:rPr>
                        <a:t>Elsi</a:t>
                      </a:r>
                    </a:p>
                  </a:txBody>
                  <a:tcPr marL="0" marR="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4</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2</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16</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23</a:t>
                      </a:r>
                    </a:p>
                  </a:txBody>
                  <a:tcPr marL="0" marR="0" marT="0" marB="0" anchor="ctr">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489262618"/>
                  </a:ext>
                </a:extLst>
              </a:tr>
              <a:tr h="197131">
                <a:tc>
                  <a:txBody>
                    <a:bodyPr/>
                    <a:lstStyle/>
                    <a:p>
                      <a:pPr algn="ctr" rtl="0" fontAlgn="b">
                        <a:buNone/>
                      </a:pPr>
                      <a:r>
                        <a:rPr lang="en-US" sz="1000" b="1" i="0" u="none" strike="noStrike">
                          <a:solidFill>
                            <a:srgbClr val="000000"/>
                          </a:solidFill>
                          <a:effectLst/>
                          <a:latin typeface="Raleway" pitchFamily="2" charset="0"/>
                        </a:rPr>
                        <a:t>Total</a:t>
                      </a:r>
                    </a:p>
                  </a:txBody>
                  <a:tcPr marL="0" marR="0" marT="0" marB="0" anchor="b">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237</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40</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18</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694</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36</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15</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91</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1</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3</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12</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3</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1150</a:t>
                      </a:r>
                    </a:p>
                  </a:txBody>
                  <a:tcPr marL="0" marR="0" marT="0"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052915218"/>
                  </a:ext>
                </a:extLst>
              </a:tr>
            </a:tbl>
          </a:graphicData>
        </a:graphic>
      </p:graphicFrame>
    </p:spTree>
    <p:extLst>
      <p:ext uri="{BB962C8B-B14F-4D97-AF65-F5344CB8AC3E}">
        <p14:creationId xmlns:p14="http://schemas.microsoft.com/office/powerpoint/2010/main" val="3518177311"/>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01FD8843-A576-FA23-B040-4D4610AF7FE3}"/>
            </a:ext>
          </a:extLst>
        </p:cNvPr>
        <p:cNvGrpSpPr/>
        <p:nvPr/>
      </p:nvGrpSpPr>
      <p:grpSpPr>
        <a:xfrm>
          <a:off x="0" y="0"/>
          <a:ext cx="0" cy="0"/>
          <a:chOff x="0" y="0"/>
          <a:chExt cx="0" cy="0"/>
        </a:xfrm>
      </p:grpSpPr>
      <p:sp>
        <p:nvSpPr>
          <p:cNvPr id="2" name="Text 0">
            <a:extLst>
              <a:ext uri="{FF2B5EF4-FFF2-40B4-BE49-F238E27FC236}">
                <a16:creationId xmlns:a16="http://schemas.microsoft.com/office/drawing/2014/main" id="{0A32140B-B6F2-C27D-1B18-499CB50D8042}"/>
              </a:ext>
            </a:extLst>
          </p:cNvPr>
          <p:cNvSpPr/>
          <p:nvPr/>
        </p:nvSpPr>
        <p:spPr>
          <a:xfrm>
            <a:off x="587829" y="132951"/>
            <a:ext cx="11277295" cy="548640"/>
          </a:xfrm>
          <a:prstGeom prst="rect">
            <a:avLst/>
          </a:prstGeom>
          <a:noFill/>
          <a:ln/>
        </p:spPr>
        <p:txBody>
          <a:bodyPr wrap="square" lIns="91440" tIns="45720" rIns="91440" bIns="45720" rtlCol="0" anchor="ctr"/>
          <a:lstStyle/>
          <a:p>
            <a:r>
              <a:rPr lang="en-US" sz="2600" b="1">
                <a:solidFill>
                  <a:srgbClr val="12284C"/>
                </a:solidFill>
                <a:latin typeface="Raleway"/>
              </a:rPr>
              <a:t>LINE BALANCE – FPTK TA (Open) </a:t>
            </a:r>
          </a:p>
        </p:txBody>
      </p:sp>
      <p:graphicFrame>
        <p:nvGraphicFramePr>
          <p:cNvPr id="3" name="Table 2">
            <a:extLst>
              <a:ext uri="{FF2B5EF4-FFF2-40B4-BE49-F238E27FC236}">
                <a16:creationId xmlns:a16="http://schemas.microsoft.com/office/drawing/2014/main" id="{F5A92DFD-378E-1F1B-ACB1-657F430F9067}"/>
              </a:ext>
            </a:extLst>
          </p:cNvPr>
          <p:cNvGraphicFramePr>
            <a:graphicFrameLocks noGrp="1"/>
          </p:cNvGraphicFramePr>
          <p:nvPr/>
        </p:nvGraphicFramePr>
        <p:xfrm>
          <a:off x="791732" y="1066804"/>
          <a:ext cx="10336513" cy="4556760"/>
        </p:xfrm>
        <a:graphic>
          <a:graphicData uri="http://schemas.openxmlformats.org/drawingml/2006/table">
            <a:tbl>
              <a:tblPr/>
              <a:tblGrid>
                <a:gridCol w="1088859">
                  <a:extLst>
                    <a:ext uri="{9D8B030D-6E8A-4147-A177-3AD203B41FA5}">
                      <a16:colId xmlns:a16="http://schemas.microsoft.com/office/drawing/2014/main" val="4243568800"/>
                    </a:ext>
                  </a:extLst>
                </a:gridCol>
                <a:gridCol w="782140">
                  <a:extLst>
                    <a:ext uri="{9D8B030D-6E8A-4147-A177-3AD203B41FA5}">
                      <a16:colId xmlns:a16="http://schemas.microsoft.com/office/drawing/2014/main" val="1178650987"/>
                    </a:ext>
                  </a:extLst>
                </a:gridCol>
                <a:gridCol w="782140">
                  <a:extLst>
                    <a:ext uri="{9D8B030D-6E8A-4147-A177-3AD203B41FA5}">
                      <a16:colId xmlns:a16="http://schemas.microsoft.com/office/drawing/2014/main" val="2747395130"/>
                    </a:ext>
                  </a:extLst>
                </a:gridCol>
                <a:gridCol w="782140">
                  <a:extLst>
                    <a:ext uri="{9D8B030D-6E8A-4147-A177-3AD203B41FA5}">
                      <a16:colId xmlns:a16="http://schemas.microsoft.com/office/drawing/2014/main" val="285624897"/>
                    </a:ext>
                  </a:extLst>
                </a:gridCol>
                <a:gridCol w="782140">
                  <a:extLst>
                    <a:ext uri="{9D8B030D-6E8A-4147-A177-3AD203B41FA5}">
                      <a16:colId xmlns:a16="http://schemas.microsoft.com/office/drawing/2014/main" val="1810994186"/>
                    </a:ext>
                  </a:extLst>
                </a:gridCol>
                <a:gridCol w="782140">
                  <a:extLst>
                    <a:ext uri="{9D8B030D-6E8A-4147-A177-3AD203B41FA5}">
                      <a16:colId xmlns:a16="http://schemas.microsoft.com/office/drawing/2014/main" val="1729949498"/>
                    </a:ext>
                  </a:extLst>
                </a:gridCol>
                <a:gridCol w="782140">
                  <a:extLst>
                    <a:ext uri="{9D8B030D-6E8A-4147-A177-3AD203B41FA5}">
                      <a16:colId xmlns:a16="http://schemas.microsoft.com/office/drawing/2014/main" val="4016816802"/>
                    </a:ext>
                  </a:extLst>
                </a:gridCol>
                <a:gridCol w="429409">
                  <a:extLst>
                    <a:ext uri="{9D8B030D-6E8A-4147-A177-3AD203B41FA5}">
                      <a16:colId xmlns:a16="http://schemas.microsoft.com/office/drawing/2014/main" val="3679758151"/>
                    </a:ext>
                  </a:extLst>
                </a:gridCol>
                <a:gridCol w="996845">
                  <a:extLst>
                    <a:ext uri="{9D8B030D-6E8A-4147-A177-3AD203B41FA5}">
                      <a16:colId xmlns:a16="http://schemas.microsoft.com/office/drawing/2014/main" val="3629352930"/>
                    </a:ext>
                  </a:extLst>
                </a:gridCol>
                <a:gridCol w="782140">
                  <a:extLst>
                    <a:ext uri="{9D8B030D-6E8A-4147-A177-3AD203B41FA5}">
                      <a16:colId xmlns:a16="http://schemas.microsoft.com/office/drawing/2014/main" val="1876167304"/>
                    </a:ext>
                  </a:extLst>
                </a:gridCol>
                <a:gridCol w="782140">
                  <a:extLst>
                    <a:ext uri="{9D8B030D-6E8A-4147-A177-3AD203B41FA5}">
                      <a16:colId xmlns:a16="http://schemas.microsoft.com/office/drawing/2014/main" val="933817580"/>
                    </a:ext>
                  </a:extLst>
                </a:gridCol>
                <a:gridCol w="782140">
                  <a:extLst>
                    <a:ext uri="{9D8B030D-6E8A-4147-A177-3AD203B41FA5}">
                      <a16:colId xmlns:a16="http://schemas.microsoft.com/office/drawing/2014/main" val="1574866013"/>
                    </a:ext>
                  </a:extLst>
                </a:gridCol>
                <a:gridCol w="782140">
                  <a:extLst>
                    <a:ext uri="{9D8B030D-6E8A-4147-A177-3AD203B41FA5}">
                      <a16:colId xmlns:a16="http://schemas.microsoft.com/office/drawing/2014/main" val="3996725018"/>
                    </a:ext>
                  </a:extLst>
                </a:gridCol>
              </a:tblGrid>
              <a:tr h="614140">
                <a:tc>
                  <a:txBody>
                    <a:bodyPr/>
                    <a:lstStyle/>
                    <a:p>
                      <a:pPr algn="ctr" rtl="0" fontAlgn="ctr">
                        <a:buNone/>
                      </a:pPr>
                      <a:r>
                        <a:rPr lang="en-US" sz="1000" b="1" i="0" u="none" strike="noStrike">
                          <a:solidFill>
                            <a:srgbClr val="FFFFFF"/>
                          </a:solidFill>
                          <a:effectLst/>
                          <a:latin typeface="Raleway" pitchFamily="2" charset="0"/>
                        </a:rPr>
                        <a:t>Nama Recruiter</a:t>
                      </a:r>
                    </a:p>
                  </a:txBody>
                  <a:tcPr marL="0" marR="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1A</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1B</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1C</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2A</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2B</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2C</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3A</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3B</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3C</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4A</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4B</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Total</a:t>
                      </a:r>
                    </a:p>
                  </a:txBody>
                  <a:tcPr marL="0" marR="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002060"/>
                    </a:solidFill>
                  </a:tcPr>
                </a:tc>
                <a:extLst>
                  <a:ext uri="{0D108BD9-81ED-4DB2-BD59-A6C34878D82A}">
                    <a16:rowId xmlns:a16="http://schemas.microsoft.com/office/drawing/2014/main" val="3531668737"/>
                  </a:ext>
                </a:extLst>
              </a:tr>
              <a:tr h="197131">
                <a:tc>
                  <a:txBody>
                    <a:bodyPr/>
                    <a:lstStyle/>
                    <a:p>
                      <a:pPr algn="l" rtl="0" fontAlgn="ctr">
                        <a:buNone/>
                      </a:pPr>
                      <a:r>
                        <a:rPr lang="en-US" sz="1000" b="0" i="0" u="none" strike="noStrike">
                          <a:solidFill>
                            <a:srgbClr val="000000"/>
                          </a:solidFill>
                          <a:effectLst/>
                          <a:latin typeface="Raleway" pitchFamily="2" charset="0"/>
                        </a:rPr>
                        <a:t>Alexa</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6</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3</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3</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5</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2</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7</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26</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chemeClr val="accent1">
                        <a:lumMod val="20000"/>
                        <a:lumOff val="80000"/>
                      </a:schemeClr>
                    </a:solidFill>
                  </a:tcPr>
                </a:tc>
                <a:extLst>
                  <a:ext uri="{0D108BD9-81ED-4DB2-BD59-A6C34878D82A}">
                    <a16:rowId xmlns:a16="http://schemas.microsoft.com/office/drawing/2014/main" val="1114571440"/>
                  </a:ext>
                </a:extLst>
              </a:tr>
              <a:tr h="197131">
                <a:tc>
                  <a:txBody>
                    <a:bodyPr/>
                    <a:lstStyle/>
                    <a:p>
                      <a:pPr algn="l" rtl="0" fontAlgn="ctr">
                        <a:buNone/>
                      </a:pPr>
                      <a:r>
                        <a:rPr lang="en-US" sz="1000" b="0" i="0" u="none" strike="noStrike">
                          <a:solidFill>
                            <a:srgbClr val="000000"/>
                          </a:solidFill>
                          <a:effectLst/>
                          <a:latin typeface="Raleway" pitchFamily="2" charset="0"/>
                        </a:rPr>
                        <a:t>Brittney</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16</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16</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chemeClr val="accent1">
                        <a:lumMod val="20000"/>
                        <a:lumOff val="80000"/>
                      </a:schemeClr>
                    </a:solidFill>
                  </a:tcPr>
                </a:tc>
                <a:extLst>
                  <a:ext uri="{0D108BD9-81ED-4DB2-BD59-A6C34878D82A}">
                    <a16:rowId xmlns:a16="http://schemas.microsoft.com/office/drawing/2014/main" val="4060997794"/>
                  </a:ext>
                </a:extLst>
              </a:tr>
              <a:tr h="197131">
                <a:tc>
                  <a:txBody>
                    <a:bodyPr/>
                    <a:lstStyle/>
                    <a:p>
                      <a:pPr algn="l" rtl="0" fontAlgn="ctr">
                        <a:buNone/>
                      </a:pPr>
                      <a:r>
                        <a:rPr lang="en-US" sz="1000" b="0" i="0" u="none" strike="noStrike">
                          <a:solidFill>
                            <a:srgbClr val="000000"/>
                          </a:solidFill>
                          <a:effectLst/>
                          <a:latin typeface="Raleway" pitchFamily="2" charset="0"/>
                        </a:rPr>
                        <a:t>Omega</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6</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10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9</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25</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chemeClr val="accent1">
                        <a:lumMod val="20000"/>
                        <a:lumOff val="80000"/>
                      </a:schemeClr>
                    </a:solidFill>
                  </a:tcPr>
                </a:tc>
                <a:extLst>
                  <a:ext uri="{0D108BD9-81ED-4DB2-BD59-A6C34878D82A}">
                    <a16:rowId xmlns:a16="http://schemas.microsoft.com/office/drawing/2014/main" val="1948352027"/>
                  </a:ext>
                </a:extLst>
              </a:tr>
              <a:tr h="197131">
                <a:tc>
                  <a:txBody>
                    <a:bodyPr/>
                    <a:lstStyle/>
                    <a:p>
                      <a:pPr algn="l" rtl="0" fontAlgn="ctr">
                        <a:buNone/>
                      </a:pPr>
                      <a:r>
                        <a:rPr lang="en-US" sz="1000" b="0" i="0" u="none" strike="noStrike">
                          <a:solidFill>
                            <a:srgbClr val="000000"/>
                          </a:solidFill>
                          <a:effectLst/>
                          <a:latin typeface="Raleway" pitchFamily="2" charset="0"/>
                        </a:rPr>
                        <a:t>Karin</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4</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1</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12</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4</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4</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25</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chemeClr val="accent1">
                        <a:lumMod val="20000"/>
                        <a:lumOff val="80000"/>
                      </a:schemeClr>
                    </a:solidFill>
                  </a:tcPr>
                </a:tc>
                <a:extLst>
                  <a:ext uri="{0D108BD9-81ED-4DB2-BD59-A6C34878D82A}">
                    <a16:rowId xmlns:a16="http://schemas.microsoft.com/office/drawing/2014/main" val="2085317324"/>
                  </a:ext>
                </a:extLst>
              </a:tr>
              <a:tr h="197131">
                <a:tc>
                  <a:txBody>
                    <a:bodyPr/>
                    <a:lstStyle/>
                    <a:p>
                      <a:pPr algn="l" rtl="0" fontAlgn="ctr">
                        <a:buNone/>
                      </a:pPr>
                      <a:r>
                        <a:rPr lang="en-US" sz="1000" b="0" i="0" u="none" strike="noStrike">
                          <a:solidFill>
                            <a:srgbClr val="000000"/>
                          </a:solidFill>
                          <a:effectLst/>
                          <a:latin typeface="Raleway" pitchFamily="2" charset="0"/>
                        </a:rPr>
                        <a:t>Kenthansen</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8</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12</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9</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29</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chemeClr val="accent1">
                        <a:lumMod val="20000"/>
                        <a:lumOff val="80000"/>
                      </a:schemeClr>
                    </a:solidFill>
                  </a:tcPr>
                </a:tc>
                <a:extLst>
                  <a:ext uri="{0D108BD9-81ED-4DB2-BD59-A6C34878D82A}">
                    <a16:rowId xmlns:a16="http://schemas.microsoft.com/office/drawing/2014/main" val="847426679"/>
                  </a:ext>
                </a:extLst>
              </a:tr>
              <a:tr h="197131">
                <a:tc>
                  <a:txBody>
                    <a:bodyPr/>
                    <a:lstStyle/>
                    <a:p>
                      <a:pPr algn="l" rtl="0" fontAlgn="ctr">
                        <a:buNone/>
                      </a:pPr>
                      <a:r>
                        <a:rPr lang="en-US" sz="1000" b="0" i="0" u="none" strike="noStrike">
                          <a:solidFill>
                            <a:srgbClr val="000000"/>
                          </a:solidFill>
                          <a:effectLst/>
                          <a:latin typeface="Raleway" pitchFamily="2" charset="0"/>
                        </a:rPr>
                        <a:t>Marta</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1</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23</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4</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28</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chemeClr val="accent1">
                        <a:lumMod val="20000"/>
                        <a:lumOff val="80000"/>
                      </a:schemeClr>
                    </a:solidFill>
                  </a:tcPr>
                </a:tc>
                <a:extLst>
                  <a:ext uri="{0D108BD9-81ED-4DB2-BD59-A6C34878D82A}">
                    <a16:rowId xmlns:a16="http://schemas.microsoft.com/office/drawing/2014/main" val="2180022972"/>
                  </a:ext>
                </a:extLst>
              </a:tr>
              <a:tr h="197131">
                <a:tc>
                  <a:txBody>
                    <a:bodyPr/>
                    <a:lstStyle/>
                    <a:p>
                      <a:pPr algn="l" rtl="0" fontAlgn="ctr">
                        <a:buNone/>
                      </a:pPr>
                      <a:r>
                        <a:rPr lang="en-US" sz="1000" b="0" i="0" u="none" strike="noStrike">
                          <a:solidFill>
                            <a:srgbClr val="000000"/>
                          </a:solidFill>
                          <a:effectLst/>
                          <a:latin typeface="Raleway" pitchFamily="2" charset="0"/>
                        </a:rPr>
                        <a:t>Desi</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6</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6</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chemeClr val="accent1">
                        <a:lumMod val="20000"/>
                        <a:lumOff val="80000"/>
                      </a:schemeClr>
                    </a:solidFill>
                  </a:tcPr>
                </a:tc>
                <a:extLst>
                  <a:ext uri="{0D108BD9-81ED-4DB2-BD59-A6C34878D82A}">
                    <a16:rowId xmlns:a16="http://schemas.microsoft.com/office/drawing/2014/main" val="3265579406"/>
                  </a:ext>
                </a:extLst>
              </a:tr>
              <a:tr h="197131">
                <a:tc>
                  <a:txBody>
                    <a:bodyPr/>
                    <a:lstStyle/>
                    <a:p>
                      <a:pPr algn="l" rtl="0" fontAlgn="ctr">
                        <a:buNone/>
                      </a:pPr>
                      <a:r>
                        <a:rPr lang="en-US" sz="1000" b="0" i="0" u="none" strike="noStrike">
                          <a:solidFill>
                            <a:srgbClr val="000000"/>
                          </a:solidFill>
                          <a:effectLst/>
                          <a:latin typeface="Raleway" pitchFamily="2" charset="0"/>
                        </a:rPr>
                        <a:t>Pauline</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4</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18</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2</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24</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chemeClr val="accent1">
                        <a:lumMod val="20000"/>
                        <a:lumOff val="80000"/>
                      </a:schemeClr>
                    </a:solidFill>
                  </a:tcPr>
                </a:tc>
                <a:extLst>
                  <a:ext uri="{0D108BD9-81ED-4DB2-BD59-A6C34878D82A}">
                    <a16:rowId xmlns:a16="http://schemas.microsoft.com/office/drawing/2014/main" val="3396114473"/>
                  </a:ext>
                </a:extLst>
              </a:tr>
              <a:tr h="197131">
                <a:tc>
                  <a:txBody>
                    <a:bodyPr/>
                    <a:lstStyle/>
                    <a:p>
                      <a:pPr algn="l" rtl="0" fontAlgn="ctr">
                        <a:buNone/>
                      </a:pPr>
                      <a:r>
                        <a:rPr lang="en-US" sz="1000" b="0" i="0" u="none" strike="noStrike">
                          <a:solidFill>
                            <a:srgbClr val="000000"/>
                          </a:solidFill>
                          <a:effectLst/>
                          <a:latin typeface="Raleway" pitchFamily="2" charset="0"/>
                        </a:rPr>
                        <a:t>Ratih</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8</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6</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4</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8</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26</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chemeClr val="accent1">
                        <a:lumMod val="20000"/>
                        <a:lumOff val="80000"/>
                      </a:schemeClr>
                    </a:solidFill>
                  </a:tcPr>
                </a:tc>
                <a:extLst>
                  <a:ext uri="{0D108BD9-81ED-4DB2-BD59-A6C34878D82A}">
                    <a16:rowId xmlns:a16="http://schemas.microsoft.com/office/drawing/2014/main" val="2085077362"/>
                  </a:ext>
                </a:extLst>
              </a:tr>
              <a:tr h="197131">
                <a:tc>
                  <a:txBody>
                    <a:bodyPr/>
                    <a:lstStyle/>
                    <a:p>
                      <a:pPr algn="l" rtl="0" fontAlgn="ctr">
                        <a:buNone/>
                      </a:pPr>
                      <a:r>
                        <a:rPr lang="en-US" sz="1000" b="0" i="0" u="none" strike="noStrike">
                          <a:solidFill>
                            <a:srgbClr val="000000"/>
                          </a:solidFill>
                          <a:effectLst/>
                          <a:latin typeface="Raleway" pitchFamily="2" charset="0"/>
                        </a:rPr>
                        <a:t>Zwei</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13</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8</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chemeClr val="accent1">
                        <a:lumMod val="20000"/>
                        <a:lumOff val="80000"/>
                      </a:schemeClr>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21</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chemeClr val="accent1">
                        <a:lumMod val="20000"/>
                        <a:lumOff val="80000"/>
                      </a:schemeClr>
                    </a:solidFill>
                  </a:tcPr>
                </a:tc>
                <a:extLst>
                  <a:ext uri="{0D108BD9-81ED-4DB2-BD59-A6C34878D82A}">
                    <a16:rowId xmlns:a16="http://schemas.microsoft.com/office/drawing/2014/main" val="3198182243"/>
                  </a:ext>
                </a:extLst>
              </a:tr>
              <a:tr h="197131">
                <a:tc>
                  <a:txBody>
                    <a:bodyPr/>
                    <a:lstStyle/>
                    <a:p>
                      <a:pPr algn="l" rtl="0" fontAlgn="ctr">
                        <a:buNone/>
                      </a:pPr>
                      <a:r>
                        <a:rPr lang="en-US" sz="1000" b="0" i="0" u="none" strike="noStrike">
                          <a:solidFill>
                            <a:srgbClr val="000000"/>
                          </a:solidFill>
                          <a:effectLst/>
                          <a:latin typeface="Raleway" pitchFamily="2" charset="0"/>
                        </a:rPr>
                        <a:t>Achmad</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58</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58</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946563013"/>
                  </a:ext>
                </a:extLst>
              </a:tr>
              <a:tr h="197131">
                <a:tc>
                  <a:txBody>
                    <a:bodyPr/>
                    <a:lstStyle/>
                    <a:p>
                      <a:pPr algn="l" rtl="0" fontAlgn="ctr">
                        <a:buNone/>
                      </a:pPr>
                      <a:r>
                        <a:rPr lang="en-US" sz="1000" b="0" i="0" u="none" strike="noStrike">
                          <a:solidFill>
                            <a:srgbClr val="000000"/>
                          </a:solidFill>
                          <a:effectLst/>
                          <a:latin typeface="Raleway" pitchFamily="2" charset="0"/>
                        </a:rPr>
                        <a:t>Eli</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34</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7</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3</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5</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49</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862019642"/>
                  </a:ext>
                </a:extLst>
              </a:tr>
              <a:tr h="197131">
                <a:tc>
                  <a:txBody>
                    <a:bodyPr/>
                    <a:lstStyle/>
                    <a:p>
                      <a:pPr algn="l" rtl="0" fontAlgn="ctr">
                        <a:buNone/>
                      </a:pPr>
                      <a:r>
                        <a:rPr lang="en-US" sz="1000" b="0" i="0" u="none" strike="noStrike">
                          <a:solidFill>
                            <a:srgbClr val="000000"/>
                          </a:solidFill>
                          <a:effectLst/>
                          <a:latin typeface="Raleway" pitchFamily="2" charset="0"/>
                        </a:rPr>
                        <a:t>Kasanah</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7</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22</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2</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3</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34</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620527584"/>
                  </a:ext>
                </a:extLst>
              </a:tr>
              <a:tr h="197131">
                <a:tc>
                  <a:txBody>
                    <a:bodyPr/>
                    <a:lstStyle/>
                    <a:p>
                      <a:pPr algn="l" rtl="0" fontAlgn="ctr">
                        <a:buNone/>
                      </a:pPr>
                      <a:r>
                        <a:rPr lang="en-US" sz="1000" b="0" i="0" u="none" strike="noStrike">
                          <a:solidFill>
                            <a:srgbClr val="000000"/>
                          </a:solidFill>
                          <a:effectLst/>
                          <a:latin typeface="Raleway" pitchFamily="2" charset="0"/>
                        </a:rPr>
                        <a:t>Fiscall</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24</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12</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36</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1935561562"/>
                  </a:ext>
                </a:extLst>
              </a:tr>
              <a:tr h="197131">
                <a:tc>
                  <a:txBody>
                    <a:bodyPr/>
                    <a:lstStyle/>
                    <a:p>
                      <a:pPr algn="l" rtl="0" fontAlgn="ctr">
                        <a:buNone/>
                      </a:pPr>
                      <a:r>
                        <a:rPr lang="en-US" sz="1000" b="0" i="0" u="none" strike="noStrike">
                          <a:solidFill>
                            <a:srgbClr val="000000"/>
                          </a:solidFill>
                          <a:effectLst/>
                          <a:latin typeface="Raleway" pitchFamily="2" charset="0"/>
                        </a:rPr>
                        <a:t>Gabbie</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63</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5</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25</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93</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1259110337"/>
                  </a:ext>
                </a:extLst>
              </a:tr>
              <a:tr h="197131">
                <a:tc>
                  <a:txBody>
                    <a:bodyPr/>
                    <a:lstStyle/>
                    <a:p>
                      <a:pPr algn="l" rtl="0" fontAlgn="ctr">
                        <a:buNone/>
                      </a:pPr>
                      <a:r>
                        <a:rPr lang="en-US" sz="1000" b="0" i="0" u="none" strike="noStrike">
                          <a:solidFill>
                            <a:srgbClr val="000000"/>
                          </a:solidFill>
                          <a:effectLst/>
                          <a:latin typeface="Raleway" pitchFamily="2" charset="0"/>
                        </a:rPr>
                        <a:t>Salwa</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1</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6</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1</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2</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10</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86926652"/>
                  </a:ext>
                </a:extLst>
              </a:tr>
              <a:tr h="197131">
                <a:tc>
                  <a:txBody>
                    <a:bodyPr/>
                    <a:lstStyle/>
                    <a:p>
                      <a:pPr algn="l" rtl="0" fontAlgn="ctr">
                        <a:buNone/>
                      </a:pPr>
                      <a:r>
                        <a:rPr lang="en-US" sz="1000" b="0" i="0" u="none" strike="noStrike">
                          <a:solidFill>
                            <a:srgbClr val="000000"/>
                          </a:solidFill>
                          <a:effectLst/>
                          <a:latin typeface="Raleway" pitchFamily="2" charset="0"/>
                        </a:rPr>
                        <a:t>Wahyu</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1</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1</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6</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8</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065535797"/>
                  </a:ext>
                </a:extLst>
              </a:tr>
              <a:tr h="197131">
                <a:tc>
                  <a:txBody>
                    <a:bodyPr/>
                    <a:lstStyle/>
                    <a:p>
                      <a:pPr algn="l" rtl="0" fontAlgn="ctr">
                        <a:buNone/>
                      </a:pPr>
                      <a:r>
                        <a:rPr lang="en-US" sz="1000" b="0" i="0" u="none" strike="noStrike">
                          <a:solidFill>
                            <a:srgbClr val="000000"/>
                          </a:solidFill>
                          <a:effectLst/>
                          <a:latin typeface="Raleway" pitchFamily="2" charset="0"/>
                        </a:rPr>
                        <a:t>Leo</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6</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6</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10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4</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1</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1</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a:noFill/>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28</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498083159"/>
                  </a:ext>
                </a:extLst>
              </a:tr>
              <a:tr h="197131">
                <a:tc>
                  <a:txBody>
                    <a:bodyPr/>
                    <a:lstStyle/>
                    <a:p>
                      <a:pPr algn="l" rtl="0" fontAlgn="ctr">
                        <a:buNone/>
                      </a:pPr>
                      <a:r>
                        <a:rPr lang="en-US" sz="1000" b="0" i="0" u="none" strike="noStrike">
                          <a:solidFill>
                            <a:srgbClr val="000000"/>
                          </a:solidFill>
                          <a:effectLst/>
                          <a:latin typeface="Raleway" pitchFamily="2" charset="0"/>
                        </a:rPr>
                        <a:t>Elsi</a:t>
                      </a:r>
                    </a:p>
                  </a:txBody>
                  <a:tcPr marL="0" marR="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609630" rtl="0" eaLnBrk="1" fontAlgn="ctr" latinLnBrk="0" hangingPunct="1">
                        <a:buNone/>
                      </a:pPr>
                      <a:r>
                        <a:rPr lang="en-US" sz="1000" b="0" i="0" u="none" strike="noStrike" kern="1200">
                          <a:solidFill>
                            <a:schemeClr val="tx1"/>
                          </a:solidFill>
                          <a:effectLst/>
                          <a:latin typeface="Raleway" pitchFamily="2" charset="0"/>
                          <a:ea typeface="+mn-ea"/>
                          <a:cs typeface="+mn-cs"/>
                        </a:rPr>
                        <a:t>0</a:t>
                      </a:r>
                    </a:p>
                  </a:txBody>
                  <a:tcPr marL="0" marR="0" marT="0" marB="0" anchor="ctr">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489262618"/>
                  </a:ext>
                </a:extLst>
              </a:tr>
              <a:tr h="197131">
                <a:tc>
                  <a:txBody>
                    <a:bodyPr/>
                    <a:lstStyle/>
                    <a:p>
                      <a:pPr algn="ctr" rtl="0" fontAlgn="b">
                        <a:buNone/>
                      </a:pPr>
                      <a:r>
                        <a:rPr lang="en-US" sz="1000" b="1" i="0" u="none" strike="noStrike">
                          <a:solidFill>
                            <a:srgbClr val="000000"/>
                          </a:solidFill>
                          <a:effectLst/>
                          <a:latin typeface="Raleway" pitchFamily="2" charset="0"/>
                        </a:rPr>
                        <a:t>Total</a:t>
                      </a:r>
                    </a:p>
                  </a:txBody>
                  <a:tcPr marL="0" marR="0" marT="0" marB="0" anchor="b">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609630" rtl="0" eaLnBrk="1" fontAlgn="ctr" latinLnBrk="0" hangingPunct="1">
                        <a:buNone/>
                      </a:pPr>
                      <a:r>
                        <a:rPr lang="en-US" sz="1000" b="1" i="0" u="none" strike="noStrike" kern="1200">
                          <a:solidFill>
                            <a:schemeClr val="tx1"/>
                          </a:solidFill>
                          <a:effectLst/>
                          <a:latin typeface="Raleway" pitchFamily="2" charset="0"/>
                          <a:ea typeface="+mn-ea"/>
                          <a:cs typeface="+mn-cs"/>
                        </a:rPr>
                        <a:t>220</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609630" rtl="0" eaLnBrk="1" fontAlgn="ctr" latinLnBrk="0" hangingPunct="1">
                        <a:buNone/>
                      </a:pPr>
                      <a:r>
                        <a:rPr lang="en-US" sz="1000" b="1" i="0" u="none" strike="noStrike" kern="1200">
                          <a:solidFill>
                            <a:schemeClr val="tx1"/>
                          </a:solidFill>
                          <a:effectLst/>
                          <a:latin typeface="Raleway" pitchFamily="2" charset="0"/>
                          <a:ea typeface="+mn-ea"/>
                          <a:cs typeface="+mn-cs"/>
                        </a:rPr>
                        <a:t>15</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609630" rtl="0" eaLnBrk="1" fontAlgn="ctr" latinLnBrk="0" hangingPunct="1">
                        <a:buNone/>
                      </a:pPr>
                      <a:r>
                        <a:rPr lang="en-US" sz="1000" b="1" i="0" u="none" strike="noStrike" kern="1200">
                          <a:solidFill>
                            <a:schemeClr val="tx1"/>
                          </a:solidFill>
                          <a:effectLst/>
                          <a:latin typeface="Raleway" pitchFamily="2" charset="0"/>
                          <a:ea typeface="+mn-ea"/>
                          <a:cs typeface="+mn-cs"/>
                        </a:rPr>
                        <a:t>10</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609630" rtl="0" eaLnBrk="1" fontAlgn="ctr" latinLnBrk="0" hangingPunct="1">
                        <a:buNone/>
                      </a:pPr>
                      <a:r>
                        <a:rPr lang="en-US" sz="1000" b="1" i="0" u="none" strike="noStrike" kern="1200">
                          <a:solidFill>
                            <a:schemeClr val="tx1"/>
                          </a:solidFill>
                          <a:effectLst/>
                          <a:latin typeface="Raleway" pitchFamily="2" charset="0"/>
                          <a:ea typeface="+mn-ea"/>
                          <a:cs typeface="+mn-cs"/>
                        </a:rPr>
                        <a:t>137</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609630" rtl="0" eaLnBrk="1" fontAlgn="ctr" latinLnBrk="0" hangingPunct="1">
                        <a:buNone/>
                      </a:pPr>
                      <a:r>
                        <a:rPr lang="en-US" sz="1000" b="1" i="0" u="none" strike="noStrike" kern="1200">
                          <a:solidFill>
                            <a:schemeClr val="tx1"/>
                          </a:solidFill>
                          <a:effectLst/>
                          <a:latin typeface="Raleway" pitchFamily="2" charset="0"/>
                          <a:ea typeface="+mn-ea"/>
                          <a:cs typeface="+mn-cs"/>
                        </a:rPr>
                        <a:t>42</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609630" rtl="0" eaLnBrk="1" fontAlgn="ctr" latinLnBrk="0" hangingPunct="1">
                        <a:buNone/>
                      </a:pPr>
                      <a:r>
                        <a:rPr lang="en-US" sz="1000" b="1" i="0" u="none" strike="noStrike" kern="1200">
                          <a:solidFill>
                            <a:schemeClr val="tx1"/>
                          </a:solidFill>
                          <a:effectLst/>
                          <a:latin typeface="Raleway" pitchFamily="2" charset="0"/>
                          <a:ea typeface="+mn-ea"/>
                          <a:cs typeface="+mn-cs"/>
                        </a:rPr>
                        <a:t>9</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609630" rtl="0" eaLnBrk="1" fontAlgn="ctr" latinLnBrk="0" hangingPunct="1">
                        <a:buNone/>
                      </a:pPr>
                      <a:r>
                        <a:rPr lang="en-US" sz="1000" b="1" i="0" u="none" strike="noStrike" kern="1200">
                          <a:solidFill>
                            <a:schemeClr val="tx1"/>
                          </a:solidFill>
                          <a:effectLst/>
                          <a:latin typeface="Raleway" pitchFamily="2" charset="0"/>
                          <a:ea typeface="+mn-ea"/>
                          <a:cs typeface="+mn-cs"/>
                        </a:rPr>
                        <a:t>77</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609630" rtl="0" eaLnBrk="1" fontAlgn="ctr" latinLnBrk="0" hangingPunct="1">
                        <a:buNone/>
                      </a:pPr>
                      <a:r>
                        <a:rPr lang="en-US" sz="1000" b="1" i="0" u="none" strike="noStrike" kern="1200">
                          <a:solidFill>
                            <a:schemeClr val="tx1"/>
                          </a:solidFill>
                          <a:effectLst/>
                          <a:latin typeface="Raleway" pitchFamily="2" charset="0"/>
                          <a:ea typeface="+mn-ea"/>
                          <a:cs typeface="+mn-cs"/>
                        </a:rPr>
                        <a:t>4</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609630" rtl="0" eaLnBrk="1" fontAlgn="ctr" latinLnBrk="0" hangingPunct="1">
                        <a:buNone/>
                      </a:pPr>
                      <a:r>
                        <a:rPr lang="en-US" sz="1000" b="1" i="0" u="none" strike="noStrike" kern="1200">
                          <a:solidFill>
                            <a:schemeClr val="tx1"/>
                          </a:solidFill>
                          <a:effectLst/>
                          <a:latin typeface="Raleway" pitchFamily="2" charset="0"/>
                          <a:ea typeface="+mn-ea"/>
                          <a:cs typeface="+mn-cs"/>
                        </a:rPr>
                        <a:t>8</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609630" rtl="0" eaLnBrk="1" fontAlgn="ctr" latinLnBrk="0" hangingPunct="1">
                        <a:buNone/>
                      </a:pPr>
                      <a:r>
                        <a:rPr lang="en-US" sz="1000" b="1" i="0" u="none" strike="noStrike" kern="1200">
                          <a:solidFill>
                            <a:schemeClr val="tx1"/>
                          </a:solidFill>
                          <a:effectLst/>
                          <a:latin typeface="Raleway" pitchFamily="2" charset="0"/>
                          <a:ea typeface="+mn-ea"/>
                          <a:cs typeface="+mn-cs"/>
                        </a:rPr>
                        <a:t>18</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609630" rtl="0" eaLnBrk="1" fontAlgn="ctr" latinLnBrk="0" hangingPunct="1">
                        <a:buNone/>
                      </a:pPr>
                      <a:r>
                        <a:rPr lang="en-US" sz="1000" b="1" i="0" u="none" strike="noStrike" kern="1200">
                          <a:solidFill>
                            <a:schemeClr val="tx1"/>
                          </a:solidFill>
                          <a:effectLst/>
                          <a:latin typeface="Raleway" pitchFamily="2" charset="0"/>
                          <a:ea typeface="+mn-ea"/>
                          <a:cs typeface="+mn-cs"/>
                        </a:rPr>
                        <a:t>2</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609630" rtl="0" eaLnBrk="1" fontAlgn="ctr" latinLnBrk="0" hangingPunct="1">
                        <a:buNone/>
                      </a:pPr>
                      <a:r>
                        <a:rPr lang="en-US" sz="1000" b="1" i="0" u="none" strike="noStrike" kern="1200">
                          <a:solidFill>
                            <a:schemeClr val="tx1"/>
                          </a:solidFill>
                          <a:effectLst/>
                          <a:latin typeface="Raleway" pitchFamily="2" charset="0"/>
                          <a:ea typeface="+mn-ea"/>
                          <a:cs typeface="+mn-cs"/>
                        </a:rPr>
                        <a:t>542</a:t>
                      </a:r>
                    </a:p>
                  </a:txBody>
                  <a:tcPr marL="0" marR="0" marT="0"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052915218"/>
                  </a:ext>
                </a:extLst>
              </a:tr>
            </a:tbl>
          </a:graphicData>
        </a:graphic>
      </p:graphicFrame>
    </p:spTree>
    <p:extLst>
      <p:ext uri="{BB962C8B-B14F-4D97-AF65-F5344CB8AC3E}">
        <p14:creationId xmlns:p14="http://schemas.microsoft.com/office/powerpoint/2010/main" val="683151152"/>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BF57922B-A5FD-B176-5431-B8BC55B74945}"/>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A5A9EE97-653D-5E26-77CB-7B1B146C8C14}"/>
              </a:ext>
            </a:extLst>
          </p:cNvPr>
          <p:cNvSpPr txBox="1"/>
          <p:nvPr/>
        </p:nvSpPr>
        <p:spPr>
          <a:xfrm>
            <a:off x="927978" y="110288"/>
            <a:ext cx="10335779" cy="523220"/>
          </a:xfrm>
          <a:prstGeom prst="rect">
            <a:avLst/>
          </a:prstGeom>
          <a:noFill/>
        </p:spPr>
        <p:txBody>
          <a:bodyPr wrap="square">
            <a:spAutoFit/>
          </a:bodyPr>
          <a:lstStyle/>
          <a:p>
            <a:pPr algn="ctr"/>
            <a:r>
              <a:rPr lang="en-US" sz="2800" b="1" err="1">
                <a:solidFill>
                  <a:srgbClr val="002060"/>
                </a:solidFill>
                <a:latin typeface="Raleway" pitchFamily="2" charset="0"/>
              </a:rPr>
              <a:t>Pemenuhan</a:t>
            </a:r>
            <a:r>
              <a:rPr lang="en-US" sz="2800" b="1">
                <a:solidFill>
                  <a:srgbClr val="002060"/>
                </a:solidFill>
                <a:latin typeface="Raleway" pitchFamily="2" charset="0"/>
              </a:rPr>
              <a:t> SDM per Recruiter</a:t>
            </a:r>
          </a:p>
        </p:txBody>
      </p:sp>
      <p:sp>
        <p:nvSpPr>
          <p:cNvPr id="6" name="TextBox 5">
            <a:extLst>
              <a:ext uri="{FF2B5EF4-FFF2-40B4-BE49-F238E27FC236}">
                <a16:creationId xmlns:a16="http://schemas.microsoft.com/office/drawing/2014/main" id="{4CAC8F00-DBD0-BD38-24DF-BD4BE2FDADB2}"/>
              </a:ext>
            </a:extLst>
          </p:cNvPr>
          <p:cNvSpPr txBox="1"/>
          <p:nvPr/>
        </p:nvSpPr>
        <p:spPr>
          <a:xfrm>
            <a:off x="644526" y="688428"/>
            <a:ext cx="10335779" cy="338554"/>
          </a:xfrm>
          <a:prstGeom prst="rect">
            <a:avLst/>
          </a:prstGeom>
          <a:noFill/>
        </p:spPr>
        <p:txBody>
          <a:bodyPr wrap="square">
            <a:spAutoFit/>
          </a:bodyPr>
          <a:lstStyle/>
          <a:p>
            <a:pPr marL="342900" indent="-342900">
              <a:buFont typeface="+mj-lt"/>
              <a:buAutoNum type="arabicPeriod"/>
            </a:pPr>
            <a:r>
              <a:rPr lang="en-US" sz="1600" b="1" err="1">
                <a:solidFill>
                  <a:srgbClr val="C00000"/>
                </a:solidFill>
                <a:latin typeface="Raleway" pitchFamily="2" charset="0"/>
              </a:rPr>
              <a:t>Pemenuhan</a:t>
            </a:r>
            <a:r>
              <a:rPr lang="en-US" sz="1600" b="1">
                <a:solidFill>
                  <a:srgbClr val="C00000"/>
                </a:solidFill>
                <a:latin typeface="Raleway" pitchFamily="2" charset="0"/>
              </a:rPr>
              <a:t> SDM by numbers</a:t>
            </a:r>
          </a:p>
        </p:txBody>
      </p:sp>
      <p:sp>
        <p:nvSpPr>
          <p:cNvPr id="12" name="TextBox 11">
            <a:extLst>
              <a:ext uri="{FF2B5EF4-FFF2-40B4-BE49-F238E27FC236}">
                <a16:creationId xmlns:a16="http://schemas.microsoft.com/office/drawing/2014/main" id="{62267827-0011-D946-29E2-942025C1177C}"/>
              </a:ext>
            </a:extLst>
          </p:cNvPr>
          <p:cNvSpPr txBox="1"/>
          <p:nvPr/>
        </p:nvSpPr>
        <p:spPr>
          <a:xfrm>
            <a:off x="6038850" y="733869"/>
            <a:ext cx="10335779" cy="338554"/>
          </a:xfrm>
          <a:prstGeom prst="rect">
            <a:avLst/>
          </a:prstGeom>
          <a:noFill/>
        </p:spPr>
        <p:txBody>
          <a:bodyPr wrap="square">
            <a:spAutoFit/>
          </a:bodyPr>
          <a:lstStyle/>
          <a:p>
            <a:pPr marL="342900" indent="-342900">
              <a:buFont typeface="+mj-lt"/>
              <a:buAutoNum type="arabicPeriod" startAt="2"/>
            </a:pPr>
            <a:r>
              <a:rPr lang="en-US" sz="1600" b="1" err="1">
                <a:solidFill>
                  <a:srgbClr val="C00000"/>
                </a:solidFill>
                <a:latin typeface="Raleway" pitchFamily="2" charset="0"/>
              </a:rPr>
              <a:t>Pemenuhan</a:t>
            </a:r>
            <a:r>
              <a:rPr lang="en-US" sz="1600" b="1">
                <a:solidFill>
                  <a:srgbClr val="C00000"/>
                </a:solidFill>
                <a:latin typeface="Raleway" pitchFamily="2" charset="0"/>
              </a:rPr>
              <a:t> SDM by percentage</a:t>
            </a:r>
          </a:p>
        </p:txBody>
      </p:sp>
      <p:sp>
        <p:nvSpPr>
          <p:cNvPr id="25" name="TextBox 24">
            <a:extLst>
              <a:ext uri="{FF2B5EF4-FFF2-40B4-BE49-F238E27FC236}">
                <a16:creationId xmlns:a16="http://schemas.microsoft.com/office/drawing/2014/main" id="{CF6787DA-008D-004A-C30C-4A16C98000EB}"/>
              </a:ext>
            </a:extLst>
          </p:cNvPr>
          <p:cNvSpPr txBox="1"/>
          <p:nvPr/>
        </p:nvSpPr>
        <p:spPr>
          <a:xfrm>
            <a:off x="641219" y="5646627"/>
            <a:ext cx="11288389" cy="900246"/>
          </a:xfrm>
          <a:prstGeom prst="rect">
            <a:avLst/>
          </a:prstGeom>
          <a:noFill/>
        </p:spPr>
        <p:txBody>
          <a:bodyPr wrap="square" lIns="91440" tIns="45720" rIns="91440" bIns="45720" anchor="t">
            <a:spAutoFit/>
          </a:bodyPr>
          <a:lstStyle/>
          <a:p>
            <a:pPr marL="285750" indent="-285750">
              <a:buFont typeface="Arial" panose="020B0604020202020204" pitchFamily="34" charset="0"/>
              <a:buChar char="•"/>
            </a:pPr>
            <a:r>
              <a:rPr lang="en-US" sz="1050" b="1">
                <a:latin typeface="Raleway"/>
              </a:rPr>
              <a:t>Marta, Omega dan Brittney  mencatat jumlah posisi closed tertinggi (113, 113 &amp; 103)
Hal ini menunjukkan kemampuan yang baik dalam mengelola volume rekrutmen yang tinggi.
Jika dilihat dari Top Closer, Elsi memiliki closed rate tertinggi, bahkan mencapai 92% dari total FPTK. Namun, karena total FPTK yang ditangani hanya 25, angka ini perlu dilihat secara proporsional karena sample size-nya relatif kecil.
Karin dan Achmad memiliki close rate yang relatif lebih rendah dibanding Recruiter lainnya. (Karin, perpindahan handle project Citeureup menjadi handle Head office)</a:t>
            </a:r>
            <a:endParaRPr lang="en-US" sz="1050">
              <a:latin typeface="Raleway"/>
            </a:endParaRPr>
          </a:p>
        </p:txBody>
      </p:sp>
      <p:sp>
        <p:nvSpPr>
          <p:cNvPr id="27" name="TextBox 26">
            <a:extLst>
              <a:ext uri="{FF2B5EF4-FFF2-40B4-BE49-F238E27FC236}">
                <a16:creationId xmlns:a16="http://schemas.microsoft.com/office/drawing/2014/main" id="{EC6A8E20-7420-01C5-2214-5FE97DCF1217}"/>
              </a:ext>
            </a:extLst>
          </p:cNvPr>
          <p:cNvSpPr txBox="1"/>
          <p:nvPr/>
        </p:nvSpPr>
        <p:spPr>
          <a:xfrm>
            <a:off x="641219" y="5274868"/>
            <a:ext cx="6096000" cy="369332"/>
          </a:xfrm>
          <a:prstGeom prst="rect">
            <a:avLst/>
          </a:prstGeom>
          <a:noFill/>
        </p:spPr>
        <p:txBody>
          <a:bodyPr wrap="square">
            <a:spAutoFit/>
          </a:bodyPr>
          <a:lstStyle/>
          <a:p>
            <a:r>
              <a:rPr lang="en-US" b="1">
                <a:solidFill>
                  <a:srgbClr val="002060"/>
                </a:solidFill>
                <a:latin typeface="Raleway" pitchFamily="2" charset="0"/>
              </a:rPr>
              <a:t>Insights: </a:t>
            </a:r>
            <a:endParaRPr lang="en-US">
              <a:solidFill>
                <a:srgbClr val="002060"/>
              </a:solidFill>
              <a:latin typeface="Raleway" pitchFamily="2" charset="0"/>
            </a:endParaRPr>
          </a:p>
        </p:txBody>
      </p:sp>
      <p:sp>
        <p:nvSpPr>
          <p:cNvPr id="18" name="Rectangle 17">
            <a:extLst>
              <a:ext uri="{FF2B5EF4-FFF2-40B4-BE49-F238E27FC236}">
                <a16:creationId xmlns:a16="http://schemas.microsoft.com/office/drawing/2014/main" id="{861A0231-AA31-0BCF-BF6C-D6D4F0AF5FDC}"/>
              </a:ext>
            </a:extLst>
          </p:cNvPr>
          <p:cNvSpPr/>
          <p:nvPr/>
        </p:nvSpPr>
        <p:spPr>
          <a:xfrm>
            <a:off x="6095867" y="4763228"/>
            <a:ext cx="5644196" cy="166883"/>
          </a:xfrm>
          <a:prstGeom prst="rect">
            <a:avLst/>
          </a:prstGeom>
          <a:noFill/>
          <a:ln>
            <a:solidFill>
              <a:srgbClr val="FFC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Raleway" pitchFamily="2" charset="0"/>
            </a:endParaRPr>
          </a:p>
        </p:txBody>
      </p:sp>
      <p:graphicFrame>
        <p:nvGraphicFramePr>
          <p:cNvPr id="2" name="PemenuhanSDMbynumbers">
            <a:extLst>
              <a:ext uri="{FF2B5EF4-FFF2-40B4-BE49-F238E27FC236}">
                <a16:creationId xmlns:a16="http://schemas.microsoft.com/office/drawing/2014/main" id="{69FB5901-54E0-C57A-9886-4D5112BB1EB9}"/>
              </a:ext>
            </a:extLst>
          </p:cNvPr>
          <p:cNvGraphicFramePr>
            <a:graphicFrameLocks noGrp="1" noDrilldown="1" noMove="1" noResize="1"/>
          </p:cNvGraphicFramePr>
          <p:nvPr>
            <p:extLst>
              <p:ext uri="{D42A27DB-BD31-4B8C-83A1-F6EECF244321}">
                <p14:modId xmlns:p14="http://schemas.microsoft.com/office/powerpoint/2010/main" val="1499023161"/>
              </p:ext>
            </p:extLst>
          </p:nvPr>
        </p:nvGraphicFramePr>
        <p:xfrm>
          <a:off x="1083010" y="1081903"/>
          <a:ext cx="3148098" cy="4125803"/>
        </p:xfrm>
        <a:graphic>
          <a:graphicData uri="http://schemas.openxmlformats.org/drawingml/2006/table">
            <a:tbl>
              <a:tblPr/>
              <a:tblGrid>
                <a:gridCol w="1049366">
                  <a:extLst>
                    <a:ext uri="{9D8B030D-6E8A-4147-A177-3AD203B41FA5}">
                      <a16:colId xmlns:a16="http://schemas.microsoft.com/office/drawing/2014/main" val="3749576476"/>
                    </a:ext>
                  </a:extLst>
                </a:gridCol>
                <a:gridCol w="514593">
                  <a:extLst>
                    <a:ext uri="{9D8B030D-6E8A-4147-A177-3AD203B41FA5}">
                      <a16:colId xmlns:a16="http://schemas.microsoft.com/office/drawing/2014/main" val="2660018255"/>
                    </a:ext>
                  </a:extLst>
                </a:gridCol>
                <a:gridCol w="534773">
                  <a:extLst>
                    <a:ext uri="{9D8B030D-6E8A-4147-A177-3AD203B41FA5}">
                      <a16:colId xmlns:a16="http://schemas.microsoft.com/office/drawing/2014/main" val="2369416754"/>
                    </a:ext>
                  </a:extLst>
                </a:gridCol>
                <a:gridCol w="514593">
                  <a:extLst>
                    <a:ext uri="{9D8B030D-6E8A-4147-A177-3AD203B41FA5}">
                      <a16:colId xmlns:a16="http://schemas.microsoft.com/office/drawing/2014/main" val="1253518542"/>
                    </a:ext>
                  </a:extLst>
                </a:gridCol>
                <a:gridCol w="534773">
                  <a:extLst>
                    <a:ext uri="{9D8B030D-6E8A-4147-A177-3AD203B41FA5}">
                      <a16:colId xmlns:a16="http://schemas.microsoft.com/office/drawing/2014/main" val="492505555"/>
                    </a:ext>
                  </a:extLst>
                </a:gridCol>
              </a:tblGrid>
              <a:tr h="581201">
                <a:tc>
                  <a:txBody>
                    <a:bodyPr/>
                    <a:lstStyle/>
                    <a:p>
                      <a:pPr algn="ctr" rtl="0" fontAlgn="ctr">
                        <a:buNone/>
                      </a:pPr>
                      <a:r>
                        <a:rPr lang="en-US" sz="900" b="1" i="0" u="none" strike="noStrike">
                          <a:solidFill>
                            <a:srgbClr val="FFFFFF"/>
                          </a:solidFill>
                          <a:effectLst/>
                          <a:latin typeface="Raleway" pitchFamily="2" charset="0"/>
                        </a:rPr>
                        <a:t>Nama Recruiter</a:t>
                      </a:r>
                    </a:p>
                  </a:txBody>
                  <a:tcPr marL="0" marR="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900" b="1" i="0" u="none" strike="noStrike">
                          <a:solidFill>
                            <a:srgbClr val="FFFFFF"/>
                          </a:solidFill>
                          <a:effectLst/>
                          <a:latin typeface="Raleway" pitchFamily="2" charset="0"/>
                        </a:rPr>
                        <a:t>Open</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900" b="1" i="0" u="none" strike="noStrike">
                          <a:solidFill>
                            <a:srgbClr val="FFFFFF"/>
                          </a:solidFill>
                          <a:effectLst/>
                          <a:latin typeface="Raleway" pitchFamily="2" charset="0"/>
                        </a:rPr>
                        <a:t>Closed</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900" b="1" i="0" u="none" strike="noStrike">
                          <a:solidFill>
                            <a:srgbClr val="FFFFFF"/>
                          </a:solidFill>
                          <a:effectLst/>
                          <a:latin typeface="Raleway" pitchFamily="2" charset="0"/>
                        </a:rPr>
                        <a:t>Cancel</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900" b="1" i="0" u="none" strike="noStrike">
                          <a:solidFill>
                            <a:srgbClr val="FFFFFF"/>
                          </a:solidFill>
                          <a:effectLst/>
                          <a:latin typeface="Raleway" pitchFamily="2" charset="0"/>
                        </a:rPr>
                        <a:t>Total</a:t>
                      </a:r>
                    </a:p>
                  </a:txBody>
                  <a:tcPr marL="0" marR="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002060"/>
                    </a:solidFill>
                  </a:tcPr>
                </a:tc>
                <a:extLst>
                  <a:ext uri="{0D108BD9-81ED-4DB2-BD59-A6C34878D82A}">
                    <a16:rowId xmlns:a16="http://schemas.microsoft.com/office/drawing/2014/main" val="2888198474"/>
                  </a:ext>
                </a:extLst>
              </a:tr>
              <a:tr h="186558">
                <a:tc>
                  <a:txBody>
                    <a:bodyPr/>
                    <a:lstStyle/>
                    <a:p>
                      <a:pPr algn="l" rtl="0" fontAlgn="ctr">
                        <a:buNone/>
                      </a:pPr>
                      <a:r>
                        <a:rPr lang="en-US" sz="900" b="0" i="0" u="none" strike="noStrike">
                          <a:solidFill>
                            <a:srgbClr val="000000"/>
                          </a:solidFill>
                          <a:effectLst/>
                          <a:latin typeface="Raleway" pitchFamily="2" charset="0"/>
                        </a:rPr>
                        <a:t>Alexa</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26</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70</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31</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127</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4121389379"/>
                  </a:ext>
                </a:extLst>
              </a:tr>
              <a:tr h="186558">
                <a:tc>
                  <a:txBody>
                    <a:bodyPr/>
                    <a:lstStyle/>
                    <a:p>
                      <a:pPr algn="l" rtl="0" fontAlgn="ctr">
                        <a:buNone/>
                      </a:pPr>
                      <a:r>
                        <a:rPr lang="en-US" sz="900" b="0" i="0" u="none" strike="noStrike">
                          <a:solidFill>
                            <a:srgbClr val="000000"/>
                          </a:solidFill>
                          <a:effectLst/>
                          <a:latin typeface="Raleway" pitchFamily="2" charset="0"/>
                        </a:rPr>
                        <a:t>Brittney</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16</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120</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47</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183</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549002929"/>
                  </a:ext>
                </a:extLst>
              </a:tr>
              <a:tr h="186558">
                <a:tc>
                  <a:txBody>
                    <a:bodyPr/>
                    <a:lstStyle/>
                    <a:p>
                      <a:pPr algn="l" rtl="0" fontAlgn="ctr">
                        <a:buNone/>
                      </a:pPr>
                      <a:r>
                        <a:rPr lang="en-US" sz="900" b="0" i="0" u="none" strike="noStrike">
                          <a:solidFill>
                            <a:srgbClr val="000000"/>
                          </a:solidFill>
                          <a:effectLst/>
                          <a:latin typeface="Raleway" pitchFamily="2" charset="0"/>
                        </a:rPr>
                        <a:t>Omega</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25</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127</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32</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184</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286099365"/>
                  </a:ext>
                </a:extLst>
              </a:tr>
              <a:tr h="186558">
                <a:tc>
                  <a:txBody>
                    <a:bodyPr/>
                    <a:lstStyle/>
                    <a:p>
                      <a:pPr algn="l" rtl="0" fontAlgn="ctr">
                        <a:buNone/>
                      </a:pPr>
                      <a:r>
                        <a:rPr lang="en-US" sz="900" b="0" i="0" u="none" strike="noStrike">
                          <a:solidFill>
                            <a:srgbClr val="000000"/>
                          </a:solidFill>
                          <a:effectLst/>
                          <a:latin typeface="Raleway" pitchFamily="2" charset="0"/>
                        </a:rPr>
                        <a:t>Karin</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34</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17</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39</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90</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1293201583"/>
                  </a:ext>
                </a:extLst>
              </a:tr>
              <a:tr h="186558">
                <a:tc>
                  <a:txBody>
                    <a:bodyPr/>
                    <a:lstStyle/>
                    <a:p>
                      <a:pPr algn="l" rtl="0" fontAlgn="ctr">
                        <a:buNone/>
                      </a:pPr>
                      <a:r>
                        <a:rPr lang="en-US" sz="900" b="0" i="0" u="none" strike="noStrike">
                          <a:solidFill>
                            <a:srgbClr val="000000"/>
                          </a:solidFill>
                          <a:effectLst/>
                          <a:latin typeface="Raleway"/>
                        </a:rPr>
                        <a:t>Kenthansen</a:t>
                      </a:r>
                      <a:endParaRPr lang="en-US" sz="900" b="0" i="0" u="none" strike="noStrike" err="1">
                        <a:solidFill>
                          <a:srgbClr val="000000"/>
                        </a:solidFill>
                        <a:effectLst/>
                        <a:latin typeface="Raleway"/>
                      </a:endParaRP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33</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155</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105</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293</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616200884"/>
                  </a:ext>
                </a:extLst>
              </a:tr>
              <a:tr h="186558">
                <a:tc>
                  <a:txBody>
                    <a:bodyPr/>
                    <a:lstStyle/>
                    <a:p>
                      <a:pPr algn="l" rtl="0" fontAlgn="ctr">
                        <a:buNone/>
                      </a:pPr>
                      <a:r>
                        <a:rPr lang="en-US" sz="900" b="0" i="0" u="none" strike="noStrike">
                          <a:solidFill>
                            <a:srgbClr val="000000"/>
                          </a:solidFill>
                          <a:effectLst/>
                          <a:latin typeface="Raleway" pitchFamily="2" charset="0"/>
                        </a:rPr>
                        <a:t>Marta</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28</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128</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56</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212</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4256040163"/>
                  </a:ext>
                </a:extLst>
              </a:tr>
              <a:tr h="186558">
                <a:tc>
                  <a:txBody>
                    <a:bodyPr/>
                    <a:lstStyle/>
                    <a:p>
                      <a:pPr algn="l" rtl="0" fontAlgn="ctr">
                        <a:buNone/>
                      </a:pPr>
                      <a:r>
                        <a:rPr lang="en-US" sz="900" b="0" i="0" u="none" strike="noStrike">
                          <a:solidFill>
                            <a:srgbClr val="000000"/>
                          </a:solidFill>
                          <a:effectLst/>
                          <a:latin typeface="Raleway" pitchFamily="2" charset="0"/>
                        </a:rPr>
                        <a:t>Pauline</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23</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18</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15</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56</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448582539"/>
                  </a:ext>
                </a:extLst>
              </a:tr>
              <a:tr h="186558">
                <a:tc>
                  <a:txBody>
                    <a:bodyPr/>
                    <a:lstStyle/>
                    <a:p>
                      <a:pPr algn="l" rtl="0" fontAlgn="ctr">
                        <a:buNone/>
                      </a:pPr>
                      <a:r>
                        <a:rPr lang="en-US" sz="900" b="0" i="0" u="none" strike="noStrike">
                          <a:solidFill>
                            <a:srgbClr val="000000"/>
                          </a:solidFill>
                          <a:effectLst/>
                          <a:latin typeface="Raleway" pitchFamily="2" charset="0"/>
                        </a:rPr>
                        <a:t>Ratih</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26</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84</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29</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139</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206217535"/>
                  </a:ext>
                </a:extLst>
              </a:tr>
              <a:tr h="186558">
                <a:tc>
                  <a:txBody>
                    <a:bodyPr/>
                    <a:lstStyle/>
                    <a:p>
                      <a:pPr algn="l" rtl="0" fontAlgn="ctr">
                        <a:buNone/>
                      </a:pPr>
                      <a:r>
                        <a:rPr lang="en-US" sz="900" b="0" i="0" u="none" strike="noStrike">
                          <a:solidFill>
                            <a:srgbClr val="000000"/>
                          </a:solidFill>
                          <a:effectLst/>
                          <a:latin typeface="Raleway" pitchFamily="2" charset="0"/>
                        </a:rPr>
                        <a:t>Zwei</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21</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99</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24</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144</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591033828"/>
                  </a:ext>
                </a:extLst>
              </a:tr>
              <a:tr h="186558">
                <a:tc>
                  <a:txBody>
                    <a:bodyPr/>
                    <a:lstStyle/>
                    <a:p>
                      <a:pPr algn="l" rtl="0" fontAlgn="ctr">
                        <a:buNone/>
                      </a:pPr>
                      <a:r>
                        <a:rPr lang="en-US" sz="900" b="0" i="0" u="none" strike="noStrike">
                          <a:solidFill>
                            <a:srgbClr val="000000"/>
                          </a:solidFill>
                          <a:effectLst/>
                          <a:latin typeface="Raleway" pitchFamily="2" charset="0"/>
                        </a:rPr>
                        <a:t>Achmad</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84</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35</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91</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210</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1039176938"/>
                  </a:ext>
                </a:extLst>
              </a:tr>
              <a:tr h="186558">
                <a:tc>
                  <a:txBody>
                    <a:bodyPr/>
                    <a:lstStyle/>
                    <a:p>
                      <a:pPr algn="l" rtl="0" fontAlgn="ctr">
                        <a:buNone/>
                      </a:pPr>
                      <a:r>
                        <a:rPr lang="en-US" sz="900" b="0" i="0" u="none" strike="noStrike">
                          <a:solidFill>
                            <a:srgbClr val="000000"/>
                          </a:solidFill>
                          <a:effectLst/>
                          <a:latin typeface="Raleway" pitchFamily="2" charset="0"/>
                        </a:rPr>
                        <a:t>Eli</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67</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35</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31</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133</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206124455"/>
                  </a:ext>
                </a:extLst>
              </a:tr>
              <a:tr h="186558">
                <a:tc>
                  <a:txBody>
                    <a:bodyPr/>
                    <a:lstStyle/>
                    <a:p>
                      <a:pPr algn="l" rtl="0" fontAlgn="ctr">
                        <a:buNone/>
                      </a:pPr>
                      <a:r>
                        <a:rPr lang="en-US" sz="900" b="0" i="0" u="none" strike="noStrike">
                          <a:solidFill>
                            <a:srgbClr val="000000"/>
                          </a:solidFill>
                          <a:effectLst/>
                          <a:latin typeface="Raleway"/>
                        </a:rPr>
                        <a:t>Kasanah</a:t>
                      </a:r>
                      <a:endParaRPr lang="en-US" sz="900" b="0" i="0" u="none" strike="noStrike" err="1">
                        <a:solidFill>
                          <a:srgbClr val="000000"/>
                        </a:solidFill>
                        <a:effectLst/>
                        <a:latin typeface="Raleway"/>
                      </a:endParaRP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41</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56</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57</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154</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719168994"/>
                  </a:ext>
                </a:extLst>
              </a:tr>
              <a:tr h="186558">
                <a:tc>
                  <a:txBody>
                    <a:bodyPr/>
                    <a:lstStyle/>
                    <a:p>
                      <a:pPr algn="l" rtl="0" fontAlgn="ctr">
                        <a:buNone/>
                      </a:pPr>
                      <a:r>
                        <a:rPr lang="en-US" sz="900" b="0" i="0" u="none" strike="noStrike">
                          <a:solidFill>
                            <a:srgbClr val="000000"/>
                          </a:solidFill>
                          <a:effectLst/>
                          <a:latin typeface="Raleway"/>
                        </a:rPr>
                        <a:t>Fiscall</a:t>
                      </a:r>
                      <a:endParaRPr lang="en-US" sz="900" b="0" i="0" u="none" strike="noStrike" err="1">
                        <a:solidFill>
                          <a:srgbClr val="000000"/>
                        </a:solidFill>
                        <a:effectLst/>
                        <a:latin typeface="Raleway"/>
                      </a:endParaRP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36</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37</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1</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74</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289476711"/>
                  </a:ext>
                </a:extLst>
              </a:tr>
              <a:tr h="186558">
                <a:tc>
                  <a:txBody>
                    <a:bodyPr/>
                    <a:lstStyle/>
                    <a:p>
                      <a:pPr algn="l" rtl="0" fontAlgn="ctr">
                        <a:buNone/>
                      </a:pPr>
                      <a:r>
                        <a:rPr lang="en-US" sz="900" b="0" i="0" u="none" strike="noStrike">
                          <a:solidFill>
                            <a:srgbClr val="000000"/>
                          </a:solidFill>
                          <a:effectLst/>
                          <a:latin typeface="Raleway" pitchFamily="2" charset="0"/>
                        </a:rPr>
                        <a:t>Gabbie</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93</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37</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5</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135</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4219292636"/>
                  </a:ext>
                </a:extLst>
              </a:tr>
              <a:tr h="186558">
                <a:tc>
                  <a:txBody>
                    <a:bodyPr/>
                    <a:lstStyle/>
                    <a:p>
                      <a:pPr algn="l" rtl="0" fontAlgn="ctr">
                        <a:buNone/>
                      </a:pPr>
                      <a:r>
                        <a:rPr lang="en-US" sz="900" b="0" i="0" u="none" strike="noStrike">
                          <a:solidFill>
                            <a:srgbClr val="000000"/>
                          </a:solidFill>
                          <a:effectLst/>
                          <a:latin typeface="Raleway" pitchFamily="2" charset="0"/>
                        </a:rPr>
                        <a:t>Salwa</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10</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8</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18</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19956279"/>
                  </a:ext>
                </a:extLst>
              </a:tr>
              <a:tr h="186558">
                <a:tc>
                  <a:txBody>
                    <a:bodyPr/>
                    <a:lstStyle/>
                    <a:p>
                      <a:pPr algn="l" rtl="0" fontAlgn="ctr">
                        <a:buNone/>
                      </a:pPr>
                      <a:r>
                        <a:rPr lang="en-US" sz="900" b="0" i="0" u="none" strike="noStrike">
                          <a:solidFill>
                            <a:srgbClr val="000000"/>
                          </a:solidFill>
                          <a:effectLst/>
                          <a:latin typeface="Raleway" pitchFamily="2" charset="0"/>
                        </a:rPr>
                        <a:t>Wahyu</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8</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31</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1</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40</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848353319"/>
                  </a:ext>
                </a:extLst>
              </a:tr>
              <a:tr h="186558">
                <a:tc>
                  <a:txBody>
                    <a:bodyPr/>
                    <a:lstStyle/>
                    <a:p>
                      <a:pPr algn="l" rtl="0" fontAlgn="ctr">
                        <a:buNone/>
                      </a:pPr>
                      <a:r>
                        <a:rPr lang="en-US" sz="900" b="0" i="0" u="none" strike="noStrike">
                          <a:solidFill>
                            <a:srgbClr val="000000"/>
                          </a:solidFill>
                          <a:effectLst/>
                          <a:latin typeface="Raleway" pitchFamily="2" charset="0"/>
                        </a:rPr>
                        <a:t>Leo</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28</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57</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3</a:t>
                      </a:r>
                    </a:p>
                  </a:txBody>
                  <a:tcPr marL="0" marR="0" marT="0" marB="0" anchor="ctr">
                    <a:lnL>
                      <a:noFill/>
                    </a:lnL>
                    <a:lnR>
                      <a:noFill/>
                    </a:lnR>
                    <a:lnT>
                      <a:noFill/>
                    </a:lnT>
                    <a:lnB>
                      <a:noFill/>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88</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222946137"/>
                  </a:ext>
                </a:extLst>
              </a:tr>
              <a:tr h="186558">
                <a:tc>
                  <a:txBody>
                    <a:bodyPr/>
                    <a:lstStyle/>
                    <a:p>
                      <a:pPr algn="l" rtl="0" fontAlgn="ctr">
                        <a:buNone/>
                      </a:pPr>
                      <a:r>
                        <a:rPr lang="en-US" sz="900" b="0" i="0" u="none" strike="noStrike">
                          <a:solidFill>
                            <a:srgbClr val="000000"/>
                          </a:solidFill>
                          <a:effectLst/>
                          <a:latin typeface="Raleway" pitchFamily="2" charset="0"/>
                        </a:rPr>
                        <a:t>Elsi</a:t>
                      </a:r>
                    </a:p>
                  </a:txBody>
                  <a:tcPr marL="0" marR="0" marT="0" marB="0" anchor="ctr">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0</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23</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2</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buNone/>
                      </a:pPr>
                      <a:r>
                        <a:rPr lang="en-US" sz="900" b="0" i="0" u="none" strike="noStrike">
                          <a:solidFill>
                            <a:srgbClr val="000000"/>
                          </a:solidFill>
                          <a:effectLst/>
                          <a:latin typeface="Raleway" pitchFamily="2" charset="0"/>
                        </a:rPr>
                        <a:t>25</a:t>
                      </a:r>
                    </a:p>
                  </a:txBody>
                  <a:tcPr marL="0" marR="0" marT="0" marB="0" anchor="ctr">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805081888"/>
                  </a:ext>
                </a:extLst>
              </a:tr>
              <a:tr h="186558">
                <a:tc>
                  <a:txBody>
                    <a:bodyPr/>
                    <a:lstStyle/>
                    <a:p>
                      <a:pPr algn="ctr" rtl="0" fontAlgn="ctr">
                        <a:buNone/>
                      </a:pPr>
                      <a:r>
                        <a:rPr lang="en-US" sz="900" b="1" i="0" u="none" strike="noStrike">
                          <a:solidFill>
                            <a:srgbClr val="000000"/>
                          </a:solidFill>
                          <a:effectLst/>
                          <a:latin typeface="Raleway" pitchFamily="2" charset="0"/>
                        </a:rPr>
                        <a:t>Total</a:t>
                      </a:r>
                    </a:p>
                  </a:txBody>
                  <a:tcPr marL="0" marR="0" marT="0" marB="0" anchor="ctr">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buNone/>
                      </a:pPr>
                      <a:r>
                        <a:rPr lang="en-US" sz="900" b="0" i="0" u="none" strike="noStrike">
                          <a:solidFill>
                            <a:srgbClr val="000000"/>
                          </a:solidFill>
                          <a:effectLst/>
                          <a:latin typeface="Raleway" pitchFamily="2" charset="0"/>
                        </a:rPr>
                        <a:t>599</a:t>
                      </a:r>
                    </a:p>
                  </a:txBody>
                  <a:tcPr marL="0" marR="0" marT="0"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buNone/>
                      </a:pPr>
                      <a:r>
                        <a:rPr lang="en-US" sz="900" b="0" i="0" u="none" strike="noStrike">
                          <a:solidFill>
                            <a:srgbClr val="000000"/>
                          </a:solidFill>
                          <a:effectLst/>
                          <a:latin typeface="Raleway" pitchFamily="2" charset="0"/>
                        </a:rPr>
                        <a:t>1137</a:t>
                      </a:r>
                    </a:p>
                  </a:txBody>
                  <a:tcPr marL="0" marR="0" marT="0"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buNone/>
                      </a:pPr>
                      <a:r>
                        <a:rPr lang="en-US" sz="900" b="0" i="0" u="none" strike="noStrike">
                          <a:solidFill>
                            <a:srgbClr val="000000"/>
                          </a:solidFill>
                          <a:effectLst/>
                          <a:latin typeface="Raleway" pitchFamily="2" charset="0"/>
                        </a:rPr>
                        <a:t>569</a:t>
                      </a:r>
                    </a:p>
                  </a:txBody>
                  <a:tcPr marL="0" marR="0" marT="0"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buNone/>
                      </a:pPr>
                      <a:r>
                        <a:rPr lang="en-US" sz="900" b="0" i="0" u="none" strike="noStrike">
                          <a:solidFill>
                            <a:srgbClr val="000000"/>
                          </a:solidFill>
                          <a:effectLst/>
                          <a:latin typeface="Raleway" pitchFamily="2" charset="0"/>
                        </a:rPr>
                        <a:t>2305</a:t>
                      </a:r>
                    </a:p>
                  </a:txBody>
                  <a:tcPr marL="0" marR="0" marT="0"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775081202"/>
                  </a:ext>
                </a:extLst>
              </a:tr>
            </a:tbl>
          </a:graphicData>
        </a:graphic>
      </p:graphicFrame>
      <p:graphicFrame>
        <p:nvGraphicFramePr>
          <p:cNvPr id="8" name="PemenuhanSDMbypercentage">
            <a:extLst>
              <a:ext uri="{FF2B5EF4-FFF2-40B4-BE49-F238E27FC236}">
                <a16:creationId xmlns:a16="http://schemas.microsoft.com/office/drawing/2014/main" id="{91772677-4D98-297C-F22E-631D9035BDC2}"/>
              </a:ext>
            </a:extLst>
          </p:cNvPr>
          <p:cNvGraphicFramePr>
            <a:graphicFrameLocks noGrp="1" noDrilldown="1" noMove="1" noResize="1"/>
          </p:cNvGraphicFramePr>
          <p:nvPr>
            <p:extLst>
              <p:ext uri="{D42A27DB-BD31-4B8C-83A1-F6EECF244321}">
                <p14:modId xmlns:p14="http://schemas.microsoft.com/office/powerpoint/2010/main" val="1907973023"/>
              </p:ext>
            </p:extLst>
          </p:nvPr>
        </p:nvGraphicFramePr>
        <p:xfrm>
          <a:off x="6487789" y="1127343"/>
          <a:ext cx="3148099" cy="4145089"/>
        </p:xfrm>
        <a:graphic>
          <a:graphicData uri="http://schemas.openxmlformats.org/drawingml/2006/table">
            <a:tbl>
              <a:tblPr/>
              <a:tblGrid>
                <a:gridCol w="1026554">
                  <a:extLst>
                    <a:ext uri="{9D8B030D-6E8A-4147-A177-3AD203B41FA5}">
                      <a16:colId xmlns:a16="http://schemas.microsoft.com/office/drawing/2014/main" val="747333969"/>
                    </a:ext>
                  </a:extLst>
                </a:gridCol>
                <a:gridCol w="698057">
                  <a:extLst>
                    <a:ext uri="{9D8B030D-6E8A-4147-A177-3AD203B41FA5}">
                      <a16:colId xmlns:a16="http://schemas.microsoft.com/office/drawing/2014/main" val="467870820"/>
                    </a:ext>
                  </a:extLst>
                </a:gridCol>
                <a:gridCol w="725431">
                  <a:extLst>
                    <a:ext uri="{9D8B030D-6E8A-4147-A177-3AD203B41FA5}">
                      <a16:colId xmlns:a16="http://schemas.microsoft.com/office/drawing/2014/main" val="1585858510"/>
                    </a:ext>
                  </a:extLst>
                </a:gridCol>
                <a:gridCol w="698057">
                  <a:extLst>
                    <a:ext uri="{9D8B030D-6E8A-4147-A177-3AD203B41FA5}">
                      <a16:colId xmlns:a16="http://schemas.microsoft.com/office/drawing/2014/main" val="1637551125"/>
                    </a:ext>
                  </a:extLst>
                </a:gridCol>
              </a:tblGrid>
              <a:tr h="583919">
                <a:tc>
                  <a:txBody>
                    <a:bodyPr/>
                    <a:lstStyle/>
                    <a:p>
                      <a:pPr algn="ctr" rtl="0" fontAlgn="ctr">
                        <a:buNone/>
                      </a:pPr>
                      <a:r>
                        <a:rPr lang="en-US" sz="900" b="1" i="0" u="none" strike="noStrike">
                          <a:solidFill>
                            <a:srgbClr val="FFFFFF"/>
                          </a:solidFill>
                          <a:effectLst/>
                          <a:latin typeface="Raleway" pitchFamily="2" charset="0"/>
                        </a:rPr>
                        <a:t>Nama Recruiter</a:t>
                      </a:r>
                    </a:p>
                  </a:txBody>
                  <a:tcPr marL="0" marR="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900" b="1" i="0" u="none" strike="noStrike">
                          <a:solidFill>
                            <a:srgbClr val="FFFFFF"/>
                          </a:solidFill>
                          <a:effectLst/>
                          <a:latin typeface="Raleway" pitchFamily="2" charset="0"/>
                        </a:rPr>
                        <a:t>Open</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900" b="1" i="0" u="none" strike="noStrike">
                          <a:solidFill>
                            <a:srgbClr val="FFFFFF"/>
                          </a:solidFill>
                          <a:effectLst/>
                          <a:latin typeface="Raleway" pitchFamily="2" charset="0"/>
                        </a:rPr>
                        <a:t>Closed</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900" b="1" i="0" u="none" strike="noStrike">
                          <a:solidFill>
                            <a:srgbClr val="FFFFFF"/>
                          </a:solidFill>
                          <a:effectLst/>
                          <a:latin typeface="Raleway" pitchFamily="2" charset="0"/>
                        </a:rPr>
                        <a:t>Total</a:t>
                      </a:r>
                    </a:p>
                  </a:txBody>
                  <a:tcPr marL="0" marR="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002060"/>
                    </a:solidFill>
                  </a:tcPr>
                </a:tc>
                <a:extLst>
                  <a:ext uri="{0D108BD9-81ED-4DB2-BD59-A6C34878D82A}">
                    <a16:rowId xmlns:a16="http://schemas.microsoft.com/office/drawing/2014/main" val="3083634816"/>
                  </a:ext>
                </a:extLst>
              </a:tr>
              <a:tr h="187430">
                <a:tc>
                  <a:txBody>
                    <a:bodyPr/>
                    <a:lstStyle/>
                    <a:p>
                      <a:pPr algn="l" rtl="0" fontAlgn="ctr">
                        <a:buNone/>
                      </a:pPr>
                      <a:r>
                        <a:rPr lang="en-US" sz="900" b="0" i="0" u="none" strike="noStrike">
                          <a:solidFill>
                            <a:srgbClr val="000000"/>
                          </a:solidFill>
                          <a:effectLst/>
                          <a:latin typeface="Raleway" pitchFamily="2" charset="0"/>
                        </a:rPr>
                        <a:t>Alexa</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27.08%</a:t>
                      </a:r>
                    </a:p>
                  </a:txBody>
                  <a:tcPr marL="0" marR="0" marT="0" marB="0" anchor="ctr">
                    <a:lnL>
                      <a:noFill/>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72.92%</a:t>
                      </a:r>
                    </a:p>
                  </a:txBody>
                  <a:tcPr marL="0" marR="0" marT="0" marB="0" anchor="ctr">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100%</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691105223"/>
                  </a:ext>
                </a:extLst>
              </a:tr>
              <a:tr h="187430">
                <a:tc>
                  <a:txBody>
                    <a:bodyPr/>
                    <a:lstStyle/>
                    <a:p>
                      <a:pPr algn="l" rtl="0" fontAlgn="ctr">
                        <a:buNone/>
                      </a:pPr>
                      <a:r>
                        <a:rPr lang="en-US" sz="900" b="0" i="0" u="none" strike="noStrike">
                          <a:solidFill>
                            <a:srgbClr val="000000"/>
                          </a:solidFill>
                          <a:effectLst/>
                          <a:latin typeface="Raleway" pitchFamily="2" charset="0"/>
                        </a:rPr>
                        <a:t>Brittney</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11.76%</a:t>
                      </a:r>
                    </a:p>
                  </a:txBody>
                  <a:tcPr marL="0" marR="0" marT="0" marB="0" anchor="ctr">
                    <a:lnL>
                      <a:noFill/>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88.24%</a:t>
                      </a:r>
                    </a:p>
                  </a:txBody>
                  <a:tcPr marL="0" marR="0" marT="0" marB="0" anchor="ctr">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100%</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1581409066"/>
                  </a:ext>
                </a:extLst>
              </a:tr>
              <a:tr h="187430">
                <a:tc>
                  <a:txBody>
                    <a:bodyPr/>
                    <a:lstStyle/>
                    <a:p>
                      <a:pPr algn="l" rtl="0" fontAlgn="ctr">
                        <a:buNone/>
                      </a:pPr>
                      <a:r>
                        <a:rPr lang="en-US" sz="900" b="0" i="0" u="none" strike="noStrike">
                          <a:solidFill>
                            <a:srgbClr val="000000"/>
                          </a:solidFill>
                          <a:effectLst/>
                          <a:latin typeface="Raleway" pitchFamily="2" charset="0"/>
                        </a:rPr>
                        <a:t>Omega</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16.45%</a:t>
                      </a:r>
                    </a:p>
                  </a:txBody>
                  <a:tcPr marL="0" marR="0" marT="0" marB="0" anchor="ctr">
                    <a:lnL>
                      <a:noFill/>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83.55%</a:t>
                      </a:r>
                    </a:p>
                  </a:txBody>
                  <a:tcPr marL="0" marR="0" marT="0" marB="0" anchor="ctr">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100%</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1505483384"/>
                  </a:ext>
                </a:extLst>
              </a:tr>
              <a:tr h="187430">
                <a:tc>
                  <a:txBody>
                    <a:bodyPr/>
                    <a:lstStyle/>
                    <a:p>
                      <a:pPr algn="l" rtl="0" fontAlgn="ctr">
                        <a:buNone/>
                      </a:pPr>
                      <a:r>
                        <a:rPr lang="en-US" sz="900" b="0" i="0" u="none" strike="noStrike">
                          <a:solidFill>
                            <a:srgbClr val="000000"/>
                          </a:solidFill>
                          <a:effectLst/>
                          <a:latin typeface="Raleway" pitchFamily="2" charset="0"/>
                        </a:rPr>
                        <a:t>Karin</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66.67%</a:t>
                      </a:r>
                    </a:p>
                  </a:txBody>
                  <a:tcPr marL="0" marR="0" marT="0" marB="0" anchor="ctr">
                    <a:lnL>
                      <a:noFill/>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33.33%</a:t>
                      </a:r>
                    </a:p>
                  </a:txBody>
                  <a:tcPr marL="0" marR="0" marT="0" marB="0" anchor="ctr">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100%</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9540349"/>
                  </a:ext>
                </a:extLst>
              </a:tr>
              <a:tr h="187430">
                <a:tc>
                  <a:txBody>
                    <a:bodyPr/>
                    <a:lstStyle/>
                    <a:p>
                      <a:pPr algn="l" rtl="0" fontAlgn="ctr">
                        <a:buNone/>
                      </a:pPr>
                      <a:r>
                        <a:rPr lang="en-US" sz="900" b="0" i="0" u="none" strike="noStrike">
                          <a:solidFill>
                            <a:srgbClr val="000000"/>
                          </a:solidFill>
                          <a:effectLst/>
                          <a:latin typeface="Raleway" pitchFamily="2" charset="0"/>
                        </a:rPr>
                        <a:t>Kenthansen</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17.55%</a:t>
                      </a:r>
                    </a:p>
                  </a:txBody>
                  <a:tcPr marL="0" marR="0" marT="0" marB="0" anchor="ctr">
                    <a:lnL>
                      <a:noFill/>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82.45%</a:t>
                      </a:r>
                    </a:p>
                  </a:txBody>
                  <a:tcPr marL="0" marR="0" marT="0" marB="0" anchor="ctr">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100%</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798429542"/>
                  </a:ext>
                </a:extLst>
              </a:tr>
              <a:tr h="187430">
                <a:tc>
                  <a:txBody>
                    <a:bodyPr/>
                    <a:lstStyle/>
                    <a:p>
                      <a:pPr algn="l" rtl="0" fontAlgn="ctr">
                        <a:buNone/>
                      </a:pPr>
                      <a:r>
                        <a:rPr lang="en-US" sz="900" b="0" i="0" u="none" strike="noStrike">
                          <a:solidFill>
                            <a:srgbClr val="000000"/>
                          </a:solidFill>
                          <a:effectLst/>
                          <a:latin typeface="Raleway" pitchFamily="2" charset="0"/>
                        </a:rPr>
                        <a:t>Marta</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17.95%</a:t>
                      </a:r>
                    </a:p>
                  </a:txBody>
                  <a:tcPr marL="0" marR="0" marT="0" marB="0" anchor="ctr">
                    <a:lnL>
                      <a:noFill/>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82.05%</a:t>
                      </a:r>
                    </a:p>
                  </a:txBody>
                  <a:tcPr marL="0" marR="0" marT="0" marB="0" anchor="ctr">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100%</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579639089"/>
                  </a:ext>
                </a:extLst>
              </a:tr>
              <a:tr h="187430">
                <a:tc>
                  <a:txBody>
                    <a:bodyPr/>
                    <a:lstStyle/>
                    <a:p>
                      <a:pPr algn="l" rtl="0" fontAlgn="ctr">
                        <a:buNone/>
                      </a:pPr>
                      <a:r>
                        <a:rPr lang="en-US" sz="900" b="0" i="0" u="none" strike="noStrike">
                          <a:solidFill>
                            <a:srgbClr val="000000"/>
                          </a:solidFill>
                          <a:effectLst/>
                          <a:latin typeface="Raleway" pitchFamily="2" charset="0"/>
                        </a:rPr>
                        <a:t>Pauline</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56.10%</a:t>
                      </a:r>
                    </a:p>
                  </a:txBody>
                  <a:tcPr marL="0" marR="0" marT="0" marB="0" anchor="ctr">
                    <a:lnL>
                      <a:noFill/>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43.90%</a:t>
                      </a:r>
                    </a:p>
                  </a:txBody>
                  <a:tcPr marL="0" marR="0" marT="0" marB="0" anchor="ctr">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100%</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520900789"/>
                  </a:ext>
                </a:extLst>
              </a:tr>
              <a:tr h="187430">
                <a:tc>
                  <a:txBody>
                    <a:bodyPr/>
                    <a:lstStyle/>
                    <a:p>
                      <a:pPr algn="l" rtl="0" fontAlgn="ctr">
                        <a:buNone/>
                      </a:pPr>
                      <a:r>
                        <a:rPr lang="en-US" sz="900" b="0" i="0" u="none" strike="noStrike">
                          <a:solidFill>
                            <a:srgbClr val="000000"/>
                          </a:solidFill>
                          <a:effectLst/>
                          <a:latin typeface="Raleway" pitchFamily="2" charset="0"/>
                        </a:rPr>
                        <a:t>Ratih</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23.64%</a:t>
                      </a:r>
                    </a:p>
                  </a:txBody>
                  <a:tcPr marL="0" marR="0" marT="0" marB="0" anchor="ctr">
                    <a:lnL>
                      <a:noFill/>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76.36%</a:t>
                      </a:r>
                    </a:p>
                  </a:txBody>
                  <a:tcPr marL="0" marR="0" marT="0" marB="0" anchor="ctr">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100%</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752948008"/>
                  </a:ext>
                </a:extLst>
              </a:tr>
              <a:tr h="187430">
                <a:tc>
                  <a:txBody>
                    <a:bodyPr/>
                    <a:lstStyle/>
                    <a:p>
                      <a:pPr algn="l" rtl="0" fontAlgn="ctr">
                        <a:buNone/>
                      </a:pPr>
                      <a:r>
                        <a:rPr lang="en-US" sz="900" b="0" i="0" u="none" strike="noStrike">
                          <a:solidFill>
                            <a:srgbClr val="000000"/>
                          </a:solidFill>
                          <a:effectLst/>
                          <a:latin typeface="Raleway" pitchFamily="2" charset="0"/>
                        </a:rPr>
                        <a:t>Zwei</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17.50%</a:t>
                      </a:r>
                    </a:p>
                  </a:txBody>
                  <a:tcPr marL="0" marR="0" marT="0" marB="0" anchor="ctr">
                    <a:lnL>
                      <a:noFill/>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82.50%</a:t>
                      </a:r>
                    </a:p>
                  </a:txBody>
                  <a:tcPr marL="0" marR="0" marT="0" marB="0" anchor="ctr">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100%</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53642330"/>
                  </a:ext>
                </a:extLst>
              </a:tr>
              <a:tr h="187430">
                <a:tc>
                  <a:txBody>
                    <a:bodyPr/>
                    <a:lstStyle/>
                    <a:p>
                      <a:pPr algn="l" rtl="0" fontAlgn="ctr">
                        <a:buNone/>
                      </a:pPr>
                      <a:r>
                        <a:rPr lang="en-US" sz="900" b="0" i="0" u="none" strike="noStrike">
                          <a:solidFill>
                            <a:srgbClr val="000000"/>
                          </a:solidFill>
                          <a:effectLst/>
                          <a:latin typeface="Raleway" pitchFamily="2" charset="0"/>
                        </a:rPr>
                        <a:t>Achmad</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70.59%</a:t>
                      </a:r>
                    </a:p>
                  </a:txBody>
                  <a:tcPr marL="0" marR="0" marT="0" marB="0" anchor="ctr">
                    <a:lnL>
                      <a:noFill/>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29.41%</a:t>
                      </a:r>
                    </a:p>
                  </a:txBody>
                  <a:tcPr marL="0" marR="0" marT="0" marB="0" anchor="ctr">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100%</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543376481"/>
                  </a:ext>
                </a:extLst>
              </a:tr>
              <a:tr h="187430">
                <a:tc>
                  <a:txBody>
                    <a:bodyPr/>
                    <a:lstStyle/>
                    <a:p>
                      <a:pPr algn="l" rtl="0" fontAlgn="ctr">
                        <a:buNone/>
                      </a:pPr>
                      <a:r>
                        <a:rPr lang="en-US" sz="900" b="0" i="0" u="none" strike="noStrike">
                          <a:solidFill>
                            <a:srgbClr val="000000"/>
                          </a:solidFill>
                          <a:effectLst/>
                          <a:latin typeface="Raleway" pitchFamily="2" charset="0"/>
                        </a:rPr>
                        <a:t>Eli</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65.69%</a:t>
                      </a:r>
                    </a:p>
                  </a:txBody>
                  <a:tcPr marL="0" marR="0" marT="0" marB="0" anchor="ctr">
                    <a:lnL>
                      <a:noFill/>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34.31%</a:t>
                      </a:r>
                    </a:p>
                  </a:txBody>
                  <a:tcPr marL="0" marR="0" marT="0" marB="0" anchor="ctr">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100%</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707303898"/>
                  </a:ext>
                </a:extLst>
              </a:tr>
              <a:tr h="187430">
                <a:tc>
                  <a:txBody>
                    <a:bodyPr/>
                    <a:lstStyle/>
                    <a:p>
                      <a:pPr algn="l" rtl="0" fontAlgn="ctr">
                        <a:buNone/>
                      </a:pPr>
                      <a:r>
                        <a:rPr lang="en-US" sz="900" b="0" i="0" u="none" strike="noStrike">
                          <a:solidFill>
                            <a:srgbClr val="000000"/>
                          </a:solidFill>
                          <a:effectLst/>
                          <a:latin typeface="Raleway" pitchFamily="2" charset="0"/>
                        </a:rPr>
                        <a:t>Kasanah</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42.27%</a:t>
                      </a:r>
                    </a:p>
                  </a:txBody>
                  <a:tcPr marL="0" marR="0" marT="0" marB="0" anchor="ctr">
                    <a:lnL>
                      <a:noFill/>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57.73%</a:t>
                      </a:r>
                    </a:p>
                  </a:txBody>
                  <a:tcPr marL="0" marR="0" marT="0" marB="0" anchor="ctr">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100%</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167117243"/>
                  </a:ext>
                </a:extLst>
              </a:tr>
              <a:tr h="187430">
                <a:tc>
                  <a:txBody>
                    <a:bodyPr/>
                    <a:lstStyle/>
                    <a:p>
                      <a:pPr algn="l" rtl="0" fontAlgn="ctr">
                        <a:buNone/>
                      </a:pPr>
                      <a:r>
                        <a:rPr lang="en-US" sz="900" b="0" i="0" u="none" strike="noStrike">
                          <a:solidFill>
                            <a:srgbClr val="000000"/>
                          </a:solidFill>
                          <a:effectLst/>
                          <a:latin typeface="Raleway" pitchFamily="2" charset="0"/>
                        </a:rPr>
                        <a:t>Fiscall</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49.32%</a:t>
                      </a:r>
                    </a:p>
                  </a:txBody>
                  <a:tcPr marL="0" marR="0" marT="0" marB="0" anchor="ctr">
                    <a:lnL>
                      <a:noFill/>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50.68%</a:t>
                      </a:r>
                    </a:p>
                  </a:txBody>
                  <a:tcPr marL="0" marR="0" marT="0" marB="0" anchor="ctr">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100%</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1870128806"/>
                  </a:ext>
                </a:extLst>
              </a:tr>
              <a:tr h="187430">
                <a:tc>
                  <a:txBody>
                    <a:bodyPr/>
                    <a:lstStyle/>
                    <a:p>
                      <a:pPr algn="l" rtl="0" fontAlgn="ctr">
                        <a:buNone/>
                      </a:pPr>
                      <a:r>
                        <a:rPr lang="en-US" sz="900" b="0" i="0" u="none" strike="noStrike">
                          <a:solidFill>
                            <a:srgbClr val="000000"/>
                          </a:solidFill>
                          <a:effectLst/>
                          <a:latin typeface="Raleway" pitchFamily="2" charset="0"/>
                        </a:rPr>
                        <a:t>Gabbie</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71.54%</a:t>
                      </a:r>
                    </a:p>
                  </a:txBody>
                  <a:tcPr marL="0" marR="0" marT="0" marB="0" anchor="ctr">
                    <a:lnL>
                      <a:noFill/>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28.46%</a:t>
                      </a:r>
                    </a:p>
                  </a:txBody>
                  <a:tcPr marL="0" marR="0" marT="0" marB="0" anchor="ctr">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100%</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4102839386"/>
                  </a:ext>
                </a:extLst>
              </a:tr>
              <a:tr h="187430">
                <a:tc>
                  <a:txBody>
                    <a:bodyPr/>
                    <a:lstStyle/>
                    <a:p>
                      <a:pPr algn="l" rtl="0" fontAlgn="ctr">
                        <a:buNone/>
                      </a:pPr>
                      <a:r>
                        <a:rPr lang="en-US" sz="900" b="0" i="0" u="none" strike="noStrike">
                          <a:solidFill>
                            <a:srgbClr val="000000"/>
                          </a:solidFill>
                          <a:effectLst/>
                          <a:latin typeface="Raleway" pitchFamily="2" charset="0"/>
                        </a:rPr>
                        <a:t>Salwa</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55.56%</a:t>
                      </a:r>
                    </a:p>
                  </a:txBody>
                  <a:tcPr marL="0" marR="0" marT="0" marB="0" anchor="ctr">
                    <a:lnL>
                      <a:noFill/>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44.44%</a:t>
                      </a:r>
                    </a:p>
                  </a:txBody>
                  <a:tcPr marL="0" marR="0" marT="0" marB="0" anchor="ctr">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100%</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107826523"/>
                  </a:ext>
                </a:extLst>
              </a:tr>
              <a:tr h="187430">
                <a:tc>
                  <a:txBody>
                    <a:bodyPr/>
                    <a:lstStyle/>
                    <a:p>
                      <a:pPr algn="l" rtl="0" fontAlgn="ctr">
                        <a:buNone/>
                      </a:pPr>
                      <a:r>
                        <a:rPr lang="en-US" sz="900" b="0" i="0" u="none" strike="noStrike">
                          <a:solidFill>
                            <a:srgbClr val="000000"/>
                          </a:solidFill>
                          <a:effectLst/>
                          <a:latin typeface="Raleway" pitchFamily="2" charset="0"/>
                        </a:rPr>
                        <a:t>Wahyu</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20.51%</a:t>
                      </a:r>
                    </a:p>
                  </a:txBody>
                  <a:tcPr marL="0" marR="0" marT="0" marB="0" anchor="ctr">
                    <a:lnL>
                      <a:noFill/>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79.49%</a:t>
                      </a:r>
                    </a:p>
                  </a:txBody>
                  <a:tcPr marL="0" marR="0" marT="0" marB="0" anchor="ctr">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100%</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158755739"/>
                  </a:ext>
                </a:extLst>
              </a:tr>
              <a:tr h="187430">
                <a:tc>
                  <a:txBody>
                    <a:bodyPr/>
                    <a:lstStyle/>
                    <a:p>
                      <a:pPr algn="l" rtl="0" fontAlgn="ctr">
                        <a:buNone/>
                      </a:pPr>
                      <a:r>
                        <a:rPr lang="en-US" sz="900" b="0" i="0" u="none" strike="noStrike">
                          <a:solidFill>
                            <a:srgbClr val="000000"/>
                          </a:solidFill>
                          <a:effectLst/>
                          <a:latin typeface="Raleway" pitchFamily="2" charset="0"/>
                        </a:rPr>
                        <a:t>Leo</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32.94%</a:t>
                      </a:r>
                    </a:p>
                  </a:txBody>
                  <a:tcPr marL="0" marR="0" marT="0" marB="0" anchor="ctr">
                    <a:lnL>
                      <a:noFill/>
                    </a:lnL>
                    <a:lnR>
                      <a:noFill/>
                    </a:lnR>
                    <a:lnT>
                      <a:noFill/>
                    </a:lnT>
                    <a:lnB>
                      <a:noFill/>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67.06%</a:t>
                      </a:r>
                    </a:p>
                  </a:txBody>
                  <a:tcPr marL="0" marR="0" marT="0" marB="0" anchor="ctr">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100%</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492684612"/>
                  </a:ext>
                </a:extLst>
              </a:tr>
              <a:tr h="187430">
                <a:tc>
                  <a:txBody>
                    <a:bodyPr/>
                    <a:lstStyle/>
                    <a:p>
                      <a:pPr algn="l" rtl="0" fontAlgn="ctr">
                        <a:buNone/>
                      </a:pPr>
                      <a:r>
                        <a:rPr lang="en-US" sz="900" b="0" i="0" u="none" strike="noStrike">
                          <a:solidFill>
                            <a:srgbClr val="000000"/>
                          </a:solidFill>
                          <a:effectLst/>
                          <a:latin typeface="Raleway" pitchFamily="2" charset="0"/>
                        </a:rPr>
                        <a:t>Elsi</a:t>
                      </a:r>
                    </a:p>
                  </a:txBody>
                  <a:tcPr marL="0" marR="0" marT="0" marB="0" anchor="ctr">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0.00%</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r" fontAlgn="ctr">
                        <a:buNone/>
                      </a:pPr>
                      <a:r>
                        <a:rPr lang="en-US" sz="900" b="0" i="0" u="none" strike="noStrike">
                          <a:solidFill>
                            <a:srgbClr val="000000"/>
                          </a:solidFill>
                          <a:effectLst/>
                          <a:latin typeface="Raleway" pitchFamily="2" charset="0"/>
                        </a:rPr>
                        <a:t>100.00%</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100%</a:t>
                      </a:r>
                    </a:p>
                  </a:txBody>
                  <a:tcPr marL="0" marR="0" marT="0" marB="0" anchor="b">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613980241"/>
                  </a:ext>
                </a:extLst>
              </a:tr>
              <a:tr h="187430">
                <a:tc>
                  <a:txBody>
                    <a:bodyPr/>
                    <a:lstStyle/>
                    <a:p>
                      <a:pPr algn="ctr" rtl="0" fontAlgn="ctr">
                        <a:buNone/>
                      </a:pPr>
                      <a:r>
                        <a:rPr lang="en-US" sz="900" b="1" i="0" u="none" strike="noStrike">
                          <a:solidFill>
                            <a:srgbClr val="000000"/>
                          </a:solidFill>
                          <a:effectLst/>
                          <a:latin typeface="Raleway" pitchFamily="2" charset="0"/>
                        </a:rPr>
                        <a:t>Total</a:t>
                      </a:r>
                    </a:p>
                  </a:txBody>
                  <a:tcPr marL="0" marR="0" marT="0" marB="0" anchor="ctr">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b">
                        <a:buNone/>
                      </a:pPr>
                      <a:r>
                        <a:rPr lang="en-US" sz="900" b="0" i="0" u="none" strike="noStrike">
                          <a:solidFill>
                            <a:srgbClr val="000000"/>
                          </a:solidFill>
                          <a:effectLst/>
                          <a:latin typeface="Raleway" pitchFamily="2" charset="0"/>
                        </a:rPr>
                        <a:t> </a:t>
                      </a:r>
                    </a:p>
                  </a:txBody>
                  <a:tcPr marL="0" marR="0" marT="0"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buNone/>
                      </a:pPr>
                      <a:r>
                        <a:rPr lang="en-US" sz="900" b="0" i="0" u="none" strike="noStrike">
                          <a:solidFill>
                            <a:srgbClr val="000000"/>
                          </a:solidFill>
                          <a:effectLst/>
                          <a:latin typeface="Raleway" pitchFamily="2" charset="0"/>
                        </a:rPr>
                        <a:t> </a:t>
                      </a:r>
                    </a:p>
                  </a:txBody>
                  <a:tcPr marL="0" marR="0" marT="0"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buNone/>
                      </a:pPr>
                      <a:r>
                        <a:rPr lang="en-US" sz="900" b="0" i="0" u="none" strike="noStrike">
                          <a:solidFill>
                            <a:srgbClr val="000000"/>
                          </a:solidFill>
                          <a:effectLst/>
                          <a:latin typeface="Raleway" pitchFamily="2" charset="0"/>
                        </a:rPr>
                        <a:t> </a:t>
                      </a:r>
                    </a:p>
                  </a:txBody>
                  <a:tcPr marL="0" marR="0" marT="0"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514889277"/>
                  </a:ext>
                </a:extLst>
              </a:tr>
            </a:tbl>
          </a:graphicData>
        </a:graphic>
      </p:graphicFrame>
      <p:sp>
        <p:nvSpPr>
          <p:cNvPr id="9" name="Rectangle 8">
            <a:extLst>
              <a:ext uri="{FF2B5EF4-FFF2-40B4-BE49-F238E27FC236}">
                <a16:creationId xmlns:a16="http://schemas.microsoft.com/office/drawing/2014/main" id="{979F0475-60DC-4993-AA7B-16330D7DA4DC}"/>
              </a:ext>
            </a:extLst>
          </p:cNvPr>
          <p:cNvSpPr/>
          <p:nvPr/>
        </p:nvSpPr>
        <p:spPr>
          <a:xfrm>
            <a:off x="1170936" y="2491197"/>
            <a:ext cx="3146507" cy="166883"/>
          </a:xfrm>
          <a:prstGeom prst="rect">
            <a:avLst/>
          </a:prstGeom>
          <a:noFill/>
          <a:ln>
            <a:solidFill>
              <a:srgbClr val="FFC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latin typeface="Raleway" pitchFamily="2" charset="0"/>
            </a:endParaRPr>
          </a:p>
        </p:txBody>
      </p:sp>
      <p:sp>
        <p:nvSpPr>
          <p:cNvPr id="10" name="Rectangle 9">
            <a:extLst>
              <a:ext uri="{FF2B5EF4-FFF2-40B4-BE49-F238E27FC236}">
                <a16:creationId xmlns:a16="http://schemas.microsoft.com/office/drawing/2014/main" id="{68D8894E-C42D-3BA7-D4F1-6274FC2E8A13}"/>
              </a:ext>
            </a:extLst>
          </p:cNvPr>
          <p:cNvSpPr/>
          <p:nvPr/>
        </p:nvSpPr>
        <p:spPr>
          <a:xfrm>
            <a:off x="1170937" y="2331571"/>
            <a:ext cx="3146508" cy="159627"/>
          </a:xfrm>
          <a:prstGeom prst="rect">
            <a:avLst/>
          </a:prstGeom>
          <a:noFill/>
          <a:ln>
            <a:solidFill>
              <a:srgbClr val="FFC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latin typeface="Raleway" pitchFamily="2" charset="0"/>
            </a:endParaRPr>
          </a:p>
        </p:txBody>
      </p:sp>
      <p:sp>
        <p:nvSpPr>
          <p:cNvPr id="11" name="Rectangle 10">
            <a:extLst>
              <a:ext uri="{FF2B5EF4-FFF2-40B4-BE49-F238E27FC236}">
                <a16:creationId xmlns:a16="http://schemas.microsoft.com/office/drawing/2014/main" id="{57D09BB0-4D97-98C7-EF75-E31DA8192140}"/>
              </a:ext>
            </a:extLst>
          </p:cNvPr>
          <p:cNvSpPr/>
          <p:nvPr/>
        </p:nvSpPr>
        <p:spPr>
          <a:xfrm>
            <a:off x="583109" y="3426072"/>
            <a:ext cx="5200278" cy="159641"/>
          </a:xfrm>
          <a:prstGeom prst="rect">
            <a:avLst/>
          </a:prstGeom>
          <a:noFill/>
          <a:ln>
            <a:solidFill>
              <a:srgbClr val="FFC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latin typeface="Raleway" pitchFamily="2" charset="0"/>
            </a:endParaRPr>
          </a:p>
        </p:txBody>
      </p:sp>
    </p:spTree>
    <p:extLst>
      <p:ext uri="{BB962C8B-B14F-4D97-AF65-F5344CB8AC3E}">
        <p14:creationId xmlns:p14="http://schemas.microsoft.com/office/powerpoint/2010/main" val="4004955980"/>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05E90958-0317-A674-68B5-DCAFECF033A4}"/>
              </a:ext>
            </a:extLst>
          </p:cNvPr>
          <p:cNvSpPr txBox="1"/>
          <p:nvPr/>
        </p:nvSpPr>
        <p:spPr>
          <a:xfrm>
            <a:off x="765850" y="134607"/>
            <a:ext cx="10335779" cy="523220"/>
          </a:xfrm>
          <a:prstGeom prst="rect">
            <a:avLst/>
          </a:prstGeom>
          <a:noFill/>
        </p:spPr>
        <p:txBody>
          <a:bodyPr wrap="square">
            <a:spAutoFit/>
          </a:bodyPr>
          <a:lstStyle/>
          <a:p>
            <a:pPr algn="ctr"/>
            <a:r>
              <a:rPr lang="en-US" sz="2800" b="1" err="1">
                <a:solidFill>
                  <a:srgbClr val="002060"/>
                </a:solidFill>
                <a:latin typeface="Raleway" pitchFamily="2" charset="0"/>
              </a:rPr>
              <a:t>Pemenuhan</a:t>
            </a:r>
            <a:r>
              <a:rPr lang="en-US" sz="2800" b="1">
                <a:solidFill>
                  <a:srgbClr val="002060"/>
                </a:solidFill>
                <a:latin typeface="Raleway" pitchFamily="2" charset="0"/>
              </a:rPr>
              <a:t> SDM per Recruiter</a:t>
            </a:r>
          </a:p>
        </p:txBody>
      </p:sp>
      <p:sp>
        <p:nvSpPr>
          <p:cNvPr id="4" name="Position ClosedperRecruitersesuaiSLA">
            <a:extLst>
              <a:ext uri="{FF2B5EF4-FFF2-40B4-BE49-F238E27FC236}">
                <a16:creationId xmlns:a16="http://schemas.microsoft.com/office/drawing/2014/main" id="{7C2E859B-188C-603D-FCDB-37A4AAEEE9A7}"/>
              </a:ext>
            </a:extLst>
          </p:cNvPr>
          <p:cNvSpPr txBox="1"/>
          <p:nvPr/>
        </p:nvSpPr>
        <p:spPr>
          <a:xfrm>
            <a:off x="287079" y="820422"/>
            <a:ext cx="10335779" cy="338554"/>
          </a:xfrm>
          <a:prstGeom prst="rect">
            <a:avLst/>
          </a:prstGeom>
          <a:noFill/>
        </p:spPr>
        <p:txBody>
          <a:bodyPr wrap="square" lIns="91440" tIns="45720" rIns="91440" bIns="45720" anchor="t">
            <a:spAutoFit/>
          </a:bodyPr>
          <a:lstStyle/>
          <a:p>
            <a:r>
              <a:rPr lang="en-US" sz="1600" b="1">
                <a:solidFill>
                  <a:srgbClr val="C00000"/>
                </a:solidFill>
                <a:latin typeface="Raleway"/>
              </a:rPr>
              <a:t>3. Position Closed per Recruiter </a:t>
            </a:r>
            <a:r>
              <a:rPr lang="en-US" sz="1600" b="1" err="1">
                <a:solidFill>
                  <a:srgbClr val="C00000"/>
                </a:solidFill>
                <a:latin typeface="Raleway"/>
              </a:rPr>
              <a:t>sesuai</a:t>
            </a:r>
            <a:r>
              <a:rPr lang="en-US" sz="1600" b="1">
                <a:solidFill>
                  <a:srgbClr val="C00000"/>
                </a:solidFill>
                <a:latin typeface="Raleway"/>
              </a:rPr>
              <a:t> SLA</a:t>
            </a:r>
          </a:p>
        </p:txBody>
      </p:sp>
      <p:sp>
        <p:nvSpPr>
          <p:cNvPr id="9" name="TextBox 8">
            <a:extLst>
              <a:ext uri="{FF2B5EF4-FFF2-40B4-BE49-F238E27FC236}">
                <a16:creationId xmlns:a16="http://schemas.microsoft.com/office/drawing/2014/main" id="{C9685508-FE3E-4A9D-E35F-F96DC0E791BB}"/>
              </a:ext>
            </a:extLst>
          </p:cNvPr>
          <p:cNvSpPr txBox="1"/>
          <p:nvPr/>
        </p:nvSpPr>
        <p:spPr>
          <a:xfrm>
            <a:off x="7932567" y="1686655"/>
            <a:ext cx="3695364" cy="3600986"/>
          </a:xfrm>
          <a:prstGeom prst="rect">
            <a:avLst/>
          </a:prstGeom>
          <a:noFill/>
        </p:spPr>
        <p:txBody>
          <a:bodyPr wrap="square" lIns="91440" tIns="45720" rIns="91440" bIns="45720" anchor="t">
            <a:spAutoFit/>
          </a:bodyPr>
          <a:lstStyle/>
          <a:p>
            <a:pPr marL="285750" indent="-285750">
              <a:buFont typeface="Arial" panose="020B0604020202020204" pitchFamily="34" charset="0"/>
              <a:buChar char="•"/>
            </a:pPr>
            <a:r>
              <a:rPr lang="en-US" sz="1200" b="1">
                <a:latin typeface="Raleway"/>
              </a:rPr>
              <a:t>Wahyu (CMD Pasuruan) mencapai peringkat 1 (80%) untuk pemenuhan SDM sesuai SLA. Namun sebagai catatan, posisi yang di close oleh Wahyu merupakan Operator dan merupakan peralihan dari OS.​
Eli (MP Citeureup) mencapai peringkat 2 (70.73%) untuk pemenuhan SDM sesuai SLA. Ybs gencar follow up User dan mengirimkan kandidat kepada User.​
Elsi (CMD Sentul) duduk di peringkat 3 untuk pemenuhan SDM sesuai SLA (69.57%). Ybs aktif follow up &amp; update kepada User untuk memastikan kandidat diproses lebih lanjut. Namun per 20 Mei 2026, Ybs pindah ke posisi People &amp; Organization Development Staff dan digantikan oleh Salwa (TA CMD Sentul).</a:t>
            </a:r>
            <a:endParaRPr lang="en-US" sz="1200">
              <a:latin typeface="Raleway"/>
            </a:endParaRPr>
          </a:p>
        </p:txBody>
      </p:sp>
      <p:sp>
        <p:nvSpPr>
          <p:cNvPr id="10" name="TextBox 9">
            <a:extLst>
              <a:ext uri="{FF2B5EF4-FFF2-40B4-BE49-F238E27FC236}">
                <a16:creationId xmlns:a16="http://schemas.microsoft.com/office/drawing/2014/main" id="{0AC0C453-11BD-946A-EAE1-208C27C30E09}"/>
              </a:ext>
            </a:extLst>
          </p:cNvPr>
          <p:cNvSpPr txBox="1"/>
          <p:nvPr/>
        </p:nvSpPr>
        <p:spPr>
          <a:xfrm>
            <a:off x="7932567" y="1274825"/>
            <a:ext cx="1417784" cy="369332"/>
          </a:xfrm>
          <a:prstGeom prst="rect">
            <a:avLst/>
          </a:prstGeom>
          <a:noFill/>
        </p:spPr>
        <p:txBody>
          <a:bodyPr wrap="square">
            <a:spAutoFit/>
          </a:bodyPr>
          <a:lstStyle/>
          <a:p>
            <a:r>
              <a:rPr lang="en-US" b="1">
                <a:solidFill>
                  <a:srgbClr val="002060"/>
                </a:solidFill>
                <a:latin typeface="Raleway" pitchFamily="2" charset="0"/>
              </a:rPr>
              <a:t>Insights: </a:t>
            </a:r>
            <a:endParaRPr lang="en-US">
              <a:solidFill>
                <a:srgbClr val="002060"/>
              </a:solidFill>
              <a:latin typeface="Raleway" pitchFamily="2" charset="0"/>
            </a:endParaRPr>
          </a:p>
        </p:txBody>
      </p:sp>
      <p:sp>
        <p:nvSpPr>
          <p:cNvPr id="12" name="Rectangle 11">
            <a:extLst>
              <a:ext uri="{FF2B5EF4-FFF2-40B4-BE49-F238E27FC236}">
                <a16:creationId xmlns:a16="http://schemas.microsoft.com/office/drawing/2014/main" id="{8AF7BFBD-0F33-6B09-BA8F-8BA4A0E1F0BF}"/>
              </a:ext>
            </a:extLst>
          </p:cNvPr>
          <p:cNvSpPr/>
          <p:nvPr/>
        </p:nvSpPr>
        <p:spPr>
          <a:xfrm>
            <a:off x="395932" y="5990404"/>
            <a:ext cx="7037597" cy="258725"/>
          </a:xfrm>
          <a:prstGeom prst="rect">
            <a:avLst/>
          </a:prstGeom>
          <a:noFill/>
          <a:ln>
            <a:solidFill>
              <a:srgbClr val="FFC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Raleway" pitchFamily="2" charset="0"/>
            </a:endParaRPr>
          </a:p>
        </p:txBody>
      </p:sp>
      <p:sp>
        <p:nvSpPr>
          <p:cNvPr id="13" name="Rectangle 12">
            <a:extLst>
              <a:ext uri="{FF2B5EF4-FFF2-40B4-BE49-F238E27FC236}">
                <a16:creationId xmlns:a16="http://schemas.microsoft.com/office/drawing/2014/main" id="{FC2ABA1C-A754-92E2-7C61-AF386A6DE979}"/>
              </a:ext>
            </a:extLst>
          </p:cNvPr>
          <p:cNvSpPr/>
          <p:nvPr/>
        </p:nvSpPr>
        <p:spPr>
          <a:xfrm>
            <a:off x="395932" y="4238748"/>
            <a:ext cx="7044854" cy="236954"/>
          </a:xfrm>
          <a:prstGeom prst="rect">
            <a:avLst/>
          </a:prstGeom>
          <a:noFill/>
          <a:ln>
            <a:solidFill>
              <a:srgbClr val="FFC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Raleway" pitchFamily="2" charset="0"/>
            </a:endParaRPr>
          </a:p>
        </p:txBody>
      </p:sp>
      <p:sp>
        <p:nvSpPr>
          <p:cNvPr id="14" name="Rectangle 13">
            <a:extLst>
              <a:ext uri="{FF2B5EF4-FFF2-40B4-BE49-F238E27FC236}">
                <a16:creationId xmlns:a16="http://schemas.microsoft.com/office/drawing/2014/main" id="{187CBC24-3492-B4C3-6021-B832A4223671}"/>
              </a:ext>
            </a:extLst>
          </p:cNvPr>
          <p:cNvSpPr/>
          <p:nvPr/>
        </p:nvSpPr>
        <p:spPr>
          <a:xfrm>
            <a:off x="287079" y="2184823"/>
            <a:ext cx="7037597" cy="280498"/>
          </a:xfrm>
          <a:prstGeom prst="rect">
            <a:avLst/>
          </a:prstGeom>
          <a:noFill/>
          <a:ln>
            <a:solidFill>
              <a:srgbClr val="FFC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Raleway" pitchFamily="2" charset="0"/>
            </a:endParaRPr>
          </a:p>
        </p:txBody>
      </p:sp>
      <p:graphicFrame>
        <p:nvGraphicFramePr>
          <p:cNvPr id="3" name="ClosedperRecruitersesuaiSLA">
            <a:extLst>
              <a:ext uri="{FF2B5EF4-FFF2-40B4-BE49-F238E27FC236}">
                <a16:creationId xmlns:a16="http://schemas.microsoft.com/office/drawing/2014/main" id="{1128F07F-F954-0052-376B-7A6B296C7CF9}"/>
              </a:ext>
            </a:extLst>
          </p:cNvPr>
          <p:cNvGraphicFramePr>
            <a:graphicFrameLocks noGrp="1"/>
          </p:cNvGraphicFramePr>
          <p:nvPr>
            <p:extLst>
              <p:ext uri="{D42A27DB-BD31-4B8C-83A1-F6EECF244321}">
                <p14:modId xmlns:p14="http://schemas.microsoft.com/office/powerpoint/2010/main" val="652548366"/>
              </p:ext>
            </p:extLst>
          </p:nvPr>
        </p:nvGraphicFramePr>
        <p:xfrm>
          <a:off x="564068" y="1158976"/>
          <a:ext cx="4096829" cy="4878605"/>
        </p:xfrm>
        <a:graphic>
          <a:graphicData uri="http://schemas.openxmlformats.org/drawingml/2006/table">
            <a:tbl>
              <a:tblPr/>
              <a:tblGrid>
                <a:gridCol w="866186">
                  <a:extLst>
                    <a:ext uri="{9D8B030D-6E8A-4147-A177-3AD203B41FA5}">
                      <a16:colId xmlns:a16="http://schemas.microsoft.com/office/drawing/2014/main" val="2628988443"/>
                    </a:ext>
                  </a:extLst>
                </a:gridCol>
                <a:gridCol w="596967">
                  <a:extLst>
                    <a:ext uri="{9D8B030D-6E8A-4147-A177-3AD203B41FA5}">
                      <a16:colId xmlns:a16="http://schemas.microsoft.com/office/drawing/2014/main" val="341549457"/>
                    </a:ext>
                  </a:extLst>
                </a:gridCol>
                <a:gridCol w="596967">
                  <a:extLst>
                    <a:ext uri="{9D8B030D-6E8A-4147-A177-3AD203B41FA5}">
                      <a16:colId xmlns:a16="http://schemas.microsoft.com/office/drawing/2014/main" val="179552218"/>
                    </a:ext>
                  </a:extLst>
                </a:gridCol>
                <a:gridCol w="678903">
                  <a:extLst>
                    <a:ext uri="{9D8B030D-6E8A-4147-A177-3AD203B41FA5}">
                      <a16:colId xmlns:a16="http://schemas.microsoft.com/office/drawing/2014/main" val="2609244765"/>
                    </a:ext>
                  </a:extLst>
                </a:gridCol>
                <a:gridCol w="678903">
                  <a:extLst>
                    <a:ext uri="{9D8B030D-6E8A-4147-A177-3AD203B41FA5}">
                      <a16:colId xmlns:a16="http://schemas.microsoft.com/office/drawing/2014/main" val="1625806553"/>
                    </a:ext>
                  </a:extLst>
                </a:gridCol>
                <a:gridCol w="678903">
                  <a:extLst>
                    <a:ext uri="{9D8B030D-6E8A-4147-A177-3AD203B41FA5}">
                      <a16:colId xmlns:a16="http://schemas.microsoft.com/office/drawing/2014/main" val="2441174691"/>
                    </a:ext>
                  </a:extLst>
                </a:gridCol>
              </a:tblGrid>
              <a:tr h="719795">
                <a:tc>
                  <a:txBody>
                    <a:bodyPr/>
                    <a:lstStyle/>
                    <a:p>
                      <a:pPr algn="ctr" rtl="0" fontAlgn="ctr">
                        <a:buNone/>
                      </a:pPr>
                      <a:r>
                        <a:rPr lang="en-US" sz="1000" b="1" i="0" u="none" strike="noStrike">
                          <a:solidFill>
                            <a:srgbClr val="FFFFFF"/>
                          </a:solidFill>
                          <a:effectLst/>
                          <a:latin typeface="Raleway" pitchFamily="2" charset="0"/>
                        </a:rPr>
                        <a:t>Recruiter</a:t>
                      </a:r>
                    </a:p>
                  </a:txBody>
                  <a:tcPr marL="0" marR="0" marT="0" marB="0" anchor="ctr">
                    <a:lnL w="12700" cap="flat" cmpd="sng" algn="ctr">
                      <a:solidFill>
                        <a:srgbClr val="000000"/>
                      </a:solidFill>
                      <a:prstDash val="solid"/>
                      <a:round/>
                      <a:headEnd type="none" w="med" len="med"/>
                      <a:tailEnd type="none" w="med" len="med"/>
                    </a:lnL>
                    <a:lnR w="6350" cap="flat" cmpd="sng" algn="ctr">
                      <a:solidFill>
                        <a:srgbClr val="CBD5E1"/>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Total Closed</a:t>
                      </a:r>
                    </a:p>
                  </a:txBody>
                  <a:tcPr marL="0" marR="0" marT="0" marB="0" anchor="ctr">
                    <a:lnL w="6350" cap="flat" cmpd="sng" algn="ctr">
                      <a:solidFill>
                        <a:srgbClr val="CBD5E1"/>
                      </a:solidFill>
                      <a:prstDash val="solid"/>
                      <a:round/>
                      <a:headEnd type="none" w="med" len="med"/>
                      <a:tailEnd type="none" w="med" len="med"/>
                    </a:lnL>
                    <a:lnR w="6350" cap="flat" cmpd="sng" algn="ctr">
                      <a:solidFill>
                        <a:srgbClr val="CBD5E1"/>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Sesuai SLA</a:t>
                      </a:r>
                    </a:p>
                  </a:txBody>
                  <a:tcPr marL="0" marR="0" marT="0" marB="0" anchor="ctr">
                    <a:lnL w="6350" cap="flat" cmpd="sng" algn="ctr">
                      <a:solidFill>
                        <a:srgbClr val="CBD5E1"/>
                      </a:solidFill>
                      <a:prstDash val="solid"/>
                      <a:round/>
                      <a:headEnd type="none" w="med" len="med"/>
                      <a:tailEnd type="none" w="med" len="med"/>
                    </a:lnL>
                    <a:lnR w="6350" cap="flat" cmpd="sng" algn="ctr">
                      <a:solidFill>
                        <a:srgbClr val="CBD5E1"/>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Tidak Sesuai SLA</a:t>
                      </a:r>
                    </a:p>
                  </a:txBody>
                  <a:tcPr marL="0" marR="0" marT="0" marB="0" anchor="ctr">
                    <a:lnL w="6350" cap="flat" cmpd="sng" algn="ctr">
                      <a:solidFill>
                        <a:srgbClr val="CBD5E1"/>
                      </a:solidFill>
                      <a:prstDash val="solid"/>
                      <a:round/>
                      <a:headEnd type="none" w="med" len="med"/>
                      <a:tailEnd type="none" w="med" len="med"/>
                    </a:lnL>
                    <a:lnR w="6350" cap="flat" cmpd="sng" algn="ctr">
                      <a:solidFill>
                        <a:srgbClr val="CBD5E1"/>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OP </a:t>
                      </a:r>
                      <a:br>
                        <a:rPr lang="en-US" sz="1000" b="1" i="0" u="none" strike="noStrike">
                          <a:solidFill>
                            <a:srgbClr val="FFFFFF"/>
                          </a:solidFill>
                          <a:effectLst/>
                          <a:latin typeface="Raleway" pitchFamily="2" charset="0"/>
                        </a:rPr>
                      </a:br>
                      <a:r>
                        <a:rPr lang="en-US" sz="1000" b="1" i="0" u="none" strike="noStrike">
                          <a:solidFill>
                            <a:srgbClr val="FFFFFF"/>
                          </a:solidFill>
                          <a:effectLst/>
                          <a:latin typeface="Raleway" pitchFamily="2" charset="0"/>
                        </a:rPr>
                        <a:t>Lewat</a:t>
                      </a:r>
                      <a:br>
                        <a:rPr lang="en-US" sz="1000" b="1" i="0" u="none" strike="noStrike">
                          <a:solidFill>
                            <a:srgbClr val="FFFFFF"/>
                          </a:solidFill>
                          <a:effectLst/>
                          <a:latin typeface="Raleway" pitchFamily="2" charset="0"/>
                        </a:rPr>
                      </a:br>
                      <a:r>
                        <a:rPr lang="en-US" sz="1000" b="1" i="0" u="none" strike="noStrike">
                          <a:solidFill>
                            <a:srgbClr val="FFFFFF"/>
                          </a:solidFill>
                          <a:effectLst/>
                          <a:latin typeface="Raleway" pitchFamily="2" charset="0"/>
                        </a:rPr>
                        <a:t>SLA</a:t>
                      </a:r>
                    </a:p>
                  </a:txBody>
                  <a:tcPr marL="0" marR="0" marT="0" marB="0" anchor="ctr">
                    <a:lnL w="6350" cap="flat" cmpd="sng" algn="ctr">
                      <a:solidFill>
                        <a:srgbClr val="CBD5E1"/>
                      </a:solidFill>
                      <a:prstDash val="solid"/>
                      <a:round/>
                      <a:headEnd type="none" w="med" len="med"/>
                      <a:tailEnd type="none" w="med" len="med"/>
                    </a:lnL>
                    <a:lnR w="6350" cap="flat" cmpd="sng" algn="ctr">
                      <a:solidFill>
                        <a:srgbClr val="CBD5E1"/>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Rate (%)</a:t>
                      </a:r>
                    </a:p>
                  </a:txBody>
                  <a:tcPr marL="0" marR="0" marT="0" marB="0" anchor="ctr">
                    <a:lnL w="6350" cap="flat" cmpd="sng" algn="ctr">
                      <a:solidFill>
                        <a:srgbClr val="CBD5E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002060"/>
                    </a:solidFill>
                  </a:tcPr>
                </a:tc>
                <a:extLst>
                  <a:ext uri="{0D108BD9-81ED-4DB2-BD59-A6C34878D82A}">
                    <a16:rowId xmlns:a16="http://schemas.microsoft.com/office/drawing/2014/main" val="1922207504"/>
                  </a:ext>
                </a:extLst>
              </a:tr>
              <a:tr h="231045">
                <a:tc>
                  <a:txBody>
                    <a:bodyPr/>
                    <a:lstStyle/>
                    <a:p>
                      <a:pPr algn="l" rtl="0" fontAlgn="b">
                        <a:buNone/>
                      </a:pPr>
                      <a:r>
                        <a:rPr lang="en-US" sz="900" b="1" i="0" u="none" strike="noStrike">
                          <a:solidFill>
                            <a:srgbClr val="002060"/>
                          </a:solidFill>
                          <a:effectLst/>
                          <a:latin typeface="Raleway" pitchFamily="2" charset="0"/>
                        </a:rPr>
                        <a:t>Alexa</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70</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22</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48</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10</a:t>
                      </a:r>
                    </a:p>
                  </a:txBody>
                  <a:tcPr marL="0" marR="0" marT="0" marB="0" anchor="b">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27.50%</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886775934"/>
                  </a:ext>
                </a:extLst>
              </a:tr>
              <a:tr h="231045">
                <a:tc>
                  <a:txBody>
                    <a:bodyPr/>
                    <a:lstStyle/>
                    <a:p>
                      <a:pPr algn="l" rtl="0" fontAlgn="b">
                        <a:buNone/>
                      </a:pPr>
                      <a:r>
                        <a:rPr lang="en-US" sz="900" b="1" i="0" u="none" strike="noStrike">
                          <a:solidFill>
                            <a:srgbClr val="002060"/>
                          </a:solidFill>
                          <a:effectLst/>
                          <a:latin typeface="Raleway" pitchFamily="2" charset="0"/>
                        </a:rPr>
                        <a:t>Brittney</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120</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73</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47</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60.83%</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834538470"/>
                  </a:ext>
                </a:extLst>
              </a:tr>
              <a:tr h="231045">
                <a:tc>
                  <a:txBody>
                    <a:bodyPr/>
                    <a:lstStyle/>
                    <a:p>
                      <a:pPr algn="l" rtl="0" fontAlgn="b">
                        <a:buNone/>
                      </a:pPr>
                      <a:r>
                        <a:rPr lang="en-US" sz="900" b="1" i="0" u="none" strike="noStrike">
                          <a:solidFill>
                            <a:srgbClr val="002060"/>
                          </a:solidFill>
                          <a:effectLst/>
                          <a:latin typeface="Raleway" pitchFamily="2" charset="0"/>
                        </a:rPr>
                        <a:t>Omega</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127</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61</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66</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5</a:t>
                      </a:r>
                    </a:p>
                  </a:txBody>
                  <a:tcPr marL="0" marR="0" marT="0" marB="0" anchor="b">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46.21%</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795128546"/>
                  </a:ext>
                </a:extLst>
              </a:tr>
              <a:tr h="231045">
                <a:tc>
                  <a:txBody>
                    <a:bodyPr/>
                    <a:lstStyle/>
                    <a:p>
                      <a:pPr algn="l" rtl="0" fontAlgn="b">
                        <a:buNone/>
                      </a:pPr>
                      <a:r>
                        <a:rPr lang="en-US" sz="900" b="1" i="0" u="none" strike="noStrike">
                          <a:solidFill>
                            <a:srgbClr val="002060"/>
                          </a:solidFill>
                          <a:effectLst/>
                          <a:latin typeface="Raleway" pitchFamily="2" charset="0"/>
                        </a:rPr>
                        <a:t>Karin</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4</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2</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2</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27</a:t>
                      </a:r>
                    </a:p>
                  </a:txBody>
                  <a:tcPr marL="0" marR="0" marT="0" marB="0" anchor="b">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6.45%</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21507564"/>
                  </a:ext>
                </a:extLst>
              </a:tr>
              <a:tr h="231045">
                <a:tc>
                  <a:txBody>
                    <a:bodyPr/>
                    <a:lstStyle/>
                    <a:p>
                      <a:pPr algn="l" rtl="0" fontAlgn="b">
                        <a:buNone/>
                      </a:pPr>
                      <a:r>
                        <a:rPr lang="en-US" sz="900" b="1" i="0" u="none" strike="noStrike">
                          <a:solidFill>
                            <a:srgbClr val="002060"/>
                          </a:solidFill>
                          <a:effectLst/>
                          <a:latin typeface="Raleway" pitchFamily="2" charset="0"/>
                        </a:rPr>
                        <a:t>Kenthansen</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1</a:t>
                      </a:r>
                    </a:p>
                  </a:txBody>
                  <a:tcPr marL="0" marR="0" marT="0" marB="0" anchor="b">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0.00%</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870706648"/>
                  </a:ext>
                </a:extLst>
              </a:tr>
              <a:tr h="231045">
                <a:tc>
                  <a:txBody>
                    <a:bodyPr/>
                    <a:lstStyle/>
                    <a:p>
                      <a:pPr algn="l" rtl="0" fontAlgn="b">
                        <a:buNone/>
                      </a:pPr>
                      <a:r>
                        <a:rPr lang="en-US" sz="900" b="1" i="0" u="none" strike="noStrike">
                          <a:solidFill>
                            <a:srgbClr val="002060"/>
                          </a:solidFill>
                          <a:effectLst/>
                          <a:latin typeface="Raleway" pitchFamily="2" charset="0"/>
                        </a:rPr>
                        <a:t>Marta</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128</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62</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66</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19</a:t>
                      </a:r>
                    </a:p>
                  </a:txBody>
                  <a:tcPr marL="0" marR="0" marT="0" marB="0" anchor="b">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42.18%</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754481600"/>
                  </a:ext>
                </a:extLst>
              </a:tr>
              <a:tr h="231045">
                <a:tc>
                  <a:txBody>
                    <a:bodyPr/>
                    <a:lstStyle/>
                    <a:p>
                      <a:pPr algn="l" rtl="0" fontAlgn="b">
                        <a:buNone/>
                      </a:pPr>
                      <a:r>
                        <a:rPr lang="en-US" sz="900" b="1" i="0" u="none" strike="noStrike">
                          <a:solidFill>
                            <a:srgbClr val="002060"/>
                          </a:solidFill>
                          <a:effectLst/>
                          <a:latin typeface="Raleway" pitchFamily="2" charset="0"/>
                        </a:rPr>
                        <a:t>Pauline</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18</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6</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12</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33.33%</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730783554"/>
                  </a:ext>
                </a:extLst>
              </a:tr>
              <a:tr h="231045">
                <a:tc>
                  <a:txBody>
                    <a:bodyPr/>
                    <a:lstStyle/>
                    <a:p>
                      <a:pPr algn="l" rtl="0" fontAlgn="b">
                        <a:buNone/>
                      </a:pPr>
                      <a:r>
                        <a:rPr lang="en-US" sz="900" b="1" i="0" u="none" strike="noStrike">
                          <a:solidFill>
                            <a:srgbClr val="002060"/>
                          </a:solidFill>
                          <a:effectLst/>
                          <a:latin typeface="Raleway" pitchFamily="2" charset="0"/>
                        </a:rPr>
                        <a:t>Ratih</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82</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37</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45</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45.12%</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101088646"/>
                  </a:ext>
                </a:extLst>
              </a:tr>
              <a:tr h="231045">
                <a:tc>
                  <a:txBody>
                    <a:bodyPr/>
                    <a:lstStyle/>
                    <a:p>
                      <a:pPr algn="l" rtl="0" fontAlgn="b">
                        <a:buNone/>
                      </a:pPr>
                      <a:r>
                        <a:rPr lang="en-US" sz="900" b="1" i="0" u="none" strike="noStrike">
                          <a:solidFill>
                            <a:srgbClr val="002060"/>
                          </a:solidFill>
                          <a:effectLst/>
                          <a:latin typeface="Raleway" pitchFamily="2" charset="0"/>
                        </a:rPr>
                        <a:t>Zwei</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97</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76</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21</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7</a:t>
                      </a:r>
                    </a:p>
                  </a:txBody>
                  <a:tcPr marL="0" marR="0" marT="0" marB="0" anchor="b">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73.08%</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04678530"/>
                  </a:ext>
                </a:extLst>
              </a:tr>
              <a:tr h="231045">
                <a:tc>
                  <a:txBody>
                    <a:bodyPr/>
                    <a:lstStyle/>
                    <a:p>
                      <a:pPr algn="l" rtl="0" fontAlgn="b">
                        <a:buNone/>
                      </a:pPr>
                      <a:r>
                        <a:rPr lang="en-US" sz="900" b="1" i="0" u="none" strike="noStrike">
                          <a:solidFill>
                            <a:srgbClr val="002060"/>
                          </a:solidFill>
                          <a:effectLst/>
                          <a:latin typeface="Raleway" pitchFamily="2" charset="0"/>
                        </a:rPr>
                        <a:t>Achmad</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#DIV/0!</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1192843177"/>
                  </a:ext>
                </a:extLst>
              </a:tr>
              <a:tr h="231045">
                <a:tc>
                  <a:txBody>
                    <a:bodyPr/>
                    <a:lstStyle/>
                    <a:p>
                      <a:pPr algn="l" rtl="0" fontAlgn="b">
                        <a:buNone/>
                      </a:pPr>
                      <a:r>
                        <a:rPr lang="en-US" sz="900" b="1" i="0" u="none" strike="noStrike">
                          <a:solidFill>
                            <a:srgbClr val="002060"/>
                          </a:solidFill>
                          <a:effectLst/>
                          <a:latin typeface="Raleway" pitchFamily="2" charset="0"/>
                        </a:rPr>
                        <a:t>Eli</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#DIV/0!</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1592284252"/>
                  </a:ext>
                </a:extLst>
              </a:tr>
              <a:tr h="231045">
                <a:tc>
                  <a:txBody>
                    <a:bodyPr/>
                    <a:lstStyle/>
                    <a:p>
                      <a:pPr algn="l" rtl="0" fontAlgn="b">
                        <a:buNone/>
                      </a:pPr>
                      <a:r>
                        <a:rPr lang="en-US" sz="900" b="1" i="0" u="none" strike="noStrike">
                          <a:solidFill>
                            <a:srgbClr val="002060"/>
                          </a:solidFill>
                          <a:effectLst/>
                          <a:latin typeface="Raleway" pitchFamily="2" charset="0"/>
                        </a:rPr>
                        <a:t>Kasanah</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#DIV/0!</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753224454"/>
                  </a:ext>
                </a:extLst>
              </a:tr>
              <a:tr h="231045">
                <a:tc>
                  <a:txBody>
                    <a:bodyPr/>
                    <a:lstStyle/>
                    <a:p>
                      <a:pPr algn="l" rtl="0" fontAlgn="b">
                        <a:buNone/>
                      </a:pPr>
                      <a:r>
                        <a:rPr lang="en-US" sz="900" b="1" i="0" u="none" strike="noStrike">
                          <a:solidFill>
                            <a:srgbClr val="002060"/>
                          </a:solidFill>
                          <a:effectLst/>
                          <a:latin typeface="Raleway" pitchFamily="2" charset="0"/>
                        </a:rPr>
                        <a:t>Fiscall</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37</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18</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19</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48.65%</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608220040"/>
                  </a:ext>
                </a:extLst>
              </a:tr>
              <a:tr h="231045">
                <a:tc>
                  <a:txBody>
                    <a:bodyPr/>
                    <a:lstStyle/>
                    <a:p>
                      <a:pPr algn="l" rtl="0" fontAlgn="b">
                        <a:buNone/>
                      </a:pPr>
                      <a:r>
                        <a:rPr lang="en-US" sz="900" b="1" i="0" u="none" strike="noStrike">
                          <a:solidFill>
                            <a:srgbClr val="002060"/>
                          </a:solidFill>
                          <a:effectLst/>
                          <a:latin typeface="Raleway" pitchFamily="2" charset="0"/>
                        </a:rPr>
                        <a:t>Gabbie</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34</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4</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30</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11.76%</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76325242"/>
                  </a:ext>
                </a:extLst>
              </a:tr>
              <a:tr h="231045">
                <a:tc>
                  <a:txBody>
                    <a:bodyPr/>
                    <a:lstStyle/>
                    <a:p>
                      <a:pPr algn="l" rtl="0" fontAlgn="b">
                        <a:buNone/>
                      </a:pPr>
                      <a:r>
                        <a:rPr lang="en-US" sz="900" b="1" i="0" u="none" strike="noStrike">
                          <a:solidFill>
                            <a:srgbClr val="002060"/>
                          </a:solidFill>
                          <a:effectLst/>
                          <a:latin typeface="Raleway" pitchFamily="2" charset="0"/>
                        </a:rPr>
                        <a:t>Salwa</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7</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2</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5</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28.57%</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1447363123"/>
                  </a:ext>
                </a:extLst>
              </a:tr>
              <a:tr h="231045">
                <a:tc>
                  <a:txBody>
                    <a:bodyPr/>
                    <a:lstStyle/>
                    <a:p>
                      <a:pPr algn="l" rtl="0" fontAlgn="b">
                        <a:buNone/>
                      </a:pPr>
                      <a:r>
                        <a:rPr lang="en-US" sz="900" b="1" i="0" u="none" strike="noStrike">
                          <a:solidFill>
                            <a:srgbClr val="002060"/>
                          </a:solidFill>
                          <a:effectLst/>
                          <a:latin typeface="Raleway" pitchFamily="2" charset="0"/>
                        </a:rPr>
                        <a:t>Wahyu</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31</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26</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5</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83.87%</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203750213"/>
                  </a:ext>
                </a:extLst>
              </a:tr>
              <a:tr h="231045">
                <a:tc>
                  <a:txBody>
                    <a:bodyPr/>
                    <a:lstStyle/>
                    <a:p>
                      <a:pPr algn="l" rtl="0" fontAlgn="b">
                        <a:buNone/>
                      </a:pPr>
                      <a:r>
                        <a:rPr lang="en-US" sz="900" b="1" i="0" u="none" strike="noStrike">
                          <a:solidFill>
                            <a:srgbClr val="002060"/>
                          </a:solidFill>
                          <a:effectLst/>
                          <a:latin typeface="Raleway" pitchFamily="2" charset="0"/>
                        </a:rPr>
                        <a:t>Leo</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57</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35</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22</a:t>
                      </a:r>
                    </a:p>
                  </a:txBody>
                  <a:tcPr marL="0" marR="0" marT="0" marB="0" anchor="b">
                    <a:lnL>
                      <a:noFill/>
                    </a:lnL>
                    <a:lnR>
                      <a:noFill/>
                    </a:lnR>
                    <a:lnT>
                      <a:noFill/>
                    </a:lnT>
                    <a:lnB>
                      <a:noFill/>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18</a:t>
                      </a:r>
                    </a:p>
                  </a:txBody>
                  <a:tcPr marL="0" marR="0" marT="0" marB="0" anchor="b">
                    <a:lnL>
                      <a:noFill/>
                    </a:lnL>
                    <a:lnR>
                      <a:noFill/>
                    </a:lnR>
                    <a:lnT>
                      <a:noFill/>
                    </a:lnT>
                    <a:lnB>
                      <a:noFill/>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46.67%</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1640625510"/>
                  </a:ext>
                </a:extLst>
              </a:tr>
              <a:tr h="231045">
                <a:tc>
                  <a:txBody>
                    <a:bodyPr/>
                    <a:lstStyle/>
                    <a:p>
                      <a:pPr algn="l" rtl="0" fontAlgn="b">
                        <a:buNone/>
                      </a:pPr>
                      <a:r>
                        <a:rPr lang="en-US" sz="900" b="1" i="0" u="none" strike="noStrike">
                          <a:solidFill>
                            <a:srgbClr val="002060"/>
                          </a:solidFill>
                          <a:effectLst/>
                          <a:latin typeface="Raleway" pitchFamily="2" charset="0"/>
                        </a:rPr>
                        <a:t>Elsi</a:t>
                      </a:r>
                    </a:p>
                  </a:txBody>
                  <a:tcPr marL="0" marR="0" marT="0" marB="0" anchor="b">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23</a:t>
                      </a:r>
                    </a:p>
                  </a:txBody>
                  <a:tcPr marL="0" marR="0" marT="0" marB="0" anchor="b">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18</a:t>
                      </a:r>
                    </a:p>
                  </a:txBody>
                  <a:tcPr marL="0" marR="0" marT="0" marB="0" anchor="b">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5</a:t>
                      </a:r>
                    </a:p>
                  </a:txBody>
                  <a:tcPr marL="0" marR="0" marT="0" marB="0" anchor="b">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US" sz="1000" b="0" i="0" u="none" strike="noStrike">
                          <a:solidFill>
                            <a:srgbClr val="000000"/>
                          </a:solidFill>
                          <a:effectLst/>
                          <a:latin typeface="Raleway" pitchFamily="2" charset="0"/>
                        </a:rPr>
                        <a:t>0</a:t>
                      </a:r>
                    </a:p>
                  </a:txBody>
                  <a:tcPr marL="0" marR="0" marT="0" marB="0" anchor="b">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78.26%</a:t>
                      </a:r>
                    </a:p>
                  </a:txBody>
                  <a:tcPr marL="0" marR="0" marT="0" marB="0" anchor="b">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96327580"/>
                  </a:ext>
                </a:extLst>
              </a:tr>
            </a:tbl>
          </a:graphicData>
        </a:graphic>
      </p:graphicFrame>
    </p:spTree>
    <p:extLst>
      <p:ext uri="{BB962C8B-B14F-4D97-AF65-F5344CB8AC3E}">
        <p14:creationId xmlns:p14="http://schemas.microsoft.com/office/powerpoint/2010/main" val="2926244973"/>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4038C27C-9A37-72D2-B196-5C3260ABD35D}"/>
            </a:ext>
          </a:extLst>
        </p:cNvPr>
        <p:cNvGrpSpPr/>
        <p:nvPr/>
      </p:nvGrpSpPr>
      <p:grpSpPr>
        <a:xfrm>
          <a:off x="0" y="0"/>
          <a:ext cx="0" cy="0"/>
          <a:chOff x="0" y="0"/>
          <a:chExt cx="0" cy="0"/>
        </a:xfrm>
      </p:grpSpPr>
      <p:sp>
        <p:nvSpPr>
          <p:cNvPr id="2" name="TextBox 1">
            <a:extLst>
              <a:ext uri="{FF2B5EF4-FFF2-40B4-BE49-F238E27FC236}">
                <a16:creationId xmlns:a16="http://schemas.microsoft.com/office/drawing/2014/main" id="{7F7C6E20-2E1A-6B45-6EF3-B9F2FC013CC5}"/>
              </a:ext>
            </a:extLst>
          </p:cNvPr>
          <p:cNvSpPr txBox="1"/>
          <p:nvPr/>
        </p:nvSpPr>
        <p:spPr>
          <a:xfrm>
            <a:off x="765850" y="134607"/>
            <a:ext cx="10335779" cy="523220"/>
          </a:xfrm>
          <a:prstGeom prst="rect">
            <a:avLst/>
          </a:prstGeom>
          <a:noFill/>
        </p:spPr>
        <p:txBody>
          <a:bodyPr wrap="square">
            <a:spAutoFit/>
          </a:bodyPr>
          <a:lstStyle/>
          <a:p>
            <a:pPr algn="ctr"/>
            <a:r>
              <a:rPr lang="en-US" sz="2800" b="1" err="1">
                <a:solidFill>
                  <a:srgbClr val="002060"/>
                </a:solidFill>
                <a:latin typeface="Raleway" pitchFamily="2" charset="0"/>
              </a:rPr>
              <a:t>Pemenuhan</a:t>
            </a:r>
            <a:r>
              <a:rPr lang="en-US" sz="2800" b="1">
                <a:solidFill>
                  <a:srgbClr val="002060"/>
                </a:solidFill>
                <a:latin typeface="Raleway" pitchFamily="2" charset="0"/>
              </a:rPr>
              <a:t> SDM per Recruiter</a:t>
            </a:r>
          </a:p>
        </p:txBody>
      </p:sp>
      <p:sp>
        <p:nvSpPr>
          <p:cNvPr id="4" name="TextBox 3">
            <a:extLst>
              <a:ext uri="{FF2B5EF4-FFF2-40B4-BE49-F238E27FC236}">
                <a16:creationId xmlns:a16="http://schemas.microsoft.com/office/drawing/2014/main" id="{F567D906-B7AC-0475-C033-8F4578412578}"/>
              </a:ext>
            </a:extLst>
          </p:cNvPr>
          <p:cNvSpPr txBox="1"/>
          <p:nvPr/>
        </p:nvSpPr>
        <p:spPr>
          <a:xfrm>
            <a:off x="395936" y="820422"/>
            <a:ext cx="10335779" cy="338554"/>
          </a:xfrm>
          <a:prstGeom prst="rect">
            <a:avLst/>
          </a:prstGeom>
          <a:noFill/>
        </p:spPr>
        <p:txBody>
          <a:bodyPr wrap="square" lIns="91440" tIns="45720" rIns="91440" bIns="45720" anchor="t">
            <a:spAutoFit/>
          </a:bodyPr>
          <a:lstStyle/>
          <a:p>
            <a:r>
              <a:rPr lang="en-US" sz="1600" b="1">
                <a:solidFill>
                  <a:srgbClr val="C00000"/>
                </a:solidFill>
                <a:latin typeface="Raleway"/>
              </a:rPr>
              <a:t>4. Position Closed per Recruiter per Level </a:t>
            </a:r>
            <a:r>
              <a:rPr lang="en-US" sz="1600" b="1" err="1">
                <a:solidFill>
                  <a:srgbClr val="C00000"/>
                </a:solidFill>
                <a:latin typeface="Raleway"/>
              </a:rPr>
              <a:t>Jabatan</a:t>
            </a:r>
            <a:endParaRPr lang="en-US" sz="1600" b="1">
              <a:solidFill>
                <a:srgbClr val="C00000"/>
              </a:solidFill>
              <a:latin typeface="Raleway"/>
            </a:endParaRPr>
          </a:p>
        </p:txBody>
      </p:sp>
      <p:sp>
        <p:nvSpPr>
          <p:cNvPr id="9" name="TextBox 8">
            <a:extLst>
              <a:ext uri="{FF2B5EF4-FFF2-40B4-BE49-F238E27FC236}">
                <a16:creationId xmlns:a16="http://schemas.microsoft.com/office/drawing/2014/main" id="{048778D2-100B-7108-B891-C1D40747609B}"/>
              </a:ext>
            </a:extLst>
          </p:cNvPr>
          <p:cNvSpPr txBox="1"/>
          <p:nvPr/>
        </p:nvSpPr>
        <p:spPr>
          <a:xfrm>
            <a:off x="8462338" y="2659113"/>
            <a:ext cx="3738906" cy="3416320"/>
          </a:xfrm>
          <a:prstGeom prst="rect">
            <a:avLst/>
          </a:prstGeom>
          <a:noFill/>
        </p:spPr>
        <p:txBody>
          <a:bodyPr wrap="square" lIns="91440" tIns="45720" rIns="91440" bIns="45720" anchor="t">
            <a:spAutoFit/>
          </a:bodyPr>
          <a:lstStyle/>
          <a:p>
            <a:pPr marL="285750" indent="-285750">
              <a:buFont typeface="Arial" panose="020B0604020202020204" pitchFamily="34" charset="0"/>
              <a:buChar char="•"/>
            </a:pPr>
            <a:r>
              <a:rPr lang="en-US" sz="1200" b="1">
                <a:latin typeface="Raleway"/>
              </a:rPr>
              <a:t>61% FPTK Closed berasal dari level 2A (565 dari 925 posisi closed), menunjukkan kebutuhan tenaga kerja masih didominasi level staff/junior. 
Brittney, Omega &amp; Marta menjadi kontributor terbesar dengan total 329 posisi closed, atau 35.6% dari total hiring. 
Ratih mencatat jumlah close tertinggi untuk level 3A (20 posisi), menunjukkan kelebihan dalam pemenuhan posisi yang relatif lebih senior.
Marta mencatat jumlah close 17 posisi untuk level 3A dan 84 posisi untuk level 2A, menunjukkan kelebihan untuk pemenuhan posisi yang beragam.</a:t>
            </a:r>
            <a:endParaRPr lang="en-US"/>
          </a:p>
        </p:txBody>
      </p:sp>
      <p:sp>
        <p:nvSpPr>
          <p:cNvPr id="10" name="TextBox 9">
            <a:extLst>
              <a:ext uri="{FF2B5EF4-FFF2-40B4-BE49-F238E27FC236}">
                <a16:creationId xmlns:a16="http://schemas.microsoft.com/office/drawing/2014/main" id="{9396CB52-A786-8C8B-D5FD-E3D100689244}"/>
              </a:ext>
            </a:extLst>
          </p:cNvPr>
          <p:cNvSpPr txBox="1"/>
          <p:nvPr/>
        </p:nvSpPr>
        <p:spPr>
          <a:xfrm>
            <a:off x="8462338" y="2290825"/>
            <a:ext cx="1417784" cy="369332"/>
          </a:xfrm>
          <a:prstGeom prst="rect">
            <a:avLst/>
          </a:prstGeom>
          <a:noFill/>
        </p:spPr>
        <p:txBody>
          <a:bodyPr wrap="square">
            <a:spAutoFit/>
          </a:bodyPr>
          <a:lstStyle/>
          <a:p>
            <a:r>
              <a:rPr lang="en-US" b="1">
                <a:solidFill>
                  <a:srgbClr val="002060"/>
                </a:solidFill>
                <a:latin typeface="Raleway" pitchFamily="2" charset="0"/>
              </a:rPr>
              <a:t>Insights: </a:t>
            </a:r>
            <a:endParaRPr lang="en-US">
              <a:solidFill>
                <a:srgbClr val="002060"/>
              </a:solidFill>
              <a:latin typeface="Raleway" pitchFamily="2" charset="0"/>
            </a:endParaRPr>
          </a:p>
        </p:txBody>
      </p:sp>
      <p:sp>
        <p:nvSpPr>
          <p:cNvPr id="12" name="Rectangle 11">
            <a:extLst>
              <a:ext uri="{FF2B5EF4-FFF2-40B4-BE49-F238E27FC236}">
                <a16:creationId xmlns:a16="http://schemas.microsoft.com/office/drawing/2014/main" id="{D6AF05B6-C07A-E891-D156-87A591E7B4B2}"/>
              </a:ext>
            </a:extLst>
          </p:cNvPr>
          <p:cNvSpPr/>
          <p:nvPr/>
        </p:nvSpPr>
        <p:spPr>
          <a:xfrm>
            <a:off x="386970" y="2140656"/>
            <a:ext cx="8075368" cy="273240"/>
          </a:xfrm>
          <a:prstGeom prst="rect">
            <a:avLst/>
          </a:prstGeom>
          <a:noFill/>
          <a:ln>
            <a:solidFill>
              <a:srgbClr val="FFC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Raleway" pitchFamily="2" charset="0"/>
            </a:endParaRPr>
          </a:p>
        </p:txBody>
      </p:sp>
      <p:sp>
        <p:nvSpPr>
          <p:cNvPr id="6" name="Rectangle 5">
            <a:extLst>
              <a:ext uri="{FF2B5EF4-FFF2-40B4-BE49-F238E27FC236}">
                <a16:creationId xmlns:a16="http://schemas.microsoft.com/office/drawing/2014/main" id="{A634B3C4-0133-3261-15C8-99778198307E}"/>
              </a:ext>
            </a:extLst>
          </p:cNvPr>
          <p:cNvSpPr/>
          <p:nvPr/>
        </p:nvSpPr>
        <p:spPr>
          <a:xfrm>
            <a:off x="395934" y="2372142"/>
            <a:ext cx="8075368" cy="265983"/>
          </a:xfrm>
          <a:prstGeom prst="rect">
            <a:avLst/>
          </a:prstGeom>
          <a:noFill/>
          <a:ln>
            <a:solidFill>
              <a:srgbClr val="FFC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Raleway" pitchFamily="2" charset="0"/>
            </a:endParaRPr>
          </a:p>
        </p:txBody>
      </p:sp>
      <p:sp>
        <p:nvSpPr>
          <p:cNvPr id="13" name="Rectangle 12">
            <a:extLst>
              <a:ext uri="{FF2B5EF4-FFF2-40B4-BE49-F238E27FC236}">
                <a16:creationId xmlns:a16="http://schemas.microsoft.com/office/drawing/2014/main" id="{E006CC7F-EDFB-9393-C4F5-9D014ECB99EF}"/>
              </a:ext>
            </a:extLst>
          </p:cNvPr>
          <p:cNvSpPr/>
          <p:nvPr/>
        </p:nvSpPr>
        <p:spPr>
          <a:xfrm>
            <a:off x="395934" y="2775205"/>
            <a:ext cx="8075368" cy="273240"/>
          </a:xfrm>
          <a:prstGeom prst="rect">
            <a:avLst/>
          </a:prstGeom>
          <a:noFill/>
          <a:ln>
            <a:solidFill>
              <a:srgbClr val="FFC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Raleway" pitchFamily="2" charset="0"/>
            </a:endParaRPr>
          </a:p>
        </p:txBody>
      </p:sp>
      <p:sp>
        <p:nvSpPr>
          <p:cNvPr id="14" name="Rectangle 13">
            <a:extLst>
              <a:ext uri="{FF2B5EF4-FFF2-40B4-BE49-F238E27FC236}">
                <a16:creationId xmlns:a16="http://schemas.microsoft.com/office/drawing/2014/main" id="{5968DD07-80F1-D03F-5681-76CEEDFD04DB}"/>
              </a:ext>
            </a:extLst>
          </p:cNvPr>
          <p:cNvSpPr/>
          <p:nvPr/>
        </p:nvSpPr>
        <p:spPr>
          <a:xfrm>
            <a:off x="395934" y="3048445"/>
            <a:ext cx="8075368" cy="273240"/>
          </a:xfrm>
          <a:prstGeom prst="rect">
            <a:avLst/>
          </a:prstGeom>
          <a:noFill/>
          <a:ln>
            <a:solidFill>
              <a:srgbClr val="FFC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Raleway" pitchFamily="2" charset="0"/>
            </a:endParaRPr>
          </a:p>
        </p:txBody>
      </p:sp>
      <p:graphicFrame>
        <p:nvGraphicFramePr>
          <p:cNvPr id="3" name="PemenuhanSDMperRecruiter">
            <a:extLst>
              <a:ext uri="{FF2B5EF4-FFF2-40B4-BE49-F238E27FC236}">
                <a16:creationId xmlns:a16="http://schemas.microsoft.com/office/drawing/2014/main" id="{7ABE8420-B20C-6AB9-8E7C-1449C8E25889}"/>
              </a:ext>
            </a:extLst>
          </p:cNvPr>
          <p:cNvGraphicFramePr>
            <a:graphicFrameLocks noGrp="1" noDrilldown="1" noMove="1" noResize="1"/>
          </p:cNvGraphicFramePr>
          <p:nvPr>
            <p:extLst>
              <p:ext uri="{D42A27DB-BD31-4B8C-83A1-F6EECF244321}">
                <p14:modId xmlns:p14="http://schemas.microsoft.com/office/powerpoint/2010/main" val="2220665144"/>
              </p:ext>
            </p:extLst>
          </p:nvPr>
        </p:nvGraphicFramePr>
        <p:xfrm>
          <a:off x="555565" y="1158976"/>
          <a:ext cx="7518392" cy="4916451"/>
        </p:xfrm>
        <a:graphic>
          <a:graphicData uri="http://schemas.openxmlformats.org/drawingml/2006/table">
            <a:tbl>
              <a:tblPr/>
              <a:tblGrid>
                <a:gridCol w="791997">
                  <a:extLst>
                    <a:ext uri="{9D8B030D-6E8A-4147-A177-3AD203B41FA5}">
                      <a16:colId xmlns:a16="http://schemas.microsoft.com/office/drawing/2014/main" val="2008707643"/>
                    </a:ext>
                  </a:extLst>
                </a:gridCol>
                <a:gridCol w="568899">
                  <a:extLst>
                    <a:ext uri="{9D8B030D-6E8A-4147-A177-3AD203B41FA5}">
                      <a16:colId xmlns:a16="http://schemas.microsoft.com/office/drawing/2014/main" val="2966592267"/>
                    </a:ext>
                  </a:extLst>
                </a:gridCol>
                <a:gridCol w="568899">
                  <a:extLst>
                    <a:ext uri="{9D8B030D-6E8A-4147-A177-3AD203B41FA5}">
                      <a16:colId xmlns:a16="http://schemas.microsoft.com/office/drawing/2014/main" val="3033399658"/>
                    </a:ext>
                  </a:extLst>
                </a:gridCol>
                <a:gridCol w="568899">
                  <a:extLst>
                    <a:ext uri="{9D8B030D-6E8A-4147-A177-3AD203B41FA5}">
                      <a16:colId xmlns:a16="http://schemas.microsoft.com/office/drawing/2014/main" val="48510743"/>
                    </a:ext>
                  </a:extLst>
                </a:gridCol>
                <a:gridCol w="568899">
                  <a:extLst>
                    <a:ext uri="{9D8B030D-6E8A-4147-A177-3AD203B41FA5}">
                      <a16:colId xmlns:a16="http://schemas.microsoft.com/office/drawing/2014/main" val="3127412644"/>
                    </a:ext>
                  </a:extLst>
                </a:gridCol>
                <a:gridCol w="568899">
                  <a:extLst>
                    <a:ext uri="{9D8B030D-6E8A-4147-A177-3AD203B41FA5}">
                      <a16:colId xmlns:a16="http://schemas.microsoft.com/office/drawing/2014/main" val="3752238642"/>
                    </a:ext>
                  </a:extLst>
                </a:gridCol>
                <a:gridCol w="568899">
                  <a:extLst>
                    <a:ext uri="{9D8B030D-6E8A-4147-A177-3AD203B41FA5}">
                      <a16:colId xmlns:a16="http://schemas.microsoft.com/office/drawing/2014/main" val="1578517829"/>
                    </a:ext>
                  </a:extLst>
                </a:gridCol>
                <a:gridCol w="312337">
                  <a:extLst>
                    <a:ext uri="{9D8B030D-6E8A-4147-A177-3AD203B41FA5}">
                      <a16:colId xmlns:a16="http://schemas.microsoft.com/office/drawing/2014/main" val="3996574541"/>
                    </a:ext>
                  </a:extLst>
                </a:gridCol>
                <a:gridCol w="725068">
                  <a:extLst>
                    <a:ext uri="{9D8B030D-6E8A-4147-A177-3AD203B41FA5}">
                      <a16:colId xmlns:a16="http://schemas.microsoft.com/office/drawing/2014/main" val="1390504064"/>
                    </a:ext>
                  </a:extLst>
                </a:gridCol>
                <a:gridCol w="568899">
                  <a:extLst>
                    <a:ext uri="{9D8B030D-6E8A-4147-A177-3AD203B41FA5}">
                      <a16:colId xmlns:a16="http://schemas.microsoft.com/office/drawing/2014/main" val="1789247240"/>
                    </a:ext>
                  </a:extLst>
                </a:gridCol>
                <a:gridCol w="568899">
                  <a:extLst>
                    <a:ext uri="{9D8B030D-6E8A-4147-A177-3AD203B41FA5}">
                      <a16:colId xmlns:a16="http://schemas.microsoft.com/office/drawing/2014/main" val="4092209669"/>
                    </a:ext>
                  </a:extLst>
                </a:gridCol>
                <a:gridCol w="568899">
                  <a:extLst>
                    <a:ext uri="{9D8B030D-6E8A-4147-A177-3AD203B41FA5}">
                      <a16:colId xmlns:a16="http://schemas.microsoft.com/office/drawing/2014/main" val="2507724717"/>
                    </a:ext>
                  </a:extLst>
                </a:gridCol>
                <a:gridCol w="568899">
                  <a:extLst>
                    <a:ext uri="{9D8B030D-6E8A-4147-A177-3AD203B41FA5}">
                      <a16:colId xmlns:a16="http://schemas.microsoft.com/office/drawing/2014/main" val="3923784086"/>
                    </a:ext>
                  </a:extLst>
                </a:gridCol>
              </a:tblGrid>
              <a:tr h="692580">
                <a:tc>
                  <a:txBody>
                    <a:bodyPr/>
                    <a:lstStyle/>
                    <a:p>
                      <a:pPr algn="l" rtl="0" fontAlgn="ctr">
                        <a:buNone/>
                      </a:pPr>
                      <a:r>
                        <a:rPr lang="en-US" sz="900" b="1" i="0" u="none" strike="noStrike">
                          <a:solidFill>
                            <a:srgbClr val="FFFFFF"/>
                          </a:solidFill>
                          <a:effectLst/>
                          <a:latin typeface="Raleway" pitchFamily="2" charset="0"/>
                        </a:rPr>
                        <a:t>Nama Recruiter</a:t>
                      </a:r>
                    </a:p>
                  </a:txBody>
                  <a:tcPr marL="0" marR="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1A</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1B</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1C</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2A</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2B</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2C</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3A</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3B</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3C</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4A</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1000" b="1" i="0" u="none" strike="noStrike">
                          <a:solidFill>
                            <a:srgbClr val="FFFFFF"/>
                          </a:solidFill>
                          <a:effectLst/>
                          <a:latin typeface="Raleway" pitchFamily="2" charset="0"/>
                        </a:rPr>
                        <a:t>4B</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l" rtl="0" fontAlgn="ctr">
                        <a:buNone/>
                      </a:pPr>
                      <a:r>
                        <a:rPr lang="en-US" sz="1000" b="1" i="0" u="none" strike="noStrike">
                          <a:solidFill>
                            <a:srgbClr val="FFFFFF"/>
                          </a:solidFill>
                          <a:effectLst/>
                          <a:latin typeface="Raleway" pitchFamily="2" charset="0"/>
                        </a:rPr>
                        <a:t>Total</a:t>
                      </a:r>
                    </a:p>
                  </a:txBody>
                  <a:tcPr marL="0" marR="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002060"/>
                    </a:solidFill>
                  </a:tcPr>
                </a:tc>
                <a:extLst>
                  <a:ext uri="{0D108BD9-81ED-4DB2-BD59-A6C34878D82A}">
                    <a16:rowId xmlns:a16="http://schemas.microsoft.com/office/drawing/2014/main" val="3076858907"/>
                  </a:ext>
                </a:extLst>
              </a:tr>
              <a:tr h="222309">
                <a:tc>
                  <a:txBody>
                    <a:bodyPr/>
                    <a:lstStyle/>
                    <a:p>
                      <a:pPr algn="l" rtl="0" fontAlgn="ctr">
                        <a:buNone/>
                      </a:pPr>
                      <a:r>
                        <a:rPr lang="en-US" sz="900" b="0" i="0" u="none" strike="noStrike">
                          <a:solidFill>
                            <a:srgbClr val="000000"/>
                          </a:solidFill>
                          <a:effectLst/>
                          <a:latin typeface="Raleway" pitchFamily="2" charset="0"/>
                        </a:rPr>
                        <a:t>Alexa</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3</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47</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6</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2</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11</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70</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919965059"/>
                  </a:ext>
                </a:extLst>
              </a:tr>
              <a:tr h="222309">
                <a:tc>
                  <a:txBody>
                    <a:bodyPr/>
                    <a:lstStyle/>
                    <a:p>
                      <a:pPr algn="l" rtl="0" fontAlgn="ctr">
                        <a:buNone/>
                      </a:pPr>
                      <a:r>
                        <a:rPr lang="en-US" sz="900" b="0" i="0" u="none" strike="noStrike">
                          <a:solidFill>
                            <a:srgbClr val="000000"/>
                          </a:solidFill>
                          <a:effectLst/>
                          <a:latin typeface="Raleway" pitchFamily="2" charset="0"/>
                        </a:rPr>
                        <a:t>Brittney</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107</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12</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120</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95079312"/>
                  </a:ext>
                </a:extLst>
              </a:tr>
              <a:tr h="222309">
                <a:tc>
                  <a:txBody>
                    <a:bodyPr/>
                    <a:lstStyle/>
                    <a:p>
                      <a:pPr algn="l" rtl="0" fontAlgn="ctr">
                        <a:buNone/>
                      </a:pPr>
                      <a:r>
                        <a:rPr lang="en-US" sz="900" b="0" i="0" u="none" strike="noStrike">
                          <a:solidFill>
                            <a:srgbClr val="000000"/>
                          </a:solidFill>
                          <a:effectLst/>
                          <a:latin typeface="Raleway" pitchFamily="2" charset="0"/>
                        </a:rPr>
                        <a:t>Omega</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9</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106</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127</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1363949804"/>
                  </a:ext>
                </a:extLst>
              </a:tr>
              <a:tr h="222309">
                <a:tc>
                  <a:txBody>
                    <a:bodyPr/>
                    <a:lstStyle/>
                    <a:p>
                      <a:pPr algn="l" rtl="0" fontAlgn="ctr">
                        <a:buNone/>
                      </a:pPr>
                      <a:r>
                        <a:rPr lang="en-US" sz="900" b="0" i="0" u="none" strike="noStrike">
                          <a:solidFill>
                            <a:srgbClr val="000000"/>
                          </a:solidFill>
                          <a:effectLst/>
                          <a:latin typeface="Raleway" pitchFamily="2" charset="0"/>
                        </a:rPr>
                        <a:t>Karin</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6</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5</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3</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17</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192222705"/>
                  </a:ext>
                </a:extLst>
              </a:tr>
              <a:tr h="222309">
                <a:tc>
                  <a:txBody>
                    <a:bodyPr/>
                    <a:lstStyle/>
                    <a:p>
                      <a:pPr algn="l" rtl="0" fontAlgn="ctr">
                        <a:buNone/>
                      </a:pPr>
                      <a:r>
                        <a:rPr lang="en-US" sz="900" b="0" i="0" u="none" strike="noStrike">
                          <a:solidFill>
                            <a:srgbClr val="000000"/>
                          </a:solidFill>
                          <a:effectLst/>
                          <a:latin typeface="Raleway" pitchFamily="2" charset="0"/>
                        </a:rPr>
                        <a:t>Kenthansen</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60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87</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2</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6</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155</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1278712786"/>
                  </a:ext>
                </a:extLst>
              </a:tr>
              <a:tr h="222309">
                <a:tc>
                  <a:txBody>
                    <a:bodyPr/>
                    <a:lstStyle/>
                    <a:p>
                      <a:pPr algn="l" rtl="0" fontAlgn="ctr">
                        <a:buNone/>
                      </a:pPr>
                      <a:r>
                        <a:rPr lang="en-US" sz="900" b="0" i="0" u="none" strike="noStrike">
                          <a:solidFill>
                            <a:srgbClr val="000000"/>
                          </a:solidFill>
                          <a:effectLst/>
                          <a:latin typeface="Raleway" pitchFamily="2" charset="0"/>
                        </a:rPr>
                        <a:t>Marta</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5</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84</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17</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3</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19</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128</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724862063"/>
                  </a:ext>
                </a:extLst>
              </a:tr>
              <a:tr h="222309">
                <a:tc>
                  <a:txBody>
                    <a:bodyPr/>
                    <a:lstStyle/>
                    <a:p>
                      <a:pPr algn="l" rtl="0" fontAlgn="ctr">
                        <a:buNone/>
                      </a:pPr>
                      <a:r>
                        <a:rPr lang="en-US" sz="900" b="0" i="0" u="none" strike="noStrike">
                          <a:solidFill>
                            <a:srgbClr val="000000"/>
                          </a:solidFill>
                          <a:effectLst/>
                          <a:latin typeface="Raleway" pitchFamily="2" charset="0"/>
                        </a:rPr>
                        <a:t>Pauline</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2</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12</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3</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18</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891199864"/>
                  </a:ext>
                </a:extLst>
              </a:tr>
              <a:tr h="222309">
                <a:tc>
                  <a:txBody>
                    <a:bodyPr/>
                    <a:lstStyle/>
                    <a:p>
                      <a:pPr algn="l" rtl="0" fontAlgn="ctr">
                        <a:buNone/>
                      </a:pPr>
                      <a:r>
                        <a:rPr lang="en-US" sz="900" b="0" i="0" u="none" strike="noStrike">
                          <a:solidFill>
                            <a:srgbClr val="000000"/>
                          </a:solidFill>
                          <a:effectLst/>
                          <a:latin typeface="Raleway" pitchFamily="2" charset="0"/>
                        </a:rPr>
                        <a:t>Ratih</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57</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3</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22</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84</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1251616299"/>
                  </a:ext>
                </a:extLst>
              </a:tr>
              <a:tr h="222309">
                <a:tc>
                  <a:txBody>
                    <a:bodyPr/>
                    <a:lstStyle/>
                    <a:p>
                      <a:pPr algn="l" rtl="0" fontAlgn="ctr">
                        <a:buNone/>
                      </a:pPr>
                      <a:r>
                        <a:rPr lang="en-US" sz="900" b="0" i="0" u="none" strike="noStrike">
                          <a:solidFill>
                            <a:srgbClr val="000000"/>
                          </a:solidFill>
                          <a:effectLst/>
                          <a:latin typeface="Raleway" pitchFamily="2" charset="0"/>
                        </a:rPr>
                        <a:t>Zwei</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9</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69</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8</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87</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949171863"/>
                  </a:ext>
                </a:extLst>
              </a:tr>
              <a:tr h="222309">
                <a:tc>
                  <a:txBody>
                    <a:bodyPr/>
                    <a:lstStyle/>
                    <a:p>
                      <a:pPr algn="l" rtl="0" fontAlgn="ctr">
                        <a:buNone/>
                      </a:pPr>
                      <a:r>
                        <a:rPr lang="en-US" sz="900" b="0" i="0" u="none" strike="noStrike">
                          <a:solidFill>
                            <a:srgbClr val="000000"/>
                          </a:solidFill>
                          <a:effectLst/>
                          <a:latin typeface="Raleway" pitchFamily="2" charset="0"/>
                        </a:rPr>
                        <a:t>Achmad</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34</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35</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856644214"/>
                  </a:ext>
                </a:extLst>
              </a:tr>
              <a:tr h="222309">
                <a:tc>
                  <a:txBody>
                    <a:bodyPr/>
                    <a:lstStyle/>
                    <a:p>
                      <a:pPr algn="l" rtl="0" fontAlgn="ctr">
                        <a:buNone/>
                      </a:pPr>
                      <a:r>
                        <a:rPr lang="en-US" sz="900" b="0" i="0" u="none" strike="noStrike">
                          <a:solidFill>
                            <a:srgbClr val="000000"/>
                          </a:solidFill>
                          <a:effectLst/>
                          <a:latin typeface="Raleway" pitchFamily="2" charset="0"/>
                        </a:rPr>
                        <a:t>Eli</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17</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14</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4</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35</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719346183"/>
                  </a:ext>
                </a:extLst>
              </a:tr>
              <a:tr h="222309">
                <a:tc>
                  <a:txBody>
                    <a:bodyPr/>
                    <a:lstStyle/>
                    <a:p>
                      <a:pPr algn="l" rtl="0" fontAlgn="ctr">
                        <a:buNone/>
                      </a:pPr>
                      <a:r>
                        <a:rPr lang="en-US" sz="900" b="0" i="0" u="none" strike="noStrike">
                          <a:solidFill>
                            <a:srgbClr val="000000"/>
                          </a:solidFill>
                          <a:effectLst/>
                          <a:latin typeface="Raleway" pitchFamily="2" charset="0"/>
                        </a:rPr>
                        <a:t>Kasanah</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14</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3</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34</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3</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56</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074405685"/>
                  </a:ext>
                </a:extLst>
              </a:tr>
              <a:tr h="222309">
                <a:tc>
                  <a:txBody>
                    <a:bodyPr/>
                    <a:lstStyle/>
                    <a:p>
                      <a:pPr algn="l" rtl="0" fontAlgn="ctr">
                        <a:buNone/>
                      </a:pPr>
                      <a:r>
                        <a:rPr lang="en-US" sz="900" b="0" i="0" u="none" strike="noStrike">
                          <a:solidFill>
                            <a:srgbClr val="000000"/>
                          </a:solidFill>
                          <a:effectLst/>
                          <a:latin typeface="Raleway" pitchFamily="2" charset="0"/>
                        </a:rPr>
                        <a:t>Fiscall</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26</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4</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7</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37</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317505170"/>
                  </a:ext>
                </a:extLst>
              </a:tr>
              <a:tr h="222309">
                <a:tc>
                  <a:txBody>
                    <a:bodyPr/>
                    <a:lstStyle/>
                    <a:p>
                      <a:pPr algn="l" rtl="0" fontAlgn="ctr">
                        <a:buNone/>
                      </a:pPr>
                      <a:r>
                        <a:rPr lang="en-US" sz="900" b="0" i="0" u="none" strike="noStrike">
                          <a:solidFill>
                            <a:srgbClr val="000000"/>
                          </a:solidFill>
                          <a:effectLst/>
                          <a:latin typeface="Raleway" pitchFamily="2" charset="0"/>
                        </a:rPr>
                        <a:t>Gabbie</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24</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8</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5</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37</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1723569550"/>
                  </a:ext>
                </a:extLst>
              </a:tr>
              <a:tr h="222309">
                <a:tc>
                  <a:txBody>
                    <a:bodyPr/>
                    <a:lstStyle/>
                    <a:p>
                      <a:pPr algn="l" rtl="0" fontAlgn="ctr">
                        <a:buNone/>
                      </a:pPr>
                      <a:r>
                        <a:rPr lang="en-US" sz="900" b="0" i="0" u="none" strike="noStrike">
                          <a:solidFill>
                            <a:srgbClr val="000000"/>
                          </a:solidFill>
                          <a:effectLst/>
                          <a:latin typeface="Raleway" pitchFamily="2" charset="0"/>
                        </a:rPr>
                        <a:t>Salwa</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8</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8</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658935761"/>
                  </a:ext>
                </a:extLst>
              </a:tr>
              <a:tr h="222309">
                <a:tc>
                  <a:txBody>
                    <a:bodyPr/>
                    <a:lstStyle/>
                    <a:p>
                      <a:pPr algn="l" rtl="0" fontAlgn="ctr">
                        <a:buNone/>
                      </a:pPr>
                      <a:r>
                        <a:rPr lang="en-US" sz="900" b="0" i="0" u="none" strike="noStrike">
                          <a:solidFill>
                            <a:srgbClr val="000000"/>
                          </a:solidFill>
                          <a:effectLst/>
                          <a:latin typeface="Raleway" pitchFamily="2" charset="0"/>
                        </a:rPr>
                        <a:t>Wahyu</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3</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6</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5</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16</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31</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390649772"/>
                  </a:ext>
                </a:extLst>
              </a:tr>
              <a:tr h="222309">
                <a:tc>
                  <a:txBody>
                    <a:bodyPr/>
                    <a:lstStyle/>
                    <a:p>
                      <a:pPr algn="l" rtl="0" fontAlgn="ctr">
                        <a:buNone/>
                      </a:pPr>
                      <a:r>
                        <a:rPr lang="en-US" sz="900" b="0" i="0" u="none" strike="noStrike">
                          <a:solidFill>
                            <a:srgbClr val="000000"/>
                          </a:solidFill>
                          <a:effectLst/>
                          <a:latin typeface="Raleway" pitchFamily="2" charset="0"/>
                        </a:rPr>
                        <a:t>Leo</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12</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19</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8</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15</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2</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a:noFill/>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57</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4011193799"/>
                  </a:ext>
                </a:extLst>
              </a:tr>
              <a:tr h="222309">
                <a:tc>
                  <a:txBody>
                    <a:bodyPr/>
                    <a:lstStyle/>
                    <a:p>
                      <a:pPr algn="l" rtl="0" fontAlgn="ctr">
                        <a:buNone/>
                      </a:pPr>
                      <a:r>
                        <a:rPr lang="en-US" sz="900" b="0" i="0" u="none" strike="noStrike">
                          <a:solidFill>
                            <a:srgbClr val="000000"/>
                          </a:solidFill>
                          <a:effectLst/>
                          <a:latin typeface="Raleway" pitchFamily="2" charset="0"/>
                        </a:rPr>
                        <a:t>Elsi</a:t>
                      </a:r>
                    </a:p>
                  </a:txBody>
                  <a:tcPr marL="0" marR="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4</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2</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16</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0</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ctr">
                        <a:buNone/>
                      </a:pPr>
                      <a:r>
                        <a:rPr lang="en-US" sz="1000" b="0" i="0" u="none" strike="noStrike">
                          <a:solidFill>
                            <a:srgbClr val="000000"/>
                          </a:solidFill>
                          <a:effectLst/>
                          <a:latin typeface="Raleway" pitchFamily="2" charset="0"/>
                        </a:rPr>
                        <a:t>23</a:t>
                      </a:r>
                    </a:p>
                  </a:txBody>
                  <a:tcPr marL="0" marR="0" marT="0" marB="0" anchor="ctr">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980746593"/>
                  </a:ext>
                </a:extLst>
              </a:tr>
              <a:tr h="222309">
                <a:tc>
                  <a:txBody>
                    <a:bodyPr/>
                    <a:lstStyle/>
                    <a:p>
                      <a:pPr algn="ctr" rtl="0" fontAlgn="b">
                        <a:buNone/>
                      </a:pPr>
                      <a:r>
                        <a:rPr lang="en-US" sz="900" b="1" i="0" u="none" strike="noStrike">
                          <a:solidFill>
                            <a:srgbClr val="000000"/>
                          </a:solidFill>
                          <a:effectLst/>
                          <a:latin typeface="Raleway" pitchFamily="2" charset="0"/>
                        </a:rPr>
                        <a:t>Total</a:t>
                      </a:r>
                    </a:p>
                  </a:txBody>
                  <a:tcPr marL="0" marR="0" marT="0" marB="0" anchor="b">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227</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40</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18</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679</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36</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15</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91</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1</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3</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12</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3</a:t>
                      </a:r>
                    </a:p>
                  </a:txBody>
                  <a:tcPr marL="0" marR="0" marT="0"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b">
                        <a:buNone/>
                      </a:pPr>
                      <a:r>
                        <a:rPr lang="en-US" sz="1000" b="1" i="0" u="none" strike="noStrike">
                          <a:solidFill>
                            <a:srgbClr val="000000"/>
                          </a:solidFill>
                          <a:effectLst/>
                          <a:latin typeface="Raleway" pitchFamily="2" charset="0"/>
                        </a:rPr>
                        <a:t>1125</a:t>
                      </a:r>
                    </a:p>
                  </a:txBody>
                  <a:tcPr marL="0" marR="0" marT="0"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144934385"/>
                  </a:ext>
                </a:extLst>
              </a:tr>
            </a:tbl>
          </a:graphicData>
        </a:graphic>
      </p:graphicFrame>
    </p:spTree>
    <p:extLst>
      <p:ext uri="{BB962C8B-B14F-4D97-AF65-F5344CB8AC3E}">
        <p14:creationId xmlns:p14="http://schemas.microsoft.com/office/powerpoint/2010/main" val="738996556"/>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ext 0"/>
          <p:cNvSpPr/>
          <p:nvPr/>
        </p:nvSpPr>
        <p:spPr>
          <a:xfrm>
            <a:off x="333103" y="604454"/>
            <a:ext cx="9144000" cy="633984"/>
          </a:xfrm>
          <a:prstGeom prst="rect">
            <a:avLst/>
          </a:prstGeom>
          <a:noFill/>
          <a:ln/>
        </p:spPr>
        <p:txBody>
          <a:bodyPr wrap="square" lIns="0" tIns="0" rIns="0" bIns="0" rtlCol="0" anchor="ctr"/>
          <a:lstStyle/>
          <a:p>
            <a:r>
              <a:rPr lang="en-US" sz="1600" b="1">
                <a:solidFill>
                  <a:srgbClr val="C00000"/>
                </a:solidFill>
                <a:latin typeface="Raleway"/>
                <a:ea typeface="Calibri"/>
                <a:cs typeface="Calibri"/>
              </a:rPr>
              <a:t>5. Complexity Closed Position: Distribution per Recruiter</a:t>
            </a:r>
            <a:endParaRPr lang="en-US" sz="1600">
              <a:solidFill>
                <a:srgbClr val="C00000"/>
              </a:solidFill>
              <a:latin typeface="Raleway"/>
              <a:ea typeface="Calibri"/>
              <a:cs typeface="Calibri"/>
            </a:endParaRPr>
          </a:p>
        </p:txBody>
      </p:sp>
      <p:sp>
        <p:nvSpPr>
          <p:cNvPr id="3" name="Text 1"/>
          <p:cNvSpPr/>
          <p:nvPr/>
        </p:nvSpPr>
        <p:spPr>
          <a:xfrm>
            <a:off x="333103" y="1012886"/>
            <a:ext cx="9753600" cy="341376"/>
          </a:xfrm>
          <a:prstGeom prst="rect">
            <a:avLst/>
          </a:prstGeom>
          <a:noFill/>
          <a:ln/>
        </p:spPr>
        <p:txBody>
          <a:bodyPr wrap="square" lIns="0" tIns="0" rIns="0" bIns="0" rtlCol="0" anchor="ctr"/>
          <a:lstStyle/>
          <a:p>
            <a:r>
              <a:rPr lang="en-US" sz="1200" i="1">
                <a:solidFill>
                  <a:srgbClr val="002060"/>
                </a:solidFill>
                <a:latin typeface="Raleway"/>
                <a:ea typeface="Calibri" pitchFamily="34" charset="-122"/>
                <a:cs typeface="Calibri" pitchFamily="34" charset="-120"/>
              </a:rPr>
              <a:t>Based on position level: Easy (1A–2A)  ·  Moderate (2B–3A)  ·  Hard (3B–4B)</a:t>
            </a:r>
            <a:endParaRPr lang="en-US" sz="1200" i="1">
              <a:solidFill>
                <a:srgbClr val="002060"/>
              </a:solidFill>
              <a:latin typeface="Raleway"/>
            </a:endParaRPr>
          </a:p>
        </p:txBody>
      </p:sp>
      <p:grpSp>
        <p:nvGrpSpPr>
          <p:cNvPr id="23" name="Group 22">
            <a:extLst>
              <a:ext uri="{FF2B5EF4-FFF2-40B4-BE49-F238E27FC236}">
                <a16:creationId xmlns:a16="http://schemas.microsoft.com/office/drawing/2014/main" id="{F7EFC12C-4903-CCAD-BB99-45E505982C81}"/>
              </a:ext>
            </a:extLst>
          </p:cNvPr>
          <p:cNvGrpSpPr/>
          <p:nvPr/>
        </p:nvGrpSpPr>
        <p:grpSpPr>
          <a:xfrm>
            <a:off x="7595471" y="1824195"/>
            <a:ext cx="1072896" cy="846106"/>
            <a:chOff x="8076329" y="2998361"/>
            <a:chExt cx="1072896" cy="950976"/>
          </a:xfrm>
          <a:solidFill>
            <a:srgbClr val="0070C0"/>
          </a:solidFill>
        </p:grpSpPr>
        <p:sp>
          <p:nvSpPr>
            <p:cNvPr id="4" name="Shape 2"/>
            <p:cNvSpPr/>
            <p:nvPr/>
          </p:nvSpPr>
          <p:spPr>
            <a:xfrm>
              <a:off x="8076329" y="2998361"/>
              <a:ext cx="1072896" cy="950976"/>
            </a:xfrm>
            <a:prstGeom prst="roundRect">
              <a:avLst>
                <a:gd name="adj" fmla="val 10256"/>
              </a:avLst>
            </a:prstGeom>
            <a:grpFill/>
            <a:ln w="12700">
              <a:noFill/>
              <a:prstDash val="solid"/>
            </a:ln>
          </p:spPr>
          <p:txBody>
            <a:bodyPr/>
            <a:lstStyle/>
            <a:p>
              <a:endParaRPr lang="en-US" sz="2400">
                <a:latin typeface="+mj-lt"/>
              </a:endParaRPr>
            </a:p>
          </p:txBody>
        </p:sp>
        <p:sp>
          <p:nvSpPr>
            <p:cNvPr id="5" name="Text 3"/>
            <p:cNvSpPr/>
            <p:nvPr/>
          </p:nvSpPr>
          <p:spPr>
            <a:xfrm>
              <a:off x="8076329" y="3034937"/>
              <a:ext cx="1072896" cy="268224"/>
            </a:xfrm>
            <a:prstGeom prst="rect">
              <a:avLst/>
            </a:prstGeom>
            <a:grpFill/>
            <a:ln>
              <a:noFill/>
            </a:ln>
          </p:spPr>
          <p:txBody>
            <a:bodyPr wrap="square" lIns="0" tIns="0" rIns="0" bIns="0" rtlCol="0" anchor="ctr"/>
            <a:lstStyle/>
            <a:p>
              <a:pPr algn="ctr"/>
              <a:r>
                <a:rPr lang="en-US" sz="1067" b="1">
                  <a:solidFill>
                    <a:schemeClr val="bg1"/>
                  </a:solidFill>
                  <a:latin typeface="+mj-lt"/>
                  <a:ea typeface="Calibri" pitchFamily="34" charset="-122"/>
                  <a:cs typeface="Calibri" pitchFamily="34" charset="-120"/>
                </a:rPr>
                <a:t>Easy</a:t>
              </a:r>
              <a:endParaRPr lang="en-US" sz="1067">
                <a:solidFill>
                  <a:schemeClr val="bg1"/>
                </a:solidFill>
                <a:latin typeface="+mj-lt"/>
              </a:endParaRPr>
            </a:p>
          </p:txBody>
        </p:sp>
        <p:sp>
          <p:nvSpPr>
            <p:cNvPr id="6" name="Text 4"/>
            <p:cNvSpPr/>
            <p:nvPr/>
          </p:nvSpPr>
          <p:spPr>
            <a:xfrm>
              <a:off x="8076329" y="3278777"/>
              <a:ext cx="1072896" cy="341376"/>
            </a:xfrm>
            <a:prstGeom prst="rect">
              <a:avLst/>
            </a:prstGeom>
            <a:grpFill/>
            <a:ln>
              <a:noFill/>
            </a:ln>
          </p:spPr>
          <p:txBody>
            <a:bodyPr wrap="square" lIns="0" tIns="0" rIns="0" bIns="0" rtlCol="0" anchor="ctr"/>
            <a:lstStyle/>
            <a:p>
              <a:pPr algn="ctr"/>
              <a:r>
                <a:rPr lang="en-US" sz="2100" b="1">
                  <a:solidFill>
                    <a:schemeClr val="bg1"/>
                  </a:solidFill>
                  <a:latin typeface="+mj-lt"/>
                  <a:ea typeface="Calibri"/>
                  <a:cs typeface="Calibri"/>
                </a:rPr>
                <a:t>86%</a:t>
              </a:r>
              <a:endParaRPr lang="en-US" sz="2100">
                <a:solidFill>
                  <a:schemeClr val="bg1"/>
                </a:solidFill>
                <a:latin typeface="+mj-lt"/>
                <a:ea typeface="Calibri"/>
                <a:cs typeface="Calibri"/>
              </a:endParaRPr>
            </a:p>
          </p:txBody>
        </p:sp>
        <p:sp>
          <p:nvSpPr>
            <p:cNvPr id="7" name="Text 5"/>
            <p:cNvSpPr/>
            <p:nvPr/>
          </p:nvSpPr>
          <p:spPr>
            <a:xfrm>
              <a:off x="8076329" y="3607961"/>
              <a:ext cx="1072896" cy="243840"/>
            </a:xfrm>
            <a:prstGeom prst="rect">
              <a:avLst/>
            </a:prstGeom>
            <a:grpFill/>
            <a:ln>
              <a:noFill/>
            </a:ln>
          </p:spPr>
          <p:txBody>
            <a:bodyPr wrap="square" lIns="0" tIns="0" rIns="0" bIns="0" rtlCol="0" anchor="ctr"/>
            <a:lstStyle/>
            <a:p>
              <a:pPr algn="ctr"/>
              <a:r>
                <a:rPr lang="en-US" sz="1050">
                  <a:solidFill>
                    <a:schemeClr val="bg1"/>
                  </a:solidFill>
                  <a:latin typeface="+mj-lt"/>
                  <a:ea typeface="Calibri"/>
                  <a:cs typeface="Calibri"/>
                </a:rPr>
                <a:t>801 </a:t>
              </a:r>
              <a:r>
                <a:rPr lang="en-US" sz="1050" err="1">
                  <a:solidFill>
                    <a:schemeClr val="bg1"/>
                  </a:solidFill>
                  <a:latin typeface="+mj-lt"/>
                  <a:ea typeface="Calibri"/>
                  <a:cs typeface="Calibri"/>
                </a:rPr>
                <a:t>posisi</a:t>
              </a:r>
              <a:endParaRPr lang="en-US" sz="1050">
                <a:solidFill>
                  <a:schemeClr val="bg1"/>
                </a:solidFill>
                <a:latin typeface="+mj-lt"/>
                <a:ea typeface="Calibri"/>
                <a:cs typeface="Calibri"/>
              </a:endParaRPr>
            </a:p>
          </p:txBody>
        </p:sp>
      </p:grpSp>
      <p:grpSp>
        <p:nvGrpSpPr>
          <p:cNvPr id="24" name="Group 23">
            <a:extLst>
              <a:ext uri="{FF2B5EF4-FFF2-40B4-BE49-F238E27FC236}">
                <a16:creationId xmlns:a16="http://schemas.microsoft.com/office/drawing/2014/main" id="{A3FC9EF7-676A-234B-BCF9-346714075953}"/>
              </a:ext>
            </a:extLst>
          </p:cNvPr>
          <p:cNvGrpSpPr/>
          <p:nvPr/>
        </p:nvGrpSpPr>
        <p:grpSpPr>
          <a:xfrm>
            <a:off x="8815687" y="1824195"/>
            <a:ext cx="1072896" cy="846106"/>
            <a:chOff x="9880745" y="3209109"/>
            <a:chExt cx="1072896" cy="950976"/>
          </a:xfrm>
          <a:solidFill>
            <a:srgbClr val="0070C0"/>
          </a:solidFill>
        </p:grpSpPr>
        <p:sp>
          <p:nvSpPr>
            <p:cNvPr id="8" name="Shape 6"/>
            <p:cNvSpPr/>
            <p:nvPr/>
          </p:nvSpPr>
          <p:spPr>
            <a:xfrm>
              <a:off x="9880745" y="3209109"/>
              <a:ext cx="1072896" cy="950976"/>
            </a:xfrm>
            <a:prstGeom prst="roundRect">
              <a:avLst>
                <a:gd name="adj" fmla="val 10256"/>
              </a:avLst>
            </a:prstGeom>
            <a:grpFill/>
            <a:ln w="12700">
              <a:noFill/>
              <a:prstDash val="solid"/>
            </a:ln>
          </p:spPr>
          <p:txBody>
            <a:bodyPr/>
            <a:lstStyle/>
            <a:p>
              <a:endParaRPr lang="en-US" sz="2400">
                <a:solidFill>
                  <a:schemeClr val="bg1"/>
                </a:solidFill>
                <a:latin typeface="+mj-lt"/>
              </a:endParaRPr>
            </a:p>
          </p:txBody>
        </p:sp>
        <p:sp>
          <p:nvSpPr>
            <p:cNvPr id="9" name="Text 7"/>
            <p:cNvSpPr/>
            <p:nvPr/>
          </p:nvSpPr>
          <p:spPr>
            <a:xfrm>
              <a:off x="9880745" y="3245685"/>
              <a:ext cx="1072896" cy="268224"/>
            </a:xfrm>
            <a:prstGeom prst="rect">
              <a:avLst/>
            </a:prstGeom>
            <a:grpFill/>
            <a:ln>
              <a:noFill/>
            </a:ln>
          </p:spPr>
          <p:txBody>
            <a:bodyPr wrap="square" lIns="0" tIns="0" rIns="0" bIns="0" rtlCol="0" anchor="ctr"/>
            <a:lstStyle/>
            <a:p>
              <a:pPr algn="ctr"/>
              <a:r>
                <a:rPr lang="en-US" sz="1067" b="1">
                  <a:solidFill>
                    <a:schemeClr val="bg1"/>
                  </a:solidFill>
                  <a:latin typeface="+mj-lt"/>
                  <a:ea typeface="Calibri" pitchFamily="34" charset="-122"/>
                  <a:cs typeface="Calibri" pitchFamily="34" charset="-120"/>
                </a:rPr>
                <a:t>Moderate</a:t>
              </a:r>
              <a:endParaRPr lang="en-US" sz="1067">
                <a:solidFill>
                  <a:schemeClr val="bg1"/>
                </a:solidFill>
                <a:latin typeface="+mj-lt"/>
              </a:endParaRPr>
            </a:p>
          </p:txBody>
        </p:sp>
        <p:sp>
          <p:nvSpPr>
            <p:cNvPr id="10" name="Text 8"/>
            <p:cNvSpPr/>
            <p:nvPr/>
          </p:nvSpPr>
          <p:spPr>
            <a:xfrm>
              <a:off x="9880745" y="3489525"/>
              <a:ext cx="1072896" cy="341376"/>
            </a:xfrm>
            <a:prstGeom prst="rect">
              <a:avLst/>
            </a:prstGeom>
            <a:grpFill/>
            <a:ln>
              <a:noFill/>
            </a:ln>
          </p:spPr>
          <p:txBody>
            <a:bodyPr wrap="square" lIns="0" tIns="0" rIns="0" bIns="0" rtlCol="0" anchor="ctr"/>
            <a:lstStyle/>
            <a:p>
              <a:pPr algn="ctr"/>
              <a:r>
                <a:rPr lang="en-US" sz="2100" b="1">
                  <a:solidFill>
                    <a:schemeClr val="bg1"/>
                  </a:solidFill>
                  <a:latin typeface="+mj-lt"/>
                  <a:ea typeface="Calibri"/>
                  <a:cs typeface="Calibri"/>
                </a:rPr>
                <a:t>12%</a:t>
              </a:r>
              <a:endParaRPr lang="en-US" sz="2100">
                <a:solidFill>
                  <a:schemeClr val="bg1"/>
                </a:solidFill>
                <a:latin typeface="+mj-lt"/>
                <a:ea typeface="Calibri"/>
                <a:cs typeface="Calibri"/>
              </a:endParaRPr>
            </a:p>
          </p:txBody>
        </p:sp>
        <p:sp>
          <p:nvSpPr>
            <p:cNvPr id="11" name="Text 9"/>
            <p:cNvSpPr/>
            <p:nvPr/>
          </p:nvSpPr>
          <p:spPr>
            <a:xfrm>
              <a:off x="9880745" y="3818709"/>
              <a:ext cx="1072896" cy="243840"/>
            </a:xfrm>
            <a:prstGeom prst="rect">
              <a:avLst/>
            </a:prstGeom>
            <a:grpFill/>
            <a:ln>
              <a:noFill/>
            </a:ln>
          </p:spPr>
          <p:txBody>
            <a:bodyPr wrap="square" lIns="0" tIns="0" rIns="0" bIns="0" rtlCol="0" anchor="ctr"/>
            <a:lstStyle/>
            <a:p>
              <a:pPr algn="ctr"/>
              <a:r>
                <a:rPr lang="en-US" sz="1050">
                  <a:solidFill>
                    <a:schemeClr val="bg1"/>
                  </a:solidFill>
                  <a:latin typeface="+mj-lt"/>
                  <a:ea typeface="Calibri"/>
                  <a:cs typeface="Calibri"/>
                </a:rPr>
                <a:t>113 posisi</a:t>
              </a:r>
            </a:p>
          </p:txBody>
        </p:sp>
      </p:grpSp>
      <p:grpSp>
        <p:nvGrpSpPr>
          <p:cNvPr id="25" name="Group 24">
            <a:extLst>
              <a:ext uri="{FF2B5EF4-FFF2-40B4-BE49-F238E27FC236}">
                <a16:creationId xmlns:a16="http://schemas.microsoft.com/office/drawing/2014/main" id="{D3C88D87-FE0D-1B7B-F3D8-ECD3328D805E}"/>
              </a:ext>
            </a:extLst>
          </p:cNvPr>
          <p:cNvGrpSpPr/>
          <p:nvPr/>
        </p:nvGrpSpPr>
        <p:grpSpPr>
          <a:xfrm>
            <a:off x="10086703" y="1824195"/>
            <a:ext cx="1072896" cy="846106"/>
            <a:chOff x="11026793" y="3209109"/>
            <a:chExt cx="1072896" cy="950976"/>
          </a:xfrm>
          <a:solidFill>
            <a:srgbClr val="0070C0"/>
          </a:solidFill>
        </p:grpSpPr>
        <p:sp>
          <p:nvSpPr>
            <p:cNvPr id="12" name="Shape 10"/>
            <p:cNvSpPr/>
            <p:nvPr/>
          </p:nvSpPr>
          <p:spPr>
            <a:xfrm>
              <a:off x="11026793" y="3209109"/>
              <a:ext cx="1072896" cy="950976"/>
            </a:xfrm>
            <a:prstGeom prst="roundRect">
              <a:avLst>
                <a:gd name="adj" fmla="val 10256"/>
              </a:avLst>
            </a:prstGeom>
            <a:grpFill/>
            <a:ln w="12700">
              <a:noFill/>
              <a:prstDash val="solid"/>
            </a:ln>
          </p:spPr>
          <p:txBody>
            <a:bodyPr/>
            <a:lstStyle/>
            <a:p>
              <a:endParaRPr lang="en-US" sz="2400">
                <a:solidFill>
                  <a:schemeClr val="bg1"/>
                </a:solidFill>
                <a:latin typeface="+mj-lt"/>
              </a:endParaRPr>
            </a:p>
          </p:txBody>
        </p:sp>
        <p:sp>
          <p:nvSpPr>
            <p:cNvPr id="13" name="Text 11"/>
            <p:cNvSpPr/>
            <p:nvPr/>
          </p:nvSpPr>
          <p:spPr>
            <a:xfrm>
              <a:off x="11026793" y="3245685"/>
              <a:ext cx="1072896" cy="268224"/>
            </a:xfrm>
            <a:prstGeom prst="rect">
              <a:avLst/>
            </a:prstGeom>
            <a:grpFill/>
            <a:ln>
              <a:noFill/>
            </a:ln>
          </p:spPr>
          <p:txBody>
            <a:bodyPr wrap="square" lIns="0" tIns="0" rIns="0" bIns="0" rtlCol="0" anchor="ctr"/>
            <a:lstStyle/>
            <a:p>
              <a:pPr algn="ctr"/>
              <a:r>
                <a:rPr lang="en-US" sz="1067" b="1">
                  <a:solidFill>
                    <a:schemeClr val="bg1"/>
                  </a:solidFill>
                  <a:latin typeface="+mj-lt"/>
                  <a:ea typeface="Calibri" pitchFamily="34" charset="-122"/>
                  <a:cs typeface="Calibri" pitchFamily="34" charset="-120"/>
                </a:rPr>
                <a:t>Hard</a:t>
              </a:r>
              <a:endParaRPr lang="en-US" sz="1067">
                <a:solidFill>
                  <a:schemeClr val="bg1"/>
                </a:solidFill>
                <a:latin typeface="+mj-lt"/>
              </a:endParaRPr>
            </a:p>
          </p:txBody>
        </p:sp>
        <p:sp>
          <p:nvSpPr>
            <p:cNvPr id="14" name="Text 12"/>
            <p:cNvSpPr/>
            <p:nvPr/>
          </p:nvSpPr>
          <p:spPr>
            <a:xfrm>
              <a:off x="11026793" y="3489525"/>
              <a:ext cx="1072896" cy="341376"/>
            </a:xfrm>
            <a:prstGeom prst="rect">
              <a:avLst/>
            </a:prstGeom>
            <a:grpFill/>
            <a:ln>
              <a:noFill/>
            </a:ln>
          </p:spPr>
          <p:txBody>
            <a:bodyPr wrap="square" lIns="0" tIns="0" rIns="0" bIns="0" rtlCol="0" anchor="ctr"/>
            <a:lstStyle/>
            <a:p>
              <a:pPr algn="ctr"/>
              <a:r>
                <a:rPr lang="en-US" sz="2100" b="1">
                  <a:solidFill>
                    <a:schemeClr val="bg1"/>
                  </a:solidFill>
                  <a:latin typeface="+mj-lt"/>
                  <a:ea typeface="Calibri"/>
                  <a:cs typeface="Calibri"/>
                </a:rPr>
                <a:t>2%</a:t>
              </a:r>
              <a:endParaRPr lang="en-US" sz="2133">
                <a:solidFill>
                  <a:schemeClr val="bg1"/>
                </a:solidFill>
                <a:latin typeface="+mj-lt"/>
                <a:ea typeface="Calibri"/>
                <a:cs typeface="Calibri"/>
              </a:endParaRPr>
            </a:p>
          </p:txBody>
        </p:sp>
        <p:sp>
          <p:nvSpPr>
            <p:cNvPr id="15" name="Text 13"/>
            <p:cNvSpPr/>
            <p:nvPr/>
          </p:nvSpPr>
          <p:spPr>
            <a:xfrm>
              <a:off x="11026793" y="3818709"/>
              <a:ext cx="1072896" cy="243840"/>
            </a:xfrm>
            <a:prstGeom prst="rect">
              <a:avLst/>
            </a:prstGeom>
            <a:grpFill/>
            <a:ln>
              <a:noFill/>
            </a:ln>
          </p:spPr>
          <p:txBody>
            <a:bodyPr wrap="square" lIns="0" tIns="0" rIns="0" bIns="0" rtlCol="0" anchor="ctr"/>
            <a:lstStyle/>
            <a:p>
              <a:pPr algn="ctr"/>
              <a:r>
                <a:rPr lang="en-US" sz="1050">
                  <a:solidFill>
                    <a:schemeClr val="bg1"/>
                  </a:solidFill>
                  <a:latin typeface="+mj-lt"/>
                  <a:ea typeface="Calibri"/>
                  <a:cs typeface="Calibri"/>
                </a:rPr>
                <a:t>22 </a:t>
              </a:r>
              <a:r>
                <a:rPr lang="en-US" sz="1050" err="1">
                  <a:solidFill>
                    <a:schemeClr val="bg1"/>
                  </a:solidFill>
                  <a:latin typeface="+mj-lt"/>
                  <a:ea typeface="Calibri"/>
                  <a:cs typeface="Calibri"/>
                </a:rPr>
                <a:t>posisi</a:t>
              </a:r>
              <a:endParaRPr lang="en-US" sz="1050">
                <a:solidFill>
                  <a:schemeClr val="bg1"/>
                </a:solidFill>
                <a:latin typeface="+mj-lt"/>
                <a:ea typeface="Calibri"/>
                <a:cs typeface="Calibri"/>
              </a:endParaRPr>
            </a:p>
          </p:txBody>
        </p:sp>
      </p:grpSp>
      <p:sp>
        <p:nvSpPr>
          <p:cNvPr id="26" name="TextBox 25">
            <a:extLst>
              <a:ext uri="{FF2B5EF4-FFF2-40B4-BE49-F238E27FC236}">
                <a16:creationId xmlns:a16="http://schemas.microsoft.com/office/drawing/2014/main" id="{4226897E-24AE-84A1-EFD8-9F0C04417788}"/>
              </a:ext>
            </a:extLst>
          </p:cNvPr>
          <p:cNvSpPr txBox="1"/>
          <p:nvPr/>
        </p:nvSpPr>
        <p:spPr>
          <a:xfrm>
            <a:off x="765850" y="134607"/>
            <a:ext cx="10335779" cy="523220"/>
          </a:xfrm>
          <a:prstGeom prst="rect">
            <a:avLst/>
          </a:prstGeom>
          <a:noFill/>
        </p:spPr>
        <p:txBody>
          <a:bodyPr wrap="square">
            <a:spAutoFit/>
          </a:bodyPr>
          <a:lstStyle/>
          <a:p>
            <a:pPr algn="ctr"/>
            <a:r>
              <a:rPr lang="en-US" sz="2800" b="1" err="1">
                <a:solidFill>
                  <a:srgbClr val="002060"/>
                </a:solidFill>
                <a:latin typeface="Raleway"/>
              </a:rPr>
              <a:t>Pemenuhan</a:t>
            </a:r>
            <a:r>
              <a:rPr lang="en-US" sz="2800" b="1">
                <a:solidFill>
                  <a:srgbClr val="002060"/>
                </a:solidFill>
                <a:latin typeface="Raleway"/>
              </a:rPr>
              <a:t> SDM per Recruiter</a:t>
            </a:r>
          </a:p>
        </p:txBody>
      </p:sp>
      <p:sp>
        <p:nvSpPr>
          <p:cNvPr id="28" name="TextBox 27">
            <a:extLst>
              <a:ext uri="{FF2B5EF4-FFF2-40B4-BE49-F238E27FC236}">
                <a16:creationId xmlns:a16="http://schemas.microsoft.com/office/drawing/2014/main" id="{0DDC2834-68E2-B47E-4784-C6F1DC13FF24}"/>
              </a:ext>
            </a:extLst>
          </p:cNvPr>
          <p:cNvSpPr txBox="1"/>
          <p:nvPr/>
        </p:nvSpPr>
        <p:spPr>
          <a:xfrm>
            <a:off x="7538148" y="3079382"/>
            <a:ext cx="4275842" cy="2970044"/>
          </a:xfrm>
          <a:prstGeom prst="rect">
            <a:avLst/>
          </a:prstGeom>
          <a:noFill/>
        </p:spPr>
        <p:txBody>
          <a:bodyPr wrap="square" lIns="91440" tIns="45720" rIns="91440" bIns="45720" anchor="t">
            <a:spAutoFit/>
          </a:bodyPr>
          <a:lstStyle/>
          <a:p>
            <a:pPr marL="285750" indent="-285750">
              <a:buFont typeface="Arial" panose="020B0604020202020204" pitchFamily="34" charset="0"/>
              <a:buChar char="•"/>
            </a:pPr>
            <a:r>
              <a:rPr lang="en-US" sz="1100" b="1">
                <a:latin typeface="Raleway"/>
              </a:rPr>
              <a:t>86% posisi yang di handle tim TA berada di kategori Easy (801 dari 936 posisi), menunjukkan kebutuhan tenaga kerja masih didominasi level staff/junior.
Omega, Brittney &amp; Marta menjadi kontributor volume terbesar dengan 329 posisi atau 35.6% dari total hiring, namun Omega &amp; Brittney beroperasi hampir eksklusif di kategori Easy (88%-91%) dan Marta di kategori beragam (79% Easy dan 21% Moderate).
Pauline dan Karin menjadi dua recruiter yang menangani posisi Hard — Pauline dengan 95% dan Karin dengan 6% portofolionya di kategori Hard, menciptakan risiko ketergantungan yang perlu diantisipasi. 
Ratih, Alexa &amp; Marta mencatat porsi Moderate tertinggi di antara lainnya (28%, 26% &amp; 21%), menjadikan ketiganya kandidat relevan untuk dikembangkan ke posisi lebih kompleks.</a:t>
            </a:r>
            <a:endParaRPr lang="en-US" sz="1100">
              <a:latin typeface="Raleway"/>
            </a:endParaRPr>
          </a:p>
        </p:txBody>
      </p:sp>
      <p:sp>
        <p:nvSpPr>
          <p:cNvPr id="31" name="TextBox 30">
            <a:extLst>
              <a:ext uri="{FF2B5EF4-FFF2-40B4-BE49-F238E27FC236}">
                <a16:creationId xmlns:a16="http://schemas.microsoft.com/office/drawing/2014/main" id="{D16096EB-5007-B52B-64E3-4FF364CE12D4}"/>
              </a:ext>
            </a:extLst>
          </p:cNvPr>
          <p:cNvSpPr txBox="1"/>
          <p:nvPr/>
        </p:nvSpPr>
        <p:spPr>
          <a:xfrm>
            <a:off x="7538148" y="2710050"/>
            <a:ext cx="1417784" cy="369332"/>
          </a:xfrm>
          <a:prstGeom prst="rect">
            <a:avLst/>
          </a:prstGeom>
          <a:noFill/>
        </p:spPr>
        <p:txBody>
          <a:bodyPr wrap="square">
            <a:spAutoFit/>
          </a:bodyPr>
          <a:lstStyle/>
          <a:p>
            <a:r>
              <a:rPr lang="en-US" b="1">
                <a:solidFill>
                  <a:srgbClr val="002060"/>
                </a:solidFill>
                <a:latin typeface="Raleway"/>
              </a:rPr>
              <a:t>Insights: </a:t>
            </a:r>
            <a:endParaRPr lang="en-US">
              <a:solidFill>
                <a:srgbClr val="002060"/>
              </a:solidFill>
              <a:latin typeface="Raleway"/>
            </a:endParaRPr>
          </a:p>
        </p:txBody>
      </p:sp>
      <p:sp>
        <p:nvSpPr>
          <p:cNvPr id="32" name="TextBox 31">
            <a:extLst>
              <a:ext uri="{FF2B5EF4-FFF2-40B4-BE49-F238E27FC236}">
                <a16:creationId xmlns:a16="http://schemas.microsoft.com/office/drawing/2014/main" id="{1E63E010-65EF-D99D-9836-B6F9C420513C}"/>
              </a:ext>
            </a:extLst>
          </p:cNvPr>
          <p:cNvSpPr txBox="1"/>
          <p:nvPr/>
        </p:nvSpPr>
        <p:spPr>
          <a:xfrm>
            <a:off x="7538148" y="1296119"/>
            <a:ext cx="4275842" cy="430887"/>
          </a:xfrm>
          <a:prstGeom prst="rect">
            <a:avLst/>
          </a:prstGeom>
          <a:noFill/>
        </p:spPr>
        <p:txBody>
          <a:bodyPr wrap="square" lIns="91440" tIns="45720" rIns="91440" bIns="45720" anchor="t">
            <a:spAutoFit/>
          </a:bodyPr>
          <a:lstStyle/>
          <a:p>
            <a:r>
              <a:rPr lang="sv-SE" sz="1100" b="1" i="1">
                <a:solidFill>
                  <a:srgbClr val="002060"/>
                </a:solidFill>
                <a:latin typeface="Raleway"/>
              </a:rPr>
              <a:t>Dari total 936 FPTK Closed, terdapat klasifikasi tingkat kesulitan FPTK sebagai berikut:</a:t>
            </a:r>
            <a:endParaRPr lang="en-US" sz="1100" i="1">
              <a:solidFill>
                <a:srgbClr val="002060"/>
              </a:solidFill>
              <a:latin typeface="Raleway"/>
            </a:endParaRPr>
          </a:p>
        </p:txBody>
      </p:sp>
      <p:sp>
        <p:nvSpPr>
          <p:cNvPr id="19" name="Rectangle 18">
            <a:extLst>
              <a:ext uri="{FF2B5EF4-FFF2-40B4-BE49-F238E27FC236}">
                <a16:creationId xmlns:a16="http://schemas.microsoft.com/office/drawing/2014/main" id="{1AE12761-74E9-41C0-F4F0-757ACBE37F86}"/>
              </a:ext>
            </a:extLst>
          </p:cNvPr>
          <p:cNvSpPr/>
          <p:nvPr/>
        </p:nvSpPr>
        <p:spPr>
          <a:xfrm>
            <a:off x="333103" y="2496312"/>
            <a:ext cx="7064248" cy="187591"/>
          </a:xfrm>
          <a:prstGeom prst="rect">
            <a:avLst/>
          </a:prstGeom>
          <a:noFill/>
          <a:ln>
            <a:solidFill>
              <a:srgbClr val="FFC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Raleway" pitchFamily="2" charset="0"/>
            </a:endParaRPr>
          </a:p>
        </p:txBody>
      </p:sp>
      <p:sp>
        <p:nvSpPr>
          <p:cNvPr id="20" name="Rectangle 19">
            <a:extLst>
              <a:ext uri="{FF2B5EF4-FFF2-40B4-BE49-F238E27FC236}">
                <a16:creationId xmlns:a16="http://schemas.microsoft.com/office/drawing/2014/main" id="{24184364-FA9C-A07E-1EDB-84B42EF8A05F}"/>
              </a:ext>
            </a:extLst>
          </p:cNvPr>
          <p:cNvSpPr/>
          <p:nvPr/>
        </p:nvSpPr>
        <p:spPr>
          <a:xfrm>
            <a:off x="333103" y="2735547"/>
            <a:ext cx="7064248" cy="187591"/>
          </a:xfrm>
          <a:prstGeom prst="rect">
            <a:avLst/>
          </a:prstGeom>
          <a:noFill/>
          <a:ln>
            <a:solidFill>
              <a:srgbClr val="FFC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Raleway" pitchFamily="2" charset="0"/>
            </a:endParaRPr>
          </a:p>
        </p:txBody>
      </p:sp>
      <p:sp>
        <p:nvSpPr>
          <p:cNvPr id="21" name="Rectangle 20">
            <a:extLst>
              <a:ext uri="{FF2B5EF4-FFF2-40B4-BE49-F238E27FC236}">
                <a16:creationId xmlns:a16="http://schemas.microsoft.com/office/drawing/2014/main" id="{EB77316F-26CC-E91B-3BBD-312CA2ECC1FF}"/>
              </a:ext>
            </a:extLst>
          </p:cNvPr>
          <p:cNvSpPr/>
          <p:nvPr/>
        </p:nvSpPr>
        <p:spPr>
          <a:xfrm>
            <a:off x="340360" y="3508828"/>
            <a:ext cx="7064248" cy="223877"/>
          </a:xfrm>
          <a:prstGeom prst="rect">
            <a:avLst/>
          </a:prstGeom>
          <a:noFill/>
          <a:ln>
            <a:solidFill>
              <a:srgbClr val="FFC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Raleway" pitchFamily="2" charset="0"/>
            </a:endParaRPr>
          </a:p>
        </p:txBody>
      </p:sp>
      <p:sp>
        <p:nvSpPr>
          <p:cNvPr id="22" name="Rectangle 21">
            <a:extLst>
              <a:ext uri="{FF2B5EF4-FFF2-40B4-BE49-F238E27FC236}">
                <a16:creationId xmlns:a16="http://schemas.microsoft.com/office/drawing/2014/main" id="{67AE1843-DBE5-726F-7CCB-5E12A79AE462}"/>
              </a:ext>
            </a:extLst>
          </p:cNvPr>
          <p:cNvSpPr/>
          <p:nvPr/>
        </p:nvSpPr>
        <p:spPr>
          <a:xfrm>
            <a:off x="325846" y="5557277"/>
            <a:ext cx="7064248" cy="202106"/>
          </a:xfrm>
          <a:prstGeom prst="rect">
            <a:avLst/>
          </a:prstGeom>
          <a:noFill/>
          <a:ln>
            <a:solidFill>
              <a:srgbClr val="FFC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Raleway" pitchFamily="2" charset="0"/>
            </a:endParaRPr>
          </a:p>
        </p:txBody>
      </p:sp>
      <p:sp>
        <p:nvSpPr>
          <p:cNvPr id="27" name="Rectangle 26">
            <a:extLst>
              <a:ext uri="{FF2B5EF4-FFF2-40B4-BE49-F238E27FC236}">
                <a16:creationId xmlns:a16="http://schemas.microsoft.com/office/drawing/2014/main" id="{1B3E2D67-E34E-97B5-3BEA-CAD9C93D7889}"/>
              </a:ext>
            </a:extLst>
          </p:cNvPr>
          <p:cNvSpPr/>
          <p:nvPr/>
        </p:nvSpPr>
        <p:spPr>
          <a:xfrm>
            <a:off x="340360" y="2887696"/>
            <a:ext cx="7064248" cy="187591"/>
          </a:xfrm>
          <a:prstGeom prst="rect">
            <a:avLst/>
          </a:prstGeom>
          <a:noFill/>
          <a:ln>
            <a:solidFill>
              <a:srgbClr val="FFC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Raleway" pitchFamily="2" charset="0"/>
            </a:endParaRPr>
          </a:p>
        </p:txBody>
      </p:sp>
      <p:sp>
        <p:nvSpPr>
          <p:cNvPr id="29" name="Rectangle 28">
            <a:extLst>
              <a:ext uri="{FF2B5EF4-FFF2-40B4-BE49-F238E27FC236}">
                <a16:creationId xmlns:a16="http://schemas.microsoft.com/office/drawing/2014/main" id="{B1037AEF-30FA-B8A7-ECD4-33BECF93B99D}"/>
              </a:ext>
            </a:extLst>
          </p:cNvPr>
          <p:cNvSpPr/>
          <p:nvPr/>
        </p:nvSpPr>
        <p:spPr>
          <a:xfrm>
            <a:off x="347617" y="2065185"/>
            <a:ext cx="7064248" cy="187591"/>
          </a:xfrm>
          <a:prstGeom prst="rect">
            <a:avLst/>
          </a:prstGeom>
          <a:noFill/>
          <a:ln>
            <a:solidFill>
              <a:srgbClr val="FFC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Raleway" pitchFamily="2" charset="0"/>
            </a:endParaRPr>
          </a:p>
        </p:txBody>
      </p:sp>
      <p:graphicFrame>
        <p:nvGraphicFramePr>
          <p:cNvPr id="16" name="CompleDistributionperRecruiter">
            <a:extLst>
              <a:ext uri="{FF2B5EF4-FFF2-40B4-BE49-F238E27FC236}">
                <a16:creationId xmlns:a16="http://schemas.microsoft.com/office/drawing/2014/main" id="{BB1A8C4C-7F67-37BF-295E-EC2C7E3D0F31}"/>
              </a:ext>
            </a:extLst>
          </p:cNvPr>
          <p:cNvGraphicFramePr>
            <a:graphicFrameLocks noGrp="1"/>
          </p:cNvGraphicFramePr>
          <p:nvPr>
            <p:extLst>
              <p:ext uri="{D42A27DB-BD31-4B8C-83A1-F6EECF244321}">
                <p14:modId xmlns:p14="http://schemas.microsoft.com/office/powerpoint/2010/main" val="457353542"/>
              </p:ext>
            </p:extLst>
          </p:nvPr>
        </p:nvGraphicFramePr>
        <p:xfrm>
          <a:off x="378010" y="1355533"/>
          <a:ext cx="6450804" cy="5367868"/>
        </p:xfrm>
        <a:graphic>
          <a:graphicData uri="http://schemas.openxmlformats.org/drawingml/2006/table">
            <a:tbl>
              <a:tblPr/>
              <a:tblGrid>
                <a:gridCol w="890211">
                  <a:extLst>
                    <a:ext uri="{9D8B030D-6E8A-4147-A177-3AD203B41FA5}">
                      <a16:colId xmlns:a16="http://schemas.microsoft.com/office/drawing/2014/main" val="1721769481"/>
                    </a:ext>
                  </a:extLst>
                </a:gridCol>
                <a:gridCol w="657982">
                  <a:extLst>
                    <a:ext uri="{9D8B030D-6E8A-4147-A177-3AD203B41FA5}">
                      <a16:colId xmlns:a16="http://schemas.microsoft.com/office/drawing/2014/main" val="3334760163"/>
                    </a:ext>
                  </a:extLst>
                </a:gridCol>
                <a:gridCol w="657982">
                  <a:extLst>
                    <a:ext uri="{9D8B030D-6E8A-4147-A177-3AD203B41FA5}">
                      <a16:colId xmlns:a16="http://schemas.microsoft.com/office/drawing/2014/main" val="3057850898"/>
                    </a:ext>
                  </a:extLst>
                </a:gridCol>
                <a:gridCol w="657982">
                  <a:extLst>
                    <a:ext uri="{9D8B030D-6E8A-4147-A177-3AD203B41FA5}">
                      <a16:colId xmlns:a16="http://schemas.microsoft.com/office/drawing/2014/main" val="347205937"/>
                    </a:ext>
                  </a:extLst>
                </a:gridCol>
                <a:gridCol w="657982">
                  <a:extLst>
                    <a:ext uri="{9D8B030D-6E8A-4147-A177-3AD203B41FA5}">
                      <a16:colId xmlns:a16="http://schemas.microsoft.com/office/drawing/2014/main" val="308540549"/>
                    </a:ext>
                  </a:extLst>
                </a:gridCol>
                <a:gridCol w="657982">
                  <a:extLst>
                    <a:ext uri="{9D8B030D-6E8A-4147-A177-3AD203B41FA5}">
                      <a16:colId xmlns:a16="http://schemas.microsoft.com/office/drawing/2014/main" val="3543263158"/>
                    </a:ext>
                  </a:extLst>
                </a:gridCol>
                <a:gridCol w="657982">
                  <a:extLst>
                    <a:ext uri="{9D8B030D-6E8A-4147-A177-3AD203B41FA5}">
                      <a16:colId xmlns:a16="http://schemas.microsoft.com/office/drawing/2014/main" val="1716336943"/>
                    </a:ext>
                  </a:extLst>
                </a:gridCol>
                <a:gridCol w="657982">
                  <a:extLst>
                    <a:ext uri="{9D8B030D-6E8A-4147-A177-3AD203B41FA5}">
                      <a16:colId xmlns:a16="http://schemas.microsoft.com/office/drawing/2014/main" val="1826425912"/>
                    </a:ext>
                  </a:extLst>
                </a:gridCol>
                <a:gridCol w="954719">
                  <a:extLst>
                    <a:ext uri="{9D8B030D-6E8A-4147-A177-3AD203B41FA5}">
                      <a16:colId xmlns:a16="http://schemas.microsoft.com/office/drawing/2014/main" val="4181280900"/>
                    </a:ext>
                  </a:extLst>
                </a:gridCol>
              </a:tblGrid>
              <a:tr h="756169">
                <a:tc>
                  <a:txBody>
                    <a:bodyPr/>
                    <a:lstStyle/>
                    <a:p>
                      <a:pPr algn="ctr" rtl="0" fontAlgn="ctr">
                        <a:buNone/>
                      </a:pPr>
                      <a:r>
                        <a:rPr lang="en-US" sz="900" b="1" i="0" u="none" strike="noStrike">
                          <a:solidFill>
                            <a:srgbClr val="FFFFFF"/>
                          </a:solidFill>
                          <a:effectLst/>
                          <a:latin typeface="Raleway" pitchFamily="2" charset="0"/>
                        </a:rPr>
                        <a:t>Recruiter</a:t>
                      </a:r>
                    </a:p>
                  </a:txBody>
                  <a:tcPr marL="0" marR="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900" b="1" i="0" u="none" strike="noStrike">
                          <a:solidFill>
                            <a:srgbClr val="FFFFFF"/>
                          </a:solidFill>
                          <a:effectLst/>
                          <a:latin typeface="Raleway" pitchFamily="2" charset="0"/>
                        </a:rPr>
                        <a:t>Total</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900" b="1" i="0" u="none" strike="noStrike">
                          <a:solidFill>
                            <a:srgbClr val="FFFFFF"/>
                          </a:solidFill>
                          <a:effectLst/>
                          <a:latin typeface="Raleway" pitchFamily="2" charset="0"/>
                        </a:rPr>
                        <a:t>Easy</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900" b="1" i="0" u="none" strike="noStrike">
                          <a:solidFill>
                            <a:srgbClr val="FFFFFF"/>
                          </a:solidFill>
                          <a:effectLst/>
                          <a:latin typeface="Raleway" pitchFamily="2" charset="0"/>
                        </a:rPr>
                        <a:t>%</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900" b="1" i="0" u="none" strike="noStrike">
                          <a:solidFill>
                            <a:srgbClr val="FFFFFF"/>
                          </a:solidFill>
                          <a:effectLst/>
                          <a:latin typeface="Raleway" pitchFamily="2" charset="0"/>
                        </a:rPr>
                        <a:t>Moderate</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900" b="1" i="0" u="none" strike="noStrike">
                          <a:solidFill>
                            <a:srgbClr val="FFFFFF"/>
                          </a:solidFill>
                          <a:effectLst/>
                          <a:latin typeface="Raleway" pitchFamily="2" charset="0"/>
                        </a:rPr>
                        <a:t>%</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900" b="1" i="0" u="none" strike="noStrike">
                          <a:solidFill>
                            <a:srgbClr val="FFFFFF"/>
                          </a:solidFill>
                          <a:effectLst/>
                          <a:latin typeface="Raleway" pitchFamily="2" charset="0"/>
                        </a:rPr>
                        <a:t>Hard</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900" b="1" i="0" u="none" strike="noStrike">
                          <a:solidFill>
                            <a:srgbClr val="FFFFFF"/>
                          </a:solidFill>
                          <a:effectLst/>
                          <a:latin typeface="Raleway" pitchFamily="2" charset="0"/>
                        </a:rPr>
                        <a:t>%</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solidFill>
                      <a:srgbClr val="002060"/>
                    </a:solidFill>
                  </a:tcPr>
                </a:tc>
                <a:tc>
                  <a:txBody>
                    <a:bodyPr/>
                    <a:lstStyle/>
                    <a:p>
                      <a:pPr algn="ctr" rtl="0" fontAlgn="ctr">
                        <a:buNone/>
                      </a:pPr>
                      <a:r>
                        <a:rPr lang="en-US" sz="900" b="1" i="0" u="none" strike="noStrike">
                          <a:solidFill>
                            <a:srgbClr val="FFFFFF"/>
                          </a:solidFill>
                          <a:effectLst/>
                          <a:latin typeface="Raleway" pitchFamily="2" charset="0"/>
                        </a:rPr>
                        <a:t>Profile</a:t>
                      </a:r>
                    </a:p>
                  </a:txBody>
                  <a:tcPr marL="0" marR="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002060"/>
                    </a:solidFill>
                  </a:tcPr>
                </a:tc>
                <a:extLst>
                  <a:ext uri="{0D108BD9-81ED-4DB2-BD59-A6C34878D82A}">
                    <a16:rowId xmlns:a16="http://schemas.microsoft.com/office/drawing/2014/main" val="3399937833"/>
                  </a:ext>
                </a:extLst>
              </a:tr>
              <a:tr h="242721">
                <a:tc>
                  <a:txBody>
                    <a:bodyPr/>
                    <a:lstStyle/>
                    <a:p>
                      <a:pPr algn="l" rtl="0" fontAlgn="b">
                        <a:buNone/>
                      </a:pPr>
                      <a:r>
                        <a:rPr lang="en-US" sz="800" b="1" i="0" u="none" strike="noStrike">
                          <a:solidFill>
                            <a:srgbClr val="002060"/>
                          </a:solidFill>
                          <a:effectLst/>
                          <a:latin typeface="Raleway" pitchFamily="2" charset="0"/>
                        </a:rPr>
                        <a:t>Alexa</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70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51</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73%</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19</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27%</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l" rtl="0" fontAlgn="b">
                        <a:buNone/>
                      </a:pPr>
                      <a:r>
                        <a:rPr lang="en-US" sz="800" b="1" i="0" u="none" strike="noStrike">
                          <a:solidFill>
                            <a:srgbClr val="000000"/>
                          </a:solidFill>
                          <a:effectLst/>
                          <a:latin typeface="Raleway" pitchFamily="2" charset="0"/>
                        </a:rPr>
                        <a:t>Moderate</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1211152345"/>
                  </a:ext>
                </a:extLst>
              </a:tr>
              <a:tr h="242721">
                <a:tc>
                  <a:txBody>
                    <a:bodyPr/>
                    <a:lstStyle/>
                    <a:p>
                      <a:pPr algn="l" rtl="0" fontAlgn="b">
                        <a:buNone/>
                      </a:pPr>
                      <a:r>
                        <a:rPr lang="en-US" sz="800" b="1" i="0" u="none" strike="noStrike">
                          <a:solidFill>
                            <a:srgbClr val="002060"/>
                          </a:solidFill>
                          <a:effectLst/>
                          <a:latin typeface="Raleway" pitchFamily="2" charset="0"/>
                        </a:rPr>
                        <a:t>Brittney</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120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107</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89%</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13</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11%</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l" rtl="0" fontAlgn="b">
                        <a:buNone/>
                      </a:pPr>
                      <a:r>
                        <a:rPr lang="en-US" sz="800" b="1" i="0" u="none" strike="noStrike">
                          <a:solidFill>
                            <a:srgbClr val="000000"/>
                          </a:solidFill>
                          <a:effectLst/>
                          <a:latin typeface="Raleway" pitchFamily="2" charset="0"/>
                        </a:rPr>
                        <a:t>Easy</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763073366"/>
                  </a:ext>
                </a:extLst>
              </a:tr>
              <a:tr h="242721">
                <a:tc>
                  <a:txBody>
                    <a:bodyPr/>
                    <a:lstStyle/>
                    <a:p>
                      <a:pPr algn="l" rtl="0" fontAlgn="b">
                        <a:buNone/>
                      </a:pPr>
                      <a:r>
                        <a:rPr lang="en-US" sz="800" b="1" i="0" u="none" strike="noStrike">
                          <a:solidFill>
                            <a:srgbClr val="002060"/>
                          </a:solidFill>
                          <a:effectLst/>
                          <a:latin typeface="Raleway" pitchFamily="2" charset="0"/>
                        </a:rPr>
                        <a:t>Omega</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127</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115</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91%</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12</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9%</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l" rtl="0" fontAlgn="b">
                        <a:buNone/>
                      </a:pPr>
                      <a:r>
                        <a:rPr lang="en-US" sz="800" b="1" i="0" u="none" strike="noStrike">
                          <a:solidFill>
                            <a:srgbClr val="000000"/>
                          </a:solidFill>
                          <a:effectLst/>
                          <a:latin typeface="Raleway" pitchFamily="2" charset="0"/>
                        </a:rPr>
                        <a:t>Easy</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625426677"/>
                  </a:ext>
                </a:extLst>
              </a:tr>
              <a:tr h="242721">
                <a:tc>
                  <a:txBody>
                    <a:bodyPr/>
                    <a:lstStyle/>
                    <a:p>
                      <a:pPr algn="l" rtl="0" fontAlgn="b">
                        <a:buNone/>
                      </a:pPr>
                      <a:r>
                        <a:rPr lang="en-US" sz="800" b="1" i="0" u="none" strike="noStrike">
                          <a:solidFill>
                            <a:srgbClr val="002060"/>
                          </a:solidFill>
                          <a:effectLst/>
                          <a:latin typeface="Raleway" pitchFamily="2" charset="0"/>
                        </a:rPr>
                        <a:t>Karin</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17</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11</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65%</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5</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29%</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1</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6%</a:t>
                      </a:r>
                    </a:p>
                  </a:txBody>
                  <a:tcPr marL="0" marR="0" marT="0" marB="0" anchor="b">
                    <a:lnL>
                      <a:noFill/>
                    </a:lnL>
                    <a:lnR>
                      <a:noFill/>
                    </a:lnR>
                    <a:lnT>
                      <a:noFill/>
                    </a:lnT>
                    <a:lnB>
                      <a:noFill/>
                    </a:lnB>
                    <a:solidFill>
                      <a:srgbClr val="FFFFFF"/>
                    </a:solidFill>
                  </a:tcPr>
                </a:tc>
                <a:tc>
                  <a:txBody>
                    <a:bodyPr/>
                    <a:lstStyle/>
                    <a:p>
                      <a:pPr algn="l" rtl="0" fontAlgn="b">
                        <a:buNone/>
                      </a:pPr>
                      <a:r>
                        <a:rPr lang="en-US" sz="800" b="1" i="0" u="none" strike="noStrike">
                          <a:solidFill>
                            <a:srgbClr val="000000"/>
                          </a:solidFill>
                          <a:effectLst/>
                          <a:latin typeface="Raleway" pitchFamily="2" charset="0"/>
                        </a:rPr>
                        <a:t>Moderate</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873547013"/>
                  </a:ext>
                </a:extLst>
              </a:tr>
              <a:tr h="242721">
                <a:tc>
                  <a:txBody>
                    <a:bodyPr/>
                    <a:lstStyle/>
                    <a:p>
                      <a:pPr algn="l" rtl="0" fontAlgn="b">
                        <a:buNone/>
                      </a:pPr>
                      <a:r>
                        <a:rPr lang="en-US" sz="800" b="1" i="0" u="none" strike="noStrike">
                          <a:solidFill>
                            <a:srgbClr val="002060"/>
                          </a:solidFill>
                          <a:effectLst/>
                          <a:latin typeface="Raleway" pitchFamily="2" charset="0"/>
                        </a:rPr>
                        <a:t>Kenthansen</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155</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147</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95%</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8</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5%</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l" rtl="0" fontAlgn="b">
                        <a:buNone/>
                      </a:pPr>
                      <a:r>
                        <a:rPr lang="en-US" sz="800" b="1" i="0" u="none" strike="noStrike">
                          <a:solidFill>
                            <a:srgbClr val="000000"/>
                          </a:solidFill>
                          <a:effectLst/>
                          <a:latin typeface="Raleway" pitchFamily="2" charset="0"/>
                        </a:rPr>
                        <a:t>Easy</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1168351715"/>
                  </a:ext>
                </a:extLst>
              </a:tr>
              <a:tr h="242721">
                <a:tc>
                  <a:txBody>
                    <a:bodyPr/>
                    <a:lstStyle/>
                    <a:p>
                      <a:pPr algn="l" rtl="0" fontAlgn="b">
                        <a:buNone/>
                      </a:pPr>
                      <a:r>
                        <a:rPr lang="en-US" sz="800" b="1" i="0" u="none" strike="noStrike">
                          <a:solidFill>
                            <a:srgbClr val="002060"/>
                          </a:solidFill>
                          <a:effectLst/>
                          <a:latin typeface="Raleway" pitchFamily="2" charset="0"/>
                        </a:rPr>
                        <a:t>Marta</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128</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89</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70%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39</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30%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l" rtl="0" fontAlgn="b">
                        <a:buNone/>
                      </a:pPr>
                      <a:r>
                        <a:rPr lang="en-US" sz="800" b="1" i="0" u="none" strike="noStrike">
                          <a:solidFill>
                            <a:srgbClr val="000000"/>
                          </a:solidFill>
                          <a:effectLst/>
                          <a:latin typeface="Raleway" pitchFamily="2" charset="0"/>
                        </a:rPr>
                        <a:t>Moderate</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181169264"/>
                  </a:ext>
                </a:extLst>
              </a:tr>
              <a:tr h="242721">
                <a:tc>
                  <a:txBody>
                    <a:bodyPr/>
                    <a:lstStyle/>
                    <a:p>
                      <a:pPr algn="l" rtl="0" fontAlgn="b">
                        <a:buNone/>
                      </a:pPr>
                      <a:r>
                        <a:rPr lang="en-US" sz="800" b="1" i="0" u="none" strike="noStrike">
                          <a:solidFill>
                            <a:srgbClr val="002060"/>
                          </a:solidFill>
                          <a:effectLst/>
                          <a:latin typeface="Raleway" pitchFamily="2" charset="0"/>
                        </a:rPr>
                        <a:t>Pauline</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18</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1</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6%</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17</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94%</a:t>
                      </a:r>
                    </a:p>
                  </a:txBody>
                  <a:tcPr marL="0" marR="0" marT="0" marB="0" anchor="b">
                    <a:lnL>
                      <a:noFill/>
                    </a:lnL>
                    <a:lnR>
                      <a:noFill/>
                    </a:lnR>
                    <a:lnT>
                      <a:noFill/>
                    </a:lnT>
                    <a:lnB>
                      <a:noFill/>
                    </a:lnB>
                    <a:solidFill>
                      <a:srgbClr val="FFFFFF"/>
                    </a:solidFill>
                  </a:tcPr>
                </a:tc>
                <a:tc>
                  <a:txBody>
                    <a:bodyPr/>
                    <a:lstStyle/>
                    <a:p>
                      <a:pPr algn="l" rtl="0" fontAlgn="b">
                        <a:buNone/>
                      </a:pPr>
                      <a:r>
                        <a:rPr lang="en-US" sz="800" b="1" i="0" u="none" strike="noStrike">
                          <a:solidFill>
                            <a:srgbClr val="000000"/>
                          </a:solidFill>
                          <a:effectLst/>
                          <a:latin typeface="Raleway" pitchFamily="2" charset="0"/>
                        </a:rPr>
                        <a:t>Hard</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607628651"/>
                  </a:ext>
                </a:extLst>
              </a:tr>
              <a:tr h="242721">
                <a:tc>
                  <a:txBody>
                    <a:bodyPr/>
                    <a:lstStyle/>
                    <a:p>
                      <a:pPr algn="l" rtl="0" fontAlgn="b">
                        <a:buNone/>
                      </a:pPr>
                      <a:r>
                        <a:rPr lang="en-US" sz="800" b="1" i="0" u="none" strike="noStrike">
                          <a:solidFill>
                            <a:srgbClr val="002060"/>
                          </a:solidFill>
                          <a:effectLst/>
                          <a:latin typeface="Raleway" pitchFamily="2" charset="0"/>
                        </a:rPr>
                        <a:t>Ratih</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84</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59</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70%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25</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30%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l" rtl="0" fontAlgn="b">
                        <a:buNone/>
                      </a:pPr>
                      <a:r>
                        <a:rPr lang="en-US" sz="800" b="1" i="0" u="none" strike="noStrike">
                          <a:solidFill>
                            <a:srgbClr val="000000"/>
                          </a:solidFill>
                          <a:effectLst/>
                          <a:latin typeface="Raleway" pitchFamily="2" charset="0"/>
                        </a:rPr>
                        <a:t>Moderate</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662799029"/>
                  </a:ext>
                </a:extLst>
              </a:tr>
              <a:tr h="242721">
                <a:tc>
                  <a:txBody>
                    <a:bodyPr/>
                    <a:lstStyle/>
                    <a:p>
                      <a:pPr algn="l" rtl="0" fontAlgn="b">
                        <a:buNone/>
                      </a:pPr>
                      <a:r>
                        <a:rPr lang="en-US" sz="800" b="1" i="0" u="none" strike="noStrike">
                          <a:solidFill>
                            <a:srgbClr val="002060"/>
                          </a:solidFill>
                          <a:effectLst/>
                          <a:latin typeface="Raleway" pitchFamily="2" charset="0"/>
                        </a:rPr>
                        <a:t>Zwei</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87</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78</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90%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9</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10%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l" rtl="0" fontAlgn="b">
                        <a:buNone/>
                      </a:pPr>
                      <a:r>
                        <a:rPr lang="en-US" sz="800" b="1" i="0" u="none" strike="noStrike">
                          <a:solidFill>
                            <a:srgbClr val="000000"/>
                          </a:solidFill>
                          <a:effectLst/>
                          <a:latin typeface="Raleway" pitchFamily="2" charset="0"/>
                        </a:rPr>
                        <a:t>Easy</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939327361"/>
                  </a:ext>
                </a:extLst>
              </a:tr>
              <a:tr h="242721">
                <a:tc>
                  <a:txBody>
                    <a:bodyPr/>
                    <a:lstStyle/>
                    <a:p>
                      <a:pPr algn="l" rtl="0" fontAlgn="b">
                        <a:buNone/>
                      </a:pPr>
                      <a:r>
                        <a:rPr lang="en-US" sz="800" b="1" i="0" u="none" strike="noStrike">
                          <a:solidFill>
                            <a:srgbClr val="002060"/>
                          </a:solidFill>
                          <a:effectLst/>
                          <a:latin typeface="Raleway" pitchFamily="2" charset="0"/>
                        </a:rPr>
                        <a:t>Achmad</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35</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35</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100%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l" rtl="0" fontAlgn="b">
                        <a:buNone/>
                      </a:pPr>
                      <a:r>
                        <a:rPr lang="en-US" sz="800" b="1" i="0" u="none" strike="noStrike">
                          <a:solidFill>
                            <a:srgbClr val="000000"/>
                          </a:solidFill>
                          <a:effectLst/>
                          <a:latin typeface="Raleway" pitchFamily="2" charset="0"/>
                        </a:rPr>
                        <a:t>Easy</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4126537066"/>
                  </a:ext>
                </a:extLst>
              </a:tr>
              <a:tr h="242721">
                <a:tc>
                  <a:txBody>
                    <a:bodyPr/>
                    <a:lstStyle/>
                    <a:p>
                      <a:pPr algn="l" rtl="0" fontAlgn="b">
                        <a:buNone/>
                      </a:pPr>
                      <a:r>
                        <a:rPr lang="en-US" sz="800" b="1" i="0" u="none" strike="noStrike">
                          <a:solidFill>
                            <a:srgbClr val="002060"/>
                          </a:solidFill>
                          <a:effectLst/>
                          <a:latin typeface="Raleway" pitchFamily="2" charset="0"/>
                        </a:rPr>
                        <a:t>Eli</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35</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31</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89%</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4</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11%</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l" rtl="0" fontAlgn="b">
                        <a:buNone/>
                      </a:pPr>
                      <a:r>
                        <a:rPr lang="en-US" sz="800" b="1" i="0" u="none" strike="noStrike">
                          <a:solidFill>
                            <a:srgbClr val="000000"/>
                          </a:solidFill>
                          <a:effectLst/>
                          <a:latin typeface="Raleway" pitchFamily="2" charset="0"/>
                        </a:rPr>
                        <a:t>Easy</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799373084"/>
                  </a:ext>
                </a:extLst>
              </a:tr>
              <a:tr h="242721">
                <a:tc>
                  <a:txBody>
                    <a:bodyPr/>
                    <a:lstStyle/>
                    <a:p>
                      <a:pPr algn="l" rtl="0" fontAlgn="b">
                        <a:buNone/>
                      </a:pPr>
                      <a:r>
                        <a:rPr lang="en-US" sz="800" b="1" i="0" u="none" strike="noStrike">
                          <a:solidFill>
                            <a:srgbClr val="002060"/>
                          </a:solidFill>
                          <a:effectLst/>
                          <a:latin typeface="Raleway" pitchFamily="2" charset="0"/>
                        </a:rPr>
                        <a:t>Kasanah</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56</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51</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91%</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4</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7%</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1</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2%</a:t>
                      </a:r>
                    </a:p>
                  </a:txBody>
                  <a:tcPr marL="0" marR="0" marT="0" marB="0" anchor="b">
                    <a:lnL>
                      <a:noFill/>
                    </a:lnL>
                    <a:lnR>
                      <a:noFill/>
                    </a:lnR>
                    <a:lnT>
                      <a:noFill/>
                    </a:lnT>
                    <a:lnB>
                      <a:noFill/>
                    </a:lnB>
                    <a:solidFill>
                      <a:srgbClr val="FFFFFF"/>
                    </a:solidFill>
                  </a:tcPr>
                </a:tc>
                <a:tc>
                  <a:txBody>
                    <a:bodyPr/>
                    <a:lstStyle/>
                    <a:p>
                      <a:pPr algn="l" rtl="0" fontAlgn="b">
                        <a:buNone/>
                      </a:pPr>
                      <a:r>
                        <a:rPr lang="en-US" sz="800" b="1" i="0" u="none" strike="noStrike">
                          <a:solidFill>
                            <a:srgbClr val="000000"/>
                          </a:solidFill>
                          <a:effectLst/>
                          <a:latin typeface="Raleway" pitchFamily="2" charset="0"/>
                        </a:rPr>
                        <a:t>Easy</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556566053"/>
                  </a:ext>
                </a:extLst>
              </a:tr>
              <a:tr h="242721">
                <a:tc>
                  <a:txBody>
                    <a:bodyPr/>
                    <a:lstStyle/>
                    <a:p>
                      <a:pPr algn="l" rtl="0" fontAlgn="b">
                        <a:buNone/>
                      </a:pPr>
                      <a:r>
                        <a:rPr lang="en-US" sz="800" b="1" i="0" u="none" strike="noStrike">
                          <a:solidFill>
                            <a:srgbClr val="002060"/>
                          </a:solidFill>
                          <a:effectLst/>
                          <a:latin typeface="Raleway" pitchFamily="2" charset="0"/>
                        </a:rPr>
                        <a:t>Fiscall</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37</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37</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100%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l" rtl="0" fontAlgn="b">
                        <a:buNone/>
                      </a:pPr>
                      <a:r>
                        <a:rPr lang="en-US" sz="800" b="1" i="0" u="none" strike="noStrike">
                          <a:solidFill>
                            <a:srgbClr val="000000"/>
                          </a:solidFill>
                          <a:effectLst/>
                          <a:latin typeface="Raleway" pitchFamily="2" charset="0"/>
                        </a:rPr>
                        <a:t>Easy</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102460123"/>
                  </a:ext>
                </a:extLst>
              </a:tr>
              <a:tr h="242721">
                <a:tc>
                  <a:txBody>
                    <a:bodyPr/>
                    <a:lstStyle/>
                    <a:p>
                      <a:pPr algn="l" rtl="0" fontAlgn="b">
                        <a:buNone/>
                      </a:pPr>
                      <a:r>
                        <a:rPr lang="en-US" sz="800" b="1" i="0" u="none" strike="noStrike">
                          <a:solidFill>
                            <a:srgbClr val="002060"/>
                          </a:solidFill>
                          <a:effectLst/>
                          <a:latin typeface="Raleway" pitchFamily="2" charset="0"/>
                        </a:rPr>
                        <a:t>Gabbie</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37</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37</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100%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l" rtl="0" fontAlgn="b">
                        <a:buNone/>
                      </a:pPr>
                      <a:r>
                        <a:rPr lang="en-US" sz="800" b="1" i="0" u="none" strike="noStrike">
                          <a:solidFill>
                            <a:srgbClr val="000000"/>
                          </a:solidFill>
                          <a:effectLst/>
                          <a:latin typeface="Raleway" pitchFamily="2" charset="0"/>
                        </a:rPr>
                        <a:t>Hard</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340978290"/>
                  </a:ext>
                </a:extLst>
              </a:tr>
              <a:tr h="242721">
                <a:tc>
                  <a:txBody>
                    <a:bodyPr/>
                    <a:lstStyle/>
                    <a:p>
                      <a:pPr algn="l" rtl="0" fontAlgn="b">
                        <a:buNone/>
                      </a:pPr>
                      <a:r>
                        <a:rPr lang="en-US" sz="800" b="1" i="0" u="none" strike="noStrike">
                          <a:solidFill>
                            <a:srgbClr val="002060"/>
                          </a:solidFill>
                          <a:effectLst/>
                          <a:latin typeface="Raleway" pitchFamily="2" charset="0"/>
                        </a:rPr>
                        <a:t>Salwa</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8</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8</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100%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l" rtl="0" fontAlgn="b">
                        <a:buNone/>
                      </a:pPr>
                      <a:r>
                        <a:rPr lang="en-US" sz="800" b="1" i="0" u="none" strike="noStrike">
                          <a:solidFill>
                            <a:srgbClr val="000000"/>
                          </a:solidFill>
                          <a:effectLst/>
                          <a:latin typeface="Raleway" pitchFamily="2" charset="0"/>
                        </a:rPr>
                        <a:t>Easy</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493321645"/>
                  </a:ext>
                </a:extLst>
              </a:tr>
              <a:tr h="242721">
                <a:tc>
                  <a:txBody>
                    <a:bodyPr/>
                    <a:lstStyle/>
                    <a:p>
                      <a:pPr algn="l" rtl="0" fontAlgn="b">
                        <a:buNone/>
                      </a:pPr>
                      <a:r>
                        <a:rPr lang="en-US" sz="800" b="1" i="0" u="none" strike="noStrike">
                          <a:solidFill>
                            <a:srgbClr val="002060"/>
                          </a:solidFill>
                          <a:effectLst/>
                          <a:latin typeface="Raleway" pitchFamily="2" charset="0"/>
                        </a:rPr>
                        <a:t>Wahyu</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31</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30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97%</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1</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3%</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l" rtl="0" fontAlgn="b">
                        <a:buNone/>
                      </a:pPr>
                      <a:r>
                        <a:rPr lang="en-US" sz="800" b="1" i="0" u="none" strike="noStrike">
                          <a:solidFill>
                            <a:srgbClr val="000000"/>
                          </a:solidFill>
                          <a:effectLst/>
                          <a:latin typeface="Raleway" pitchFamily="2" charset="0"/>
                        </a:rPr>
                        <a:t>Easy</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3493195301"/>
                  </a:ext>
                </a:extLst>
              </a:tr>
              <a:tr h="242721">
                <a:tc>
                  <a:txBody>
                    <a:bodyPr/>
                    <a:lstStyle/>
                    <a:p>
                      <a:pPr algn="l" rtl="0" fontAlgn="b">
                        <a:buNone/>
                      </a:pPr>
                      <a:r>
                        <a:rPr lang="en-US" sz="800" b="1" i="0" u="none" strike="noStrike">
                          <a:solidFill>
                            <a:srgbClr val="002060"/>
                          </a:solidFill>
                          <a:effectLst/>
                          <a:latin typeface="Raleway" pitchFamily="2" charset="0"/>
                        </a:rPr>
                        <a:t>Leo</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57</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54</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95%</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3</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5%</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l" rtl="0" fontAlgn="b">
                        <a:buNone/>
                      </a:pPr>
                      <a:r>
                        <a:rPr lang="en-US" sz="800" b="1" i="0" u="none" strike="noStrike">
                          <a:solidFill>
                            <a:srgbClr val="000000"/>
                          </a:solidFill>
                          <a:effectLst/>
                          <a:latin typeface="Raleway" pitchFamily="2" charset="0"/>
                        </a:rPr>
                        <a:t>Easy</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2364251648"/>
                  </a:ext>
                </a:extLst>
              </a:tr>
              <a:tr h="242721">
                <a:tc>
                  <a:txBody>
                    <a:bodyPr/>
                    <a:lstStyle/>
                    <a:p>
                      <a:pPr algn="l" rtl="0" fontAlgn="b">
                        <a:buNone/>
                      </a:pPr>
                      <a:r>
                        <a:rPr lang="en-US" sz="800" b="1" i="0" u="none" strike="noStrike">
                          <a:solidFill>
                            <a:srgbClr val="002060"/>
                          </a:solidFill>
                          <a:effectLst/>
                          <a:latin typeface="Raleway" pitchFamily="2" charset="0"/>
                        </a:rPr>
                        <a:t>Elsi</a:t>
                      </a:r>
                    </a:p>
                  </a:txBody>
                  <a:tcPr marL="0" marR="0" marT="0"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23</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23</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100%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ctr" rtl="0" fontAlgn="b">
                        <a:buNone/>
                      </a:pPr>
                      <a:r>
                        <a:rPr lang="en-US" sz="800" b="0" i="0" u="none" strike="noStrike">
                          <a:solidFill>
                            <a:srgbClr val="000000"/>
                          </a:solidFill>
                          <a:effectLst/>
                          <a:latin typeface="Raleway" pitchFamily="2" charset="0"/>
                        </a:rPr>
                        <a:t>0%</a:t>
                      </a:r>
                    </a:p>
                  </a:txBody>
                  <a:tcPr marL="0" marR="0" marT="0" marB="0" anchor="b">
                    <a:lnL>
                      <a:noFill/>
                    </a:lnL>
                    <a:lnR>
                      <a:noFill/>
                    </a:lnR>
                    <a:lnT>
                      <a:noFill/>
                    </a:lnT>
                    <a:lnB>
                      <a:noFill/>
                    </a:lnB>
                    <a:solidFill>
                      <a:srgbClr val="FFFFFF"/>
                    </a:solidFill>
                  </a:tcPr>
                </a:tc>
                <a:tc>
                  <a:txBody>
                    <a:bodyPr/>
                    <a:lstStyle/>
                    <a:p>
                      <a:pPr algn="l" rtl="0" fontAlgn="b">
                        <a:buNone/>
                      </a:pPr>
                      <a:r>
                        <a:rPr lang="en-US" sz="800" b="1" i="0" u="none" strike="noStrike">
                          <a:solidFill>
                            <a:srgbClr val="000000"/>
                          </a:solidFill>
                          <a:effectLst/>
                          <a:latin typeface="Raleway" pitchFamily="2" charset="0"/>
                        </a:rPr>
                        <a:t>Easy</a:t>
                      </a:r>
                    </a:p>
                  </a:txBody>
                  <a:tcPr marL="0" marR="0" marT="0"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val="1119779310"/>
                  </a:ext>
                </a:extLst>
              </a:tr>
              <a:tr h="242721">
                <a:tc>
                  <a:txBody>
                    <a:bodyPr/>
                    <a:lstStyle/>
                    <a:p>
                      <a:pPr algn="ctr" rtl="0" fontAlgn="ctr">
                        <a:buNone/>
                      </a:pPr>
                      <a:r>
                        <a:rPr lang="en-US" sz="900" b="1" i="0" u="none" strike="noStrike">
                          <a:solidFill>
                            <a:srgbClr val="FFFFFF"/>
                          </a:solidFill>
                          <a:effectLst/>
                          <a:latin typeface="Raleway" pitchFamily="2" charset="0"/>
                        </a:rPr>
                        <a:t>TOTAL</a:t>
                      </a:r>
                    </a:p>
                  </a:txBody>
                  <a:tcPr marL="0" marR="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solidFill>
                      <a:srgbClr val="002060"/>
                    </a:solidFill>
                  </a:tcPr>
                </a:tc>
                <a:tc>
                  <a:txBody>
                    <a:bodyPr/>
                    <a:lstStyle/>
                    <a:p>
                      <a:pPr algn="ctr" rtl="0" fontAlgn="ctr">
                        <a:buNone/>
                      </a:pPr>
                      <a:r>
                        <a:rPr lang="en-US" sz="900" b="1" i="0" u="none" strike="noStrike">
                          <a:solidFill>
                            <a:srgbClr val="FFFFFF"/>
                          </a:solidFill>
                          <a:effectLst/>
                          <a:latin typeface="Raleway" pitchFamily="2" charset="0"/>
                        </a:rPr>
                        <a:t>1125</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002060"/>
                    </a:solidFill>
                  </a:tcPr>
                </a:tc>
                <a:tc>
                  <a:txBody>
                    <a:bodyPr/>
                    <a:lstStyle/>
                    <a:p>
                      <a:pPr algn="ctr" rtl="0" fontAlgn="ctr">
                        <a:buNone/>
                      </a:pPr>
                      <a:r>
                        <a:rPr lang="en-US" sz="900" b="1" i="0" u="none" strike="noStrike">
                          <a:solidFill>
                            <a:srgbClr val="FFFFFF"/>
                          </a:solidFill>
                          <a:effectLst/>
                          <a:latin typeface="Raleway" pitchFamily="2" charset="0"/>
                        </a:rPr>
                        <a:t>964</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002060"/>
                    </a:solidFill>
                  </a:tcPr>
                </a:tc>
                <a:tc>
                  <a:txBody>
                    <a:bodyPr/>
                    <a:lstStyle/>
                    <a:p>
                      <a:pPr algn="ctr" rtl="0" fontAlgn="ctr">
                        <a:buNone/>
                      </a:pPr>
                      <a:r>
                        <a:rPr lang="en-US" sz="900" b="1" i="0" u="none" strike="noStrike">
                          <a:solidFill>
                            <a:srgbClr val="FFFFFF"/>
                          </a:solidFill>
                          <a:effectLst/>
                          <a:latin typeface="Raleway" pitchFamily="2" charset="0"/>
                        </a:rPr>
                        <a:t>86%</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002060"/>
                    </a:solidFill>
                  </a:tcPr>
                </a:tc>
                <a:tc>
                  <a:txBody>
                    <a:bodyPr/>
                    <a:lstStyle/>
                    <a:p>
                      <a:pPr algn="ctr" rtl="0" fontAlgn="ctr">
                        <a:buNone/>
                      </a:pPr>
                      <a:r>
                        <a:rPr lang="en-US" sz="900" b="1" i="0" u="none" strike="noStrike">
                          <a:solidFill>
                            <a:srgbClr val="FFFFFF"/>
                          </a:solidFill>
                          <a:effectLst/>
                          <a:latin typeface="Raleway" pitchFamily="2" charset="0"/>
                        </a:rPr>
                        <a:t>142</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002060"/>
                    </a:solidFill>
                  </a:tcPr>
                </a:tc>
                <a:tc>
                  <a:txBody>
                    <a:bodyPr/>
                    <a:lstStyle/>
                    <a:p>
                      <a:pPr algn="ctr" rtl="0" fontAlgn="ctr">
                        <a:buNone/>
                      </a:pPr>
                      <a:r>
                        <a:rPr lang="en-US" sz="900" b="1" i="0" u="none" strike="noStrike">
                          <a:solidFill>
                            <a:srgbClr val="FFFFFF"/>
                          </a:solidFill>
                          <a:effectLst/>
                          <a:latin typeface="Raleway" pitchFamily="2" charset="0"/>
                        </a:rPr>
                        <a:t>13%</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002060"/>
                    </a:solidFill>
                  </a:tcPr>
                </a:tc>
                <a:tc>
                  <a:txBody>
                    <a:bodyPr/>
                    <a:lstStyle/>
                    <a:p>
                      <a:pPr algn="ctr" rtl="0" fontAlgn="ctr">
                        <a:buNone/>
                      </a:pPr>
                      <a:r>
                        <a:rPr lang="en-US" sz="900" b="1" i="0" u="none" strike="noStrike">
                          <a:solidFill>
                            <a:srgbClr val="FFFFFF"/>
                          </a:solidFill>
                          <a:effectLst/>
                          <a:latin typeface="Raleway" pitchFamily="2" charset="0"/>
                        </a:rPr>
                        <a:t>19</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002060"/>
                    </a:solidFill>
                  </a:tcPr>
                </a:tc>
                <a:tc>
                  <a:txBody>
                    <a:bodyPr/>
                    <a:lstStyle/>
                    <a:p>
                      <a:pPr algn="ctr" rtl="0" fontAlgn="ctr">
                        <a:buNone/>
                      </a:pPr>
                      <a:r>
                        <a:rPr lang="en-US" sz="900" b="1" i="0" u="none" strike="noStrike">
                          <a:solidFill>
                            <a:srgbClr val="FFFFFF"/>
                          </a:solidFill>
                          <a:effectLst/>
                          <a:latin typeface="Raleway" pitchFamily="2" charset="0"/>
                        </a:rPr>
                        <a:t>2%</a:t>
                      </a:r>
                    </a:p>
                  </a:txBody>
                  <a:tcPr marL="0" marR="0" marT="0" marB="0" anchor="ctr">
                    <a:lnL>
                      <a:noFill/>
                    </a:lnL>
                    <a:lnR>
                      <a:noFill/>
                    </a:lnR>
                    <a:lnT>
                      <a:noFill/>
                    </a:lnT>
                    <a:lnB w="12700" cap="flat" cmpd="sng" algn="ctr">
                      <a:solidFill>
                        <a:srgbClr val="000000"/>
                      </a:solidFill>
                      <a:prstDash val="solid"/>
                      <a:round/>
                      <a:headEnd type="none" w="med" len="med"/>
                      <a:tailEnd type="none" w="med" len="med"/>
                    </a:lnB>
                    <a:solidFill>
                      <a:srgbClr val="002060"/>
                    </a:solidFill>
                  </a:tcPr>
                </a:tc>
                <a:tc>
                  <a:txBody>
                    <a:bodyPr/>
                    <a:lstStyle/>
                    <a:p>
                      <a:pPr algn="ctr" rtl="0" fontAlgn="ctr">
                        <a:buNone/>
                      </a:pPr>
                      <a:r>
                        <a:rPr lang="en-US" sz="900" b="1" i="0" u="none" strike="noStrike">
                          <a:solidFill>
                            <a:srgbClr val="FFFFFF"/>
                          </a:solidFill>
                          <a:effectLst/>
                          <a:latin typeface="Raleway" pitchFamily="2" charset="0"/>
                        </a:rPr>
                        <a:t> </a:t>
                      </a:r>
                    </a:p>
                  </a:txBody>
                  <a:tcPr marL="0" marR="0" marT="0" marB="0" anchor="ctr">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002060"/>
                    </a:solidFill>
                  </a:tcPr>
                </a:tc>
                <a:extLst>
                  <a:ext uri="{0D108BD9-81ED-4DB2-BD59-A6C34878D82A}">
                    <a16:rowId xmlns:a16="http://schemas.microsoft.com/office/drawing/2014/main" val="4212714829"/>
                  </a:ext>
                </a:extLst>
              </a:tr>
            </a:tbl>
          </a:graphicData>
        </a:graphic>
      </p:graphicFrame>
    </p:spTree>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AE1AD944-4EC2-831F-C0D9-4D601BADBDD4}"/>
            </a:ext>
          </a:extLst>
        </p:cNvPr>
        <p:cNvGrpSpPr/>
        <p:nvPr/>
      </p:nvGrpSpPr>
      <p:grpSpPr>
        <a:xfrm>
          <a:off x="0" y="0"/>
          <a:ext cx="0" cy="0"/>
          <a:chOff x="0" y="0"/>
          <a:chExt cx="0" cy="0"/>
        </a:xfrm>
      </p:grpSpPr>
      <p:graphicFrame>
        <p:nvGraphicFramePr>
          <p:cNvPr id="7" name="Table 6">
            <a:extLst>
              <a:ext uri="{FF2B5EF4-FFF2-40B4-BE49-F238E27FC236}">
                <a16:creationId xmlns:a16="http://schemas.microsoft.com/office/drawing/2014/main" id="{481D8179-FA87-5915-27F1-10B8FD6621C5}"/>
              </a:ext>
            </a:extLst>
          </p:cNvPr>
          <p:cNvGraphicFramePr>
            <a:graphicFrameLocks noGrp="1"/>
          </p:cNvGraphicFramePr>
          <p:nvPr/>
        </p:nvGraphicFramePr>
        <p:xfrm>
          <a:off x="214148" y="701166"/>
          <a:ext cx="11701928" cy="3474486"/>
        </p:xfrm>
        <a:graphic>
          <a:graphicData uri="http://schemas.openxmlformats.org/drawingml/2006/table">
            <a:tbl>
              <a:tblPr bandRow="1">
                <a:tableStyleId>{5C22544A-7EE6-4342-B048-85BDC9FD1C3A}</a:tableStyleId>
              </a:tblPr>
              <a:tblGrid>
                <a:gridCol w="310683">
                  <a:extLst>
                    <a:ext uri="{9D8B030D-6E8A-4147-A177-3AD203B41FA5}">
                      <a16:colId xmlns:a16="http://schemas.microsoft.com/office/drawing/2014/main" val="887314737"/>
                    </a:ext>
                  </a:extLst>
                </a:gridCol>
                <a:gridCol w="747947">
                  <a:extLst>
                    <a:ext uri="{9D8B030D-6E8A-4147-A177-3AD203B41FA5}">
                      <a16:colId xmlns:a16="http://schemas.microsoft.com/office/drawing/2014/main" val="2357265999"/>
                    </a:ext>
                  </a:extLst>
                </a:gridCol>
                <a:gridCol w="1674079">
                  <a:extLst>
                    <a:ext uri="{9D8B030D-6E8A-4147-A177-3AD203B41FA5}">
                      <a16:colId xmlns:a16="http://schemas.microsoft.com/office/drawing/2014/main" val="3725623791"/>
                    </a:ext>
                  </a:extLst>
                </a:gridCol>
                <a:gridCol w="459937">
                  <a:extLst>
                    <a:ext uri="{9D8B030D-6E8A-4147-A177-3AD203B41FA5}">
                      <a16:colId xmlns:a16="http://schemas.microsoft.com/office/drawing/2014/main" val="1660871972"/>
                    </a:ext>
                  </a:extLst>
                </a:gridCol>
                <a:gridCol w="547322">
                  <a:extLst>
                    <a:ext uri="{9D8B030D-6E8A-4147-A177-3AD203B41FA5}">
                      <a16:colId xmlns:a16="http://schemas.microsoft.com/office/drawing/2014/main" val="125192351"/>
                    </a:ext>
                  </a:extLst>
                </a:gridCol>
                <a:gridCol w="735893">
                  <a:extLst>
                    <a:ext uri="{9D8B030D-6E8A-4147-A177-3AD203B41FA5}">
                      <a16:colId xmlns:a16="http://schemas.microsoft.com/office/drawing/2014/main" val="3969051223"/>
                    </a:ext>
                  </a:extLst>
                </a:gridCol>
                <a:gridCol w="930608">
                  <a:extLst>
                    <a:ext uri="{9D8B030D-6E8A-4147-A177-3AD203B41FA5}">
                      <a16:colId xmlns:a16="http://schemas.microsoft.com/office/drawing/2014/main" val="1122129396"/>
                    </a:ext>
                  </a:extLst>
                </a:gridCol>
                <a:gridCol w="679262">
                  <a:extLst>
                    <a:ext uri="{9D8B030D-6E8A-4147-A177-3AD203B41FA5}">
                      <a16:colId xmlns:a16="http://schemas.microsoft.com/office/drawing/2014/main" val="3780359669"/>
                    </a:ext>
                  </a:extLst>
                </a:gridCol>
                <a:gridCol w="515337">
                  <a:extLst>
                    <a:ext uri="{9D8B030D-6E8A-4147-A177-3AD203B41FA5}">
                      <a16:colId xmlns:a16="http://schemas.microsoft.com/office/drawing/2014/main" val="1794016995"/>
                    </a:ext>
                  </a:extLst>
                </a:gridCol>
                <a:gridCol w="756661">
                  <a:extLst>
                    <a:ext uri="{9D8B030D-6E8A-4147-A177-3AD203B41FA5}">
                      <a16:colId xmlns:a16="http://schemas.microsoft.com/office/drawing/2014/main" val="3490650077"/>
                    </a:ext>
                  </a:extLst>
                </a:gridCol>
                <a:gridCol w="788589">
                  <a:extLst>
                    <a:ext uri="{9D8B030D-6E8A-4147-A177-3AD203B41FA5}">
                      <a16:colId xmlns:a16="http://schemas.microsoft.com/office/drawing/2014/main" val="3948203451"/>
                    </a:ext>
                  </a:extLst>
                </a:gridCol>
                <a:gridCol w="3555610">
                  <a:extLst>
                    <a:ext uri="{9D8B030D-6E8A-4147-A177-3AD203B41FA5}">
                      <a16:colId xmlns:a16="http://schemas.microsoft.com/office/drawing/2014/main" val="4133871057"/>
                    </a:ext>
                  </a:extLst>
                </a:gridCol>
              </a:tblGrid>
              <a:tr h="294592">
                <a:tc>
                  <a:txBody>
                    <a:bodyPr/>
                    <a:lstStyle/>
                    <a:p>
                      <a:pPr algn="ctr" fontAlgn="ctr">
                        <a:buNone/>
                      </a:pPr>
                      <a:r>
                        <a:rPr lang="en-US" sz="800" b="1">
                          <a:solidFill>
                            <a:srgbClr val="FFFFFF"/>
                          </a:solidFill>
                          <a:effectLst/>
                          <a:latin typeface="Raleway"/>
                        </a:rPr>
                        <a:t>No</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a:txBody>
                    <a:bodyPr/>
                    <a:lstStyle/>
                    <a:p>
                      <a:pPr algn="ctr" fontAlgn="ctr">
                        <a:buNone/>
                      </a:pPr>
                      <a:r>
                        <a:rPr lang="en-US" sz="800" b="1">
                          <a:solidFill>
                            <a:srgbClr val="FFFFFF"/>
                          </a:solidFill>
                          <a:effectLst/>
                          <a:latin typeface="Raleway"/>
                        </a:rPr>
                        <a:t>Tanggal FPTK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a:txBody>
                    <a:bodyPr/>
                    <a:lstStyle/>
                    <a:p>
                      <a:pPr algn="ctr" fontAlgn="ctr">
                        <a:buNone/>
                      </a:pPr>
                      <a:r>
                        <a:rPr lang="en-US" sz="800" b="1" err="1">
                          <a:solidFill>
                            <a:srgbClr val="FFFFFF"/>
                          </a:solidFill>
                          <a:effectLst/>
                          <a:latin typeface="Raleway"/>
                        </a:rPr>
                        <a:t>Posisi</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a:txBody>
                    <a:bodyPr/>
                    <a:lstStyle/>
                    <a:p>
                      <a:pPr algn="ctr" fontAlgn="ctr">
                        <a:buNone/>
                      </a:pPr>
                      <a:r>
                        <a:rPr lang="en-US" sz="800" b="1">
                          <a:solidFill>
                            <a:srgbClr val="FFFFFF"/>
                          </a:solidFill>
                          <a:effectLst/>
                          <a:latin typeface="Raleway"/>
                        </a:rPr>
                        <a:t>Level</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a:txBody>
                    <a:bodyPr/>
                    <a:lstStyle/>
                    <a:p>
                      <a:pPr algn="ctr" fontAlgn="ctr">
                        <a:buNone/>
                      </a:pPr>
                      <a:r>
                        <a:rPr lang="en-US" sz="800" b="1">
                          <a:solidFill>
                            <a:srgbClr val="FFFFFF"/>
                          </a:solidFill>
                          <a:effectLst/>
                          <a:latin typeface="Raleway"/>
                        </a:rPr>
                        <a:t>Lokasi</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a:txBody>
                    <a:bodyPr/>
                    <a:lstStyle/>
                    <a:p>
                      <a:pPr algn="ctr" fontAlgn="ctr">
                        <a:buNone/>
                      </a:pPr>
                      <a:r>
                        <a:rPr lang="en-US" sz="800" b="1">
                          <a:solidFill>
                            <a:srgbClr val="FFFFFF"/>
                          </a:solidFill>
                          <a:effectLst/>
                          <a:latin typeface="Raleway"/>
                        </a:rPr>
                        <a:t>Business Unit</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a:txBody>
                    <a:bodyPr/>
                    <a:lstStyle/>
                    <a:p>
                      <a:pPr algn="ctr" fontAlgn="ctr">
                        <a:buNone/>
                      </a:pPr>
                      <a:r>
                        <a:rPr lang="en-US" sz="800" b="1">
                          <a:solidFill>
                            <a:srgbClr val="FFFFFF"/>
                          </a:solidFill>
                          <a:effectLst/>
                          <a:latin typeface="Raleway"/>
                        </a:rPr>
                        <a:t>Kategori FPTK</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a:txBody>
                    <a:bodyPr/>
                    <a:lstStyle/>
                    <a:p>
                      <a:pPr algn="ctr" fontAlgn="ctr">
                        <a:buNone/>
                      </a:pPr>
                      <a:r>
                        <a:rPr lang="en-US" sz="800" b="1">
                          <a:solidFill>
                            <a:srgbClr val="FFFFFF"/>
                          </a:solidFill>
                          <a:effectLst/>
                          <a:latin typeface="Raleway"/>
                        </a:rPr>
                        <a:t>SLA Target </a:t>
                      </a:r>
                      <a:r>
                        <a:rPr lang="en-US" sz="800" b="1" err="1">
                          <a:solidFill>
                            <a:srgbClr val="FFFFFF"/>
                          </a:solidFill>
                          <a:effectLst/>
                          <a:latin typeface="Raleway"/>
                        </a:rPr>
                        <a:t>Pemenuhan</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a:txBody>
                    <a:bodyPr/>
                    <a:lstStyle/>
                    <a:p>
                      <a:pPr algn="ctr" fontAlgn="ctr">
                        <a:buNone/>
                      </a:pPr>
                      <a:r>
                        <a:rPr lang="en-US" sz="800" b="1">
                          <a:solidFill>
                            <a:srgbClr val="FFFFFF"/>
                          </a:solidFill>
                          <a:effectLst/>
                          <a:latin typeface="Raleway"/>
                        </a:rPr>
                        <a:t>PIC TA</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a:txBody>
                    <a:bodyPr/>
                    <a:lstStyle/>
                    <a:p>
                      <a:pPr algn="ctr" fontAlgn="ctr">
                        <a:buNone/>
                      </a:pPr>
                      <a:r>
                        <a:rPr lang="en-US" sz="800" b="1" err="1">
                          <a:solidFill>
                            <a:srgbClr val="FFFFFF"/>
                          </a:solidFill>
                          <a:effectLst/>
                          <a:latin typeface="Raleway"/>
                        </a:rPr>
                        <a:t>Jumlah</a:t>
                      </a:r>
                      <a:r>
                        <a:rPr lang="en-US" sz="800" b="1">
                          <a:solidFill>
                            <a:srgbClr val="FFFFFF"/>
                          </a:solidFill>
                          <a:effectLst/>
                          <a:latin typeface="Raleway"/>
                        </a:rPr>
                        <a:t> </a:t>
                      </a:r>
                      <a:r>
                        <a:rPr lang="en-US" sz="800" b="1" err="1">
                          <a:solidFill>
                            <a:srgbClr val="FFFFFF"/>
                          </a:solidFill>
                          <a:effectLst/>
                          <a:latin typeface="Raleway"/>
                        </a:rPr>
                        <a:t>Permintaan</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a:txBody>
                    <a:bodyPr/>
                    <a:lstStyle/>
                    <a:p>
                      <a:pPr algn="ctr" fontAlgn="ctr">
                        <a:buNone/>
                      </a:pPr>
                      <a:r>
                        <a:rPr lang="en-US" sz="800" b="1">
                          <a:solidFill>
                            <a:srgbClr val="FFFFFF"/>
                          </a:solidFill>
                          <a:effectLst/>
                          <a:latin typeface="Raleway"/>
                        </a:rPr>
                        <a:t>Status </a:t>
                      </a:r>
                      <a:r>
                        <a:rPr lang="en-US" sz="800" b="1" err="1">
                          <a:solidFill>
                            <a:srgbClr val="FFFFFF"/>
                          </a:solidFill>
                          <a:effectLst/>
                          <a:latin typeface="Raleway"/>
                        </a:rPr>
                        <a:t>Rekrutmen</a:t>
                      </a:r>
                    </a:p>
                  </a:txBody>
                  <a:tcPr marL="9525" marR="9525" marT="952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060"/>
                    </a:solidFill>
                  </a:tcPr>
                </a:tc>
                <a:tc>
                  <a:txBody>
                    <a:bodyPr/>
                    <a:lstStyle/>
                    <a:p>
                      <a:pPr lvl="0" algn="ctr">
                        <a:lnSpc>
                          <a:spcPct val="100000"/>
                        </a:lnSpc>
                        <a:spcBef>
                          <a:spcPts val="0"/>
                        </a:spcBef>
                        <a:spcAft>
                          <a:spcPts val="0"/>
                        </a:spcAft>
                        <a:buNone/>
                      </a:pPr>
                      <a:r>
                        <a:rPr lang="en-US" sz="800" b="1" i="0" u="none" strike="noStrike" noProof="0">
                          <a:solidFill>
                            <a:srgbClr val="FFFFFF"/>
                          </a:solidFill>
                          <a:effectLst/>
                          <a:latin typeface="Raleway"/>
                        </a:rPr>
                        <a:t>Recruitment Update</a:t>
                      </a:r>
                      <a:endParaRPr lang="en-US" sz="800" b="0" i="0" u="none" strike="noStrike" noProof="0">
                        <a:solidFill>
                          <a:srgbClr val="000000"/>
                        </a:solidFill>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solidFill>
                      <a:srgbClr val="002060"/>
                    </a:solidFill>
                  </a:tcPr>
                </a:tc>
                <a:extLst>
                  <a:ext uri="{0D108BD9-81ED-4DB2-BD59-A6C34878D82A}">
                    <a16:rowId xmlns:a16="http://schemas.microsoft.com/office/drawing/2014/main" val="691743755"/>
                  </a:ext>
                </a:extLst>
              </a:tr>
              <a:tr h="1169438">
                <a:tc>
                  <a:txBody>
                    <a:bodyPr/>
                    <a:lstStyle/>
                    <a:p>
                      <a:pPr lvl="0" algn="ctr">
                        <a:buNone/>
                      </a:pPr>
                      <a:r>
                        <a:rPr lang="en-US" sz="800" b="0" i="0" u="none" strike="noStrike" noProof="0">
                          <a:solidFill>
                            <a:srgbClr val="000000"/>
                          </a:solidFill>
                          <a:effectLst/>
                          <a:latin typeface="Raleway"/>
                        </a:rPr>
                        <a:t>1</a:t>
                      </a:r>
                    </a:p>
                  </a:txBody>
                  <a:tcPr marL="9524" marR="9524" marT="9524" anchor="ctr">
                    <a:lnL w="12700">
                      <a:solidFill>
                        <a:schemeClr val="tx1"/>
                      </a:solid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lvl="0" algn="ctr">
                        <a:lnSpc>
                          <a:spcPct val="100000"/>
                        </a:lnSpc>
                        <a:spcBef>
                          <a:spcPts val="0"/>
                        </a:spcBef>
                        <a:spcAft>
                          <a:spcPts val="0"/>
                        </a:spcAft>
                        <a:buNone/>
                      </a:pPr>
                      <a:r>
                        <a:rPr lang="en-US" sz="800" b="0" i="0" u="none" strike="noStrike" noProof="0">
                          <a:solidFill>
                            <a:srgbClr val="000000"/>
                          </a:solidFill>
                          <a:effectLst/>
                          <a:latin typeface="Raleway"/>
                        </a:rPr>
                        <a:t>2-Mar-26</a:t>
                      </a:r>
                      <a:endParaRPr lang="en-US" sz="800"/>
                    </a:p>
                  </a:txBody>
                  <a:tcPr marL="9524" marR="9524" marT="952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lvl="0" algn="ctr">
                        <a:buNone/>
                      </a:pPr>
                      <a:r>
                        <a:rPr lang="en-US" sz="800" b="0" i="0" u="none" strike="noStrike" noProof="0">
                          <a:effectLst/>
                          <a:latin typeface="Raleway"/>
                        </a:rPr>
                        <a:t>CLAP – Digital Marketing</a:t>
                      </a:r>
                      <a:endParaRPr lang="en-US" sz="800">
                        <a:latin typeface="Raleway"/>
                      </a:endParaRPr>
                    </a:p>
                  </a:txBody>
                  <a:tcPr marL="9524" marR="9524" marT="952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lvl="0" algn="ctr">
                        <a:buNone/>
                      </a:pPr>
                      <a:r>
                        <a:rPr lang="en-US" sz="800">
                          <a:effectLst/>
                          <a:latin typeface="Raleway"/>
                        </a:rPr>
                        <a:t>3A</a:t>
                      </a:r>
                      <a:endParaRPr lang="en-US" sz="800">
                        <a:latin typeface="Raleway"/>
                      </a:endParaRPr>
                    </a:p>
                  </a:txBody>
                  <a:tcPr marL="9524" marR="9524" marT="952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lvl="0" algn="ctr">
                        <a:buNone/>
                      </a:pPr>
                      <a:r>
                        <a:rPr lang="en-US" sz="800">
                          <a:effectLst/>
                          <a:latin typeface="Raleway"/>
                        </a:rPr>
                        <a:t>HO </a:t>
                      </a:r>
                      <a:r>
                        <a:rPr lang="en-US" sz="800" err="1">
                          <a:effectLst/>
                          <a:latin typeface="Raleway"/>
                        </a:rPr>
                        <a:t>Meruya</a:t>
                      </a:r>
                      <a:endParaRPr lang="en-US" sz="800">
                        <a:latin typeface="Raleway"/>
                      </a:endParaRPr>
                    </a:p>
                  </a:txBody>
                  <a:tcPr marL="9524" marR="9524" marT="952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lvl="0" algn="ctr">
                        <a:lnSpc>
                          <a:spcPct val="100000"/>
                        </a:lnSpc>
                        <a:spcBef>
                          <a:spcPts val="0"/>
                        </a:spcBef>
                        <a:spcAft>
                          <a:spcPts val="0"/>
                        </a:spcAft>
                        <a:buNone/>
                      </a:pPr>
                      <a:r>
                        <a:rPr lang="en-US" sz="800" b="0" i="0" u="none" strike="noStrike" noProof="0">
                          <a:solidFill>
                            <a:srgbClr val="000000"/>
                          </a:solidFill>
                          <a:effectLst/>
                          <a:latin typeface="Raleway"/>
                        </a:rPr>
                        <a:t>PT </a:t>
                      </a:r>
                      <a:r>
                        <a:rPr lang="en-US" sz="800" b="0" i="0" u="none" strike="noStrike" noProof="0" err="1">
                          <a:solidFill>
                            <a:srgbClr val="000000"/>
                          </a:solidFill>
                          <a:effectLst/>
                          <a:latin typeface="Raleway"/>
                        </a:rPr>
                        <a:t>Cisarua</a:t>
                      </a:r>
                      <a:r>
                        <a:rPr lang="en-US" sz="800" b="0" i="0" u="none" strike="noStrike" noProof="0">
                          <a:solidFill>
                            <a:srgbClr val="000000"/>
                          </a:solidFill>
                          <a:effectLst/>
                          <a:latin typeface="Raleway"/>
                        </a:rPr>
                        <a:t> Mountain Dairy, </a:t>
                      </a:r>
                      <a:r>
                        <a:rPr lang="en-US" sz="800" b="0" i="0" u="none" strike="noStrike" noProof="0" err="1">
                          <a:solidFill>
                            <a:srgbClr val="000000"/>
                          </a:solidFill>
                          <a:effectLst/>
                          <a:latin typeface="Raleway"/>
                        </a:rPr>
                        <a:t>Tbk</a:t>
                      </a:r>
                      <a:endParaRPr lang="en-US" sz="800"/>
                    </a:p>
                  </a:txBody>
                  <a:tcPr marL="9524" marR="9524" marT="952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lvl="0" algn="ctr">
                        <a:buNone/>
                      </a:pPr>
                      <a:r>
                        <a:rPr lang="en-US" sz="800">
                          <a:effectLst/>
                          <a:latin typeface="Raleway"/>
                        </a:rPr>
                        <a:t>NEW</a:t>
                      </a:r>
                      <a:endParaRPr lang="en-US" sz="800">
                        <a:latin typeface="Raleway"/>
                      </a:endParaRPr>
                    </a:p>
                  </a:txBody>
                  <a:tcPr marL="9524" marR="9524" marT="952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lvl="0" algn="ctr">
                        <a:lnSpc>
                          <a:spcPct val="100000"/>
                        </a:lnSpc>
                        <a:spcBef>
                          <a:spcPts val="0"/>
                        </a:spcBef>
                        <a:spcAft>
                          <a:spcPts val="0"/>
                        </a:spcAft>
                        <a:buNone/>
                      </a:pPr>
                      <a:r>
                        <a:rPr lang="en-US" sz="800" b="0" i="0" u="none" strike="noStrike" noProof="0">
                          <a:solidFill>
                            <a:srgbClr val="000000"/>
                          </a:solidFill>
                          <a:effectLst/>
                          <a:latin typeface="Raleway"/>
                        </a:rPr>
                        <a:t>1-Apr-26</a:t>
                      </a:r>
                      <a:endParaRPr lang="en-US" sz="800">
                        <a:latin typeface="Raleway"/>
                      </a:endParaRPr>
                    </a:p>
                  </a:txBody>
                  <a:tcPr marL="9524" marR="9524" marT="952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lvl="0" algn="ctr">
                        <a:buNone/>
                      </a:pPr>
                      <a:r>
                        <a:rPr lang="en-US" sz="800" b="0" i="0" u="none" strike="noStrike" noProof="0">
                          <a:solidFill>
                            <a:srgbClr val="000000"/>
                          </a:solidFill>
                          <a:effectLst/>
                          <a:latin typeface="Raleway"/>
                        </a:rPr>
                        <a:t>Marta</a:t>
                      </a:r>
                      <a:endParaRPr lang="en-US" sz="800"/>
                    </a:p>
                  </a:txBody>
                  <a:tcPr marL="9524" marR="9524" marT="952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lvl="0" algn="ctr">
                        <a:buNone/>
                      </a:pPr>
                      <a:r>
                        <a:rPr lang="en-US" sz="800">
                          <a:effectLst/>
                          <a:latin typeface="Raleway"/>
                        </a:rPr>
                        <a:t>2</a:t>
                      </a:r>
                      <a:endParaRPr lang="en-US" sz="800"/>
                    </a:p>
                  </a:txBody>
                  <a:tcPr marL="9524" marR="9524" marT="952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lvl="0" algn="ctr">
                        <a:buNone/>
                      </a:pPr>
                      <a:r>
                        <a:rPr lang="en-US" sz="800">
                          <a:effectLst/>
                          <a:latin typeface="Raleway"/>
                        </a:rPr>
                        <a:t>OP</a:t>
                      </a:r>
                      <a:endParaRPr lang="en-US" sz="800">
                        <a:latin typeface="Raleway"/>
                      </a:endParaRPr>
                    </a:p>
                  </a:txBody>
                  <a:tcPr marL="9524" marR="9524" marT="952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71450" lvl="0" indent="-171450" algn="l">
                        <a:lnSpc>
                          <a:spcPct val="100000"/>
                        </a:lnSpc>
                        <a:spcBef>
                          <a:spcPts val="0"/>
                        </a:spcBef>
                        <a:spcAft>
                          <a:spcPts val="0"/>
                        </a:spcAft>
                        <a:buFont typeface="Arial"/>
                        <a:buChar char="•"/>
                      </a:pPr>
                      <a:r>
                        <a:rPr lang="en-US" sz="800" b="0" i="0" u="none" strike="noStrike" noProof="0">
                          <a:solidFill>
                            <a:srgbClr val="000000"/>
                          </a:solidFill>
                          <a:effectLst/>
                          <a:latin typeface="Raleway"/>
                        </a:rPr>
                        <a:t>Week 14: 3 </a:t>
                      </a:r>
                      <a:r>
                        <a:rPr lang="en-US" sz="800" b="0" i="0" u="none" strike="noStrike" noProof="0" err="1">
                          <a:solidFill>
                            <a:srgbClr val="000000"/>
                          </a:solidFill>
                          <a:effectLst/>
                          <a:latin typeface="Raleway"/>
                        </a:rPr>
                        <a:t>kandidat</a:t>
                      </a:r>
                      <a:r>
                        <a:rPr lang="en-US" sz="800" b="0" i="0" u="none" strike="noStrike" noProof="0">
                          <a:solidFill>
                            <a:srgbClr val="000000"/>
                          </a:solidFill>
                          <a:effectLst/>
                          <a:latin typeface="Raleway"/>
                        </a:rPr>
                        <a:t> on going Case Study (DDL 6 Apr 5pm) </a:t>
                      </a:r>
                      <a:r>
                        <a:rPr lang="en-US" sz="800" b="0" i="0" u="none" strike="noStrike" noProof="0" err="1">
                          <a:solidFill>
                            <a:srgbClr val="000000"/>
                          </a:solidFill>
                          <a:effectLst/>
                          <a:latin typeface="Raleway"/>
                        </a:rPr>
                        <a:t>a.n</a:t>
                      </a:r>
                      <a:r>
                        <a:rPr lang="en-US" sz="800" b="0" i="0" u="none" strike="noStrike" noProof="0">
                          <a:solidFill>
                            <a:srgbClr val="000000"/>
                          </a:solidFill>
                          <a:effectLst/>
                          <a:latin typeface="Raleway"/>
                        </a:rPr>
                        <a:t>. Nathanael, </a:t>
                      </a:r>
                      <a:r>
                        <a:rPr lang="en-US" sz="800" b="0" i="0" u="none" strike="noStrike" noProof="0" err="1">
                          <a:solidFill>
                            <a:srgbClr val="000000"/>
                          </a:solidFill>
                          <a:effectLst/>
                          <a:latin typeface="Raleway"/>
                        </a:rPr>
                        <a:t>Meutia</a:t>
                      </a:r>
                      <a:r>
                        <a:rPr lang="en-US" sz="800" b="0" i="0" u="none" strike="noStrike" noProof="0">
                          <a:solidFill>
                            <a:srgbClr val="000000"/>
                          </a:solidFill>
                          <a:effectLst/>
                          <a:latin typeface="Raleway"/>
                        </a:rPr>
                        <a:t>, </a:t>
                      </a:r>
                      <a:r>
                        <a:rPr lang="en-US" sz="800" b="0" i="0" u="none" strike="noStrike" noProof="0" err="1">
                          <a:solidFill>
                            <a:srgbClr val="000000"/>
                          </a:solidFill>
                          <a:effectLst/>
                          <a:latin typeface="Raleway"/>
                        </a:rPr>
                        <a:t>Adisti</a:t>
                      </a:r>
                      <a:r>
                        <a:rPr lang="en-US" sz="800" b="0" i="0" u="none" strike="noStrike" noProof="0">
                          <a:solidFill>
                            <a:srgbClr val="000000"/>
                          </a:solidFill>
                          <a:effectLst/>
                          <a:latin typeface="Raleway"/>
                        </a:rPr>
                        <a:t> – done </a:t>
                      </a:r>
                      <a:r>
                        <a:rPr lang="en-US" sz="800" b="0" i="0" u="none" strike="noStrike" noProof="0" err="1">
                          <a:solidFill>
                            <a:srgbClr val="000000"/>
                          </a:solidFill>
                          <a:effectLst/>
                          <a:latin typeface="Raleway"/>
                        </a:rPr>
                        <a:t>kirim</a:t>
                      </a:r>
                      <a:r>
                        <a:rPr lang="en-US" sz="800" b="0" i="0" u="none" strike="noStrike" noProof="0">
                          <a:solidFill>
                            <a:srgbClr val="000000"/>
                          </a:solidFill>
                          <a:effectLst/>
                          <a:latin typeface="Raleway"/>
                        </a:rPr>
                        <a:t> </a:t>
                      </a:r>
                      <a:r>
                        <a:rPr lang="en-US" sz="800" b="0" i="0" u="none" strike="noStrike" noProof="0" err="1">
                          <a:solidFill>
                            <a:srgbClr val="000000"/>
                          </a:solidFill>
                          <a:effectLst/>
                          <a:latin typeface="Raleway"/>
                        </a:rPr>
                        <a:t>profil</a:t>
                      </a:r>
                      <a:r>
                        <a:rPr lang="en-US" sz="800" b="0" i="0" u="none" strike="noStrike" noProof="0">
                          <a:solidFill>
                            <a:srgbClr val="000000"/>
                          </a:solidFill>
                          <a:effectLst/>
                          <a:latin typeface="Raleway"/>
                        </a:rPr>
                        <a:t> </a:t>
                      </a:r>
                      <a:r>
                        <a:rPr lang="en-US" sz="800" b="0" i="0" u="none" strike="noStrike" noProof="0" err="1">
                          <a:solidFill>
                            <a:srgbClr val="000000"/>
                          </a:solidFill>
                          <a:effectLst/>
                          <a:latin typeface="Raleway"/>
                        </a:rPr>
                        <a:t>ke</a:t>
                      </a:r>
                      <a:r>
                        <a:rPr lang="en-US" sz="800" b="0" i="0" u="none" strike="noStrike" noProof="0">
                          <a:solidFill>
                            <a:srgbClr val="000000"/>
                          </a:solidFill>
                          <a:effectLst/>
                          <a:latin typeface="Raleway"/>
                        </a:rPr>
                        <a:t> User per 2 April 2026</a:t>
                      </a:r>
                      <a:endParaRPr lang="en-US" sz="800"/>
                    </a:p>
                    <a:p>
                      <a:pPr marL="171450" lvl="0" indent="-171450" algn="l">
                        <a:lnSpc>
                          <a:spcPct val="100000"/>
                        </a:lnSpc>
                        <a:spcBef>
                          <a:spcPts val="0"/>
                        </a:spcBef>
                        <a:spcAft>
                          <a:spcPts val="0"/>
                        </a:spcAft>
                        <a:buFont typeface="Arial"/>
                        <a:buChar char="•"/>
                      </a:pPr>
                      <a:r>
                        <a:rPr lang="en-US" sz="800" b="0" i="0" u="none" strike="noStrike" noProof="0">
                          <a:solidFill>
                            <a:srgbClr val="000000"/>
                          </a:solidFill>
                          <a:effectLst/>
                          <a:latin typeface="Raleway"/>
                        </a:rPr>
                        <a:t>Week 15: 2 </a:t>
                      </a:r>
                      <a:r>
                        <a:rPr lang="en-US" sz="800" b="0" i="0" u="none" strike="noStrike" noProof="0" err="1">
                          <a:solidFill>
                            <a:srgbClr val="000000"/>
                          </a:solidFill>
                          <a:effectLst/>
                          <a:latin typeface="Raleway"/>
                        </a:rPr>
                        <a:t>kandidat</a:t>
                      </a:r>
                      <a:r>
                        <a:rPr lang="en-US" sz="800" b="0" i="0" u="none" strike="noStrike" noProof="0">
                          <a:solidFill>
                            <a:srgbClr val="000000"/>
                          </a:solidFill>
                          <a:effectLst/>
                          <a:latin typeface="Raleway"/>
                        </a:rPr>
                        <a:t> submit Case Study </a:t>
                      </a:r>
                      <a:r>
                        <a:rPr lang="en-US" sz="800" b="0" i="0" u="none" strike="noStrike" noProof="0" err="1">
                          <a:solidFill>
                            <a:srgbClr val="000000"/>
                          </a:solidFill>
                          <a:effectLst/>
                          <a:latin typeface="Raleway"/>
                        </a:rPr>
                        <a:t>a.n</a:t>
                      </a:r>
                      <a:r>
                        <a:rPr lang="en-US" sz="800" b="0" i="0" u="none" strike="noStrike" noProof="0">
                          <a:solidFill>
                            <a:srgbClr val="000000"/>
                          </a:solidFill>
                          <a:effectLst/>
                          <a:latin typeface="Raleway"/>
                        </a:rPr>
                        <a:t>. Nathanael (DROP) &amp; </a:t>
                      </a:r>
                      <a:r>
                        <a:rPr lang="en-US" sz="800" b="0" i="0" u="none" strike="noStrike" noProof="0" err="1">
                          <a:solidFill>
                            <a:srgbClr val="000000"/>
                          </a:solidFill>
                          <a:effectLst/>
                          <a:latin typeface="Raleway"/>
                        </a:rPr>
                        <a:t>Meutia</a:t>
                      </a:r>
                      <a:r>
                        <a:rPr lang="en-US" sz="800" b="0" i="0" u="none" strike="noStrike" noProof="0">
                          <a:solidFill>
                            <a:srgbClr val="000000"/>
                          </a:solidFill>
                          <a:effectLst/>
                          <a:latin typeface="Raleway"/>
                        </a:rPr>
                        <a:t> (Proceed to Presentation per Week 16)</a:t>
                      </a:r>
                      <a:endParaRPr lang="en-US" sz="800"/>
                    </a:p>
                    <a:p>
                      <a:pPr marL="171450" lvl="0" indent="-171450" algn="l">
                        <a:lnSpc>
                          <a:spcPct val="100000"/>
                        </a:lnSpc>
                        <a:spcBef>
                          <a:spcPts val="0"/>
                        </a:spcBef>
                        <a:spcAft>
                          <a:spcPts val="0"/>
                        </a:spcAft>
                        <a:buFont typeface="Arial"/>
                        <a:buChar char="•"/>
                      </a:pPr>
                      <a:r>
                        <a:rPr lang="en-US" sz="800" b="0" i="0" u="none" strike="noStrike" noProof="0">
                          <a:solidFill>
                            <a:srgbClr val="000000"/>
                          </a:solidFill>
                          <a:effectLst/>
                          <a:latin typeface="Raleway"/>
                        </a:rPr>
                        <a:t>Week 18: sourcing 10 CVs </a:t>
                      </a:r>
                      <a:r>
                        <a:rPr lang="en-US" sz="800" b="0" i="0" u="none" strike="noStrike" noProof="0" err="1">
                          <a:solidFill>
                            <a:srgbClr val="000000"/>
                          </a:solidFill>
                          <a:effectLst/>
                          <a:latin typeface="Raleway"/>
                        </a:rPr>
                        <a:t>baru</a:t>
                      </a:r>
                      <a:r>
                        <a:rPr lang="en-US" sz="800" b="0" i="0" u="none" strike="noStrike" noProof="0">
                          <a:solidFill>
                            <a:srgbClr val="000000"/>
                          </a:solidFill>
                          <a:effectLst/>
                          <a:latin typeface="Raleway"/>
                        </a:rPr>
                        <a:t>, </a:t>
                      </a:r>
                      <a:r>
                        <a:rPr lang="en-US" sz="800" b="0" i="0" u="none" strike="noStrike" noProof="0" err="1">
                          <a:solidFill>
                            <a:srgbClr val="000000"/>
                          </a:solidFill>
                          <a:effectLst/>
                          <a:latin typeface="Raleway"/>
                        </a:rPr>
                        <a:t>psikotes</a:t>
                      </a:r>
                      <a:r>
                        <a:rPr lang="en-US" sz="800" b="0" i="0" u="none" strike="noStrike" noProof="0">
                          <a:solidFill>
                            <a:srgbClr val="000000"/>
                          </a:solidFill>
                          <a:effectLst/>
                          <a:latin typeface="Raleway"/>
                        </a:rPr>
                        <a:t> 1 </a:t>
                      </a:r>
                      <a:r>
                        <a:rPr lang="en-US" sz="800" b="0" i="0" u="none" strike="noStrike" noProof="0" err="1">
                          <a:solidFill>
                            <a:srgbClr val="000000"/>
                          </a:solidFill>
                          <a:effectLst/>
                          <a:latin typeface="Raleway"/>
                        </a:rPr>
                        <a:t>kandidat</a:t>
                      </a:r>
                      <a:r>
                        <a:rPr lang="en-US" sz="800" b="0" i="0" u="none" strike="noStrike" noProof="0">
                          <a:solidFill>
                            <a:srgbClr val="000000"/>
                          </a:solidFill>
                          <a:effectLst/>
                          <a:latin typeface="Raleway"/>
                        </a:rPr>
                        <a:t> </a:t>
                      </a:r>
                      <a:r>
                        <a:rPr lang="en-US" sz="800" b="0" i="0" u="none" strike="noStrike" noProof="0" err="1">
                          <a:solidFill>
                            <a:srgbClr val="000000"/>
                          </a:solidFill>
                          <a:effectLst/>
                          <a:latin typeface="Raleway"/>
                        </a:rPr>
                        <a:t>a.n</a:t>
                      </a:r>
                      <a:r>
                        <a:rPr lang="en-US" sz="800" b="0" i="0" u="none" strike="noStrike" noProof="0">
                          <a:solidFill>
                            <a:srgbClr val="000000"/>
                          </a:solidFill>
                          <a:effectLst/>
                          <a:latin typeface="Raleway"/>
                        </a:rPr>
                        <a:t>. Hafizh</a:t>
                      </a:r>
                      <a:endParaRPr lang="en-US" sz="800"/>
                    </a:p>
                    <a:p>
                      <a:pPr marL="171450" lvl="0" indent="-171450" algn="l">
                        <a:lnSpc>
                          <a:spcPct val="100000"/>
                        </a:lnSpc>
                        <a:spcBef>
                          <a:spcPts val="0"/>
                        </a:spcBef>
                        <a:spcAft>
                          <a:spcPts val="0"/>
                        </a:spcAft>
                        <a:buFont typeface="Arial"/>
                        <a:buChar char="•"/>
                      </a:pPr>
                      <a:r>
                        <a:rPr lang="en-US" sz="800" b="0" i="0" u="none" strike="noStrike" noProof="0">
                          <a:solidFill>
                            <a:srgbClr val="000000"/>
                          </a:solidFill>
                          <a:effectLst/>
                          <a:latin typeface="Raleway"/>
                        </a:rPr>
                        <a:t>Week 19: send Case Study 4 </a:t>
                      </a:r>
                      <a:r>
                        <a:rPr lang="en-US" sz="800" b="0" i="0" u="none" strike="noStrike" noProof="0" err="1">
                          <a:solidFill>
                            <a:srgbClr val="000000"/>
                          </a:solidFill>
                          <a:effectLst/>
                          <a:latin typeface="Raleway"/>
                        </a:rPr>
                        <a:t>kandidat</a:t>
                      </a:r>
                      <a:endParaRPr lang="en-US" sz="800" b="0" i="0" u="none" strike="noStrike" noProof="0">
                        <a:solidFill>
                          <a:srgbClr val="000000"/>
                        </a:solidFill>
                        <a:effectLst/>
                        <a:latin typeface="Raleway"/>
                      </a:endParaRPr>
                    </a:p>
                    <a:p>
                      <a:pPr marL="171450" lvl="0" indent="-171450" algn="l">
                        <a:lnSpc>
                          <a:spcPct val="100000"/>
                        </a:lnSpc>
                        <a:spcBef>
                          <a:spcPts val="0"/>
                        </a:spcBef>
                        <a:spcAft>
                          <a:spcPts val="0"/>
                        </a:spcAft>
                        <a:buFont typeface="Arial"/>
                        <a:buChar char="•"/>
                      </a:pPr>
                      <a:r>
                        <a:rPr lang="en-US" sz="800" b="0" i="0" u="none" strike="noStrike" noProof="0">
                          <a:solidFill>
                            <a:srgbClr val="000000"/>
                          </a:solidFill>
                          <a:effectLst/>
                          <a:latin typeface="Raleway"/>
                        </a:rPr>
                        <a:t>Week 20: send 3 </a:t>
                      </a:r>
                      <a:r>
                        <a:rPr lang="en-US" sz="800" b="0" i="0" u="none" strike="noStrike" noProof="0" err="1">
                          <a:solidFill>
                            <a:srgbClr val="000000"/>
                          </a:solidFill>
                          <a:effectLst/>
                          <a:latin typeface="Raleway"/>
                        </a:rPr>
                        <a:t>kandidat</a:t>
                      </a:r>
                      <a:r>
                        <a:rPr lang="en-US" sz="800" b="0" i="0" u="none" strike="noStrike" noProof="0">
                          <a:solidFill>
                            <a:srgbClr val="000000"/>
                          </a:solidFill>
                          <a:effectLst/>
                          <a:latin typeface="Raleway"/>
                        </a:rPr>
                        <a:t> yang </a:t>
                      </a:r>
                      <a:r>
                        <a:rPr lang="en-US" sz="800" b="0" i="0" u="none" strike="noStrike" noProof="0" err="1">
                          <a:solidFill>
                            <a:srgbClr val="000000"/>
                          </a:solidFill>
                          <a:effectLst/>
                          <a:latin typeface="Raleway"/>
                        </a:rPr>
                        <a:t>telah</a:t>
                      </a:r>
                      <a:r>
                        <a:rPr lang="en-US" sz="800" b="0" i="0" u="none" strike="noStrike" noProof="0">
                          <a:solidFill>
                            <a:srgbClr val="000000"/>
                          </a:solidFill>
                          <a:effectLst/>
                          <a:latin typeface="Raleway"/>
                        </a:rPr>
                        <a:t> submit Case Study </a:t>
                      </a:r>
                      <a:r>
                        <a:rPr lang="en-US" sz="800" b="0" i="0" u="none" strike="noStrike" noProof="0" err="1">
                          <a:solidFill>
                            <a:srgbClr val="000000"/>
                          </a:solidFill>
                          <a:effectLst/>
                          <a:latin typeface="Raleway"/>
                        </a:rPr>
                        <a:t>ke</a:t>
                      </a:r>
                      <a:r>
                        <a:rPr lang="en-US" sz="800" b="0" i="0" u="none" strike="noStrike" noProof="0">
                          <a:solidFill>
                            <a:srgbClr val="000000"/>
                          </a:solidFill>
                          <a:effectLst/>
                          <a:latin typeface="Raleway"/>
                        </a:rPr>
                        <a:t> User</a:t>
                      </a:r>
                      <a:endParaRPr lang="en-US" sz="800"/>
                    </a:p>
                    <a:p>
                      <a:pPr marL="171450" lvl="0" indent="-171450" algn="l">
                        <a:lnSpc>
                          <a:spcPct val="100000"/>
                        </a:lnSpc>
                        <a:spcBef>
                          <a:spcPts val="0"/>
                        </a:spcBef>
                        <a:spcAft>
                          <a:spcPts val="0"/>
                        </a:spcAft>
                        <a:buFont typeface="Arial"/>
                        <a:buChar char="•"/>
                      </a:pPr>
                      <a:r>
                        <a:rPr lang="en-US" sz="800" b="0" i="0" u="none" strike="noStrike" noProof="0">
                          <a:solidFill>
                            <a:srgbClr val="000000"/>
                          </a:solidFill>
                          <a:effectLst/>
                          <a:latin typeface="Raleway"/>
                        </a:rPr>
                        <a:t>Week 21: User Interview Raul – DROP</a:t>
                      </a:r>
                      <a:endParaRPr lang="en-US" sz="800"/>
                    </a:p>
                    <a:p>
                      <a:pPr marL="171450" lvl="0" indent="-171450" algn="l">
                        <a:lnSpc>
                          <a:spcPct val="100000"/>
                        </a:lnSpc>
                        <a:spcBef>
                          <a:spcPts val="0"/>
                        </a:spcBef>
                        <a:spcAft>
                          <a:spcPts val="0"/>
                        </a:spcAft>
                        <a:buFont typeface="Arial"/>
                        <a:buChar char="•"/>
                      </a:pPr>
                      <a:r>
                        <a:rPr lang="en-US" sz="800" b="0" i="0" u="none" strike="noStrike" noProof="0">
                          <a:solidFill>
                            <a:srgbClr val="000000"/>
                          </a:solidFill>
                          <a:effectLst/>
                          <a:latin typeface="Raleway"/>
                        </a:rPr>
                        <a:t>Week 22: Connect LinkedIn potential candidates</a:t>
                      </a:r>
                      <a:endParaRPr lang="en-US" sz="800"/>
                    </a:p>
                    <a:p>
                      <a:pPr marL="171450" lvl="0" indent="-171450" algn="l">
                        <a:lnSpc>
                          <a:spcPct val="100000"/>
                        </a:lnSpc>
                        <a:spcBef>
                          <a:spcPts val="0"/>
                        </a:spcBef>
                        <a:spcAft>
                          <a:spcPts val="0"/>
                        </a:spcAft>
                        <a:buFont typeface="Arial"/>
                        <a:buChar char="•"/>
                      </a:pPr>
                      <a:r>
                        <a:rPr lang="en-US" sz="800" b="0" i="0" u="none" strike="noStrike" noProof="0">
                          <a:solidFill>
                            <a:srgbClr val="000000"/>
                          </a:solidFill>
                          <a:effectLst/>
                          <a:latin typeface="Raleway"/>
                        </a:rPr>
                        <a:t>Week 23: HR Interview 2 </a:t>
                      </a:r>
                      <a:r>
                        <a:rPr lang="en-US" sz="800" b="0" i="0" u="none" strike="noStrike" noProof="0" err="1">
                          <a:solidFill>
                            <a:srgbClr val="000000"/>
                          </a:solidFill>
                          <a:effectLst/>
                          <a:latin typeface="Raleway"/>
                        </a:rPr>
                        <a:t>kandidat</a:t>
                      </a:r>
                      <a:r>
                        <a:rPr lang="en-US" sz="800" b="0" i="0" u="none" strike="noStrike" noProof="0">
                          <a:solidFill>
                            <a:srgbClr val="000000"/>
                          </a:solidFill>
                          <a:effectLst/>
                          <a:latin typeface="Raleway"/>
                        </a:rPr>
                        <a:t> – DROP\</a:t>
                      </a:r>
                      <a:endParaRPr lang="en-US" sz="800"/>
                    </a:p>
                    <a:p>
                      <a:pPr marL="171450" lvl="0" indent="-171450" algn="l">
                        <a:lnSpc>
                          <a:spcPct val="100000"/>
                        </a:lnSpc>
                        <a:spcBef>
                          <a:spcPts val="0"/>
                        </a:spcBef>
                        <a:spcAft>
                          <a:spcPts val="0"/>
                        </a:spcAft>
                        <a:buFont typeface="Arial"/>
                        <a:buChar char="•"/>
                      </a:pPr>
                      <a:r>
                        <a:rPr lang="en-US" sz="800" b="0" i="0" u="none" strike="noStrike" noProof="0">
                          <a:solidFill>
                            <a:srgbClr val="000000"/>
                          </a:solidFill>
                          <a:effectLst/>
                          <a:latin typeface="Raleway"/>
                        </a:rPr>
                        <a:t>Week 24: Send 30 CVs shortlisted</a:t>
                      </a:r>
                      <a:endParaRPr lang="en-US" sz="800"/>
                    </a:p>
                    <a:p>
                      <a:pPr marL="171450" lvl="0" indent="-171450" algn="l">
                        <a:lnSpc>
                          <a:spcPct val="100000"/>
                        </a:lnSpc>
                        <a:spcBef>
                          <a:spcPts val="0"/>
                        </a:spcBef>
                        <a:spcAft>
                          <a:spcPts val="0"/>
                        </a:spcAft>
                        <a:buFont typeface="Arial"/>
                        <a:buChar char="•"/>
                      </a:pPr>
                      <a:r>
                        <a:rPr lang="en-US" sz="800" b="0" i="0" u="none" strike="noStrike" noProof="0">
                          <a:solidFill>
                            <a:srgbClr val="000000"/>
                          </a:solidFill>
                          <a:effectLst/>
                          <a:latin typeface="Raleway"/>
                        </a:rPr>
                        <a:t>Week 26: Send 10 CVs </a:t>
                      </a:r>
                      <a:r>
                        <a:rPr lang="en-US" sz="800" b="0" i="0" u="none" strike="noStrike" noProof="0" err="1">
                          <a:solidFill>
                            <a:srgbClr val="000000"/>
                          </a:solidFill>
                          <a:effectLst/>
                          <a:latin typeface="Raleway"/>
                        </a:rPr>
                        <a:t>ke</a:t>
                      </a:r>
                      <a:r>
                        <a:rPr lang="en-US" sz="800" b="0" i="0" u="none" strike="noStrike" noProof="0">
                          <a:solidFill>
                            <a:srgbClr val="000000"/>
                          </a:solidFill>
                          <a:effectLst/>
                          <a:latin typeface="Raleway"/>
                        </a:rPr>
                        <a:t> User &amp; Case Study 3 </a:t>
                      </a:r>
                      <a:r>
                        <a:rPr lang="en-US" sz="800" b="0" i="0" u="none" strike="noStrike" noProof="0" err="1">
                          <a:solidFill>
                            <a:srgbClr val="000000"/>
                          </a:solidFill>
                          <a:effectLst/>
                          <a:latin typeface="Raleway"/>
                        </a:rPr>
                        <a:t>kandidat</a:t>
                      </a:r>
                      <a:endParaRPr lang="en-US" sz="800" b="0" i="0" u="none" strike="noStrike" noProof="0">
                        <a:solidFill>
                          <a:srgbClr val="000000"/>
                        </a:solidFill>
                        <a:effectLst/>
                        <a:latin typeface="Raleway"/>
                      </a:endParaRPr>
                    </a:p>
                    <a:p>
                      <a:pPr marL="171450" lvl="0" indent="-171450" algn="l">
                        <a:lnSpc>
                          <a:spcPct val="100000"/>
                        </a:lnSpc>
                        <a:spcBef>
                          <a:spcPts val="0"/>
                        </a:spcBef>
                        <a:spcAft>
                          <a:spcPts val="0"/>
                        </a:spcAft>
                        <a:buFont typeface="Arial"/>
                        <a:buChar char="•"/>
                      </a:pPr>
                      <a:r>
                        <a:rPr lang="en-US" sz="800" b="0" i="0" u="none" strike="noStrike" noProof="0">
                          <a:solidFill>
                            <a:srgbClr val="000000"/>
                          </a:solidFill>
                          <a:effectLst/>
                          <a:latin typeface="Raleway"/>
                        </a:rPr>
                        <a:t>Week 27: Send 1 </a:t>
                      </a:r>
                      <a:r>
                        <a:rPr lang="en-US" sz="800" b="0" i="0" u="none" strike="noStrike" noProof="0" err="1">
                          <a:solidFill>
                            <a:srgbClr val="000000"/>
                          </a:solidFill>
                          <a:effectLst/>
                          <a:latin typeface="Raleway"/>
                        </a:rPr>
                        <a:t>kandidat</a:t>
                      </a:r>
                      <a:r>
                        <a:rPr lang="en-US" sz="800" b="0" i="0" u="none" strike="noStrike" noProof="0">
                          <a:solidFill>
                            <a:srgbClr val="000000"/>
                          </a:solidFill>
                          <a:effectLst/>
                          <a:latin typeface="Raleway"/>
                        </a:rPr>
                        <a:t> lolos Case Study </a:t>
                      </a:r>
                      <a:r>
                        <a:rPr lang="en-US" sz="800" b="0" i="0" u="none" strike="noStrike" noProof="0" err="1">
                          <a:solidFill>
                            <a:srgbClr val="000000"/>
                          </a:solidFill>
                          <a:effectLst/>
                          <a:latin typeface="Raleway"/>
                        </a:rPr>
                        <a:t>a.n</a:t>
                      </a:r>
                      <a:r>
                        <a:rPr lang="en-US" sz="800" b="0" i="0" u="none" strike="noStrike" noProof="0">
                          <a:solidFill>
                            <a:srgbClr val="000000"/>
                          </a:solidFill>
                          <a:effectLst/>
                          <a:latin typeface="Raleway"/>
                        </a:rPr>
                        <a:t>. Dandi</a:t>
                      </a:r>
                    </a:p>
                    <a:p>
                      <a:pPr lvl="0" algn="l">
                        <a:lnSpc>
                          <a:spcPct val="100000"/>
                        </a:lnSpc>
                        <a:spcBef>
                          <a:spcPts val="0"/>
                        </a:spcBef>
                        <a:spcAft>
                          <a:spcPts val="0"/>
                        </a:spcAft>
                        <a:buNone/>
                      </a:pPr>
                      <a:endParaRPr lang="en-US" sz="800" b="0" i="0" u="none" strike="noStrike" noProof="0">
                        <a:solidFill>
                          <a:srgbClr val="000000"/>
                        </a:solidFill>
                        <a:effectLst/>
                        <a:latin typeface="Raleway"/>
                      </a:endParaRPr>
                    </a:p>
                    <a:p>
                      <a:pPr lvl="0" algn="l">
                        <a:lnSpc>
                          <a:spcPct val="100000"/>
                        </a:lnSpc>
                        <a:spcBef>
                          <a:spcPts val="0"/>
                        </a:spcBef>
                        <a:spcAft>
                          <a:spcPts val="0"/>
                        </a:spcAft>
                        <a:buNone/>
                      </a:pPr>
                      <a:r>
                        <a:rPr lang="en-US" sz="800" b="1" i="0" u="none" strike="noStrike" noProof="0">
                          <a:solidFill>
                            <a:srgbClr val="000000"/>
                          </a:solidFill>
                          <a:effectLst/>
                          <a:latin typeface="Raleway"/>
                        </a:rPr>
                        <a:t>Next Action:</a:t>
                      </a:r>
                      <a:endParaRPr lang="en-US" sz="800" b="0" i="0" u="none" strike="noStrike" noProof="0">
                        <a:solidFill>
                          <a:srgbClr val="000000"/>
                        </a:solidFill>
                        <a:effectLst/>
                        <a:latin typeface="Raleway"/>
                      </a:endParaRPr>
                    </a:p>
                    <a:p>
                      <a:pPr marL="171450" lvl="0" indent="-171450" algn="l">
                        <a:lnSpc>
                          <a:spcPct val="100000"/>
                        </a:lnSpc>
                        <a:spcBef>
                          <a:spcPts val="0"/>
                        </a:spcBef>
                        <a:spcAft>
                          <a:spcPts val="0"/>
                        </a:spcAft>
                        <a:buFont typeface="Arial"/>
                        <a:buChar char="•"/>
                      </a:pPr>
                      <a:r>
                        <a:rPr lang="en-US" sz="800" b="0" i="0" u="none" strike="noStrike" noProof="0">
                          <a:solidFill>
                            <a:srgbClr val="000000"/>
                          </a:solidFill>
                          <a:effectLst/>
                          <a:latin typeface="Raleway"/>
                        </a:rPr>
                        <a:t>Panel Interview </a:t>
                      </a:r>
                      <a:r>
                        <a:rPr lang="en-US" sz="800" b="0" i="0" u="none" strike="noStrike" noProof="0" err="1">
                          <a:solidFill>
                            <a:srgbClr val="000000"/>
                          </a:solidFill>
                          <a:effectLst/>
                          <a:latin typeface="Raleway"/>
                        </a:rPr>
                        <a:t>a.n</a:t>
                      </a:r>
                      <a:r>
                        <a:rPr lang="en-US" sz="800" b="0" i="0" u="none" strike="noStrike" noProof="0">
                          <a:solidFill>
                            <a:srgbClr val="000000"/>
                          </a:solidFill>
                          <a:effectLst/>
                          <a:latin typeface="Raleway"/>
                        </a:rPr>
                        <a:t>. Dandi di Week 28</a:t>
                      </a:r>
                    </a:p>
                  </a:txBody>
                  <a:tcPr marL="9524" marR="9524" marT="9524" anchor="ctr">
                    <a:lnL w="12700" cap="flat" cmpd="sng" algn="ctr">
                      <a:solidFill>
                        <a:schemeClr val="tx1"/>
                      </a:solidFill>
                      <a:prstDash val="solid"/>
                      <a:round/>
                      <a:headEnd type="none" w="med" len="med"/>
                      <a:tailEnd type="none" w="med" len="med"/>
                    </a:lnL>
                    <a:lnR w="12700">
                      <a:solidFill>
                        <a:schemeClr val="tx1"/>
                      </a:solid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19666940"/>
                  </a:ext>
                </a:extLst>
              </a:tr>
              <a:tr h="1169437">
                <a:tc>
                  <a:txBody>
                    <a:bodyPr/>
                    <a:lstStyle/>
                    <a:p>
                      <a:pPr lvl="0" algn="ctr">
                        <a:buNone/>
                      </a:pPr>
                      <a:r>
                        <a:rPr lang="en-US" sz="800" b="0" i="0" u="none" strike="noStrike" noProof="0">
                          <a:solidFill>
                            <a:srgbClr val="000000"/>
                          </a:solidFill>
                          <a:effectLst/>
                          <a:latin typeface="Raleway"/>
                        </a:rPr>
                        <a:t>2</a:t>
                      </a: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lnSpc>
                          <a:spcPct val="100000"/>
                        </a:lnSpc>
                        <a:spcBef>
                          <a:spcPts val="0"/>
                        </a:spcBef>
                        <a:spcAft>
                          <a:spcPts val="0"/>
                        </a:spcAft>
                        <a:buNone/>
                      </a:pPr>
                      <a:r>
                        <a:rPr lang="en-US" sz="1000" b="0" i="0" u="none" strike="noStrike" noProof="0">
                          <a:solidFill>
                            <a:srgbClr val="000000"/>
                          </a:solidFill>
                          <a:effectLst/>
                          <a:latin typeface="Raleway"/>
                        </a:rPr>
                        <a:t>2-Aug-25</a:t>
                      </a:r>
                      <a:endParaRPr lang="en-US"/>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r>
                        <a:rPr lang="en-US" sz="1000" b="0" i="0" u="none" strike="noStrike" noProof="0">
                          <a:solidFill>
                            <a:srgbClr val="000000"/>
                          </a:solidFill>
                          <a:effectLst/>
                          <a:latin typeface="Raleway"/>
                        </a:rPr>
                        <a:t>CLAP - Quality Control</a:t>
                      </a:r>
                      <a:endParaRPr lang="en-US"/>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r>
                        <a:rPr lang="en-US" sz="800">
                          <a:effectLst/>
                          <a:latin typeface="Raleway"/>
                        </a:rPr>
                        <a:t>3A</a:t>
                      </a: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r>
                        <a:rPr lang="en-US" sz="800">
                          <a:effectLst/>
                          <a:latin typeface="Raleway"/>
                        </a:rPr>
                        <a:t>Citeureup</a:t>
                      </a:r>
                      <a:endParaRPr lang="en-US" err="1"/>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lnSpc>
                          <a:spcPct val="100000"/>
                        </a:lnSpc>
                        <a:spcBef>
                          <a:spcPts val="0"/>
                        </a:spcBef>
                        <a:spcAft>
                          <a:spcPts val="0"/>
                        </a:spcAft>
                        <a:buNone/>
                      </a:pPr>
                      <a:r>
                        <a:rPr lang="en-US" sz="1000" b="0" i="0" u="none" strike="noStrike" noProof="0">
                          <a:solidFill>
                            <a:srgbClr val="000000"/>
                          </a:solidFill>
                          <a:effectLst/>
                          <a:latin typeface="Raleway"/>
                        </a:rPr>
                        <a:t>PT Macroprima Panganutama</a:t>
                      </a:r>
                      <a:endParaRPr lang="en-US" sz="1000" b="0" i="0" u="none" strike="noStrike" noProof="0" err="1">
                        <a:solidFill>
                          <a:srgbClr val="000000"/>
                        </a:solidFill>
                        <a:effectLst/>
                        <a:latin typeface="Raleway"/>
                      </a:endParaRP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r>
                        <a:rPr lang="en-US" sz="800">
                          <a:effectLst/>
                          <a:latin typeface="Raleway"/>
                        </a:rPr>
                        <a:t>NEW</a:t>
                      </a: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lnSpc>
                          <a:spcPct val="100000"/>
                        </a:lnSpc>
                        <a:spcBef>
                          <a:spcPts val="0"/>
                        </a:spcBef>
                        <a:spcAft>
                          <a:spcPts val="0"/>
                        </a:spcAft>
                        <a:buNone/>
                      </a:pPr>
                      <a:r>
                        <a:rPr lang="en-US" sz="1000" b="0" i="0" u="none" strike="noStrike" noProof="0">
                          <a:solidFill>
                            <a:srgbClr val="000000"/>
                          </a:solidFill>
                          <a:effectLst/>
                          <a:latin typeface="Raleway"/>
                        </a:rPr>
                        <a:t>1-Sep-25</a:t>
                      </a:r>
                      <a:endParaRPr lang="en-US"/>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r>
                        <a:rPr lang="en-US" sz="800" b="0" i="0" u="none" strike="noStrike" noProof="0">
                          <a:solidFill>
                            <a:srgbClr val="000000"/>
                          </a:solidFill>
                          <a:effectLst/>
                          <a:latin typeface="Raleway"/>
                        </a:rPr>
                        <a:t>Karin</a:t>
                      </a: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r>
                        <a:rPr lang="en-US" sz="800">
                          <a:effectLst/>
                          <a:latin typeface="Raleway"/>
                        </a:rPr>
                        <a:t>3</a:t>
                      </a: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lvl="0" algn="ctr">
                        <a:buNone/>
                      </a:pPr>
                      <a:r>
                        <a:rPr lang="en-US" sz="800">
                          <a:effectLst/>
                          <a:latin typeface="Raleway"/>
                        </a:rPr>
                        <a:t>OP</a:t>
                      </a:r>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marL="171450" lvl="0" indent="-171450" algn="l">
                        <a:lnSpc>
                          <a:spcPct val="100000"/>
                        </a:lnSpc>
                        <a:buClr>
                          <a:srgbClr val="000000"/>
                        </a:buClr>
                        <a:buFont typeface="Calibri"/>
                        <a:buChar char="-"/>
                      </a:pPr>
                      <a:r>
                        <a:rPr lang="en-US" sz="1000" b="0" i="0" u="none" strike="noStrike" noProof="0">
                          <a:solidFill>
                            <a:schemeClr val="tx1"/>
                          </a:solidFill>
                          <a:effectLst/>
                          <a:latin typeface="Raleway"/>
                        </a:rPr>
                        <a:t>Week 25: Send 7 Kandidat, untuk panel interview</a:t>
                      </a:r>
                    </a:p>
                    <a:p>
                      <a:pPr marL="171450" lvl="0" indent="-171450" algn="l">
                        <a:lnSpc>
                          <a:spcPct val="100000"/>
                        </a:lnSpc>
                        <a:buClr>
                          <a:srgbClr val="000000"/>
                        </a:buClr>
                        <a:buFont typeface="Calibri"/>
                        <a:buChar char="-"/>
                      </a:pPr>
                      <a:r>
                        <a:rPr lang="en-US" sz="1000" b="0" i="0" u="none" strike="noStrike" noProof="0">
                          <a:solidFill>
                            <a:schemeClr val="tx1"/>
                          </a:solidFill>
                          <a:effectLst/>
                          <a:latin typeface="Raleway"/>
                        </a:rPr>
                        <a:t>Week 27: User interview 2 orang – Drop, 1 orang withdraw</a:t>
                      </a:r>
                    </a:p>
                    <a:p>
                      <a:pPr marL="171450" lvl="0" indent="-171450" algn="l">
                        <a:lnSpc>
                          <a:spcPct val="100000"/>
                        </a:lnSpc>
                        <a:buClr>
                          <a:srgbClr val="000000"/>
                        </a:buClr>
                        <a:buFont typeface="Calibri"/>
                        <a:buChar char="-"/>
                      </a:pPr>
                      <a:r>
                        <a:rPr lang="en-US" sz="1000" b="0" i="0" u="none" strike="noStrike" noProof="0">
                          <a:solidFill>
                            <a:schemeClr val="tx1"/>
                          </a:solidFill>
                          <a:effectLst/>
                          <a:latin typeface="Raleway"/>
                        </a:rPr>
                        <a:t>Week 28: User Interview – 1 orang </a:t>
                      </a:r>
                    </a:p>
                    <a:p>
                      <a:pPr marL="285750" lvl="0" indent="-285750" algn="l">
                        <a:lnSpc>
                          <a:spcPct val="100000"/>
                        </a:lnSpc>
                        <a:spcBef>
                          <a:spcPts val="0"/>
                        </a:spcBef>
                        <a:spcAft>
                          <a:spcPts val="0"/>
                        </a:spcAft>
                        <a:buClr>
                          <a:srgbClr val="000000"/>
                        </a:buClr>
                        <a:buFont typeface="Calibri"/>
                        <a:buChar char="-"/>
                      </a:pPr>
                      <a:endParaRPr lang="en-US" sz="1000" b="0" i="0" u="none" strike="noStrike" noProof="0">
                        <a:solidFill>
                          <a:srgbClr val="000000"/>
                        </a:solidFill>
                        <a:effectLst/>
                        <a:latin typeface="Raleway"/>
                      </a:endParaRPr>
                    </a:p>
                    <a:p>
                      <a:pPr marL="285750" lvl="0" indent="-285750" algn="l">
                        <a:lnSpc>
                          <a:spcPct val="100000"/>
                        </a:lnSpc>
                        <a:spcBef>
                          <a:spcPts val="0"/>
                        </a:spcBef>
                        <a:spcAft>
                          <a:spcPts val="0"/>
                        </a:spcAft>
                        <a:buClr>
                          <a:srgbClr val="000000"/>
                        </a:buClr>
                        <a:buFont typeface="Calibri"/>
                        <a:buChar char="-"/>
                      </a:pPr>
                      <a:r>
                        <a:rPr lang="en-US" sz="1000" b="1" i="0" u="none" strike="noStrike" noProof="0">
                          <a:solidFill>
                            <a:schemeClr val="tx1"/>
                          </a:solidFill>
                          <a:effectLst/>
                          <a:latin typeface="Raleway"/>
                        </a:rPr>
                        <a:t>Next Action: </a:t>
                      </a:r>
                      <a:endParaRPr lang="en-US" sz="1000" b="0" i="0" u="none" strike="noStrike" noProof="0">
                        <a:solidFill>
                          <a:srgbClr val="000000"/>
                        </a:solidFill>
                        <a:effectLst/>
                        <a:latin typeface="Raleway"/>
                      </a:endParaRPr>
                    </a:p>
                    <a:p>
                      <a:pPr marL="171450" lvl="0" indent="-171450" algn="l">
                        <a:lnSpc>
                          <a:spcPct val="100000"/>
                        </a:lnSpc>
                        <a:spcBef>
                          <a:spcPts val="0"/>
                        </a:spcBef>
                        <a:spcAft>
                          <a:spcPts val="0"/>
                        </a:spcAft>
                        <a:buFont typeface="Calibri"/>
                        <a:buChar char="-"/>
                      </a:pPr>
                      <a:r>
                        <a:rPr lang="en-US" sz="1000" b="0" i="0" u="none" strike="noStrike" noProof="0">
                          <a:solidFill>
                            <a:schemeClr val="tx1"/>
                          </a:solidFill>
                          <a:effectLst/>
                          <a:latin typeface="Raleway"/>
                        </a:rPr>
                        <a:t>Sourcing 8 CV di Week 28</a:t>
                      </a:r>
                      <a:endParaRPr lang="en-US"/>
                    </a:p>
                  </a:txBody>
                  <a:tcPr marL="9524" marR="9524" marT="9524" anchor="ctr">
                    <a:lnL w="12700">
                      <a:solidFill>
                        <a:schemeClr val="tx1"/>
                      </a:solidFill>
                    </a:lnL>
                    <a:lnR w="12700">
                      <a:solidFill>
                        <a:schemeClr val="tx1"/>
                      </a:solidFill>
                    </a:lnR>
                    <a:lnT w="12700">
                      <a:solidFill>
                        <a:schemeClr val="tx1"/>
                      </a:solidFill>
                    </a:lnT>
                    <a:lnB w="12700">
                      <a:solidFill>
                        <a:schemeClr val="tx1"/>
                      </a:solidFill>
                    </a:lnB>
                    <a:noFill/>
                  </a:tcPr>
                </a:tc>
                <a:extLst>
                  <a:ext uri="{0D108BD9-81ED-4DB2-BD59-A6C34878D82A}">
                    <a16:rowId xmlns:a16="http://schemas.microsoft.com/office/drawing/2014/main" val="3941735574"/>
                  </a:ext>
                </a:extLst>
              </a:tr>
            </a:tbl>
          </a:graphicData>
        </a:graphic>
      </p:graphicFrame>
      <p:sp>
        <p:nvSpPr>
          <p:cNvPr id="5" name="TextBox 4">
            <a:extLst>
              <a:ext uri="{FF2B5EF4-FFF2-40B4-BE49-F238E27FC236}">
                <a16:creationId xmlns:a16="http://schemas.microsoft.com/office/drawing/2014/main" id="{B1912E3D-77A0-8D55-F6BB-2DCE9E8C9578}"/>
              </a:ext>
            </a:extLst>
          </p:cNvPr>
          <p:cNvSpPr txBox="1"/>
          <p:nvPr/>
        </p:nvSpPr>
        <p:spPr>
          <a:xfrm>
            <a:off x="431539" y="6415506"/>
            <a:ext cx="10972800" cy="321819"/>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50000"/>
              </a:lnSpc>
            </a:pPr>
            <a:r>
              <a:rPr lang="en-US" sz="1100">
                <a:latin typeface="Raleway"/>
              </a:rPr>
              <a:t>* </a:t>
            </a:r>
            <a:r>
              <a:rPr lang="en-US" sz="1100" i="1">
                <a:latin typeface="Raleway"/>
              </a:rPr>
              <a:t>Update per </a:t>
            </a:r>
            <a:r>
              <a:rPr lang="en-US" sz="1100" i="1" err="1">
                <a:latin typeface="Raleway"/>
              </a:rPr>
              <a:t>tanggal</a:t>
            </a:r>
            <a:r>
              <a:rPr lang="en-US" sz="1100" i="1">
                <a:latin typeface="Raleway"/>
              </a:rPr>
              <a:t> 03 Juli 2026</a:t>
            </a:r>
          </a:p>
        </p:txBody>
      </p:sp>
      <p:sp>
        <p:nvSpPr>
          <p:cNvPr id="8" name="Text 0">
            <a:extLst>
              <a:ext uri="{FF2B5EF4-FFF2-40B4-BE49-F238E27FC236}">
                <a16:creationId xmlns:a16="http://schemas.microsoft.com/office/drawing/2014/main" id="{BC3AA148-A0A7-CB0E-0439-CB8E7E037048}"/>
              </a:ext>
            </a:extLst>
          </p:cNvPr>
          <p:cNvSpPr/>
          <p:nvPr/>
        </p:nvSpPr>
        <p:spPr>
          <a:xfrm>
            <a:off x="203352" y="152526"/>
            <a:ext cx="11277295" cy="548640"/>
          </a:xfrm>
          <a:prstGeom prst="rect">
            <a:avLst/>
          </a:prstGeom>
          <a:noFill/>
          <a:ln/>
        </p:spPr>
        <p:txBody>
          <a:bodyPr wrap="square" lIns="91440" tIns="45720" rIns="91440" bIns="45720" rtlCol="0" anchor="ctr"/>
          <a:lstStyle/>
          <a:p>
            <a:r>
              <a:rPr lang="en-US" sz="2800" b="1">
                <a:solidFill>
                  <a:srgbClr val="12284C"/>
                </a:solidFill>
              </a:rPr>
              <a:t>CLAP &amp; FGDP - Update</a:t>
            </a:r>
          </a:p>
        </p:txBody>
      </p:sp>
    </p:spTree>
    <p:extLst>
      <p:ext uri="{BB962C8B-B14F-4D97-AF65-F5344CB8AC3E}">
        <p14:creationId xmlns:p14="http://schemas.microsoft.com/office/powerpoint/2010/main" val="2663414794"/>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2066D846-32A2-69FE-CE06-FAFD51E122AA}"/>
            </a:ext>
          </a:extLst>
        </p:cNvPr>
        <p:cNvGrpSpPr/>
        <p:nvPr/>
      </p:nvGrpSpPr>
      <p:grpSpPr>
        <a:xfrm>
          <a:off x="0" y="0"/>
          <a:ext cx="0" cy="0"/>
          <a:chOff x="0" y="0"/>
          <a:chExt cx="0" cy="0"/>
        </a:xfrm>
      </p:grpSpPr>
      <p:graphicFrame>
        <p:nvGraphicFramePr>
          <p:cNvPr id="5" name="Table 4">
            <a:extLst>
              <a:ext uri="{FF2B5EF4-FFF2-40B4-BE49-F238E27FC236}">
                <a16:creationId xmlns:a16="http://schemas.microsoft.com/office/drawing/2014/main" id="{28B61C48-72FB-4F00-AD20-AAF9B4BC2C74}"/>
              </a:ext>
            </a:extLst>
          </p:cNvPr>
          <p:cNvGraphicFramePr>
            <a:graphicFrameLocks noGrp="1"/>
          </p:cNvGraphicFramePr>
          <p:nvPr/>
        </p:nvGraphicFramePr>
        <p:xfrm>
          <a:off x="119290" y="1269278"/>
          <a:ext cx="11971387" cy="5347236"/>
        </p:xfrm>
        <a:graphic>
          <a:graphicData uri="http://schemas.openxmlformats.org/drawingml/2006/table">
            <a:tbl>
              <a:tblPr bandRow="1">
                <a:tableStyleId>{5C22544A-7EE6-4342-B048-85BDC9FD1C3A}</a:tableStyleId>
              </a:tblPr>
              <a:tblGrid>
                <a:gridCol w="425532">
                  <a:extLst>
                    <a:ext uri="{9D8B030D-6E8A-4147-A177-3AD203B41FA5}">
                      <a16:colId xmlns:a16="http://schemas.microsoft.com/office/drawing/2014/main" val="2118905481"/>
                    </a:ext>
                  </a:extLst>
                </a:gridCol>
                <a:gridCol w="619922">
                  <a:extLst>
                    <a:ext uri="{9D8B030D-6E8A-4147-A177-3AD203B41FA5}">
                      <a16:colId xmlns:a16="http://schemas.microsoft.com/office/drawing/2014/main" val="1884643888"/>
                    </a:ext>
                  </a:extLst>
                </a:gridCol>
                <a:gridCol w="841168">
                  <a:extLst>
                    <a:ext uri="{9D8B030D-6E8A-4147-A177-3AD203B41FA5}">
                      <a16:colId xmlns:a16="http://schemas.microsoft.com/office/drawing/2014/main" val="1416082732"/>
                    </a:ext>
                  </a:extLst>
                </a:gridCol>
                <a:gridCol w="521207">
                  <a:extLst>
                    <a:ext uri="{9D8B030D-6E8A-4147-A177-3AD203B41FA5}">
                      <a16:colId xmlns:a16="http://schemas.microsoft.com/office/drawing/2014/main" val="3969140359"/>
                    </a:ext>
                  </a:extLst>
                </a:gridCol>
                <a:gridCol w="726945">
                  <a:extLst>
                    <a:ext uri="{9D8B030D-6E8A-4147-A177-3AD203B41FA5}">
                      <a16:colId xmlns:a16="http://schemas.microsoft.com/office/drawing/2014/main" val="800571677"/>
                    </a:ext>
                  </a:extLst>
                </a:gridCol>
                <a:gridCol w="1124711">
                  <a:extLst>
                    <a:ext uri="{9D8B030D-6E8A-4147-A177-3AD203B41FA5}">
                      <a16:colId xmlns:a16="http://schemas.microsoft.com/office/drawing/2014/main" val="808882145"/>
                    </a:ext>
                  </a:extLst>
                </a:gridCol>
                <a:gridCol w="703034">
                  <a:extLst>
                    <a:ext uri="{9D8B030D-6E8A-4147-A177-3AD203B41FA5}">
                      <a16:colId xmlns:a16="http://schemas.microsoft.com/office/drawing/2014/main" val="3628678720"/>
                    </a:ext>
                  </a:extLst>
                </a:gridCol>
                <a:gridCol w="809243">
                  <a:extLst>
                    <a:ext uri="{9D8B030D-6E8A-4147-A177-3AD203B41FA5}">
                      <a16:colId xmlns:a16="http://schemas.microsoft.com/office/drawing/2014/main" val="2207851391"/>
                    </a:ext>
                  </a:extLst>
                </a:gridCol>
                <a:gridCol w="480058">
                  <a:extLst>
                    <a:ext uri="{9D8B030D-6E8A-4147-A177-3AD203B41FA5}">
                      <a16:colId xmlns:a16="http://schemas.microsoft.com/office/drawing/2014/main" val="4261345953"/>
                    </a:ext>
                  </a:extLst>
                </a:gridCol>
                <a:gridCol w="768094">
                  <a:extLst>
                    <a:ext uri="{9D8B030D-6E8A-4147-A177-3AD203B41FA5}">
                      <a16:colId xmlns:a16="http://schemas.microsoft.com/office/drawing/2014/main" val="2659624551"/>
                    </a:ext>
                  </a:extLst>
                </a:gridCol>
                <a:gridCol w="781810">
                  <a:extLst>
                    <a:ext uri="{9D8B030D-6E8A-4147-A177-3AD203B41FA5}">
                      <a16:colId xmlns:a16="http://schemas.microsoft.com/office/drawing/2014/main" val="2002774846"/>
                    </a:ext>
                  </a:extLst>
                </a:gridCol>
                <a:gridCol w="4169663">
                  <a:extLst>
                    <a:ext uri="{9D8B030D-6E8A-4147-A177-3AD203B41FA5}">
                      <a16:colId xmlns:a16="http://schemas.microsoft.com/office/drawing/2014/main" val="1477493258"/>
                    </a:ext>
                  </a:extLst>
                </a:gridCol>
              </a:tblGrid>
              <a:tr h="1177191">
                <a:tc>
                  <a:txBody>
                    <a:bodyPr/>
                    <a:lstStyle/>
                    <a:p>
                      <a:pPr algn="ctr" fontAlgn="ctr">
                        <a:buNone/>
                      </a:pPr>
                      <a:r>
                        <a:rPr lang="en-US" sz="1050" b="1">
                          <a:solidFill>
                            <a:srgbClr val="FFFFFF"/>
                          </a:solidFill>
                          <a:effectLst/>
                          <a:latin typeface="Raleway"/>
                        </a:rPr>
                        <a:t>No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a:solidFill>
                            <a:srgbClr val="FFFFFF"/>
                          </a:solidFill>
                          <a:effectLst/>
                          <a:latin typeface="Raleway"/>
                        </a:rPr>
                        <a:t>Tanggal FPTK</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err="1">
                          <a:solidFill>
                            <a:srgbClr val="FFFFFF"/>
                          </a:solidFill>
                          <a:effectLst/>
                          <a:latin typeface="Raleway"/>
                        </a:rPr>
                        <a:t>Posisi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a:solidFill>
                            <a:srgbClr val="FFFFFF"/>
                          </a:solidFill>
                          <a:effectLst/>
                          <a:latin typeface="Raleway"/>
                        </a:rPr>
                        <a:t>Level</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a:solidFill>
                            <a:srgbClr val="FFFFFF"/>
                          </a:solidFill>
                          <a:effectLst/>
                          <a:latin typeface="Raleway"/>
                        </a:rPr>
                        <a:t>Lokasi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a:solidFill>
                            <a:srgbClr val="FFFFFF"/>
                          </a:solidFill>
                          <a:effectLst/>
                          <a:latin typeface="Raleway"/>
                        </a:rPr>
                        <a:t>Business Unit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a:solidFill>
                            <a:srgbClr val="FFFFFF"/>
                          </a:solidFill>
                          <a:effectLst/>
                          <a:latin typeface="Raleway"/>
                        </a:rPr>
                        <a:t>Kategori FPTK</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a:solidFill>
                            <a:srgbClr val="FFFFFF"/>
                          </a:solidFill>
                          <a:effectLst/>
                          <a:latin typeface="Raleway"/>
                        </a:rPr>
                        <a:t>SLA Target </a:t>
                      </a:r>
                      <a:r>
                        <a:rPr lang="en-US" sz="1050" b="1" err="1">
                          <a:solidFill>
                            <a:srgbClr val="FFFFFF"/>
                          </a:solidFill>
                          <a:effectLst/>
                          <a:latin typeface="Raleway"/>
                        </a:rPr>
                        <a:t>Pemenuhan</a:t>
                      </a:r>
                      <a:endParaRPr lang="en-US" sz="1050" b="1">
                        <a:solidFill>
                          <a:srgbClr val="FFFFFF"/>
                        </a:solidFill>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a:solidFill>
                            <a:srgbClr val="FFFFFF"/>
                          </a:solidFill>
                          <a:effectLst/>
                          <a:latin typeface="Raleway"/>
                        </a:rPr>
                        <a:t>PIC TA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err="1">
                          <a:solidFill>
                            <a:srgbClr val="FFFFFF"/>
                          </a:solidFill>
                          <a:effectLst/>
                          <a:latin typeface="Raleway"/>
                        </a:rPr>
                        <a:t>Jumlah</a:t>
                      </a:r>
                      <a:r>
                        <a:rPr lang="en-US" sz="1050" b="1">
                          <a:solidFill>
                            <a:srgbClr val="FFFFFF"/>
                          </a:solidFill>
                          <a:effectLst/>
                          <a:latin typeface="Raleway"/>
                        </a:rPr>
                        <a:t> </a:t>
                      </a:r>
                      <a:r>
                        <a:rPr lang="en-US" sz="1050" b="1" err="1">
                          <a:solidFill>
                            <a:srgbClr val="FFFFFF"/>
                          </a:solidFill>
                          <a:effectLst/>
                          <a:latin typeface="Raleway"/>
                        </a:rPr>
                        <a:t>Permintaan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a:solidFill>
                            <a:srgbClr val="FFFFFF"/>
                          </a:solidFill>
                          <a:effectLst/>
                          <a:latin typeface="Raleway"/>
                        </a:rPr>
                        <a:t>Status </a:t>
                      </a:r>
                      <a:r>
                        <a:rPr lang="en-US" sz="1050" b="1" err="1">
                          <a:solidFill>
                            <a:srgbClr val="FFFFFF"/>
                          </a:solidFill>
                          <a:effectLst/>
                          <a:latin typeface="Raleway"/>
                        </a:rPr>
                        <a:t>Rekrutmen</a:t>
                      </a:r>
                      <a:endParaRPr lang="en-US" sz="1050" b="1">
                        <a:solidFill>
                          <a:srgbClr val="FFFFFF"/>
                        </a:solidFill>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a:solidFill>
                            <a:srgbClr val="FFFFFF"/>
                          </a:solidFill>
                          <a:effectLst/>
                          <a:latin typeface="Raleway"/>
                        </a:rPr>
                        <a:t>Recruitment Update</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extLst>
                  <a:ext uri="{0D108BD9-81ED-4DB2-BD59-A6C34878D82A}">
                    <a16:rowId xmlns:a16="http://schemas.microsoft.com/office/drawing/2014/main" val="4099386281"/>
                  </a:ext>
                </a:extLst>
              </a:tr>
              <a:tr h="2184861">
                <a:tc>
                  <a:txBody>
                    <a:bodyPr/>
                    <a:lstStyle/>
                    <a:p>
                      <a:pPr algn="ctr" fontAlgn="ctr">
                        <a:buNone/>
                      </a:pPr>
                      <a:r>
                        <a:rPr lang="en-US" sz="1050">
                          <a:effectLst/>
                          <a:latin typeface="Raleway"/>
                        </a:rPr>
                        <a:t>9</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050">
                          <a:effectLst/>
                          <a:latin typeface="Raleway"/>
                        </a:rPr>
                        <a:t>8-Des-25</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100" b="0" i="0" u="none" strike="noStrike" noProof="0" err="1">
                          <a:solidFill>
                            <a:schemeClr val="tx1"/>
                          </a:solidFill>
                          <a:effectLst/>
                          <a:latin typeface="Raleway"/>
                        </a:rPr>
                        <a:t>Cimory</a:t>
                      </a:r>
                      <a:r>
                        <a:rPr lang="en-US" sz="1100" b="0" i="0" u="none" strike="noStrike" noProof="0">
                          <a:solidFill>
                            <a:schemeClr val="tx1"/>
                          </a:solidFill>
                          <a:effectLst/>
                          <a:latin typeface="Raleway"/>
                        </a:rPr>
                        <a:t> Leadership Acceleration</a:t>
                      </a:r>
                    </a:p>
                    <a:p>
                      <a:pPr lvl="0" algn="ctr">
                        <a:buNone/>
                      </a:pPr>
                      <a:r>
                        <a:rPr lang="en-US" sz="1100" b="0" i="0" u="none" strike="noStrike" noProof="0">
                          <a:solidFill>
                            <a:schemeClr val="tx1"/>
                          </a:solidFill>
                          <a:effectLst/>
                          <a:latin typeface="Raleway"/>
                        </a:rPr>
                        <a:t>Program - Production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050">
                          <a:solidFill>
                            <a:schemeClr val="tx1"/>
                          </a:solidFill>
                          <a:effectLst/>
                          <a:latin typeface="Raleway"/>
                        </a:rPr>
                        <a:t>3A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050" err="1">
                          <a:solidFill>
                            <a:schemeClr val="tx1"/>
                          </a:solidFill>
                          <a:effectLst/>
                          <a:latin typeface="Raleway"/>
                        </a:rPr>
                        <a:t>Citeureup</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050">
                          <a:solidFill>
                            <a:schemeClr val="tx1"/>
                          </a:solidFill>
                          <a:effectLst/>
                          <a:latin typeface="Raleway"/>
                        </a:rPr>
                        <a:t>PT MACROPRIMA PANGANUTAMA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050">
                          <a:solidFill>
                            <a:schemeClr val="tx1"/>
                          </a:solidFill>
                          <a:effectLst/>
                          <a:latin typeface="Raleway"/>
                        </a:rPr>
                        <a:t>NEW</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050">
                          <a:solidFill>
                            <a:schemeClr val="tx1"/>
                          </a:solidFill>
                          <a:effectLst/>
                          <a:latin typeface="Raleway"/>
                        </a:rPr>
                        <a:t>19-Jan-26</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050">
                          <a:solidFill>
                            <a:schemeClr val="tx1"/>
                          </a:solidFill>
                          <a:effectLst/>
                          <a:latin typeface="Raleway"/>
                        </a:rPr>
                        <a:t>Karin - CLAP</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050">
                          <a:solidFill>
                            <a:schemeClr val="tx1"/>
                          </a:solidFill>
                          <a:effectLst/>
                          <a:latin typeface="Raleway"/>
                        </a:rPr>
                        <a:t>4</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050">
                          <a:solidFill>
                            <a:schemeClr val="tx1"/>
                          </a:solidFill>
                          <a:effectLst/>
                          <a:latin typeface="Raleway"/>
                        </a:rPr>
                        <a:t>OP</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171450" lvl="0" indent="-171450" algn="l">
                        <a:lnSpc>
                          <a:spcPct val="100000"/>
                        </a:lnSpc>
                        <a:buClr>
                          <a:srgbClr val="000000"/>
                        </a:buClr>
                        <a:buFont typeface="Arial,Sans-Serif" panose="020B0604020202020204" pitchFamily="34" charset="0"/>
                        <a:buChar char="•"/>
                      </a:pPr>
                      <a:r>
                        <a:rPr lang="en-US" sz="1000" b="0" i="0" u="none" strike="noStrike" noProof="0">
                          <a:solidFill>
                            <a:schemeClr val="tx1"/>
                          </a:solidFill>
                          <a:effectLst/>
                          <a:latin typeface="Raleway"/>
                        </a:rPr>
                        <a:t>1 kandidat sedang tahap MCU a.n. Imroati Fatimatuzzahra</a:t>
                      </a:r>
                      <a:endParaRPr lang="en-US" sz="1000" b="0" i="0" u="none" strike="noStrike" noProof="0">
                        <a:solidFill>
                          <a:srgbClr val="000000"/>
                        </a:solidFill>
                        <a:effectLst/>
                        <a:latin typeface="Raleway"/>
                      </a:endParaRPr>
                    </a:p>
                    <a:p>
                      <a:pPr marL="171450" lvl="0" indent="-171450" algn="l">
                        <a:lnSpc>
                          <a:spcPct val="100000"/>
                        </a:lnSpc>
                        <a:buClr>
                          <a:srgbClr val="000000"/>
                        </a:buClr>
                        <a:buFont typeface="Arial,Sans-Serif" panose="020B0604020202020204" pitchFamily="34" charset="0"/>
                        <a:buChar char="•"/>
                      </a:pPr>
                      <a:r>
                        <a:rPr lang="en-US" sz="1000" b="0" i="0" u="none" strike="noStrike" noProof="0">
                          <a:solidFill>
                            <a:schemeClr val="tx1"/>
                          </a:solidFill>
                          <a:effectLst/>
                          <a:latin typeface="Raleway"/>
                        </a:rPr>
                        <a:t>MCU dijadwalkan tanggal 25 Des dikarenakan jadwal MCU sebelumnya bertepatan dengan jadwal menstruasi ybs</a:t>
                      </a:r>
                      <a:endParaRPr lang="en-US"/>
                    </a:p>
                    <a:p>
                      <a:pPr marL="171450" lvl="0" indent="-171450" algn="l">
                        <a:lnSpc>
                          <a:spcPct val="100000"/>
                        </a:lnSpc>
                        <a:buClr>
                          <a:srgbClr val="000000"/>
                        </a:buClr>
                        <a:buFont typeface="Arial,Sans-Serif" panose="020B0604020202020204" pitchFamily="34" charset="0"/>
                        <a:buChar char="•"/>
                      </a:pPr>
                      <a:r>
                        <a:rPr lang="en-US" sz="1000" b="0" i="0" u="none" strike="noStrike" noProof="0">
                          <a:solidFill>
                            <a:schemeClr val="tx1"/>
                          </a:solidFill>
                          <a:effectLst/>
                          <a:latin typeface="Raleway"/>
                        </a:rPr>
                        <a:t>Kandidat a.n. Imroati WITHDRAW di tanggal 22 Des dikarenakan ingin melanjutkan studi S2 dalam waktu dekat</a:t>
                      </a:r>
                      <a:endParaRPr lang="en-US" sz="1000" b="0" i="0" u="none" strike="noStrike" noProof="0">
                        <a:solidFill>
                          <a:srgbClr val="000000"/>
                        </a:solidFill>
                        <a:effectLst/>
                        <a:latin typeface="Raleway"/>
                      </a:endParaRPr>
                    </a:p>
                    <a:p>
                      <a:pPr marL="171450" lvl="0" indent="-171450" algn="l">
                        <a:lnSpc>
                          <a:spcPct val="100000"/>
                        </a:lnSpc>
                        <a:buClr>
                          <a:srgbClr val="000000"/>
                        </a:buClr>
                        <a:buFont typeface="Arial,Sans-Serif" panose="020B0604020202020204" pitchFamily="34" charset="0"/>
                        <a:buChar char="•"/>
                      </a:pPr>
                      <a:r>
                        <a:rPr lang="en-US" sz="1000" b="0" i="0" u="none" strike="noStrike" noProof="0">
                          <a:solidFill>
                            <a:schemeClr val="tx1"/>
                          </a:solidFill>
                          <a:effectLst/>
                          <a:latin typeface="Raleway"/>
                        </a:rPr>
                        <a:t>9 kandidat Psikotes di Week 51 -&gt; 3 kandidat lolos psikotes namun 2 kandidat IPK tidak sesuai kualifikasi, 1 kandidat tidak lolos HR Interview</a:t>
                      </a:r>
                      <a:endParaRPr lang="en-US" sz="1000" b="0" i="0" u="none" strike="noStrike" noProof="0">
                        <a:solidFill>
                          <a:srgbClr val="000000"/>
                        </a:solidFill>
                        <a:effectLst/>
                        <a:latin typeface="Raleway"/>
                      </a:endParaRPr>
                    </a:p>
                    <a:p>
                      <a:pPr marL="171450" lvl="0" indent="-171450" algn="l">
                        <a:lnSpc>
                          <a:spcPct val="100000"/>
                        </a:lnSpc>
                        <a:buClr>
                          <a:srgbClr val="000000"/>
                        </a:buClr>
                        <a:buFont typeface="Arial,Sans-Serif" panose="020B0604020202020204" pitchFamily="34" charset="0"/>
                        <a:buChar char="•"/>
                      </a:pPr>
                      <a:r>
                        <a:rPr lang="en-US" sz="1000" b="0" i="0" u="none" strike="noStrike" noProof="0">
                          <a:solidFill>
                            <a:schemeClr val="tx1"/>
                          </a:solidFill>
                          <a:effectLst/>
                          <a:latin typeface="Raleway"/>
                        </a:rPr>
                        <a:t>5 kandidat Psikotes di Week 52 – 5 kandidat tidak lolos Psikotes</a:t>
                      </a:r>
                      <a:endParaRPr lang="en-US" sz="1000" b="0" i="0" u="none" strike="noStrike" noProof="0">
                        <a:solidFill>
                          <a:srgbClr val="000000"/>
                        </a:solidFill>
                        <a:effectLst/>
                        <a:latin typeface="Raleway"/>
                      </a:endParaRPr>
                    </a:p>
                    <a:p>
                      <a:pPr marL="171450" lvl="0" indent="-171450" algn="l">
                        <a:lnSpc>
                          <a:spcPct val="100000"/>
                        </a:lnSpc>
                        <a:buClr>
                          <a:srgbClr val="000000"/>
                        </a:buClr>
                        <a:buFont typeface="Arial,Sans-Serif" panose="020B0604020202020204" pitchFamily="34" charset="0"/>
                        <a:buChar char="•"/>
                      </a:pPr>
                      <a:r>
                        <a:rPr lang="en-US" sz="1000" b="0" i="0" u="none" strike="noStrike" noProof="0">
                          <a:solidFill>
                            <a:schemeClr val="tx1"/>
                          </a:solidFill>
                          <a:effectLst/>
                          <a:latin typeface="Raleway"/>
                        </a:rPr>
                        <a:t>4 kandidat Psikotes di Week 3 -&gt; 3 kandidat tidak lolos, 1 kandidat lolos psikotes standard CLAP namun IPK tidak sesuai kualifikasi</a:t>
                      </a:r>
                      <a:endParaRPr lang="en-US" sz="1000" b="0" i="0" u="none" strike="noStrike" noProof="0">
                        <a:solidFill>
                          <a:srgbClr val="000000"/>
                        </a:solidFill>
                        <a:effectLst/>
                        <a:latin typeface="Raleway"/>
                      </a:endParaRPr>
                    </a:p>
                    <a:p>
                      <a:pPr marL="171450" lvl="0" indent="-171450" algn="l">
                        <a:lnSpc>
                          <a:spcPct val="100000"/>
                        </a:lnSpc>
                        <a:buClr>
                          <a:srgbClr val="000000"/>
                        </a:buClr>
                        <a:buFont typeface="Arial,Sans-Serif" panose="020B0604020202020204" pitchFamily="34" charset="0"/>
                        <a:buChar char="•"/>
                      </a:pPr>
                      <a:r>
                        <a:rPr lang="en-US" sz="1000" b="0" i="0" u="none" strike="noStrike" noProof="0">
                          <a:solidFill>
                            <a:schemeClr val="tx1"/>
                          </a:solidFill>
                          <a:effectLst/>
                          <a:latin typeface="Raleway"/>
                        </a:rPr>
                        <a:t>23 kandidat diproses Psikotes di Week 4 (DDL 25 Jan)</a:t>
                      </a:r>
                      <a:endParaRPr lang="en-US" sz="1000" b="0" i="0" u="none" strike="noStrike" noProof="0">
                        <a:solidFill>
                          <a:srgbClr val="000000"/>
                        </a:solidFill>
                        <a:effectLst/>
                        <a:latin typeface="Raleway"/>
                      </a:endParaRPr>
                    </a:p>
                    <a:p>
                      <a:pPr marL="171450" lvl="0" indent="-171450" algn="l">
                        <a:lnSpc>
                          <a:spcPct val="100000"/>
                        </a:lnSpc>
                        <a:buClr>
                          <a:srgbClr val="000000"/>
                        </a:buClr>
                        <a:buFont typeface="Arial,Sans-Serif" panose="020B0604020202020204" pitchFamily="34" charset="0"/>
                        <a:buChar char="•"/>
                      </a:pPr>
                      <a:r>
                        <a:rPr lang="en-US" sz="1000" b="0" i="0" u="none" strike="noStrike" noProof="0">
                          <a:solidFill>
                            <a:schemeClr val="tx1"/>
                          </a:solidFill>
                          <a:effectLst/>
                          <a:latin typeface="Raleway"/>
                        </a:rPr>
                        <a:t>3 kandidat lulus HR Interview dan sudah dikirimkan ke user pada 4 Februari 2026</a:t>
                      </a:r>
                      <a:endParaRPr lang="en-US" sz="1000" b="0" i="0" u="none" strike="noStrike" noProof="0">
                        <a:solidFill>
                          <a:srgbClr val="000000"/>
                        </a:solidFill>
                        <a:effectLst/>
                        <a:latin typeface="Raleway"/>
                      </a:endParaRPr>
                    </a:p>
                    <a:p>
                      <a:pPr marL="171450" lvl="0" indent="-171450" algn="l">
                        <a:lnSpc>
                          <a:spcPct val="100000"/>
                        </a:lnSpc>
                        <a:buClr>
                          <a:srgbClr val="000000"/>
                        </a:buClr>
                        <a:buFont typeface="Arial,Sans-Serif" panose="020B0604020202020204" pitchFamily="34" charset="0"/>
                        <a:buChar char="•"/>
                      </a:pPr>
                      <a:r>
                        <a:rPr lang="en-US" sz="1000" b="0" i="0" u="none" strike="noStrike" noProof="0">
                          <a:solidFill>
                            <a:schemeClr val="tx1"/>
                          </a:solidFill>
                          <a:effectLst/>
                          <a:latin typeface="Raleway"/>
                        </a:rPr>
                        <a:t>4 kandidat User Interview I pada 19-20 Februari 2026 &gt; 1 kandidat a.n Stanley Hunt lulus User Interview I dan diagendakan User Interview II pada 2 Maret 2026</a:t>
                      </a:r>
                      <a:endParaRPr lang="en-US" sz="1000" b="0" i="0" u="none" strike="noStrike" noProof="0">
                        <a:solidFill>
                          <a:srgbClr val="000000"/>
                        </a:solidFill>
                        <a:effectLst/>
                        <a:latin typeface="Raleway"/>
                      </a:endParaRPr>
                    </a:p>
                    <a:p>
                      <a:pPr marL="171450" lvl="0" indent="-171450" algn="l">
                        <a:lnSpc>
                          <a:spcPct val="100000"/>
                        </a:lnSpc>
                        <a:buClr>
                          <a:srgbClr val="000000"/>
                        </a:buClr>
                        <a:buFont typeface="Arial,Sans-Serif" panose="020B0604020202020204" pitchFamily="34" charset="0"/>
                        <a:buChar char="•"/>
                      </a:pPr>
                      <a:r>
                        <a:rPr lang="en-US" sz="1000" b="0" i="0" u="none" strike="noStrike" noProof="0">
                          <a:solidFill>
                            <a:schemeClr val="tx1"/>
                          </a:solidFill>
                          <a:effectLst/>
                          <a:latin typeface="Raleway"/>
                        </a:rPr>
                        <a:t>1 kandidat a.n Stanley Hunt tidak lulus User Interview dengan Pak Kholily pada 5 Maret 2026</a:t>
                      </a:r>
                      <a:endParaRPr lang="en-US" sz="1000" b="0" i="0" u="none" strike="noStrike" noProof="0">
                        <a:solidFill>
                          <a:srgbClr val="000000"/>
                        </a:solidFill>
                        <a:effectLst/>
                        <a:latin typeface="Raleway"/>
                      </a:endParaRPr>
                    </a:p>
                    <a:p>
                      <a:pPr marL="171450" lvl="0" indent="-171450" algn="l">
                        <a:lnSpc>
                          <a:spcPct val="100000"/>
                        </a:lnSpc>
                        <a:buClr>
                          <a:srgbClr val="000000"/>
                        </a:buClr>
                        <a:buFont typeface="Arial,Sans-Serif" panose="020B0604020202020204" pitchFamily="34" charset="0"/>
                        <a:buChar char="•"/>
                      </a:pPr>
                      <a:r>
                        <a:rPr lang="en-US" sz="1000" b="0" i="0" u="none" strike="noStrike" noProof="0">
                          <a:solidFill>
                            <a:schemeClr val="tx1"/>
                          </a:solidFill>
                          <a:effectLst/>
                          <a:latin typeface="Raleway"/>
                        </a:rPr>
                        <a:t>2 kandidat proses study case di 1 April 2026</a:t>
                      </a:r>
                      <a:endParaRPr lang="en-US" sz="1000" b="0" i="0" u="none" strike="noStrike" noProof="0">
                        <a:solidFill>
                          <a:srgbClr val="000000"/>
                        </a:solidFill>
                        <a:effectLst/>
                        <a:latin typeface="Raleway"/>
                      </a:endParaRPr>
                    </a:p>
                    <a:p>
                      <a:pPr marL="171450" lvl="0" indent="-171450" algn="l">
                        <a:lnSpc>
                          <a:spcPct val="100000"/>
                        </a:lnSpc>
                        <a:buClr>
                          <a:srgbClr val="000000"/>
                        </a:buClr>
                        <a:buFont typeface="Arial,Sans-Serif" panose="020B0604020202020204" pitchFamily="34" charset="0"/>
                        <a:buChar char="•"/>
                      </a:pPr>
                      <a:r>
                        <a:rPr lang="en-US" sz="1000" b="0" i="0" u="none" strike="noStrike" noProof="0">
                          <a:solidFill>
                            <a:schemeClr val="tx1"/>
                          </a:solidFill>
                          <a:effectLst/>
                          <a:latin typeface="Raleway"/>
                        </a:rPr>
                        <a:t>User interview I an Aisya Alifia user interview final di 23 April 2026 – DROP</a:t>
                      </a:r>
                      <a:endParaRPr lang="en-US" sz="1000" b="0" i="0" u="none" strike="noStrike" noProof="0">
                        <a:solidFill>
                          <a:srgbClr val="000000"/>
                        </a:solidFill>
                        <a:effectLst/>
                        <a:latin typeface="Raleway"/>
                      </a:endParaRPr>
                    </a:p>
                    <a:p>
                      <a:pPr marL="171450" lvl="0" indent="-171450" algn="l">
                        <a:lnSpc>
                          <a:spcPct val="100000"/>
                        </a:lnSpc>
                        <a:buClr>
                          <a:srgbClr val="000000"/>
                        </a:buClr>
                        <a:buFont typeface="Arial,Sans-Serif" panose="020B0604020202020204" pitchFamily="34" charset="0"/>
                        <a:buChar char="•"/>
                      </a:pPr>
                      <a:r>
                        <a:rPr lang="en-US" sz="1000" b="0" i="0" u="none" strike="noStrike" noProof="0">
                          <a:solidFill>
                            <a:schemeClr val="tx1"/>
                          </a:solidFill>
                          <a:effectLst/>
                          <a:latin typeface="Raleway"/>
                        </a:rPr>
                        <a:t>User Interview kandidat an Salva Nabila di 6 April 2026 - Drop</a:t>
                      </a:r>
                      <a:endParaRPr lang="en-US" sz="1000" b="0" i="0" u="none" strike="noStrike" noProof="0">
                        <a:solidFill>
                          <a:srgbClr val="000000"/>
                        </a:solidFill>
                        <a:effectLst/>
                        <a:latin typeface="Raleway"/>
                      </a:endParaRPr>
                    </a:p>
                    <a:p>
                      <a:pPr marL="285750" lvl="0" indent="-285750" algn="l">
                        <a:lnSpc>
                          <a:spcPct val="100000"/>
                        </a:lnSpc>
                        <a:buClr>
                          <a:srgbClr val="000000"/>
                        </a:buClr>
                        <a:buFont typeface="Arial" panose="020B0604020202020204" pitchFamily="34" charset="0"/>
                        <a:buChar char="•"/>
                      </a:pPr>
                      <a:r>
                        <a:rPr lang="en-US" sz="1000" b="1" i="0" u="none" strike="noStrike" noProof="0">
                          <a:solidFill>
                            <a:schemeClr val="tx1"/>
                          </a:solidFill>
                          <a:effectLst/>
                          <a:latin typeface="Raleway"/>
                        </a:rPr>
                        <a:t>Next Action:</a:t>
                      </a:r>
                      <a:endParaRPr lang="en-US" sz="1000" b="0" i="0" u="none" strike="noStrike" noProof="0">
                        <a:solidFill>
                          <a:srgbClr val="000000"/>
                        </a:solidFill>
                        <a:effectLst/>
                        <a:latin typeface="Raleway"/>
                      </a:endParaRPr>
                    </a:p>
                    <a:p>
                      <a:pPr marL="171450" lvl="0" indent="-171450" algn="l">
                        <a:lnSpc>
                          <a:spcPct val="100000"/>
                        </a:lnSpc>
                        <a:buClr>
                          <a:srgbClr val="000000"/>
                        </a:buClr>
                        <a:buFont typeface="Arial,Sans-Serif" panose="020B0604020202020204" pitchFamily="34" charset="0"/>
                        <a:buChar char="•"/>
                      </a:pPr>
                      <a:r>
                        <a:rPr lang="en-US" sz="1000" b="0" i="0" u="none" strike="noStrike" noProof="0">
                          <a:solidFill>
                            <a:schemeClr val="tx1"/>
                          </a:solidFill>
                          <a:effectLst/>
                          <a:latin typeface="Raleway"/>
                        </a:rPr>
                        <a:t>Sourcing 10 CV di Week 28</a:t>
                      </a:r>
                      <a:endParaRPr lang="en-US"/>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459097749"/>
                  </a:ext>
                </a:extLst>
              </a:tr>
            </a:tbl>
          </a:graphicData>
        </a:graphic>
      </p:graphicFrame>
      <p:sp>
        <p:nvSpPr>
          <p:cNvPr id="7" name="TextBox 6">
            <a:extLst>
              <a:ext uri="{FF2B5EF4-FFF2-40B4-BE49-F238E27FC236}">
                <a16:creationId xmlns:a16="http://schemas.microsoft.com/office/drawing/2014/main" id="{46160DB0-9B5A-3C80-C5EB-96D10F241EA4}"/>
              </a:ext>
            </a:extLst>
          </p:cNvPr>
          <p:cNvSpPr txBox="1"/>
          <p:nvPr/>
        </p:nvSpPr>
        <p:spPr>
          <a:xfrm>
            <a:off x="176048" y="6475279"/>
            <a:ext cx="10972800" cy="430887"/>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a:t>* </a:t>
            </a:r>
            <a:r>
              <a:rPr lang="en-US" sz="1100" i="1"/>
              <a:t>Update per tanggal 8 Mei  2026.</a:t>
            </a:r>
            <a:endParaRPr lang="en-US" sz="1100"/>
          </a:p>
          <a:p>
            <a:endParaRPr lang="en-US" sz="1100" i="1"/>
          </a:p>
        </p:txBody>
      </p:sp>
      <p:sp>
        <p:nvSpPr>
          <p:cNvPr id="11" name="Text 0">
            <a:extLst>
              <a:ext uri="{FF2B5EF4-FFF2-40B4-BE49-F238E27FC236}">
                <a16:creationId xmlns:a16="http://schemas.microsoft.com/office/drawing/2014/main" id="{A747173B-ADE3-6892-A93B-A19715BBFD68}"/>
              </a:ext>
            </a:extLst>
          </p:cNvPr>
          <p:cNvSpPr/>
          <p:nvPr/>
        </p:nvSpPr>
        <p:spPr>
          <a:xfrm>
            <a:off x="116266" y="718583"/>
            <a:ext cx="11277295" cy="548640"/>
          </a:xfrm>
          <a:prstGeom prst="rect">
            <a:avLst/>
          </a:prstGeom>
          <a:noFill/>
          <a:ln/>
        </p:spPr>
        <p:txBody>
          <a:bodyPr wrap="square" lIns="91440" tIns="45720" rIns="91440" bIns="45720" rtlCol="0" anchor="ctr"/>
          <a:lstStyle/>
          <a:p>
            <a:r>
              <a:rPr lang="en-US" sz="2800" b="1">
                <a:solidFill>
                  <a:srgbClr val="12284C"/>
                </a:solidFill>
              </a:rPr>
              <a:t>CLAP &amp; FGDP - Update</a:t>
            </a:r>
          </a:p>
        </p:txBody>
      </p:sp>
    </p:spTree>
    <p:extLst>
      <p:ext uri="{BB962C8B-B14F-4D97-AF65-F5344CB8AC3E}">
        <p14:creationId xmlns:p14="http://schemas.microsoft.com/office/powerpoint/2010/main" val="4202299618"/>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8AD50A00-2D65-017D-51A1-C56C98FA1EAF}"/>
            </a:ext>
          </a:extLst>
        </p:cNvPr>
        <p:cNvGrpSpPr/>
        <p:nvPr/>
      </p:nvGrpSpPr>
      <p:grpSpPr>
        <a:xfrm>
          <a:off x="0" y="0"/>
          <a:ext cx="0" cy="0"/>
          <a:chOff x="0" y="0"/>
          <a:chExt cx="0" cy="0"/>
        </a:xfrm>
      </p:grpSpPr>
      <p:graphicFrame>
        <p:nvGraphicFramePr>
          <p:cNvPr id="5" name="Table 4">
            <a:extLst>
              <a:ext uri="{FF2B5EF4-FFF2-40B4-BE49-F238E27FC236}">
                <a16:creationId xmlns:a16="http://schemas.microsoft.com/office/drawing/2014/main" id="{99260CD1-76D5-5E71-9812-0C8E482AB033}"/>
              </a:ext>
            </a:extLst>
          </p:cNvPr>
          <p:cNvGraphicFramePr>
            <a:graphicFrameLocks noGrp="1"/>
          </p:cNvGraphicFramePr>
          <p:nvPr/>
        </p:nvGraphicFramePr>
        <p:xfrm>
          <a:off x="263070" y="1470984"/>
          <a:ext cx="11612729" cy="3576712"/>
        </p:xfrm>
        <a:graphic>
          <a:graphicData uri="http://schemas.openxmlformats.org/drawingml/2006/table">
            <a:tbl>
              <a:tblPr bandRow="1">
                <a:tableStyleId>{5C22544A-7EE6-4342-B048-85BDC9FD1C3A}</a:tableStyleId>
              </a:tblPr>
              <a:tblGrid>
                <a:gridCol w="366155">
                  <a:extLst>
                    <a:ext uri="{9D8B030D-6E8A-4147-A177-3AD203B41FA5}">
                      <a16:colId xmlns:a16="http://schemas.microsoft.com/office/drawing/2014/main" val="2118905481"/>
                    </a:ext>
                  </a:extLst>
                </a:gridCol>
                <a:gridCol w="613557">
                  <a:extLst>
                    <a:ext uri="{9D8B030D-6E8A-4147-A177-3AD203B41FA5}">
                      <a16:colId xmlns:a16="http://schemas.microsoft.com/office/drawing/2014/main" val="1884643888"/>
                    </a:ext>
                  </a:extLst>
                </a:gridCol>
                <a:gridCol w="996151">
                  <a:extLst>
                    <a:ext uri="{9D8B030D-6E8A-4147-A177-3AD203B41FA5}">
                      <a16:colId xmlns:a16="http://schemas.microsoft.com/office/drawing/2014/main" val="1416082732"/>
                    </a:ext>
                  </a:extLst>
                </a:gridCol>
                <a:gridCol w="548638">
                  <a:extLst>
                    <a:ext uri="{9D8B030D-6E8A-4147-A177-3AD203B41FA5}">
                      <a16:colId xmlns:a16="http://schemas.microsoft.com/office/drawing/2014/main" val="3969140359"/>
                    </a:ext>
                  </a:extLst>
                </a:gridCol>
                <a:gridCol w="658366">
                  <a:extLst>
                    <a:ext uri="{9D8B030D-6E8A-4147-A177-3AD203B41FA5}">
                      <a16:colId xmlns:a16="http://schemas.microsoft.com/office/drawing/2014/main" val="800571677"/>
                    </a:ext>
                  </a:extLst>
                </a:gridCol>
                <a:gridCol w="1083561">
                  <a:extLst>
                    <a:ext uri="{9D8B030D-6E8A-4147-A177-3AD203B41FA5}">
                      <a16:colId xmlns:a16="http://schemas.microsoft.com/office/drawing/2014/main" val="808882145"/>
                    </a:ext>
                  </a:extLst>
                </a:gridCol>
                <a:gridCol w="679321">
                  <a:extLst>
                    <a:ext uri="{9D8B030D-6E8A-4147-A177-3AD203B41FA5}">
                      <a16:colId xmlns:a16="http://schemas.microsoft.com/office/drawing/2014/main" val="3628678720"/>
                    </a:ext>
                  </a:extLst>
                </a:gridCol>
                <a:gridCol w="891538">
                  <a:extLst>
                    <a:ext uri="{9D8B030D-6E8A-4147-A177-3AD203B41FA5}">
                      <a16:colId xmlns:a16="http://schemas.microsoft.com/office/drawing/2014/main" val="2207851391"/>
                    </a:ext>
                  </a:extLst>
                </a:gridCol>
                <a:gridCol w="534922">
                  <a:extLst>
                    <a:ext uri="{9D8B030D-6E8A-4147-A177-3AD203B41FA5}">
                      <a16:colId xmlns:a16="http://schemas.microsoft.com/office/drawing/2014/main" val="4261345953"/>
                    </a:ext>
                  </a:extLst>
                </a:gridCol>
                <a:gridCol w="836674">
                  <a:extLst>
                    <a:ext uri="{9D8B030D-6E8A-4147-A177-3AD203B41FA5}">
                      <a16:colId xmlns:a16="http://schemas.microsoft.com/office/drawing/2014/main" val="2659624551"/>
                    </a:ext>
                  </a:extLst>
                </a:gridCol>
                <a:gridCol w="795527">
                  <a:extLst>
                    <a:ext uri="{9D8B030D-6E8A-4147-A177-3AD203B41FA5}">
                      <a16:colId xmlns:a16="http://schemas.microsoft.com/office/drawing/2014/main" val="2002774846"/>
                    </a:ext>
                  </a:extLst>
                </a:gridCol>
                <a:gridCol w="3608319">
                  <a:extLst>
                    <a:ext uri="{9D8B030D-6E8A-4147-A177-3AD203B41FA5}">
                      <a16:colId xmlns:a16="http://schemas.microsoft.com/office/drawing/2014/main" val="1477493258"/>
                    </a:ext>
                  </a:extLst>
                </a:gridCol>
              </a:tblGrid>
              <a:tr h="696353">
                <a:tc>
                  <a:txBody>
                    <a:bodyPr/>
                    <a:lstStyle/>
                    <a:p>
                      <a:pPr algn="ctr" fontAlgn="ctr">
                        <a:buNone/>
                      </a:pPr>
                      <a:r>
                        <a:rPr lang="en-US" sz="1050" b="1">
                          <a:solidFill>
                            <a:srgbClr val="FFFFFF"/>
                          </a:solidFill>
                          <a:effectLst/>
                          <a:latin typeface="Raleway"/>
                        </a:rPr>
                        <a:t>No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a:solidFill>
                            <a:srgbClr val="FFFFFF"/>
                          </a:solidFill>
                          <a:effectLst/>
                          <a:latin typeface="Raleway"/>
                        </a:rPr>
                        <a:t>Tanggal FPTK</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err="1">
                          <a:solidFill>
                            <a:srgbClr val="FFFFFF"/>
                          </a:solidFill>
                          <a:effectLst/>
                          <a:latin typeface="Raleway"/>
                        </a:rPr>
                        <a:t>Posisi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a:solidFill>
                            <a:srgbClr val="FFFFFF"/>
                          </a:solidFill>
                          <a:effectLst/>
                          <a:latin typeface="Raleway"/>
                        </a:rPr>
                        <a:t>Level</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a:solidFill>
                            <a:srgbClr val="FFFFFF"/>
                          </a:solidFill>
                          <a:effectLst/>
                          <a:latin typeface="Raleway"/>
                        </a:rPr>
                        <a:t>Lokasi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a:solidFill>
                            <a:srgbClr val="FFFFFF"/>
                          </a:solidFill>
                          <a:effectLst/>
                          <a:latin typeface="Raleway"/>
                        </a:rPr>
                        <a:t>Business Unit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a:solidFill>
                            <a:srgbClr val="FFFFFF"/>
                          </a:solidFill>
                          <a:effectLst/>
                          <a:latin typeface="Raleway"/>
                        </a:rPr>
                        <a:t>Kategori FPTK</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a:solidFill>
                            <a:srgbClr val="FFFFFF"/>
                          </a:solidFill>
                          <a:effectLst/>
                          <a:latin typeface="Raleway"/>
                        </a:rPr>
                        <a:t>SLA Target </a:t>
                      </a:r>
                      <a:r>
                        <a:rPr lang="en-US" sz="1050" b="1" err="1">
                          <a:solidFill>
                            <a:srgbClr val="FFFFFF"/>
                          </a:solidFill>
                          <a:effectLst/>
                          <a:latin typeface="Raleway"/>
                        </a:rPr>
                        <a:t>Pemenuhan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a:solidFill>
                            <a:srgbClr val="FFFFFF"/>
                          </a:solidFill>
                          <a:effectLst/>
                          <a:latin typeface="Raleway"/>
                        </a:rPr>
                        <a:t>PIC TA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err="1">
                          <a:solidFill>
                            <a:srgbClr val="FFFFFF"/>
                          </a:solidFill>
                          <a:effectLst/>
                          <a:latin typeface="Raleway"/>
                        </a:rPr>
                        <a:t>Jumlah</a:t>
                      </a:r>
                      <a:r>
                        <a:rPr lang="en-US" sz="1050" b="1">
                          <a:solidFill>
                            <a:srgbClr val="FFFFFF"/>
                          </a:solidFill>
                          <a:effectLst/>
                          <a:latin typeface="Raleway"/>
                        </a:rPr>
                        <a:t> </a:t>
                      </a:r>
                      <a:r>
                        <a:rPr lang="en-US" sz="1050" b="1" err="1">
                          <a:solidFill>
                            <a:srgbClr val="FFFFFF"/>
                          </a:solidFill>
                          <a:effectLst/>
                          <a:latin typeface="Raleway"/>
                        </a:rPr>
                        <a:t>Permintaan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a:solidFill>
                            <a:srgbClr val="FFFFFF"/>
                          </a:solidFill>
                          <a:effectLst/>
                          <a:latin typeface="Raleway"/>
                        </a:rPr>
                        <a:t>Status </a:t>
                      </a:r>
                      <a:r>
                        <a:rPr lang="en-US" sz="1050" b="1" err="1">
                          <a:solidFill>
                            <a:srgbClr val="FFFFFF"/>
                          </a:solidFill>
                          <a:effectLst/>
                          <a:latin typeface="Raleway"/>
                        </a:rPr>
                        <a:t>Rekrutmen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a:solidFill>
                            <a:srgbClr val="FFFFFF"/>
                          </a:solidFill>
                          <a:effectLst/>
                          <a:latin typeface="Raleway"/>
                        </a:rPr>
                        <a:t>Recruitment Update</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extLst>
                  <a:ext uri="{0D108BD9-81ED-4DB2-BD59-A6C34878D82A}">
                    <a16:rowId xmlns:a16="http://schemas.microsoft.com/office/drawing/2014/main" val="4099386281"/>
                  </a:ext>
                </a:extLst>
              </a:tr>
              <a:tr h="2880359">
                <a:tc>
                  <a:txBody>
                    <a:bodyPr/>
                    <a:lstStyle/>
                    <a:p>
                      <a:pPr algn="ctr" fontAlgn="ctr">
                        <a:lnSpc>
                          <a:spcPct val="100000"/>
                        </a:lnSpc>
                        <a:buNone/>
                      </a:pPr>
                      <a:r>
                        <a:rPr lang="en-US" sz="1050">
                          <a:effectLst/>
                          <a:latin typeface="Raleway"/>
                        </a:rPr>
                        <a:t>7</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lnSpc>
                          <a:spcPct val="100000"/>
                        </a:lnSpc>
                        <a:buNone/>
                      </a:pPr>
                      <a:r>
                        <a:rPr lang="en-US" sz="1050">
                          <a:effectLst/>
                          <a:latin typeface="Raleway"/>
                        </a:rPr>
                        <a:t>2-Aug-25</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lnSpc>
                          <a:spcPct val="100000"/>
                        </a:lnSpc>
                        <a:buNone/>
                      </a:pPr>
                      <a:r>
                        <a:rPr lang="en-US" sz="1050">
                          <a:effectLst/>
                          <a:latin typeface="Raleway"/>
                        </a:rPr>
                        <a:t>CLAP - Engineering</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lnSpc>
                          <a:spcPct val="100000"/>
                        </a:lnSpc>
                        <a:buNone/>
                      </a:pPr>
                      <a:r>
                        <a:rPr lang="en-US" sz="1050">
                          <a:effectLst/>
                          <a:latin typeface="Raleway"/>
                        </a:rPr>
                        <a:t>3A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lnSpc>
                          <a:spcPct val="100000"/>
                        </a:lnSpc>
                        <a:buNone/>
                      </a:pPr>
                      <a:r>
                        <a:rPr lang="en-US" sz="1050" err="1">
                          <a:effectLst/>
                          <a:latin typeface="Raleway"/>
                        </a:rPr>
                        <a:t>Citeureup</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lnSpc>
                          <a:spcPct val="100000"/>
                        </a:lnSpc>
                        <a:buNone/>
                      </a:pPr>
                      <a:r>
                        <a:rPr lang="en-US" sz="1050">
                          <a:effectLst/>
                          <a:latin typeface="Raleway"/>
                        </a:rPr>
                        <a:t>PT MACROPRIMA PANGANUTAMA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lnSpc>
                          <a:spcPct val="100000"/>
                        </a:lnSpc>
                        <a:buNone/>
                      </a:pPr>
                      <a:r>
                        <a:rPr lang="en-US" sz="1050">
                          <a:effectLst/>
                          <a:latin typeface="Raleway"/>
                        </a:rPr>
                        <a:t>NEW</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lnSpc>
                          <a:spcPct val="100000"/>
                        </a:lnSpc>
                        <a:buNone/>
                      </a:pPr>
                      <a:r>
                        <a:rPr lang="en-US" sz="1050">
                          <a:effectLst/>
                          <a:latin typeface="Raleway"/>
                        </a:rPr>
                        <a:t>1-Sep-25</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lnSpc>
                          <a:spcPct val="100000"/>
                        </a:lnSpc>
                        <a:buNone/>
                      </a:pPr>
                      <a:r>
                        <a:rPr lang="en-US" sz="1000" b="0" i="0" u="none" strike="noStrike" noProof="0">
                          <a:solidFill>
                            <a:srgbClr val="000000"/>
                          </a:solidFill>
                          <a:effectLst/>
                          <a:latin typeface="Raleway"/>
                        </a:rPr>
                        <a:t>Karin - CLAP</a:t>
                      </a:r>
                      <a:endParaRPr lang="en-US" err="1"/>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lnSpc>
                          <a:spcPct val="100000"/>
                        </a:lnSpc>
                        <a:buNone/>
                      </a:pPr>
                      <a:r>
                        <a:rPr lang="en-US" sz="1050">
                          <a:solidFill>
                            <a:schemeClr val="tx1"/>
                          </a:solidFill>
                          <a:effectLst/>
                          <a:latin typeface="Raleway"/>
                        </a:rPr>
                        <a:t>1</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lnSpc>
                          <a:spcPct val="100000"/>
                        </a:lnSpc>
                        <a:buNone/>
                      </a:pPr>
                      <a:r>
                        <a:rPr lang="en-US" sz="1050">
                          <a:solidFill>
                            <a:schemeClr val="tx1"/>
                          </a:solidFill>
                          <a:effectLst/>
                          <a:latin typeface="Raleway"/>
                        </a:rPr>
                        <a:t>OP</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171450" lvl="0" indent="-171450" algn="l">
                        <a:lnSpc>
                          <a:spcPct val="100000"/>
                        </a:lnSpc>
                        <a:buFont typeface="Arial" panose="020B0604020202020204" pitchFamily="34" charset="0"/>
                        <a:buChar char="•"/>
                      </a:pPr>
                      <a:r>
                        <a:rPr lang="en-US" sz="1050" b="0" i="0" u="none" strike="noStrike" noProof="0">
                          <a:solidFill>
                            <a:schemeClr val="tx1"/>
                          </a:solidFill>
                          <a:effectLst/>
                          <a:latin typeface="Raleway"/>
                        </a:rPr>
                        <a:t>2 kandidat sedang mengerjakan Case Study pada 6 Februari 2026</a:t>
                      </a:r>
                    </a:p>
                    <a:p>
                      <a:pPr marL="171450" lvl="0" indent="-171450" algn="l">
                        <a:lnSpc>
                          <a:spcPct val="100000"/>
                        </a:lnSpc>
                        <a:spcBef>
                          <a:spcPts val="0"/>
                        </a:spcBef>
                        <a:spcAft>
                          <a:spcPts val="0"/>
                        </a:spcAft>
                        <a:buFont typeface="Arial" panose="020B0604020202020204" pitchFamily="34" charset="0"/>
                        <a:buChar char="•"/>
                      </a:pPr>
                      <a:r>
                        <a:rPr lang="en-US" sz="1050" b="0" i="0" u="none" strike="noStrike" baseline="0" noProof="0">
                          <a:solidFill>
                            <a:srgbClr val="000000"/>
                          </a:solidFill>
                          <a:effectLst/>
                          <a:latin typeface="Raleway"/>
                        </a:rPr>
                        <a:t>1 kandidat a,n Willyam Nathannael Hutagalung tidak lulus User Interview pada 11 Februari 2026</a:t>
                      </a:r>
                    </a:p>
                    <a:p>
                      <a:pPr marL="171450" lvl="0" indent="-171450" algn="l">
                        <a:lnSpc>
                          <a:spcPct val="100000"/>
                        </a:lnSpc>
                        <a:spcBef>
                          <a:spcPts val="0"/>
                        </a:spcBef>
                        <a:spcAft>
                          <a:spcPts val="0"/>
                        </a:spcAft>
                        <a:buFont typeface="Arial" panose="020B0604020202020204" pitchFamily="34" charset="0"/>
                        <a:buChar char="•"/>
                      </a:pPr>
                      <a:r>
                        <a:rPr lang="en-US" sz="1050" b="0" i="0" u="none" strike="noStrike" baseline="0" noProof="0">
                          <a:solidFill>
                            <a:srgbClr val="000000"/>
                          </a:solidFill>
                          <a:effectLst/>
                          <a:latin typeface="Raleway"/>
                        </a:rPr>
                        <a:t>2 kandidat User Interview pada 13 Februari: kandidat a.n Archie Shienwee tidak lulus &amp; kandidat a.n Salwa Salsabila lulus</a:t>
                      </a:r>
                    </a:p>
                    <a:p>
                      <a:pPr marL="171450" lvl="0" indent="-171450" algn="l">
                        <a:lnSpc>
                          <a:spcPct val="100000"/>
                        </a:lnSpc>
                        <a:spcBef>
                          <a:spcPts val="0"/>
                        </a:spcBef>
                        <a:spcAft>
                          <a:spcPts val="0"/>
                        </a:spcAft>
                        <a:buFont typeface="Arial" panose="020B0604020202020204" pitchFamily="34" charset="0"/>
                        <a:buChar char="•"/>
                      </a:pPr>
                      <a:r>
                        <a:rPr lang="en-US" sz="1050" b="0" i="0" u="none" strike="noStrike" baseline="0" noProof="0">
                          <a:solidFill>
                            <a:srgbClr val="000000"/>
                          </a:solidFill>
                          <a:effectLst/>
                          <a:latin typeface="Raleway"/>
                        </a:rPr>
                        <a:t>1 kandidat a.n Salwa Salsabila tidak lulus User Interview II pada 18 Februari</a:t>
                      </a:r>
                    </a:p>
                    <a:p>
                      <a:pPr marL="171450" lvl="0" indent="-171450" algn="l">
                        <a:lnSpc>
                          <a:spcPct val="100000"/>
                        </a:lnSpc>
                        <a:spcBef>
                          <a:spcPts val="0"/>
                        </a:spcBef>
                        <a:spcAft>
                          <a:spcPts val="0"/>
                        </a:spcAft>
                        <a:buFont typeface="Arial" panose="020B0604020202020204" pitchFamily="34" charset="0"/>
                        <a:buChar char="•"/>
                      </a:pPr>
                      <a:r>
                        <a:rPr lang="en-US" sz="1050" b="0" i="0" u="none" strike="noStrike" baseline="0" noProof="0">
                          <a:solidFill>
                            <a:srgbClr val="000000"/>
                          </a:solidFill>
                          <a:effectLst/>
                          <a:latin typeface="Raleway"/>
                        </a:rPr>
                        <a:t>2 kandidat proses study case di 1 April 2026 </a:t>
                      </a:r>
                    </a:p>
                    <a:p>
                      <a:pPr marL="171450" lvl="0" indent="-171450" algn="l">
                        <a:lnSpc>
                          <a:spcPct val="100000"/>
                        </a:lnSpc>
                        <a:spcBef>
                          <a:spcPts val="0"/>
                        </a:spcBef>
                        <a:spcAft>
                          <a:spcPts val="0"/>
                        </a:spcAft>
                        <a:buFont typeface="Arial" panose="020B0604020202020204" pitchFamily="34" charset="0"/>
                        <a:buChar char="•"/>
                      </a:pPr>
                      <a:r>
                        <a:rPr lang="en-US" sz="1050" b="0" i="0" u="none" strike="noStrike" baseline="0" noProof="0">
                          <a:solidFill>
                            <a:srgbClr val="000000"/>
                          </a:solidFill>
                          <a:effectLst/>
                          <a:latin typeface="Raleway"/>
                        </a:rPr>
                        <a:t>User interview 1 kandidat di 14 April 2026 – Drop</a:t>
                      </a:r>
                    </a:p>
                    <a:p>
                      <a:pPr marL="171450" lvl="0" indent="-171450" algn="l">
                        <a:lnSpc>
                          <a:spcPct val="100000"/>
                        </a:lnSpc>
                        <a:spcBef>
                          <a:spcPts val="0"/>
                        </a:spcBef>
                        <a:spcAft>
                          <a:spcPts val="0"/>
                        </a:spcAft>
                        <a:buFont typeface="Arial" panose="020B0604020202020204" pitchFamily="34" charset="0"/>
                        <a:buChar char="•"/>
                      </a:pPr>
                      <a:r>
                        <a:rPr lang="en-US" sz="1050" b="0" i="0" u="none" strike="noStrike" baseline="0" noProof="0">
                          <a:solidFill>
                            <a:srgbClr val="000000"/>
                          </a:solidFill>
                          <a:effectLst/>
                          <a:latin typeface="Raleway"/>
                        </a:rPr>
                        <a:t>1 Kandidat an Mursyid user interview I di 20 May 2026 – drop </a:t>
                      </a:r>
                    </a:p>
                    <a:p>
                      <a:pPr marL="171450" lvl="0" indent="-171450" algn="l">
                        <a:lnSpc>
                          <a:spcPct val="100000"/>
                        </a:lnSpc>
                        <a:spcBef>
                          <a:spcPts val="0"/>
                        </a:spcBef>
                        <a:spcAft>
                          <a:spcPts val="0"/>
                        </a:spcAft>
                        <a:buFont typeface="Arial" panose="020B0604020202020204" pitchFamily="34" charset="0"/>
                        <a:buChar char="•"/>
                      </a:pPr>
                      <a:r>
                        <a:rPr lang="en-US" sz="1050" b="0" i="0" u="none" strike="noStrike" baseline="0" noProof="0">
                          <a:solidFill>
                            <a:srgbClr val="000000"/>
                          </a:solidFill>
                          <a:effectLst/>
                          <a:latin typeface="Raleway"/>
                        </a:rPr>
                        <a:t>User Interview, 2 orang di Week 28</a:t>
                      </a:r>
                    </a:p>
                    <a:p>
                      <a:pPr marL="0" lvl="0" indent="0" algn="l">
                        <a:lnSpc>
                          <a:spcPct val="100000"/>
                        </a:lnSpc>
                        <a:spcBef>
                          <a:spcPts val="0"/>
                        </a:spcBef>
                        <a:spcAft>
                          <a:spcPts val="0"/>
                        </a:spcAft>
                        <a:buNone/>
                      </a:pPr>
                      <a:r>
                        <a:rPr lang="en-US" sz="1050" b="1" i="0" u="none" strike="noStrike" baseline="0" noProof="0">
                          <a:solidFill>
                            <a:srgbClr val="000000"/>
                          </a:solidFill>
                          <a:effectLst/>
                          <a:latin typeface="Raleway"/>
                        </a:rPr>
                        <a:t>Next Action:</a:t>
                      </a:r>
                      <a:r>
                        <a:rPr lang="en-US" sz="1050" b="0" i="0" u="none" strike="noStrike" baseline="0" noProof="0">
                          <a:solidFill>
                            <a:srgbClr val="000000"/>
                          </a:solidFill>
                          <a:effectLst/>
                          <a:latin typeface="Raleway"/>
                        </a:rPr>
                        <a:t> </a:t>
                      </a:r>
                    </a:p>
                    <a:p>
                      <a:pPr marL="171450" lvl="0" indent="-171450" algn="l">
                        <a:lnSpc>
                          <a:spcPct val="100000"/>
                        </a:lnSpc>
                        <a:spcBef>
                          <a:spcPts val="0"/>
                        </a:spcBef>
                        <a:spcAft>
                          <a:spcPts val="0"/>
                        </a:spcAft>
                        <a:buFont typeface="Arial" panose="020B0604020202020204" pitchFamily="34" charset="0"/>
                        <a:buChar char="•"/>
                      </a:pPr>
                      <a:r>
                        <a:rPr lang="en-US" sz="1050" b="0" i="0" u="none" strike="noStrike" baseline="0" noProof="0">
                          <a:solidFill>
                            <a:srgbClr val="000000"/>
                          </a:solidFill>
                          <a:effectLst/>
                          <a:latin typeface="Raleway"/>
                        </a:rPr>
                        <a:t>Sourcing 8 CV di Week 28</a:t>
                      </a:r>
                      <a:endParaRPr lang="en-US" baseline="0">
                        <a:solidFill>
                          <a:srgbClr val="000000"/>
                        </a:solidFill>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937175375"/>
                  </a:ext>
                </a:extLst>
              </a:tr>
            </a:tbl>
          </a:graphicData>
        </a:graphic>
      </p:graphicFrame>
      <p:sp>
        <p:nvSpPr>
          <p:cNvPr id="6" name="TextBox 5">
            <a:extLst>
              <a:ext uri="{FF2B5EF4-FFF2-40B4-BE49-F238E27FC236}">
                <a16:creationId xmlns:a16="http://schemas.microsoft.com/office/drawing/2014/main" id="{88E4D889-4940-7E98-6ECA-BD2CBC1D0B16}"/>
              </a:ext>
            </a:extLst>
          </p:cNvPr>
          <p:cNvSpPr txBox="1"/>
          <p:nvPr/>
        </p:nvSpPr>
        <p:spPr>
          <a:xfrm>
            <a:off x="122348" y="6475395"/>
            <a:ext cx="10972800" cy="430887"/>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a:latin typeface="Raleway"/>
              </a:rPr>
              <a:t>* </a:t>
            </a:r>
            <a:r>
              <a:rPr lang="en-US" sz="1100" i="1">
                <a:latin typeface="Raleway"/>
              </a:rPr>
              <a:t>Update per tanggal 8 Mei  2026.</a:t>
            </a:r>
            <a:endParaRPr lang="en-US" sz="1100">
              <a:latin typeface="Raleway"/>
            </a:endParaRPr>
          </a:p>
          <a:p>
            <a:endParaRPr lang="en-US" sz="1100" i="1">
              <a:latin typeface="Raleway"/>
            </a:endParaRPr>
          </a:p>
        </p:txBody>
      </p:sp>
      <p:sp>
        <p:nvSpPr>
          <p:cNvPr id="11" name="Text 0">
            <a:extLst>
              <a:ext uri="{FF2B5EF4-FFF2-40B4-BE49-F238E27FC236}">
                <a16:creationId xmlns:a16="http://schemas.microsoft.com/office/drawing/2014/main" id="{425B5DA2-7930-1AF5-F532-CFD0B5F9E27E}"/>
              </a:ext>
            </a:extLst>
          </p:cNvPr>
          <p:cNvSpPr/>
          <p:nvPr/>
        </p:nvSpPr>
        <p:spPr>
          <a:xfrm>
            <a:off x="261409" y="921783"/>
            <a:ext cx="11277295" cy="548640"/>
          </a:xfrm>
          <a:prstGeom prst="rect">
            <a:avLst/>
          </a:prstGeom>
          <a:noFill/>
          <a:ln/>
        </p:spPr>
        <p:txBody>
          <a:bodyPr wrap="square" lIns="91440" tIns="45720" rIns="91440" bIns="45720" rtlCol="0" anchor="ctr"/>
          <a:lstStyle/>
          <a:p>
            <a:r>
              <a:rPr lang="en-US" sz="2800" b="1">
                <a:solidFill>
                  <a:srgbClr val="12284C"/>
                </a:solidFill>
              </a:rPr>
              <a:t>CLAP &amp; FGDP - Update</a:t>
            </a:r>
          </a:p>
        </p:txBody>
      </p:sp>
    </p:spTree>
    <p:extLst>
      <p:ext uri="{BB962C8B-B14F-4D97-AF65-F5344CB8AC3E}">
        <p14:creationId xmlns:p14="http://schemas.microsoft.com/office/powerpoint/2010/main" val="2696233575"/>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1BE778CC-915D-743A-DF52-776745246035}"/>
            </a:ext>
          </a:extLst>
        </p:cNvPr>
        <p:cNvGrpSpPr/>
        <p:nvPr/>
      </p:nvGrpSpPr>
      <p:grpSpPr>
        <a:xfrm>
          <a:off x="0" y="0"/>
          <a:ext cx="0" cy="0"/>
          <a:chOff x="0" y="0"/>
          <a:chExt cx="0" cy="0"/>
        </a:xfrm>
      </p:grpSpPr>
      <p:graphicFrame>
        <p:nvGraphicFramePr>
          <p:cNvPr id="5" name="Table 4">
            <a:extLst>
              <a:ext uri="{FF2B5EF4-FFF2-40B4-BE49-F238E27FC236}">
                <a16:creationId xmlns:a16="http://schemas.microsoft.com/office/drawing/2014/main" id="{5FB11376-2FD6-37E1-BE05-A9E1FBB791C6}"/>
              </a:ext>
            </a:extLst>
          </p:cNvPr>
          <p:cNvGraphicFramePr>
            <a:graphicFrameLocks noGrp="1"/>
          </p:cNvGraphicFramePr>
          <p:nvPr/>
        </p:nvGraphicFramePr>
        <p:xfrm>
          <a:off x="169333" y="1307442"/>
          <a:ext cx="11856729" cy="4549237"/>
        </p:xfrm>
        <a:graphic>
          <a:graphicData uri="http://schemas.openxmlformats.org/drawingml/2006/table">
            <a:tbl>
              <a:tblPr/>
              <a:tblGrid>
                <a:gridCol w="280144">
                  <a:extLst>
                    <a:ext uri="{9D8B030D-6E8A-4147-A177-3AD203B41FA5}">
                      <a16:colId xmlns:a16="http://schemas.microsoft.com/office/drawing/2014/main" val="2958525884"/>
                    </a:ext>
                  </a:extLst>
                </a:gridCol>
                <a:gridCol w="683882">
                  <a:extLst>
                    <a:ext uri="{9D8B030D-6E8A-4147-A177-3AD203B41FA5}">
                      <a16:colId xmlns:a16="http://schemas.microsoft.com/office/drawing/2014/main" val="846346197"/>
                    </a:ext>
                  </a:extLst>
                </a:gridCol>
                <a:gridCol w="1005225">
                  <a:extLst>
                    <a:ext uri="{9D8B030D-6E8A-4147-A177-3AD203B41FA5}">
                      <a16:colId xmlns:a16="http://schemas.microsoft.com/office/drawing/2014/main" val="1576784135"/>
                    </a:ext>
                  </a:extLst>
                </a:gridCol>
                <a:gridCol w="527331">
                  <a:extLst>
                    <a:ext uri="{9D8B030D-6E8A-4147-A177-3AD203B41FA5}">
                      <a16:colId xmlns:a16="http://schemas.microsoft.com/office/drawing/2014/main" val="2417999049"/>
                    </a:ext>
                  </a:extLst>
                </a:gridCol>
                <a:gridCol w="856913">
                  <a:extLst>
                    <a:ext uri="{9D8B030D-6E8A-4147-A177-3AD203B41FA5}">
                      <a16:colId xmlns:a16="http://schemas.microsoft.com/office/drawing/2014/main" val="2037634795"/>
                    </a:ext>
                  </a:extLst>
                </a:gridCol>
                <a:gridCol w="1157726">
                  <a:extLst>
                    <a:ext uri="{9D8B030D-6E8A-4147-A177-3AD203B41FA5}">
                      <a16:colId xmlns:a16="http://schemas.microsoft.com/office/drawing/2014/main" val="3292619609"/>
                    </a:ext>
                  </a:extLst>
                </a:gridCol>
                <a:gridCol w="873903">
                  <a:extLst>
                    <a:ext uri="{9D8B030D-6E8A-4147-A177-3AD203B41FA5}">
                      <a16:colId xmlns:a16="http://schemas.microsoft.com/office/drawing/2014/main" val="1904949721"/>
                    </a:ext>
                  </a:extLst>
                </a:gridCol>
                <a:gridCol w="873903">
                  <a:extLst>
                    <a:ext uri="{9D8B030D-6E8A-4147-A177-3AD203B41FA5}">
                      <a16:colId xmlns:a16="http://schemas.microsoft.com/office/drawing/2014/main" val="2899439950"/>
                    </a:ext>
                  </a:extLst>
                </a:gridCol>
                <a:gridCol w="578665">
                  <a:extLst>
                    <a:ext uri="{9D8B030D-6E8A-4147-A177-3AD203B41FA5}">
                      <a16:colId xmlns:a16="http://schemas.microsoft.com/office/drawing/2014/main" val="3261243397"/>
                    </a:ext>
                  </a:extLst>
                </a:gridCol>
                <a:gridCol w="736022">
                  <a:extLst>
                    <a:ext uri="{9D8B030D-6E8A-4147-A177-3AD203B41FA5}">
                      <a16:colId xmlns:a16="http://schemas.microsoft.com/office/drawing/2014/main" val="3590988083"/>
                    </a:ext>
                  </a:extLst>
                </a:gridCol>
                <a:gridCol w="779317">
                  <a:extLst>
                    <a:ext uri="{9D8B030D-6E8A-4147-A177-3AD203B41FA5}">
                      <a16:colId xmlns:a16="http://schemas.microsoft.com/office/drawing/2014/main" val="1898113665"/>
                    </a:ext>
                  </a:extLst>
                </a:gridCol>
                <a:gridCol w="3503698">
                  <a:extLst>
                    <a:ext uri="{9D8B030D-6E8A-4147-A177-3AD203B41FA5}">
                      <a16:colId xmlns:a16="http://schemas.microsoft.com/office/drawing/2014/main" val="23786019"/>
                    </a:ext>
                  </a:extLst>
                </a:gridCol>
              </a:tblGrid>
              <a:tr h="269694">
                <a:tc>
                  <a:txBody>
                    <a:bodyPr/>
                    <a:lstStyle/>
                    <a:p>
                      <a:pPr algn="ctr" fontAlgn="ctr"/>
                      <a:r>
                        <a:rPr lang="en-US" sz="1000" b="1" i="0" u="none" strike="noStrike">
                          <a:solidFill>
                            <a:srgbClr val="FFFFFF"/>
                          </a:solidFill>
                          <a:effectLst/>
                          <a:latin typeface="Raleway"/>
                        </a:rPr>
                        <a:t>No</a:t>
                      </a:r>
                    </a:p>
                  </a:txBody>
                  <a:tcPr marL="2477" marR="2477" marT="2477" marB="17831"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002060"/>
                    </a:solidFill>
                  </a:tcPr>
                </a:tc>
                <a:tc>
                  <a:txBody>
                    <a:bodyPr/>
                    <a:lstStyle/>
                    <a:p>
                      <a:pPr algn="ctr" fontAlgn="ctr"/>
                      <a:r>
                        <a:rPr lang="en-US" sz="1000" b="1" i="0" u="none" strike="noStrike">
                          <a:solidFill>
                            <a:srgbClr val="FFFFFF"/>
                          </a:solidFill>
                          <a:effectLst/>
                          <a:latin typeface="Raleway"/>
                        </a:rPr>
                        <a:t>Tanggal FPTK</a:t>
                      </a:r>
                    </a:p>
                  </a:txBody>
                  <a:tcPr marL="2477" marR="2477" marT="2477" marB="17831"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002060"/>
                    </a:solidFill>
                  </a:tcPr>
                </a:tc>
                <a:tc>
                  <a:txBody>
                    <a:bodyPr/>
                    <a:lstStyle/>
                    <a:p>
                      <a:pPr algn="ctr" fontAlgn="ctr"/>
                      <a:r>
                        <a:rPr lang="en-US" sz="1000" b="1" i="0" u="none" strike="noStrike" err="1">
                          <a:solidFill>
                            <a:srgbClr val="FFFFFF"/>
                          </a:solidFill>
                          <a:effectLst/>
                          <a:latin typeface="Raleway"/>
                        </a:rPr>
                        <a:t>Posisi</a:t>
                      </a:r>
                      <a:endParaRPr lang="en-US" sz="1000" b="1" i="0" u="none" strike="noStrike">
                        <a:solidFill>
                          <a:srgbClr val="FFFFFF"/>
                        </a:solidFill>
                        <a:effectLst/>
                        <a:latin typeface="Raleway"/>
                      </a:endParaRPr>
                    </a:p>
                  </a:txBody>
                  <a:tcPr marL="2477" marR="2477" marT="2477" marB="17831"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002060"/>
                    </a:solidFill>
                  </a:tcPr>
                </a:tc>
                <a:tc>
                  <a:txBody>
                    <a:bodyPr/>
                    <a:lstStyle/>
                    <a:p>
                      <a:pPr algn="ctr" fontAlgn="ctr"/>
                      <a:r>
                        <a:rPr lang="en-US" sz="1000" b="1" i="0" u="none" strike="noStrike">
                          <a:solidFill>
                            <a:srgbClr val="FFFFFF"/>
                          </a:solidFill>
                          <a:effectLst/>
                          <a:latin typeface="Raleway"/>
                        </a:rPr>
                        <a:t>Level</a:t>
                      </a:r>
                    </a:p>
                  </a:txBody>
                  <a:tcPr marL="2477" marR="2477" marT="2477" marB="17831"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002060"/>
                    </a:solidFill>
                  </a:tcPr>
                </a:tc>
                <a:tc>
                  <a:txBody>
                    <a:bodyPr/>
                    <a:lstStyle/>
                    <a:p>
                      <a:pPr algn="ctr" fontAlgn="ctr"/>
                      <a:r>
                        <a:rPr lang="en-US" sz="1000" b="1" i="0" u="none" strike="noStrike">
                          <a:solidFill>
                            <a:srgbClr val="FFFFFF"/>
                          </a:solidFill>
                          <a:effectLst/>
                          <a:latin typeface="Raleway"/>
                        </a:rPr>
                        <a:t>Lokasi</a:t>
                      </a:r>
                    </a:p>
                  </a:txBody>
                  <a:tcPr marL="2477" marR="2477" marT="2477" marB="17831"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002060"/>
                    </a:solidFill>
                  </a:tcPr>
                </a:tc>
                <a:tc>
                  <a:txBody>
                    <a:bodyPr/>
                    <a:lstStyle/>
                    <a:p>
                      <a:pPr algn="ctr" fontAlgn="ctr"/>
                      <a:r>
                        <a:rPr lang="en-US" sz="1000" b="1" i="0" u="none" strike="noStrike">
                          <a:solidFill>
                            <a:srgbClr val="FFFFFF"/>
                          </a:solidFill>
                          <a:effectLst/>
                          <a:latin typeface="Raleway"/>
                        </a:rPr>
                        <a:t>Business Unit</a:t>
                      </a:r>
                    </a:p>
                  </a:txBody>
                  <a:tcPr marL="2477" marR="2477" marT="2477" marB="17831"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002060"/>
                    </a:solidFill>
                  </a:tcPr>
                </a:tc>
                <a:tc>
                  <a:txBody>
                    <a:bodyPr/>
                    <a:lstStyle/>
                    <a:p>
                      <a:pPr algn="ctr" fontAlgn="ctr"/>
                      <a:r>
                        <a:rPr lang="en-US" sz="1000" b="1" i="0" u="none" strike="noStrike">
                          <a:solidFill>
                            <a:srgbClr val="FFFFFF"/>
                          </a:solidFill>
                          <a:effectLst/>
                          <a:latin typeface="Raleway"/>
                        </a:rPr>
                        <a:t>Kategori FPTK</a:t>
                      </a:r>
                    </a:p>
                  </a:txBody>
                  <a:tcPr marL="2477" marR="2477" marT="2477" marB="17831"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002060"/>
                    </a:solidFill>
                  </a:tcPr>
                </a:tc>
                <a:tc>
                  <a:txBody>
                    <a:bodyPr/>
                    <a:lstStyle/>
                    <a:p>
                      <a:pPr algn="ctr" fontAlgn="ctr"/>
                      <a:r>
                        <a:rPr lang="en-US" sz="1000" b="1" i="0" u="none" strike="noStrike">
                          <a:solidFill>
                            <a:srgbClr val="FFFFFF"/>
                          </a:solidFill>
                          <a:effectLst/>
                          <a:latin typeface="Raleway"/>
                        </a:rPr>
                        <a:t>SLA Target </a:t>
                      </a:r>
                      <a:r>
                        <a:rPr lang="en-US" sz="1000" b="1" i="0" u="none" strike="noStrike" err="1">
                          <a:solidFill>
                            <a:srgbClr val="FFFFFF"/>
                          </a:solidFill>
                          <a:effectLst/>
                          <a:latin typeface="Raleway"/>
                        </a:rPr>
                        <a:t>Pemenuhan</a:t>
                      </a:r>
                      <a:endParaRPr lang="en-US" sz="1000" b="1" i="0" u="none" strike="noStrike">
                        <a:solidFill>
                          <a:srgbClr val="FFFFFF"/>
                        </a:solidFill>
                        <a:effectLst/>
                        <a:latin typeface="Raleway"/>
                      </a:endParaRPr>
                    </a:p>
                  </a:txBody>
                  <a:tcPr marL="2477" marR="2477" marT="2477" marB="17831"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002060"/>
                    </a:solidFill>
                  </a:tcPr>
                </a:tc>
                <a:tc>
                  <a:txBody>
                    <a:bodyPr/>
                    <a:lstStyle/>
                    <a:p>
                      <a:pPr algn="ctr" fontAlgn="ctr"/>
                      <a:r>
                        <a:rPr lang="en-US" sz="1000" b="1" i="0" u="none" strike="noStrike">
                          <a:solidFill>
                            <a:srgbClr val="FFFFFF"/>
                          </a:solidFill>
                          <a:effectLst/>
                          <a:latin typeface="Raleway"/>
                        </a:rPr>
                        <a:t>PIC TA</a:t>
                      </a:r>
                    </a:p>
                  </a:txBody>
                  <a:tcPr marL="2477" marR="2477" marT="2477" marB="17831"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002060"/>
                    </a:solidFill>
                  </a:tcPr>
                </a:tc>
                <a:tc>
                  <a:txBody>
                    <a:bodyPr/>
                    <a:lstStyle/>
                    <a:p>
                      <a:pPr algn="ctr" fontAlgn="ctr"/>
                      <a:r>
                        <a:rPr lang="en-US" sz="1000" b="1" i="0" u="none" strike="noStrike" err="1">
                          <a:solidFill>
                            <a:srgbClr val="FFFFFF"/>
                          </a:solidFill>
                          <a:effectLst/>
                          <a:latin typeface="Raleway"/>
                        </a:rPr>
                        <a:t>Jumlah</a:t>
                      </a:r>
                      <a:r>
                        <a:rPr lang="en-US" sz="1000" b="1" i="0" u="none" strike="noStrike">
                          <a:solidFill>
                            <a:srgbClr val="FFFFFF"/>
                          </a:solidFill>
                          <a:effectLst/>
                          <a:latin typeface="Raleway"/>
                        </a:rPr>
                        <a:t> </a:t>
                      </a:r>
                      <a:r>
                        <a:rPr lang="en-US" sz="1000" b="1" i="0" u="none" strike="noStrike" err="1">
                          <a:solidFill>
                            <a:srgbClr val="FFFFFF"/>
                          </a:solidFill>
                          <a:effectLst/>
                          <a:latin typeface="Raleway"/>
                        </a:rPr>
                        <a:t>Permintaan</a:t>
                      </a:r>
                    </a:p>
                  </a:txBody>
                  <a:tcPr marL="2477" marR="2477" marT="2477" marB="17831"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002060"/>
                    </a:solidFill>
                  </a:tcPr>
                </a:tc>
                <a:tc>
                  <a:txBody>
                    <a:bodyPr/>
                    <a:lstStyle/>
                    <a:p>
                      <a:pPr algn="ctr" fontAlgn="ctr"/>
                      <a:r>
                        <a:rPr lang="en-US" sz="1000" b="1" i="0" u="none" strike="noStrike">
                          <a:solidFill>
                            <a:srgbClr val="FFFFFF"/>
                          </a:solidFill>
                          <a:effectLst/>
                          <a:latin typeface="Raleway"/>
                        </a:rPr>
                        <a:t>Status </a:t>
                      </a:r>
                      <a:r>
                        <a:rPr lang="en-US" sz="1000" b="1" i="0" u="none" strike="noStrike" err="1">
                          <a:solidFill>
                            <a:srgbClr val="FFFFFF"/>
                          </a:solidFill>
                          <a:effectLst/>
                          <a:latin typeface="Raleway"/>
                        </a:rPr>
                        <a:t>Rekrutmen</a:t>
                      </a:r>
                      <a:endParaRPr lang="en-US" sz="1000" b="1" i="0" u="none" strike="noStrike">
                        <a:solidFill>
                          <a:srgbClr val="FFFFFF"/>
                        </a:solidFill>
                        <a:effectLst/>
                        <a:latin typeface="Raleway"/>
                      </a:endParaRPr>
                    </a:p>
                  </a:txBody>
                  <a:tcPr marL="2477" marR="2477" marT="2477" marB="17831"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002060"/>
                    </a:solidFill>
                  </a:tcPr>
                </a:tc>
                <a:tc>
                  <a:txBody>
                    <a:bodyPr/>
                    <a:lstStyle/>
                    <a:p>
                      <a:pPr algn="ctr" fontAlgn="ctr"/>
                      <a:r>
                        <a:rPr lang="en-US" sz="1000" b="1" i="0" u="none" strike="noStrike">
                          <a:solidFill>
                            <a:srgbClr val="FFFFFF"/>
                          </a:solidFill>
                          <a:effectLst/>
                          <a:latin typeface="Raleway"/>
                        </a:rPr>
                        <a:t>Recruitment Update</a:t>
                      </a:r>
                    </a:p>
                  </a:txBody>
                  <a:tcPr marL="2477" marR="2477" marT="2477" marB="17831"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002060"/>
                    </a:solidFill>
                  </a:tcPr>
                </a:tc>
                <a:extLst>
                  <a:ext uri="{0D108BD9-81ED-4DB2-BD59-A6C34878D82A}">
                    <a16:rowId xmlns:a16="http://schemas.microsoft.com/office/drawing/2014/main" val="3039362490"/>
                  </a:ext>
                </a:extLst>
              </a:tr>
              <a:tr h="1938130">
                <a:tc>
                  <a:txBody>
                    <a:bodyPr/>
                    <a:lstStyle/>
                    <a:p>
                      <a:pPr lvl="0" algn="ctr">
                        <a:buNone/>
                      </a:pPr>
                      <a:r>
                        <a:rPr lang="en-US" sz="1000" b="0" i="0" u="none" strike="noStrike">
                          <a:solidFill>
                            <a:schemeClr val="tx1"/>
                          </a:solidFill>
                          <a:effectLst/>
                          <a:latin typeface="Raleway"/>
                        </a:rPr>
                        <a:t>13</a:t>
                      </a:r>
                    </a:p>
                  </a:txBody>
                  <a:tcPr marL="2476" marR="2476" marT="2476" marB="17830" anchor="ctr">
                    <a:lnL w="6350">
                      <a:solidFill>
                        <a:schemeClr val="tx1"/>
                      </a:solidFill>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marL="0" lvl="0" algn="ctr">
                        <a:buNone/>
                      </a:pPr>
                      <a:r>
                        <a:rPr lang="en-US" sz="1000" b="0" i="0" kern="1200">
                          <a:solidFill>
                            <a:schemeClr val="tx1"/>
                          </a:solidFill>
                          <a:effectLst/>
                          <a:latin typeface="Raleway"/>
                        </a:rPr>
                        <a:t>20-Dec-25</a:t>
                      </a:r>
                      <a:endParaRPr lang="en-US" sz="1000">
                        <a:solidFill>
                          <a:schemeClr val="tx1"/>
                        </a:solidFill>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marL="0" lvl="0" algn="l">
                        <a:buNone/>
                      </a:pPr>
                      <a:r>
                        <a:rPr lang="en-US" sz="1000" b="0" i="0" kern="1200">
                          <a:solidFill>
                            <a:schemeClr val="tx1"/>
                          </a:solidFill>
                          <a:effectLst/>
                          <a:latin typeface="Raleway"/>
                        </a:rPr>
                        <a:t>Fresh Graduate Development Program – Sales General Trade</a:t>
                      </a:r>
                      <a:endParaRPr lang="en-US" sz="1000">
                        <a:solidFill>
                          <a:schemeClr val="tx1"/>
                        </a:solidFill>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marL="0" lvl="0" algn="ctr">
                        <a:buNone/>
                      </a:pPr>
                      <a:r>
                        <a:rPr lang="en-US" sz="1000" b="0" i="0" kern="1200">
                          <a:solidFill>
                            <a:schemeClr val="tx1"/>
                          </a:solidFill>
                          <a:effectLst/>
                          <a:latin typeface="Raleway"/>
                        </a:rPr>
                        <a:t>2B</a:t>
                      </a:r>
                      <a:endParaRPr lang="en-US" sz="1000">
                        <a:solidFill>
                          <a:schemeClr val="tx1"/>
                        </a:solidFill>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marL="0" lvl="0" algn="ctr">
                        <a:buNone/>
                      </a:pPr>
                      <a:r>
                        <a:rPr lang="en-US" sz="1000" b="0" i="0" kern="1200">
                          <a:solidFill>
                            <a:schemeClr val="tx1"/>
                          </a:solidFill>
                          <a:effectLst/>
                          <a:latin typeface="Raleway"/>
                        </a:rPr>
                        <a:t>HO </a:t>
                      </a:r>
                      <a:r>
                        <a:rPr lang="en-US" sz="1000" b="0" i="0" kern="1200" err="1">
                          <a:solidFill>
                            <a:schemeClr val="tx1"/>
                          </a:solidFill>
                          <a:effectLst/>
                          <a:latin typeface="Raleway"/>
                        </a:rPr>
                        <a:t>Meruya</a:t>
                      </a:r>
                      <a:endParaRPr lang="en-US" sz="1000">
                        <a:solidFill>
                          <a:schemeClr val="tx1"/>
                        </a:solidFill>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marL="0" marR="0" lvl="0" indent="0" algn="ctr" rtl="0">
                        <a:lnSpc>
                          <a:spcPct val="100000"/>
                        </a:lnSpc>
                        <a:spcBef>
                          <a:spcPts val="0"/>
                        </a:spcBef>
                        <a:spcAft>
                          <a:spcPts val="0"/>
                        </a:spcAft>
                        <a:buClrTx/>
                        <a:buSzTx/>
                        <a:buFontTx/>
                        <a:buNone/>
                      </a:pPr>
                      <a:r>
                        <a:rPr lang="en-US" sz="1000" b="0" i="0" u="none" strike="noStrike" kern="1200" cap="none" spc="0" normalizeH="0" baseline="0" noProof="0">
                          <a:ln>
                            <a:noFill/>
                          </a:ln>
                          <a:solidFill>
                            <a:schemeClr val="tx1"/>
                          </a:solidFill>
                          <a:effectLst/>
                          <a:uLnTx/>
                          <a:uFillTx/>
                          <a:latin typeface="Raleway"/>
                          <a:ea typeface="+mn-ea"/>
                          <a:cs typeface="+mn-cs"/>
                        </a:rPr>
                        <a:t>PT MACROSENTRA NIAGABOGA</a:t>
                      </a:r>
                      <a:endParaRPr kumimoji="0" lang="en-US" sz="1000" b="0" i="0" u="none" strike="noStrike" kern="1200" cap="none" spc="0" normalizeH="0" baseline="0" noProof="0">
                        <a:ln>
                          <a:noFill/>
                        </a:ln>
                        <a:solidFill>
                          <a:schemeClr val="tx1"/>
                        </a:solidFill>
                        <a:effectLst/>
                        <a:uLnTx/>
                        <a:uFillTx/>
                        <a:latin typeface="Raleway"/>
                        <a:ea typeface="+mn-ea"/>
                        <a:cs typeface="+mn-cs"/>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marL="0" lvl="0" algn="ctr" rtl="0">
                        <a:buNone/>
                      </a:pPr>
                      <a:r>
                        <a:rPr lang="en-US" sz="1000" b="0" i="0" kern="1200">
                          <a:solidFill>
                            <a:schemeClr val="tx1"/>
                          </a:solidFill>
                          <a:effectLst/>
                          <a:latin typeface="Raleway"/>
                        </a:rPr>
                        <a:t>NEW</a:t>
                      </a:r>
                      <a:endParaRPr lang="en-US" sz="1000">
                        <a:solidFill>
                          <a:schemeClr val="tx1"/>
                        </a:solidFill>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marL="0" lvl="0" algn="ctr" rtl="0">
                        <a:buNone/>
                      </a:pPr>
                      <a:r>
                        <a:rPr lang="en-US" sz="1000" b="0" i="0" kern="1200">
                          <a:solidFill>
                            <a:schemeClr val="tx1"/>
                          </a:solidFill>
                          <a:effectLst/>
                          <a:latin typeface="Raleway"/>
                        </a:rPr>
                        <a:t>19-Jan-26</a:t>
                      </a:r>
                      <a:endParaRPr lang="en-US" sz="1000">
                        <a:solidFill>
                          <a:schemeClr val="tx1"/>
                        </a:solidFill>
                        <a:effectLst/>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marL="0" lvl="0" algn="ctr" rtl="0">
                        <a:buNone/>
                      </a:pPr>
                      <a:r>
                        <a:rPr lang="en-US" sz="1000" b="0" i="0" kern="1200">
                          <a:solidFill>
                            <a:schemeClr val="tx1"/>
                          </a:solidFill>
                          <a:effectLst/>
                          <a:latin typeface="Raleway"/>
                        </a:rPr>
                        <a:t>Marta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marL="0" lvl="0" algn="ctr" rtl="0">
                        <a:buNone/>
                      </a:pPr>
                      <a:r>
                        <a:rPr lang="en-US" sz="1000" b="0" i="0" kern="1200">
                          <a:solidFill>
                            <a:schemeClr val="tx1"/>
                          </a:solidFill>
                          <a:effectLst/>
                          <a:latin typeface="Raleway"/>
                        </a:rPr>
                        <a:t>9</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marL="0" lvl="0" algn="ctr" rtl="0">
                        <a:buNone/>
                      </a:pPr>
                      <a:r>
                        <a:rPr lang="en-US" sz="1000" b="0" i="0" kern="1200">
                          <a:solidFill>
                            <a:schemeClr val="tx1"/>
                          </a:solidFill>
                          <a:effectLst/>
                          <a:latin typeface="Raleway"/>
                        </a:rPr>
                        <a:t>OP</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marL="0" lvl="0" indent="0" algn="l">
                        <a:lnSpc>
                          <a:spcPct val="100000"/>
                        </a:lnSpc>
                        <a:spcBef>
                          <a:spcPts val="0"/>
                        </a:spcBef>
                        <a:spcAft>
                          <a:spcPts val="0"/>
                        </a:spcAft>
                        <a:buNone/>
                      </a:pPr>
                      <a:r>
                        <a:rPr lang="en-US" sz="1000" b="1" i="0" u="none" strike="noStrike" kern="1200" noProof="0">
                          <a:solidFill>
                            <a:schemeClr val="tx1"/>
                          </a:solidFill>
                          <a:effectLst/>
                          <a:latin typeface="Raleway"/>
                        </a:rPr>
                        <a:t>CLOSED</a:t>
                      </a:r>
                    </a:p>
                    <a:p>
                      <a:pPr marL="171450" lvl="0" indent="-171450" algn="l">
                        <a:lnSpc>
                          <a:spcPct val="100000"/>
                        </a:lnSpc>
                        <a:spcBef>
                          <a:spcPts val="0"/>
                        </a:spcBef>
                        <a:spcAft>
                          <a:spcPts val="0"/>
                        </a:spcAft>
                        <a:buClr>
                          <a:srgbClr val="000000"/>
                        </a:buClr>
                        <a:buFont typeface="Arial,Sans-Serif"/>
                        <a:buChar char="•"/>
                      </a:pPr>
                      <a:r>
                        <a:rPr lang="en-US" sz="1000" b="1" i="0" u="none" strike="noStrike" kern="1200" noProof="0">
                          <a:solidFill>
                            <a:schemeClr val="tx1"/>
                          </a:solidFill>
                          <a:effectLst/>
                          <a:latin typeface="Raleway"/>
                        </a:rPr>
                        <a:t>Muhammad Naufal Al Majid</a:t>
                      </a:r>
                      <a:r>
                        <a:rPr lang="en-US" sz="1000" b="0" i="0" u="none" strike="noStrike" kern="1200" noProof="0">
                          <a:solidFill>
                            <a:schemeClr val="tx1"/>
                          </a:solidFill>
                          <a:effectLst/>
                          <a:latin typeface="Raleway"/>
                        </a:rPr>
                        <a:t>, Join date 10 </a:t>
                      </a:r>
                      <a:r>
                        <a:rPr lang="en-US" sz="1000" b="0" i="0" u="none" strike="noStrike" kern="1200" noProof="0" err="1">
                          <a:solidFill>
                            <a:schemeClr val="tx1"/>
                          </a:solidFill>
                          <a:effectLst/>
                          <a:latin typeface="Raleway"/>
                        </a:rPr>
                        <a:t>Februari</a:t>
                      </a:r>
                      <a:r>
                        <a:rPr lang="en-US" sz="1000" b="0" i="0" u="none" strike="noStrike" kern="1200" noProof="0">
                          <a:solidFill>
                            <a:schemeClr val="tx1"/>
                          </a:solidFill>
                          <a:effectLst/>
                          <a:latin typeface="Raleway"/>
                        </a:rPr>
                        <a:t> 2026</a:t>
                      </a:r>
                      <a:endParaRPr lang="en-US"/>
                    </a:p>
                    <a:p>
                      <a:pPr marL="171450" lvl="0" indent="-171450" algn="l">
                        <a:lnSpc>
                          <a:spcPct val="100000"/>
                        </a:lnSpc>
                        <a:spcBef>
                          <a:spcPts val="0"/>
                        </a:spcBef>
                        <a:spcAft>
                          <a:spcPts val="0"/>
                        </a:spcAft>
                        <a:buClr>
                          <a:srgbClr val="000000"/>
                        </a:buClr>
                        <a:buFont typeface="Arial,Sans-Serif"/>
                        <a:buChar char="•"/>
                      </a:pPr>
                      <a:r>
                        <a:rPr lang="en-US" sz="1000" b="1" i="0" u="none" strike="noStrike" kern="1200" noProof="0">
                          <a:solidFill>
                            <a:schemeClr val="tx1"/>
                          </a:solidFill>
                          <a:effectLst/>
                          <a:latin typeface="Raleway"/>
                        </a:rPr>
                        <a:t>Luthfiah Nur Shadrina</a:t>
                      </a:r>
                      <a:r>
                        <a:rPr lang="en-US" sz="1000" b="0" i="0" u="none" strike="noStrike" kern="1200" noProof="0">
                          <a:solidFill>
                            <a:schemeClr val="tx1"/>
                          </a:solidFill>
                          <a:effectLst/>
                          <a:latin typeface="Raleway"/>
                        </a:rPr>
                        <a:t>, Join date 10 </a:t>
                      </a:r>
                      <a:r>
                        <a:rPr lang="en-US" sz="1000" b="0" i="0" u="none" strike="noStrike" kern="1200" noProof="0" err="1">
                          <a:solidFill>
                            <a:schemeClr val="tx1"/>
                          </a:solidFill>
                          <a:effectLst/>
                          <a:latin typeface="Raleway"/>
                        </a:rPr>
                        <a:t>Februari</a:t>
                      </a:r>
                      <a:r>
                        <a:rPr lang="en-US" sz="1000" b="0" i="0" u="none" strike="noStrike" kern="1200" noProof="0">
                          <a:solidFill>
                            <a:schemeClr val="tx1"/>
                          </a:solidFill>
                          <a:effectLst/>
                          <a:latin typeface="Raleway"/>
                        </a:rPr>
                        <a:t> 2026</a:t>
                      </a:r>
                      <a:endParaRPr lang="en-US"/>
                    </a:p>
                    <a:p>
                      <a:pPr marL="171450" lvl="0" indent="-171450" algn="l">
                        <a:lnSpc>
                          <a:spcPct val="100000"/>
                        </a:lnSpc>
                        <a:spcBef>
                          <a:spcPts val="0"/>
                        </a:spcBef>
                        <a:spcAft>
                          <a:spcPts val="0"/>
                        </a:spcAft>
                        <a:buClr>
                          <a:srgbClr val="000000"/>
                        </a:buClr>
                        <a:buFont typeface="Arial,Sans-Serif"/>
                        <a:buChar char="•"/>
                      </a:pPr>
                      <a:r>
                        <a:rPr lang="en-US" sz="1000" b="1" i="0" u="none" strike="noStrike" kern="1200" noProof="0">
                          <a:solidFill>
                            <a:schemeClr val="tx1"/>
                          </a:solidFill>
                          <a:effectLst/>
                          <a:latin typeface="Raleway"/>
                        </a:rPr>
                        <a:t>Arsya Rafadhya,</a:t>
                      </a:r>
                      <a:r>
                        <a:rPr lang="en-US" sz="1000" b="0" i="0" u="none" strike="noStrike" kern="1200" noProof="0">
                          <a:solidFill>
                            <a:schemeClr val="tx1"/>
                          </a:solidFill>
                          <a:effectLst/>
                          <a:latin typeface="Raleway"/>
                        </a:rPr>
                        <a:t> Join date 10 </a:t>
                      </a:r>
                      <a:r>
                        <a:rPr lang="en-US" sz="1000" b="0" i="0" u="none" strike="noStrike" kern="1200" noProof="0" err="1">
                          <a:solidFill>
                            <a:schemeClr val="tx1"/>
                          </a:solidFill>
                          <a:effectLst/>
                          <a:latin typeface="Raleway"/>
                        </a:rPr>
                        <a:t>Februari</a:t>
                      </a:r>
                      <a:r>
                        <a:rPr lang="en-US" sz="1000" b="0" i="0" u="none" strike="noStrike" kern="1200" noProof="0">
                          <a:solidFill>
                            <a:schemeClr val="tx1"/>
                          </a:solidFill>
                          <a:effectLst/>
                          <a:latin typeface="Raleway"/>
                        </a:rPr>
                        <a:t> 2026</a:t>
                      </a:r>
                      <a:endParaRPr lang="en-US"/>
                    </a:p>
                    <a:p>
                      <a:pPr marL="171450" lvl="0" indent="-171450" algn="l">
                        <a:lnSpc>
                          <a:spcPct val="100000"/>
                        </a:lnSpc>
                        <a:spcBef>
                          <a:spcPts val="0"/>
                        </a:spcBef>
                        <a:spcAft>
                          <a:spcPts val="0"/>
                        </a:spcAft>
                        <a:buClr>
                          <a:srgbClr val="000000"/>
                        </a:buClr>
                        <a:buFont typeface="Arial,Sans-Serif"/>
                        <a:buChar char="•"/>
                      </a:pPr>
                      <a:r>
                        <a:rPr lang="en-US" sz="1000" b="1" i="0" u="none" strike="noStrike" kern="1200" noProof="0">
                          <a:solidFill>
                            <a:schemeClr val="tx1"/>
                          </a:solidFill>
                          <a:effectLst/>
                          <a:latin typeface="Raleway"/>
                        </a:rPr>
                        <a:t>Annisa Nur Rahma</a:t>
                      </a:r>
                      <a:r>
                        <a:rPr lang="en-US" sz="1000" b="0" i="0" u="none" strike="noStrike" kern="1200" noProof="0">
                          <a:solidFill>
                            <a:schemeClr val="tx1"/>
                          </a:solidFill>
                          <a:effectLst/>
                          <a:latin typeface="Raleway"/>
                        </a:rPr>
                        <a:t>, Join date 10 </a:t>
                      </a:r>
                      <a:r>
                        <a:rPr lang="en-US" sz="1000" b="0" i="0" u="none" strike="noStrike" kern="1200" noProof="0" err="1">
                          <a:solidFill>
                            <a:schemeClr val="tx1"/>
                          </a:solidFill>
                          <a:effectLst/>
                          <a:latin typeface="Raleway"/>
                        </a:rPr>
                        <a:t>Februari</a:t>
                      </a:r>
                      <a:r>
                        <a:rPr lang="en-US" sz="1000" b="0" i="0" u="none" strike="noStrike" kern="1200" noProof="0">
                          <a:solidFill>
                            <a:schemeClr val="tx1"/>
                          </a:solidFill>
                          <a:effectLst/>
                          <a:latin typeface="Raleway"/>
                        </a:rPr>
                        <a:t> 2026</a:t>
                      </a:r>
                      <a:endParaRPr lang="en-US"/>
                    </a:p>
                    <a:p>
                      <a:pPr marL="171450" lvl="0" indent="-171450" algn="l">
                        <a:lnSpc>
                          <a:spcPct val="100000"/>
                        </a:lnSpc>
                        <a:spcBef>
                          <a:spcPts val="0"/>
                        </a:spcBef>
                        <a:spcAft>
                          <a:spcPts val="0"/>
                        </a:spcAft>
                        <a:buClr>
                          <a:srgbClr val="000000"/>
                        </a:buClr>
                        <a:buFont typeface="Arial,Sans-Serif"/>
                        <a:buChar char="•"/>
                      </a:pPr>
                      <a:r>
                        <a:rPr lang="en-US" sz="1000" b="1" i="0" u="none" strike="noStrike" kern="1200" noProof="0">
                          <a:solidFill>
                            <a:schemeClr val="tx1"/>
                          </a:solidFill>
                          <a:effectLst/>
                          <a:latin typeface="Raleway"/>
                        </a:rPr>
                        <a:t>M Ridhan Tahir,</a:t>
                      </a:r>
                      <a:r>
                        <a:rPr lang="en-US" sz="1000" b="0" i="0" u="none" strike="noStrike" kern="1200" noProof="0">
                          <a:solidFill>
                            <a:schemeClr val="tx1"/>
                          </a:solidFill>
                          <a:effectLst/>
                          <a:latin typeface="Raleway"/>
                        </a:rPr>
                        <a:t> Join date 10 April 2026</a:t>
                      </a:r>
                    </a:p>
                    <a:p>
                      <a:pPr marL="171450" lvl="0" indent="-171450" algn="l">
                        <a:lnSpc>
                          <a:spcPct val="100000"/>
                        </a:lnSpc>
                        <a:spcBef>
                          <a:spcPts val="0"/>
                        </a:spcBef>
                        <a:spcAft>
                          <a:spcPts val="0"/>
                        </a:spcAft>
                        <a:buClr>
                          <a:srgbClr val="000000"/>
                        </a:buClr>
                        <a:buFont typeface="Arial,Sans-Serif"/>
                        <a:buChar char="•"/>
                      </a:pPr>
                      <a:r>
                        <a:rPr lang="en-US" sz="1000" b="1" i="0" u="none" strike="noStrike" kern="1200" noProof="0">
                          <a:solidFill>
                            <a:schemeClr val="tx1"/>
                          </a:solidFill>
                          <a:effectLst/>
                          <a:latin typeface="Raleway"/>
                        </a:rPr>
                        <a:t>Hakim Ihsan Pratama,</a:t>
                      </a:r>
                      <a:r>
                        <a:rPr lang="en-US" sz="1000" b="0" i="0" u="none" strike="noStrike" kern="1200" noProof="0">
                          <a:solidFill>
                            <a:schemeClr val="tx1"/>
                          </a:solidFill>
                          <a:effectLst/>
                          <a:latin typeface="Raleway"/>
                        </a:rPr>
                        <a:t> Join date 10 April 2026</a:t>
                      </a:r>
                    </a:p>
                    <a:p>
                      <a:pPr marL="171450" lvl="0" indent="-171450" algn="l">
                        <a:lnSpc>
                          <a:spcPct val="100000"/>
                        </a:lnSpc>
                        <a:spcBef>
                          <a:spcPts val="0"/>
                        </a:spcBef>
                        <a:spcAft>
                          <a:spcPts val="0"/>
                        </a:spcAft>
                        <a:buClr>
                          <a:srgbClr val="000000"/>
                        </a:buClr>
                        <a:buFont typeface="Arial,Sans-Serif"/>
                        <a:buChar char="•"/>
                      </a:pPr>
                      <a:r>
                        <a:rPr lang="en-US" sz="1000" b="1" i="0" u="none" strike="noStrike" kern="1200" noProof="0" err="1">
                          <a:solidFill>
                            <a:schemeClr val="tx1"/>
                          </a:solidFill>
                          <a:effectLst/>
                          <a:latin typeface="Raleway"/>
                        </a:rPr>
                        <a:t>Pijar</a:t>
                      </a:r>
                      <a:r>
                        <a:rPr lang="en-US" sz="1000" b="1" i="0" u="none" strike="noStrike" kern="1200" noProof="0">
                          <a:solidFill>
                            <a:schemeClr val="tx1"/>
                          </a:solidFill>
                          <a:effectLst/>
                          <a:latin typeface="Raleway"/>
                        </a:rPr>
                        <a:t> Satrio Bagaskoro,</a:t>
                      </a:r>
                      <a:r>
                        <a:rPr lang="en-US" sz="1000" b="0" i="0" u="none" strike="noStrike" kern="1200" noProof="0">
                          <a:solidFill>
                            <a:schemeClr val="tx1"/>
                          </a:solidFill>
                          <a:effectLst/>
                          <a:latin typeface="Raleway"/>
                        </a:rPr>
                        <a:t> Join date 10 April 2026</a:t>
                      </a:r>
                      <a:endParaRPr lang="en-US"/>
                    </a:p>
                    <a:p>
                      <a:pPr marL="171450" lvl="0" indent="-171450" algn="l">
                        <a:lnSpc>
                          <a:spcPct val="100000"/>
                        </a:lnSpc>
                        <a:spcBef>
                          <a:spcPts val="0"/>
                        </a:spcBef>
                        <a:spcAft>
                          <a:spcPts val="0"/>
                        </a:spcAft>
                        <a:buClr>
                          <a:srgbClr val="000000"/>
                        </a:buClr>
                        <a:buFont typeface="Arial,Sans-Serif"/>
                        <a:buChar char="•"/>
                      </a:pPr>
                      <a:r>
                        <a:rPr lang="en-US" sz="1000" b="1" i="0" u="none" strike="noStrike" kern="1200" noProof="0">
                          <a:solidFill>
                            <a:schemeClr val="tx1"/>
                          </a:solidFill>
                          <a:effectLst/>
                          <a:latin typeface="Raleway"/>
                        </a:rPr>
                        <a:t>Muhammad Falah</a:t>
                      </a:r>
                      <a:r>
                        <a:rPr lang="en-US" sz="1000" b="0" i="0" u="none" strike="noStrike" kern="1200" noProof="0">
                          <a:solidFill>
                            <a:schemeClr val="tx1"/>
                          </a:solidFill>
                          <a:effectLst/>
                          <a:latin typeface="Raleway"/>
                        </a:rPr>
                        <a:t>: Approval Offering 22 May 2026</a:t>
                      </a:r>
                    </a:p>
                    <a:p>
                      <a:pPr marL="171450" lvl="0" indent="-171450" algn="l">
                        <a:lnSpc>
                          <a:spcPct val="100000"/>
                        </a:lnSpc>
                        <a:spcBef>
                          <a:spcPts val="0"/>
                        </a:spcBef>
                        <a:spcAft>
                          <a:spcPts val="0"/>
                        </a:spcAft>
                        <a:buClr>
                          <a:srgbClr val="000000"/>
                        </a:buClr>
                        <a:buFont typeface="Arial,Sans-Serif"/>
                        <a:buChar char="•"/>
                      </a:pPr>
                      <a:r>
                        <a:rPr lang="en-US" sz="1000" b="1" i="0" u="none" strike="noStrike" kern="1200" noProof="0">
                          <a:solidFill>
                            <a:schemeClr val="tx1"/>
                          </a:solidFill>
                          <a:effectLst/>
                          <a:latin typeface="Raleway"/>
                        </a:rPr>
                        <a:t>Aqshal Fazli:</a:t>
                      </a:r>
                      <a:r>
                        <a:rPr lang="en-US" sz="1000" b="0" i="0" u="none" strike="noStrike" kern="1200" noProof="0">
                          <a:solidFill>
                            <a:schemeClr val="tx1"/>
                          </a:solidFill>
                          <a:effectLst/>
                          <a:latin typeface="Raleway"/>
                        </a:rPr>
                        <a:t> Approval Offering 22 May 2o26</a:t>
                      </a:r>
                    </a:p>
                    <a:p>
                      <a:pPr marL="171450" lvl="0" indent="-171450" algn="l">
                        <a:lnSpc>
                          <a:spcPct val="100000"/>
                        </a:lnSpc>
                        <a:spcBef>
                          <a:spcPts val="0"/>
                        </a:spcBef>
                        <a:spcAft>
                          <a:spcPts val="0"/>
                        </a:spcAft>
                        <a:buClr>
                          <a:srgbClr val="000000"/>
                        </a:buClr>
                        <a:buFont typeface="Arial,Sans-Serif"/>
                        <a:buChar char="•"/>
                      </a:pPr>
                      <a:r>
                        <a:rPr lang="en-US" sz="1000" b="1" i="0" u="none" strike="noStrike" kern="1200" noProof="0">
                          <a:solidFill>
                            <a:schemeClr val="tx1"/>
                          </a:solidFill>
                          <a:effectLst/>
                          <a:latin typeface="Raleway"/>
                        </a:rPr>
                        <a:t>Adelia Wahyu </a:t>
                      </a:r>
                      <a:r>
                        <a:rPr lang="en-US" sz="1000" b="1" i="0" u="none" strike="noStrike" kern="1200" noProof="0" err="1">
                          <a:solidFill>
                            <a:schemeClr val="tx1"/>
                          </a:solidFill>
                          <a:effectLst/>
                          <a:latin typeface="Raleway"/>
                        </a:rPr>
                        <a:t>Suryandari</a:t>
                      </a:r>
                      <a:r>
                        <a:rPr lang="en-US" sz="1000" b="1" i="0" u="none" strike="noStrike" kern="1200" noProof="0">
                          <a:solidFill>
                            <a:schemeClr val="tx1"/>
                          </a:solidFill>
                          <a:effectLst/>
                          <a:latin typeface="Raleway"/>
                        </a:rPr>
                        <a:t> </a:t>
                      </a:r>
                      <a:r>
                        <a:rPr lang="en-US" sz="1000" b="0" i="0" u="none" strike="noStrike" kern="1200" noProof="0">
                          <a:solidFill>
                            <a:schemeClr val="tx1"/>
                          </a:solidFill>
                          <a:effectLst/>
                          <a:latin typeface="Raleway"/>
                        </a:rPr>
                        <a:t>Join date 10 Agustus 2026</a:t>
                      </a:r>
                    </a:p>
                    <a:p>
                      <a:pPr marL="171450" lvl="0" indent="-171450" algn="l">
                        <a:lnSpc>
                          <a:spcPct val="100000"/>
                        </a:lnSpc>
                        <a:spcBef>
                          <a:spcPts val="0"/>
                        </a:spcBef>
                        <a:spcAft>
                          <a:spcPts val="0"/>
                        </a:spcAft>
                        <a:buClr>
                          <a:srgbClr val="000000"/>
                        </a:buClr>
                        <a:buFont typeface="Arial,Sans-Serif"/>
                        <a:buChar char="•"/>
                      </a:pPr>
                      <a:r>
                        <a:rPr lang="en-US" sz="1000" b="0" i="0" u="none" strike="noStrike" kern="1200" noProof="0">
                          <a:solidFill>
                            <a:schemeClr val="tx1"/>
                          </a:solidFill>
                          <a:effectLst/>
                          <a:latin typeface="Raleway"/>
                        </a:rPr>
                        <a:t>Week 27: User Interview 2 </a:t>
                      </a:r>
                      <a:r>
                        <a:rPr lang="en-US" sz="1000" b="0" i="0" u="none" strike="noStrike" kern="1200" noProof="0" err="1">
                          <a:solidFill>
                            <a:schemeClr val="tx1"/>
                          </a:solidFill>
                          <a:effectLst/>
                          <a:latin typeface="Raleway"/>
                        </a:rPr>
                        <a:t>kandidat</a:t>
                      </a:r>
                      <a:endParaRPr lang="en-US" sz="1000" b="1" i="0" u="none" strike="noStrike" kern="1200" noProof="0" err="1">
                        <a:solidFill>
                          <a:schemeClr val="tx1"/>
                        </a:solidFill>
                        <a:effectLst/>
                        <a:latin typeface="Raleway"/>
                      </a:endParaRPr>
                    </a:p>
                    <a:p>
                      <a:pPr marL="0" lvl="0" indent="0" algn="l">
                        <a:lnSpc>
                          <a:spcPct val="100000"/>
                        </a:lnSpc>
                        <a:buNone/>
                      </a:pPr>
                      <a:endParaRPr lang="en-US" sz="1000" b="0" i="0" u="none" strike="noStrike" baseline="0" noProof="0">
                        <a:solidFill>
                          <a:schemeClr val="tx1"/>
                        </a:solidFill>
                        <a:latin typeface="Raleway"/>
                      </a:endParaRPr>
                    </a:p>
                    <a:p>
                      <a:pPr marL="0" lvl="0" indent="0" algn="l">
                        <a:lnSpc>
                          <a:spcPct val="100000"/>
                        </a:lnSpc>
                        <a:spcBef>
                          <a:spcPts val="0"/>
                        </a:spcBef>
                        <a:spcAft>
                          <a:spcPts val="0"/>
                        </a:spcAft>
                        <a:buNone/>
                      </a:pPr>
                      <a:r>
                        <a:rPr lang="en-US" sz="1000" b="1" i="0" u="none" strike="noStrike" kern="1200" noProof="0">
                          <a:solidFill>
                            <a:schemeClr val="tx1"/>
                          </a:solidFill>
                          <a:effectLst/>
                          <a:latin typeface="Raleway"/>
                        </a:rPr>
                        <a:t>Next Action: </a:t>
                      </a:r>
                      <a:endParaRPr lang="en-US" sz="1000" b="0" i="0" u="none" strike="noStrike" kern="1200" noProof="0">
                        <a:solidFill>
                          <a:schemeClr val="tx1"/>
                        </a:solidFill>
                        <a:effectLst/>
                        <a:latin typeface="Raleway"/>
                      </a:endParaRPr>
                    </a:p>
                    <a:p>
                      <a:pPr marL="0" lvl="0" indent="0" algn="l">
                        <a:lnSpc>
                          <a:spcPct val="100000"/>
                        </a:lnSpc>
                        <a:spcBef>
                          <a:spcPts val="0"/>
                        </a:spcBef>
                        <a:spcAft>
                          <a:spcPts val="0"/>
                        </a:spcAft>
                        <a:buNone/>
                      </a:pPr>
                      <a:r>
                        <a:rPr lang="en-US" sz="1000" b="0" i="0" u="none" strike="noStrike" kern="1200" noProof="0">
                          <a:solidFill>
                            <a:schemeClr val="tx1"/>
                          </a:solidFill>
                          <a:effectLst/>
                          <a:latin typeface="Raleway"/>
                        </a:rPr>
                        <a:t> HR Interview </a:t>
                      </a:r>
                      <a:r>
                        <a:rPr lang="en-US" sz="1000" b="0" i="0" u="none" strike="noStrike" kern="1200" noProof="0" err="1">
                          <a:solidFill>
                            <a:schemeClr val="tx1"/>
                          </a:solidFill>
                          <a:effectLst/>
                          <a:latin typeface="Raleway"/>
                        </a:rPr>
                        <a:t>kandidat</a:t>
                      </a:r>
                      <a:r>
                        <a:rPr lang="en-US" sz="1000" b="0" i="0" u="none" strike="noStrike" kern="1200" noProof="0">
                          <a:solidFill>
                            <a:schemeClr val="tx1"/>
                          </a:solidFill>
                          <a:effectLst/>
                          <a:latin typeface="Raleway"/>
                        </a:rPr>
                        <a:t> lolos </a:t>
                      </a:r>
                      <a:r>
                        <a:rPr lang="en-US" sz="1000" b="0" i="0" u="none" strike="noStrike" kern="1200" noProof="0" err="1">
                          <a:solidFill>
                            <a:schemeClr val="tx1"/>
                          </a:solidFill>
                          <a:effectLst/>
                          <a:latin typeface="Raleway"/>
                        </a:rPr>
                        <a:t>Psikotes</a:t>
                      </a:r>
                      <a:r>
                        <a:rPr lang="en-US" sz="1000" b="0" i="0" u="none" strike="noStrike" kern="1200" noProof="0">
                          <a:solidFill>
                            <a:schemeClr val="tx1"/>
                          </a:solidFill>
                          <a:effectLst/>
                          <a:latin typeface="Raleway"/>
                        </a:rPr>
                        <a:t> di Week 28</a:t>
                      </a:r>
                      <a:endParaRPr lang="en-US" sz="1000">
                        <a:solidFill>
                          <a:schemeClr val="tx1"/>
                        </a:solidFill>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341634121"/>
                  </a:ext>
                </a:extLst>
              </a:tr>
              <a:tr h="1938129">
                <a:tc>
                  <a:txBody>
                    <a:bodyPr/>
                    <a:lstStyle/>
                    <a:p>
                      <a:pPr lvl="0" algn="ctr">
                        <a:buNone/>
                      </a:pPr>
                      <a:endParaRPr lang="en-US" sz="1000" b="0" i="0" u="none" strike="noStrike">
                        <a:solidFill>
                          <a:schemeClr val="tx1"/>
                        </a:solidFill>
                        <a:effectLst/>
                        <a:latin typeface="Raleway"/>
                      </a:endParaRPr>
                    </a:p>
                  </a:txBody>
                  <a:tcPr marL="2476" marR="2476" marT="2476" marB="17830" anchor="ctr">
                    <a:lnL w="6350">
                      <a:solidFill>
                        <a:schemeClr val="tx1"/>
                      </a:solidFill>
                    </a:lnL>
                    <a:lnR w="6350">
                      <a:solidFill>
                        <a:schemeClr val="tx1"/>
                      </a:solidFill>
                    </a:lnR>
                    <a:lnT w="6350">
                      <a:solidFill>
                        <a:schemeClr val="tx1"/>
                      </a:solidFill>
                    </a:lnT>
                    <a:lnB w="6350">
                      <a:solidFill>
                        <a:schemeClr val="tx1"/>
                      </a:solidFill>
                    </a:lnB>
                  </a:tcPr>
                </a:tc>
                <a:tc>
                  <a:txBody>
                    <a:bodyPr/>
                    <a:lstStyle/>
                    <a:p>
                      <a:pPr lvl="0" algn="ctr">
                        <a:lnSpc>
                          <a:spcPct val="100000"/>
                        </a:lnSpc>
                        <a:spcBef>
                          <a:spcPts val="0"/>
                        </a:spcBef>
                        <a:spcAft>
                          <a:spcPts val="0"/>
                        </a:spcAft>
                        <a:buNone/>
                      </a:pPr>
                      <a:r>
                        <a:rPr lang="en-US" sz="800" b="0" i="0" u="none" strike="noStrike" kern="1200" noProof="0">
                          <a:solidFill>
                            <a:srgbClr val="000000"/>
                          </a:solidFill>
                          <a:effectLst/>
                          <a:latin typeface="Raleway"/>
                        </a:rPr>
                        <a:t>19=May-26</a:t>
                      </a:r>
                    </a:p>
                    <a:p>
                      <a:pPr marL="0" lvl="0" algn="ctr">
                        <a:buNone/>
                      </a:pPr>
                      <a:endParaRPr lang="en-US" sz="1000" b="0" i="0" kern="1200">
                        <a:solidFill>
                          <a:schemeClr val="tx1"/>
                        </a:solidFill>
                        <a:effectLst/>
                        <a:latin typeface="Raleway"/>
                      </a:endParaRPr>
                    </a:p>
                  </a:txBody>
                  <a:tcPr marL="0" marR="0" marT="0" marB="0" anchor="ctr">
                    <a:lnL w="6350">
                      <a:solidFill>
                        <a:schemeClr val="tx1"/>
                      </a:solidFill>
                    </a:lnL>
                    <a:lnR w="6350">
                      <a:solidFill>
                        <a:schemeClr val="tx1"/>
                      </a:solidFill>
                    </a:lnR>
                    <a:lnT w="6350">
                      <a:solidFill>
                        <a:schemeClr val="tx1"/>
                      </a:solidFill>
                    </a:lnT>
                    <a:lnB w="6350">
                      <a:solidFill>
                        <a:schemeClr val="tx1"/>
                      </a:solidFill>
                    </a:lnB>
                    <a:noFill/>
                  </a:tcPr>
                </a:tc>
                <a:tc>
                  <a:txBody>
                    <a:bodyPr/>
                    <a:lstStyle/>
                    <a:p>
                      <a:pPr marL="0" lvl="0" algn="l">
                        <a:buNone/>
                      </a:pPr>
                      <a:r>
                        <a:rPr lang="en-US" sz="800" b="0" i="0" u="none" strike="noStrike" kern="1200" noProof="0">
                          <a:solidFill>
                            <a:srgbClr val="000000"/>
                          </a:solidFill>
                          <a:effectLst/>
                          <a:latin typeface="Raleway"/>
                        </a:rPr>
                        <a:t>FGDP – School Program Executive</a:t>
                      </a:r>
                      <a:endParaRPr lang="en-US"/>
                    </a:p>
                  </a:txBody>
                  <a:tcPr marL="0" marR="0" marT="0" marB="0" anchor="ctr">
                    <a:lnL w="6350">
                      <a:solidFill>
                        <a:schemeClr val="tx1"/>
                      </a:solidFill>
                    </a:lnL>
                    <a:lnR w="6350">
                      <a:solidFill>
                        <a:schemeClr val="tx1"/>
                      </a:solidFill>
                    </a:lnR>
                    <a:lnT w="6350">
                      <a:solidFill>
                        <a:schemeClr val="tx1"/>
                      </a:solidFill>
                    </a:lnT>
                    <a:lnB w="6350">
                      <a:solidFill>
                        <a:schemeClr val="tx1"/>
                      </a:solidFill>
                    </a:lnB>
                    <a:noFill/>
                  </a:tcPr>
                </a:tc>
                <a:tc>
                  <a:txBody>
                    <a:bodyPr/>
                    <a:lstStyle/>
                    <a:p>
                      <a:pPr marL="0" lvl="0" algn="ctr">
                        <a:buNone/>
                      </a:pPr>
                      <a:r>
                        <a:rPr lang="en-US" sz="1000" b="0" i="0" kern="1200">
                          <a:solidFill>
                            <a:schemeClr val="tx1"/>
                          </a:solidFill>
                          <a:effectLst/>
                          <a:latin typeface="Raleway"/>
                        </a:rPr>
                        <a:t>2B</a:t>
                      </a:r>
                    </a:p>
                  </a:txBody>
                  <a:tcPr marL="0" marR="0" marT="0" marB="0" anchor="ctr">
                    <a:lnL w="6350">
                      <a:solidFill>
                        <a:schemeClr val="tx1"/>
                      </a:solidFill>
                    </a:lnL>
                    <a:lnR w="6350">
                      <a:solidFill>
                        <a:schemeClr val="tx1"/>
                      </a:solidFill>
                    </a:lnR>
                    <a:lnT w="6350">
                      <a:solidFill>
                        <a:schemeClr val="tx1"/>
                      </a:solidFill>
                    </a:lnT>
                    <a:lnB w="6350">
                      <a:solidFill>
                        <a:schemeClr val="tx1"/>
                      </a:solidFill>
                    </a:lnB>
                    <a:noFill/>
                  </a:tcPr>
                </a:tc>
                <a:tc>
                  <a:txBody>
                    <a:bodyPr/>
                    <a:lstStyle/>
                    <a:p>
                      <a:pPr marL="0" lvl="0" algn="ctr">
                        <a:buNone/>
                      </a:pPr>
                      <a:r>
                        <a:rPr lang="en-US" sz="1000" b="0" i="0" kern="1200">
                          <a:solidFill>
                            <a:schemeClr val="tx1"/>
                          </a:solidFill>
                          <a:effectLst/>
                          <a:latin typeface="Raleway"/>
                        </a:rPr>
                        <a:t>HO Meruya</a:t>
                      </a:r>
                    </a:p>
                  </a:txBody>
                  <a:tcPr marL="0" marR="0" marT="0" marB="0" anchor="ctr">
                    <a:lnL w="6350">
                      <a:solidFill>
                        <a:schemeClr val="tx1"/>
                      </a:solidFill>
                    </a:lnL>
                    <a:lnR w="6350">
                      <a:solidFill>
                        <a:schemeClr val="tx1"/>
                      </a:solidFill>
                    </a:lnR>
                    <a:lnT w="6350">
                      <a:solidFill>
                        <a:schemeClr val="tx1"/>
                      </a:solidFill>
                    </a:lnT>
                    <a:lnB w="6350">
                      <a:solidFill>
                        <a:schemeClr val="tx1"/>
                      </a:solidFill>
                    </a:lnB>
                    <a:noFill/>
                  </a:tcPr>
                </a:tc>
                <a:tc>
                  <a:txBody>
                    <a:bodyPr/>
                    <a:lstStyle/>
                    <a:p>
                      <a:pPr marL="0" lvl="0" indent="0" algn="ctr">
                        <a:lnSpc>
                          <a:spcPct val="100000"/>
                        </a:lnSpc>
                        <a:spcBef>
                          <a:spcPts val="0"/>
                        </a:spcBef>
                        <a:spcAft>
                          <a:spcPts val="0"/>
                        </a:spcAft>
                        <a:buNone/>
                      </a:pPr>
                      <a:r>
                        <a:rPr lang="en-US" sz="800" b="0" i="0" u="none" strike="noStrike" kern="1200" cap="none" spc="0" normalizeH="0" baseline="0" noProof="0">
                          <a:ln>
                            <a:noFill/>
                          </a:ln>
                          <a:solidFill>
                            <a:srgbClr val="000000"/>
                          </a:solidFill>
                          <a:effectLst/>
                          <a:uLnTx/>
                          <a:uFillTx/>
                          <a:latin typeface="Raleway"/>
                          <a:ea typeface="+mn-ea"/>
                          <a:cs typeface="+mn-cs"/>
                        </a:rPr>
                        <a:t>PT Cisarua Mountain Dairy, Tbk</a:t>
                      </a:r>
                      <a:endParaRPr kumimoji="0" lang="en-US"/>
                    </a:p>
                  </a:txBody>
                  <a:tcPr marL="0" marR="0" marT="0" marB="0" anchor="ctr">
                    <a:lnL w="6350">
                      <a:solidFill>
                        <a:schemeClr val="tx1"/>
                      </a:solidFill>
                    </a:lnL>
                    <a:lnR w="6350">
                      <a:solidFill>
                        <a:schemeClr val="tx1"/>
                      </a:solidFill>
                    </a:lnR>
                    <a:lnT w="6350">
                      <a:solidFill>
                        <a:schemeClr val="tx1"/>
                      </a:solidFill>
                    </a:lnT>
                    <a:lnB w="6350">
                      <a:solidFill>
                        <a:schemeClr val="tx1"/>
                      </a:solidFill>
                    </a:lnB>
                    <a:noFill/>
                  </a:tcPr>
                </a:tc>
                <a:tc>
                  <a:txBody>
                    <a:bodyPr/>
                    <a:lstStyle/>
                    <a:p>
                      <a:pPr marL="0" lvl="0" algn="ctr">
                        <a:buNone/>
                      </a:pPr>
                      <a:r>
                        <a:rPr lang="en-US" sz="1000" b="0" i="0" kern="1200">
                          <a:solidFill>
                            <a:schemeClr val="tx1"/>
                          </a:solidFill>
                          <a:effectLst/>
                          <a:latin typeface="Raleway"/>
                        </a:rPr>
                        <a:t>NEW</a:t>
                      </a:r>
                    </a:p>
                  </a:txBody>
                  <a:tcPr marL="0" marR="0" marT="0" marB="0" anchor="ctr">
                    <a:lnL w="6350">
                      <a:solidFill>
                        <a:schemeClr val="tx1"/>
                      </a:solidFill>
                    </a:lnL>
                    <a:lnR w="6350">
                      <a:solidFill>
                        <a:schemeClr val="tx1"/>
                      </a:solidFill>
                    </a:lnR>
                    <a:lnT w="6350">
                      <a:solidFill>
                        <a:schemeClr val="tx1"/>
                      </a:solidFill>
                    </a:lnT>
                    <a:lnB w="6350">
                      <a:solidFill>
                        <a:schemeClr val="tx1"/>
                      </a:solidFill>
                    </a:lnB>
                    <a:noFill/>
                  </a:tcPr>
                </a:tc>
                <a:tc>
                  <a:txBody>
                    <a:bodyPr/>
                    <a:lstStyle/>
                    <a:p>
                      <a:pPr marL="0" lvl="0" algn="ctr">
                        <a:buNone/>
                      </a:pPr>
                      <a:r>
                        <a:rPr lang="en-US" sz="1000" b="0" i="0" kern="1200">
                          <a:solidFill>
                            <a:schemeClr val="tx1"/>
                          </a:solidFill>
                          <a:effectLst/>
                          <a:latin typeface="Raleway"/>
                        </a:rPr>
                        <a:t>18-Jun-2026</a:t>
                      </a:r>
                    </a:p>
                  </a:txBody>
                  <a:tcPr marL="0" marR="0" marT="0" marB="0" anchor="ctr">
                    <a:lnL w="6350">
                      <a:solidFill>
                        <a:schemeClr val="tx1"/>
                      </a:solidFill>
                    </a:lnL>
                    <a:lnR w="6350">
                      <a:solidFill>
                        <a:schemeClr val="tx1"/>
                      </a:solidFill>
                    </a:lnR>
                    <a:lnT w="6350">
                      <a:solidFill>
                        <a:schemeClr val="tx1"/>
                      </a:solidFill>
                    </a:lnT>
                    <a:lnB w="6350">
                      <a:solidFill>
                        <a:schemeClr val="tx1"/>
                      </a:solidFill>
                    </a:lnB>
                    <a:noFill/>
                  </a:tcPr>
                </a:tc>
                <a:tc>
                  <a:txBody>
                    <a:bodyPr/>
                    <a:lstStyle/>
                    <a:p>
                      <a:pPr marL="0" lvl="0" algn="ctr">
                        <a:buNone/>
                      </a:pPr>
                      <a:r>
                        <a:rPr lang="en-US" sz="1000" b="0" i="0" kern="1200">
                          <a:solidFill>
                            <a:schemeClr val="tx1"/>
                          </a:solidFill>
                          <a:effectLst/>
                          <a:latin typeface="Raleway"/>
                        </a:rPr>
                        <a:t>Marta</a:t>
                      </a:r>
                    </a:p>
                  </a:txBody>
                  <a:tcPr marL="0" marR="0" marT="0" marB="0" anchor="ctr">
                    <a:lnL w="6350">
                      <a:solidFill>
                        <a:schemeClr val="tx1"/>
                      </a:solidFill>
                    </a:lnL>
                    <a:lnR w="6350">
                      <a:solidFill>
                        <a:schemeClr val="tx1"/>
                      </a:solidFill>
                    </a:lnR>
                    <a:lnT w="6350">
                      <a:solidFill>
                        <a:schemeClr val="tx1"/>
                      </a:solidFill>
                    </a:lnT>
                    <a:lnB w="6350">
                      <a:solidFill>
                        <a:schemeClr val="tx1"/>
                      </a:solidFill>
                    </a:lnB>
                    <a:noFill/>
                  </a:tcPr>
                </a:tc>
                <a:tc>
                  <a:txBody>
                    <a:bodyPr/>
                    <a:lstStyle/>
                    <a:p>
                      <a:pPr marL="0" lvl="0" algn="ctr">
                        <a:buNone/>
                      </a:pPr>
                      <a:r>
                        <a:rPr lang="en-US" sz="1000" b="0" i="0" kern="1200">
                          <a:solidFill>
                            <a:schemeClr val="tx1"/>
                          </a:solidFill>
                          <a:effectLst/>
                          <a:latin typeface="Raleway"/>
                        </a:rPr>
                        <a:t>1</a:t>
                      </a:r>
                    </a:p>
                  </a:txBody>
                  <a:tcPr marL="0" marR="0" marT="0" marB="0" anchor="ctr">
                    <a:lnL w="6350">
                      <a:solidFill>
                        <a:schemeClr val="tx1"/>
                      </a:solidFill>
                    </a:lnL>
                    <a:lnR w="6350">
                      <a:solidFill>
                        <a:schemeClr val="tx1"/>
                      </a:solidFill>
                    </a:lnR>
                    <a:lnT w="6350">
                      <a:solidFill>
                        <a:schemeClr val="tx1"/>
                      </a:solidFill>
                    </a:lnT>
                    <a:lnB w="6350">
                      <a:solidFill>
                        <a:schemeClr val="tx1"/>
                      </a:solidFill>
                    </a:lnB>
                    <a:noFill/>
                  </a:tcPr>
                </a:tc>
                <a:tc>
                  <a:txBody>
                    <a:bodyPr/>
                    <a:lstStyle/>
                    <a:p>
                      <a:pPr marL="0" lvl="0" algn="ctr">
                        <a:buNone/>
                      </a:pPr>
                      <a:r>
                        <a:rPr lang="en-US" sz="1000" b="0" i="0" kern="1200">
                          <a:solidFill>
                            <a:schemeClr val="tx1"/>
                          </a:solidFill>
                          <a:effectLst/>
                          <a:latin typeface="Raleway"/>
                        </a:rPr>
                        <a:t>OP</a:t>
                      </a:r>
                    </a:p>
                  </a:txBody>
                  <a:tcPr marL="0" marR="0" marT="0" marB="0" anchor="ctr">
                    <a:lnL w="6350">
                      <a:solidFill>
                        <a:schemeClr val="tx1"/>
                      </a:solidFill>
                    </a:lnL>
                    <a:lnR w="6350">
                      <a:solidFill>
                        <a:schemeClr val="tx1"/>
                      </a:solidFill>
                    </a:lnR>
                    <a:lnT w="6350">
                      <a:solidFill>
                        <a:schemeClr val="tx1"/>
                      </a:solidFill>
                    </a:lnT>
                    <a:lnB w="6350">
                      <a:solidFill>
                        <a:schemeClr val="tx1"/>
                      </a:solidFill>
                    </a:lnB>
                    <a:noFill/>
                  </a:tcPr>
                </a:tc>
                <a:tc>
                  <a:txBody>
                    <a:bodyPr/>
                    <a:lstStyle/>
                    <a:p>
                      <a:pPr marL="171450" lvl="0" indent="-171450" algn="l">
                        <a:lnSpc>
                          <a:spcPct val="100000"/>
                        </a:lnSpc>
                        <a:spcBef>
                          <a:spcPts val="0"/>
                        </a:spcBef>
                        <a:spcAft>
                          <a:spcPts val="0"/>
                        </a:spcAft>
                        <a:buClr>
                          <a:srgbClr val="000000"/>
                        </a:buClr>
                        <a:buFont typeface="Arial,Sans-Serif"/>
                        <a:buChar char="•"/>
                      </a:pPr>
                      <a:r>
                        <a:rPr lang="en-US" sz="800" b="0" i="0" u="none" strike="noStrike" kern="1200" noProof="0">
                          <a:solidFill>
                            <a:srgbClr val="000000"/>
                          </a:solidFill>
                          <a:effectLst/>
                          <a:highlight>
                            <a:srgbClr val="FFFFFF"/>
                          </a:highlight>
                          <a:latin typeface="Raleway"/>
                        </a:rPr>
                        <a:t>Send 20 CVs shortlisted HR di Week 27</a:t>
                      </a:r>
                      <a:endParaRPr lang="en-US" sz="800" b="0" i="0" u="none" strike="noStrike" kern="1200" noProof="0">
                        <a:solidFill>
                          <a:srgbClr val="000000"/>
                        </a:solidFill>
                        <a:effectLst/>
                        <a:latin typeface="Raleway"/>
                      </a:endParaRPr>
                    </a:p>
                    <a:p>
                      <a:pPr marL="0" lvl="0" indent="0" algn="l">
                        <a:lnSpc>
                          <a:spcPct val="100000"/>
                        </a:lnSpc>
                        <a:spcBef>
                          <a:spcPts val="0"/>
                        </a:spcBef>
                        <a:spcAft>
                          <a:spcPts val="0"/>
                        </a:spcAft>
                        <a:buNone/>
                      </a:pPr>
                      <a:r>
                        <a:rPr lang="en-US" sz="800" b="1" i="0" u="none" strike="noStrike" kern="1200" noProof="0">
                          <a:solidFill>
                            <a:srgbClr val="000000"/>
                          </a:solidFill>
                          <a:effectLst/>
                          <a:highlight>
                            <a:srgbClr val="FFFFFF"/>
                          </a:highlight>
                          <a:latin typeface="Raleway"/>
                        </a:rPr>
                        <a:t>Next Action:</a:t>
                      </a:r>
                      <a:endParaRPr lang="en-US" sz="800" b="0" i="0" u="none" strike="noStrike" kern="1200" noProof="0">
                        <a:solidFill>
                          <a:srgbClr val="000000"/>
                        </a:solidFill>
                        <a:effectLst/>
                        <a:latin typeface="Raleway"/>
                      </a:endParaRPr>
                    </a:p>
                    <a:p>
                      <a:pPr marL="171450" lvl="0" indent="-171450" algn="l">
                        <a:lnSpc>
                          <a:spcPct val="100000"/>
                        </a:lnSpc>
                        <a:spcBef>
                          <a:spcPts val="0"/>
                        </a:spcBef>
                        <a:spcAft>
                          <a:spcPts val="0"/>
                        </a:spcAft>
                        <a:buClr>
                          <a:srgbClr val="000000"/>
                        </a:buClr>
                        <a:buFont typeface="Arial,Sans-Serif"/>
                        <a:buChar char="•"/>
                      </a:pPr>
                      <a:r>
                        <a:rPr lang="en-US" sz="800" b="0" i="0" u="none" strike="noStrike" kern="1200" noProof="0">
                          <a:solidFill>
                            <a:srgbClr val="000000"/>
                          </a:solidFill>
                          <a:effectLst/>
                          <a:highlight>
                            <a:srgbClr val="FFFFFF"/>
                          </a:highlight>
                          <a:latin typeface="Raleway"/>
                        </a:rPr>
                        <a:t>Follow up hasil screening User di Week 28</a:t>
                      </a:r>
                      <a:endParaRPr lang="en-US"/>
                    </a:p>
                    <a:p>
                      <a:pPr marL="0" lvl="0" indent="0" algn="l">
                        <a:lnSpc>
                          <a:spcPct val="100000"/>
                        </a:lnSpc>
                        <a:spcBef>
                          <a:spcPts val="0"/>
                        </a:spcBef>
                        <a:spcAft>
                          <a:spcPts val="0"/>
                        </a:spcAft>
                        <a:buNone/>
                      </a:pPr>
                      <a:endParaRPr lang="en-US" sz="1000" b="0" i="0" u="none" strike="noStrike" kern="1200" noProof="0">
                        <a:solidFill>
                          <a:schemeClr val="tx1"/>
                        </a:solidFill>
                        <a:effectLst/>
                        <a:latin typeface="Raleway"/>
                      </a:endParaRPr>
                    </a:p>
                  </a:txBody>
                  <a:tcPr marL="0" marR="0" marT="0" marB="0" anchor="ctr">
                    <a:lnL w="6350">
                      <a:solidFill>
                        <a:schemeClr val="tx1"/>
                      </a:solidFill>
                    </a:lnL>
                    <a:lnR w="6350">
                      <a:solidFill>
                        <a:schemeClr val="tx1"/>
                      </a:solidFill>
                    </a:lnR>
                    <a:lnT w="6350">
                      <a:solidFill>
                        <a:schemeClr val="tx1"/>
                      </a:solidFill>
                    </a:lnT>
                    <a:lnB w="6350">
                      <a:solidFill>
                        <a:schemeClr val="tx1"/>
                      </a:solidFill>
                    </a:lnB>
                    <a:noFill/>
                  </a:tcPr>
                </a:tc>
                <a:extLst>
                  <a:ext uri="{0D108BD9-81ED-4DB2-BD59-A6C34878D82A}">
                    <a16:rowId xmlns:a16="http://schemas.microsoft.com/office/drawing/2014/main" val="3911594840"/>
                  </a:ext>
                </a:extLst>
              </a:tr>
            </a:tbl>
          </a:graphicData>
        </a:graphic>
      </p:graphicFrame>
      <p:sp>
        <p:nvSpPr>
          <p:cNvPr id="6" name="TextBox 7">
            <a:extLst>
              <a:ext uri="{FF2B5EF4-FFF2-40B4-BE49-F238E27FC236}">
                <a16:creationId xmlns:a16="http://schemas.microsoft.com/office/drawing/2014/main" id="{13A689C8-2B97-BEC2-0B93-880D58CDDCEE}"/>
              </a:ext>
            </a:extLst>
          </p:cNvPr>
          <p:cNvSpPr txBox="1"/>
          <p:nvPr/>
        </p:nvSpPr>
        <p:spPr>
          <a:xfrm>
            <a:off x="311595" y="6535450"/>
            <a:ext cx="10972800" cy="321819"/>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50000"/>
              </a:lnSpc>
            </a:pPr>
            <a:r>
              <a:rPr lang="en-US" sz="1100">
                <a:latin typeface="Raleway"/>
              </a:rPr>
              <a:t>* </a:t>
            </a:r>
            <a:r>
              <a:rPr lang="en-US" sz="1100" i="1">
                <a:latin typeface="Raleway"/>
              </a:rPr>
              <a:t>Update per </a:t>
            </a:r>
            <a:r>
              <a:rPr lang="en-US" sz="1100" i="1" err="1">
                <a:latin typeface="Raleway"/>
              </a:rPr>
              <a:t>tanggal</a:t>
            </a:r>
            <a:r>
              <a:rPr lang="en-US" sz="1100" i="1">
                <a:latin typeface="Raleway"/>
              </a:rPr>
              <a:t> 03 Juli 2026.</a:t>
            </a:r>
            <a:endParaRPr lang="en-US"/>
          </a:p>
        </p:txBody>
      </p:sp>
      <p:sp>
        <p:nvSpPr>
          <p:cNvPr id="3" name="Text 0">
            <a:extLst>
              <a:ext uri="{FF2B5EF4-FFF2-40B4-BE49-F238E27FC236}">
                <a16:creationId xmlns:a16="http://schemas.microsoft.com/office/drawing/2014/main" id="{3E78C289-3F8E-BF3E-E2B5-FBDF52FC712F}"/>
              </a:ext>
            </a:extLst>
          </p:cNvPr>
          <p:cNvSpPr/>
          <p:nvPr/>
        </p:nvSpPr>
        <p:spPr>
          <a:xfrm>
            <a:off x="159809" y="682297"/>
            <a:ext cx="11277295" cy="548640"/>
          </a:xfrm>
          <a:prstGeom prst="rect">
            <a:avLst/>
          </a:prstGeom>
          <a:noFill/>
          <a:ln/>
        </p:spPr>
        <p:txBody>
          <a:bodyPr wrap="square" lIns="91440" tIns="45720" rIns="91440" bIns="45720" rtlCol="0" anchor="ctr"/>
          <a:lstStyle/>
          <a:p>
            <a:r>
              <a:rPr lang="en-US" sz="2800" b="1">
                <a:solidFill>
                  <a:srgbClr val="12284C"/>
                </a:solidFill>
              </a:rPr>
              <a:t>CLAP &amp; FGDP - Update</a:t>
            </a:r>
          </a:p>
        </p:txBody>
      </p:sp>
    </p:spTree>
    <p:extLst>
      <p:ext uri="{BB962C8B-B14F-4D97-AF65-F5344CB8AC3E}">
        <p14:creationId xmlns:p14="http://schemas.microsoft.com/office/powerpoint/2010/main" val="1155770666"/>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3EAC856F-A0E5-5AC6-E7FC-D20A18B72CEC}"/>
            </a:ext>
          </a:extLst>
        </p:cNvPr>
        <p:cNvGrpSpPr/>
        <p:nvPr/>
      </p:nvGrpSpPr>
      <p:grpSpPr>
        <a:xfrm>
          <a:off x="0" y="0"/>
          <a:ext cx="0" cy="0"/>
          <a:chOff x="0" y="0"/>
          <a:chExt cx="0" cy="0"/>
        </a:xfrm>
      </p:grpSpPr>
      <p:graphicFrame>
        <p:nvGraphicFramePr>
          <p:cNvPr id="5" name="Table 4">
            <a:extLst>
              <a:ext uri="{FF2B5EF4-FFF2-40B4-BE49-F238E27FC236}">
                <a16:creationId xmlns:a16="http://schemas.microsoft.com/office/drawing/2014/main" id="{588E4E1A-2484-9788-8AFF-76C9EBA7A2FD}"/>
              </a:ext>
            </a:extLst>
          </p:cNvPr>
          <p:cNvGraphicFramePr>
            <a:graphicFrameLocks noGrp="1"/>
          </p:cNvGraphicFramePr>
          <p:nvPr/>
        </p:nvGraphicFramePr>
        <p:xfrm>
          <a:off x="92959" y="1189577"/>
          <a:ext cx="12001474" cy="3543297"/>
        </p:xfrm>
        <a:graphic>
          <a:graphicData uri="http://schemas.openxmlformats.org/drawingml/2006/table">
            <a:tbl>
              <a:tblPr bandRow="1">
                <a:tableStyleId>{5C22544A-7EE6-4342-B048-85BDC9FD1C3A}</a:tableStyleId>
              </a:tblPr>
              <a:tblGrid>
                <a:gridCol w="304799">
                  <a:extLst>
                    <a:ext uri="{9D8B030D-6E8A-4147-A177-3AD203B41FA5}">
                      <a16:colId xmlns:a16="http://schemas.microsoft.com/office/drawing/2014/main" val="872811732"/>
                    </a:ext>
                  </a:extLst>
                </a:gridCol>
                <a:gridCol w="685799">
                  <a:extLst>
                    <a:ext uri="{9D8B030D-6E8A-4147-A177-3AD203B41FA5}">
                      <a16:colId xmlns:a16="http://schemas.microsoft.com/office/drawing/2014/main" val="1215561217"/>
                    </a:ext>
                  </a:extLst>
                </a:gridCol>
                <a:gridCol w="939799">
                  <a:extLst>
                    <a:ext uri="{9D8B030D-6E8A-4147-A177-3AD203B41FA5}">
                      <a16:colId xmlns:a16="http://schemas.microsoft.com/office/drawing/2014/main" val="2656348928"/>
                    </a:ext>
                  </a:extLst>
                </a:gridCol>
                <a:gridCol w="419099">
                  <a:extLst>
                    <a:ext uri="{9D8B030D-6E8A-4147-A177-3AD203B41FA5}">
                      <a16:colId xmlns:a16="http://schemas.microsoft.com/office/drawing/2014/main" val="1971606143"/>
                    </a:ext>
                  </a:extLst>
                </a:gridCol>
                <a:gridCol w="546099">
                  <a:extLst>
                    <a:ext uri="{9D8B030D-6E8A-4147-A177-3AD203B41FA5}">
                      <a16:colId xmlns:a16="http://schemas.microsoft.com/office/drawing/2014/main" val="3844074733"/>
                    </a:ext>
                  </a:extLst>
                </a:gridCol>
                <a:gridCol w="1138295">
                  <a:extLst>
                    <a:ext uri="{9D8B030D-6E8A-4147-A177-3AD203B41FA5}">
                      <a16:colId xmlns:a16="http://schemas.microsoft.com/office/drawing/2014/main" val="914193336"/>
                    </a:ext>
                  </a:extLst>
                </a:gridCol>
                <a:gridCol w="620887">
                  <a:extLst>
                    <a:ext uri="{9D8B030D-6E8A-4147-A177-3AD203B41FA5}">
                      <a16:colId xmlns:a16="http://schemas.microsoft.com/office/drawing/2014/main" val="2205072964"/>
                    </a:ext>
                  </a:extLst>
                </a:gridCol>
                <a:gridCol w="809037">
                  <a:extLst>
                    <a:ext uri="{9D8B030D-6E8A-4147-A177-3AD203B41FA5}">
                      <a16:colId xmlns:a16="http://schemas.microsoft.com/office/drawing/2014/main" val="860956287"/>
                    </a:ext>
                  </a:extLst>
                </a:gridCol>
                <a:gridCol w="428967">
                  <a:extLst>
                    <a:ext uri="{9D8B030D-6E8A-4147-A177-3AD203B41FA5}">
                      <a16:colId xmlns:a16="http://schemas.microsoft.com/office/drawing/2014/main" val="2116203948"/>
                    </a:ext>
                  </a:extLst>
                </a:gridCol>
                <a:gridCol w="723898">
                  <a:extLst>
                    <a:ext uri="{9D8B030D-6E8A-4147-A177-3AD203B41FA5}">
                      <a16:colId xmlns:a16="http://schemas.microsoft.com/office/drawing/2014/main" val="3470164153"/>
                    </a:ext>
                  </a:extLst>
                </a:gridCol>
                <a:gridCol w="850346">
                  <a:extLst>
                    <a:ext uri="{9D8B030D-6E8A-4147-A177-3AD203B41FA5}">
                      <a16:colId xmlns:a16="http://schemas.microsoft.com/office/drawing/2014/main" val="1675882810"/>
                    </a:ext>
                  </a:extLst>
                </a:gridCol>
                <a:gridCol w="4534449">
                  <a:extLst>
                    <a:ext uri="{9D8B030D-6E8A-4147-A177-3AD203B41FA5}">
                      <a16:colId xmlns:a16="http://schemas.microsoft.com/office/drawing/2014/main" val="4040162751"/>
                    </a:ext>
                  </a:extLst>
                </a:gridCol>
              </a:tblGrid>
              <a:tr h="342900">
                <a:tc>
                  <a:txBody>
                    <a:bodyPr/>
                    <a:lstStyle/>
                    <a:p>
                      <a:pPr algn="ctr" fontAlgn="ctr">
                        <a:buNone/>
                      </a:pPr>
                      <a:r>
                        <a:rPr lang="en-US" sz="1000" b="1">
                          <a:solidFill>
                            <a:srgbClr val="FFFFFF"/>
                          </a:solidFill>
                          <a:effectLst/>
                          <a:latin typeface="Raleway"/>
                        </a:rPr>
                        <a:t>No</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00" b="1">
                          <a:solidFill>
                            <a:srgbClr val="FFFFFF"/>
                          </a:solidFill>
                          <a:effectLst/>
                          <a:latin typeface="Raleway"/>
                        </a:rPr>
                        <a:t>Tanggal FPTK</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00" b="1" err="1">
                          <a:solidFill>
                            <a:srgbClr val="FFFFFF"/>
                          </a:solidFill>
                          <a:effectLst/>
                          <a:latin typeface="Raleway"/>
                        </a:rPr>
                        <a:t>Posisi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00" b="1">
                          <a:solidFill>
                            <a:srgbClr val="FFFFFF"/>
                          </a:solidFill>
                          <a:effectLst/>
                          <a:latin typeface="Raleway"/>
                        </a:rPr>
                        <a:t>Level</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00" b="1">
                          <a:solidFill>
                            <a:srgbClr val="FFFFFF"/>
                          </a:solidFill>
                          <a:effectLst/>
                          <a:latin typeface="Raleway"/>
                        </a:rPr>
                        <a:t>Lokasi</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00" b="1">
                          <a:solidFill>
                            <a:srgbClr val="FFFFFF"/>
                          </a:solidFill>
                          <a:effectLst/>
                          <a:latin typeface="Raleway"/>
                        </a:rPr>
                        <a:t>Business Unit</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00" b="1">
                          <a:solidFill>
                            <a:srgbClr val="FFFFFF"/>
                          </a:solidFill>
                          <a:effectLst/>
                          <a:latin typeface="Raleway"/>
                        </a:rPr>
                        <a:t>Kategori FPTK</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00" b="1">
                          <a:solidFill>
                            <a:srgbClr val="FFFFFF"/>
                          </a:solidFill>
                          <a:effectLst/>
                          <a:latin typeface="Raleway"/>
                        </a:rPr>
                        <a:t>SLA Target </a:t>
                      </a:r>
                      <a:r>
                        <a:rPr lang="en-US" sz="1000" b="1" err="1">
                          <a:solidFill>
                            <a:srgbClr val="FFFFFF"/>
                          </a:solidFill>
                          <a:effectLst/>
                          <a:latin typeface="Raleway"/>
                        </a:rPr>
                        <a:t>Pemenuhan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00" b="1">
                          <a:solidFill>
                            <a:srgbClr val="FFFFFF"/>
                          </a:solidFill>
                          <a:effectLst/>
                          <a:latin typeface="Raleway"/>
                        </a:rPr>
                        <a:t>PIC TA</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00" b="1" err="1">
                          <a:solidFill>
                            <a:srgbClr val="FFFFFF"/>
                          </a:solidFill>
                          <a:effectLst/>
                          <a:latin typeface="Raleway"/>
                        </a:rPr>
                        <a:t>Jumlah</a:t>
                      </a:r>
                      <a:r>
                        <a:rPr lang="en-US" sz="1000" b="1">
                          <a:solidFill>
                            <a:srgbClr val="FFFFFF"/>
                          </a:solidFill>
                          <a:effectLst/>
                          <a:latin typeface="Raleway"/>
                        </a:rPr>
                        <a:t> </a:t>
                      </a:r>
                      <a:r>
                        <a:rPr lang="en-US" sz="1000" b="1" err="1">
                          <a:solidFill>
                            <a:srgbClr val="FFFFFF"/>
                          </a:solidFill>
                          <a:effectLst/>
                          <a:latin typeface="Raleway"/>
                        </a:rPr>
                        <a:t>Permintaan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00" b="1">
                          <a:solidFill>
                            <a:srgbClr val="FFFFFF"/>
                          </a:solidFill>
                          <a:effectLst/>
                          <a:latin typeface="Raleway"/>
                        </a:rPr>
                        <a:t>Status </a:t>
                      </a:r>
                      <a:r>
                        <a:rPr lang="en-US" sz="1000" b="1" err="1">
                          <a:solidFill>
                            <a:srgbClr val="FFFFFF"/>
                          </a:solidFill>
                          <a:effectLst/>
                          <a:latin typeface="Raleway"/>
                        </a:rPr>
                        <a:t>Rekrutmen</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00" b="1">
                          <a:solidFill>
                            <a:srgbClr val="FFFFFF"/>
                          </a:solidFill>
                          <a:effectLst/>
                          <a:latin typeface="Raleway"/>
                        </a:rPr>
                        <a:t>Recruitment Update</a:t>
                      </a: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extLst>
                  <a:ext uri="{0D108BD9-81ED-4DB2-BD59-A6C34878D82A}">
                    <a16:rowId xmlns:a16="http://schemas.microsoft.com/office/drawing/2014/main" val="1241021775"/>
                  </a:ext>
                </a:extLst>
              </a:tr>
              <a:tr h="342900">
                <a:tc>
                  <a:txBody>
                    <a:bodyPr/>
                    <a:lstStyle/>
                    <a:p>
                      <a:pPr lvl="0" algn="ctr">
                        <a:buNone/>
                      </a:pPr>
                      <a:endParaRPr lang="en-US" sz="1000">
                        <a:effectLst/>
                        <a:latin typeface="Raleway"/>
                      </a:endParaRPr>
                    </a:p>
                  </a:txBody>
                  <a:tcPr marL="9524" marR="9524" marT="9524" anchor="ctr">
                    <a:lnL w="6350">
                      <a:solidFill>
                        <a:srgbClr val="000000"/>
                      </a:solidFill>
                    </a:lnL>
                    <a:lnR w="6350">
                      <a:solidFill>
                        <a:srgbClr val="000000"/>
                      </a:solidFill>
                    </a:lnR>
                    <a:lnT w="6350">
                      <a:solidFill>
                        <a:srgbClr val="000000"/>
                      </a:solidFill>
                    </a:lnT>
                    <a:lnB w="6350">
                      <a:solidFill>
                        <a:srgbClr val="000000"/>
                      </a:solidFill>
                    </a:lnB>
                    <a:noFill/>
                  </a:tcPr>
                </a:tc>
                <a:tc>
                  <a:txBody>
                    <a:bodyPr/>
                    <a:lstStyle/>
                    <a:p>
                      <a:pPr lvl="0" algn="ctr">
                        <a:lnSpc>
                          <a:spcPct val="100000"/>
                        </a:lnSpc>
                        <a:spcBef>
                          <a:spcPts val="0"/>
                        </a:spcBef>
                        <a:spcAft>
                          <a:spcPts val="0"/>
                        </a:spcAft>
                        <a:buNone/>
                      </a:pPr>
                      <a:r>
                        <a:rPr lang="en-US" sz="1000" b="0" i="0" u="none" strike="noStrike" noProof="0">
                          <a:solidFill>
                            <a:srgbClr val="000000"/>
                          </a:solidFill>
                          <a:effectLst/>
                          <a:latin typeface="Aptos Narrow"/>
                        </a:rPr>
                        <a:t>20-Mar-2026</a:t>
                      </a:r>
                    </a:p>
                  </a:txBody>
                  <a:tcPr marL="9524" marR="9524" marT="9524" anchor="ctr">
                    <a:lnL w="6350">
                      <a:solidFill>
                        <a:srgbClr val="000000"/>
                      </a:solidFill>
                    </a:lnL>
                    <a:lnR w="6350">
                      <a:solidFill>
                        <a:srgbClr val="000000"/>
                      </a:solidFill>
                    </a:lnR>
                    <a:lnT w="6350">
                      <a:solidFill>
                        <a:srgbClr val="000000"/>
                      </a:solidFill>
                    </a:lnT>
                    <a:lnB w="6350">
                      <a:solidFill>
                        <a:srgbClr val="000000"/>
                      </a:solidFill>
                    </a:lnB>
                    <a:noFill/>
                  </a:tcPr>
                </a:tc>
                <a:tc>
                  <a:txBody>
                    <a:bodyPr/>
                    <a:lstStyle/>
                    <a:p>
                      <a:pPr lvl="0" algn="ctr">
                        <a:lnSpc>
                          <a:spcPct val="100000"/>
                        </a:lnSpc>
                        <a:spcBef>
                          <a:spcPts val="0"/>
                        </a:spcBef>
                        <a:spcAft>
                          <a:spcPts val="0"/>
                        </a:spcAft>
                        <a:buNone/>
                      </a:pPr>
                      <a:r>
                        <a:rPr lang="en-US" sz="1000" b="0" i="0" u="none" strike="noStrike" noProof="0">
                          <a:effectLst/>
                        </a:rPr>
                        <a:t>FGDP – HR Development</a:t>
                      </a:r>
                    </a:p>
                  </a:txBody>
                  <a:tcPr marL="9524" marR="9524" marT="9524" anchor="ctr">
                    <a:lnL w="6350">
                      <a:solidFill>
                        <a:srgbClr val="000000"/>
                      </a:solidFill>
                    </a:lnL>
                    <a:lnR w="6350">
                      <a:solidFill>
                        <a:srgbClr val="000000"/>
                      </a:solidFill>
                    </a:lnR>
                    <a:lnT w="6350">
                      <a:solidFill>
                        <a:srgbClr val="000000"/>
                      </a:solidFill>
                    </a:lnT>
                    <a:lnB w="6350">
                      <a:solidFill>
                        <a:srgbClr val="000000"/>
                      </a:solidFill>
                    </a:lnB>
                    <a:noFill/>
                  </a:tcPr>
                </a:tc>
                <a:tc>
                  <a:txBody>
                    <a:bodyPr/>
                    <a:lstStyle/>
                    <a:p>
                      <a:pPr lvl="0" algn="ctr">
                        <a:buNone/>
                      </a:pPr>
                      <a:r>
                        <a:rPr lang="en-US" sz="1000">
                          <a:effectLst/>
                          <a:latin typeface="Raleway"/>
                        </a:rPr>
                        <a:t>2B</a:t>
                      </a:r>
                    </a:p>
                  </a:txBody>
                  <a:tcPr marL="9524" marR="9524" marT="9524" anchor="ctr">
                    <a:lnL w="6350">
                      <a:solidFill>
                        <a:srgbClr val="000000"/>
                      </a:solidFill>
                    </a:lnL>
                    <a:lnR w="6350">
                      <a:solidFill>
                        <a:srgbClr val="000000"/>
                      </a:solidFill>
                    </a:lnR>
                    <a:lnT w="6350">
                      <a:solidFill>
                        <a:srgbClr val="000000"/>
                      </a:solidFill>
                    </a:lnT>
                    <a:lnB w="6350">
                      <a:solidFill>
                        <a:srgbClr val="000000"/>
                      </a:solidFill>
                    </a:lnB>
                    <a:noFill/>
                  </a:tcPr>
                </a:tc>
                <a:tc>
                  <a:txBody>
                    <a:bodyPr/>
                    <a:lstStyle/>
                    <a:p>
                      <a:pPr lvl="0" algn="ctr">
                        <a:buNone/>
                      </a:pPr>
                      <a:r>
                        <a:rPr lang="en-US" sz="1000">
                          <a:effectLst/>
                          <a:latin typeface="Raleway"/>
                        </a:rPr>
                        <a:t>HO Meruya</a:t>
                      </a:r>
                      <a:endParaRPr lang="en-US" sz="1000" err="1">
                        <a:effectLst/>
                        <a:latin typeface="Raleway"/>
                      </a:endParaRPr>
                    </a:p>
                  </a:txBody>
                  <a:tcPr marL="9524" marR="9524" marT="9524" anchor="ctr">
                    <a:lnL w="6350">
                      <a:solidFill>
                        <a:srgbClr val="000000"/>
                      </a:solidFill>
                    </a:lnL>
                    <a:lnR w="6350">
                      <a:solidFill>
                        <a:srgbClr val="000000"/>
                      </a:solidFill>
                    </a:lnR>
                    <a:lnT w="6350">
                      <a:solidFill>
                        <a:srgbClr val="000000"/>
                      </a:solidFill>
                    </a:lnT>
                    <a:lnB w="6350">
                      <a:solidFill>
                        <a:srgbClr val="000000"/>
                      </a:solidFill>
                    </a:lnB>
                    <a:noFill/>
                  </a:tcPr>
                </a:tc>
                <a:tc>
                  <a:txBody>
                    <a:bodyPr/>
                    <a:lstStyle/>
                    <a:p>
                      <a:pPr lvl="0" algn="ctr">
                        <a:lnSpc>
                          <a:spcPct val="100000"/>
                        </a:lnSpc>
                        <a:spcBef>
                          <a:spcPts val="0"/>
                        </a:spcBef>
                        <a:spcAft>
                          <a:spcPts val="0"/>
                        </a:spcAft>
                        <a:buNone/>
                      </a:pPr>
                      <a:r>
                        <a:rPr lang="en-US" sz="1000" b="0" i="0" u="none" strike="noStrike" noProof="0">
                          <a:solidFill>
                            <a:srgbClr val="000000"/>
                          </a:solidFill>
                          <a:effectLst/>
                          <a:latin typeface="Raleway"/>
                        </a:rPr>
                        <a:t>PT CISARUA MOUNTAIN DAIRY, TBK</a:t>
                      </a:r>
                      <a:endParaRPr lang="en-US"/>
                    </a:p>
                  </a:txBody>
                  <a:tcPr marL="9524" marR="9524" marT="9524" anchor="ctr">
                    <a:lnL w="6350">
                      <a:solidFill>
                        <a:srgbClr val="000000"/>
                      </a:solidFill>
                    </a:lnL>
                    <a:lnR w="6350">
                      <a:solidFill>
                        <a:srgbClr val="000000"/>
                      </a:solidFill>
                    </a:lnR>
                    <a:lnT w="6350">
                      <a:solidFill>
                        <a:srgbClr val="000000"/>
                      </a:solidFill>
                    </a:lnT>
                    <a:lnB w="6350">
                      <a:solidFill>
                        <a:srgbClr val="000000"/>
                      </a:solidFill>
                    </a:lnB>
                    <a:noFill/>
                  </a:tcPr>
                </a:tc>
                <a:tc>
                  <a:txBody>
                    <a:bodyPr/>
                    <a:lstStyle/>
                    <a:p>
                      <a:pPr lvl="0" algn="ctr">
                        <a:buNone/>
                      </a:pPr>
                      <a:r>
                        <a:rPr lang="en-US" sz="1000">
                          <a:effectLst/>
                          <a:latin typeface="Raleway"/>
                        </a:rPr>
                        <a:t>NEW</a:t>
                      </a:r>
                    </a:p>
                  </a:txBody>
                  <a:tcPr marL="9524" marR="9524" marT="9524" anchor="ctr">
                    <a:lnL w="6350">
                      <a:solidFill>
                        <a:srgbClr val="000000"/>
                      </a:solidFill>
                    </a:lnL>
                    <a:lnR w="6350">
                      <a:solidFill>
                        <a:srgbClr val="000000"/>
                      </a:solidFill>
                    </a:lnR>
                    <a:lnT w="6350">
                      <a:solidFill>
                        <a:srgbClr val="000000"/>
                      </a:solidFill>
                    </a:lnT>
                    <a:lnB w="6350">
                      <a:solidFill>
                        <a:srgbClr val="000000"/>
                      </a:solidFill>
                    </a:lnB>
                    <a:noFill/>
                  </a:tcPr>
                </a:tc>
                <a:tc>
                  <a:txBody>
                    <a:bodyPr/>
                    <a:lstStyle/>
                    <a:p>
                      <a:pPr lvl="0" algn="ctr">
                        <a:buNone/>
                      </a:pPr>
                      <a:r>
                        <a:rPr lang="en-US" sz="1000">
                          <a:effectLst/>
                          <a:latin typeface="Raleway"/>
                        </a:rPr>
                        <a:t>19-Apr-2026</a:t>
                      </a:r>
                    </a:p>
                  </a:txBody>
                  <a:tcPr marL="9524" marR="9524" marT="9524" anchor="ctr">
                    <a:lnL w="6350">
                      <a:solidFill>
                        <a:srgbClr val="000000"/>
                      </a:solidFill>
                    </a:lnL>
                    <a:lnR w="6350">
                      <a:solidFill>
                        <a:srgbClr val="000000"/>
                      </a:solidFill>
                    </a:lnR>
                    <a:lnT w="6350">
                      <a:solidFill>
                        <a:srgbClr val="000000"/>
                      </a:solidFill>
                    </a:lnT>
                    <a:lnB w="6350">
                      <a:solidFill>
                        <a:srgbClr val="000000"/>
                      </a:solidFill>
                    </a:lnB>
                    <a:noFill/>
                  </a:tcPr>
                </a:tc>
                <a:tc>
                  <a:txBody>
                    <a:bodyPr/>
                    <a:lstStyle/>
                    <a:p>
                      <a:pPr lvl="0" algn="ctr">
                        <a:buNone/>
                      </a:pPr>
                      <a:r>
                        <a:rPr lang="en-US" sz="1000">
                          <a:effectLst/>
                          <a:latin typeface="Raleway"/>
                        </a:rPr>
                        <a:t>Marta</a:t>
                      </a:r>
                    </a:p>
                  </a:txBody>
                  <a:tcPr marL="9524" marR="9524" marT="9524" anchor="ctr">
                    <a:lnL w="6350">
                      <a:solidFill>
                        <a:srgbClr val="000000"/>
                      </a:solidFill>
                    </a:lnL>
                    <a:lnR w="6350">
                      <a:solidFill>
                        <a:srgbClr val="000000"/>
                      </a:solidFill>
                    </a:lnR>
                    <a:lnT w="6350">
                      <a:solidFill>
                        <a:srgbClr val="000000"/>
                      </a:solidFill>
                    </a:lnT>
                    <a:lnB w="6350">
                      <a:solidFill>
                        <a:srgbClr val="000000"/>
                      </a:solidFill>
                    </a:lnB>
                    <a:noFill/>
                  </a:tcPr>
                </a:tc>
                <a:tc>
                  <a:txBody>
                    <a:bodyPr/>
                    <a:lstStyle/>
                    <a:p>
                      <a:pPr lvl="0" algn="ctr">
                        <a:buNone/>
                      </a:pPr>
                      <a:r>
                        <a:rPr lang="en-US" sz="1000">
                          <a:effectLst/>
                          <a:latin typeface="Raleway"/>
                        </a:rPr>
                        <a:t>1</a:t>
                      </a:r>
                    </a:p>
                  </a:txBody>
                  <a:tcPr marL="9524" marR="9524" marT="9524" anchor="ctr">
                    <a:lnL w="6350">
                      <a:solidFill>
                        <a:srgbClr val="000000"/>
                      </a:solidFill>
                    </a:lnL>
                    <a:lnR w="6350">
                      <a:solidFill>
                        <a:srgbClr val="000000"/>
                      </a:solidFill>
                    </a:lnR>
                    <a:lnT w="6350">
                      <a:solidFill>
                        <a:srgbClr val="000000"/>
                      </a:solidFill>
                    </a:lnT>
                    <a:lnB w="6350">
                      <a:solidFill>
                        <a:srgbClr val="000000"/>
                      </a:solidFill>
                    </a:lnB>
                    <a:noFill/>
                  </a:tcPr>
                </a:tc>
                <a:tc>
                  <a:txBody>
                    <a:bodyPr/>
                    <a:lstStyle/>
                    <a:p>
                      <a:pPr lvl="0" algn="ctr">
                        <a:buNone/>
                      </a:pPr>
                      <a:r>
                        <a:rPr lang="en-US" sz="1000">
                          <a:effectLst/>
                          <a:latin typeface="Raleway"/>
                        </a:rPr>
                        <a:t>OP</a:t>
                      </a:r>
                    </a:p>
                  </a:txBody>
                  <a:tcPr marL="9524" marR="9524" marT="9524" anchor="ctr">
                    <a:lnL w="6350">
                      <a:solidFill>
                        <a:srgbClr val="000000"/>
                      </a:solidFill>
                    </a:lnL>
                    <a:lnR w="6350">
                      <a:solidFill>
                        <a:srgbClr val="000000"/>
                      </a:solidFill>
                    </a:lnR>
                    <a:lnT w="6350">
                      <a:solidFill>
                        <a:srgbClr val="000000"/>
                      </a:solidFill>
                    </a:lnT>
                    <a:lnB w="6350">
                      <a:solidFill>
                        <a:srgbClr val="000000"/>
                      </a:solidFill>
                    </a:lnB>
                    <a:noFill/>
                  </a:tcPr>
                </a:tc>
                <a:tc>
                  <a:txBody>
                    <a:bodyPr/>
                    <a:lstStyle/>
                    <a:p>
                      <a:pPr marL="171450" lvl="0" indent="-171450" algn="l">
                        <a:lnSpc>
                          <a:spcPct val="100000"/>
                        </a:lnSpc>
                        <a:spcBef>
                          <a:spcPts val="0"/>
                        </a:spcBef>
                        <a:spcAft>
                          <a:spcPts val="0"/>
                        </a:spcAft>
                        <a:buClr>
                          <a:srgbClr val="000000"/>
                        </a:buClr>
                        <a:buFont typeface="Arial,Sans-Serif"/>
                        <a:buChar char="•"/>
                      </a:pPr>
                      <a:r>
                        <a:rPr lang="en-US" sz="1000" b="0" i="0" u="none" strike="noStrike" noProof="0">
                          <a:solidFill>
                            <a:srgbClr val="000000"/>
                          </a:solidFill>
                          <a:effectLst/>
                          <a:latin typeface="Raleway"/>
                        </a:rPr>
                        <a:t>1 Kandidat an Elios Sanenda user interview dengan Director di 21 April 2026 – drop</a:t>
                      </a:r>
                    </a:p>
                    <a:p>
                      <a:pPr marL="171450" lvl="0" indent="-171450" algn="l">
                        <a:lnSpc>
                          <a:spcPct val="100000"/>
                        </a:lnSpc>
                        <a:spcBef>
                          <a:spcPts val="0"/>
                        </a:spcBef>
                        <a:spcAft>
                          <a:spcPts val="0"/>
                        </a:spcAft>
                        <a:buClr>
                          <a:srgbClr val="000000"/>
                        </a:buClr>
                        <a:buFont typeface="Arial,Sans-Serif"/>
                        <a:buChar char="•"/>
                      </a:pPr>
                      <a:r>
                        <a:rPr lang="en-US" sz="1000" b="0" i="0" u="none" strike="noStrike" noProof="0">
                          <a:solidFill>
                            <a:srgbClr val="000000"/>
                          </a:solidFill>
                          <a:effectLst/>
                          <a:latin typeface="Raleway"/>
                        </a:rPr>
                        <a:t>User interview 1 kandidat an Putri di Week 18 – Drop</a:t>
                      </a:r>
                    </a:p>
                    <a:p>
                      <a:pPr marL="171450" lvl="0" indent="-171450" algn="l">
                        <a:lnSpc>
                          <a:spcPct val="100000"/>
                        </a:lnSpc>
                        <a:spcBef>
                          <a:spcPts val="0"/>
                        </a:spcBef>
                        <a:spcAft>
                          <a:spcPts val="0"/>
                        </a:spcAft>
                        <a:buClr>
                          <a:srgbClr val="000000"/>
                        </a:buClr>
                        <a:buFont typeface="Arial,Sans-Serif"/>
                        <a:buChar char="•"/>
                      </a:pPr>
                      <a:r>
                        <a:rPr lang="en-US" sz="1000" b="0" i="0" u="none" strike="noStrike" noProof="0">
                          <a:solidFill>
                            <a:srgbClr val="000000"/>
                          </a:solidFill>
                          <a:effectLst/>
                          <a:latin typeface="Raleway"/>
                        </a:rPr>
                        <a:t>HR Interview 3 orang di Week 18 – Drop</a:t>
                      </a:r>
                    </a:p>
                    <a:p>
                      <a:pPr marL="171450" lvl="0" indent="-171450" algn="l">
                        <a:lnSpc>
                          <a:spcPct val="100000"/>
                        </a:lnSpc>
                        <a:spcBef>
                          <a:spcPts val="0"/>
                        </a:spcBef>
                        <a:spcAft>
                          <a:spcPts val="0"/>
                        </a:spcAft>
                        <a:buClr>
                          <a:srgbClr val="000000"/>
                        </a:buClr>
                        <a:buFont typeface="Arial,Sans-Serif"/>
                        <a:buChar char="•"/>
                      </a:pPr>
                      <a:r>
                        <a:rPr lang="en-US" sz="1000" b="0" i="0" u="none" strike="noStrike" noProof="0">
                          <a:solidFill>
                            <a:srgbClr val="000000"/>
                          </a:solidFill>
                          <a:effectLst/>
                          <a:latin typeface="Raleway"/>
                        </a:rPr>
                        <a:t>Send 21 kandidat ke User &amp; Send Case Study di Week 26</a:t>
                      </a:r>
                    </a:p>
                    <a:p>
                      <a:pPr marL="171450" lvl="0" indent="-171450" algn="l">
                        <a:lnSpc>
                          <a:spcPct val="100000"/>
                        </a:lnSpc>
                        <a:spcBef>
                          <a:spcPts val="0"/>
                        </a:spcBef>
                        <a:spcAft>
                          <a:spcPts val="0"/>
                        </a:spcAft>
                        <a:buClr>
                          <a:srgbClr val="000000"/>
                        </a:buClr>
                        <a:buFont typeface="Arial,Sans-Serif"/>
                        <a:buChar char="•"/>
                      </a:pPr>
                      <a:r>
                        <a:rPr lang="en-US" sz="1000" b="0" i="0" u="none" strike="noStrike" noProof="0">
                          <a:solidFill>
                            <a:srgbClr val="000000"/>
                          </a:solidFill>
                          <a:effectLst/>
                          <a:latin typeface="Raleway"/>
                        </a:rPr>
                        <a:t>HR Interview 2 kandidat di Week 26 – 1 DROP, 1 LOLOS</a:t>
                      </a:r>
                    </a:p>
                    <a:p>
                      <a:pPr marL="171450" lvl="0" indent="-171450" algn="l">
                        <a:lnSpc>
                          <a:spcPct val="100000"/>
                        </a:lnSpc>
                        <a:spcBef>
                          <a:spcPts val="0"/>
                        </a:spcBef>
                        <a:spcAft>
                          <a:spcPts val="0"/>
                        </a:spcAft>
                        <a:buClr>
                          <a:srgbClr val="000000"/>
                        </a:buClr>
                        <a:buFont typeface="Arial,Sans-Serif"/>
                        <a:buChar char="•"/>
                      </a:pPr>
                      <a:r>
                        <a:rPr lang="en-US" sz="1000" b="0" i="0" u="none" strike="noStrike" noProof="0">
                          <a:solidFill>
                            <a:srgbClr val="000000"/>
                          </a:solidFill>
                          <a:effectLst/>
                          <a:latin typeface="Raleway"/>
                        </a:rPr>
                        <a:t>Week 27: User Interview 2 kandidat - DROP</a:t>
                      </a:r>
                    </a:p>
                    <a:p>
                      <a:pPr marL="285750" lvl="0" indent="-285750" algn="l">
                        <a:lnSpc>
                          <a:spcPct val="100000"/>
                        </a:lnSpc>
                        <a:spcBef>
                          <a:spcPts val="0"/>
                        </a:spcBef>
                        <a:spcAft>
                          <a:spcPts val="0"/>
                        </a:spcAft>
                        <a:buClr>
                          <a:srgbClr val="000000"/>
                        </a:buClr>
                        <a:buFont typeface="Arial"/>
                        <a:buChar char="•"/>
                      </a:pPr>
                      <a:endParaRPr lang="en-US" sz="1000" b="0" i="0" u="none" strike="noStrike" noProof="0">
                        <a:solidFill>
                          <a:srgbClr val="000000"/>
                        </a:solidFill>
                        <a:effectLst/>
                        <a:latin typeface="Raleway"/>
                      </a:endParaRPr>
                    </a:p>
                    <a:p>
                      <a:pPr marL="285750" lvl="0" indent="-285750" algn="l">
                        <a:lnSpc>
                          <a:spcPct val="100000"/>
                        </a:lnSpc>
                        <a:spcBef>
                          <a:spcPts val="0"/>
                        </a:spcBef>
                        <a:spcAft>
                          <a:spcPts val="0"/>
                        </a:spcAft>
                        <a:buClr>
                          <a:srgbClr val="000000"/>
                        </a:buClr>
                        <a:buFont typeface="Arial"/>
                        <a:buChar char="•"/>
                      </a:pPr>
                      <a:r>
                        <a:rPr lang="en-US" sz="1000" b="1" i="0" u="none" strike="noStrike" noProof="0">
                          <a:solidFill>
                            <a:srgbClr val="000000"/>
                          </a:solidFill>
                          <a:effectLst/>
                          <a:latin typeface="Raleway"/>
                        </a:rPr>
                        <a:t>Next Action</a:t>
                      </a:r>
                      <a:endParaRPr lang="en-US" sz="1000" b="0" i="0" u="none" strike="noStrike" noProof="0">
                        <a:solidFill>
                          <a:srgbClr val="000000"/>
                        </a:solidFill>
                        <a:effectLst/>
                        <a:latin typeface="Raleway"/>
                      </a:endParaRPr>
                    </a:p>
                    <a:p>
                      <a:pPr marL="171450" lvl="0" indent="-171450" algn="l">
                        <a:lnSpc>
                          <a:spcPct val="100000"/>
                        </a:lnSpc>
                        <a:spcBef>
                          <a:spcPts val="0"/>
                        </a:spcBef>
                        <a:spcAft>
                          <a:spcPts val="0"/>
                        </a:spcAft>
                        <a:buClr>
                          <a:srgbClr val="000000"/>
                        </a:buClr>
                        <a:buFont typeface="Arial,Sans-Serif"/>
                        <a:buChar char="•"/>
                      </a:pPr>
                      <a:r>
                        <a:rPr lang="en-US" sz="1000" b="0" i="0" u="none" strike="noStrike" noProof="0">
                          <a:solidFill>
                            <a:srgbClr val="000000"/>
                          </a:solidFill>
                          <a:effectLst/>
                          <a:latin typeface="Raleway"/>
                        </a:rPr>
                        <a:t>Send Case Study 10 kandidat di Week 28</a:t>
                      </a:r>
                    </a:p>
                    <a:p>
                      <a:pPr marL="171450" lvl="0" indent="-171450" algn="l">
                        <a:lnSpc>
                          <a:spcPct val="100000"/>
                        </a:lnSpc>
                        <a:spcBef>
                          <a:spcPts val="0"/>
                        </a:spcBef>
                        <a:spcAft>
                          <a:spcPts val="0"/>
                        </a:spcAft>
                        <a:buClr>
                          <a:srgbClr val="000000"/>
                        </a:buClr>
                        <a:buFont typeface="Arial,Sans-Serif"/>
                        <a:buChar char="•"/>
                      </a:pPr>
                      <a:r>
                        <a:rPr lang="en-US" sz="1000" b="0" i="0" u="none" strike="noStrike" noProof="0">
                          <a:solidFill>
                            <a:srgbClr val="000000"/>
                          </a:solidFill>
                          <a:effectLst/>
                          <a:latin typeface="Raleway"/>
                        </a:rPr>
                        <a:t>Psikotes kandidat yang telah mengumpulkan Case Study di Week 28 </a:t>
                      </a:r>
                      <a:endParaRPr lang="en-US"/>
                    </a:p>
                  </a:txBody>
                  <a:tcPr marL="9524" marR="9524" marT="9524" anchor="ctr">
                    <a:lnL w="6350">
                      <a:solidFill>
                        <a:srgbClr val="000000"/>
                      </a:solidFill>
                    </a:lnL>
                    <a:lnR w="6350">
                      <a:solidFill>
                        <a:srgbClr val="000000"/>
                      </a:solidFill>
                    </a:lnR>
                    <a:lnT w="6350">
                      <a:solidFill>
                        <a:srgbClr val="000000"/>
                      </a:solidFill>
                    </a:lnT>
                    <a:lnB w="6350">
                      <a:solidFill>
                        <a:srgbClr val="000000"/>
                      </a:solidFill>
                    </a:lnB>
                    <a:noFill/>
                  </a:tcPr>
                </a:tc>
                <a:extLst>
                  <a:ext uri="{0D108BD9-81ED-4DB2-BD59-A6C34878D82A}">
                    <a16:rowId xmlns:a16="http://schemas.microsoft.com/office/drawing/2014/main" val="755732207"/>
                  </a:ext>
                </a:extLst>
              </a:tr>
              <a:tr h="342900">
                <a:tc>
                  <a:txBody>
                    <a:bodyPr/>
                    <a:lstStyle/>
                    <a:p>
                      <a:pPr lvl="0" algn="ctr">
                        <a:buNone/>
                      </a:pPr>
                      <a:r>
                        <a:rPr lang="en-US" sz="1000">
                          <a:effectLst/>
                          <a:latin typeface="Raleway"/>
                        </a:rPr>
                        <a:t>13</a:t>
                      </a:r>
                      <a:endParaRPr lang="en-US"/>
                    </a:p>
                  </a:txBody>
                  <a:tcPr marL="9524" marR="9524" marT="9524" anchor="ctr">
                    <a:lnL w="6350">
                      <a:solidFill>
                        <a:srgbClr val="000000"/>
                      </a:solid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lnSpc>
                          <a:spcPct val="100000"/>
                        </a:lnSpc>
                        <a:spcBef>
                          <a:spcPts val="0"/>
                        </a:spcBef>
                        <a:spcAft>
                          <a:spcPts val="0"/>
                        </a:spcAft>
                        <a:buNone/>
                      </a:pPr>
                      <a:r>
                        <a:rPr lang="en-US" sz="1000" b="0" i="0" u="none" strike="noStrike" noProof="0">
                          <a:solidFill>
                            <a:srgbClr val="000000"/>
                          </a:solidFill>
                          <a:effectLst/>
                          <a:latin typeface="Aptos Narrow"/>
                        </a:rPr>
                        <a:t>25-Mar-26</a:t>
                      </a:r>
                      <a:endParaRPr lang="en-US"/>
                    </a:p>
                  </a:txBody>
                  <a:tcPr marL="9524" marR="9524" marT="952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lnSpc>
                          <a:spcPct val="100000"/>
                        </a:lnSpc>
                        <a:spcBef>
                          <a:spcPts val="0"/>
                        </a:spcBef>
                        <a:spcAft>
                          <a:spcPts val="0"/>
                        </a:spcAft>
                        <a:buNone/>
                      </a:pPr>
                      <a:r>
                        <a:rPr lang="en-US" sz="1000" b="0" i="0" u="none" strike="noStrike" noProof="0">
                          <a:effectLst/>
                        </a:rPr>
                        <a:t>FGDP - Direct Procurement</a:t>
                      </a:r>
                      <a:endParaRPr lang="en-US"/>
                    </a:p>
                  </a:txBody>
                  <a:tcPr marL="9524" marR="9524" marT="952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a:effectLst/>
                          <a:latin typeface="Raleway"/>
                        </a:rPr>
                        <a:t>2B</a:t>
                      </a:r>
                      <a:endParaRPr lang="en-US"/>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a:effectLst/>
                          <a:latin typeface="Raleway"/>
                        </a:rPr>
                        <a:t>HO </a:t>
                      </a:r>
                      <a:r>
                        <a:rPr lang="en-US" sz="1000" err="1">
                          <a:effectLst/>
                          <a:latin typeface="Raleway"/>
                        </a:rPr>
                        <a:t>Meruya</a:t>
                      </a:r>
                      <a:endParaRPr lang="en-US" err="1"/>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lnSpc>
                          <a:spcPct val="100000"/>
                        </a:lnSpc>
                        <a:spcBef>
                          <a:spcPts val="0"/>
                        </a:spcBef>
                        <a:spcAft>
                          <a:spcPts val="0"/>
                        </a:spcAft>
                        <a:buNone/>
                      </a:pPr>
                      <a:r>
                        <a:rPr lang="en-US" sz="1000" b="0" i="0" u="none" strike="noStrike" noProof="0">
                          <a:solidFill>
                            <a:srgbClr val="000000"/>
                          </a:solidFill>
                          <a:effectLst/>
                          <a:latin typeface="Raleway"/>
                        </a:rPr>
                        <a:t>PT CISARUA MOUNTAIN DAIRY, TBK</a:t>
                      </a:r>
                      <a:endParaRPr lang="en-US"/>
                    </a:p>
                  </a:txBody>
                  <a:tcPr marL="9524" marR="9524" marT="952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a:effectLst/>
                          <a:latin typeface="Raleway"/>
                        </a:rPr>
                        <a:t>NEW</a:t>
                      </a:r>
                      <a:endParaRPr lang="en-US"/>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a:effectLst/>
                          <a:latin typeface="Raleway"/>
                        </a:rPr>
                        <a:t>24-Apr-26</a:t>
                      </a:r>
                      <a:endParaRPr lang="en-US"/>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a:effectLst/>
                          <a:latin typeface="Raleway"/>
                        </a:rPr>
                        <a:t>Marta</a:t>
                      </a:r>
                      <a:endParaRPr lang="en-US"/>
                    </a:p>
                  </a:txBody>
                  <a:tcPr marL="9524" marR="9524" marT="952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a:effectLst/>
                          <a:latin typeface="Raleway"/>
                        </a:rPr>
                        <a:t>1</a:t>
                      </a:r>
                      <a:endParaRPr lang="en-US"/>
                    </a:p>
                  </a:txBody>
                  <a:tcPr marL="9524" marR="9524" marT="952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a:effectLst/>
                          <a:latin typeface="Raleway"/>
                        </a:rPr>
                        <a:t>OP</a:t>
                      </a:r>
                      <a:endParaRPr lang="en-US"/>
                    </a:p>
                  </a:txBody>
                  <a:tcPr marL="9524" marR="9524" marT="952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171450" lvl="0" indent="-171450">
                        <a:buFont typeface="Arial"/>
                        <a:buChar char="•"/>
                      </a:pPr>
                      <a:r>
                        <a:rPr lang="en-US" sz="1000" b="0" i="0" u="none" strike="noStrike" noProof="0">
                          <a:solidFill>
                            <a:srgbClr val="000000"/>
                          </a:solidFill>
                          <a:effectLst/>
                          <a:latin typeface="Raleway"/>
                        </a:rPr>
                        <a:t>Send 20 CVs </a:t>
                      </a:r>
                      <a:r>
                        <a:rPr lang="en-US" sz="1000" b="0" i="0" u="none" strike="noStrike" noProof="0" err="1">
                          <a:solidFill>
                            <a:srgbClr val="000000"/>
                          </a:solidFill>
                          <a:effectLst/>
                          <a:latin typeface="Raleway"/>
                        </a:rPr>
                        <a:t>ke</a:t>
                      </a:r>
                      <a:r>
                        <a:rPr lang="en-US" sz="1000" b="0" i="0" u="none" strike="noStrike" noProof="0">
                          <a:solidFill>
                            <a:srgbClr val="000000"/>
                          </a:solidFill>
                          <a:effectLst/>
                          <a:latin typeface="Raleway"/>
                        </a:rPr>
                        <a:t> User di Week 27​</a:t>
                      </a:r>
                    </a:p>
                    <a:p>
                      <a:pPr lvl="0">
                        <a:buNone/>
                      </a:pPr>
                      <a:endParaRPr lang="en-US"/>
                    </a:p>
                    <a:p>
                      <a:pPr lvl="0">
                        <a:buNone/>
                      </a:pPr>
                      <a:r>
                        <a:rPr lang="en-US" sz="1000" b="1" i="0" u="none" strike="noStrike" noProof="0">
                          <a:solidFill>
                            <a:srgbClr val="000000"/>
                          </a:solidFill>
                          <a:effectLst/>
                          <a:latin typeface="Raleway"/>
                        </a:rPr>
                        <a:t>Next Action:</a:t>
                      </a:r>
                      <a:r>
                        <a:rPr lang="en-US" sz="1000" b="0" i="0" u="none" strike="noStrike" noProof="0">
                          <a:solidFill>
                            <a:srgbClr val="000000"/>
                          </a:solidFill>
                          <a:effectLst/>
                          <a:latin typeface="Raleway"/>
                        </a:rPr>
                        <a:t> </a:t>
                      </a:r>
                    </a:p>
                    <a:p>
                      <a:pPr marL="171450" lvl="0" indent="-171450">
                        <a:buFont typeface="Arial"/>
                        <a:buChar char="•"/>
                      </a:pPr>
                      <a:r>
                        <a:rPr lang="en-US" sz="1000" b="0" i="0" u="none" strike="noStrike" noProof="0">
                          <a:solidFill>
                            <a:srgbClr val="000000"/>
                          </a:solidFill>
                          <a:effectLst/>
                          <a:latin typeface="Raleway"/>
                        </a:rPr>
                        <a:t>Follow up </a:t>
                      </a:r>
                      <a:r>
                        <a:rPr lang="en-US" sz="1000" b="0" i="0" u="none" strike="noStrike" noProof="0" err="1">
                          <a:solidFill>
                            <a:srgbClr val="000000"/>
                          </a:solidFill>
                          <a:effectLst/>
                          <a:latin typeface="Raleway"/>
                        </a:rPr>
                        <a:t>hasil</a:t>
                      </a:r>
                      <a:r>
                        <a:rPr lang="en-US" sz="1000" b="0" i="0" u="none" strike="noStrike" noProof="0">
                          <a:solidFill>
                            <a:srgbClr val="000000"/>
                          </a:solidFill>
                          <a:effectLst/>
                          <a:latin typeface="Raleway"/>
                        </a:rPr>
                        <a:t> screening User di Week 28</a:t>
                      </a:r>
                      <a:endParaRPr lang="en-US"/>
                    </a:p>
                  </a:txBody>
                  <a:tcPr marL="9524" marR="9524" marT="9524" anchor="ctr">
                    <a:lnL w="6350" cap="flat" cmpd="sng" algn="ctr">
                      <a:solidFill>
                        <a:srgbClr val="000000"/>
                      </a:solidFill>
                      <a:prstDash val="solid"/>
                      <a:round/>
                      <a:headEnd type="none" w="med" len="med"/>
                      <a:tailEnd type="none" w="med" len="med"/>
                    </a:lnL>
                    <a:lnR w="6350">
                      <a:solidFill>
                        <a:srgbClr val="000000"/>
                      </a:solid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431733641"/>
                  </a:ext>
                </a:extLst>
              </a:tr>
              <a:tr h="342900">
                <a:tc>
                  <a:txBody>
                    <a:bodyPr/>
                    <a:lstStyle/>
                    <a:p>
                      <a:pPr lvl="0" algn="ctr">
                        <a:buNone/>
                      </a:pPr>
                      <a:r>
                        <a:rPr lang="en-US" sz="1000">
                          <a:effectLst/>
                          <a:latin typeface="Raleway"/>
                        </a:rPr>
                        <a:t>14</a:t>
                      </a:r>
                      <a:endParaRPr lang="en-US"/>
                    </a:p>
                  </a:txBody>
                  <a:tcPr marL="9524" marR="9524" marT="9524" anchor="ctr">
                    <a:lnL w="6350">
                      <a:solidFill>
                        <a:srgbClr val="000000"/>
                      </a:solid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lnSpc>
                          <a:spcPct val="100000"/>
                        </a:lnSpc>
                        <a:spcBef>
                          <a:spcPts val="0"/>
                        </a:spcBef>
                        <a:spcAft>
                          <a:spcPts val="0"/>
                        </a:spcAft>
                        <a:buNone/>
                      </a:pPr>
                      <a:r>
                        <a:rPr lang="en-US" sz="1000" b="0" i="0" u="none" strike="noStrike" noProof="0">
                          <a:solidFill>
                            <a:srgbClr val="000000"/>
                          </a:solidFill>
                          <a:effectLst/>
                          <a:latin typeface="Aptos Narrow"/>
                        </a:rPr>
                        <a:t>7-Apr-26</a:t>
                      </a:r>
                      <a:endParaRPr lang="en-US"/>
                    </a:p>
                  </a:txBody>
                  <a:tcPr marL="9524" marR="9524" marT="952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b="0" i="0" u="none" strike="noStrike" noProof="0">
                          <a:solidFill>
                            <a:srgbClr val="000000"/>
                          </a:solidFill>
                          <a:effectLst/>
                          <a:latin typeface="Raleway"/>
                        </a:rPr>
                        <a:t>FGDP – Indirect Procurement</a:t>
                      </a:r>
                      <a:endParaRPr lang="en-US"/>
                    </a:p>
                  </a:txBody>
                  <a:tcPr marL="9524" marR="9524" marT="952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a:effectLst/>
                          <a:latin typeface="Raleway"/>
                        </a:rPr>
                        <a:t>2B</a:t>
                      </a:r>
                      <a:endParaRPr lang="en-US"/>
                    </a:p>
                  </a:txBody>
                  <a:tcPr marL="9524" marR="9524" marT="952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a:effectLst/>
                          <a:latin typeface="Raleway"/>
                        </a:rPr>
                        <a:t>HO </a:t>
                      </a:r>
                      <a:r>
                        <a:rPr lang="en-US" sz="1000" err="1">
                          <a:effectLst/>
                          <a:latin typeface="Raleway"/>
                        </a:rPr>
                        <a:t>Meruya</a:t>
                      </a:r>
                      <a:endParaRPr lang="en-US"/>
                    </a:p>
                  </a:txBody>
                  <a:tcPr marL="9524" marR="9524" marT="952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lnSpc>
                          <a:spcPct val="100000"/>
                        </a:lnSpc>
                        <a:spcBef>
                          <a:spcPts val="0"/>
                        </a:spcBef>
                        <a:spcAft>
                          <a:spcPts val="0"/>
                        </a:spcAft>
                        <a:buNone/>
                      </a:pPr>
                      <a:r>
                        <a:rPr lang="en-US" sz="1000" b="0" i="0" u="none" strike="noStrike" noProof="0">
                          <a:solidFill>
                            <a:srgbClr val="000000"/>
                          </a:solidFill>
                          <a:effectLst/>
                          <a:latin typeface="Raleway"/>
                        </a:rPr>
                        <a:t>PT MACROPRIMA PANGANUTAMA</a:t>
                      </a:r>
                      <a:endParaRPr lang="en-US"/>
                    </a:p>
                  </a:txBody>
                  <a:tcPr marL="9524" marR="9524" marT="952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a:effectLst/>
                          <a:latin typeface="Raleway"/>
                        </a:rPr>
                        <a:t>NEW</a:t>
                      </a:r>
                      <a:endParaRPr lang="en-US"/>
                    </a:p>
                  </a:txBody>
                  <a:tcPr marL="9524" marR="9524" marT="952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a:effectLst/>
                          <a:latin typeface="Raleway"/>
                        </a:rPr>
                        <a:t>7-Mei-26</a:t>
                      </a:r>
                      <a:endParaRPr lang="en-US"/>
                    </a:p>
                  </a:txBody>
                  <a:tcPr marL="9524" marR="9524" marT="952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a:effectLst/>
                          <a:latin typeface="Raleway"/>
                        </a:rPr>
                        <a:t>Marta</a:t>
                      </a:r>
                      <a:endParaRPr lang="en-US"/>
                    </a:p>
                  </a:txBody>
                  <a:tcPr marL="9524" marR="9524" marT="952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a:effectLst/>
                          <a:latin typeface="Raleway"/>
                        </a:rPr>
                        <a:t>2</a:t>
                      </a:r>
                      <a:endParaRPr lang="en-US"/>
                    </a:p>
                  </a:txBody>
                  <a:tcPr marL="9524" marR="9524" marT="952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a:effectLst/>
                          <a:latin typeface="Raleway"/>
                        </a:rPr>
                        <a:t>OP</a:t>
                      </a:r>
                      <a:endParaRPr lang="en-US"/>
                    </a:p>
                  </a:txBody>
                  <a:tcPr marL="9524" marR="9524" marT="952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171450" lvl="0" indent="-171450">
                        <a:buClr>
                          <a:srgbClr val="000000"/>
                        </a:buClr>
                        <a:buFont typeface="Arial"/>
                        <a:buChar char="•"/>
                      </a:pPr>
                      <a:r>
                        <a:rPr lang="en-US" sz="1000" b="0" i="0" u="none" strike="noStrike" noProof="0">
                          <a:solidFill>
                            <a:srgbClr val="000000"/>
                          </a:solidFill>
                          <a:latin typeface="Raleway"/>
                        </a:rPr>
                        <a:t>Send 20 CVs shortlisted HR di Week 27</a:t>
                      </a:r>
                    </a:p>
                    <a:p>
                      <a:pPr marL="0" lvl="0" indent="0">
                        <a:buClr>
                          <a:srgbClr val="000000"/>
                        </a:buClr>
                        <a:buNone/>
                      </a:pPr>
                      <a:endParaRPr lang="en-US" sz="1000" b="0" i="0" u="none" strike="noStrike" noProof="0">
                        <a:solidFill>
                          <a:srgbClr val="000000"/>
                        </a:solidFill>
                        <a:latin typeface="Raleway"/>
                      </a:endParaRPr>
                    </a:p>
                    <a:p>
                      <a:pPr marL="0" lvl="0" indent="0">
                        <a:buNone/>
                      </a:pPr>
                      <a:r>
                        <a:rPr lang="en-US" sz="1000" b="1" i="0" u="none" strike="noStrike" noProof="0">
                          <a:solidFill>
                            <a:srgbClr val="000000"/>
                          </a:solidFill>
                          <a:latin typeface="Raleway"/>
                        </a:rPr>
                        <a:t>Next Action:</a:t>
                      </a:r>
                      <a:r>
                        <a:rPr lang="en-US" sz="1000" b="0" i="0" u="none" strike="noStrike" noProof="0">
                          <a:solidFill>
                            <a:srgbClr val="000000"/>
                          </a:solidFill>
                          <a:latin typeface="Raleway"/>
                        </a:rPr>
                        <a:t> </a:t>
                      </a:r>
                    </a:p>
                    <a:p>
                      <a:pPr marL="171450" lvl="0" indent="-171450">
                        <a:buClr>
                          <a:srgbClr val="000000"/>
                        </a:buClr>
                        <a:buFont typeface="Arial"/>
                        <a:buChar char="•"/>
                      </a:pPr>
                      <a:r>
                        <a:rPr lang="en-US" sz="1000" b="0" i="0" u="none" strike="noStrike" noProof="0">
                          <a:solidFill>
                            <a:srgbClr val="000000"/>
                          </a:solidFill>
                          <a:latin typeface="Raleway"/>
                        </a:rPr>
                        <a:t>Follow up </a:t>
                      </a:r>
                      <a:r>
                        <a:rPr lang="en-US" sz="1000" b="0" i="0" u="none" strike="noStrike" noProof="0" err="1">
                          <a:solidFill>
                            <a:srgbClr val="000000"/>
                          </a:solidFill>
                          <a:latin typeface="Raleway"/>
                        </a:rPr>
                        <a:t>hasil</a:t>
                      </a:r>
                      <a:r>
                        <a:rPr lang="en-US" sz="1000" b="0" i="0" u="none" strike="noStrike" noProof="0">
                          <a:solidFill>
                            <a:srgbClr val="000000"/>
                          </a:solidFill>
                          <a:latin typeface="Raleway"/>
                        </a:rPr>
                        <a:t> screening User di Week 28</a:t>
                      </a:r>
                      <a:endParaRPr lang="en-US"/>
                    </a:p>
                  </a:txBody>
                  <a:tcPr marL="9524" marR="9524" marT="9524" anchor="ctr">
                    <a:lnL w="6350" cap="flat" cmpd="sng" algn="ctr">
                      <a:solidFill>
                        <a:srgbClr val="000000"/>
                      </a:solidFill>
                      <a:prstDash val="solid"/>
                      <a:round/>
                      <a:headEnd type="none" w="med" len="med"/>
                      <a:tailEnd type="none" w="med" len="med"/>
                    </a:lnL>
                    <a:lnR w="6350">
                      <a:solidFill>
                        <a:srgbClr val="000000"/>
                      </a:solid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915225434"/>
                  </a:ext>
                </a:extLst>
              </a:tr>
            </a:tbl>
          </a:graphicData>
        </a:graphic>
      </p:graphicFrame>
      <p:sp>
        <p:nvSpPr>
          <p:cNvPr id="6" name="TextBox 5">
            <a:extLst>
              <a:ext uri="{FF2B5EF4-FFF2-40B4-BE49-F238E27FC236}">
                <a16:creationId xmlns:a16="http://schemas.microsoft.com/office/drawing/2014/main" id="{7628510D-0E44-59A3-92AA-6761666B53B1}"/>
              </a:ext>
            </a:extLst>
          </p:cNvPr>
          <p:cNvSpPr txBox="1"/>
          <p:nvPr/>
        </p:nvSpPr>
        <p:spPr>
          <a:xfrm>
            <a:off x="89575" y="6408147"/>
            <a:ext cx="10972800" cy="261610"/>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100">
                <a:latin typeface="Raleway"/>
              </a:rPr>
              <a:t>* </a:t>
            </a:r>
            <a:r>
              <a:rPr lang="en-US" sz="1100" i="1">
                <a:latin typeface="Raleway"/>
              </a:rPr>
              <a:t>Update per </a:t>
            </a:r>
            <a:r>
              <a:rPr lang="en-US" sz="1100" i="1" err="1">
                <a:latin typeface="Raleway"/>
              </a:rPr>
              <a:t>tanggal</a:t>
            </a:r>
            <a:r>
              <a:rPr lang="en-US" sz="1100" i="1">
                <a:latin typeface="Raleway"/>
              </a:rPr>
              <a:t> 3 Juli 2026</a:t>
            </a:r>
            <a:endParaRPr lang="en-US" sz="1100">
              <a:latin typeface="Raleway"/>
            </a:endParaRPr>
          </a:p>
        </p:txBody>
      </p:sp>
      <p:sp>
        <p:nvSpPr>
          <p:cNvPr id="9" name="Text 0">
            <a:extLst>
              <a:ext uri="{FF2B5EF4-FFF2-40B4-BE49-F238E27FC236}">
                <a16:creationId xmlns:a16="http://schemas.microsoft.com/office/drawing/2014/main" id="{C04ED485-E1BB-6CCD-87E9-892DCC1C215D}"/>
              </a:ext>
            </a:extLst>
          </p:cNvPr>
          <p:cNvSpPr/>
          <p:nvPr/>
        </p:nvSpPr>
        <p:spPr>
          <a:xfrm>
            <a:off x="94495" y="638755"/>
            <a:ext cx="11277295" cy="548640"/>
          </a:xfrm>
          <a:prstGeom prst="rect">
            <a:avLst/>
          </a:prstGeom>
          <a:noFill/>
          <a:ln/>
        </p:spPr>
        <p:txBody>
          <a:bodyPr wrap="square" lIns="91440" tIns="45720" rIns="91440" bIns="45720" rtlCol="0" anchor="ctr"/>
          <a:lstStyle/>
          <a:p>
            <a:r>
              <a:rPr lang="en-US" sz="2800" b="1">
                <a:solidFill>
                  <a:srgbClr val="12284C"/>
                </a:solidFill>
              </a:rPr>
              <a:t>CLAP &amp; FGDP - Update</a:t>
            </a:r>
          </a:p>
        </p:txBody>
      </p:sp>
    </p:spTree>
    <p:extLst>
      <p:ext uri="{BB962C8B-B14F-4D97-AF65-F5344CB8AC3E}">
        <p14:creationId xmlns:p14="http://schemas.microsoft.com/office/powerpoint/2010/main" val="2625672187"/>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F795C30E-A504-3D40-63B3-1AE4DDF6EC15}"/>
            </a:ext>
          </a:extLst>
        </p:cNvPr>
        <p:cNvGrpSpPr/>
        <p:nvPr/>
      </p:nvGrpSpPr>
      <p:grpSpPr>
        <a:xfrm>
          <a:off x="0" y="0"/>
          <a:ext cx="0" cy="0"/>
          <a:chOff x="0" y="0"/>
          <a:chExt cx="0" cy="0"/>
        </a:xfrm>
      </p:grpSpPr>
      <p:graphicFrame>
        <p:nvGraphicFramePr>
          <p:cNvPr id="2" name="Table 1">
            <a:extLst>
              <a:ext uri="{FF2B5EF4-FFF2-40B4-BE49-F238E27FC236}">
                <a16:creationId xmlns:a16="http://schemas.microsoft.com/office/drawing/2014/main" id="{639CCC05-D7F8-0386-E25B-FBC7AE665986}"/>
              </a:ext>
            </a:extLst>
          </p:cNvPr>
          <p:cNvGraphicFramePr>
            <a:graphicFrameLocks noGrp="1"/>
          </p:cNvGraphicFramePr>
          <p:nvPr/>
        </p:nvGraphicFramePr>
        <p:xfrm>
          <a:off x="438209" y="1499850"/>
          <a:ext cx="11320252" cy="2759656"/>
        </p:xfrm>
        <a:graphic>
          <a:graphicData uri="http://schemas.openxmlformats.org/drawingml/2006/table">
            <a:tbl>
              <a:tblPr/>
              <a:tblGrid>
                <a:gridCol w="329184">
                  <a:extLst>
                    <a:ext uri="{9D8B030D-6E8A-4147-A177-3AD203B41FA5}">
                      <a16:colId xmlns:a16="http://schemas.microsoft.com/office/drawing/2014/main" val="2641380631"/>
                    </a:ext>
                  </a:extLst>
                </a:gridCol>
                <a:gridCol w="786384">
                  <a:extLst>
                    <a:ext uri="{9D8B030D-6E8A-4147-A177-3AD203B41FA5}">
                      <a16:colId xmlns:a16="http://schemas.microsoft.com/office/drawing/2014/main" val="1076860399"/>
                    </a:ext>
                  </a:extLst>
                </a:gridCol>
                <a:gridCol w="723900">
                  <a:extLst>
                    <a:ext uri="{9D8B030D-6E8A-4147-A177-3AD203B41FA5}">
                      <a16:colId xmlns:a16="http://schemas.microsoft.com/office/drawing/2014/main" val="3646804210"/>
                    </a:ext>
                  </a:extLst>
                </a:gridCol>
                <a:gridCol w="508000">
                  <a:extLst>
                    <a:ext uri="{9D8B030D-6E8A-4147-A177-3AD203B41FA5}">
                      <a16:colId xmlns:a16="http://schemas.microsoft.com/office/drawing/2014/main" val="2099745010"/>
                    </a:ext>
                  </a:extLst>
                </a:gridCol>
                <a:gridCol w="685800">
                  <a:extLst>
                    <a:ext uri="{9D8B030D-6E8A-4147-A177-3AD203B41FA5}">
                      <a16:colId xmlns:a16="http://schemas.microsoft.com/office/drawing/2014/main" val="2890279696"/>
                    </a:ext>
                  </a:extLst>
                </a:gridCol>
                <a:gridCol w="1219200">
                  <a:extLst>
                    <a:ext uri="{9D8B030D-6E8A-4147-A177-3AD203B41FA5}">
                      <a16:colId xmlns:a16="http://schemas.microsoft.com/office/drawing/2014/main" val="3909064165"/>
                    </a:ext>
                  </a:extLst>
                </a:gridCol>
                <a:gridCol w="914400">
                  <a:extLst>
                    <a:ext uri="{9D8B030D-6E8A-4147-A177-3AD203B41FA5}">
                      <a16:colId xmlns:a16="http://schemas.microsoft.com/office/drawing/2014/main" val="4211594803"/>
                    </a:ext>
                  </a:extLst>
                </a:gridCol>
                <a:gridCol w="969164">
                  <a:extLst>
                    <a:ext uri="{9D8B030D-6E8A-4147-A177-3AD203B41FA5}">
                      <a16:colId xmlns:a16="http://schemas.microsoft.com/office/drawing/2014/main" val="795000055"/>
                    </a:ext>
                  </a:extLst>
                </a:gridCol>
                <a:gridCol w="511638">
                  <a:extLst>
                    <a:ext uri="{9D8B030D-6E8A-4147-A177-3AD203B41FA5}">
                      <a16:colId xmlns:a16="http://schemas.microsoft.com/office/drawing/2014/main" val="2077089890"/>
                    </a:ext>
                  </a:extLst>
                </a:gridCol>
                <a:gridCol w="763623">
                  <a:extLst>
                    <a:ext uri="{9D8B030D-6E8A-4147-A177-3AD203B41FA5}">
                      <a16:colId xmlns:a16="http://schemas.microsoft.com/office/drawing/2014/main" val="3679623893"/>
                    </a:ext>
                  </a:extLst>
                </a:gridCol>
                <a:gridCol w="813211">
                  <a:extLst>
                    <a:ext uri="{9D8B030D-6E8A-4147-A177-3AD203B41FA5}">
                      <a16:colId xmlns:a16="http://schemas.microsoft.com/office/drawing/2014/main" val="400503831"/>
                    </a:ext>
                  </a:extLst>
                </a:gridCol>
                <a:gridCol w="3095748">
                  <a:extLst>
                    <a:ext uri="{9D8B030D-6E8A-4147-A177-3AD203B41FA5}">
                      <a16:colId xmlns:a16="http://schemas.microsoft.com/office/drawing/2014/main" val="4178183659"/>
                    </a:ext>
                  </a:extLst>
                </a:gridCol>
              </a:tblGrid>
              <a:tr h="314208">
                <a:tc>
                  <a:txBody>
                    <a:bodyPr/>
                    <a:lstStyle/>
                    <a:p>
                      <a:pPr algn="ctr" fontAlgn="ctr">
                        <a:buNone/>
                      </a:pPr>
                      <a:r>
                        <a:rPr lang="en-US" sz="900" b="1" i="0" u="none" strike="noStrike">
                          <a:solidFill>
                            <a:srgbClr val="FFFFFF"/>
                          </a:solidFill>
                          <a:effectLst/>
                          <a:latin typeface="Raleway"/>
                        </a:rPr>
                        <a:t>No</a:t>
                      </a:r>
                    </a:p>
                  </a:txBody>
                  <a:tcPr marL="4299" marR="4299" marT="4299" marB="3095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900" b="1" i="0" u="none" strike="noStrike">
                          <a:solidFill>
                            <a:srgbClr val="FFFFFF"/>
                          </a:solidFill>
                          <a:effectLst/>
                          <a:latin typeface="Raleway"/>
                        </a:rPr>
                        <a:t>Tanggal FPTK</a:t>
                      </a:r>
                    </a:p>
                  </a:txBody>
                  <a:tcPr marL="4299" marR="4299" marT="4299" marB="3095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900" b="1" i="0" u="none" strike="noStrike" err="1">
                          <a:solidFill>
                            <a:srgbClr val="FFFFFF"/>
                          </a:solidFill>
                          <a:effectLst/>
                          <a:latin typeface="Raleway"/>
                        </a:rPr>
                        <a:t>Posisi</a:t>
                      </a:r>
                      <a:endParaRPr lang="en-US" sz="900" b="1" i="0" u="none" strike="noStrike">
                        <a:solidFill>
                          <a:srgbClr val="FFFFFF"/>
                        </a:solidFill>
                        <a:effectLst/>
                        <a:latin typeface="Raleway"/>
                      </a:endParaRPr>
                    </a:p>
                  </a:txBody>
                  <a:tcPr marL="4299" marR="4299" marT="4299" marB="3095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900" b="1" i="0" u="none" strike="noStrike">
                          <a:solidFill>
                            <a:srgbClr val="FFFFFF"/>
                          </a:solidFill>
                          <a:effectLst/>
                          <a:latin typeface="Raleway"/>
                        </a:rPr>
                        <a:t>Level</a:t>
                      </a:r>
                    </a:p>
                  </a:txBody>
                  <a:tcPr marL="4299" marR="4299" marT="4299" marB="3095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900" b="1" i="0" u="none" strike="noStrike">
                          <a:solidFill>
                            <a:srgbClr val="FFFFFF"/>
                          </a:solidFill>
                          <a:effectLst/>
                          <a:latin typeface="Raleway"/>
                        </a:rPr>
                        <a:t>Lokasi</a:t>
                      </a:r>
                    </a:p>
                  </a:txBody>
                  <a:tcPr marL="4299" marR="4299" marT="4299" marB="3095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900" b="1" i="0" u="none" strike="noStrike">
                          <a:solidFill>
                            <a:srgbClr val="FFFFFF"/>
                          </a:solidFill>
                          <a:effectLst/>
                          <a:latin typeface="Raleway"/>
                        </a:rPr>
                        <a:t>Business Unit</a:t>
                      </a:r>
                    </a:p>
                  </a:txBody>
                  <a:tcPr marL="4299" marR="4299" marT="4299" marB="3095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900" b="1" i="0" u="none" strike="noStrike">
                          <a:solidFill>
                            <a:srgbClr val="FFFFFF"/>
                          </a:solidFill>
                          <a:effectLst/>
                          <a:latin typeface="Raleway"/>
                        </a:rPr>
                        <a:t>Kategori FPTK</a:t>
                      </a:r>
                    </a:p>
                  </a:txBody>
                  <a:tcPr marL="4299" marR="4299" marT="4299" marB="3095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900" b="1" i="0" u="none" strike="noStrike">
                          <a:solidFill>
                            <a:srgbClr val="FFFFFF"/>
                          </a:solidFill>
                          <a:effectLst/>
                          <a:latin typeface="Raleway"/>
                        </a:rPr>
                        <a:t>SLA Target </a:t>
                      </a:r>
                      <a:r>
                        <a:rPr lang="en-US" sz="900" b="1" i="0" u="none" strike="noStrike" err="1">
                          <a:solidFill>
                            <a:srgbClr val="FFFFFF"/>
                          </a:solidFill>
                          <a:effectLst/>
                          <a:latin typeface="Raleway"/>
                        </a:rPr>
                        <a:t>Pemenuhan</a:t>
                      </a:r>
                    </a:p>
                  </a:txBody>
                  <a:tcPr marL="4299" marR="4299" marT="4299" marB="3095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900" b="1" i="0" u="none" strike="noStrike">
                          <a:solidFill>
                            <a:srgbClr val="FFFFFF"/>
                          </a:solidFill>
                          <a:effectLst/>
                          <a:latin typeface="Raleway"/>
                        </a:rPr>
                        <a:t>PIC TA</a:t>
                      </a:r>
                    </a:p>
                  </a:txBody>
                  <a:tcPr marL="4299" marR="4299" marT="4299" marB="3095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900" b="1" i="0" u="none" strike="noStrike" err="1">
                          <a:solidFill>
                            <a:srgbClr val="FFFFFF"/>
                          </a:solidFill>
                          <a:effectLst/>
                          <a:latin typeface="Raleway"/>
                        </a:rPr>
                        <a:t>Jumlah</a:t>
                      </a:r>
                      <a:r>
                        <a:rPr lang="en-US" sz="900" b="1" i="0" u="none" strike="noStrike">
                          <a:solidFill>
                            <a:srgbClr val="FFFFFF"/>
                          </a:solidFill>
                          <a:effectLst/>
                          <a:latin typeface="Raleway"/>
                        </a:rPr>
                        <a:t> </a:t>
                      </a:r>
                      <a:r>
                        <a:rPr lang="en-US" sz="900" b="1" i="0" u="none" strike="noStrike" err="1">
                          <a:solidFill>
                            <a:srgbClr val="FFFFFF"/>
                          </a:solidFill>
                          <a:effectLst/>
                          <a:latin typeface="Raleway"/>
                        </a:rPr>
                        <a:t>Permintaan</a:t>
                      </a:r>
                    </a:p>
                  </a:txBody>
                  <a:tcPr marL="4299" marR="4299" marT="4299" marB="3095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900" b="1" i="0" u="none" strike="noStrike">
                          <a:solidFill>
                            <a:srgbClr val="FFFFFF"/>
                          </a:solidFill>
                          <a:effectLst/>
                          <a:latin typeface="Raleway"/>
                        </a:rPr>
                        <a:t>Status </a:t>
                      </a:r>
                      <a:r>
                        <a:rPr lang="en-US" sz="900" b="1" i="0" u="none" strike="noStrike" err="1">
                          <a:solidFill>
                            <a:srgbClr val="FFFFFF"/>
                          </a:solidFill>
                          <a:effectLst/>
                          <a:latin typeface="Raleway"/>
                        </a:rPr>
                        <a:t>Rekrutmen</a:t>
                      </a:r>
                    </a:p>
                  </a:txBody>
                  <a:tcPr marL="4299" marR="4299" marT="4299" marB="3095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900" b="1" i="0" u="none" strike="noStrike">
                          <a:solidFill>
                            <a:srgbClr val="FFFFFF"/>
                          </a:solidFill>
                          <a:effectLst/>
                          <a:latin typeface="Raleway"/>
                        </a:rPr>
                        <a:t>Recruitment Update</a:t>
                      </a:r>
                    </a:p>
                  </a:txBody>
                  <a:tcPr marL="4299" marR="4299" marT="4299" marB="3095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extLst>
                  <a:ext uri="{0D108BD9-81ED-4DB2-BD59-A6C34878D82A}">
                    <a16:rowId xmlns:a16="http://schemas.microsoft.com/office/drawing/2014/main" val="911768639"/>
                  </a:ext>
                </a:extLst>
              </a:tr>
              <a:tr h="832653">
                <a:tc>
                  <a:txBody>
                    <a:bodyPr/>
                    <a:lstStyle/>
                    <a:p>
                      <a:pPr lvl="0" algn="ctr">
                        <a:buNone/>
                      </a:pPr>
                      <a:r>
                        <a:rPr lang="en-US" sz="900" b="0" i="0" u="none" strike="noStrike">
                          <a:solidFill>
                            <a:srgbClr val="000000"/>
                          </a:solidFill>
                          <a:effectLst/>
                          <a:latin typeface="Raleway"/>
                        </a:rPr>
                        <a:t>3</a:t>
                      </a:r>
                    </a:p>
                  </a:txBody>
                  <a:tcPr marL="4298" marR="4298" marT="4298" marB="30953" anchor="ctr">
                    <a:lnL w="6350">
                      <a:solidFill>
                        <a:srgbClr val="000000"/>
                      </a:solid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900" b="0" i="0" u="none" strike="noStrike">
                          <a:solidFill>
                            <a:srgbClr val="000000"/>
                          </a:solidFill>
                          <a:effectLst/>
                          <a:latin typeface="Raleway"/>
                        </a:rPr>
                        <a:t>5-Jun-26</a:t>
                      </a:r>
                    </a:p>
                  </a:txBody>
                  <a:tcPr marL="4298" marR="4298" marT="4298" marB="30953"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l">
                        <a:buNone/>
                      </a:pPr>
                      <a:r>
                        <a:rPr lang="en-US" sz="900" b="0" i="0" u="none" strike="noStrike">
                          <a:solidFill>
                            <a:srgbClr val="000000"/>
                          </a:solidFill>
                          <a:effectLst/>
                          <a:latin typeface="Raleway"/>
                        </a:rPr>
                        <a:t>FGDP – Sales &amp; Operations Planning</a:t>
                      </a:r>
                    </a:p>
                  </a:txBody>
                  <a:tcPr marL="4298" marR="4298" marT="4298" marB="30953"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900" b="0" i="0" u="none" strike="noStrike">
                          <a:solidFill>
                            <a:srgbClr val="000000"/>
                          </a:solidFill>
                          <a:effectLst/>
                          <a:latin typeface="Raleway"/>
                        </a:rPr>
                        <a:t>2B</a:t>
                      </a:r>
                    </a:p>
                  </a:txBody>
                  <a:tcPr marL="4298" marR="4298" marT="4298" marB="30953"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l">
                        <a:buNone/>
                      </a:pPr>
                      <a:r>
                        <a:rPr lang="en-US" sz="900" b="0" i="0" u="none" strike="noStrike">
                          <a:solidFill>
                            <a:srgbClr val="000000"/>
                          </a:solidFill>
                          <a:effectLst/>
                          <a:latin typeface="Raleway"/>
                        </a:rPr>
                        <a:t>HO </a:t>
                      </a:r>
                      <a:r>
                        <a:rPr lang="en-US" sz="900" b="0" i="0" u="none" strike="noStrike" err="1">
                          <a:solidFill>
                            <a:srgbClr val="000000"/>
                          </a:solidFill>
                          <a:effectLst/>
                          <a:latin typeface="Raleway"/>
                        </a:rPr>
                        <a:t>Meruya</a:t>
                      </a:r>
                    </a:p>
                  </a:txBody>
                  <a:tcPr marL="4298" marR="4298" marT="4298" marB="30953"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l">
                        <a:buNone/>
                      </a:pPr>
                      <a:r>
                        <a:rPr lang="en-US" sz="900" b="0" i="0" u="none" strike="noStrike">
                          <a:solidFill>
                            <a:srgbClr val="000000"/>
                          </a:solidFill>
                          <a:effectLst/>
                          <a:latin typeface="Raleway"/>
                        </a:rPr>
                        <a:t>PT MACROSENTRA NIAGABOGA</a:t>
                      </a:r>
                    </a:p>
                  </a:txBody>
                  <a:tcPr marL="4298" marR="4298" marT="4298" marB="30953"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900" b="0" i="0" u="none" strike="noStrike">
                          <a:solidFill>
                            <a:srgbClr val="000000"/>
                          </a:solidFill>
                          <a:effectLst/>
                          <a:latin typeface="Raleway"/>
                        </a:rPr>
                        <a:t>NEW</a:t>
                      </a:r>
                    </a:p>
                  </a:txBody>
                  <a:tcPr marL="4298" marR="4298" marT="4298" marB="30953"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900" b="0" i="0" u="none" strike="noStrike">
                          <a:solidFill>
                            <a:srgbClr val="000000"/>
                          </a:solidFill>
                          <a:effectLst/>
                          <a:latin typeface="Raleway"/>
                        </a:rPr>
                        <a:t>4-Jun-26</a:t>
                      </a:r>
                    </a:p>
                  </a:txBody>
                  <a:tcPr marL="4298" marR="4298" marT="4298" marB="30953"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900" b="0" i="0" u="none" strike="noStrike">
                          <a:solidFill>
                            <a:srgbClr val="000000"/>
                          </a:solidFill>
                          <a:effectLst/>
                          <a:latin typeface="Raleway"/>
                        </a:rPr>
                        <a:t>Marta</a:t>
                      </a:r>
                    </a:p>
                  </a:txBody>
                  <a:tcPr marL="4298" marR="4298" marT="4298" marB="30953"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900" b="0" i="0" u="none" strike="noStrike">
                          <a:solidFill>
                            <a:srgbClr val="000000"/>
                          </a:solidFill>
                          <a:effectLst/>
                          <a:latin typeface="Raleway"/>
                        </a:rPr>
                        <a:t>2</a:t>
                      </a:r>
                    </a:p>
                  </a:txBody>
                  <a:tcPr marL="4298" marR="4298" marT="4298" marB="30953"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900" b="0" i="0" u="none" strike="noStrike">
                          <a:solidFill>
                            <a:srgbClr val="000000"/>
                          </a:solidFill>
                          <a:effectLst/>
                          <a:latin typeface="Raleway"/>
                        </a:rPr>
                        <a:t>OP</a:t>
                      </a:r>
                    </a:p>
                  </a:txBody>
                  <a:tcPr marL="4298" marR="4298" marT="4298" marB="30953"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lvl="0" indent="0" algn="l">
                        <a:lnSpc>
                          <a:spcPct val="100000"/>
                        </a:lnSpc>
                        <a:spcBef>
                          <a:spcPts val="0"/>
                        </a:spcBef>
                        <a:spcAft>
                          <a:spcPts val="0"/>
                        </a:spcAft>
                        <a:buNone/>
                      </a:pPr>
                      <a:r>
                        <a:rPr lang="en-US" sz="900" b="0" i="0" u="none" strike="noStrike" noProof="0">
                          <a:solidFill>
                            <a:srgbClr val="000000"/>
                          </a:solidFill>
                          <a:effectLst/>
                        </a:rPr>
                        <a:t>User Interview 5 </a:t>
                      </a:r>
                      <a:r>
                        <a:rPr lang="en-US" sz="900" b="0" i="0" u="none" strike="noStrike" noProof="0" err="1">
                          <a:solidFill>
                            <a:srgbClr val="000000"/>
                          </a:solidFill>
                          <a:effectLst/>
                        </a:rPr>
                        <a:t>kandidat</a:t>
                      </a:r>
                      <a:r>
                        <a:rPr lang="en-US" sz="900" b="0" i="0" u="none" strike="noStrike" noProof="0">
                          <a:solidFill>
                            <a:srgbClr val="000000"/>
                          </a:solidFill>
                          <a:effectLst/>
                        </a:rPr>
                        <a:t> di Week 27</a:t>
                      </a:r>
                    </a:p>
                    <a:p>
                      <a:pPr marL="0" lvl="0" indent="0" algn="l">
                        <a:lnSpc>
                          <a:spcPct val="100000"/>
                        </a:lnSpc>
                        <a:spcBef>
                          <a:spcPts val="0"/>
                        </a:spcBef>
                        <a:spcAft>
                          <a:spcPts val="0"/>
                        </a:spcAft>
                        <a:buNone/>
                      </a:pPr>
                      <a:endParaRPr lang="en-US" sz="900" b="0" i="0" u="none" strike="noStrike" noProof="0">
                        <a:solidFill>
                          <a:srgbClr val="000000"/>
                        </a:solidFill>
                        <a:effectLst/>
                      </a:endParaRPr>
                    </a:p>
                    <a:p>
                      <a:pPr marL="0" lvl="0" indent="0" algn="l">
                        <a:lnSpc>
                          <a:spcPct val="100000"/>
                        </a:lnSpc>
                        <a:spcBef>
                          <a:spcPts val="0"/>
                        </a:spcBef>
                        <a:spcAft>
                          <a:spcPts val="0"/>
                        </a:spcAft>
                        <a:buNone/>
                      </a:pPr>
                      <a:r>
                        <a:rPr lang="en-US" sz="900" b="1" i="0" u="none" strike="noStrike" noProof="0">
                          <a:solidFill>
                            <a:srgbClr val="000000"/>
                          </a:solidFill>
                          <a:effectLst/>
                        </a:rPr>
                        <a:t>Next Action:</a:t>
                      </a:r>
                    </a:p>
                    <a:p>
                      <a:pPr marL="0" lvl="0" indent="0" algn="l">
                        <a:lnSpc>
                          <a:spcPct val="100000"/>
                        </a:lnSpc>
                        <a:spcBef>
                          <a:spcPts val="0"/>
                        </a:spcBef>
                        <a:spcAft>
                          <a:spcPts val="0"/>
                        </a:spcAft>
                        <a:buNone/>
                      </a:pPr>
                      <a:r>
                        <a:rPr lang="en-US" sz="900" b="0" i="0" u="none" strike="noStrike" noProof="0">
                          <a:solidFill>
                            <a:srgbClr val="000000"/>
                          </a:solidFill>
                          <a:effectLst/>
                        </a:rPr>
                        <a:t>Final User Interview 3 </a:t>
                      </a:r>
                      <a:r>
                        <a:rPr lang="en-US" sz="900" b="0" i="0" u="none" strike="noStrike" noProof="0" err="1">
                          <a:solidFill>
                            <a:srgbClr val="000000"/>
                          </a:solidFill>
                          <a:effectLst/>
                        </a:rPr>
                        <a:t>kandidat</a:t>
                      </a:r>
                      <a:r>
                        <a:rPr lang="en-US" sz="900" b="0" i="0" u="none" strike="noStrike" noProof="0">
                          <a:solidFill>
                            <a:srgbClr val="000000"/>
                          </a:solidFill>
                          <a:effectLst/>
                        </a:rPr>
                        <a:t> di Week 28</a:t>
                      </a:r>
                    </a:p>
                  </a:txBody>
                  <a:tcPr marL="4298" marR="4298" marT="4298" marB="30953" anchor="ctr">
                    <a:lnL w="6350" cap="flat" cmpd="sng" algn="ctr">
                      <a:solidFill>
                        <a:srgbClr val="000000"/>
                      </a:solidFill>
                      <a:prstDash val="solid"/>
                      <a:round/>
                      <a:headEnd type="none" w="med" len="med"/>
                      <a:tailEnd type="none" w="med" len="med"/>
                    </a:lnL>
                    <a:lnR w="6350">
                      <a:solidFill>
                        <a:srgbClr val="000000"/>
                      </a:solid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449967167"/>
                  </a:ext>
                </a:extLst>
              </a:tr>
              <a:tr h="832653">
                <a:tc>
                  <a:txBody>
                    <a:bodyPr/>
                    <a:lstStyle/>
                    <a:p>
                      <a:pPr lvl="0" algn="ctr">
                        <a:buNone/>
                      </a:pPr>
                      <a:r>
                        <a:rPr lang="en-US" sz="900" b="0" i="0" u="none" strike="noStrike">
                          <a:solidFill>
                            <a:srgbClr val="000000"/>
                          </a:solidFill>
                          <a:effectLst/>
                          <a:latin typeface="Raleway"/>
                        </a:rPr>
                        <a:t>4</a:t>
                      </a:r>
                    </a:p>
                  </a:txBody>
                  <a:tcPr marL="4298" marR="4298" marT="4298" marB="30952" anchor="ctr">
                    <a:lnL w="6350">
                      <a:solidFill>
                        <a:srgbClr val="000000"/>
                      </a:solidFill>
                    </a:lnL>
                    <a:lnR w="6350">
                      <a:solidFill>
                        <a:srgbClr val="000000"/>
                      </a:solidFill>
                    </a:lnR>
                    <a:lnT w="6350">
                      <a:solidFill>
                        <a:srgbClr val="000000"/>
                      </a:solidFill>
                    </a:lnT>
                    <a:lnB w="6350" cap="flat" cmpd="sng" algn="ctr">
                      <a:solidFill>
                        <a:srgbClr val="000000"/>
                      </a:solidFill>
                      <a:prstDash val="solid"/>
                      <a:round/>
                      <a:headEnd type="none" w="med" len="med"/>
                      <a:tailEnd type="none" w="med" len="med"/>
                    </a:lnB>
                    <a:noFill/>
                  </a:tcPr>
                </a:tc>
                <a:tc>
                  <a:txBody>
                    <a:bodyPr/>
                    <a:lstStyle/>
                    <a:p>
                      <a:pPr lvl="0" algn="ctr">
                        <a:buNone/>
                      </a:pPr>
                      <a:r>
                        <a:rPr lang="en-US" sz="900" b="0" i="0" u="none" strike="noStrike">
                          <a:solidFill>
                            <a:srgbClr val="000000"/>
                          </a:solidFill>
                          <a:effectLst/>
                          <a:latin typeface="Raleway"/>
                        </a:rPr>
                        <a:t>10-Jun-26</a:t>
                      </a:r>
                    </a:p>
                  </a:txBody>
                  <a:tcPr marL="4298" marR="4298" marT="4298" marB="30952" anchor="ctr">
                    <a:lnL w="6350">
                      <a:solidFill>
                        <a:srgbClr val="000000"/>
                      </a:solidFill>
                    </a:lnL>
                    <a:lnR w="6350">
                      <a:solidFill>
                        <a:srgbClr val="000000"/>
                      </a:solidFill>
                    </a:lnR>
                    <a:lnT w="6350">
                      <a:solidFill>
                        <a:srgbClr val="000000"/>
                      </a:solidFill>
                    </a:lnT>
                    <a:lnB w="6350" cap="flat" cmpd="sng" algn="ctr">
                      <a:solidFill>
                        <a:srgbClr val="000000"/>
                      </a:solidFill>
                      <a:prstDash val="solid"/>
                      <a:round/>
                      <a:headEnd type="none" w="med" len="med"/>
                      <a:tailEnd type="none" w="med" len="med"/>
                    </a:lnB>
                    <a:noFill/>
                  </a:tcPr>
                </a:tc>
                <a:tc>
                  <a:txBody>
                    <a:bodyPr/>
                    <a:lstStyle/>
                    <a:p>
                      <a:pPr lvl="0" algn="l">
                        <a:buNone/>
                      </a:pPr>
                      <a:r>
                        <a:rPr lang="en-US" sz="900" b="0" i="0" u="none" strike="noStrike">
                          <a:solidFill>
                            <a:srgbClr val="000000"/>
                          </a:solidFill>
                          <a:effectLst/>
                          <a:latin typeface="Raleway"/>
                        </a:rPr>
                        <a:t>FGDP – Central Warehouse</a:t>
                      </a:r>
                    </a:p>
                  </a:txBody>
                  <a:tcPr marL="4298" marR="4298" marT="4298" marB="30952" anchor="ctr">
                    <a:lnL w="6350">
                      <a:solidFill>
                        <a:srgbClr val="000000"/>
                      </a:solidFill>
                    </a:lnL>
                    <a:lnR w="6350">
                      <a:solidFill>
                        <a:srgbClr val="000000"/>
                      </a:solidFill>
                    </a:lnR>
                    <a:lnT w="6350">
                      <a:solidFill>
                        <a:srgbClr val="000000"/>
                      </a:solidFill>
                    </a:lnT>
                    <a:lnB w="6350" cap="flat" cmpd="sng" algn="ctr">
                      <a:solidFill>
                        <a:srgbClr val="000000"/>
                      </a:solidFill>
                      <a:prstDash val="solid"/>
                      <a:round/>
                      <a:headEnd type="none" w="med" len="med"/>
                      <a:tailEnd type="none" w="med" len="med"/>
                    </a:lnB>
                    <a:noFill/>
                  </a:tcPr>
                </a:tc>
                <a:tc>
                  <a:txBody>
                    <a:bodyPr/>
                    <a:lstStyle/>
                    <a:p>
                      <a:pPr lvl="0" algn="ctr">
                        <a:buNone/>
                      </a:pPr>
                      <a:r>
                        <a:rPr lang="en-US" sz="900" b="0" i="0" u="none" strike="noStrike">
                          <a:solidFill>
                            <a:srgbClr val="000000"/>
                          </a:solidFill>
                          <a:effectLst/>
                          <a:latin typeface="Raleway"/>
                        </a:rPr>
                        <a:t>2B</a:t>
                      </a:r>
                    </a:p>
                  </a:txBody>
                  <a:tcPr marL="4298" marR="4298" marT="4298" marB="30952" anchor="ctr">
                    <a:lnL w="6350">
                      <a:solidFill>
                        <a:srgbClr val="000000"/>
                      </a:solidFill>
                    </a:lnL>
                    <a:lnR w="6350">
                      <a:solidFill>
                        <a:srgbClr val="000000"/>
                      </a:solidFill>
                    </a:lnR>
                    <a:lnT w="6350">
                      <a:solidFill>
                        <a:srgbClr val="000000"/>
                      </a:solidFill>
                    </a:lnT>
                    <a:lnB w="6350" cap="flat" cmpd="sng" algn="ctr">
                      <a:solidFill>
                        <a:srgbClr val="000000"/>
                      </a:solidFill>
                      <a:prstDash val="solid"/>
                      <a:round/>
                      <a:headEnd type="none" w="med" len="med"/>
                      <a:tailEnd type="none" w="med" len="med"/>
                    </a:lnB>
                    <a:noFill/>
                  </a:tcPr>
                </a:tc>
                <a:tc>
                  <a:txBody>
                    <a:bodyPr/>
                    <a:lstStyle/>
                    <a:p>
                      <a:pPr lvl="0" algn="l">
                        <a:buNone/>
                      </a:pPr>
                      <a:r>
                        <a:rPr lang="en-US" sz="900" b="0" i="0" u="none" strike="noStrike">
                          <a:solidFill>
                            <a:srgbClr val="000000"/>
                          </a:solidFill>
                          <a:effectLst/>
                          <a:latin typeface="Raleway"/>
                        </a:rPr>
                        <a:t>Sentul</a:t>
                      </a:r>
                    </a:p>
                  </a:txBody>
                  <a:tcPr marL="4298" marR="4298" marT="4298" marB="30952" anchor="ctr">
                    <a:lnL w="6350">
                      <a:solidFill>
                        <a:srgbClr val="000000"/>
                      </a:solidFill>
                    </a:lnL>
                    <a:lnR w="6350">
                      <a:solidFill>
                        <a:srgbClr val="000000"/>
                      </a:solidFill>
                    </a:lnR>
                    <a:lnT w="6350">
                      <a:solidFill>
                        <a:srgbClr val="000000"/>
                      </a:solidFill>
                    </a:lnT>
                    <a:lnB w="6350" cap="flat" cmpd="sng" algn="ctr">
                      <a:solidFill>
                        <a:srgbClr val="000000"/>
                      </a:solidFill>
                      <a:prstDash val="solid"/>
                      <a:round/>
                      <a:headEnd type="none" w="med" len="med"/>
                      <a:tailEnd type="none" w="med" len="med"/>
                    </a:lnB>
                    <a:noFill/>
                  </a:tcPr>
                </a:tc>
                <a:tc>
                  <a:txBody>
                    <a:bodyPr/>
                    <a:lstStyle/>
                    <a:p>
                      <a:pPr lvl="0" algn="l">
                        <a:buNone/>
                      </a:pPr>
                      <a:r>
                        <a:rPr lang="en-US" sz="900" b="0" i="0" u="none" strike="noStrike" noProof="0">
                          <a:solidFill>
                            <a:srgbClr val="000000"/>
                          </a:solidFill>
                          <a:effectLst/>
                          <a:latin typeface="Raleway"/>
                        </a:rPr>
                        <a:t>PT MACROSENTRA NIAGABOGA</a:t>
                      </a:r>
                      <a:endParaRPr lang="en-US"/>
                    </a:p>
                  </a:txBody>
                  <a:tcPr marL="4298" marR="4298" marT="4298" marB="30952" anchor="ctr">
                    <a:lnL w="6350">
                      <a:solidFill>
                        <a:srgbClr val="000000"/>
                      </a:solidFill>
                    </a:lnL>
                    <a:lnR w="6350">
                      <a:solidFill>
                        <a:srgbClr val="000000"/>
                      </a:solidFill>
                    </a:lnR>
                    <a:lnT w="6350">
                      <a:solidFill>
                        <a:srgbClr val="000000"/>
                      </a:solidFill>
                    </a:lnT>
                    <a:lnB w="6350" cap="flat" cmpd="sng" algn="ctr">
                      <a:solidFill>
                        <a:srgbClr val="000000"/>
                      </a:solidFill>
                      <a:prstDash val="solid"/>
                      <a:round/>
                      <a:headEnd type="none" w="med" len="med"/>
                      <a:tailEnd type="none" w="med" len="med"/>
                    </a:lnB>
                    <a:noFill/>
                  </a:tcPr>
                </a:tc>
                <a:tc>
                  <a:txBody>
                    <a:bodyPr/>
                    <a:lstStyle/>
                    <a:p>
                      <a:pPr lvl="0" algn="ctr">
                        <a:buNone/>
                      </a:pPr>
                      <a:r>
                        <a:rPr lang="en-US" sz="900" b="0" i="0" u="none" strike="noStrike">
                          <a:solidFill>
                            <a:srgbClr val="000000"/>
                          </a:solidFill>
                          <a:effectLst/>
                          <a:latin typeface="Raleway"/>
                        </a:rPr>
                        <a:t>NEW</a:t>
                      </a:r>
                    </a:p>
                  </a:txBody>
                  <a:tcPr marL="4298" marR="4298" marT="4298" marB="30952" anchor="ctr">
                    <a:lnL w="6350">
                      <a:solidFill>
                        <a:srgbClr val="000000"/>
                      </a:solidFill>
                    </a:lnL>
                    <a:lnR w="6350">
                      <a:solidFill>
                        <a:srgbClr val="000000"/>
                      </a:solidFill>
                    </a:lnR>
                    <a:lnT w="6350">
                      <a:solidFill>
                        <a:srgbClr val="000000"/>
                      </a:solidFill>
                    </a:lnT>
                    <a:lnB w="6350" cap="flat" cmpd="sng" algn="ctr">
                      <a:solidFill>
                        <a:srgbClr val="000000"/>
                      </a:solidFill>
                      <a:prstDash val="solid"/>
                      <a:round/>
                      <a:headEnd type="none" w="med" len="med"/>
                      <a:tailEnd type="none" w="med" len="med"/>
                    </a:lnB>
                    <a:noFill/>
                  </a:tcPr>
                </a:tc>
                <a:tc>
                  <a:txBody>
                    <a:bodyPr/>
                    <a:lstStyle/>
                    <a:p>
                      <a:pPr lvl="0" algn="ctr">
                        <a:buNone/>
                      </a:pPr>
                      <a:r>
                        <a:rPr lang="en-US" sz="900" b="0" i="0" u="none" strike="noStrike">
                          <a:solidFill>
                            <a:srgbClr val="000000"/>
                          </a:solidFill>
                          <a:effectLst/>
                          <a:latin typeface="Raleway"/>
                        </a:rPr>
                        <a:t>9-Jun-26</a:t>
                      </a:r>
                    </a:p>
                  </a:txBody>
                  <a:tcPr marL="4298" marR="4298" marT="4298" marB="30952" anchor="ctr">
                    <a:lnL w="6350">
                      <a:solidFill>
                        <a:srgbClr val="000000"/>
                      </a:solidFill>
                    </a:lnL>
                    <a:lnR w="6350">
                      <a:solidFill>
                        <a:srgbClr val="000000"/>
                      </a:solidFill>
                    </a:lnR>
                    <a:lnT w="6350">
                      <a:solidFill>
                        <a:srgbClr val="000000"/>
                      </a:solidFill>
                    </a:lnT>
                    <a:lnB w="6350" cap="flat" cmpd="sng" algn="ctr">
                      <a:solidFill>
                        <a:srgbClr val="000000"/>
                      </a:solidFill>
                      <a:prstDash val="solid"/>
                      <a:round/>
                      <a:headEnd type="none" w="med" len="med"/>
                      <a:tailEnd type="none" w="med" len="med"/>
                    </a:lnB>
                    <a:noFill/>
                  </a:tcPr>
                </a:tc>
                <a:tc>
                  <a:txBody>
                    <a:bodyPr/>
                    <a:lstStyle/>
                    <a:p>
                      <a:pPr lvl="0" algn="ctr">
                        <a:buNone/>
                      </a:pPr>
                      <a:r>
                        <a:rPr lang="en-US" sz="900" b="0" i="0" u="none" strike="noStrike">
                          <a:solidFill>
                            <a:srgbClr val="000000"/>
                          </a:solidFill>
                          <a:effectLst/>
                          <a:latin typeface="Raleway"/>
                        </a:rPr>
                        <a:t>Marta</a:t>
                      </a:r>
                    </a:p>
                  </a:txBody>
                  <a:tcPr marL="4298" marR="4298" marT="4298" marB="30952" anchor="ctr">
                    <a:lnL w="6350">
                      <a:solidFill>
                        <a:srgbClr val="000000"/>
                      </a:solidFill>
                    </a:lnL>
                    <a:lnR w="6350">
                      <a:solidFill>
                        <a:srgbClr val="000000"/>
                      </a:solidFill>
                    </a:lnR>
                    <a:lnT w="6350">
                      <a:solidFill>
                        <a:srgbClr val="000000"/>
                      </a:solidFill>
                    </a:lnT>
                    <a:lnB w="6350" cap="flat" cmpd="sng" algn="ctr">
                      <a:solidFill>
                        <a:srgbClr val="000000"/>
                      </a:solidFill>
                      <a:prstDash val="solid"/>
                      <a:round/>
                      <a:headEnd type="none" w="med" len="med"/>
                      <a:tailEnd type="none" w="med" len="med"/>
                    </a:lnB>
                    <a:noFill/>
                  </a:tcPr>
                </a:tc>
                <a:tc>
                  <a:txBody>
                    <a:bodyPr/>
                    <a:lstStyle/>
                    <a:p>
                      <a:pPr lvl="0" algn="ctr">
                        <a:buNone/>
                      </a:pPr>
                      <a:r>
                        <a:rPr lang="en-US" sz="900" b="0" i="0" u="none" strike="noStrike">
                          <a:solidFill>
                            <a:srgbClr val="000000"/>
                          </a:solidFill>
                          <a:effectLst/>
                          <a:latin typeface="Raleway"/>
                        </a:rPr>
                        <a:t>1</a:t>
                      </a:r>
                    </a:p>
                  </a:txBody>
                  <a:tcPr marL="4298" marR="4298" marT="4298" marB="30952" anchor="ctr">
                    <a:lnL w="6350">
                      <a:solidFill>
                        <a:srgbClr val="000000"/>
                      </a:solidFill>
                    </a:lnL>
                    <a:lnR w="6350">
                      <a:solidFill>
                        <a:srgbClr val="000000"/>
                      </a:solidFill>
                    </a:lnR>
                    <a:lnT w="6350">
                      <a:solidFill>
                        <a:srgbClr val="000000"/>
                      </a:solidFill>
                    </a:lnT>
                    <a:lnB w="6350" cap="flat" cmpd="sng" algn="ctr">
                      <a:solidFill>
                        <a:srgbClr val="000000"/>
                      </a:solidFill>
                      <a:prstDash val="solid"/>
                      <a:round/>
                      <a:headEnd type="none" w="med" len="med"/>
                      <a:tailEnd type="none" w="med" len="med"/>
                    </a:lnB>
                    <a:noFill/>
                  </a:tcPr>
                </a:tc>
                <a:tc>
                  <a:txBody>
                    <a:bodyPr/>
                    <a:lstStyle/>
                    <a:p>
                      <a:pPr lvl="0" algn="ctr">
                        <a:buNone/>
                      </a:pPr>
                      <a:r>
                        <a:rPr lang="en-US" sz="900" b="0" i="0" u="none" strike="noStrike">
                          <a:solidFill>
                            <a:srgbClr val="000000"/>
                          </a:solidFill>
                          <a:effectLst/>
                          <a:latin typeface="Raleway"/>
                        </a:rPr>
                        <a:t>OP</a:t>
                      </a:r>
                    </a:p>
                  </a:txBody>
                  <a:tcPr marL="4298" marR="4298" marT="4298" marB="30952" anchor="ctr">
                    <a:lnL w="6350">
                      <a:solidFill>
                        <a:srgbClr val="000000"/>
                      </a:solidFill>
                    </a:lnL>
                    <a:lnR w="6350">
                      <a:solidFill>
                        <a:srgbClr val="000000"/>
                      </a:solidFill>
                    </a:lnR>
                    <a:lnT w="6350">
                      <a:solidFill>
                        <a:srgbClr val="000000"/>
                      </a:solidFill>
                    </a:lnT>
                    <a:lnB w="6350" cap="flat" cmpd="sng" algn="ctr">
                      <a:solidFill>
                        <a:srgbClr val="000000"/>
                      </a:solidFill>
                      <a:prstDash val="solid"/>
                      <a:round/>
                      <a:headEnd type="none" w="med" len="med"/>
                      <a:tailEnd type="none" w="med" len="med"/>
                    </a:lnB>
                    <a:noFill/>
                  </a:tcPr>
                </a:tc>
                <a:tc>
                  <a:txBody>
                    <a:bodyPr/>
                    <a:lstStyle/>
                    <a:p>
                      <a:pPr marL="0" lvl="0" indent="0" algn="l">
                        <a:lnSpc>
                          <a:spcPct val="100000"/>
                        </a:lnSpc>
                        <a:spcBef>
                          <a:spcPts val="0"/>
                        </a:spcBef>
                        <a:spcAft>
                          <a:spcPts val="0"/>
                        </a:spcAft>
                        <a:buNone/>
                      </a:pPr>
                      <a:r>
                        <a:rPr lang="en-US" sz="900" b="0" i="0" u="none" strike="noStrike" noProof="0" err="1">
                          <a:solidFill>
                            <a:srgbClr val="000000"/>
                          </a:solidFill>
                          <a:effectLst/>
                        </a:rPr>
                        <a:t>Psikotes</a:t>
                      </a:r>
                      <a:r>
                        <a:rPr lang="en-US" sz="900" b="0" i="0" u="none" strike="noStrike" noProof="0">
                          <a:solidFill>
                            <a:srgbClr val="000000"/>
                          </a:solidFill>
                          <a:effectLst/>
                        </a:rPr>
                        <a:t> </a:t>
                      </a:r>
                      <a:r>
                        <a:rPr lang="en-US" sz="900" b="0" i="0" u="none" strike="noStrike" noProof="0" err="1">
                          <a:solidFill>
                            <a:srgbClr val="000000"/>
                          </a:solidFill>
                          <a:effectLst/>
                        </a:rPr>
                        <a:t>kandidat</a:t>
                      </a:r>
                      <a:r>
                        <a:rPr lang="en-US" sz="900" b="0" i="0" u="none" strike="noStrike" noProof="0">
                          <a:solidFill>
                            <a:srgbClr val="000000"/>
                          </a:solidFill>
                          <a:effectLst/>
                        </a:rPr>
                        <a:t> shortlisted di Week 27</a:t>
                      </a:r>
                    </a:p>
                    <a:p>
                      <a:pPr marL="0" lvl="0" indent="0" algn="l">
                        <a:lnSpc>
                          <a:spcPct val="100000"/>
                        </a:lnSpc>
                        <a:spcBef>
                          <a:spcPts val="0"/>
                        </a:spcBef>
                        <a:spcAft>
                          <a:spcPts val="0"/>
                        </a:spcAft>
                        <a:buNone/>
                      </a:pPr>
                      <a:endParaRPr lang="en-US" sz="900" b="0" i="0" u="none" strike="noStrike" noProof="0">
                        <a:solidFill>
                          <a:srgbClr val="000000"/>
                        </a:solidFill>
                        <a:effectLst/>
                      </a:endParaRPr>
                    </a:p>
                    <a:p>
                      <a:pPr marL="0" lvl="0" indent="0" algn="l">
                        <a:lnSpc>
                          <a:spcPct val="100000"/>
                        </a:lnSpc>
                        <a:spcBef>
                          <a:spcPts val="0"/>
                        </a:spcBef>
                        <a:spcAft>
                          <a:spcPts val="0"/>
                        </a:spcAft>
                        <a:buNone/>
                      </a:pPr>
                      <a:r>
                        <a:rPr lang="en-US" sz="900" b="1" i="0" u="none" strike="noStrike" noProof="0">
                          <a:solidFill>
                            <a:srgbClr val="000000"/>
                          </a:solidFill>
                          <a:effectLst/>
                        </a:rPr>
                        <a:t>Next Action:</a:t>
                      </a:r>
                    </a:p>
                    <a:p>
                      <a:pPr marL="0" lvl="0" indent="0" algn="l">
                        <a:lnSpc>
                          <a:spcPct val="100000"/>
                        </a:lnSpc>
                        <a:spcBef>
                          <a:spcPts val="0"/>
                        </a:spcBef>
                        <a:spcAft>
                          <a:spcPts val="0"/>
                        </a:spcAft>
                        <a:buNone/>
                      </a:pPr>
                      <a:r>
                        <a:rPr lang="en-US" sz="900" b="0" i="0" u="none" strike="noStrike" noProof="0">
                          <a:solidFill>
                            <a:srgbClr val="000000"/>
                          </a:solidFill>
                          <a:effectLst/>
                        </a:rPr>
                        <a:t>HR Interview </a:t>
                      </a:r>
                      <a:r>
                        <a:rPr lang="en-US" sz="900" b="0" i="0" u="none" strike="noStrike" noProof="0" err="1">
                          <a:solidFill>
                            <a:srgbClr val="000000"/>
                          </a:solidFill>
                          <a:effectLst/>
                        </a:rPr>
                        <a:t>kandidat</a:t>
                      </a:r>
                      <a:r>
                        <a:rPr lang="en-US" sz="900" b="0" i="0" u="none" strike="noStrike" noProof="0">
                          <a:solidFill>
                            <a:srgbClr val="000000"/>
                          </a:solidFill>
                          <a:effectLst/>
                        </a:rPr>
                        <a:t> lolos </a:t>
                      </a:r>
                      <a:r>
                        <a:rPr lang="en-US" sz="900" b="0" i="0" u="none" strike="noStrike" noProof="0" err="1">
                          <a:solidFill>
                            <a:srgbClr val="000000"/>
                          </a:solidFill>
                          <a:effectLst/>
                        </a:rPr>
                        <a:t>Psikotes</a:t>
                      </a:r>
                      <a:r>
                        <a:rPr lang="en-US" sz="900" b="0" i="0" u="none" strike="noStrike" noProof="0">
                          <a:solidFill>
                            <a:srgbClr val="000000"/>
                          </a:solidFill>
                          <a:effectLst/>
                        </a:rPr>
                        <a:t> di Week 28</a:t>
                      </a:r>
                    </a:p>
                  </a:txBody>
                  <a:tcPr marL="4298" marR="4298" marT="4298" marB="30952" anchor="ctr">
                    <a:lnL w="6350">
                      <a:solidFill>
                        <a:srgbClr val="000000"/>
                      </a:solidFill>
                    </a:lnL>
                    <a:lnR w="6350">
                      <a:solidFill>
                        <a:srgbClr val="000000"/>
                      </a:solidFill>
                    </a:lnR>
                    <a:lnT w="6350">
                      <a:solidFill>
                        <a:srgbClr val="000000"/>
                      </a:solidFill>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97532907"/>
                  </a:ext>
                </a:extLst>
              </a:tr>
              <a:tr h="780142">
                <a:tc>
                  <a:txBody>
                    <a:bodyPr/>
                    <a:lstStyle/>
                    <a:p>
                      <a:pPr lvl="0" algn="ctr">
                        <a:buNone/>
                      </a:pPr>
                      <a:r>
                        <a:rPr lang="en-US" sz="900" b="0" i="0" u="none" strike="noStrike">
                          <a:solidFill>
                            <a:srgbClr val="000000"/>
                          </a:solidFill>
                          <a:effectLst/>
                          <a:latin typeface="Raleway"/>
                        </a:rPr>
                        <a:t>5</a:t>
                      </a:r>
                    </a:p>
                  </a:txBody>
                  <a:tcPr marL="4298" marR="4298" marT="4298" marB="30952" anchor="ctr">
                    <a:lnL w="6350">
                      <a:solidFill>
                        <a:srgbClr val="000000"/>
                      </a:solidFill>
                    </a:lnL>
                    <a:lnR w="6350">
                      <a:solidFill>
                        <a:srgbClr val="000000"/>
                      </a:solidFill>
                    </a:lnR>
                    <a:lnT w="6350">
                      <a:solidFill>
                        <a:srgbClr val="000000"/>
                      </a:solidFill>
                    </a:lnT>
                    <a:lnB w="6350">
                      <a:solidFill>
                        <a:srgbClr val="000000"/>
                      </a:solidFill>
                    </a:lnB>
                    <a:noFill/>
                  </a:tcPr>
                </a:tc>
                <a:tc>
                  <a:txBody>
                    <a:bodyPr/>
                    <a:lstStyle/>
                    <a:p>
                      <a:pPr lvl="0" algn="ctr">
                        <a:buNone/>
                      </a:pPr>
                      <a:r>
                        <a:rPr lang="en-US" sz="900" b="0" i="0" u="none" strike="noStrike">
                          <a:solidFill>
                            <a:srgbClr val="000000"/>
                          </a:solidFill>
                          <a:effectLst/>
                          <a:latin typeface="Raleway"/>
                        </a:rPr>
                        <a:t>10-Jun-26</a:t>
                      </a:r>
                    </a:p>
                  </a:txBody>
                  <a:tcPr marL="4298" marR="4298" marT="4298" marB="30952" anchor="ctr">
                    <a:lnL w="6350">
                      <a:solidFill>
                        <a:srgbClr val="000000"/>
                      </a:solidFill>
                    </a:lnL>
                    <a:lnR w="6350">
                      <a:solidFill>
                        <a:srgbClr val="000000"/>
                      </a:solidFill>
                    </a:lnR>
                    <a:lnT w="6350">
                      <a:solidFill>
                        <a:srgbClr val="000000"/>
                      </a:solidFill>
                    </a:lnT>
                    <a:lnB w="6350">
                      <a:solidFill>
                        <a:srgbClr val="000000"/>
                      </a:solidFill>
                    </a:lnB>
                    <a:noFill/>
                  </a:tcPr>
                </a:tc>
                <a:tc>
                  <a:txBody>
                    <a:bodyPr/>
                    <a:lstStyle/>
                    <a:p>
                      <a:pPr lvl="0" algn="l">
                        <a:buNone/>
                      </a:pPr>
                      <a:r>
                        <a:rPr lang="en-US" sz="900" b="0" i="0" u="none" strike="noStrike">
                          <a:solidFill>
                            <a:srgbClr val="000000"/>
                          </a:solidFill>
                          <a:effectLst/>
                          <a:latin typeface="Raleway"/>
                        </a:rPr>
                        <a:t>FGDP – Branch Warehouse</a:t>
                      </a:r>
                    </a:p>
                  </a:txBody>
                  <a:tcPr marL="4298" marR="4298" marT="4298" marB="30952" anchor="ctr">
                    <a:lnL w="6350">
                      <a:solidFill>
                        <a:srgbClr val="000000"/>
                      </a:solidFill>
                    </a:lnL>
                    <a:lnR w="6350">
                      <a:solidFill>
                        <a:srgbClr val="000000"/>
                      </a:solidFill>
                    </a:lnR>
                    <a:lnT w="6350">
                      <a:solidFill>
                        <a:srgbClr val="000000"/>
                      </a:solidFill>
                    </a:lnT>
                    <a:lnB w="6350">
                      <a:solidFill>
                        <a:srgbClr val="000000"/>
                      </a:solidFill>
                    </a:lnB>
                    <a:noFill/>
                  </a:tcPr>
                </a:tc>
                <a:tc>
                  <a:txBody>
                    <a:bodyPr/>
                    <a:lstStyle/>
                    <a:p>
                      <a:pPr lvl="0" algn="ctr">
                        <a:buNone/>
                      </a:pPr>
                      <a:r>
                        <a:rPr lang="en-US" sz="900" b="0" i="0" u="none" strike="noStrike">
                          <a:solidFill>
                            <a:srgbClr val="000000"/>
                          </a:solidFill>
                          <a:effectLst/>
                          <a:latin typeface="Raleway"/>
                        </a:rPr>
                        <a:t>2B</a:t>
                      </a:r>
                    </a:p>
                  </a:txBody>
                  <a:tcPr marL="4298" marR="4298" marT="4298" marB="30952" anchor="ctr">
                    <a:lnL w="6350">
                      <a:solidFill>
                        <a:srgbClr val="000000"/>
                      </a:solidFill>
                    </a:lnL>
                    <a:lnR w="6350">
                      <a:solidFill>
                        <a:srgbClr val="000000"/>
                      </a:solidFill>
                    </a:lnR>
                    <a:lnT w="6350">
                      <a:solidFill>
                        <a:srgbClr val="000000"/>
                      </a:solidFill>
                    </a:lnT>
                    <a:lnB w="6350">
                      <a:solidFill>
                        <a:srgbClr val="000000"/>
                      </a:solidFill>
                    </a:lnB>
                    <a:noFill/>
                  </a:tcPr>
                </a:tc>
                <a:tc>
                  <a:txBody>
                    <a:bodyPr/>
                    <a:lstStyle/>
                    <a:p>
                      <a:pPr lvl="0" algn="l">
                        <a:buNone/>
                      </a:pPr>
                      <a:r>
                        <a:rPr lang="en-US" sz="900" b="0" i="0" u="none" strike="noStrike">
                          <a:solidFill>
                            <a:srgbClr val="000000"/>
                          </a:solidFill>
                          <a:effectLst/>
                          <a:latin typeface="Raleway"/>
                        </a:rPr>
                        <a:t>Cab. Bandung</a:t>
                      </a:r>
                    </a:p>
                  </a:txBody>
                  <a:tcPr marL="4298" marR="4298" marT="4298" marB="30952" anchor="ctr">
                    <a:lnL w="6350">
                      <a:solidFill>
                        <a:srgbClr val="000000"/>
                      </a:solidFill>
                    </a:lnL>
                    <a:lnR w="6350">
                      <a:solidFill>
                        <a:srgbClr val="000000"/>
                      </a:solidFill>
                    </a:lnR>
                    <a:lnT w="6350">
                      <a:solidFill>
                        <a:srgbClr val="000000"/>
                      </a:solidFill>
                    </a:lnT>
                    <a:lnB w="6350">
                      <a:solidFill>
                        <a:srgbClr val="000000"/>
                      </a:solidFill>
                    </a:lnB>
                    <a:noFill/>
                  </a:tcPr>
                </a:tc>
                <a:tc>
                  <a:txBody>
                    <a:bodyPr/>
                    <a:lstStyle/>
                    <a:p>
                      <a:pPr lvl="0" algn="l">
                        <a:buNone/>
                      </a:pPr>
                      <a:r>
                        <a:rPr lang="en-US" sz="900" b="0" i="0" u="none" strike="noStrike" noProof="0">
                          <a:solidFill>
                            <a:srgbClr val="000000"/>
                          </a:solidFill>
                          <a:effectLst/>
                          <a:latin typeface="Raleway"/>
                        </a:rPr>
                        <a:t>PT MACROSENTRA NIAGABOGA</a:t>
                      </a:r>
                      <a:endParaRPr lang="en-US"/>
                    </a:p>
                  </a:txBody>
                  <a:tcPr marL="4298" marR="4298" marT="4298" marB="30952" anchor="ctr">
                    <a:lnL w="6350">
                      <a:solidFill>
                        <a:srgbClr val="000000"/>
                      </a:solidFill>
                    </a:lnL>
                    <a:lnR w="6350">
                      <a:solidFill>
                        <a:srgbClr val="000000"/>
                      </a:solidFill>
                    </a:lnR>
                    <a:lnT w="6350">
                      <a:solidFill>
                        <a:srgbClr val="000000"/>
                      </a:solidFill>
                    </a:lnT>
                    <a:lnB w="6350">
                      <a:solidFill>
                        <a:srgbClr val="000000"/>
                      </a:solidFill>
                    </a:lnB>
                    <a:noFill/>
                  </a:tcPr>
                </a:tc>
                <a:tc>
                  <a:txBody>
                    <a:bodyPr/>
                    <a:lstStyle/>
                    <a:p>
                      <a:pPr lvl="0" algn="ctr">
                        <a:buNone/>
                      </a:pPr>
                      <a:r>
                        <a:rPr lang="en-US" sz="900" b="0" i="0" u="none" strike="noStrike">
                          <a:solidFill>
                            <a:srgbClr val="000000"/>
                          </a:solidFill>
                          <a:effectLst/>
                          <a:latin typeface="Raleway"/>
                        </a:rPr>
                        <a:t>NEW</a:t>
                      </a:r>
                    </a:p>
                  </a:txBody>
                  <a:tcPr marL="4298" marR="4298" marT="4298" marB="30952" anchor="ctr">
                    <a:lnL w="6350">
                      <a:solidFill>
                        <a:srgbClr val="000000"/>
                      </a:solidFill>
                    </a:lnL>
                    <a:lnR w="6350">
                      <a:solidFill>
                        <a:srgbClr val="000000"/>
                      </a:solidFill>
                    </a:lnR>
                    <a:lnT w="6350">
                      <a:solidFill>
                        <a:srgbClr val="000000"/>
                      </a:solidFill>
                    </a:lnT>
                    <a:lnB w="6350">
                      <a:solidFill>
                        <a:srgbClr val="000000"/>
                      </a:solidFill>
                    </a:lnB>
                    <a:noFill/>
                  </a:tcPr>
                </a:tc>
                <a:tc>
                  <a:txBody>
                    <a:bodyPr/>
                    <a:lstStyle/>
                    <a:p>
                      <a:pPr lvl="0" algn="ctr">
                        <a:buNone/>
                      </a:pPr>
                      <a:r>
                        <a:rPr lang="en-US" sz="900" b="0" i="0" u="none" strike="noStrike">
                          <a:solidFill>
                            <a:srgbClr val="000000"/>
                          </a:solidFill>
                          <a:effectLst/>
                          <a:latin typeface="Raleway"/>
                        </a:rPr>
                        <a:t>9-Jun-26</a:t>
                      </a:r>
                    </a:p>
                  </a:txBody>
                  <a:tcPr marL="4298" marR="4298" marT="4298" marB="30952" anchor="ctr">
                    <a:lnL w="6350">
                      <a:solidFill>
                        <a:srgbClr val="000000"/>
                      </a:solidFill>
                    </a:lnL>
                    <a:lnR w="6350">
                      <a:solidFill>
                        <a:srgbClr val="000000"/>
                      </a:solidFill>
                    </a:lnR>
                    <a:lnT w="6350">
                      <a:solidFill>
                        <a:srgbClr val="000000"/>
                      </a:solidFill>
                    </a:lnT>
                    <a:lnB w="6350">
                      <a:solidFill>
                        <a:srgbClr val="000000"/>
                      </a:solidFill>
                    </a:lnB>
                    <a:noFill/>
                  </a:tcPr>
                </a:tc>
                <a:tc>
                  <a:txBody>
                    <a:bodyPr/>
                    <a:lstStyle/>
                    <a:p>
                      <a:pPr lvl="0" algn="ctr">
                        <a:buNone/>
                      </a:pPr>
                      <a:r>
                        <a:rPr lang="en-US" sz="900" b="0" i="0" u="none" strike="noStrike">
                          <a:solidFill>
                            <a:srgbClr val="000000"/>
                          </a:solidFill>
                          <a:effectLst/>
                          <a:latin typeface="Raleway"/>
                        </a:rPr>
                        <a:t>Marta</a:t>
                      </a:r>
                    </a:p>
                  </a:txBody>
                  <a:tcPr marL="4298" marR="4298" marT="4298" marB="30952" anchor="ctr">
                    <a:lnL w="6350">
                      <a:solidFill>
                        <a:srgbClr val="000000"/>
                      </a:solidFill>
                    </a:lnL>
                    <a:lnR w="6350">
                      <a:solidFill>
                        <a:srgbClr val="000000"/>
                      </a:solidFill>
                    </a:lnR>
                    <a:lnT w="6350">
                      <a:solidFill>
                        <a:srgbClr val="000000"/>
                      </a:solidFill>
                    </a:lnT>
                    <a:lnB w="6350">
                      <a:solidFill>
                        <a:srgbClr val="000000"/>
                      </a:solidFill>
                    </a:lnB>
                    <a:noFill/>
                  </a:tcPr>
                </a:tc>
                <a:tc>
                  <a:txBody>
                    <a:bodyPr/>
                    <a:lstStyle/>
                    <a:p>
                      <a:pPr lvl="0" algn="ctr">
                        <a:buNone/>
                      </a:pPr>
                      <a:r>
                        <a:rPr lang="en-US" sz="900" b="0" i="0" u="none" strike="noStrike">
                          <a:solidFill>
                            <a:srgbClr val="000000"/>
                          </a:solidFill>
                          <a:effectLst/>
                          <a:latin typeface="Raleway"/>
                        </a:rPr>
                        <a:t>1</a:t>
                      </a:r>
                    </a:p>
                  </a:txBody>
                  <a:tcPr marL="4298" marR="4298" marT="4298" marB="30952" anchor="ctr">
                    <a:lnL w="6350">
                      <a:solidFill>
                        <a:srgbClr val="000000"/>
                      </a:solidFill>
                    </a:lnL>
                    <a:lnR w="6350">
                      <a:solidFill>
                        <a:srgbClr val="000000"/>
                      </a:solidFill>
                    </a:lnR>
                    <a:lnT w="6350">
                      <a:solidFill>
                        <a:srgbClr val="000000"/>
                      </a:solidFill>
                    </a:lnT>
                    <a:lnB w="6350">
                      <a:solidFill>
                        <a:srgbClr val="000000"/>
                      </a:solidFill>
                    </a:lnB>
                    <a:noFill/>
                  </a:tcPr>
                </a:tc>
                <a:tc>
                  <a:txBody>
                    <a:bodyPr/>
                    <a:lstStyle/>
                    <a:p>
                      <a:pPr lvl="0" algn="ctr">
                        <a:buNone/>
                      </a:pPr>
                      <a:r>
                        <a:rPr lang="en-US" sz="900" b="0" i="0" u="none" strike="noStrike">
                          <a:solidFill>
                            <a:srgbClr val="000000"/>
                          </a:solidFill>
                          <a:effectLst/>
                          <a:latin typeface="Raleway"/>
                        </a:rPr>
                        <a:t>OP</a:t>
                      </a:r>
                    </a:p>
                  </a:txBody>
                  <a:tcPr marL="4298" marR="4298" marT="4298" marB="30952" anchor="ctr">
                    <a:lnL w="6350">
                      <a:solidFill>
                        <a:srgbClr val="000000"/>
                      </a:solidFill>
                    </a:lnL>
                    <a:lnR w="6350">
                      <a:solidFill>
                        <a:srgbClr val="000000"/>
                      </a:solidFill>
                    </a:lnR>
                    <a:lnT w="6350">
                      <a:solidFill>
                        <a:srgbClr val="000000"/>
                      </a:solidFill>
                    </a:lnT>
                    <a:lnB w="6350">
                      <a:solidFill>
                        <a:srgbClr val="000000"/>
                      </a:solidFill>
                    </a:lnB>
                    <a:noFill/>
                  </a:tcPr>
                </a:tc>
                <a:tc>
                  <a:txBody>
                    <a:bodyPr/>
                    <a:lstStyle/>
                    <a:p>
                      <a:pPr marL="171450" lvl="0" indent="-171450" algn="l">
                        <a:lnSpc>
                          <a:spcPct val="100000"/>
                        </a:lnSpc>
                        <a:spcBef>
                          <a:spcPts val="0"/>
                        </a:spcBef>
                        <a:spcAft>
                          <a:spcPts val="0"/>
                        </a:spcAft>
                        <a:buClr>
                          <a:srgbClr val="000000"/>
                        </a:buClr>
                        <a:buFont typeface="Calibri,Sans-Serif"/>
                        <a:buChar char="-"/>
                      </a:pPr>
                      <a:r>
                        <a:rPr lang="en-US" sz="900" b="0" i="0" u="none" strike="noStrike" noProof="0" err="1">
                          <a:solidFill>
                            <a:srgbClr val="000000"/>
                          </a:solidFill>
                          <a:effectLst/>
                          <a:latin typeface="Raleway"/>
                        </a:rPr>
                        <a:t>Psikotes</a:t>
                      </a:r>
                      <a:r>
                        <a:rPr lang="en-US" sz="900" b="0" i="0" u="none" strike="noStrike" noProof="0">
                          <a:solidFill>
                            <a:srgbClr val="000000"/>
                          </a:solidFill>
                          <a:effectLst/>
                          <a:latin typeface="Raleway"/>
                        </a:rPr>
                        <a:t> </a:t>
                      </a:r>
                      <a:r>
                        <a:rPr lang="en-US" sz="900" b="0" i="0" u="none" strike="noStrike" noProof="0" err="1">
                          <a:solidFill>
                            <a:srgbClr val="000000"/>
                          </a:solidFill>
                          <a:effectLst/>
                          <a:latin typeface="Raleway"/>
                        </a:rPr>
                        <a:t>kandidat</a:t>
                      </a:r>
                      <a:r>
                        <a:rPr lang="en-US" sz="900" b="0" i="0" u="none" strike="noStrike" noProof="0">
                          <a:solidFill>
                            <a:srgbClr val="000000"/>
                          </a:solidFill>
                          <a:effectLst/>
                          <a:latin typeface="Raleway"/>
                        </a:rPr>
                        <a:t> shortlisted di Week 27</a:t>
                      </a:r>
                    </a:p>
                    <a:p>
                      <a:pPr marL="285750" lvl="0" indent="-285750" algn="l">
                        <a:lnSpc>
                          <a:spcPct val="100000"/>
                        </a:lnSpc>
                        <a:spcBef>
                          <a:spcPts val="0"/>
                        </a:spcBef>
                        <a:spcAft>
                          <a:spcPts val="0"/>
                        </a:spcAft>
                        <a:buClr>
                          <a:srgbClr val="000000"/>
                        </a:buClr>
                        <a:buFont typeface="Arial"/>
                        <a:buChar char="•"/>
                      </a:pPr>
                      <a:endParaRPr lang="en-US" sz="900" b="0" i="0" u="none" strike="noStrike" noProof="0">
                        <a:solidFill>
                          <a:srgbClr val="000000"/>
                        </a:solidFill>
                        <a:effectLst/>
                        <a:latin typeface="Raleway"/>
                      </a:endParaRPr>
                    </a:p>
                    <a:p>
                      <a:pPr marL="0" lvl="0" indent="0" algn="l">
                        <a:lnSpc>
                          <a:spcPct val="100000"/>
                        </a:lnSpc>
                        <a:spcBef>
                          <a:spcPts val="0"/>
                        </a:spcBef>
                        <a:spcAft>
                          <a:spcPts val="0"/>
                        </a:spcAft>
                        <a:buClr>
                          <a:srgbClr val="000000"/>
                        </a:buClr>
                        <a:buNone/>
                      </a:pPr>
                      <a:r>
                        <a:rPr lang="en-US" sz="900" b="1" i="0" u="none" strike="noStrike" noProof="0">
                          <a:solidFill>
                            <a:srgbClr val="000000"/>
                          </a:solidFill>
                          <a:effectLst/>
                          <a:latin typeface="Raleway"/>
                        </a:rPr>
                        <a:t>Next Action:</a:t>
                      </a:r>
                      <a:endParaRPr lang="en-US" sz="900" b="0" i="0" u="none" strike="noStrike" noProof="0">
                        <a:solidFill>
                          <a:srgbClr val="000000"/>
                        </a:solidFill>
                        <a:effectLst/>
                        <a:latin typeface="Raleway"/>
                      </a:endParaRPr>
                    </a:p>
                    <a:p>
                      <a:pPr marL="0" lvl="0" indent="0" algn="l">
                        <a:lnSpc>
                          <a:spcPct val="100000"/>
                        </a:lnSpc>
                        <a:spcBef>
                          <a:spcPts val="0"/>
                        </a:spcBef>
                        <a:spcAft>
                          <a:spcPts val="0"/>
                        </a:spcAft>
                        <a:buClr>
                          <a:srgbClr val="000000"/>
                        </a:buClr>
                        <a:buNone/>
                      </a:pPr>
                      <a:r>
                        <a:rPr lang="en-US" sz="900" b="0" i="0" u="none" strike="noStrike" noProof="0">
                          <a:solidFill>
                            <a:srgbClr val="000000"/>
                          </a:solidFill>
                          <a:effectLst/>
                          <a:latin typeface="Raleway"/>
                        </a:rPr>
                        <a:t>HR Interview </a:t>
                      </a:r>
                      <a:r>
                        <a:rPr lang="en-US" sz="900" b="0" i="0" u="none" strike="noStrike" noProof="0" err="1">
                          <a:solidFill>
                            <a:srgbClr val="000000"/>
                          </a:solidFill>
                          <a:effectLst/>
                          <a:latin typeface="Raleway"/>
                        </a:rPr>
                        <a:t>kandidat</a:t>
                      </a:r>
                      <a:r>
                        <a:rPr lang="en-US" sz="900" b="0" i="0" u="none" strike="noStrike" noProof="0">
                          <a:solidFill>
                            <a:srgbClr val="000000"/>
                          </a:solidFill>
                          <a:effectLst/>
                          <a:latin typeface="Raleway"/>
                        </a:rPr>
                        <a:t> lolos </a:t>
                      </a:r>
                      <a:r>
                        <a:rPr lang="en-US" sz="900" b="0" i="0" u="none" strike="noStrike" noProof="0" err="1">
                          <a:solidFill>
                            <a:srgbClr val="000000"/>
                          </a:solidFill>
                          <a:effectLst/>
                          <a:latin typeface="Raleway"/>
                        </a:rPr>
                        <a:t>Psikotes</a:t>
                      </a:r>
                      <a:r>
                        <a:rPr lang="en-US" sz="900" b="0" i="0" u="none" strike="noStrike" noProof="0">
                          <a:solidFill>
                            <a:srgbClr val="000000"/>
                          </a:solidFill>
                          <a:effectLst/>
                          <a:latin typeface="Raleway"/>
                        </a:rPr>
                        <a:t> di Week 28</a:t>
                      </a:r>
                      <a:endParaRPr lang="en-US"/>
                    </a:p>
                  </a:txBody>
                  <a:tcPr marL="4298" marR="4298" marT="4298" marB="30952" anchor="ctr">
                    <a:lnL w="6350">
                      <a:solidFill>
                        <a:srgbClr val="000000"/>
                      </a:solidFill>
                    </a:lnL>
                    <a:lnR w="6350">
                      <a:solidFill>
                        <a:srgbClr val="000000"/>
                      </a:solidFill>
                    </a:lnR>
                    <a:lnT w="6350">
                      <a:solidFill>
                        <a:srgbClr val="000000"/>
                      </a:solidFill>
                    </a:lnT>
                    <a:lnB w="6350">
                      <a:solidFill>
                        <a:srgbClr val="000000"/>
                      </a:solidFill>
                    </a:lnB>
                    <a:noFill/>
                  </a:tcPr>
                </a:tc>
                <a:extLst>
                  <a:ext uri="{0D108BD9-81ED-4DB2-BD59-A6C34878D82A}">
                    <a16:rowId xmlns:a16="http://schemas.microsoft.com/office/drawing/2014/main" val="3721805749"/>
                  </a:ext>
                </a:extLst>
              </a:tr>
            </a:tbl>
          </a:graphicData>
        </a:graphic>
      </p:graphicFrame>
      <p:sp>
        <p:nvSpPr>
          <p:cNvPr id="5" name="TextBox 7">
            <a:extLst>
              <a:ext uri="{FF2B5EF4-FFF2-40B4-BE49-F238E27FC236}">
                <a16:creationId xmlns:a16="http://schemas.microsoft.com/office/drawing/2014/main" id="{30C8CD7D-C6F1-9A21-EE00-2F020768DD67}"/>
              </a:ext>
            </a:extLst>
          </p:cNvPr>
          <p:cNvSpPr txBox="1"/>
          <p:nvPr/>
        </p:nvSpPr>
        <p:spPr>
          <a:xfrm>
            <a:off x="431539" y="6415506"/>
            <a:ext cx="10972800" cy="321819"/>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50000"/>
              </a:lnSpc>
            </a:pPr>
            <a:r>
              <a:rPr lang="en-US" sz="1100">
                <a:latin typeface="Raleway"/>
              </a:rPr>
              <a:t>* </a:t>
            </a:r>
            <a:r>
              <a:rPr lang="en-US" sz="1100" i="1">
                <a:latin typeface="Raleway"/>
              </a:rPr>
              <a:t>Update per </a:t>
            </a:r>
            <a:r>
              <a:rPr lang="en-US" sz="1100" i="1" err="1">
                <a:latin typeface="Raleway"/>
              </a:rPr>
              <a:t>tanggal</a:t>
            </a:r>
            <a:r>
              <a:rPr lang="en-US" sz="1100" i="1">
                <a:latin typeface="Raleway"/>
              </a:rPr>
              <a:t> 3 Juli 2026</a:t>
            </a:r>
            <a:endParaRPr lang="en-US" sz="1100">
              <a:latin typeface="Raleway"/>
            </a:endParaRPr>
          </a:p>
        </p:txBody>
      </p:sp>
      <p:sp>
        <p:nvSpPr>
          <p:cNvPr id="8" name="Text 0">
            <a:extLst>
              <a:ext uri="{FF2B5EF4-FFF2-40B4-BE49-F238E27FC236}">
                <a16:creationId xmlns:a16="http://schemas.microsoft.com/office/drawing/2014/main" id="{0B088760-8A65-367D-0950-4A1B12A9F5DE}"/>
              </a:ext>
            </a:extLst>
          </p:cNvPr>
          <p:cNvSpPr/>
          <p:nvPr/>
        </p:nvSpPr>
        <p:spPr>
          <a:xfrm>
            <a:off x="428323" y="950812"/>
            <a:ext cx="11277295" cy="548640"/>
          </a:xfrm>
          <a:prstGeom prst="rect">
            <a:avLst/>
          </a:prstGeom>
          <a:noFill/>
          <a:ln/>
        </p:spPr>
        <p:txBody>
          <a:bodyPr wrap="square" lIns="91440" tIns="45720" rIns="91440" bIns="45720" rtlCol="0" anchor="ctr"/>
          <a:lstStyle/>
          <a:p>
            <a:r>
              <a:rPr lang="en-US" sz="2800" b="1">
                <a:solidFill>
                  <a:srgbClr val="12284C"/>
                </a:solidFill>
              </a:rPr>
              <a:t>CLAP &amp; FGDP - Update</a:t>
            </a:r>
          </a:p>
        </p:txBody>
      </p:sp>
    </p:spTree>
    <p:extLst>
      <p:ext uri="{BB962C8B-B14F-4D97-AF65-F5344CB8AC3E}">
        <p14:creationId xmlns:p14="http://schemas.microsoft.com/office/powerpoint/2010/main" val="3573107603"/>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321BBF31-D121-B15F-C7A3-4958E4A58D9E}"/>
            </a:ext>
          </a:extLst>
        </p:cNvPr>
        <p:cNvGrpSpPr/>
        <p:nvPr/>
      </p:nvGrpSpPr>
      <p:grpSpPr>
        <a:xfrm>
          <a:off x="0" y="0"/>
          <a:ext cx="0" cy="0"/>
          <a:chOff x="0" y="0"/>
          <a:chExt cx="0" cy="0"/>
        </a:xfrm>
      </p:grpSpPr>
      <p:graphicFrame>
        <p:nvGraphicFramePr>
          <p:cNvPr id="2" name="Table 1">
            <a:extLst>
              <a:ext uri="{FF2B5EF4-FFF2-40B4-BE49-F238E27FC236}">
                <a16:creationId xmlns:a16="http://schemas.microsoft.com/office/drawing/2014/main" id="{4B2F4207-54F9-41CD-4EBE-DE46C50501EA}"/>
              </a:ext>
            </a:extLst>
          </p:cNvPr>
          <p:cNvGraphicFramePr>
            <a:graphicFrameLocks noGrp="1"/>
          </p:cNvGraphicFramePr>
          <p:nvPr/>
        </p:nvGraphicFramePr>
        <p:xfrm>
          <a:off x="281299" y="1294822"/>
          <a:ext cx="11629398" cy="3654020"/>
        </p:xfrm>
        <a:graphic>
          <a:graphicData uri="http://schemas.openxmlformats.org/drawingml/2006/table">
            <a:tbl>
              <a:tblPr/>
              <a:tblGrid>
                <a:gridCol w="385946">
                  <a:extLst>
                    <a:ext uri="{9D8B030D-6E8A-4147-A177-3AD203B41FA5}">
                      <a16:colId xmlns:a16="http://schemas.microsoft.com/office/drawing/2014/main" val="1206474526"/>
                    </a:ext>
                  </a:extLst>
                </a:gridCol>
                <a:gridCol w="712519">
                  <a:extLst>
                    <a:ext uri="{9D8B030D-6E8A-4147-A177-3AD203B41FA5}">
                      <a16:colId xmlns:a16="http://schemas.microsoft.com/office/drawing/2014/main" val="162203566"/>
                    </a:ext>
                  </a:extLst>
                </a:gridCol>
                <a:gridCol w="1124770">
                  <a:extLst>
                    <a:ext uri="{9D8B030D-6E8A-4147-A177-3AD203B41FA5}">
                      <a16:colId xmlns:a16="http://schemas.microsoft.com/office/drawing/2014/main" val="377883962"/>
                    </a:ext>
                  </a:extLst>
                </a:gridCol>
                <a:gridCol w="502920">
                  <a:extLst>
                    <a:ext uri="{9D8B030D-6E8A-4147-A177-3AD203B41FA5}">
                      <a16:colId xmlns:a16="http://schemas.microsoft.com/office/drawing/2014/main" val="3565483211"/>
                    </a:ext>
                  </a:extLst>
                </a:gridCol>
                <a:gridCol w="548640">
                  <a:extLst>
                    <a:ext uri="{9D8B030D-6E8A-4147-A177-3AD203B41FA5}">
                      <a16:colId xmlns:a16="http://schemas.microsoft.com/office/drawing/2014/main" val="1498526102"/>
                    </a:ext>
                  </a:extLst>
                </a:gridCol>
                <a:gridCol w="941831">
                  <a:extLst>
                    <a:ext uri="{9D8B030D-6E8A-4147-A177-3AD203B41FA5}">
                      <a16:colId xmlns:a16="http://schemas.microsoft.com/office/drawing/2014/main" val="2033146284"/>
                    </a:ext>
                  </a:extLst>
                </a:gridCol>
                <a:gridCol w="685800">
                  <a:extLst>
                    <a:ext uri="{9D8B030D-6E8A-4147-A177-3AD203B41FA5}">
                      <a16:colId xmlns:a16="http://schemas.microsoft.com/office/drawing/2014/main" val="4233028731"/>
                    </a:ext>
                  </a:extLst>
                </a:gridCol>
                <a:gridCol w="822959">
                  <a:extLst>
                    <a:ext uri="{9D8B030D-6E8A-4147-A177-3AD203B41FA5}">
                      <a16:colId xmlns:a16="http://schemas.microsoft.com/office/drawing/2014/main" val="2434621060"/>
                    </a:ext>
                  </a:extLst>
                </a:gridCol>
                <a:gridCol w="795528">
                  <a:extLst>
                    <a:ext uri="{9D8B030D-6E8A-4147-A177-3AD203B41FA5}">
                      <a16:colId xmlns:a16="http://schemas.microsoft.com/office/drawing/2014/main" val="1581114945"/>
                    </a:ext>
                  </a:extLst>
                </a:gridCol>
                <a:gridCol w="1172201">
                  <a:extLst>
                    <a:ext uri="{9D8B030D-6E8A-4147-A177-3AD203B41FA5}">
                      <a16:colId xmlns:a16="http://schemas.microsoft.com/office/drawing/2014/main" val="4201194461"/>
                    </a:ext>
                  </a:extLst>
                </a:gridCol>
                <a:gridCol w="839478">
                  <a:extLst>
                    <a:ext uri="{9D8B030D-6E8A-4147-A177-3AD203B41FA5}">
                      <a16:colId xmlns:a16="http://schemas.microsoft.com/office/drawing/2014/main" val="2277705662"/>
                    </a:ext>
                  </a:extLst>
                </a:gridCol>
                <a:gridCol w="3096806">
                  <a:extLst>
                    <a:ext uri="{9D8B030D-6E8A-4147-A177-3AD203B41FA5}">
                      <a16:colId xmlns:a16="http://schemas.microsoft.com/office/drawing/2014/main" val="1754838294"/>
                    </a:ext>
                  </a:extLst>
                </a:gridCol>
              </a:tblGrid>
              <a:tr h="239930">
                <a:tc>
                  <a:txBody>
                    <a:bodyPr/>
                    <a:lstStyle/>
                    <a:p>
                      <a:pPr algn="ctr" fontAlgn="ctr">
                        <a:buNone/>
                      </a:pPr>
                      <a:r>
                        <a:rPr lang="en-US" sz="1100" b="1" i="0" u="none" strike="noStrike">
                          <a:solidFill>
                            <a:srgbClr val="FFFFFF"/>
                          </a:solidFill>
                          <a:effectLst/>
                          <a:latin typeface="Raleway"/>
                        </a:rPr>
                        <a:t>No</a:t>
                      </a:r>
                      <a:endParaRPr lang="en-US">
                        <a:solidFill>
                          <a:srgbClr val="FFFFFF"/>
                        </a:solidFill>
                      </a:endParaRPr>
                    </a:p>
                  </a:txBody>
                  <a:tcPr marL="3464" marR="3464" marT="3464" marB="24938"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i="0" u="none" strike="noStrike">
                          <a:solidFill>
                            <a:srgbClr val="FFFFFF"/>
                          </a:solidFill>
                          <a:effectLst/>
                          <a:latin typeface="Raleway"/>
                        </a:rPr>
                        <a:t>Tanggal FPTK</a:t>
                      </a:r>
                    </a:p>
                  </a:txBody>
                  <a:tcPr marL="3464" marR="3464" marT="3464" marB="24938"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i="0" u="none" strike="noStrike" err="1">
                          <a:solidFill>
                            <a:srgbClr val="FFFFFF"/>
                          </a:solidFill>
                          <a:effectLst/>
                          <a:latin typeface="Raleway"/>
                        </a:rPr>
                        <a:t>Posisi</a:t>
                      </a:r>
                      <a:endParaRPr lang="en-US" sz="1100" b="1" i="0" u="none" strike="noStrike">
                        <a:solidFill>
                          <a:srgbClr val="FFFFFF"/>
                        </a:solidFill>
                        <a:effectLst/>
                        <a:latin typeface="Raleway"/>
                      </a:endParaRPr>
                    </a:p>
                  </a:txBody>
                  <a:tcPr marL="3464" marR="3464" marT="3464" marB="24938"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i="0" u="none" strike="noStrike">
                          <a:solidFill>
                            <a:srgbClr val="FFFFFF"/>
                          </a:solidFill>
                          <a:effectLst/>
                          <a:latin typeface="Raleway"/>
                        </a:rPr>
                        <a:t>Level</a:t>
                      </a:r>
                      <a:endParaRPr lang="en-US">
                        <a:solidFill>
                          <a:srgbClr val="FFFFFF"/>
                        </a:solidFill>
                      </a:endParaRPr>
                    </a:p>
                  </a:txBody>
                  <a:tcPr marL="3464" marR="3464" marT="3464" marB="24938"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i="0" u="none" strike="noStrike">
                          <a:solidFill>
                            <a:srgbClr val="FFFFFF"/>
                          </a:solidFill>
                          <a:effectLst/>
                          <a:latin typeface="Raleway"/>
                        </a:rPr>
                        <a:t>Lokasi</a:t>
                      </a:r>
                      <a:endParaRPr lang="en-US">
                        <a:solidFill>
                          <a:srgbClr val="FFFFFF"/>
                        </a:solidFill>
                      </a:endParaRPr>
                    </a:p>
                  </a:txBody>
                  <a:tcPr marL="3464" marR="3464" marT="3464" marB="24938"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i="0" u="none" strike="noStrike">
                          <a:solidFill>
                            <a:srgbClr val="FFFFFF"/>
                          </a:solidFill>
                          <a:effectLst/>
                          <a:latin typeface="Raleway"/>
                        </a:rPr>
                        <a:t>Business Unit</a:t>
                      </a:r>
                      <a:endParaRPr lang="en-US">
                        <a:solidFill>
                          <a:srgbClr val="FFFFFF"/>
                        </a:solidFill>
                      </a:endParaRPr>
                    </a:p>
                  </a:txBody>
                  <a:tcPr marL="3464" marR="3464" marT="3464" marB="24938"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i="0" u="none" strike="noStrike">
                          <a:solidFill>
                            <a:srgbClr val="FFFFFF"/>
                          </a:solidFill>
                          <a:effectLst/>
                          <a:latin typeface="Raleway"/>
                        </a:rPr>
                        <a:t>Kategori FPTK</a:t>
                      </a:r>
                    </a:p>
                  </a:txBody>
                  <a:tcPr marL="3464" marR="3464" marT="3464" marB="24938"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i="0" u="none" strike="noStrike">
                          <a:solidFill>
                            <a:srgbClr val="FFFFFF"/>
                          </a:solidFill>
                          <a:effectLst/>
                          <a:latin typeface="Raleway"/>
                        </a:rPr>
                        <a:t>SLA Target </a:t>
                      </a:r>
                      <a:r>
                        <a:rPr lang="en-US" sz="1100" b="1" i="0" u="none" strike="noStrike" err="1">
                          <a:solidFill>
                            <a:srgbClr val="FFFFFF"/>
                          </a:solidFill>
                          <a:effectLst/>
                          <a:latin typeface="Raleway"/>
                        </a:rPr>
                        <a:t>Pemenuhan</a:t>
                      </a:r>
                      <a:endParaRPr lang="en-US" sz="1100" b="1" i="0" u="none" strike="noStrike">
                        <a:solidFill>
                          <a:srgbClr val="FFFFFF"/>
                        </a:solidFill>
                        <a:effectLst/>
                        <a:latin typeface="Raleway"/>
                      </a:endParaRPr>
                    </a:p>
                  </a:txBody>
                  <a:tcPr marL="3464" marR="3464" marT="3464" marB="24938"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i="0" u="none" strike="noStrike">
                          <a:solidFill>
                            <a:srgbClr val="FFFFFF"/>
                          </a:solidFill>
                          <a:effectLst/>
                          <a:latin typeface="Raleway"/>
                        </a:rPr>
                        <a:t>PIC TA</a:t>
                      </a:r>
                      <a:endParaRPr lang="en-US">
                        <a:solidFill>
                          <a:srgbClr val="FFFFFF"/>
                        </a:solidFill>
                      </a:endParaRPr>
                    </a:p>
                  </a:txBody>
                  <a:tcPr marL="3464" marR="3464" marT="3464" marB="24938"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i="0" u="none" strike="noStrike" err="1">
                          <a:solidFill>
                            <a:srgbClr val="FFFFFF"/>
                          </a:solidFill>
                          <a:effectLst/>
                          <a:latin typeface="Raleway"/>
                        </a:rPr>
                        <a:t>Jumlah</a:t>
                      </a:r>
                      <a:r>
                        <a:rPr lang="en-US" sz="1100" b="1" i="0" u="none" strike="noStrike">
                          <a:solidFill>
                            <a:srgbClr val="FFFFFF"/>
                          </a:solidFill>
                          <a:effectLst/>
                          <a:latin typeface="Raleway"/>
                        </a:rPr>
                        <a:t> </a:t>
                      </a:r>
                      <a:r>
                        <a:rPr lang="en-US" sz="1100" b="1" i="0" u="none" strike="noStrike" err="1">
                          <a:solidFill>
                            <a:srgbClr val="FFFFFF"/>
                          </a:solidFill>
                          <a:effectLst/>
                          <a:latin typeface="Raleway"/>
                        </a:rPr>
                        <a:t>Permintaan</a:t>
                      </a:r>
                    </a:p>
                  </a:txBody>
                  <a:tcPr marL="3464" marR="3464" marT="3464" marB="24938"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i="0" u="none" strike="noStrike">
                          <a:solidFill>
                            <a:srgbClr val="FFFFFF"/>
                          </a:solidFill>
                          <a:effectLst/>
                          <a:latin typeface="Raleway"/>
                        </a:rPr>
                        <a:t>Status </a:t>
                      </a:r>
                      <a:r>
                        <a:rPr lang="en-US" sz="1100" b="1" i="0" u="none" strike="noStrike" err="1">
                          <a:solidFill>
                            <a:srgbClr val="FFFFFF"/>
                          </a:solidFill>
                          <a:effectLst/>
                          <a:latin typeface="Raleway"/>
                        </a:rPr>
                        <a:t>Rekrutmen</a:t>
                      </a:r>
                      <a:endParaRPr lang="en-US" sz="1100" b="1" i="0" u="none" strike="noStrike">
                        <a:solidFill>
                          <a:srgbClr val="FFFFFF"/>
                        </a:solidFill>
                        <a:effectLst/>
                        <a:latin typeface="Raleway"/>
                      </a:endParaRPr>
                    </a:p>
                  </a:txBody>
                  <a:tcPr marL="3464" marR="3464" marT="3464" marB="24938"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100" b="1" i="0" u="none" strike="noStrike">
                          <a:solidFill>
                            <a:srgbClr val="FFFFFF"/>
                          </a:solidFill>
                          <a:effectLst/>
                          <a:latin typeface="Raleway"/>
                        </a:rPr>
                        <a:t>Recruitment Update</a:t>
                      </a:r>
                      <a:endParaRPr lang="en-US">
                        <a:solidFill>
                          <a:srgbClr val="FFFFFF"/>
                        </a:solidFill>
                      </a:endParaRPr>
                    </a:p>
                  </a:txBody>
                  <a:tcPr marL="3464" marR="3464" marT="3464" marB="24938"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extLst>
                  <a:ext uri="{0D108BD9-81ED-4DB2-BD59-A6C34878D82A}">
                    <a16:rowId xmlns:a16="http://schemas.microsoft.com/office/drawing/2014/main" val="1543776293"/>
                  </a:ext>
                </a:extLst>
              </a:tr>
              <a:tr h="1417898">
                <a:tc>
                  <a:txBody>
                    <a:bodyPr/>
                    <a:lstStyle/>
                    <a:p>
                      <a:pPr lvl="0" algn="ctr">
                        <a:buNone/>
                      </a:pPr>
                      <a:r>
                        <a:rPr lang="en-US" sz="1000" b="0" i="0" u="none" strike="noStrike">
                          <a:solidFill>
                            <a:srgbClr val="000000"/>
                          </a:solidFill>
                          <a:effectLst/>
                          <a:latin typeface="Raleway"/>
                        </a:rPr>
                        <a:t>3.</a:t>
                      </a:r>
                      <a:endParaRPr lang="en-US">
                        <a:solidFill>
                          <a:srgbClr val="000000"/>
                        </a:solidFill>
                      </a:endParaRPr>
                    </a:p>
                  </a:txBody>
                  <a:tcPr marL="3464" marR="3464" marT="3464" marB="24936" anchor="ctr">
                    <a:lnL w="6350">
                      <a:solidFill>
                        <a:srgbClr val="000000"/>
                      </a:solidFill>
                    </a:lnL>
                    <a:lnR w="6350">
                      <a:solidFill>
                        <a:srgbClr val="000000"/>
                      </a:solid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b="0" i="0" u="none" strike="noStrike">
                          <a:solidFill>
                            <a:srgbClr val="000000"/>
                          </a:solidFill>
                          <a:effectLst/>
                          <a:latin typeface="Raleway"/>
                        </a:rPr>
                        <a:t>05-Mar-26</a:t>
                      </a:r>
                      <a:endParaRPr lang="en-US">
                        <a:solidFill>
                          <a:srgbClr val="000000"/>
                        </a:solidFill>
                      </a:endParaRPr>
                    </a:p>
                  </a:txBody>
                  <a:tcPr marL="3464" marR="3464" marT="3464" marB="24936" anchor="ctr">
                    <a:lnL w="6350">
                      <a:solidFill>
                        <a:srgbClr val="000000"/>
                      </a:solidFill>
                    </a:lnL>
                    <a:lnR w="6350">
                      <a:solidFill>
                        <a:srgbClr val="000000"/>
                      </a:solid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b="0" i="0" u="none" strike="noStrike">
                          <a:solidFill>
                            <a:srgbClr val="000000"/>
                          </a:solidFill>
                          <a:effectLst/>
                          <a:latin typeface="Raleway"/>
                        </a:rPr>
                        <a:t>Fresh Graduate Development Program – Finance Business Partner</a:t>
                      </a:r>
                      <a:endParaRPr lang="en-US">
                        <a:solidFill>
                          <a:srgbClr val="000000"/>
                        </a:solidFill>
                      </a:endParaRPr>
                    </a:p>
                  </a:txBody>
                  <a:tcPr marL="3464" marR="3464" marT="3464" marB="24936" anchor="ctr">
                    <a:lnL w="6350">
                      <a:solidFill>
                        <a:srgbClr val="000000"/>
                      </a:solidFill>
                    </a:lnL>
                    <a:lnR w="6350">
                      <a:solidFill>
                        <a:srgbClr val="000000"/>
                      </a:solid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b="0" i="0" u="none" strike="noStrike">
                          <a:solidFill>
                            <a:srgbClr val="000000"/>
                          </a:solidFill>
                          <a:effectLst/>
                          <a:latin typeface="Raleway"/>
                        </a:rPr>
                        <a:t>2B</a:t>
                      </a:r>
                      <a:endParaRPr lang="en-US">
                        <a:solidFill>
                          <a:srgbClr val="000000"/>
                        </a:solidFill>
                      </a:endParaRPr>
                    </a:p>
                  </a:txBody>
                  <a:tcPr marL="3464" marR="3464" marT="3464" marB="24936" anchor="ctr">
                    <a:lnL w="6350">
                      <a:solidFill>
                        <a:srgbClr val="000000"/>
                      </a:solidFill>
                    </a:lnL>
                    <a:lnR w="6350">
                      <a:solidFill>
                        <a:srgbClr val="000000"/>
                      </a:solid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b="0" i="0" u="none" strike="noStrike">
                          <a:solidFill>
                            <a:srgbClr val="000000"/>
                          </a:solidFill>
                          <a:effectLst/>
                          <a:latin typeface="Raleway"/>
                        </a:rPr>
                        <a:t>HO </a:t>
                      </a:r>
                      <a:r>
                        <a:rPr lang="en-US" sz="1000" b="0" i="0" u="none" strike="noStrike" err="1">
                          <a:solidFill>
                            <a:srgbClr val="000000"/>
                          </a:solidFill>
                          <a:effectLst/>
                          <a:latin typeface="Raleway"/>
                        </a:rPr>
                        <a:t>Meruya</a:t>
                      </a:r>
                      <a:endParaRPr lang="en-US" sz="1000" b="0" i="0" u="none" strike="noStrike">
                        <a:solidFill>
                          <a:srgbClr val="000000"/>
                        </a:solidFill>
                        <a:effectLst/>
                        <a:latin typeface="Raleway"/>
                      </a:endParaRPr>
                    </a:p>
                  </a:txBody>
                  <a:tcPr marL="3464" marR="3464" marT="3464" marB="24938"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b="0" i="0" u="none" strike="noStrike">
                          <a:solidFill>
                            <a:srgbClr val="000000"/>
                          </a:solidFill>
                          <a:effectLst/>
                          <a:latin typeface="Raleway"/>
                        </a:rPr>
                        <a:t>PT CISARUA MOUNTAIN DAIRY, TBK</a:t>
                      </a:r>
                      <a:endParaRPr lang="en-US" sz="1000">
                        <a:solidFill>
                          <a:srgbClr val="000000"/>
                        </a:solidFill>
                        <a:latin typeface="Raleway"/>
                      </a:endParaRPr>
                    </a:p>
                  </a:txBody>
                  <a:tcPr marL="3464" marR="3464" marT="3464" marB="24938"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b="0" i="0" u="none" strike="noStrike">
                          <a:solidFill>
                            <a:srgbClr val="000000"/>
                          </a:solidFill>
                          <a:effectLst/>
                          <a:latin typeface="Raleway"/>
                        </a:rPr>
                        <a:t>NEW</a:t>
                      </a:r>
                      <a:endParaRPr lang="en-US">
                        <a:solidFill>
                          <a:srgbClr val="000000"/>
                        </a:solidFill>
                      </a:endParaRPr>
                    </a:p>
                  </a:txBody>
                  <a:tcPr marL="3464" marR="3464" marT="3464" marB="24936" anchor="ctr">
                    <a:lnL w="6350">
                      <a:solidFill>
                        <a:srgbClr val="000000"/>
                      </a:solidFill>
                    </a:lnL>
                    <a:lnR w="6350">
                      <a:solidFill>
                        <a:srgbClr val="000000"/>
                      </a:solid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b="0" i="0" u="none" strike="noStrike">
                          <a:solidFill>
                            <a:srgbClr val="000000"/>
                          </a:solidFill>
                          <a:effectLst/>
                          <a:latin typeface="Raleway"/>
                        </a:rPr>
                        <a:t>04-April-26</a:t>
                      </a:r>
                      <a:endParaRPr lang="en-US">
                        <a:solidFill>
                          <a:srgbClr val="000000"/>
                        </a:solidFill>
                      </a:endParaRPr>
                    </a:p>
                  </a:txBody>
                  <a:tcPr marL="3464" marR="3464" marT="3464" marB="24936" anchor="ctr">
                    <a:lnL w="6350">
                      <a:solidFill>
                        <a:srgbClr val="000000"/>
                      </a:solidFill>
                    </a:lnL>
                    <a:lnR w="6350">
                      <a:solidFill>
                        <a:srgbClr val="000000"/>
                      </a:solid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b="0" i="0" u="none" strike="noStrike">
                          <a:solidFill>
                            <a:srgbClr val="000000"/>
                          </a:solidFill>
                          <a:effectLst/>
                          <a:latin typeface="Raleway"/>
                        </a:rPr>
                        <a:t>Marta</a:t>
                      </a:r>
                    </a:p>
                  </a:txBody>
                  <a:tcPr marL="3464" marR="3464" marT="3464" marB="24936" anchor="ctr">
                    <a:lnL w="6350">
                      <a:solidFill>
                        <a:srgbClr val="000000"/>
                      </a:solidFill>
                    </a:lnL>
                    <a:lnR w="6350">
                      <a:solidFill>
                        <a:srgbClr val="000000"/>
                      </a:solid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b="0" i="0" u="none" strike="noStrike">
                          <a:solidFill>
                            <a:srgbClr val="000000"/>
                          </a:solidFill>
                          <a:effectLst/>
                          <a:latin typeface="Raleway"/>
                        </a:rPr>
                        <a:t>1</a:t>
                      </a:r>
                      <a:endParaRPr lang="en-US">
                        <a:solidFill>
                          <a:srgbClr val="000000"/>
                        </a:solidFill>
                      </a:endParaRPr>
                    </a:p>
                  </a:txBody>
                  <a:tcPr marL="3464" marR="3464" marT="3464" marB="24936" anchor="ctr">
                    <a:lnL w="6350">
                      <a:solidFill>
                        <a:srgbClr val="000000"/>
                      </a:solidFill>
                    </a:lnL>
                    <a:lnR w="6350">
                      <a:solidFill>
                        <a:srgbClr val="000000"/>
                      </a:solid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b="0" i="0" u="none" strike="noStrike">
                          <a:solidFill>
                            <a:schemeClr val="tx1"/>
                          </a:solidFill>
                          <a:effectLst/>
                          <a:latin typeface="Raleway"/>
                        </a:rPr>
                        <a:t>OP</a:t>
                      </a:r>
                    </a:p>
                  </a:txBody>
                  <a:tcPr marL="3464" marR="3464" marT="3464" marB="24936" anchor="ctr">
                    <a:lnL w="6350">
                      <a:solidFill>
                        <a:srgbClr val="000000"/>
                      </a:solidFill>
                    </a:lnL>
                    <a:lnR w="6350">
                      <a:solidFill>
                        <a:srgbClr val="000000"/>
                      </a:solid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171450" lvl="0" indent="-171450" algn="l">
                        <a:lnSpc>
                          <a:spcPct val="100000"/>
                        </a:lnSpc>
                        <a:spcBef>
                          <a:spcPts val="0"/>
                        </a:spcBef>
                        <a:spcAft>
                          <a:spcPts val="0"/>
                        </a:spcAft>
                        <a:buFont typeface="Calibri"/>
                        <a:buChar char="-"/>
                      </a:pPr>
                      <a:r>
                        <a:rPr lang="en-US" sz="1100" b="0" i="0" u="none" strike="noStrike" noProof="0">
                          <a:solidFill>
                            <a:schemeClr val="tx1"/>
                          </a:solidFill>
                          <a:effectLst/>
                          <a:latin typeface="Raleway"/>
                        </a:rPr>
                        <a:t>Week 14: Psikotes 25 kandidat -&gt; 11 kandidat mengerjakan -&gt; 7 kandidat shortlisted</a:t>
                      </a:r>
                    </a:p>
                    <a:p>
                      <a:pPr marL="171450" lvl="0" indent="-171450" algn="l">
                        <a:lnSpc>
                          <a:spcPct val="100000"/>
                        </a:lnSpc>
                        <a:spcBef>
                          <a:spcPts val="0"/>
                        </a:spcBef>
                        <a:spcAft>
                          <a:spcPts val="0"/>
                        </a:spcAft>
                        <a:buFont typeface="Calibri"/>
                        <a:buChar char="-"/>
                      </a:pPr>
                      <a:r>
                        <a:rPr lang="en-US" sz="1100" b="0" i="0" u="none" strike="noStrike" noProof="0">
                          <a:solidFill>
                            <a:schemeClr val="tx1"/>
                          </a:solidFill>
                          <a:effectLst/>
                          <a:latin typeface="Raleway"/>
                        </a:rPr>
                        <a:t>Week 15: 3 kandidat HR Interview -&gt; 1 kandidat lolos a.n. Teddy </a:t>
                      </a:r>
                    </a:p>
                    <a:p>
                      <a:pPr marL="171450" lvl="0" indent="-171450" algn="l">
                        <a:lnSpc>
                          <a:spcPct val="100000"/>
                        </a:lnSpc>
                        <a:spcBef>
                          <a:spcPts val="0"/>
                        </a:spcBef>
                        <a:spcAft>
                          <a:spcPts val="0"/>
                        </a:spcAft>
                        <a:buFont typeface="Calibri"/>
                        <a:buChar char="-"/>
                      </a:pPr>
                      <a:r>
                        <a:rPr lang="en-US" sz="1100" b="0" i="0" u="none" strike="noStrike" noProof="0">
                          <a:solidFill>
                            <a:schemeClr val="tx1"/>
                          </a:solidFill>
                          <a:effectLst/>
                          <a:latin typeface="Raleway"/>
                        </a:rPr>
                        <a:t>User interview final 2 orang di Week 20 </a:t>
                      </a:r>
                    </a:p>
                    <a:p>
                      <a:pPr marL="171450" lvl="0" indent="-171450" algn="l">
                        <a:lnSpc>
                          <a:spcPct val="100000"/>
                        </a:lnSpc>
                        <a:spcBef>
                          <a:spcPts val="0"/>
                        </a:spcBef>
                        <a:spcAft>
                          <a:spcPts val="0"/>
                        </a:spcAft>
                        <a:buFont typeface="Calibri"/>
                        <a:buChar char="-"/>
                      </a:pPr>
                      <a:r>
                        <a:rPr lang="en-US" sz="1100" b="0" i="0" u="none" strike="noStrike" noProof="0">
                          <a:solidFill>
                            <a:schemeClr val="tx1"/>
                          </a:solidFill>
                          <a:effectLst/>
                          <a:latin typeface="Raleway"/>
                        </a:rPr>
                        <a:t>1 Kandidat an Mulya Hasan tolak offer di Week 25</a:t>
                      </a:r>
                    </a:p>
                    <a:p>
                      <a:pPr marL="171450" lvl="0" indent="-171450" algn="l">
                        <a:lnSpc>
                          <a:spcPct val="100000"/>
                        </a:lnSpc>
                        <a:spcBef>
                          <a:spcPts val="0"/>
                        </a:spcBef>
                        <a:spcAft>
                          <a:spcPts val="0"/>
                        </a:spcAft>
                        <a:buFont typeface="Calibri"/>
                        <a:buChar char="-"/>
                      </a:pPr>
                      <a:r>
                        <a:rPr lang="en-US" sz="1100" b="0" i="0" u="none" strike="noStrike" noProof="0">
                          <a:solidFill>
                            <a:schemeClr val="tx1"/>
                          </a:solidFill>
                          <a:effectLst/>
                          <a:latin typeface="Raleway"/>
                        </a:rPr>
                        <a:t>1 kandidat an Elia Dwipua send OL di 03 Jul 2026</a:t>
                      </a:r>
                    </a:p>
                    <a:p>
                      <a:pPr lvl="0" algn="l">
                        <a:lnSpc>
                          <a:spcPct val="100000"/>
                        </a:lnSpc>
                        <a:spcBef>
                          <a:spcPts val="0"/>
                        </a:spcBef>
                        <a:spcAft>
                          <a:spcPts val="0"/>
                        </a:spcAft>
                        <a:buNone/>
                      </a:pPr>
                      <a:r>
                        <a:rPr lang="en-US" sz="1100" b="1" i="0" u="none" strike="noStrike" noProof="0">
                          <a:solidFill>
                            <a:schemeClr val="tx1"/>
                          </a:solidFill>
                          <a:effectLst/>
                          <a:latin typeface="Raleway"/>
                        </a:rPr>
                        <a:t>Next Action:</a:t>
                      </a:r>
                      <a:endParaRPr lang="en-US" sz="1100" b="0" i="0" u="none" strike="noStrike" noProof="0">
                        <a:solidFill>
                          <a:schemeClr val="tx1"/>
                        </a:solidFill>
                        <a:effectLst/>
                        <a:latin typeface="Raleway"/>
                      </a:endParaRPr>
                    </a:p>
                    <a:p>
                      <a:pPr marL="171450" lvl="0" indent="-171450" algn="l">
                        <a:lnSpc>
                          <a:spcPct val="100000"/>
                        </a:lnSpc>
                        <a:spcBef>
                          <a:spcPts val="0"/>
                        </a:spcBef>
                        <a:spcAft>
                          <a:spcPts val="0"/>
                        </a:spcAft>
                        <a:buFont typeface="Calibri"/>
                        <a:buChar char="-"/>
                      </a:pPr>
                      <a:r>
                        <a:rPr lang="en-US" sz="1100" b="0" i="0" u="none" strike="noStrike" noProof="0">
                          <a:solidFill>
                            <a:schemeClr val="tx1"/>
                          </a:solidFill>
                          <a:effectLst/>
                          <a:latin typeface="Raleway"/>
                        </a:rPr>
                        <a:t>Send 10 CV di Week 28 sebagai back up </a:t>
                      </a:r>
                    </a:p>
                  </a:txBody>
                  <a:tcPr marL="3464" marR="3464" marT="3464" marB="24936" anchor="ctr">
                    <a:lnL w="6350">
                      <a:solidFill>
                        <a:srgbClr val="000000"/>
                      </a:solidFill>
                    </a:lnL>
                    <a:lnR w="6350">
                      <a:solidFill>
                        <a:srgbClr val="000000"/>
                      </a:solid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705440413"/>
                  </a:ext>
                </a:extLst>
              </a:tr>
              <a:tr h="1417898">
                <a:tc>
                  <a:txBody>
                    <a:bodyPr/>
                    <a:lstStyle/>
                    <a:p>
                      <a:pPr lvl="0" algn="ctr">
                        <a:buNone/>
                      </a:pPr>
                      <a:r>
                        <a:rPr lang="en-US" sz="1000" b="0" i="0" u="none" strike="noStrike">
                          <a:solidFill>
                            <a:srgbClr val="000000"/>
                          </a:solidFill>
                          <a:effectLst/>
                          <a:latin typeface="Raleway"/>
                        </a:rPr>
                        <a:t>4. </a:t>
                      </a:r>
                    </a:p>
                  </a:txBody>
                  <a:tcPr marL="3464" marR="3464" marT="3464" marB="24936" anchor="ctr">
                    <a:lnL w="6350">
                      <a:solidFill>
                        <a:srgbClr val="000000"/>
                      </a:solidFill>
                    </a:lnL>
                    <a:lnR w="6350">
                      <a:solidFill>
                        <a:srgbClr val="000000"/>
                      </a:solidFill>
                    </a:lnR>
                    <a:lnT w="6350">
                      <a:solidFill>
                        <a:srgbClr val="000000"/>
                      </a:solidFill>
                    </a:lnT>
                    <a:lnB w="6350">
                      <a:solidFill>
                        <a:srgbClr val="000000"/>
                      </a:solidFill>
                    </a:lnB>
                    <a:noFill/>
                  </a:tcPr>
                </a:tc>
                <a:tc>
                  <a:txBody>
                    <a:bodyPr/>
                    <a:lstStyle/>
                    <a:p>
                      <a:pPr lvl="0" algn="ctr">
                        <a:buNone/>
                      </a:pPr>
                      <a:r>
                        <a:rPr lang="en-US" sz="1000" b="0" i="0" u="none" strike="noStrike">
                          <a:solidFill>
                            <a:srgbClr val="000000"/>
                          </a:solidFill>
                          <a:effectLst/>
                          <a:latin typeface="Raleway"/>
                        </a:rPr>
                        <a:t>10-Jun-2026</a:t>
                      </a:r>
                    </a:p>
                  </a:txBody>
                  <a:tcPr marL="3464" marR="3464" marT="3464" marB="24936" anchor="ctr">
                    <a:lnL w="6350">
                      <a:solidFill>
                        <a:srgbClr val="000000"/>
                      </a:solidFill>
                    </a:lnL>
                    <a:lnR w="6350">
                      <a:solidFill>
                        <a:srgbClr val="000000"/>
                      </a:solidFill>
                    </a:lnR>
                    <a:lnT w="6350">
                      <a:solidFill>
                        <a:srgbClr val="000000"/>
                      </a:solidFill>
                    </a:lnT>
                    <a:lnB w="6350">
                      <a:solidFill>
                        <a:srgbClr val="000000"/>
                      </a:solidFill>
                    </a:lnB>
                    <a:noFill/>
                  </a:tcPr>
                </a:tc>
                <a:tc>
                  <a:txBody>
                    <a:bodyPr/>
                    <a:lstStyle/>
                    <a:p>
                      <a:pPr lvl="0" algn="ctr">
                        <a:buNone/>
                      </a:pPr>
                      <a:r>
                        <a:rPr lang="en-US" sz="1100" b="0" i="0" u="none" strike="noStrike" noProof="0">
                          <a:solidFill>
                            <a:srgbClr val="242424"/>
                          </a:solidFill>
                          <a:effectLst/>
                          <a:highlight>
                            <a:srgbClr val="FFFFFF"/>
                          </a:highlight>
                          <a:latin typeface="Aptos Narrow"/>
                        </a:rPr>
                        <a:t>FGDP - Channel Development</a:t>
                      </a:r>
                      <a:endParaRPr lang="en-US"/>
                    </a:p>
                  </a:txBody>
                  <a:tcPr marL="3464" marR="3464" marT="3464" marB="24936" anchor="ctr">
                    <a:lnL w="6350">
                      <a:solidFill>
                        <a:srgbClr val="000000"/>
                      </a:solidFill>
                    </a:lnL>
                    <a:lnR w="6350">
                      <a:solidFill>
                        <a:srgbClr val="000000"/>
                      </a:solidFill>
                    </a:lnR>
                    <a:lnT w="6350">
                      <a:solidFill>
                        <a:srgbClr val="000000"/>
                      </a:solidFill>
                    </a:lnT>
                    <a:lnB w="6350">
                      <a:solidFill>
                        <a:srgbClr val="000000"/>
                      </a:solidFill>
                    </a:lnB>
                    <a:noFill/>
                  </a:tcPr>
                </a:tc>
                <a:tc>
                  <a:txBody>
                    <a:bodyPr/>
                    <a:lstStyle/>
                    <a:p>
                      <a:pPr lvl="0" algn="ctr">
                        <a:buNone/>
                      </a:pPr>
                      <a:r>
                        <a:rPr lang="en-US" sz="1000" b="0" i="0" u="none" strike="noStrike">
                          <a:solidFill>
                            <a:srgbClr val="000000"/>
                          </a:solidFill>
                          <a:effectLst/>
                          <a:latin typeface="Raleway"/>
                        </a:rPr>
                        <a:t>2B</a:t>
                      </a:r>
                    </a:p>
                  </a:txBody>
                  <a:tcPr marL="3464" marR="3464" marT="3464" marB="24936" anchor="ctr">
                    <a:lnL w="6350">
                      <a:solidFill>
                        <a:srgbClr val="000000"/>
                      </a:solidFill>
                    </a:lnL>
                    <a:lnR w="6350">
                      <a:solidFill>
                        <a:srgbClr val="000000"/>
                      </a:solidFill>
                    </a:lnR>
                    <a:lnT w="6350">
                      <a:solidFill>
                        <a:srgbClr val="000000"/>
                      </a:solidFill>
                    </a:lnT>
                    <a:lnB w="6350">
                      <a:solidFill>
                        <a:srgbClr val="000000"/>
                      </a:solidFill>
                    </a:lnB>
                    <a:noFill/>
                  </a:tcPr>
                </a:tc>
                <a:tc>
                  <a:txBody>
                    <a:bodyPr/>
                    <a:lstStyle/>
                    <a:p>
                      <a:pPr lvl="0" algn="ctr">
                        <a:buNone/>
                      </a:pPr>
                      <a:r>
                        <a:rPr lang="en-US" sz="1000" b="0" i="0" u="none" strike="noStrike">
                          <a:solidFill>
                            <a:srgbClr val="000000"/>
                          </a:solidFill>
                          <a:effectLst/>
                          <a:latin typeface="Raleway"/>
                        </a:rPr>
                        <a:t>HO </a:t>
                      </a:r>
                      <a:r>
                        <a:rPr lang="en-US" sz="1000" b="0" i="0" u="none" strike="noStrike" err="1">
                          <a:solidFill>
                            <a:srgbClr val="000000"/>
                          </a:solidFill>
                          <a:effectLst/>
                          <a:latin typeface="Raleway"/>
                        </a:rPr>
                        <a:t>Meruya</a:t>
                      </a:r>
                    </a:p>
                  </a:txBody>
                  <a:tcPr marL="3464" marR="3464" marT="3464" marB="24938"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b="0" i="0" u="none" strike="noStrike">
                          <a:solidFill>
                            <a:srgbClr val="000000"/>
                          </a:solidFill>
                          <a:effectLst/>
                          <a:latin typeface="Raleway"/>
                        </a:rPr>
                        <a:t>PT CISARUA MOUNTAIN DAIRY, TBK</a:t>
                      </a:r>
                      <a:endParaRPr lang="en-US" sz="1000">
                        <a:solidFill>
                          <a:srgbClr val="000000"/>
                        </a:solidFill>
                        <a:latin typeface="Raleway"/>
                      </a:endParaRPr>
                    </a:p>
                  </a:txBody>
                  <a:tcPr marL="3464" marR="3464" marT="3464" marB="24938"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b="0" i="0" u="none" strike="noStrike">
                          <a:solidFill>
                            <a:srgbClr val="000000"/>
                          </a:solidFill>
                          <a:effectLst/>
                          <a:latin typeface="Raleway"/>
                        </a:rPr>
                        <a:t>NEW</a:t>
                      </a:r>
                      <a:endParaRPr lang="en-US">
                        <a:solidFill>
                          <a:srgbClr val="000000"/>
                        </a:solidFill>
                      </a:endParaRPr>
                    </a:p>
                  </a:txBody>
                  <a:tcPr marL="3464" marR="3464" marT="3464" marB="24936" anchor="ctr">
                    <a:lnL w="6350">
                      <a:solidFill>
                        <a:srgbClr val="000000"/>
                      </a:solidFill>
                    </a:lnL>
                    <a:lnR w="6350">
                      <a:solidFill>
                        <a:srgbClr val="000000"/>
                      </a:solid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b="0" i="0" u="none" strike="noStrike">
                          <a:solidFill>
                            <a:srgbClr val="000000"/>
                          </a:solidFill>
                          <a:effectLst/>
                          <a:latin typeface="Raleway"/>
                        </a:rPr>
                        <a:t>09-Juli-26</a:t>
                      </a:r>
                      <a:endParaRPr lang="en-US">
                        <a:solidFill>
                          <a:srgbClr val="000000"/>
                        </a:solidFill>
                      </a:endParaRPr>
                    </a:p>
                  </a:txBody>
                  <a:tcPr marL="3464" marR="3464" marT="3464" marB="24936" anchor="ctr">
                    <a:lnL w="6350">
                      <a:solidFill>
                        <a:srgbClr val="000000"/>
                      </a:solidFill>
                    </a:lnL>
                    <a:lnR w="6350">
                      <a:solidFill>
                        <a:srgbClr val="000000"/>
                      </a:solid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b="0" i="0" u="none" strike="noStrike">
                          <a:solidFill>
                            <a:srgbClr val="000000"/>
                          </a:solidFill>
                          <a:effectLst/>
                          <a:latin typeface="Raleway"/>
                        </a:rPr>
                        <a:t>Marta</a:t>
                      </a:r>
                    </a:p>
                  </a:txBody>
                  <a:tcPr marL="3464" marR="3464" marT="3464" marB="24936" anchor="ctr">
                    <a:lnL w="6350">
                      <a:solidFill>
                        <a:srgbClr val="000000"/>
                      </a:solidFill>
                    </a:lnL>
                    <a:lnR w="6350">
                      <a:solidFill>
                        <a:srgbClr val="000000"/>
                      </a:solid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b="0" i="0" u="none" strike="noStrike">
                          <a:solidFill>
                            <a:srgbClr val="000000"/>
                          </a:solidFill>
                          <a:effectLst/>
                          <a:latin typeface="Raleway"/>
                        </a:rPr>
                        <a:t>3</a:t>
                      </a:r>
                    </a:p>
                  </a:txBody>
                  <a:tcPr marL="3464" marR="3464" marT="3464" marB="24936" anchor="ctr">
                    <a:lnL w="6350">
                      <a:solidFill>
                        <a:srgbClr val="000000"/>
                      </a:solidFill>
                    </a:lnL>
                    <a:lnR w="6350">
                      <a:solidFill>
                        <a:srgbClr val="000000"/>
                      </a:solid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lvl="0" algn="ctr">
                        <a:buNone/>
                      </a:pPr>
                      <a:r>
                        <a:rPr lang="en-US" sz="1000" b="0" i="0" u="none" strike="noStrike">
                          <a:solidFill>
                            <a:schemeClr val="tx1"/>
                          </a:solidFill>
                          <a:effectLst/>
                          <a:latin typeface="Raleway"/>
                        </a:rPr>
                        <a:t>OP</a:t>
                      </a:r>
                      <a:endParaRPr lang="en-US"/>
                    </a:p>
                  </a:txBody>
                  <a:tcPr marL="3464" marR="3464" marT="3464" marB="24936" anchor="ctr">
                    <a:lnL w="6350">
                      <a:solidFill>
                        <a:srgbClr val="000000"/>
                      </a:solidFill>
                    </a:lnL>
                    <a:lnR w="6350">
                      <a:solidFill>
                        <a:srgbClr val="000000"/>
                      </a:solid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lvl="0" indent="0" algn="l">
                        <a:lnSpc>
                          <a:spcPct val="100000"/>
                        </a:lnSpc>
                        <a:spcBef>
                          <a:spcPts val="0"/>
                        </a:spcBef>
                        <a:spcAft>
                          <a:spcPts val="0"/>
                        </a:spcAft>
                        <a:buNone/>
                      </a:pPr>
                      <a:r>
                        <a:rPr lang="en-US" sz="1100" b="0" i="0" u="none" strike="noStrike" noProof="0">
                          <a:solidFill>
                            <a:schemeClr val="tx1"/>
                          </a:solidFill>
                          <a:effectLst/>
                          <a:latin typeface="Raleway"/>
                        </a:rPr>
                        <a:t>Send 3 kandidat lolos HR Interview di Week 27</a:t>
                      </a:r>
                    </a:p>
                    <a:p>
                      <a:pPr marL="0" lvl="0" indent="0" algn="l">
                        <a:lnSpc>
                          <a:spcPct val="100000"/>
                        </a:lnSpc>
                        <a:spcBef>
                          <a:spcPts val="0"/>
                        </a:spcBef>
                        <a:spcAft>
                          <a:spcPts val="0"/>
                        </a:spcAft>
                        <a:buNone/>
                      </a:pPr>
                      <a:r>
                        <a:rPr lang="en-US" sz="1100" b="0" i="0" u="none" strike="noStrike" noProof="0">
                          <a:solidFill>
                            <a:schemeClr val="tx1"/>
                          </a:solidFill>
                          <a:effectLst/>
                          <a:latin typeface="Raleway"/>
                        </a:rPr>
                        <a:t>User Interview 1 kandidat di Week 27</a:t>
                      </a:r>
                    </a:p>
                    <a:p>
                      <a:pPr marL="0" lvl="0" indent="0" algn="l">
                        <a:lnSpc>
                          <a:spcPct val="100000"/>
                        </a:lnSpc>
                        <a:spcBef>
                          <a:spcPts val="0"/>
                        </a:spcBef>
                        <a:spcAft>
                          <a:spcPts val="0"/>
                        </a:spcAft>
                        <a:buNone/>
                      </a:pPr>
                      <a:r>
                        <a:rPr lang="en-US" sz="1100" b="1" i="0" u="none" strike="noStrike" noProof="0">
                          <a:solidFill>
                            <a:schemeClr val="tx1"/>
                          </a:solidFill>
                          <a:effectLst/>
                          <a:latin typeface="Raleway"/>
                        </a:rPr>
                        <a:t>Next Action:</a:t>
                      </a:r>
                      <a:endParaRPr lang="en-US">
                        <a:solidFill>
                          <a:schemeClr val="tx1"/>
                        </a:solidFill>
                      </a:endParaRPr>
                    </a:p>
                    <a:p>
                      <a:pPr marL="0" lvl="0" indent="0" algn="l">
                        <a:lnSpc>
                          <a:spcPct val="100000"/>
                        </a:lnSpc>
                        <a:spcBef>
                          <a:spcPts val="0"/>
                        </a:spcBef>
                        <a:spcAft>
                          <a:spcPts val="0"/>
                        </a:spcAft>
                        <a:buNone/>
                      </a:pPr>
                      <a:r>
                        <a:rPr lang="en-US" sz="1100" b="0" i="0" u="none" strike="noStrike" noProof="0">
                          <a:solidFill>
                            <a:schemeClr val="tx1"/>
                          </a:solidFill>
                          <a:effectLst/>
                          <a:latin typeface="Raleway"/>
                        </a:rPr>
                        <a:t>Final User Interview 1 kandidat di Week 28</a:t>
                      </a:r>
                    </a:p>
                  </a:txBody>
                  <a:tcPr marL="3464" marR="3464" marT="3464" marB="24936" anchor="ctr">
                    <a:lnL w="6350">
                      <a:solidFill>
                        <a:srgbClr val="000000"/>
                      </a:solidFill>
                    </a:lnL>
                    <a:lnR w="6350">
                      <a:solidFill>
                        <a:srgbClr val="000000"/>
                      </a:solidFill>
                    </a:lnR>
                    <a:lnT w="6350">
                      <a:solidFill>
                        <a:srgbClr val="000000"/>
                      </a:solidFill>
                    </a:lnT>
                    <a:noFill/>
                  </a:tcPr>
                </a:tc>
                <a:extLst>
                  <a:ext uri="{0D108BD9-81ED-4DB2-BD59-A6C34878D82A}">
                    <a16:rowId xmlns:a16="http://schemas.microsoft.com/office/drawing/2014/main" val="1422602804"/>
                  </a:ext>
                </a:extLst>
              </a:tr>
            </a:tbl>
          </a:graphicData>
        </a:graphic>
      </p:graphicFrame>
      <p:sp>
        <p:nvSpPr>
          <p:cNvPr id="3" name="TextBox 7">
            <a:extLst>
              <a:ext uri="{FF2B5EF4-FFF2-40B4-BE49-F238E27FC236}">
                <a16:creationId xmlns:a16="http://schemas.microsoft.com/office/drawing/2014/main" id="{C332BB65-50E9-B555-0437-F3DFEFDA1B41}"/>
              </a:ext>
            </a:extLst>
          </p:cNvPr>
          <p:cNvSpPr txBox="1"/>
          <p:nvPr/>
        </p:nvSpPr>
        <p:spPr>
          <a:xfrm>
            <a:off x="431539" y="6415506"/>
            <a:ext cx="10972800" cy="321819"/>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50000"/>
              </a:lnSpc>
            </a:pPr>
            <a:r>
              <a:rPr lang="en-US" sz="1100">
                <a:latin typeface="Raleway"/>
              </a:rPr>
              <a:t>* </a:t>
            </a:r>
            <a:r>
              <a:rPr lang="en-US" sz="1100" i="1">
                <a:latin typeface="Raleway"/>
              </a:rPr>
              <a:t>Update per </a:t>
            </a:r>
            <a:r>
              <a:rPr lang="en-US" sz="1100" i="1" err="1">
                <a:latin typeface="Raleway"/>
              </a:rPr>
              <a:t>tanggal</a:t>
            </a:r>
            <a:r>
              <a:rPr lang="en-US" sz="1100" i="1">
                <a:latin typeface="Raleway"/>
              </a:rPr>
              <a:t> 03 Juli 2026.</a:t>
            </a:r>
            <a:endParaRPr lang="en-US" sz="1100">
              <a:latin typeface="Raleway"/>
            </a:endParaRPr>
          </a:p>
        </p:txBody>
      </p:sp>
      <p:sp>
        <p:nvSpPr>
          <p:cNvPr id="5" name="Text 0">
            <a:extLst>
              <a:ext uri="{FF2B5EF4-FFF2-40B4-BE49-F238E27FC236}">
                <a16:creationId xmlns:a16="http://schemas.microsoft.com/office/drawing/2014/main" id="{CB018DD7-AFCC-2869-1387-4D8841E41D7B}"/>
              </a:ext>
            </a:extLst>
          </p:cNvPr>
          <p:cNvSpPr/>
          <p:nvPr/>
        </p:nvSpPr>
        <p:spPr>
          <a:xfrm>
            <a:off x="283181" y="740355"/>
            <a:ext cx="11277295" cy="548640"/>
          </a:xfrm>
          <a:prstGeom prst="rect">
            <a:avLst/>
          </a:prstGeom>
          <a:noFill/>
          <a:ln/>
        </p:spPr>
        <p:txBody>
          <a:bodyPr wrap="square" lIns="91440" tIns="45720" rIns="91440" bIns="45720" rtlCol="0" anchor="ctr"/>
          <a:lstStyle/>
          <a:p>
            <a:r>
              <a:rPr lang="en-US" sz="2800" b="1">
                <a:solidFill>
                  <a:srgbClr val="12284C"/>
                </a:solidFill>
              </a:rPr>
              <a:t>CLAP &amp; FGDP - Update</a:t>
            </a:r>
          </a:p>
        </p:txBody>
      </p:sp>
    </p:spTree>
    <p:extLst>
      <p:ext uri="{BB962C8B-B14F-4D97-AF65-F5344CB8AC3E}">
        <p14:creationId xmlns:p14="http://schemas.microsoft.com/office/powerpoint/2010/main" val="3564015099"/>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C1882799-06F9-9936-80D4-DE17425D2473}"/>
            </a:ext>
          </a:extLst>
        </p:cNvPr>
        <p:cNvGrpSpPr/>
        <p:nvPr/>
      </p:nvGrpSpPr>
      <p:grpSpPr>
        <a:xfrm>
          <a:off x="0" y="0"/>
          <a:ext cx="0" cy="0"/>
          <a:chOff x="0" y="0"/>
          <a:chExt cx="0" cy="0"/>
        </a:xfrm>
      </p:grpSpPr>
      <p:graphicFrame>
        <p:nvGraphicFramePr>
          <p:cNvPr id="4" name="Table 3">
            <a:extLst>
              <a:ext uri="{FF2B5EF4-FFF2-40B4-BE49-F238E27FC236}">
                <a16:creationId xmlns:a16="http://schemas.microsoft.com/office/drawing/2014/main" id="{FA2C283C-B5B2-E297-6EE8-5C078E0643FD}"/>
              </a:ext>
            </a:extLst>
          </p:cNvPr>
          <p:cNvGraphicFramePr>
            <a:graphicFrameLocks noGrp="1"/>
          </p:cNvGraphicFramePr>
          <p:nvPr/>
        </p:nvGraphicFramePr>
        <p:xfrm>
          <a:off x="154781" y="1003940"/>
          <a:ext cx="11880792" cy="2634592"/>
        </p:xfrm>
        <a:graphic>
          <a:graphicData uri="http://schemas.openxmlformats.org/drawingml/2006/table">
            <a:tbl>
              <a:tblPr bandRow="1">
                <a:tableStyleId>{5C22544A-7EE6-4342-B048-85BDC9FD1C3A}</a:tableStyleId>
              </a:tblPr>
              <a:tblGrid>
                <a:gridCol w="314041">
                  <a:extLst>
                    <a:ext uri="{9D8B030D-6E8A-4147-A177-3AD203B41FA5}">
                      <a16:colId xmlns:a16="http://schemas.microsoft.com/office/drawing/2014/main" val="1624479617"/>
                    </a:ext>
                  </a:extLst>
                </a:gridCol>
                <a:gridCol w="777590">
                  <a:extLst>
                    <a:ext uri="{9D8B030D-6E8A-4147-A177-3AD203B41FA5}">
                      <a16:colId xmlns:a16="http://schemas.microsoft.com/office/drawing/2014/main" val="1386910253"/>
                    </a:ext>
                  </a:extLst>
                </a:gridCol>
                <a:gridCol w="1117321">
                  <a:extLst>
                    <a:ext uri="{9D8B030D-6E8A-4147-A177-3AD203B41FA5}">
                      <a16:colId xmlns:a16="http://schemas.microsoft.com/office/drawing/2014/main" val="3786158925"/>
                    </a:ext>
                  </a:extLst>
                </a:gridCol>
                <a:gridCol w="606559">
                  <a:extLst>
                    <a:ext uri="{9D8B030D-6E8A-4147-A177-3AD203B41FA5}">
                      <a16:colId xmlns:a16="http://schemas.microsoft.com/office/drawing/2014/main" val="2471538329"/>
                    </a:ext>
                  </a:extLst>
                </a:gridCol>
                <a:gridCol w="808027">
                  <a:extLst>
                    <a:ext uri="{9D8B030D-6E8A-4147-A177-3AD203B41FA5}">
                      <a16:colId xmlns:a16="http://schemas.microsoft.com/office/drawing/2014/main" val="2483551927"/>
                    </a:ext>
                  </a:extLst>
                </a:gridCol>
                <a:gridCol w="906572">
                  <a:extLst>
                    <a:ext uri="{9D8B030D-6E8A-4147-A177-3AD203B41FA5}">
                      <a16:colId xmlns:a16="http://schemas.microsoft.com/office/drawing/2014/main" val="919004500"/>
                    </a:ext>
                  </a:extLst>
                </a:gridCol>
                <a:gridCol w="667945">
                  <a:extLst>
                    <a:ext uri="{9D8B030D-6E8A-4147-A177-3AD203B41FA5}">
                      <a16:colId xmlns:a16="http://schemas.microsoft.com/office/drawing/2014/main" val="2062349817"/>
                    </a:ext>
                  </a:extLst>
                </a:gridCol>
                <a:gridCol w="992335">
                  <a:extLst>
                    <a:ext uri="{9D8B030D-6E8A-4147-A177-3AD203B41FA5}">
                      <a16:colId xmlns:a16="http://schemas.microsoft.com/office/drawing/2014/main" val="1374241354"/>
                    </a:ext>
                  </a:extLst>
                </a:gridCol>
                <a:gridCol w="643675">
                  <a:extLst>
                    <a:ext uri="{9D8B030D-6E8A-4147-A177-3AD203B41FA5}">
                      <a16:colId xmlns:a16="http://schemas.microsoft.com/office/drawing/2014/main" val="3598872753"/>
                    </a:ext>
                  </a:extLst>
                </a:gridCol>
                <a:gridCol w="823456">
                  <a:extLst>
                    <a:ext uri="{9D8B030D-6E8A-4147-A177-3AD203B41FA5}">
                      <a16:colId xmlns:a16="http://schemas.microsoft.com/office/drawing/2014/main" val="1611233793"/>
                    </a:ext>
                  </a:extLst>
                </a:gridCol>
                <a:gridCol w="1244355">
                  <a:extLst>
                    <a:ext uri="{9D8B030D-6E8A-4147-A177-3AD203B41FA5}">
                      <a16:colId xmlns:a16="http://schemas.microsoft.com/office/drawing/2014/main" val="3552881247"/>
                    </a:ext>
                  </a:extLst>
                </a:gridCol>
                <a:gridCol w="2978916">
                  <a:extLst>
                    <a:ext uri="{9D8B030D-6E8A-4147-A177-3AD203B41FA5}">
                      <a16:colId xmlns:a16="http://schemas.microsoft.com/office/drawing/2014/main" val="1895470564"/>
                    </a:ext>
                  </a:extLst>
                </a:gridCol>
              </a:tblGrid>
              <a:tr h="384788">
                <a:tc>
                  <a:txBody>
                    <a:bodyPr/>
                    <a:lstStyle/>
                    <a:p>
                      <a:pPr algn="ctr" fontAlgn="ctr">
                        <a:buNone/>
                      </a:pPr>
                      <a:r>
                        <a:rPr lang="en-US" sz="1050" b="1">
                          <a:solidFill>
                            <a:srgbClr val="FFFFFF"/>
                          </a:solidFill>
                          <a:effectLst/>
                          <a:latin typeface="Raleway"/>
                        </a:rPr>
                        <a:t>No</a:t>
                      </a:r>
                      <a:endParaRPr lang="en-US" sz="1050">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err="1">
                          <a:solidFill>
                            <a:srgbClr val="FFFFFF"/>
                          </a:solidFill>
                          <a:effectLst/>
                          <a:latin typeface="Raleway"/>
                        </a:rPr>
                        <a:t>Tanggal</a:t>
                      </a:r>
                      <a:br>
                        <a:rPr lang="en-US" sz="1050" b="1">
                          <a:solidFill>
                            <a:srgbClr val="FFFFFF"/>
                          </a:solidFill>
                          <a:effectLst/>
                          <a:latin typeface="Raleway"/>
                        </a:rPr>
                      </a:br>
                      <a:r>
                        <a:rPr lang="en-US" sz="1050" b="1">
                          <a:solidFill>
                            <a:srgbClr val="FFFFFF"/>
                          </a:solidFill>
                          <a:effectLst/>
                          <a:latin typeface="Raleway"/>
                        </a:rPr>
                        <a:t>FPTK</a:t>
                      </a:r>
                      <a:endParaRPr lang="en-US" sz="1050">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err="1">
                          <a:solidFill>
                            <a:srgbClr val="FFFFFF"/>
                          </a:solidFill>
                          <a:effectLst/>
                          <a:latin typeface="Raleway"/>
                        </a:rPr>
                        <a:t>Posisi</a:t>
                      </a:r>
                      <a:endParaRPr lang="en-US" sz="1050" b="1">
                        <a:solidFill>
                          <a:srgbClr val="FFFFFF"/>
                        </a:solidFill>
                        <a:effectLst/>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a:solidFill>
                            <a:srgbClr val="FFFFFF"/>
                          </a:solidFill>
                          <a:effectLst/>
                          <a:latin typeface="Raleway"/>
                        </a:rPr>
                        <a:t>Level</a:t>
                      </a:r>
                      <a:endParaRPr lang="en-US" sz="1050">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a:solidFill>
                            <a:srgbClr val="FFFFFF"/>
                          </a:solidFill>
                          <a:effectLst/>
                          <a:latin typeface="Raleway"/>
                        </a:rPr>
                        <a:t>Lokasi</a:t>
                      </a:r>
                      <a:endParaRPr lang="en-US" sz="1050">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a:solidFill>
                            <a:srgbClr val="FFFFFF"/>
                          </a:solidFill>
                          <a:effectLst/>
                          <a:latin typeface="Raleway"/>
                        </a:rPr>
                        <a:t>Business</a:t>
                      </a:r>
                      <a:br>
                        <a:rPr lang="en-US" sz="1050" b="1">
                          <a:solidFill>
                            <a:srgbClr val="FFFFFF"/>
                          </a:solidFill>
                          <a:effectLst/>
                          <a:latin typeface="Raleway"/>
                        </a:rPr>
                      </a:br>
                      <a:r>
                        <a:rPr lang="en-US" sz="1050" b="1">
                          <a:solidFill>
                            <a:srgbClr val="FFFFFF"/>
                          </a:solidFill>
                          <a:effectLst/>
                          <a:latin typeface="Raleway"/>
                        </a:rPr>
                        <a:t>Unit</a:t>
                      </a:r>
                      <a:endParaRPr lang="en-US" sz="1050">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err="1">
                          <a:solidFill>
                            <a:srgbClr val="FFFFFF"/>
                          </a:solidFill>
                          <a:effectLst/>
                          <a:latin typeface="Raleway"/>
                        </a:rPr>
                        <a:t>Kategori</a:t>
                      </a:r>
                      <a:br>
                        <a:rPr lang="en-US" sz="1050" b="1">
                          <a:solidFill>
                            <a:srgbClr val="FFFFFF"/>
                          </a:solidFill>
                          <a:effectLst/>
                          <a:latin typeface="Raleway"/>
                        </a:rPr>
                      </a:br>
                      <a:r>
                        <a:rPr lang="en-US" sz="1050" b="1">
                          <a:solidFill>
                            <a:srgbClr val="FFFFFF"/>
                          </a:solidFill>
                          <a:effectLst/>
                          <a:latin typeface="Raleway"/>
                        </a:rPr>
                        <a:t>FPTK</a:t>
                      </a:r>
                      <a:endParaRPr lang="en-US" sz="1050">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a:solidFill>
                            <a:srgbClr val="FFFFFF"/>
                          </a:solidFill>
                          <a:effectLst/>
                          <a:latin typeface="Raleway"/>
                        </a:rPr>
                        <a:t>SLA Target</a:t>
                      </a:r>
                      <a:br>
                        <a:rPr lang="en-US" sz="1050" b="1">
                          <a:solidFill>
                            <a:srgbClr val="FFFFFF"/>
                          </a:solidFill>
                          <a:effectLst/>
                          <a:latin typeface="Raleway"/>
                        </a:rPr>
                      </a:br>
                      <a:r>
                        <a:rPr lang="en-US" sz="1050" b="1" err="1">
                          <a:solidFill>
                            <a:srgbClr val="FFFFFF"/>
                          </a:solidFill>
                          <a:effectLst/>
                          <a:latin typeface="Raleway"/>
                        </a:rPr>
                        <a:t>Pemenuhan</a:t>
                      </a:r>
                      <a:endParaRPr lang="en-US" sz="1050">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a:solidFill>
                            <a:srgbClr val="FFFFFF"/>
                          </a:solidFill>
                          <a:effectLst/>
                          <a:latin typeface="Raleway"/>
                        </a:rPr>
                        <a:t>PIC</a:t>
                      </a:r>
                      <a:br>
                        <a:rPr lang="en-US" sz="1050" b="1">
                          <a:solidFill>
                            <a:srgbClr val="FFFFFF"/>
                          </a:solidFill>
                          <a:effectLst/>
                          <a:latin typeface="Raleway"/>
                        </a:rPr>
                      </a:br>
                      <a:r>
                        <a:rPr lang="en-US" sz="1050" b="1">
                          <a:solidFill>
                            <a:srgbClr val="FFFFFF"/>
                          </a:solidFill>
                          <a:effectLst/>
                          <a:latin typeface="Raleway"/>
                        </a:rPr>
                        <a:t>TA</a:t>
                      </a:r>
                      <a:endParaRPr lang="en-US" sz="1050">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err="1">
                          <a:solidFill>
                            <a:srgbClr val="FFFFFF"/>
                          </a:solidFill>
                          <a:effectLst/>
                          <a:latin typeface="Raleway"/>
                        </a:rPr>
                        <a:t>Jumlah</a:t>
                      </a:r>
                      <a:br>
                        <a:rPr lang="en-US" sz="1050" b="1">
                          <a:solidFill>
                            <a:srgbClr val="FFFFFF"/>
                          </a:solidFill>
                          <a:effectLst/>
                          <a:latin typeface="Raleway"/>
                        </a:rPr>
                      </a:br>
                      <a:r>
                        <a:rPr lang="en-US" sz="1050" b="1" err="1">
                          <a:solidFill>
                            <a:srgbClr val="FFFFFF"/>
                          </a:solidFill>
                          <a:effectLst/>
                          <a:latin typeface="Raleway"/>
                        </a:rPr>
                        <a:t>Permintaan</a:t>
                      </a:r>
                      <a:endParaRPr lang="en-US" sz="1050">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a:solidFill>
                            <a:srgbClr val="FFFFFF"/>
                          </a:solidFill>
                          <a:effectLst/>
                          <a:latin typeface="Raleway"/>
                        </a:rPr>
                        <a:t>Status</a:t>
                      </a:r>
                      <a:br>
                        <a:rPr lang="en-US" sz="1050" b="1">
                          <a:solidFill>
                            <a:srgbClr val="FFFFFF"/>
                          </a:solidFill>
                          <a:effectLst/>
                          <a:latin typeface="Raleway"/>
                        </a:rPr>
                      </a:br>
                      <a:r>
                        <a:rPr lang="en-US" sz="1050" b="1" err="1">
                          <a:solidFill>
                            <a:srgbClr val="FFFFFF"/>
                          </a:solidFill>
                          <a:effectLst/>
                          <a:latin typeface="Raleway"/>
                        </a:rPr>
                        <a:t>Rekrutmen</a:t>
                      </a:r>
                      <a:endParaRPr lang="en-US" sz="1050">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tc>
                  <a:txBody>
                    <a:bodyPr/>
                    <a:lstStyle/>
                    <a:p>
                      <a:pPr algn="ctr" fontAlgn="ctr">
                        <a:buNone/>
                      </a:pPr>
                      <a:r>
                        <a:rPr lang="en-US" sz="1050" b="1">
                          <a:solidFill>
                            <a:srgbClr val="FFFFFF"/>
                          </a:solidFill>
                          <a:effectLst/>
                          <a:latin typeface="Raleway"/>
                        </a:rPr>
                        <a:t>Recruitment Update</a:t>
                      </a:r>
                      <a:endParaRPr lang="en-US" sz="1050">
                        <a:latin typeface="Raleway"/>
                      </a:endParaRPr>
                    </a:p>
                  </a:txBody>
                  <a:tcPr marL="9525" marR="9525" marT="9525"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extLst>
                  <a:ext uri="{0D108BD9-81ED-4DB2-BD59-A6C34878D82A}">
                    <a16:rowId xmlns:a16="http://schemas.microsoft.com/office/drawing/2014/main" val="3813799395"/>
                  </a:ext>
                </a:extLst>
              </a:tr>
              <a:tr h="2057775">
                <a:tc>
                  <a:txBody>
                    <a:bodyPr/>
                    <a:lstStyle/>
                    <a:p>
                      <a:pPr lvl="0" algn="ctr">
                        <a:buNone/>
                      </a:pPr>
                      <a:r>
                        <a:rPr lang="en-US" sz="1050">
                          <a:effectLst/>
                          <a:latin typeface="Raleway"/>
                        </a:rPr>
                        <a:t>1</a:t>
                      </a:r>
                    </a:p>
                  </a:txBody>
                  <a:tcPr marL="9524" marR="9524" marT="9524" anchor="ctr">
                    <a:lnL w="6350">
                      <a:solidFill>
                        <a:srgbClr val="000000"/>
                      </a:solid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a:solidFill>
                        <a:srgbClr val="000000"/>
                      </a:solidFill>
                    </a:lnB>
                    <a:noFill/>
                  </a:tcPr>
                </a:tc>
                <a:tc>
                  <a:txBody>
                    <a:bodyPr/>
                    <a:lstStyle/>
                    <a:p>
                      <a:pPr lvl="0" algn="ctr">
                        <a:buNone/>
                      </a:pPr>
                      <a:r>
                        <a:rPr lang="en-US" sz="1050">
                          <a:effectLst/>
                          <a:latin typeface="Raleway"/>
                        </a:rPr>
                        <a:t>12-Mar-26</a:t>
                      </a:r>
                      <a:endParaRPr lang="en-US" sz="1050">
                        <a:latin typeface="Raleway"/>
                      </a:endParaRPr>
                    </a:p>
                  </a:txBody>
                  <a:tcPr marL="9524" marR="9524" marT="952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a:solidFill>
                        <a:srgbClr val="000000"/>
                      </a:solidFill>
                    </a:lnB>
                    <a:noFill/>
                  </a:tcPr>
                </a:tc>
                <a:tc>
                  <a:txBody>
                    <a:bodyPr/>
                    <a:lstStyle/>
                    <a:p>
                      <a:pPr lvl="0" algn="ctr">
                        <a:buNone/>
                      </a:pPr>
                      <a:r>
                        <a:rPr lang="en-US" sz="1050" b="0" i="0" u="none" strike="noStrike" noProof="0">
                          <a:solidFill>
                            <a:srgbClr val="000000"/>
                          </a:solidFill>
                          <a:effectLst/>
                          <a:latin typeface="Raleway"/>
                        </a:rPr>
                        <a:t>Fresh Graduate Development Program - Business Development</a:t>
                      </a:r>
                      <a:endParaRPr lang="en-US" sz="1050"/>
                    </a:p>
                  </a:txBody>
                  <a:tcPr marL="9524" marR="9524" marT="952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a:solidFill>
                        <a:srgbClr val="000000"/>
                      </a:solidFill>
                    </a:lnB>
                    <a:noFill/>
                  </a:tcPr>
                </a:tc>
                <a:tc>
                  <a:txBody>
                    <a:bodyPr/>
                    <a:lstStyle/>
                    <a:p>
                      <a:pPr lvl="0" algn="ctr">
                        <a:buNone/>
                      </a:pPr>
                      <a:r>
                        <a:rPr lang="en-US" sz="1050">
                          <a:effectLst/>
                          <a:latin typeface="Raleway"/>
                        </a:rPr>
                        <a:t>2B</a:t>
                      </a:r>
                      <a:endParaRPr lang="en-US" sz="1050"/>
                    </a:p>
                  </a:txBody>
                  <a:tcPr marL="9524" marR="9524" marT="952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a:solidFill>
                        <a:srgbClr val="000000"/>
                      </a:solidFill>
                    </a:lnB>
                    <a:noFill/>
                  </a:tcPr>
                </a:tc>
                <a:tc>
                  <a:txBody>
                    <a:bodyPr/>
                    <a:lstStyle/>
                    <a:p>
                      <a:pPr lvl="0" algn="ctr">
                        <a:buNone/>
                      </a:pPr>
                      <a:r>
                        <a:rPr lang="en-US" sz="1050">
                          <a:effectLst/>
                          <a:latin typeface="Raleway"/>
                        </a:rPr>
                        <a:t>HO </a:t>
                      </a:r>
                      <a:r>
                        <a:rPr lang="en-US" sz="1050" err="1">
                          <a:effectLst/>
                          <a:latin typeface="Raleway"/>
                        </a:rPr>
                        <a:t>Meruya</a:t>
                      </a:r>
                      <a:endParaRPr lang="en-US" sz="1050"/>
                    </a:p>
                  </a:txBody>
                  <a:tcPr marL="9524" marR="9524" marT="952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a:solidFill>
                        <a:srgbClr val="000000"/>
                      </a:solidFill>
                    </a:lnB>
                    <a:noFill/>
                  </a:tcPr>
                </a:tc>
                <a:tc>
                  <a:txBody>
                    <a:bodyPr/>
                    <a:lstStyle/>
                    <a:p>
                      <a:pPr lvl="0" algn="ctr">
                        <a:buNone/>
                      </a:pPr>
                      <a:r>
                        <a:rPr lang="en-US" sz="1050" b="0" i="0" u="none" strike="noStrike" noProof="0">
                          <a:solidFill>
                            <a:srgbClr val="000000"/>
                          </a:solidFill>
                          <a:effectLst/>
                          <a:latin typeface="Raleway"/>
                        </a:rPr>
                        <a:t>PT CISARUA MOUNTAIN DAIRY, TBK</a:t>
                      </a:r>
                      <a:endParaRPr lang="en-US" sz="1050">
                        <a:latin typeface="Raleway"/>
                      </a:endParaRPr>
                    </a:p>
                  </a:txBody>
                  <a:tcPr marL="9524" marR="9524" marT="952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a:solidFill>
                        <a:srgbClr val="000000"/>
                      </a:solidFill>
                    </a:lnB>
                    <a:noFill/>
                  </a:tcPr>
                </a:tc>
                <a:tc>
                  <a:txBody>
                    <a:bodyPr/>
                    <a:lstStyle/>
                    <a:p>
                      <a:pPr lvl="0" algn="ctr">
                        <a:buNone/>
                      </a:pPr>
                      <a:r>
                        <a:rPr lang="en-US" sz="1050">
                          <a:effectLst/>
                          <a:latin typeface="Raleway"/>
                        </a:rPr>
                        <a:t>NEW</a:t>
                      </a:r>
                      <a:endParaRPr lang="en-US" sz="1050"/>
                    </a:p>
                  </a:txBody>
                  <a:tcPr marL="9524" marR="9524" marT="952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a:solidFill>
                        <a:srgbClr val="000000"/>
                      </a:solidFill>
                    </a:lnB>
                    <a:noFill/>
                  </a:tcPr>
                </a:tc>
                <a:tc>
                  <a:txBody>
                    <a:bodyPr/>
                    <a:lstStyle/>
                    <a:p>
                      <a:pPr lvl="0" algn="ctr">
                        <a:buNone/>
                      </a:pPr>
                      <a:r>
                        <a:rPr lang="en-US" sz="1050">
                          <a:effectLst/>
                          <a:latin typeface="Raleway"/>
                        </a:rPr>
                        <a:t>11-Apr-26</a:t>
                      </a:r>
                      <a:endParaRPr lang="en-US" sz="1050"/>
                    </a:p>
                  </a:txBody>
                  <a:tcPr marL="9524" marR="9524" marT="952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a:solidFill>
                        <a:srgbClr val="000000"/>
                      </a:solidFill>
                    </a:lnB>
                    <a:noFill/>
                  </a:tcPr>
                </a:tc>
                <a:tc>
                  <a:txBody>
                    <a:bodyPr/>
                    <a:lstStyle/>
                    <a:p>
                      <a:pPr lvl="0" algn="ctr">
                        <a:buNone/>
                      </a:pPr>
                      <a:r>
                        <a:rPr lang="en-US" sz="1050">
                          <a:effectLst/>
                          <a:latin typeface="Raleway"/>
                        </a:rPr>
                        <a:t>Marta</a:t>
                      </a:r>
                    </a:p>
                  </a:txBody>
                  <a:tcPr marL="9524" marR="9524" marT="952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a:solidFill>
                        <a:srgbClr val="000000"/>
                      </a:solidFill>
                    </a:lnB>
                    <a:noFill/>
                  </a:tcPr>
                </a:tc>
                <a:tc>
                  <a:txBody>
                    <a:bodyPr/>
                    <a:lstStyle/>
                    <a:p>
                      <a:pPr lvl="0" algn="ctr">
                        <a:buNone/>
                      </a:pPr>
                      <a:r>
                        <a:rPr lang="en-US" sz="1050">
                          <a:effectLst/>
                          <a:latin typeface="Raleway"/>
                        </a:rPr>
                        <a:t>1</a:t>
                      </a:r>
                      <a:endParaRPr lang="en-US" sz="1050"/>
                    </a:p>
                  </a:txBody>
                  <a:tcPr marL="9524" marR="9524" marT="952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a:solidFill>
                        <a:srgbClr val="000000"/>
                      </a:solidFill>
                    </a:lnB>
                    <a:noFill/>
                  </a:tcPr>
                </a:tc>
                <a:tc>
                  <a:txBody>
                    <a:bodyPr/>
                    <a:lstStyle/>
                    <a:p>
                      <a:pPr lvl="0" algn="ctr">
                        <a:buNone/>
                      </a:pPr>
                      <a:r>
                        <a:rPr lang="en-US" sz="1050">
                          <a:effectLst/>
                          <a:latin typeface="Raleway"/>
                        </a:rPr>
                        <a:t>OP</a:t>
                      </a:r>
                      <a:endParaRPr lang="en-US" sz="1050"/>
                    </a:p>
                  </a:txBody>
                  <a:tcPr marL="9524" marR="9524" marT="9524"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a:solidFill>
                        <a:srgbClr val="000000"/>
                      </a:solidFill>
                    </a:lnB>
                    <a:noFill/>
                  </a:tcPr>
                </a:tc>
                <a:tc>
                  <a:txBody>
                    <a:bodyPr/>
                    <a:lstStyle/>
                    <a:p>
                      <a:pPr marL="171450" lvl="0" indent="-171450" algn="l">
                        <a:lnSpc>
                          <a:spcPct val="100000"/>
                        </a:lnSpc>
                        <a:spcBef>
                          <a:spcPts val="0"/>
                        </a:spcBef>
                        <a:spcAft>
                          <a:spcPts val="0"/>
                        </a:spcAft>
                        <a:buFont typeface="Arial"/>
                        <a:buChar char="•"/>
                      </a:pPr>
                      <a:r>
                        <a:rPr lang="en-US" sz="900" b="0" i="0" u="none" strike="noStrike" baseline="0" noProof="0">
                          <a:solidFill>
                            <a:srgbClr val="000000"/>
                          </a:solidFill>
                          <a:effectLst/>
                          <a:latin typeface="Raleway"/>
                        </a:rPr>
                        <a:t>Offering 1 kandidat a.n. Alyssa - REJECT OFFER, salary issue</a:t>
                      </a:r>
                      <a:endParaRPr lang="en-US" sz="900"/>
                    </a:p>
                    <a:p>
                      <a:pPr marL="171450" lvl="0" indent="-171450" algn="l">
                        <a:lnSpc>
                          <a:spcPct val="100000"/>
                        </a:lnSpc>
                        <a:spcBef>
                          <a:spcPts val="0"/>
                        </a:spcBef>
                        <a:spcAft>
                          <a:spcPts val="0"/>
                        </a:spcAft>
                        <a:buFont typeface="Arial"/>
                        <a:buChar char="•"/>
                      </a:pPr>
                      <a:r>
                        <a:rPr lang="en-US" sz="900" b="0" i="0" u="none" strike="noStrike" baseline="0" noProof="0">
                          <a:solidFill>
                            <a:srgbClr val="000000"/>
                          </a:solidFill>
                          <a:effectLst/>
                          <a:latin typeface="Raleway"/>
                        </a:rPr>
                        <a:t>Week 16: Sent 2 kandidta to User</a:t>
                      </a:r>
                    </a:p>
                    <a:p>
                      <a:pPr marL="171450" lvl="0" indent="-171450" algn="l">
                        <a:lnSpc>
                          <a:spcPct val="100000"/>
                        </a:lnSpc>
                        <a:spcBef>
                          <a:spcPts val="0"/>
                        </a:spcBef>
                        <a:spcAft>
                          <a:spcPts val="0"/>
                        </a:spcAft>
                        <a:buFont typeface="Arial"/>
                        <a:buChar char="•"/>
                      </a:pPr>
                      <a:r>
                        <a:rPr lang="en-US" sz="900" b="0" i="0" u="none" strike="noStrike" baseline="0" noProof="0">
                          <a:solidFill>
                            <a:srgbClr val="000000"/>
                          </a:solidFill>
                          <a:effectLst/>
                          <a:latin typeface="Raleway"/>
                        </a:rPr>
                        <a:t>Week 18: sourcing 10 CVs baru</a:t>
                      </a:r>
                    </a:p>
                    <a:p>
                      <a:pPr marL="171450" lvl="0" indent="-171450" algn="l">
                        <a:lnSpc>
                          <a:spcPct val="100000"/>
                        </a:lnSpc>
                        <a:spcBef>
                          <a:spcPts val="0"/>
                        </a:spcBef>
                        <a:spcAft>
                          <a:spcPts val="0"/>
                        </a:spcAft>
                        <a:buFont typeface="Arial"/>
                        <a:buChar char="•"/>
                      </a:pPr>
                      <a:r>
                        <a:rPr lang="en-US" sz="900" b="0" i="0" u="none" strike="noStrike" baseline="0" noProof="0">
                          <a:solidFill>
                            <a:srgbClr val="000000"/>
                          </a:solidFill>
                          <a:effectLst/>
                          <a:latin typeface="Raleway"/>
                        </a:rPr>
                        <a:t>Week 19: HR Interview 1 kandidat – DROP</a:t>
                      </a:r>
                    </a:p>
                    <a:p>
                      <a:pPr marL="171450" lvl="0" indent="-171450" algn="l">
                        <a:lnSpc>
                          <a:spcPct val="100000"/>
                        </a:lnSpc>
                        <a:spcBef>
                          <a:spcPts val="0"/>
                        </a:spcBef>
                        <a:spcAft>
                          <a:spcPts val="0"/>
                        </a:spcAft>
                        <a:buFont typeface="Arial"/>
                        <a:buChar char="•"/>
                      </a:pPr>
                      <a:r>
                        <a:rPr lang="en-US" sz="900" b="0" i="0" u="none" strike="noStrike" baseline="0" noProof="0">
                          <a:solidFill>
                            <a:srgbClr val="000000"/>
                          </a:solidFill>
                          <a:effectLst/>
                          <a:latin typeface="Raleway"/>
                        </a:rPr>
                        <a:t>Week 20: User Interview 1 kandidat &amp; Send 2 kandidat baru ke User</a:t>
                      </a:r>
                    </a:p>
                    <a:p>
                      <a:pPr marL="171450" lvl="0" indent="-171450" algn="l">
                        <a:lnSpc>
                          <a:spcPct val="100000"/>
                        </a:lnSpc>
                        <a:spcBef>
                          <a:spcPts val="0"/>
                        </a:spcBef>
                        <a:spcAft>
                          <a:spcPts val="0"/>
                        </a:spcAft>
                        <a:buFont typeface="Arial"/>
                        <a:buChar char="•"/>
                      </a:pPr>
                      <a:r>
                        <a:rPr lang="en-US" sz="900" b="0" i="0" u="none" strike="noStrike" baseline="0" noProof="0">
                          <a:solidFill>
                            <a:srgbClr val="000000"/>
                          </a:solidFill>
                          <a:effectLst/>
                          <a:latin typeface="Raleway"/>
                        </a:rPr>
                        <a:t>Week 21: User Interview Ammara – DROP</a:t>
                      </a:r>
                    </a:p>
                    <a:p>
                      <a:pPr marL="171450" lvl="0" indent="-171450" algn="l">
                        <a:lnSpc>
                          <a:spcPct val="100000"/>
                        </a:lnSpc>
                        <a:spcBef>
                          <a:spcPts val="0"/>
                        </a:spcBef>
                        <a:spcAft>
                          <a:spcPts val="0"/>
                        </a:spcAft>
                        <a:buFont typeface="Arial"/>
                        <a:buChar char="•"/>
                      </a:pPr>
                      <a:r>
                        <a:rPr lang="en-US" sz="900" b="0" i="0" u="none" strike="noStrike" baseline="0" noProof="0">
                          <a:solidFill>
                            <a:srgbClr val="000000"/>
                          </a:solidFill>
                          <a:effectLst/>
                          <a:latin typeface="Raleway"/>
                        </a:rPr>
                        <a:t>Week 22 &amp; 23: Connect LinkedIn candidate potential</a:t>
                      </a:r>
                    </a:p>
                    <a:p>
                      <a:pPr marL="171450" lvl="0" indent="-171450" algn="l">
                        <a:lnSpc>
                          <a:spcPct val="100000"/>
                        </a:lnSpc>
                        <a:spcBef>
                          <a:spcPts val="0"/>
                        </a:spcBef>
                        <a:spcAft>
                          <a:spcPts val="0"/>
                        </a:spcAft>
                        <a:buFont typeface="Arial"/>
                        <a:buChar char="•"/>
                      </a:pPr>
                      <a:r>
                        <a:rPr lang="en-US" sz="900" b="0" i="0" u="none" strike="noStrike" baseline="0" noProof="0">
                          <a:solidFill>
                            <a:srgbClr val="000000"/>
                          </a:solidFill>
                          <a:effectLst/>
                          <a:latin typeface="Raleway"/>
                        </a:rPr>
                        <a:t>Week 24: Send 10 CVs shortlisted HR</a:t>
                      </a:r>
                    </a:p>
                    <a:p>
                      <a:pPr marL="171450" lvl="0" indent="-171450" algn="l">
                        <a:lnSpc>
                          <a:spcPct val="100000"/>
                        </a:lnSpc>
                        <a:spcBef>
                          <a:spcPts val="0"/>
                        </a:spcBef>
                        <a:spcAft>
                          <a:spcPts val="0"/>
                        </a:spcAft>
                        <a:buFont typeface="Arial"/>
                        <a:buChar char="•"/>
                      </a:pPr>
                      <a:r>
                        <a:rPr lang="en-US" sz="900" b="0" i="0" u="none" strike="noStrike" baseline="0" noProof="0">
                          <a:solidFill>
                            <a:srgbClr val="000000"/>
                          </a:solidFill>
                          <a:effectLst/>
                          <a:latin typeface="Raleway"/>
                        </a:rPr>
                        <a:t>Week 26: Send 20 CVs ke User &amp; Psikotes 6 kandidat shortlisted User</a:t>
                      </a:r>
                    </a:p>
                    <a:p>
                      <a:pPr marL="171450" lvl="0" indent="-171450" algn="l">
                        <a:lnSpc>
                          <a:spcPct val="100000"/>
                        </a:lnSpc>
                        <a:spcBef>
                          <a:spcPts val="0"/>
                        </a:spcBef>
                        <a:spcAft>
                          <a:spcPts val="0"/>
                        </a:spcAft>
                        <a:buFont typeface="Arial"/>
                        <a:buChar char="•"/>
                      </a:pPr>
                      <a:r>
                        <a:rPr lang="en-US" sz="900" b="0" i="0" u="none" strike="noStrike" baseline="0" noProof="0">
                          <a:solidFill>
                            <a:srgbClr val="000000"/>
                          </a:solidFill>
                          <a:effectLst/>
                          <a:latin typeface="Raleway"/>
                        </a:rPr>
                        <a:t>Week 27: HR Interview 2 kandidat - DROP</a:t>
                      </a:r>
                    </a:p>
                    <a:p>
                      <a:pPr marL="171450" lvl="0" indent="-171450" algn="l">
                        <a:lnSpc>
                          <a:spcPct val="100000"/>
                        </a:lnSpc>
                        <a:spcBef>
                          <a:spcPts val="0"/>
                        </a:spcBef>
                        <a:spcAft>
                          <a:spcPts val="0"/>
                        </a:spcAft>
                        <a:buFont typeface="Arial"/>
                        <a:buChar char="•"/>
                      </a:pPr>
                      <a:endParaRPr lang="en-US" sz="900" b="0" i="0" u="none" strike="noStrike" baseline="0" noProof="0">
                        <a:solidFill>
                          <a:srgbClr val="000000"/>
                        </a:solidFill>
                        <a:effectLst/>
                        <a:latin typeface="Raleway"/>
                      </a:endParaRPr>
                    </a:p>
                    <a:p>
                      <a:pPr marL="0" lvl="0" indent="0" algn="l">
                        <a:lnSpc>
                          <a:spcPct val="100000"/>
                        </a:lnSpc>
                        <a:spcBef>
                          <a:spcPts val="0"/>
                        </a:spcBef>
                        <a:spcAft>
                          <a:spcPts val="0"/>
                        </a:spcAft>
                        <a:buNone/>
                      </a:pPr>
                      <a:r>
                        <a:rPr lang="en-US" sz="900" b="1" i="0" u="none" strike="noStrike" baseline="0" noProof="0">
                          <a:solidFill>
                            <a:srgbClr val="000000"/>
                          </a:solidFill>
                          <a:effectLst/>
                          <a:latin typeface="Raleway"/>
                        </a:rPr>
                        <a:t>Next Action:</a:t>
                      </a:r>
                      <a:endParaRPr lang="en-US" sz="900" b="0" i="0" u="none" strike="noStrike" baseline="0" noProof="0">
                        <a:solidFill>
                          <a:srgbClr val="000000"/>
                        </a:solidFill>
                        <a:effectLst/>
                        <a:latin typeface="Raleway"/>
                      </a:endParaRPr>
                    </a:p>
                    <a:p>
                      <a:pPr marL="171450" lvl="0" indent="-171450" algn="l">
                        <a:lnSpc>
                          <a:spcPct val="100000"/>
                        </a:lnSpc>
                        <a:spcBef>
                          <a:spcPts val="0"/>
                        </a:spcBef>
                        <a:spcAft>
                          <a:spcPts val="0"/>
                        </a:spcAft>
                        <a:buFont typeface="Arial"/>
                        <a:buChar char="•"/>
                      </a:pPr>
                      <a:r>
                        <a:rPr lang="en-US" sz="900" b="0" i="0" u="none" strike="noStrike" baseline="0" noProof="0">
                          <a:solidFill>
                            <a:srgbClr val="000000"/>
                          </a:solidFill>
                          <a:effectLst/>
                          <a:latin typeface="Raleway"/>
                        </a:rPr>
                        <a:t>User Interview 1 kandidat a.n. Mufti di Week 28</a:t>
                      </a:r>
                    </a:p>
                  </a:txBody>
                  <a:tcPr marL="9524" marR="9524" marT="9524" anchor="ctr">
                    <a:lnL w="6350" cap="flat" cmpd="sng" algn="ctr">
                      <a:solidFill>
                        <a:srgbClr val="000000"/>
                      </a:solidFill>
                      <a:prstDash val="solid"/>
                      <a:round/>
                      <a:headEnd type="none" w="med" len="med"/>
                      <a:tailEnd type="none" w="med" len="med"/>
                    </a:lnL>
                    <a:lnR w="6350">
                      <a:solidFill>
                        <a:srgbClr val="000000"/>
                      </a:solidFill>
                    </a:lnR>
                    <a:lnT w="6350" cap="flat" cmpd="sng" algn="ctr">
                      <a:solidFill>
                        <a:srgbClr val="000000"/>
                      </a:solidFill>
                      <a:prstDash val="solid"/>
                      <a:round/>
                      <a:headEnd type="none" w="med" len="med"/>
                      <a:tailEnd type="none" w="med" len="med"/>
                    </a:lnT>
                    <a:lnB w="6350">
                      <a:solidFill>
                        <a:srgbClr val="000000"/>
                      </a:solidFill>
                    </a:lnB>
                    <a:noFill/>
                  </a:tcPr>
                </a:tc>
                <a:extLst>
                  <a:ext uri="{0D108BD9-81ED-4DB2-BD59-A6C34878D82A}">
                    <a16:rowId xmlns:a16="http://schemas.microsoft.com/office/drawing/2014/main" val="628230154"/>
                  </a:ext>
                </a:extLst>
              </a:tr>
            </a:tbl>
          </a:graphicData>
        </a:graphic>
      </p:graphicFrame>
      <p:sp>
        <p:nvSpPr>
          <p:cNvPr id="5" name="TextBox 7">
            <a:extLst>
              <a:ext uri="{FF2B5EF4-FFF2-40B4-BE49-F238E27FC236}">
                <a16:creationId xmlns:a16="http://schemas.microsoft.com/office/drawing/2014/main" id="{222707AD-089C-D0B8-3FCD-43B951460BDF}"/>
              </a:ext>
            </a:extLst>
          </p:cNvPr>
          <p:cNvSpPr txBox="1"/>
          <p:nvPr/>
        </p:nvSpPr>
        <p:spPr>
          <a:xfrm>
            <a:off x="393810" y="6453389"/>
            <a:ext cx="10972800" cy="321819"/>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50000"/>
              </a:lnSpc>
            </a:pPr>
            <a:r>
              <a:rPr lang="en-US" sz="1100">
                <a:latin typeface="Raleway"/>
              </a:rPr>
              <a:t>* </a:t>
            </a:r>
            <a:r>
              <a:rPr lang="en-US" sz="1100" i="1">
                <a:latin typeface="Raleway"/>
              </a:rPr>
              <a:t>Update per </a:t>
            </a:r>
            <a:r>
              <a:rPr lang="en-US" sz="1100" i="1" err="1">
                <a:latin typeface="Raleway"/>
              </a:rPr>
              <a:t>tanggal</a:t>
            </a:r>
            <a:r>
              <a:rPr lang="en-US" sz="1100" i="1">
                <a:latin typeface="Raleway"/>
              </a:rPr>
              <a:t> 3 Juli 2026.</a:t>
            </a:r>
            <a:endParaRPr lang="en-US" sz="1100">
              <a:latin typeface="Raleway"/>
            </a:endParaRPr>
          </a:p>
        </p:txBody>
      </p:sp>
      <p:sp>
        <p:nvSpPr>
          <p:cNvPr id="3" name="Text 0">
            <a:extLst>
              <a:ext uri="{FF2B5EF4-FFF2-40B4-BE49-F238E27FC236}">
                <a16:creationId xmlns:a16="http://schemas.microsoft.com/office/drawing/2014/main" id="{D5C956F4-11AA-685B-7AB7-23737607594A}"/>
              </a:ext>
            </a:extLst>
          </p:cNvPr>
          <p:cNvSpPr/>
          <p:nvPr/>
        </p:nvSpPr>
        <p:spPr>
          <a:xfrm>
            <a:off x="152552" y="450069"/>
            <a:ext cx="11277295" cy="548640"/>
          </a:xfrm>
          <a:prstGeom prst="rect">
            <a:avLst/>
          </a:prstGeom>
          <a:noFill/>
          <a:ln/>
        </p:spPr>
        <p:txBody>
          <a:bodyPr wrap="square" lIns="91440" tIns="45720" rIns="91440" bIns="45720" rtlCol="0" anchor="ctr"/>
          <a:lstStyle/>
          <a:p>
            <a:r>
              <a:rPr lang="en-US" sz="2800" b="1">
                <a:solidFill>
                  <a:srgbClr val="12284C"/>
                </a:solidFill>
              </a:rPr>
              <a:t>CLAP &amp; FGDP - Update</a:t>
            </a:r>
          </a:p>
        </p:txBody>
      </p:sp>
    </p:spTree>
    <p:extLst>
      <p:ext uri="{BB962C8B-B14F-4D97-AF65-F5344CB8AC3E}">
        <p14:creationId xmlns:p14="http://schemas.microsoft.com/office/powerpoint/2010/main" val="2295320266"/>
      </p:ext>
    </p:extLst>
  </p:cSld>
  <p:clrMapOvr>
    <a:masterClrMapping/>
  </p:clrMapOvr>
</p:sld>
</file>

<file path=ppt/theme/theme1.xml><?xml version="1.0" encoding="utf-8"?>
<a:theme xmlns:a="http://schemas.openxmlformats.org/drawingml/2006/main" name="1_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Custom 2">
      <a:majorFont>
        <a:latin typeface="Raleway"/>
        <a:ea typeface=""/>
        <a:cs typeface=""/>
      </a:majorFont>
      <a:minorFont>
        <a:latin typeface="Raleway"/>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2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TaxCatchAll xmlns="c783378f-3be2-46ca-b227-1e9d1b71cb6b" xsi:nil="true"/>
    <lcf76f155ced4ddcb4097134ff3c332f xmlns="18595886-3c5e-4cc6-92ae-d389a9efb508">
      <Terms xmlns="http://schemas.microsoft.com/office/infopath/2007/PartnerControls"/>
    </lcf76f155ced4ddcb4097134ff3c332f>
  </documentManagement>
</p:properties>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ct:contentTypeSchema xmlns:ct="http://schemas.microsoft.com/office/2006/metadata/contentType" xmlns:ma="http://schemas.microsoft.com/office/2006/metadata/properties/metaAttributes" ct:_="" ma:_="" ma:contentTypeName="Document" ma:contentTypeID="0x01010016DEECF9C062EE48B36F371CFCD7A21A" ma:contentTypeVersion="11" ma:contentTypeDescription="Create a new document." ma:contentTypeScope="" ma:versionID="31240e65ce19d93c20fd0072595acb3b">
  <xsd:schema xmlns:xsd="http://www.w3.org/2001/XMLSchema" xmlns:xs="http://www.w3.org/2001/XMLSchema" xmlns:p="http://schemas.microsoft.com/office/2006/metadata/properties" xmlns:ns2="18595886-3c5e-4cc6-92ae-d389a9efb508" xmlns:ns3="c783378f-3be2-46ca-b227-1e9d1b71cb6b" targetNamespace="http://schemas.microsoft.com/office/2006/metadata/properties" ma:root="true" ma:fieldsID="181e01adecc46d1f658116a137d1589e" ns2:_="" ns3:_="">
    <xsd:import namespace="18595886-3c5e-4cc6-92ae-d389a9efb508"/>
    <xsd:import namespace="c783378f-3be2-46ca-b227-1e9d1b71cb6b"/>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DateTaken" minOccurs="0"/>
                <xsd:element ref="ns2:lcf76f155ced4ddcb4097134ff3c332f" minOccurs="0"/>
                <xsd:element ref="ns3:TaxCatchAll" minOccurs="0"/>
                <xsd:element ref="ns2:MediaServiceOCR" minOccurs="0"/>
                <xsd:element ref="ns2:MediaServiceGenerationTime" minOccurs="0"/>
                <xsd:element ref="ns2:MediaServiceEventHashCode" minOccurs="0"/>
                <xsd:element ref="ns2:MediaServiceBillingMetadata"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18595886-3c5e-4cc6-92ae-d389a9efb508"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DateTaken" ma:index="11" nillable="true" ma:displayName="MediaServiceDateTaken" ma:hidden="true" ma:indexed="true" ma:internalName="MediaServiceDateTaken" ma:readOnly="true">
      <xsd:simpleType>
        <xsd:restriction base="dms:Text"/>
      </xsd:simpleType>
    </xsd:element>
    <xsd:element name="lcf76f155ced4ddcb4097134ff3c332f" ma:index="13" nillable="true" ma:taxonomy="true" ma:internalName="lcf76f155ced4ddcb4097134ff3c332f" ma:taxonomyFieldName="MediaServiceImageTags" ma:displayName="Image Tags" ma:readOnly="false" ma:fieldId="{5cf76f15-5ced-4ddc-b409-7134ff3c332f}" ma:taxonomyMulti="true" ma:sspId="2085a5e7-9a88-48e5-8963-e0c9e874def7" ma:termSetId="09814cd3-568e-fe90-9814-8d621ff8fb84" ma:anchorId="fba54fb3-c3e1-fe81-a776-ca4b69148c4d" ma:open="true" ma:isKeyword="false">
      <xsd:complexType>
        <xsd:sequence>
          <xsd:element ref="pc:Terms" minOccurs="0" maxOccurs="1"/>
        </xsd:sequence>
      </xsd:complexType>
    </xsd:element>
    <xsd:element name="MediaServiceOCR" ma:index="15" nillable="true" ma:displayName="Extracted Text" ma:internalName="MediaServiceOCR" ma:readOnly="true">
      <xsd:simpleType>
        <xsd:restriction base="dms:Note">
          <xsd:maxLength value="255"/>
        </xsd:restriction>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EventHashCode" ma:index="17" nillable="true" ma:displayName="MediaServiceEventHashCode" ma:hidden="true" ma:internalName="MediaServiceEventHashCode" ma:readOnly="true">
      <xsd:simpleType>
        <xsd:restriction base="dms:Text"/>
      </xsd:simpleType>
    </xsd:element>
    <xsd:element name="MediaServiceBillingMetadata" ma:index="18" nillable="true" ma:displayName="MediaServiceBillingMetadata" ma:hidden="true" ma:internalName="MediaServiceBillingMetadata"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c783378f-3be2-46ca-b227-1e9d1b71cb6b" elementFormDefault="qualified">
    <xsd:import namespace="http://schemas.microsoft.com/office/2006/documentManagement/types"/>
    <xsd:import namespace="http://schemas.microsoft.com/office/infopath/2007/PartnerControls"/>
    <xsd:element name="TaxCatchAll" ma:index="14" nillable="true" ma:displayName="Taxonomy Catch All Column" ma:hidden="true" ma:list="{c43845a7-6fae-4e46-b4ee-83012c55ed46}" ma:internalName="TaxCatchAll" ma:showField="CatchAllData" ma:web="c783378f-3be2-46ca-b227-1e9d1b71cb6b">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7C04E19F-6D7E-45F5-909B-B08D32276B51}">
  <ds:schemaRefs>
    <ds:schemaRef ds:uri="18595886-3c5e-4cc6-92ae-d389a9efb508"/>
    <ds:schemaRef ds:uri="c783378f-3be2-46ca-b227-1e9d1b71cb6b"/>
    <ds:schemaRef ds:uri="http://purl.org/dc/dcmitype/"/>
    <ds:schemaRef ds:uri="http://purl.org/dc/elements/1.1/"/>
    <ds:schemaRef ds:uri="http://purl.org/dc/terms/"/>
    <ds:schemaRef ds:uri="http://schemas.microsoft.com/office/2006/documentManagement/types"/>
    <ds:schemaRef ds:uri="http://schemas.microsoft.com/office/2006/metadata/properties"/>
    <ds:schemaRef ds:uri="http://schemas.microsoft.com/office/infopath/2007/PartnerControls"/>
    <ds:schemaRef ds:uri="http://schemas.openxmlformats.org/package/2006/metadata/core-properties"/>
    <ds:schemaRef ds:uri="http://www.w3.org/XML/1998/namespace"/>
  </ds:schemaRefs>
</ds:datastoreItem>
</file>

<file path=customXml/itemProps2.xml><?xml version="1.0" encoding="utf-8"?>
<ds:datastoreItem xmlns:ds="http://schemas.openxmlformats.org/officeDocument/2006/customXml" ds:itemID="{5B00039C-0B42-4B87-90D5-6247862FC274}">
  <ds:schemaRefs>
    <ds:schemaRef ds:uri="http://schemas.microsoft.com/sharepoint/v3/contenttype/forms"/>
  </ds:schemaRefs>
</ds:datastoreItem>
</file>

<file path=customXml/itemProps3.xml><?xml version="1.0" encoding="utf-8"?>
<ds:datastoreItem xmlns:ds="http://schemas.openxmlformats.org/officeDocument/2006/customXml" ds:itemID="{7192876C-4481-453E-B662-821D628E6D6C}">
  <ds:schemaRefs>
    <ds:schemaRef ds:uri="18595886-3c5e-4cc6-92ae-d389a9efb508"/>
    <ds:schemaRef ds:uri="c783378f-3be2-46ca-b227-1e9d1b71cb6b"/>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docMetadata/LabelInfo.xml><?xml version="1.0" encoding="utf-8"?>
<clbl:labelList xmlns:clbl="http://schemas.microsoft.com/office/2020/mipLabelMetadata">
  <clbl:label id="{ca373342-64ee-46d7-95e8-cc81024e9682}" enabled="0" method="" siteId="{ca373342-64ee-46d7-95e8-cc81024e9682}" removed="1"/>
</clbl:labelList>
</file>

<file path=docProps/app.xml><?xml version="1.0" encoding="utf-8"?>
<Properties xmlns="http://schemas.openxmlformats.org/officeDocument/2006/extended-properties" xmlns:vt="http://schemas.openxmlformats.org/officeDocument/2006/docPropsVTypes">
  <TotalTime>4</TotalTime>
  <Words>37350</Words>
  <Application>Microsoft Office PowerPoint</Application>
  <PresentationFormat>Widescreen</PresentationFormat>
  <Paragraphs>15270</Paragraphs>
  <Slides>173</Slides>
  <Notes>73</Notes>
  <HiddenSlides>25</HiddenSlides>
  <MMClips>0</MMClips>
  <ScaleCrop>false</ScaleCrop>
  <HeadingPairs>
    <vt:vector size="4" baseType="variant">
      <vt:variant>
        <vt:lpstr>Theme</vt:lpstr>
      </vt:variant>
      <vt:variant>
        <vt:i4>2</vt:i4>
      </vt:variant>
      <vt:variant>
        <vt:lpstr>Slide Titles</vt:lpstr>
      </vt:variant>
      <vt:variant>
        <vt:i4>173</vt:i4>
      </vt:variant>
    </vt:vector>
  </HeadingPairs>
  <TitlesOfParts>
    <vt:vector size="175" baseType="lpstr">
      <vt:lpstr>1_Office Theme</vt:lpstr>
      <vt:lpstr>2_Office Theme</vt:lpstr>
      <vt:lpstr>PowerPoint Presentation</vt:lpstr>
      <vt:lpstr>#2. Recruitment &amp; Branding</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Victor Panji Dwijaya</dc:creator>
  <cp:lastModifiedBy>Desi Armanda Sari</cp:lastModifiedBy>
  <cp:revision>2</cp:revision>
  <dcterms:created xsi:type="dcterms:W3CDTF">2026-02-19T04:40:59Z</dcterms:created>
  <dcterms:modified xsi:type="dcterms:W3CDTF">2026-08-18T01:39:53Z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0x01010016DEECF9C062EE48B36F371CFCD7A21A</vt:lpwstr>
  </property>
  <property fmtid="{D5CDD505-2E9C-101B-9397-08002B2CF9AE}" pid="3" name="MediaServiceImageTags">
    <vt:lpwstr/>
  </property>
</Properties>
</file>